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 integrada de Bioquímica Clínica y Metabolismo en cinco unidades: laboratorio clínico, termodinámica y metabolismo intermedio (complejo PDH), anemias, infarto agudo de miocardio y enzimología hepatopancreática.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variable bioquímica une tres elementos: una unidad estandarizada, un intervalo de referencia y un significado clínico.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 el agua es retenida en la luz capilar por las proteínas; al disminuir las proteínas, el agua migra al intersticio (edema).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Esquema ilustrativo: los íconos no representan datos de un estudio, solo la lógica de verdaderos positivos y falsos negativos.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de baja especificidad del material: los anticuerpos para dengue reaccionan en forma cruzada con Zika, Chikungunya y fiebre amarilla.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Abierto: intercambia materia (nutrientes, desechos, gases) y energía (calor, trabajo) con el entorno de forma permanente.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cálculo usa exclusivamente los potenciales listados (O2 +0,82 V; NADH −0,32 V) y F = 96 500 C/mol, con n = 2 electrones.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1 mitocondria · 2 complejo PDH · 3 piruvato · 4 entrada a E1 · 5 descarboxilación (CO2) · 6 cuadro E1 · 7 brazo lipoílo de E2 · 8 CoA y formación de acetil-CoA · 9 E3: FAD → FADH2 → NADH · 10 balance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de rigor (ver Revisión científica): la obstrucción aislada del cístico (colecistitis) cursa a menudo con bilirrubina y FAL normales o levemente elevadas.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509760" y="0"/>
            <a:ext cx="268193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4" name="!!Corazon"/>
          <p:cNvGrpSpPr/>
          <p:nvPr/>
        </p:nvGrpSpPr>
        <p:grpSpPr>
          <a:xfrm>
            <a:off x="320040" y="822960"/>
            <a:ext cx="2926080" cy="3218688"/>
            <a:chOff x="320040" y="822960"/>
            <a:chExt cx="2926080" cy="3218688"/>
          </a:xfrm>
        </p:grpSpPr>
        <p:sp>
          <p:nvSpPr>
            <p:cNvPr id="5" name="Aorta"/>
            <p:cNvSpPr/>
            <p:nvPr/>
          </p:nvSpPr>
          <p:spPr>
            <a:xfrm>
              <a:off x="1431950" y="822960"/>
              <a:ext cx="936346" cy="10299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6" name="Arteria pulmonar"/>
            <p:cNvSpPr/>
            <p:nvPr/>
          </p:nvSpPr>
          <p:spPr>
            <a:xfrm>
              <a:off x="963778" y="1144829"/>
              <a:ext cx="643738" cy="80467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7" name="Miocardio"/>
            <p:cNvSpPr/>
            <p:nvPr/>
          </p:nvSpPr>
          <p:spPr>
            <a:xfrm>
              <a:off x="320040" y="1402324"/>
              <a:ext cx="2926080" cy="263932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8" name="Aurícula derecha"/>
            <p:cNvSpPr/>
            <p:nvPr/>
          </p:nvSpPr>
          <p:spPr>
            <a:xfrm>
              <a:off x="437083" y="1788566"/>
              <a:ext cx="819302" cy="90123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9" name="!!ArteriaCoronaria izquierda"/>
          <p:cNvSpPr/>
          <p:nvPr/>
        </p:nvSpPr>
        <p:spPr>
          <a:xfrm>
            <a:off x="320040" y="1402324"/>
            <a:ext cx="2926080" cy="26393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0" name="!!ArteriaCoronaria derecha"/>
          <p:cNvSpPr/>
          <p:nvPr/>
        </p:nvSpPr>
        <p:spPr>
          <a:xfrm>
            <a:off x="320040" y="1402324"/>
            <a:ext cx="2926080" cy="26393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grpSp>
        <p:nvGrpSpPr>
          <p:cNvPr id="11" name="!!Higado"/>
          <p:cNvGrpSpPr/>
          <p:nvPr/>
        </p:nvGrpSpPr>
        <p:grpSpPr>
          <a:xfrm>
            <a:off x="2468880" y="4206240"/>
            <a:ext cx="3291840" cy="2326673"/>
            <a:chOff x="2468880" y="4206240"/>
            <a:chExt cx="3291840" cy="2326673"/>
          </a:xfrm>
        </p:grpSpPr>
        <p:sp>
          <p:nvSpPr>
            <p:cNvPr id="12" name="Vesícula biliar"/>
            <p:cNvSpPr/>
            <p:nvPr/>
          </p:nvSpPr>
          <p:spPr>
            <a:xfrm>
              <a:off x="3357677" y="5798174"/>
              <a:ext cx="427939" cy="734739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2468880" y="4206240"/>
              <a:ext cx="3291840" cy="2040941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4" name="Forma 13"/>
            <p:cNvSpPr/>
            <p:nvPr/>
          </p:nvSpPr>
          <p:spPr>
            <a:xfrm>
              <a:off x="2468880" y="4206240"/>
              <a:ext cx="3291840" cy="2040941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2468880" y="4206240"/>
              <a:ext cx="3291840" cy="2040941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grpSp>
        <p:nvGrpSpPr>
          <p:cNvPr id="16" name="!!Pancreas"/>
          <p:cNvGrpSpPr/>
          <p:nvPr/>
        </p:nvGrpSpPr>
        <p:grpSpPr>
          <a:xfrm>
            <a:off x="182880" y="5394960"/>
            <a:ext cx="2743200" cy="1152144"/>
            <a:chOff x="182880" y="5394960"/>
            <a:chExt cx="2743200" cy="1152144"/>
          </a:xfrm>
        </p:grpSpPr>
        <p:sp>
          <p:nvSpPr>
            <p:cNvPr id="17" name="Forma 16"/>
            <p:cNvSpPr/>
            <p:nvPr/>
          </p:nvSpPr>
          <p:spPr>
            <a:xfrm>
              <a:off x="182880" y="5394960"/>
              <a:ext cx="2743200" cy="1152144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8" name="Forma 17"/>
            <p:cNvSpPr/>
            <p:nvPr/>
          </p:nvSpPr>
          <p:spPr>
            <a:xfrm>
              <a:off x="182880" y="5394960"/>
              <a:ext cx="2743200" cy="1152144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19" name="Islotes"/>
            <p:cNvSpPr/>
            <p:nvPr/>
          </p:nvSpPr>
          <p:spPr>
            <a:xfrm>
              <a:off x="182880" y="5394960"/>
              <a:ext cx="2743200" cy="1152144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182880" y="5394960"/>
              <a:ext cx="2743200" cy="1152144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21" name="Eritrocito portada 0"/>
          <p:cNvSpPr/>
          <p:nvPr/>
        </p:nvSpPr>
        <p:spPr>
          <a:xfrm>
            <a:off x="9784080" y="548640"/>
            <a:ext cx="1188720" cy="11887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22" name="Eritrocito portada 1"/>
          <p:cNvSpPr/>
          <p:nvPr/>
        </p:nvSpPr>
        <p:spPr>
          <a:xfrm>
            <a:off x="10698480" y="155448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23" name="Eritrocito portada 2"/>
          <p:cNvSpPr/>
          <p:nvPr/>
        </p:nvSpPr>
        <p:spPr>
          <a:xfrm>
            <a:off x="9966960" y="2377440"/>
            <a:ext cx="822960" cy="82296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24" name="Eritrocito portada 3"/>
          <p:cNvSpPr/>
          <p:nvPr/>
        </p:nvSpPr>
        <p:spPr>
          <a:xfrm>
            <a:off x="11064240" y="3017520"/>
            <a:ext cx="731520" cy="7315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grpSp>
        <p:nvGrpSpPr>
          <p:cNvPr id="25" name="Molécula piruvato"/>
          <p:cNvGrpSpPr/>
          <p:nvPr/>
        </p:nvGrpSpPr>
        <p:grpSpPr>
          <a:xfrm>
            <a:off x="9867277" y="4512315"/>
            <a:ext cx="1921666" cy="1399531"/>
            <a:chOff x="9867277" y="4512315"/>
            <a:chExt cx="1921666" cy="1399531"/>
          </a:xfrm>
        </p:grpSpPr>
        <p:sp>
          <p:nvSpPr>
            <p:cNvPr id="26" name="Flecha 25_2"/>
            <p:cNvSpPr/>
            <p:nvPr/>
          </p:nvSpPr>
          <p:spPr>
            <a:xfrm>
              <a:off x="10789920" y="5261956"/>
              <a:ext cx="523702" cy="9144"/>
            </a:xfrm>
            <a:custGeom>
              <a:avLst/>
              <a:gdLst/>
              <a:ahLst/>
              <a:cxnLst/>
              <a:rect l="0" t="0" r="r" b="b"/>
              <a:pathLst>
                <a:path w="572" h="10" fill="none">
                  <a:moveTo>
                    <a:pt x="0" y="0"/>
                  </a:moveTo>
                  <a:lnTo>
                    <a:pt x="572" y="0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27" name="Flecha 27_2"/>
            <p:cNvSpPr/>
            <p:nvPr/>
          </p:nvSpPr>
          <p:spPr>
            <a:xfrm>
              <a:off x="10789920" y="5261956"/>
              <a:ext cx="523702" cy="9144"/>
            </a:xfrm>
            <a:custGeom>
              <a:avLst/>
              <a:gdLst/>
              <a:ahLst/>
              <a:cxnLst/>
              <a:rect l="0" t="0" r="r" b="b"/>
              <a:pathLst>
                <a:path w="572" h="10" fill="none">
                  <a:moveTo>
                    <a:pt x="0" y="0"/>
                  </a:moveTo>
                  <a:lnTo>
                    <a:pt x="572" y="0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28" name="Flecha 29_2"/>
            <p:cNvSpPr/>
            <p:nvPr/>
          </p:nvSpPr>
          <p:spPr>
            <a:xfrm>
              <a:off x="10266218" y="5261956"/>
              <a:ext cx="523702" cy="9144"/>
            </a:xfrm>
            <a:custGeom>
              <a:avLst/>
              <a:gdLst/>
              <a:ahLst/>
              <a:cxnLst/>
              <a:rect l="0" t="0" r="r" b="b"/>
              <a:pathLst>
                <a:path w="572" h="10" fill="none">
                  <a:moveTo>
                    <a:pt x="572" y="0"/>
                  </a:moveTo>
                  <a:lnTo>
                    <a:pt x="0" y="0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29" name="Flecha 31_2"/>
            <p:cNvSpPr/>
            <p:nvPr/>
          </p:nvSpPr>
          <p:spPr>
            <a:xfrm>
              <a:off x="10266218" y="5261956"/>
              <a:ext cx="523702" cy="9144"/>
            </a:xfrm>
            <a:custGeom>
              <a:avLst/>
              <a:gdLst/>
              <a:ahLst/>
              <a:cxnLst/>
              <a:rect l="0" t="0" r="r" b="b"/>
              <a:pathLst>
                <a:path w="572" h="10" fill="none">
                  <a:moveTo>
                    <a:pt x="572" y="0"/>
                  </a:moveTo>
                  <a:lnTo>
                    <a:pt x="0" y="0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30" name="Flecha 33_2"/>
            <p:cNvSpPr/>
            <p:nvPr/>
          </p:nvSpPr>
          <p:spPr>
            <a:xfrm>
              <a:off x="10789920" y="4713316"/>
              <a:ext cx="9144" cy="548640"/>
            </a:xfrm>
            <a:custGeom>
              <a:avLst/>
              <a:gdLst/>
              <a:ahLst/>
              <a:cxnLst/>
              <a:rect l="0" t="0" r="r" b="b"/>
              <a:pathLst>
                <a:path w="10" h="599" fill="none">
                  <a:moveTo>
                    <a:pt x="0" y="599"/>
                  </a:moveTo>
                  <a:lnTo>
                    <a:pt x="0" y="0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31" name="Flecha 35_2"/>
            <p:cNvSpPr/>
            <p:nvPr/>
          </p:nvSpPr>
          <p:spPr>
            <a:xfrm>
              <a:off x="10789920" y="4713316"/>
              <a:ext cx="9144" cy="548640"/>
            </a:xfrm>
            <a:custGeom>
              <a:avLst/>
              <a:gdLst/>
              <a:ahLst/>
              <a:cxnLst/>
              <a:rect l="0" t="0" r="r" b="b"/>
              <a:pathLst>
                <a:path w="10" h="599" fill="none">
                  <a:moveTo>
                    <a:pt x="0" y="599"/>
                  </a:moveTo>
                  <a:lnTo>
                    <a:pt x="0" y="0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32" name="Flecha 37_2"/>
            <p:cNvSpPr/>
            <p:nvPr/>
          </p:nvSpPr>
          <p:spPr>
            <a:xfrm>
              <a:off x="11313622" y="4813069"/>
              <a:ext cx="274320" cy="448887"/>
            </a:xfrm>
            <a:custGeom>
              <a:avLst/>
              <a:gdLst/>
              <a:ahLst/>
              <a:cxnLst/>
              <a:rect l="0" t="0" r="r" b="b"/>
              <a:pathLst>
                <a:path w="300" h="490" fill="none">
                  <a:moveTo>
                    <a:pt x="0" y="490"/>
                  </a:moveTo>
                  <a:lnTo>
                    <a:pt x="300" y="0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33" name="Flecha 39_2"/>
            <p:cNvSpPr/>
            <p:nvPr/>
          </p:nvSpPr>
          <p:spPr>
            <a:xfrm>
              <a:off x="11313622" y="4813069"/>
              <a:ext cx="274320" cy="448887"/>
            </a:xfrm>
            <a:custGeom>
              <a:avLst/>
              <a:gdLst/>
              <a:ahLst/>
              <a:cxnLst/>
              <a:rect l="0" t="0" r="r" b="b"/>
              <a:pathLst>
                <a:path w="300" h="490" fill="none">
                  <a:moveTo>
                    <a:pt x="0" y="490"/>
                  </a:moveTo>
                  <a:lnTo>
                    <a:pt x="300" y="0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34" name="Flecha 41_2"/>
            <p:cNvSpPr/>
            <p:nvPr/>
          </p:nvSpPr>
          <p:spPr>
            <a:xfrm>
              <a:off x="11313622" y="5261956"/>
              <a:ext cx="274320" cy="448887"/>
            </a:xfrm>
            <a:custGeom>
              <a:avLst/>
              <a:gdLst/>
              <a:ahLst/>
              <a:cxnLst/>
              <a:rect l="0" t="0" r="r" b="b"/>
              <a:pathLst>
                <a:path w="300" h="490" fill="none">
                  <a:moveTo>
                    <a:pt x="0" y="0"/>
                  </a:moveTo>
                  <a:lnTo>
                    <a:pt x="300" y="490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35" name="Flecha 43_2"/>
            <p:cNvSpPr/>
            <p:nvPr/>
          </p:nvSpPr>
          <p:spPr>
            <a:xfrm>
              <a:off x="11313622" y="5261956"/>
              <a:ext cx="274320" cy="448887"/>
            </a:xfrm>
            <a:custGeom>
              <a:avLst/>
              <a:gdLst/>
              <a:ahLst/>
              <a:cxnLst/>
              <a:rect l="0" t="0" r="r" b="b"/>
              <a:pathLst>
                <a:path w="300" h="490" fill="none">
                  <a:moveTo>
                    <a:pt x="0" y="0"/>
                  </a:moveTo>
                  <a:lnTo>
                    <a:pt x="300" y="490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36" name="Flecha 45_2"/>
            <p:cNvSpPr/>
            <p:nvPr/>
          </p:nvSpPr>
          <p:spPr>
            <a:xfrm>
              <a:off x="9991898" y="5261956"/>
              <a:ext cx="274320" cy="399011"/>
            </a:xfrm>
            <a:custGeom>
              <a:avLst/>
              <a:gdLst/>
              <a:ahLst/>
              <a:cxnLst/>
              <a:rect l="0" t="0" r="r" b="b"/>
              <a:pathLst>
                <a:path w="300" h="436" fill="none">
                  <a:moveTo>
                    <a:pt x="300" y="0"/>
                  </a:moveTo>
                  <a:lnTo>
                    <a:pt x="0" y="436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37" name="Flecha 47_2"/>
            <p:cNvSpPr/>
            <p:nvPr/>
          </p:nvSpPr>
          <p:spPr>
            <a:xfrm>
              <a:off x="9991898" y="5261956"/>
              <a:ext cx="274320" cy="399011"/>
            </a:xfrm>
            <a:custGeom>
              <a:avLst/>
              <a:gdLst/>
              <a:ahLst/>
              <a:cxnLst/>
              <a:rect l="0" t="0" r="r" b="b"/>
              <a:pathLst>
                <a:path w="300" h="436" fill="none">
                  <a:moveTo>
                    <a:pt x="300" y="0"/>
                  </a:moveTo>
                  <a:lnTo>
                    <a:pt x="0" y="436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38" name="Flecha 49_2"/>
            <p:cNvSpPr/>
            <p:nvPr/>
          </p:nvSpPr>
          <p:spPr>
            <a:xfrm>
              <a:off x="9991898" y="4862945"/>
              <a:ext cx="274320" cy="399011"/>
            </a:xfrm>
            <a:custGeom>
              <a:avLst/>
              <a:gdLst/>
              <a:ahLst/>
              <a:cxnLst/>
              <a:rect l="0" t="0" r="r" b="b"/>
              <a:pathLst>
                <a:path w="300" h="436" fill="none">
                  <a:moveTo>
                    <a:pt x="300" y="436"/>
                  </a:moveTo>
                  <a:lnTo>
                    <a:pt x="0" y="0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39" name="Flecha 51_2"/>
            <p:cNvSpPr/>
            <p:nvPr/>
          </p:nvSpPr>
          <p:spPr>
            <a:xfrm>
              <a:off x="9991898" y="4862945"/>
              <a:ext cx="274320" cy="399011"/>
            </a:xfrm>
            <a:custGeom>
              <a:avLst/>
              <a:gdLst/>
              <a:ahLst/>
              <a:cxnLst/>
              <a:rect l="0" t="0" r="r" b="b"/>
              <a:pathLst>
                <a:path w="300" h="436" fill="none">
                  <a:moveTo>
                    <a:pt x="300" y="436"/>
                  </a:moveTo>
                  <a:lnTo>
                    <a:pt x="0" y="0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40" name="Flecha 53_2"/>
            <p:cNvSpPr/>
            <p:nvPr/>
          </p:nvSpPr>
          <p:spPr>
            <a:xfrm>
              <a:off x="10041775" y="5261956"/>
              <a:ext cx="224444" cy="24938"/>
            </a:xfrm>
            <a:custGeom>
              <a:avLst/>
              <a:gdLst/>
              <a:ahLst/>
              <a:cxnLst/>
              <a:rect l="0" t="0" r="r" b="b"/>
              <a:pathLst>
                <a:path w="245" h="27" fill="none">
                  <a:moveTo>
                    <a:pt x="245" y="0"/>
                  </a:moveTo>
                  <a:lnTo>
                    <a:pt x="0" y="27"/>
                  </a:lnTo>
                </a:path>
              </a:pathLst>
            </a:custGeom>
            <a:noFill/>
            <a:ln w="110836" cap="rnd">
              <a:solidFill>
                <a:srgbClr val="B9B9B9"/>
              </a:solidFill>
              <a:round/>
            </a:ln>
          </p:spPr>
        </p:sp>
        <p:sp>
          <p:nvSpPr>
            <p:cNvPr id="41" name="Flecha 55_2"/>
            <p:cNvSpPr/>
            <p:nvPr/>
          </p:nvSpPr>
          <p:spPr>
            <a:xfrm>
              <a:off x="10041775" y="5261956"/>
              <a:ext cx="224444" cy="24938"/>
            </a:xfrm>
            <a:custGeom>
              <a:avLst/>
              <a:gdLst/>
              <a:ahLst/>
              <a:cxnLst/>
              <a:rect l="0" t="0" r="r" b="b"/>
              <a:pathLst>
                <a:path w="245" h="27" fill="none">
                  <a:moveTo>
                    <a:pt x="245" y="0"/>
                  </a:moveTo>
                  <a:lnTo>
                    <a:pt x="0" y="27"/>
                  </a:lnTo>
                </a:path>
              </a:pathLst>
            </a:custGeom>
            <a:noFill/>
            <a:ln w="62345" cap="rnd">
              <a:solidFill>
                <a:srgbClr val="FFFFFF"/>
              </a:solidFill>
              <a:round/>
            </a:ln>
          </p:spPr>
        </p:sp>
        <p:sp>
          <p:nvSpPr>
            <p:cNvPr id="42" name="Forma 57"/>
            <p:cNvSpPr/>
            <p:nvPr/>
          </p:nvSpPr>
          <p:spPr>
            <a:xfrm>
              <a:off x="9867277" y="5536346"/>
              <a:ext cx="249242" cy="2492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3" name="Forma 58"/>
            <p:cNvSpPr/>
            <p:nvPr/>
          </p:nvSpPr>
          <p:spPr>
            <a:xfrm>
              <a:off x="9867277" y="4738324"/>
              <a:ext cx="249242" cy="2492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4" name="Forma 59"/>
            <p:cNvSpPr/>
            <p:nvPr/>
          </p:nvSpPr>
          <p:spPr>
            <a:xfrm>
              <a:off x="9917153" y="5162273"/>
              <a:ext cx="249242" cy="2492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5" name="Forma 60"/>
            <p:cNvSpPr/>
            <p:nvPr/>
          </p:nvSpPr>
          <p:spPr>
            <a:xfrm>
              <a:off x="10588918" y="5060955"/>
              <a:ext cx="402003" cy="4020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6" name="Forma 61"/>
            <p:cNvSpPr/>
            <p:nvPr/>
          </p:nvSpPr>
          <p:spPr>
            <a:xfrm>
              <a:off x="11112620" y="5060955"/>
              <a:ext cx="402003" cy="4020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7" name="Forma 62"/>
            <p:cNvSpPr/>
            <p:nvPr/>
          </p:nvSpPr>
          <p:spPr>
            <a:xfrm>
              <a:off x="10065216" y="5060955"/>
              <a:ext cx="402003" cy="4020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63"/>
            <p:cNvSpPr/>
            <p:nvPr/>
          </p:nvSpPr>
          <p:spPr>
            <a:xfrm>
              <a:off x="10588918" y="4512315"/>
              <a:ext cx="402003" cy="4020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9" name="Forma 64"/>
            <p:cNvSpPr/>
            <p:nvPr/>
          </p:nvSpPr>
          <p:spPr>
            <a:xfrm>
              <a:off x="11386940" y="4612067"/>
              <a:ext cx="402003" cy="4020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0" name="Forma 65"/>
            <p:cNvSpPr/>
            <p:nvPr/>
          </p:nvSpPr>
          <p:spPr>
            <a:xfrm>
              <a:off x="11386940" y="5509842"/>
              <a:ext cx="402003" cy="4020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grpSp>
        <p:nvGrpSpPr>
          <p:cNvPr id="51" name="Molécula aminoácido"/>
          <p:cNvGrpSpPr/>
          <p:nvPr/>
        </p:nvGrpSpPr>
        <p:grpSpPr>
          <a:xfrm>
            <a:off x="4231481" y="224081"/>
            <a:ext cx="993374" cy="1014877"/>
            <a:chOff x="4231481" y="224081"/>
            <a:chExt cx="993374" cy="1014877"/>
          </a:xfrm>
        </p:grpSpPr>
        <p:sp>
          <p:nvSpPr>
            <p:cNvPr id="52" name="Flecha 67_2"/>
            <p:cNvSpPr/>
            <p:nvPr/>
          </p:nvSpPr>
          <p:spPr>
            <a:xfrm>
              <a:off x="4673097" y="689196"/>
              <a:ext cx="275729" cy="31733"/>
            </a:xfrm>
            <a:custGeom>
              <a:avLst/>
              <a:gdLst/>
              <a:ahLst/>
              <a:cxnLst/>
              <a:rect l="0" t="0" r="r" b="b"/>
              <a:pathLst>
                <a:path w="301" h="34" fill="none">
                  <a:moveTo>
                    <a:pt x="0" y="34"/>
                  </a:moveTo>
                  <a:lnTo>
                    <a:pt x="301" y="0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53" name="Flecha 69_2"/>
            <p:cNvSpPr/>
            <p:nvPr/>
          </p:nvSpPr>
          <p:spPr>
            <a:xfrm>
              <a:off x="4673097" y="689196"/>
              <a:ext cx="275729" cy="31733"/>
            </a:xfrm>
            <a:custGeom>
              <a:avLst/>
              <a:gdLst/>
              <a:ahLst/>
              <a:cxnLst/>
              <a:rect l="0" t="0" r="r" b="b"/>
              <a:pathLst>
                <a:path w="301" h="34" fill="none">
                  <a:moveTo>
                    <a:pt x="0" y="34"/>
                  </a:moveTo>
                  <a:lnTo>
                    <a:pt x="301" y="0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54" name="Flecha 71_2"/>
            <p:cNvSpPr/>
            <p:nvPr/>
          </p:nvSpPr>
          <p:spPr>
            <a:xfrm>
              <a:off x="4948826" y="689196"/>
              <a:ext cx="175986" cy="169725"/>
            </a:xfrm>
            <a:custGeom>
              <a:avLst/>
              <a:gdLst/>
              <a:ahLst/>
              <a:cxnLst/>
              <a:rect l="0" t="0" r="r" b="b"/>
              <a:pathLst>
                <a:path w="192" h="185" fill="none">
                  <a:moveTo>
                    <a:pt x="0" y="0"/>
                  </a:moveTo>
                  <a:lnTo>
                    <a:pt x="192" y="185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55" name="Flecha 73_2"/>
            <p:cNvSpPr/>
            <p:nvPr/>
          </p:nvSpPr>
          <p:spPr>
            <a:xfrm>
              <a:off x="4948826" y="689196"/>
              <a:ext cx="175986" cy="169725"/>
            </a:xfrm>
            <a:custGeom>
              <a:avLst/>
              <a:gdLst/>
              <a:ahLst/>
              <a:cxnLst/>
              <a:rect l="0" t="0" r="r" b="b"/>
              <a:pathLst>
                <a:path w="192" h="185" fill="none">
                  <a:moveTo>
                    <a:pt x="0" y="0"/>
                  </a:moveTo>
                  <a:lnTo>
                    <a:pt x="192" y="185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56" name="Flecha 75_2"/>
            <p:cNvSpPr/>
            <p:nvPr/>
          </p:nvSpPr>
          <p:spPr>
            <a:xfrm>
              <a:off x="4948826" y="464410"/>
              <a:ext cx="108233" cy="224786"/>
            </a:xfrm>
            <a:custGeom>
              <a:avLst/>
              <a:gdLst/>
              <a:ahLst/>
              <a:cxnLst/>
              <a:rect l="0" t="0" r="r" b="b"/>
              <a:pathLst>
                <a:path w="118" h="245" fill="none">
                  <a:moveTo>
                    <a:pt x="0" y="245"/>
                  </a:moveTo>
                  <a:lnTo>
                    <a:pt x="118" y="0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57" name="Flecha 77_2"/>
            <p:cNvSpPr/>
            <p:nvPr/>
          </p:nvSpPr>
          <p:spPr>
            <a:xfrm>
              <a:off x="4948826" y="464410"/>
              <a:ext cx="108233" cy="224786"/>
            </a:xfrm>
            <a:custGeom>
              <a:avLst/>
              <a:gdLst/>
              <a:ahLst/>
              <a:cxnLst/>
              <a:rect l="0" t="0" r="r" b="b"/>
              <a:pathLst>
                <a:path w="118" h="245" fill="none">
                  <a:moveTo>
                    <a:pt x="0" y="245"/>
                  </a:moveTo>
                  <a:lnTo>
                    <a:pt x="118" y="0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58" name="Flecha 79_2"/>
            <p:cNvSpPr/>
            <p:nvPr/>
          </p:nvSpPr>
          <p:spPr>
            <a:xfrm>
              <a:off x="4514091" y="504547"/>
              <a:ext cx="159005" cy="216381"/>
            </a:xfrm>
            <a:custGeom>
              <a:avLst/>
              <a:gdLst/>
              <a:ahLst/>
              <a:cxnLst/>
              <a:rect l="0" t="0" r="r" b="b"/>
              <a:pathLst>
                <a:path w="173" h="236" fill="none">
                  <a:moveTo>
                    <a:pt x="173" y="236"/>
                  </a:moveTo>
                  <a:lnTo>
                    <a:pt x="0" y="0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59" name="Flecha 81_2"/>
            <p:cNvSpPr/>
            <p:nvPr/>
          </p:nvSpPr>
          <p:spPr>
            <a:xfrm>
              <a:off x="4514091" y="504547"/>
              <a:ext cx="159005" cy="216381"/>
            </a:xfrm>
            <a:custGeom>
              <a:avLst/>
              <a:gdLst/>
              <a:ahLst/>
              <a:cxnLst/>
              <a:rect l="0" t="0" r="r" b="b"/>
              <a:pathLst>
                <a:path w="173" h="236" fill="none">
                  <a:moveTo>
                    <a:pt x="173" y="236"/>
                  </a:moveTo>
                  <a:lnTo>
                    <a:pt x="0" y="0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60" name="Flecha 83_2"/>
            <p:cNvSpPr/>
            <p:nvPr/>
          </p:nvSpPr>
          <p:spPr>
            <a:xfrm>
              <a:off x="4293508" y="504547"/>
              <a:ext cx="220583" cy="25386"/>
            </a:xfrm>
            <a:custGeom>
              <a:avLst/>
              <a:gdLst/>
              <a:ahLst/>
              <a:cxnLst/>
              <a:rect l="0" t="0" r="r" b="b"/>
              <a:pathLst>
                <a:path w="241" h="27" fill="none">
                  <a:moveTo>
                    <a:pt x="241" y="0"/>
                  </a:moveTo>
                  <a:lnTo>
                    <a:pt x="0" y="27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61" name="Flecha 85_2"/>
            <p:cNvSpPr/>
            <p:nvPr/>
          </p:nvSpPr>
          <p:spPr>
            <a:xfrm>
              <a:off x="4293508" y="504547"/>
              <a:ext cx="220583" cy="25386"/>
            </a:xfrm>
            <a:custGeom>
              <a:avLst/>
              <a:gdLst/>
              <a:ahLst/>
              <a:cxnLst/>
              <a:rect l="0" t="0" r="r" b="b"/>
              <a:pathLst>
                <a:path w="241" h="27" fill="none">
                  <a:moveTo>
                    <a:pt x="241" y="0"/>
                  </a:moveTo>
                  <a:lnTo>
                    <a:pt x="0" y="27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62" name="Flecha 87_2"/>
            <p:cNvSpPr/>
            <p:nvPr/>
          </p:nvSpPr>
          <p:spPr>
            <a:xfrm>
              <a:off x="4514091" y="286108"/>
              <a:ext cx="53087" cy="218439"/>
            </a:xfrm>
            <a:custGeom>
              <a:avLst/>
              <a:gdLst/>
              <a:ahLst/>
              <a:cxnLst/>
              <a:rect l="0" t="0" r="r" b="b"/>
              <a:pathLst>
                <a:path w="58" h="238" fill="none">
                  <a:moveTo>
                    <a:pt x="0" y="238"/>
                  </a:moveTo>
                  <a:lnTo>
                    <a:pt x="58" y="0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63" name="Flecha 89_2"/>
            <p:cNvSpPr/>
            <p:nvPr/>
          </p:nvSpPr>
          <p:spPr>
            <a:xfrm>
              <a:off x="4514091" y="286108"/>
              <a:ext cx="53087" cy="218439"/>
            </a:xfrm>
            <a:custGeom>
              <a:avLst/>
              <a:gdLst/>
              <a:ahLst/>
              <a:cxnLst/>
              <a:rect l="0" t="0" r="r" b="b"/>
              <a:pathLst>
                <a:path w="58" h="238" fill="none">
                  <a:moveTo>
                    <a:pt x="0" y="238"/>
                  </a:moveTo>
                  <a:lnTo>
                    <a:pt x="58" y="0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64" name="Flecha 91_2"/>
            <p:cNvSpPr/>
            <p:nvPr/>
          </p:nvSpPr>
          <p:spPr>
            <a:xfrm>
              <a:off x="4579700" y="720928"/>
              <a:ext cx="93396" cy="256604"/>
            </a:xfrm>
            <a:custGeom>
              <a:avLst/>
              <a:gdLst/>
              <a:ahLst/>
              <a:cxnLst/>
              <a:rect l="0" t="0" r="r" b="b"/>
              <a:pathLst>
                <a:path w="102" h="280" fill="none">
                  <a:moveTo>
                    <a:pt x="102" y="0"/>
                  </a:moveTo>
                  <a:lnTo>
                    <a:pt x="0" y="280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65" name="Flecha 93_2"/>
            <p:cNvSpPr/>
            <p:nvPr/>
          </p:nvSpPr>
          <p:spPr>
            <a:xfrm>
              <a:off x="4579700" y="720928"/>
              <a:ext cx="93396" cy="256604"/>
            </a:xfrm>
            <a:custGeom>
              <a:avLst/>
              <a:gdLst/>
              <a:ahLst/>
              <a:cxnLst/>
              <a:rect l="0" t="0" r="r" b="b"/>
              <a:pathLst>
                <a:path w="102" h="280" fill="none">
                  <a:moveTo>
                    <a:pt x="102" y="0"/>
                  </a:moveTo>
                  <a:lnTo>
                    <a:pt x="0" y="280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66" name="Flecha 95_2"/>
            <p:cNvSpPr/>
            <p:nvPr/>
          </p:nvSpPr>
          <p:spPr>
            <a:xfrm>
              <a:off x="4579700" y="977532"/>
              <a:ext cx="112350" cy="199400"/>
            </a:xfrm>
            <a:custGeom>
              <a:avLst/>
              <a:gdLst/>
              <a:ahLst/>
              <a:cxnLst/>
              <a:rect l="0" t="0" r="r" b="b"/>
              <a:pathLst>
                <a:path w="122" h="218" fill="none">
                  <a:moveTo>
                    <a:pt x="0" y="0"/>
                  </a:moveTo>
                  <a:lnTo>
                    <a:pt x="122" y="218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67" name="Flecha 97_2"/>
            <p:cNvSpPr/>
            <p:nvPr/>
          </p:nvSpPr>
          <p:spPr>
            <a:xfrm>
              <a:off x="4579700" y="977532"/>
              <a:ext cx="112350" cy="199400"/>
            </a:xfrm>
            <a:custGeom>
              <a:avLst/>
              <a:gdLst/>
              <a:ahLst/>
              <a:cxnLst/>
              <a:rect l="0" t="0" r="r" b="b"/>
              <a:pathLst>
                <a:path w="122" h="218" fill="none">
                  <a:moveTo>
                    <a:pt x="0" y="0"/>
                  </a:moveTo>
                  <a:lnTo>
                    <a:pt x="122" y="218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68" name="Flecha 99_2"/>
            <p:cNvSpPr/>
            <p:nvPr/>
          </p:nvSpPr>
          <p:spPr>
            <a:xfrm>
              <a:off x="4365464" y="977532"/>
              <a:ext cx="214237" cy="80532"/>
            </a:xfrm>
            <a:custGeom>
              <a:avLst/>
              <a:gdLst/>
              <a:ahLst/>
              <a:cxnLst/>
              <a:rect l="0" t="0" r="r" b="b"/>
              <a:pathLst>
                <a:path w="234" h="88" fill="none">
                  <a:moveTo>
                    <a:pt x="234" y="0"/>
                  </a:moveTo>
                  <a:lnTo>
                    <a:pt x="0" y="88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69" name="Flecha 101_2"/>
            <p:cNvSpPr/>
            <p:nvPr/>
          </p:nvSpPr>
          <p:spPr>
            <a:xfrm>
              <a:off x="4365464" y="977532"/>
              <a:ext cx="214237" cy="80532"/>
            </a:xfrm>
            <a:custGeom>
              <a:avLst/>
              <a:gdLst/>
              <a:ahLst/>
              <a:cxnLst/>
              <a:rect l="0" t="0" r="r" b="b"/>
              <a:pathLst>
                <a:path w="234" h="88" fill="none">
                  <a:moveTo>
                    <a:pt x="234" y="0"/>
                  </a:moveTo>
                  <a:lnTo>
                    <a:pt x="0" y="88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70" name="Flecha 103_2"/>
            <p:cNvSpPr/>
            <p:nvPr/>
          </p:nvSpPr>
          <p:spPr>
            <a:xfrm>
              <a:off x="4526742" y="720928"/>
              <a:ext cx="146355" cy="39194"/>
            </a:xfrm>
            <a:custGeom>
              <a:avLst/>
              <a:gdLst/>
              <a:ahLst/>
              <a:cxnLst/>
              <a:rect l="0" t="0" r="r" b="b"/>
              <a:pathLst>
                <a:path w="160" h="42" fill="none">
                  <a:moveTo>
                    <a:pt x="160" y="0"/>
                  </a:moveTo>
                  <a:lnTo>
                    <a:pt x="0" y="42"/>
                  </a:lnTo>
                </a:path>
              </a:pathLst>
            </a:custGeom>
            <a:noFill/>
            <a:ln w="55166" cap="rnd">
              <a:solidFill>
                <a:srgbClr val="B9B9B9"/>
              </a:solidFill>
              <a:round/>
            </a:ln>
          </p:spPr>
        </p:sp>
        <p:sp>
          <p:nvSpPr>
            <p:cNvPr id="71" name="Flecha 105_2"/>
            <p:cNvSpPr/>
            <p:nvPr/>
          </p:nvSpPr>
          <p:spPr>
            <a:xfrm>
              <a:off x="4526742" y="720928"/>
              <a:ext cx="146355" cy="39194"/>
            </a:xfrm>
            <a:custGeom>
              <a:avLst/>
              <a:gdLst/>
              <a:ahLst/>
              <a:cxnLst/>
              <a:rect l="0" t="0" r="r" b="b"/>
              <a:pathLst>
                <a:path w="160" h="42" fill="none">
                  <a:moveTo>
                    <a:pt x="160" y="0"/>
                  </a:moveTo>
                  <a:lnTo>
                    <a:pt x="0" y="42"/>
                  </a:lnTo>
                </a:path>
              </a:pathLst>
            </a:custGeom>
            <a:noFill/>
            <a:ln w="31030" cap="rnd">
              <a:solidFill>
                <a:srgbClr val="FFFFFF"/>
              </a:solidFill>
              <a:round/>
            </a:ln>
          </p:spPr>
        </p:sp>
        <p:sp>
          <p:nvSpPr>
            <p:cNvPr id="72" name="Forma 107"/>
            <p:cNvSpPr/>
            <p:nvPr/>
          </p:nvSpPr>
          <p:spPr>
            <a:xfrm>
              <a:off x="4231481" y="467906"/>
              <a:ext cx="124054" cy="12405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3" name="Forma 108"/>
            <p:cNvSpPr/>
            <p:nvPr/>
          </p:nvSpPr>
          <p:spPr>
            <a:xfrm>
              <a:off x="4505152" y="224081"/>
              <a:ext cx="124054" cy="12405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4" name="Forma 109"/>
            <p:cNvSpPr/>
            <p:nvPr/>
          </p:nvSpPr>
          <p:spPr>
            <a:xfrm>
              <a:off x="4630023" y="1114905"/>
              <a:ext cx="124054" cy="12405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5" name="Forma 110"/>
            <p:cNvSpPr/>
            <p:nvPr/>
          </p:nvSpPr>
          <p:spPr>
            <a:xfrm>
              <a:off x="4303437" y="996037"/>
              <a:ext cx="124054" cy="12405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6" name="Forma 111"/>
            <p:cNvSpPr/>
            <p:nvPr/>
          </p:nvSpPr>
          <p:spPr>
            <a:xfrm>
              <a:off x="4464714" y="698095"/>
              <a:ext cx="124054" cy="12405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7" name="Forma 112"/>
            <p:cNvSpPr/>
            <p:nvPr/>
          </p:nvSpPr>
          <p:spPr>
            <a:xfrm>
              <a:off x="4573053" y="620885"/>
              <a:ext cx="200087" cy="20008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8" name="Forma 113"/>
            <p:cNvSpPr/>
            <p:nvPr/>
          </p:nvSpPr>
          <p:spPr>
            <a:xfrm>
              <a:off x="4848782" y="589152"/>
              <a:ext cx="200087" cy="20008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9" name="Forma 114"/>
            <p:cNvSpPr/>
            <p:nvPr/>
          </p:nvSpPr>
          <p:spPr>
            <a:xfrm>
              <a:off x="5024768" y="758878"/>
              <a:ext cx="200087" cy="20008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0" name="Forma 115"/>
            <p:cNvSpPr/>
            <p:nvPr/>
          </p:nvSpPr>
          <p:spPr>
            <a:xfrm>
              <a:off x="4957015" y="364366"/>
              <a:ext cx="200087" cy="20008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1" name="Forma 116"/>
            <p:cNvSpPr/>
            <p:nvPr/>
          </p:nvSpPr>
          <p:spPr>
            <a:xfrm>
              <a:off x="4414048" y="404504"/>
              <a:ext cx="200087" cy="20008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2" name="Forma 117"/>
            <p:cNvSpPr/>
            <p:nvPr/>
          </p:nvSpPr>
          <p:spPr>
            <a:xfrm>
              <a:off x="4479657" y="877488"/>
              <a:ext cx="200087" cy="20008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83" name="Título principal"/>
          <p:cNvSpPr txBox="1"/>
          <p:nvPr/>
        </p:nvSpPr>
        <p:spPr>
          <a:xfrm>
            <a:off x="4572000" y="1097280"/>
            <a:ext cx="512064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"/>
              </a:lnSpc>
              <a:spcAft>
                <a:spcPts val="300"/>
              </a:spcAft>
              <a:buNone/>
            </a:pPr>
            <a:r>
              <a:rPr lang="es-AR" sz="4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BIOQUÍMICA CLÍNICA Y METABOLISMO</a:t>
            </a:r>
            <a:endParaRPr lang="es-AR" sz="4400" dirty="0">
              <a:latin typeface="Segoe Print"/>
            </a:endParaRPr>
          </a:p>
        </p:txBody>
      </p:sp>
      <p:sp>
        <p:nvSpPr>
          <p:cNvPr id="84" name="Subtítulo"/>
          <p:cNvSpPr txBox="1"/>
          <p:nvPr/>
        </p:nvSpPr>
        <p:spPr>
          <a:xfrm>
            <a:off x="4572000" y="388620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650" b="1" dirty="0">
                <a:solidFill>
                  <a:srgbClr val="1E1E1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DE LOS MECANISMOS MOLECULARES A LA INTERPRETACIÓN DEL LABORATORIO</a:t>
            </a:r>
            <a:endParaRPr lang="es-AR" sz="1650" dirty="0">
              <a:latin typeface="Segoe Print"/>
            </a:endParaRPr>
          </a:p>
        </p:txBody>
      </p:sp>
      <p:grpSp>
        <p:nvGrpSpPr>
          <p:cNvPr id="85" name="Unidades portada"/>
          <p:cNvGrpSpPr/>
          <p:nvPr/>
        </p:nvGrpSpPr>
        <p:grpSpPr>
          <a:xfrm>
            <a:off x="4800600" y="4892040"/>
            <a:ext cx="4846320" cy="842010"/>
            <a:chOff x="4800600" y="4892040"/>
            <a:chExt cx="4846320" cy="842010"/>
          </a:xfrm>
        </p:grpSpPr>
        <p:sp>
          <p:nvSpPr>
            <p:cNvPr id="86" name="Rótulo Laboratorio"/>
            <p:cNvSpPr/>
            <p:nvPr/>
          </p:nvSpPr>
          <p:spPr>
            <a:xfrm>
              <a:off x="4800600" y="4892040"/>
              <a:ext cx="1554480" cy="293370"/>
            </a:xfrm>
            <a:prstGeom prst="rect">
              <a:avLst/>
            </a:prstGeom>
            <a:solidFill>
              <a:srgbClr val="D8E6F2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Laboratorio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7" name="Rótulo Metabolismo"/>
            <p:cNvSpPr/>
            <p:nvPr/>
          </p:nvSpPr>
          <p:spPr>
            <a:xfrm>
              <a:off x="6446520" y="4892040"/>
              <a:ext cx="1554480" cy="293370"/>
            </a:xfrm>
            <a:prstGeom prst="rect">
              <a:avLst/>
            </a:prstGeom>
            <a:solidFill>
              <a:srgbClr val="A9CF86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Metabolismo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8" name="Rótulo Anemias"/>
            <p:cNvSpPr/>
            <p:nvPr/>
          </p:nvSpPr>
          <p:spPr>
            <a:xfrm>
              <a:off x="8092440" y="4892040"/>
              <a:ext cx="1554480" cy="293370"/>
            </a:xfrm>
            <a:prstGeom prst="rect">
              <a:avLst/>
            </a:prstGeom>
            <a:solidFill>
              <a:srgbClr val="FF9393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9" name="Rótulo IAM"/>
            <p:cNvSpPr/>
            <p:nvPr/>
          </p:nvSpPr>
          <p:spPr>
            <a:xfrm>
              <a:off x="4800600" y="5440680"/>
              <a:ext cx="1554480" cy="293370"/>
            </a:xfrm>
            <a:prstGeom prst="rect">
              <a:avLst/>
            </a:prstGeom>
            <a:solidFill>
              <a:srgbClr val="86AAD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IAM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0" name="Rótulo Hepatopancreático"/>
            <p:cNvSpPr/>
            <p:nvPr/>
          </p:nvSpPr>
          <p:spPr>
            <a:xfrm>
              <a:off x="6446520" y="5440680"/>
              <a:ext cx="1554480" cy="293370"/>
            </a:xfrm>
            <a:prstGeom prst="rect">
              <a:avLst/>
            </a:prstGeom>
            <a:solidFill>
              <a:srgbClr val="F2AB86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Hepatopancreático</a:t>
              </a:r>
              <a:endParaRPr lang="es-AR" sz="1400" dirty="0">
                <a:latin typeface="Calibri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5" name="Unidad I"/>
          <p:cNvGrpSpPr/>
          <p:nvPr/>
        </p:nvGrpSpPr>
        <p:grpSpPr>
          <a:xfrm>
            <a:off x="411480" y="1051560"/>
            <a:ext cx="7635240" cy="960120"/>
            <a:chOff x="411480" y="1051560"/>
            <a:chExt cx="7635240" cy="960120"/>
          </a:xfrm>
        </p:grpSpPr>
        <p:sp>
          <p:nvSpPr>
            <p:cNvPr id="6" name="Forma 5"/>
            <p:cNvSpPr/>
            <p:nvPr/>
          </p:nvSpPr>
          <p:spPr>
            <a:xfrm>
              <a:off x="411480" y="1051560"/>
              <a:ext cx="868680" cy="960120"/>
            </a:xfrm>
            <a:prstGeom prst="roundRect">
              <a:avLst>
                <a:gd name="adj" fmla="val 14000"/>
              </a:avLst>
            </a:prstGeom>
            <a:solidFill>
              <a:srgbClr val="1F386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FFFFFF"/>
                  </a:solidFill>
                  <a:latin typeface="Segoe Print"/>
                  <a:ea typeface="Segoe Print"/>
                  <a:cs typeface="Segoe Print"/>
                  <a:sym typeface="Segoe Print"/>
                </a:rPr>
                <a:t>I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371600" y="1051560"/>
              <a:ext cx="6675120" cy="96012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Variables bioquímicas y laboratorio</a:t>
              </a:r>
              <a:endParaRPr lang="es-AR" sz="1500" dirty="0">
                <a:latin typeface="Calibri"/>
              </a:endParaRPr>
            </a:p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Analitos, sangre, suero y plasma, unidades, sensibilidad, especificidad, precisión, intervalos de referencia y control de calidad.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8" name="Unidad II"/>
          <p:cNvGrpSpPr/>
          <p:nvPr/>
        </p:nvGrpSpPr>
        <p:grpSpPr>
          <a:xfrm>
            <a:off x="411480" y="2148840"/>
            <a:ext cx="7635240" cy="960120"/>
            <a:chOff x="411480" y="2148840"/>
            <a:chExt cx="7635240" cy="960120"/>
          </a:xfrm>
        </p:grpSpPr>
        <p:sp>
          <p:nvSpPr>
            <p:cNvPr id="9" name="Forma 8"/>
            <p:cNvSpPr/>
            <p:nvPr/>
          </p:nvSpPr>
          <p:spPr>
            <a:xfrm>
              <a:off x="411480" y="2148840"/>
              <a:ext cx="868680" cy="960120"/>
            </a:xfrm>
            <a:prstGeom prst="roundRect">
              <a:avLst>
                <a:gd name="adj" fmla="val 14000"/>
              </a:avLst>
            </a:prstGeom>
            <a:solidFill>
              <a:srgbClr val="1F386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FFFFFF"/>
                  </a:solidFill>
                  <a:latin typeface="Segoe Print"/>
                  <a:ea typeface="Segoe Print"/>
                  <a:cs typeface="Segoe Print"/>
                  <a:sym typeface="Segoe Print"/>
                </a:rPr>
                <a:t>II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1371600" y="2148840"/>
              <a:ext cx="6675120" cy="960120"/>
            </a:xfrm>
            <a:prstGeom prst="roundRect">
              <a:avLst>
                <a:gd name="adj" fmla="val 9000"/>
              </a:avLst>
            </a:prstGeom>
            <a:solidFill>
              <a:srgbClr val="A9CF86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Termodinámica y metabolismo intermedio</a:t>
              </a:r>
              <a:endParaRPr lang="es-AR" sz="1500" dirty="0">
                <a:latin typeface="Calibri"/>
              </a:endParaRPr>
            </a:p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ΔG, reacciones acopladas, redox, catabolismo y anabolismo, acetil-CoA, piruvato y complejo PDH.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1" name="Unidad III"/>
          <p:cNvGrpSpPr/>
          <p:nvPr/>
        </p:nvGrpSpPr>
        <p:grpSpPr>
          <a:xfrm>
            <a:off x="411480" y="3246120"/>
            <a:ext cx="7635240" cy="960120"/>
            <a:chOff x="411480" y="3246120"/>
            <a:chExt cx="7635240" cy="960120"/>
          </a:xfrm>
        </p:grpSpPr>
        <p:sp>
          <p:nvSpPr>
            <p:cNvPr id="12" name="Forma 11"/>
            <p:cNvSpPr/>
            <p:nvPr/>
          </p:nvSpPr>
          <p:spPr>
            <a:xfrm>
              <a:off x="411480" y="3246120"/>
              <a:ext cx="868680" cy="960120"/>
            </a:xfrm>
            <a:prstGeom prst="roundRect">
              <a:avLst>
                <a:gd name="adj" fmla="val 14000"/>
              </a:avLst>
            </a:prstGeom>
            <a:solidFill>
              <a:srgbClr val="1F386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FFFFFF"/>
                  </a:solidFill>
                  <a:latin typeface="Segoe Print"/>
                  <a:ea typeface="Segoe Print"/>
                  <a:cs typeface="Segoe Print"/>
                  <a:sym typeface="Segoe Print"/>
                </a:rPr>
                <a:t>III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1371600" y="3246120"/>
              <a:ext cx="6675120" cy="960120"/>
            </a:xfrm>
            <a:prstGeom prst="roundRect">
              <a:avLst>
                <a:gd name="adj" fmla="val 9000"/>
              </a:avLst>
            </a:prstGeom>
            <a:solidFill>
              <a:srgbClr val="FF9393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Bioquímica clínica de las anemias</a:t>
              </a:r>
              <a:endParaRPr lang="es-AR" sz="1500" dirty="0">
                <a:latin typeface="Calibri"/>
              </a:endParaRPr>
            </a:p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Hemoglobina, índices hematimétricos, reticulocitos, anemia megaloblástica, biomarcadores y casos.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4" name="Unidad IV"/>
          <p:cNvGrpSpPr/>
          <p:nvPr/>
        </p:nvGrpSpPr>
        <p:grpSpPr>
          <a:xfrm>
            <a:off x="411480" y="4343400"/>
            <a:ext cx="7635240" cy="960120"/>
            <a:chOff x="411480" y="4343400"/>
            <a:chExt cx="7635240" cy="960120"/>
          </a:xfrm>
        </p:grpSpPr>
        <p:sp>
          <p:nvSpPr>
            <p:cNvPr id="15" name="Forma 14"/>
            <p:cNvSpPr/>
            <p:nvPr/>
          </p:nvSpPr>
          <p:spPr>
            <a:xfrm>
              <a:off x="411480" y="4343400"/>
              <a:ext cx="868680" cy="960120"/>
            </a:xfrm>
            <a:prstGeom prst="roundRect">
              <a:avLst>
                <a:gd name="adj" fmla="val 14000"/>
              </a:avLst>
            </a:prstGeom>
            <a:solidFill>
              <a:srgbClr val="1F386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FFFFFF"/>
                  </a:solidFill>
                  <a:latin typeface="Segoe Print"/>
                  <a:ea typeface="Segoe Print"/>
                  <a:cs typeface="Segoe Print"/>
                  <a:sym typeface="Segoe Print"/>
                </a:rPr>
                <a:t>IV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1371600" y="4343400"/>
              <a:ext cx="6675120" cy="960120"/>
            </a:xfrm>
            <a:prstGeom prst="roundRect">
              <a:avLst>
                <a:gd name="adj" fmla="val 9000"/>
              </a:avLst>
            </a:prstGeom>
            <a:solidFill>
              <a:srgbClr val="86AAD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Infarto agudo de miocardio</a:t>
              </a:r>
              <a:endParaRPr lang="es-AR" sz="1500" dirty="0">
                <a:latin typeface="Calibri"/>
              </a:endParaRPr>
            </a:p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ECG, cardiomiocito, troponinas, CK-MB, mioglobina, LDH, cinética y seguimiento.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7" name="Unidad V"/>
          <p:cNvGrpSpPr/>
          <p:nvPr/>
        </p:nvGrpSpPr>
        <p:grpSpPr>
          <a:xfrm>
            <a:off x="411480" y="5440680"/>
            <a:ext cx="7635240" cy="960120"/>
            <a:chOff x="411480" y="5440680"/>
            <a:chExt cx="7635240" cy="960120"/>
          </a:xfrm>
        </p:grpSpPr>
        <p:sp>
          <p:nvSpPr>
            <p:cNvPr id="18" name="Forma 17"/>
            <p:cNvSpPr/>
            <p:nvPr/>
          </p:nvSpPr>
          <p:spPr>
            <a:xfrm>
              <a:off x="411480" y="5440680"/>
              <a:ext cx="868680" cy="960120"/>
            </a:xfrm>
            <a:prstGeom prst="roundRect">
              <a:avLst>
                <a:gd name="adj" fmla="val 14000"/>
              </a:avLst>
            </a:prstGeom>
            <a:solidFill>
              <a:srgbClr val="1F386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FFFFFF"/>
                  </a:solidFill>
                  <a:latin typeface="Segoe Print"/>
                  <a:ea typeface="Segoe Print"/>
                  <a:cs typeface="Segoe Print"/>
                  <a:sym typeface="Segoe Print"/>
                </a:rPr>
                <a:t>V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1371600" y="5440680"/>
              <a:ext cx="6675120" cy="960120"/>
            </a:xfrm>
            <a:prstGeom prst="roundRect">
              <a:avLst>
                <a:gd name="adj" fmla="val 9000"/>
              </a:avLst>
            </a:prstGeom>
            <a:solidFill>
              <a:srgbClr val="F2AB86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Pancreatitis y enzimología hepatopancreática</a:t>
              </a:r>
              <a:endParaRPr lang="es-AR" sz="1500" dirty="0">
                <a:latin typeface="Calibri"/>
              </a:endParaRPr>
            </a:p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Transaminasas, De Ritis, FAL, GGT, bilirrubina, amilasa, lipasa, zimógenos y diagnóstico diferencial.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0" name="Íconos de unidades"/>
          <p:cNvGrpSpPr/>
          <p:nvPr/>
        </p:nvGrpSpPr>
        <p:grpSpPr>
          <a:xfrm>
            <a:off x="8595360" y="1051560"/>
            <a:ext cx="3383280" cy="5424221"/>
            <a:chOff x="8595360" y="1051560"/>
            <a:chExt cx="3383280" cy="5424221"/>
          </a:xfrm>
        </p:grpSpPr>
        <p:grpSp>
          <p:nvGrpSpPr>
            <p:cNvPr id="21" name="Tubo mapa"/>
            <p:cNvGrpSpPr/>
            <p:nvPr/>
          </p:nvGrpSpPr>
          <p:grpSpPr>
            <a:xfrm>
              <a:off x="8695944" y="1051560"/>
              <a:ext cx="530352" cy="1463040"/>
              <a:chOff x="8695944" y="1051560"/>
              <a:chExt cx="530352" cy="1463040"/>
            </a:xfrm>
          </p:grpSpPr>
          <p:sp>
            <p:nvSpPr>
              <p:cNvPr id="22" name="Vidrio"/>
              <p:cNvSpPr/>
              <p:nvPr/>
            </p:nvSpPr>
            <p:spPr>
              <a:xfrm>
                <a:off x="8732520" y="1197864"/>
                <a:ext cx="457200" cy="131673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3" name="Tapón"/>
              <p:cNvSpPr/>
              <p:nvPr/>
            </p:nvSpPr>
            <p:spPr>
              <a:xfrm>
                <a:off x="8695944" y="1051560"/>
                <a:ext cx="530352" cy="175565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24" name="Brillo"/>
              <p:cNvSpPr/>
              <p:nvPr/>
            </p:nvSpPr>
            <p:spPr>
              <a:xfrm>
                <a:off x="8796528" y="1285646"/>
                <a:ext cx="54864" cy="102412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25" name="Rojo m"/>
            <p:cNvSpPr/>
            <p:nvPr/>
          </p:nvSpPr>
          <p:spPr>
            <a:xfrm>
              <a:off x="8755380" y="1870862"/>
              <a:ext cx="411480" cy="61447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26" name="Plasma m"/>
            <p:cNvSpPr/>
            <p:nvPr/>
          </p:nvSpPr>
          <p:spPr>
            <a:xfrm>
              <a:off x="8755380" y="1379281"/>
              <a:ext cx="411480" cy="491581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grpSp>
          <p:nvGrpSpPr>
            <p:cNvPr id="27" name="Mitocondria mapa"/>
            <p:cNvGrpSpPr/>
            <p:nvPr/>
          </p:nvGrpSpPr>
          <p:grpSpPr>
            <a:xfrm>
              <a:off x="9509760" y="1143000"/>
              <a:ext cx="2377440" cy="1280160"/>
              <a:chOff x="9509760" y="1143000"/>
              <a:chExt cx="2377440" cy="1280160"/>
            </a:xfrm>
          </p:grpSpPr>
          <p:sp>
            <p:nvSpPr>
              <p:cNvPr id="28" name="Membrana externa"/>
              <p:cNvSpPr/>
              <p:nvPr/>
            </p:nvSpPr>
            <p:spPr>
              <a:xfrm>
                <a:off x="9509760" y="1143000"/>
                <a:ext cx="2377440" cy="128016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AD7A0"/>
                  </a:gs>
                  <a:gs pos="100000">
                    <a:srgbClr val="EB984E"/>
                  </a:gs>
                </a:gsLst>
                <a:path path="circle">
                  <a:fillToRect l="50000" t="50000" r="50000" b="50000"/>
                </a:path>
              </a:gradFill>
              <a:ln w="38100" cap="rnd">
                <a:solidFill>
                  <a:srgbClr val="784212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9" name="Membrana interna (matriz)"/>
              <p:cNvSpPr/>
              <p:nvPr/>
            </p:nvSpPr>
            <p:spPr>
              <a:xfrm>
                <a:off x="9599371" y="1232611"/>
                <a:ext cx="2198218" cy="110093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EF5E7"/>
                  </a:gs>
                  <a:gs pos="100000">
                    <a:srgbClr val="FAD7A0"/>
                  </a:gs>
                </a:gsLst>
                <a:path path="circle">
                  <a:fillToRect l="50000" t="50000" r="50000" b="50000"/>
                </a:path>
              </a:gradFill>
              <a:ln w="44450" cap="rnd">
                <a:solidFill>
                  <a:srgbClr val="A04000"/>
                </a:solidFill>
                <a:round/>
              </a:ln>
            </p:spPr>
          </p:sp>
          <p:sp>
            <p:nvSpPr>
              <p:cNvPr id="30" name="Crestas"/>
              <p:cNvSpPr/>
              <p:nvPr/>
            </p:nvSpPr>
            <p:spPr>
              <a:xfrm>
                <a:off x="9599371" y="1232611"/>
                <a:ext cx="2198218" cy="110093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70"/>
                    </a:moveTo>
                    <a:lnTo>
                      <a:pt x="90" y="330"/>
                    </a:lnTo>
                    <a:cubicBezTo>
                      <a:pt x="90" y="380"/>
                      <a:pt x="150" y="380"/>
                      <a:pt x="150" y="330"/>
                    </a:cubicBezTo>
                    <a:lnTo>
                      <a:pt x="150" y="70"/>
                    </a:lnTo>
                  </a:path>
                  <a:path w="1000" h="1000" fill="none">
                    <a:moveTo>
                      <a:pt x="216" y="930"/>
                    </a:moveTo>
                    <a:lnTo>
                      <a:pt x="216" y="670"/>
                    </a:lnTo>
                    <a:cubicBezTo>
                      <a:pt x="216" y="620"/>
                      <a:pt x="276" y="620"/>
                      <a:pt x="276" y="670"/>
                    </a:cubicBezTo>
                    <a:lnTo>
                      <a:pt x="276" y="930"/>
                    </a:lnTo>
                  </a:path>
                  <a:path w="1000" h="1000" fill="none">
                    <a:moveTo>
                      <a:pt x="343" y="70"/>
                    </a:moveTo>
                    <a:lnTo>
                      <a:pt x="343" y="330"/>
                    </a:lnTo>
                    <a:cubicBezTo>
                      <a:pt x="343" y="380"/>
                      <a:pt x="403" y="380"/>
                      <a:pt x="403" y="330"/>
                    </a:cubicBezTo>
                    <a:lnTo>
                      <a:pt x="403" y="70"/>
                    </a:lnTo>
                  </a:path>
                  <a:path w="1000" h="1000" fill="none">
                    <a:moveTo>
                      <a:pt x="470" y="930"/>
                    </a:moveTo>
                    <a:lnTo>
                      <a:pt x="470" y="670"/>
                    </a:lnTo>
                    <a:cubicBezTo>
                      <a:pt x="470" y="620"/>
                      <a:pt x="530" y="620"/>
                      <a:pt x="530" y="670"/>
                    </a:cubicBezTo>
                    <a:lnTo>
                      <a:pt x="530" y="930"/>
                    </a:lnTo>
                  </a:path>
                  <a:path w="1000" h="1000" fill="none">
                    <a:moveTo>
                      <a:pt x="596" y="70"/>
                    </a:moveTo>
                    <a:lnTo>
                      <a:pt x="596" y="330"/>
                    </a:lnTo>
                    <a:cubicBezTo>
                      <a:pt x="596" y="380"/>
                      <a:pt x="656" y="380"/>
                      <a:pt x="656" y="330"/>
                    </a:cubicBezTo>
                    <a:lnTo>
                      <a:pt x="656" y="70"/>
                    </a:lnTo>
                  </a:path>
                  <a:path w="1000" h="1000" fill="none">
                    <a:moveTo>
                      <a:pt x="723" y="930"/>
                    </a:moveTo>
                    <a:lnTo>
                      <a:pt x="723" y="670"/>
                    </a:lnTo>
                    <a:cubicBezTo>
                      <a:pt x="723" y="620"/>
                      <a:pt x="783" y="620"/>
                      <a:pt x="783" y="670"/>
                    </a:cubicBezTo>
                    <a:lnTo>
                      <a:pt x="783" y="930"/>
                    </a:lnTo>
                  </a:path>
                  <a:path w="1000" h="1000" fill="none">
                    <a:moveTo>
                      <a:pt x="850" y="70"/>
                    </a:moveTo>
                    <a:lnTo>
                      <a:pt x="850" y="330"/>
                    </a:lnTo>
                    <a:cubicBezTo>
                      <a:pt x="850" y="380"/>
                      <a:pt x="910" y="380"/>
                      <a:pt x="910" y="330"/>
                    </a:cubicBezTo>
                    <a:lnTo>
                      <a:pt x="910" y="70"/>
                    </a:lnTo>
                  </a:path>
                </a:pathLst>
              </a:custGeom>
              <a:noFill/>
              <a:ln w="38100" cap="rnd">
                <a:solidFill>
                  <a:srgbClr val="A04000"/>
                </a:solidFill>
                <a:round/>
              </a:ln>
            </p:spPr>
          </p:sp>
        </p:grpSp>
        <p:sp>
          <p:nvSpPr>
            <p:cNvPr id="31" name="Eritrocito mapa"/>
            <p:cNvSpPr/>
            <p:nvPr/>
          </p:nvSpPr>
          <p:spPr>
            <a:xfrm>
              <a:off x="8686800" y="2926080"/>
              <a:ext cx="1097280" cy="10972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2" name="Eritrocito hipo mapa"/>
            <p:cNvSpPr/>
            <p:nvPr/>
          </p:nvSpPr>
          <p:spPr>
            <a:xfrm>
              <a:off x="9509760" y="338328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33" name="Corazón mapa"/>
            <p:cNvGrpSpPr/>
            <p:nvPr/>
          </p:nvGrpSpPr>
          <p:grpSpPr>
            <a:xfrm>
              <a:off x="10332720" y="2697480"/>
              <a:ext cx="1463040" cy="1609344"/>
              <a:chOff x="10332720" y="2697480"/>
              <a:chExt cx="1463040" cy="1609344"/>
            </a:xfrm>
          </p:grpSpPr>
          <p:sp>
            <p:nvSpPr>
              <p:cNvPr id="34" name="Aorta"/>
              <p:cNvSpPr/>
              <p:nvPr/>
            </p:nvSpPr>
            <p:spPr>
              <a:xfrm>
                <a:off x="10888675" y="2697480"/>
                <a:ext cx="468173" cy="51499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35" name="Arteria pulmonar"/>
              <p:cNvSpPr/>
              <p:nvPr/>
            </p:nvSpPr>
            <p:spPr>
              <a:xfrm>
                <a:off x="10654589" y="2858414"/>
                <a:ext cx="321869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36" name="Miocardio"/>
              <p:cNvSpPr/>
              <p:nvPr/>
            </p:nvSpPr>
            <p:spPr>
              <a:xfrm>
                <a:off x="10332720" y="2987162"/>
                <a:ext cx="1463040" cy="131966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7" name="Aurícula derecha"/>
              <p:cNvSpPr/>
              <p:nvPr/>
            </p:nvSpPr>
            <p:spPr>
              <a:xfrm>
                <a:off x="10391242" y="3180283"/>
                <a:ext cx="409651" cy="45061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sp>
          <p:nvSpPr>
            <p:cNvPr id="38" name="!!ArteriaCoronaria izquierda"/>
            <p:cNvSpPr/>
            <p:nvPr/>
          </p:nvSpPr>
          <p:spPr>
            <a:xfrm>
              <a:off x="10332720" y="2987162"/>
              <a:ext cx="1463040" cy="1319662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70" y="240"/>
                  </a:moveTo>
                  <a:cubicBezTo>
                    <a:pt x="520" y="330"/>
                    <a:pt x="560" y="450"/>
                    <a:pt x="560" y="560"/>
                  </a:cubicBezTo>
                  <a:cubicBezTo>
                    <a:pt x="560" y="700"/>
                    <a:pt x="520" y="820"/>
                    <a:pt x="480" y="940"/>
                  </a:cubicBezTo>
                </a:path>
                <a:path w="1000" h="1000" fill="none">
                  <a:moveTo>
                    <a:pt x="470" y="240"/>
                  </a:moveTo>
                  <a:cubicBezTo>
                    <a:pt x="600" y="260"/>
                    <a:pt x="760" y="330"/>
                    <a:pt x="880" y="450"/>
                  </a:cubicBezTo>
                </a:path>
                <a:path w="1000" h="1000" fill="none">
                  <a:moveTo>
                    <a:pt x="560" y="470"/>
                  </a:moveTo>
                  <a:cubicBezTo>
                    <a:pt x="650" y="520"/>
                    <a:pt x="720" y="600"/>
                    <a:pt x="760" y="70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39" name="!!ArteriaCoronaria derecha"/>
            <p:cNvSpPr/>
            <p:nvPr/>
          </p:nvSpPr>
          <p:spPr>
            <a:xfrm>
              <a:off x="10332720" y="2987162"/>
              <a:ext cx="1463040" cy="1319662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20" y="235"/>
                  </a:moveTo>
                  <a:cubicBezTo>
                    <a:pt x="300" y="300"/>
                    <a:pt x="180" y="420"/>
                    <a:pt x="140" y="560"/>
                  </a:cubicBezTo>
                  <a:cubicBezTo>
                    <a:pt x="120" y="650"/>
                    <a:pt x="160" y="760"/>
                    <a:pt x="260" y="82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grpSp>
          <p:nvGrpSpPr>
            <p:cNvPr id="40" name="Hígado mapa"/>
            <p:cNvGrpSpPr/>
            <p:nvPr/>
          </p:nvGrpSpPr>
          <p:grpSpPr>
            <a:xfrm>
              <a:off x="8595360" y="4846320"/>
              <a:ext cx="2103120" cy="1486485"/>
              <a:chOff x="8595360" y="4846320"/>
              <a:chExt cx="2103120" cy="1486485"/>
            </a:xfrm>
          </p:grpSpPr>
          <p:sp>
            <p:nvSpPr>
              <p:cNvPr id="41" name="Vesícula biliar"/>
              <p:cNvSpPr/>
              <p:nvPr/>
            </p:nvSpPr>
            <p:spPr>
              <a:xfrm>
                <a:off x="9163202" y="5863389"/>
                <a:ext cx="273406" cy="46941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0"/>
                    </a:moveTo>
                    <a:cubicBezTo>
                      <a:pt x="438" y="-106"/>
                      <a:pt x="866" y="-73"/>
                      <a:pt x="950" y="60"/>
                    </a:cubicBezTo>
                    <a:cubicBezTo>
                      <a:pt x="1033" y="193"/>
                      <a:pt x="883" y="643"/>
                      <a:pt x="800" y="800"/>
                    </a:cubicBezTo>
                    <a:cubicBezTo>
                      <a:pt x="716" y="956"/>
                      <a:pt x="563" y="1016"/>
                      <a:pt x="450" y="1000"/>
                    </a:cubicBezTo>
                    <a:cubicBezTo>
                      <a:pt x="336" y="983"/>
                      <a:pt x="145" y="866"/>
                      <a:pt x="120" y="700"/>
                    </a:cubicBezTo>
                    <a:cubicBezTo>
                      <a:pt x="95" y="533"/>
                      <a:pt x="161" y="106"/>
                      <a:pt x="3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099"/>
                  </a:gs>
                  <a:gs pos="55000">
                    <a:srgbClr val="8DB255"/>
                  </a:gs>
                  <a:gs pos="100000">
                    <a:srgbClr val="627C3B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E6B22"/>
                </a:solidFill>
                <a:round/>
              </a:ln>
            </p:spPr>
          </p:sp>
          <p:sp>
            <p:nvSpPr>
              <p:cNvPr id="42" name="Forma 41"/>
              <p:cNvSpPr/>
              <p:nvPr/>
            </p:nvSpPr>
            <p:spPr>
              <a:xfrm>
                <a:off x="8595360" y="4846320"/>
                <a:ext cx="2103120" cy="130393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>
                    <a:moveTo>
                      <a:pt x="40" y="250"/>
                    </a:moveTo>
                    <a:cubicBezTo>
                      <a:pt x="50" y="205"/>
                      <a:pt x="76" y="143"/>
                      <a:pt x="120" y="110"/>
                    </a:cubicBezTo>
                    <a:cubicBezTo>
                      <a:pt x="163" y="76"/>
                      <a:pt x="233" y="59"/>
                      <a:pt x="300" y="50"/>
                    </a:cubicBezTo>
                    <a:cubicBezTo>
                      <a:pt x="366" y="40"/>
                      <a:pt x="450" y="50"/>
                      <a:pt x="520" y="55"/>
                    </a:cubicBezTo>
                    <a:cubicBezTo>
                      <a:pt x="590" y="59"/>
                      <a:pt x="656" y="64"/>
                      <a:pt x="720" y="75"/>
                    </a:cubicBezTo>
                    <a:cubicBezTo>
                      <a:pt x="783" y="85"/>
                      <a:pt x="857" y="100"/>
                      <a:pt x="900" y="120"/>
                    </a:cubicBezTo>
                    <a:cubicBezTo>
                      <a:pt x="942" y="139"/>
                      <a:pt x="968" y="168"/>
                      <a:pt x="975" y="190"/>
                    </a:cubicBezTo>
                    <a:cubicBezTo>
                      <a:pt x="981" y="211"/>
                      <a:pt x="965" y="231"/>
                      <a:pt x="940" y="250"/>
                    </a:cubicBezTo>
                    <a:cubicBezTo>
                      <a:pt x="914" y="268"/>
                      <a:pt x="861" y="280"/>
                      <a:pt x="820" y="300"/>
                    </a:cubicBezTo>
                    <a:cubicBezTo>
                      <a:pt x="778" y="320"/>
                      <a:pt x="733" y="341"/>
                      <a:pt x="690" y="370"/>
                    </a:cubicBezTo>
                    <a:cubicBezTo>
                      <a:pt x="646" y="398"/>
                      <a:pt x="601" y="436"/>
                      <a:pt x="560" y="470"/>
                    </a:cubicBezTo>
                    <a:cubicBezTo>
                      <a:pt x="518" y="503"/>
                      <a:pt x="478" y="546"/>
                      <a:pt x="440" y="570"/>
                    </a:cubicBezTo>
                    <a:cubicBezTo>
                      <a:pt x="401" y="593"/>
                      <a:pt x="365" y="608"/>
                      <a:pt x="330" y="610"/>
                    </a:cubicBezTo>
                    <a:cubicBezTo>
                      <a:pt x="295" y="611"/>
                      <a:pt x="261" y="601"/>
                      <a:pt x="230" y="580"/>
                    </a:cubicBezTo>
                    <a:cubicBezTo>
                      <a:pt x="198" y="558"/>
                      <a:pt x="168" y="513"/>
                      <a:pt x="140" y="480"/>
                    </a:cubicBezTo>
                    <a:cubicBezTo>
                      <a:pt x="111" y="446"/>
                      <a:pt x="76" y="418"/>
                      <a:pt x="60" y="380"/>
                    </a:cubicBezTo>
                    <a:cubicBezTo>
                      <a:pt x="43" y="341"/>
                      <a:pt x="30" y="295"/>
                      <a:pt x="4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4948C"/>
                  </a:gs>
                  <a:gs pos="55000">
                    <a:srgbClr val="B5473A"/>
                  </a:gs>
                  <a:gs pos="100000">
                    <a:srgbClr val="7E3128"/>
                  </a:gs>
                </a:gsLst>
                <a:path path="circle">
                  <a:fillToRect l="30000" t="25000" r="70000" b="75000"/>
                </a:path>
              </a:gradFill>
              <a:ln w="25400" cap="rnd">
                <a:solidFill>
                  <a:srgbClr val="511F1A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43" name="Forma 42"/>
              <p:cNvSpPr/>
              <p:nvPr/>
            </p:nvSpPr>
            <p:spPr>
              <a:xfrm>
                <a:off x="8595360" y="4846320"/>
                <a:ext cx="2103120" cy="130393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560" y="70"/>
                    </a:moveTo>
                    <a:cubicBezTo>
                      <a:pt x="545" y="180"/>
                      <a:pt x="530" y="280"/>
                      <a:pt x="520" y="400"/>
                    </a:cubicBezTo>
                  </a:path>
                </a:pathLst>
              </a:custGeom>
              <a:noFill/>
              <a:ln w="22225" cap="rnd">
                <a:solidFill>
                  <a:srgbClr val="6C2A22"/>
                </a:solidFill>
                <a:round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8595360" y="4846320"/>
                <a:ext cx="2103120" cy="130393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200" y="200"/>
                    </a:moveTo>
                    <a:cubicBezTo>
                      <a:pt x="260" y="160"/>
                      <a:pt x="330" y="150"/>
                      <a:pt x="400" y="170"/>
                    </a:cubicBezTo>
                  </a:path>
                  <a:path w="1000" h="620" fill="none">
                    <a:moveTo>
                      <a:pt x="640" y="160"/>
                    </a:moveTo>
                    <a:cubicBezTo>
                      <a:pt x="700" y="150"/>
                      <a:pt x="760" y="160"/>
                      <a:pt x="820" y="190"/>
                    </a:cubicBezTo>
                  </a:path>
                </a:pathLst>
              </a:custGeom>
              <a:noFill/>
              <a:ln w="31750" cap="rnd">
                <a:solidFill>
                  <a:srgbClr val="CE877E"/>
                </a:solidFill>
                <a:round/>
              </a:ln>
            </p:spPr>
          </p:sp>
        </p:grpSp>
        <p:grpSp>
          <p:nvGrpSpPr>
            <p:cNvPr id="45" name="Páncreas mapa"/>
            <p:cNvGrpSpPr/>
            <p:nvPr/>
          </p:nvGrpSpPr>
          <p:grpSpPr>
            <a:xfrm>
              <a:off x="10058400" y="5669280"/>
              <a:ext cx="1920240" cy="806501"/>
              <a:chOff x="10058400" y="5669280"/>
              <a:chExt cx="1920240" cy="806501"/>
            </a:xfrm>
          </p:grpSpPr>
          <p:sp>
            <p:nvSpPr>
              <p:cNvPr id="46" name="Forma 45"/>
              <p:cNvSpPr/>
              <p:nvPr/>
            </p:nvSpPr>
            <p:spPr>
              <a:xfrm>
                <a:off x="10058400" y="5669280"/>
                <a:ext cx="1920240" cy="80650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30" y="300"/>
                    </a:moveTo>
                    <a:cubicBezTo>
                      <a:pt x="20" y="271"/>
                      <a:pt x="40" y="238"/>
                      <a:pt x="60" y="220"/>
                    </a:cubicBezTo>
                    <a:cubicBezTo>
                      <a:pt x="80" y="201"/>
                      <a:pt x="118" y="188"/>
                      <a:pt x="150" y="190"/>
                    </a:cubicBezTo>
                    <a:cubicBezTo>
                      <a:pt x="181" y="191"/>
                      <a:pt x="215" y="220"/>
                      <a:pt x="250" y="230"/>
                    </a:cubicBezTo>
                    <a:cubicBezTo>
                      <a:pt x="285" y="240"/>
                      <a:pt x="321" y="255"/>
                      <a:pt x="360" y="250"/>
                    </a:cubicBezTo>
                    <a:cubicBezTo>
                      <a:pt x="398" y="245"/>
                      <a:pt x="440" y="213"/>
                      <a:pt x="480" y="200"/>
                    </a:cubicBezTo>
                    <a:cubicBezTo>
                      <a:pt x="520" y="186"/>
                      <a:pt x="556" y="180"/>
                      <a:pt x="600" y="170"/>
                    </a:cubicBezTo>
                    <a:cubicBezTo>
                      <a:pt x="643" y="160"/>
                      <a:pt x="693" y="148"/>
                      <a:pt x="740" y="140"/>
                    </a:cubicBezTo>
                    <a:cubicBezTo>
                      <a:pt x="786" y="131"/>
                      <a:pt x="841" y="118"/>
                      <a:pt x="880" y="120"/>
                    </a:cubicBezTo>
                    <a:cubicBezTo>
                      <a:pt x="918" y="121"/>
                      <a:pt x="956" y="133"/>
                      <a:pt x="970" y="150"/>
                    </a:cubicBezTo>
                    <a:cubicBezTo>
                      <a:pt x="983" y="166"/>
                      <a:pt x="978" y="203"/>
                      <a:pt x="960" y="220"/>
                    </a:cubicBezTo>
                    <a:cubicBezTo>
                      <a:pt x="941" y="236"/>
                      <a:pt x="896" y="240"/>
                      <a:pt x="860" y="250"/>
                    </a:cubicBezTo>
                    <a:cubicBezTo>
                      <a:pt x="823" y="260"/>
                      <a:pt x="780" y="268"/>
                      <a:pt x="740" y="280"/>
                    </a:cubicBezTo>
                    <a:cubicBezTo>
                      <a:pt x="700" y="291"/>
                      <a:pt x="660" y="305"/>
                      <a:pt x="620" y="320"/>
                    </a:cubicBezTo>
                    <a:cubicBezTo>
                      <a:pt x="580" y="335"/>
                      <a:pt x="540" y="356"/>
                      <a:pt x="500" y="370"/>
                    </a:cubicBezTo>
                    <a:cubicBezTo>
                      <a:pt x="460" y="383"/>
                      <a:pt x="421" y="393"/>
                      <a:pt x="380" y="400"/>
                    </a:cubicBezTo>
                    <a:cubicBezTo>
                      <a:pt x="338" y="406"/>
                      <a:pt x="293" y="411"/>
                      <a:pt x="250" y="410"/>
                    </a:cubicBezTo>
                    <a:cubicBezTo>
                      <a:pt x="206" y="408"/>
                      <a:pt x="156" y="408"/>
                      <a:pt x="120" y="390"/>
                    </a:cubicBezTo>
                    <a:cubicBezTo>
                      <a:pt x="83" y="371"/>
                      <a:pt x="40" y="328"/>
                      <a:pt x="30" y="3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5D8BE"/>
                  </a:gs>
                  <a:gs pos="55000">
                    <a:srgbClr val="EDB98A"/>
                  </a:gs>
                  <a:gs pos="100000">
                    <a:srgbClr val="B18A67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65C45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47" name="Forma 46"/>
              <p:cNvSpPr/>
              <p:nvPr/>
            </p:nvSpPr>
            <p:spPr>
              <a:xfrm>
                <a:off x="10058400" y="5669280"/>
                <a:ext cx="1920240" cy="80650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295"/>
                    </a:moveTo>
                    <a:cubicBezTo>
                      <a:pt x="100" y="306"/>
                      <a:pt x="91" y="315"/>
                      <a:pt x="80" y="315"/>
                    </a:cubicBezTo>
                    <a:cubicBezTo>
                      <a:pt x="68" y="315"/>
                      <a:pt x="60" y="306"/>
                      <a:pt x="60" y="295"/>
                    </a:cubicBezTo>
                    <a:cubicBezTo>
                      <a:pt x="60" y="283"/>
                      <a:pt x="68" y="275"/>
                      <a:pt x="80" y="275"/>
                    </a:cubicBezTo>
                    <a:cubicBezTo>
                      <a:pt x="91" y="275"/>
                      <a:pt x="100" y="283"/>
                      <a:pt x="100" y="295"/>
                    </a:cubicBezTo>
                    <a:close/>
                    <a:moveTo>
                      <a:pt x="142" y="293"/>
                    </a:moveTo>
                    <a:cubicBezTo>
                      <a:pt x="142" y="308"/>
                      <a:pt x="129" y="321"/>
                      <a:pt x="114" y="321"/>
                    </a:cubicBezTo>
                    <a:cubicBezTo>
                      <a:pt x="98" y="321"/>
                      <a:pt x="86" y="308"/>
                      <a:pt x="86" y="293"/>
                    </a:cubicBezTo>
                    <a:cubicBezTo>
                      <a:pt x="86" y="277"/>
                      <a:pt x="98" y="265"/>
                      <a:pt x="114" y="265"/>
                    </a:cubicBezTo>
                    <a:cubicBezTo>
                      <a:pt x="129" y="265"/>
                      <a:pt x="142" y="277"/>
                      <a:pt x="142" y="293"/>
                    </a:cubicBezTo>
                    <a:close/>
                    <a:moveTo>
                      <a:pt x="167" y="265"/>
                    </a:moveTo>
                    <a:cubicBezTo>
                      <a:pt x="167" y="275"/>
                      <a:pt x="158" y="284"/>
                      <a:pt x="148" y="284"/>
                    </a:cubicBezTo>
                    <a:cubicBezTo>
                      <a:pt x="137" y="284"/>
                      <a:pt x="129" y="275"/>
                      <a:pt x="129" y="265"/>
                    </a:cubicBezTo>
                    <a:cubicBezTo>
                      <a:pt x="129" y="254"/>
                      <a:pt x="137" y="246"/>
                      <a:pt x="148" y="246"/>
                    </a:cubicBezTo>
                    <a:cubicBezTo>
                      <a:pt x="158" y="246"/>
                      <a:pt x="167" y="254"/>
                      <a:pt x="167" y="265"/>
                    </a:cubicBezTo>
                    <a:close/>
                    <a:moveTo>
                      <a:pt x="202" y="289"/>
                    </a:moveTo>
                    <a:cubicBezTo>
                      <a:pt x="202" y="299"/>
                      <a:pt x="193" y="308"/>
                      <a:pt x="183" y="308"/>
                    </a:cubicBezTo>
                    <a:cubicBezTo>
                      <a:pt x="172" y="308"/>
                      <a:pt x="164" y="299"/>
                      <a:pt x="164" y="289"/>
                    </a:cubicBezTo>
                    <a:cubicBezTo>
                      <a:pt x="164" y="278"/>
                      <a:pt x="172" y="270"/>
                      <a:pt x="183" y="270"/>
                    </a:cubicBezTo>
                    <a:cubicBezTo>
                      <a:pt x="193" y="270"/>
                      <a:pt x="202" y="278"/>
                      <a:pt x="202" y="289"/>
                    </a:cubicBezTo>
                    <a:close/>
                    <a:moveTo>
                      <a:pt x="244" y="272"/>
                    </a:moveTo>
                    <a:cubicBezTo>
                      <a:pt x="244" y="286"/>
                      <a:pt x="231" y="299"/>
                      <a:pt x="217" y="299"/>
                    </a:cubicBezTo>
                    <a:cubicBezTo>
                      <a:pt x="202" y="299"/>
                      <a:pt x="190" y="286"/>
                      <a:pt x="190" y="272"/>
                    </a:cubicBezTo>
                    <a:cubicBezTo>
                      <a:pt x="190" y="257"/>
                      <a:pt x="202" y="245"/>
                      <a:pt x="217" y="245"/>
                    </a:cubicBezTo>
                    <a:cubicBezTo>
                      <a:pt x="231" y="245"/>
                      <a:pt x="244" y="257"/>
                      <a:pt x="244" y="272"/>
                    </a:cubicBezTo>
                    <a:close/>
                    <a:moveTo>
                      <a:pt x="278" y="246"/>
                    </a:moveTo>
                    <a:cubicBezTo>
                      <a:pt x="278" y="260"/>
                      <a:pt x="266" y="272"/>
                      <a:pt x="252" y="272"/>
                    </a:cubicBezTo>
                    <a:cubicBezTo>
                      <a:pt x="237" y="272"/>
                      <a:pt x="226" y="260"/>
                      <a:pt x="226" y="246"/>
                    </a:cubicBezTo>
                    <a:cubicBezTo>
                      <a:pt x="226" y="231"/>
                      <a:pt x="237" y="220"/>
                      <a:pt x="252" y="220"/>
                    </a:cubicBezTo>
                    <a:cubicBezTo>
                      <a:pt x="266" y="220"/>
                      <a:pt x="278" y="231"/>
                      <a:pt x="278" y="246"/>
                    </a:cubicBezTo>
                    <a:close/>
                    <a:moveTo>
                      <a:pt x="304" y="249"/>
                    </a:moveTo>
                    <a:cubicBezTo>
                      <a:pt x="304" y="258"/>
                      <a:pt x="295" y="267"/>
                      <a:pt x="286" y="267"/>
                    </a:cubicBezTo>
                    <a:cubicBezTo>
                      <a:pt x="276" y="267"/>
                      <a:pt x="268" y="258"/>
                      <a:pt x="268" y="249"/>
                    </a:cubicBezTo>
                    <a:cubicBezTo>
                      <a:pt x="268" y="239"/>
                      <a:pt x="276" y="231"/>
                      <a:pt x="286" y="231"/>
                    </a:cubicBezTo>
                    <a:cubicBezTo>
                      <a:pt x="295" y="231"/>
                      <a:pt x="304" y="239"/>
                      <a:pt x="304" y="249"/>
                    </a:cubicBezTo>
                    <a:close/>
                    <a:moveTo>
                      <a:pt x="344" y="235"/>
                    </a:moveTo>
                    <a:cubicBezTo>
                      <a:pt x="344" y="248"/>
                      <a:pt x="333" y="259"/>
                      <a:pt x="320" y="259"/>
                    </a:cubicBezTo>
                    <a:cubicBezTo>
                      <a:pt x="306" y="259"/>
                      <a:pt x="296" y="248"/>
                      <a:pt x="296" y="235"/>
                    </a:cubicBezTo>
                    <a:cubicBezTo>
                      <a:pt x="296" y="221"/>
                      <a:pt x="306" y="211"/>
                      <a:pt x="320" y="211"/>
                    </a:cubicBezTo>
                    <a:cubicBezTo>
                      <a:pt x="333" y="211"/>
                      <a:pt x="344" y="221"/>
                      <a:pt x="344" y="235"/>
                    </a:cubicBezTo>
                    <a:close/>
                    <a:moveTo>
                      <a:pt x="374" y="249"/>
                    </a:moveTo>
                    <a:cubicBezTo>
                      <a:pt x="374" y="259"/>
                      <a:pt x="365" y="268"/>
                      <a:pt x="355" y="268"/>
                    </a:cubicBezTo>
                    <a:cubicBezTo>
                      <a:pt x="344" y="268"/>
                      <a:pt x="336" y="259"/>
                      <a:pt x="336" y="249"/>
                    </a:cubicBezTo>
                    <a:cubicBezTo>
                      <a:pt x="336" y="238"/>
                      <a:pt x="344" y="230"/>
                      <a:pt x="355" y="230"/>
                    </a:cubicBezTo>
                    <a:cubicBezTo>
                      <a:pt x="365" y="230"/>
                      <a:pt x="374" y="238"/>
                      <a:pt x="374" y="249"/>
                    </a:cubicBezTo>
                    <a:close/>
                    <a:moveTo>
                      <a:pt x="408" y="232"/>
                    </a:moveTo>
                    <a:cubicBezTo>
                      <a:pt x="408" y="242"/>
                      <a:pt x="399" y="251"/>
                      <a:pt x="389" y="251"/>
                    </a:cubicBezTo>
                    <a:cubicBezTo>
                      <a:pt x="378" y="251"/>
                      <a:pt x="370" y="242"/>
                      <a:pt x="370" y="232"/>
                    </a:cubicBezTo>
                    <a:cubicBezTo>
                      <a:pt x="370" y="221"/>
                      <a:pt x="378" y="213"/>
                      <a:pt x="389" y="213"/>
                    </a:cubicBezTo>
                    <a:cubicBezTo>
                      <a:pt x="399" y="213"/>
                      <a:pt x="408" y="221"/>
                      <a:pt x="408" y="232"/>
                    </a:cubicBezTo>
                    <a:close/>
                    <a:moveTo>
                      <a:pt x="448" y="246"/>
                    </a:moveTo>
                    <a:cubicBezTo>
                      <a:pt x="448" y="259"/>
                      <a:pt x="437" y="270"/>
                      <a:pt x="424" y="270"/>
                    </a:cubicBezTo>
                    <a:cubicBezTo>
                      <a:pt x="410" y="270"/>
                      <a:pt x="400" y="259"/>
                      <a:pt x="400" y="246"/>
                    </a:cubicBezTo>
                    <a:cubicBezTo>
                      <a:pt x="400" y="232"/>
                      <a:pt x="410" y="222"/>
                      <a:pt x="424" y="222"/>
                    </a:cubicBezTo>
                    <a:cubicBezTo>
                      <a:pt x="437" y="222"/>
                      <a:pt x="448" y="232"/>
                      <a:pt x="448" y="246"/>
                    </a:cubicBezTo>
                    <a:close/>
                    <a:moveTo>
                      <a:pt x="485" y="207"/>
                    </a:moveTo>
                    <a:cubicBezTo>
                      <a:pt x="485" y="221"/>
                      <a:pt x="472" y="234"/>
                      <a:pt x="458" y="234"/>
                    </a:cubicBezTo>
                    <a:cubicBezTo>
                      <a:pt x="443" y="234"/>
                      <a:pt x="431" y="221"/>
                      <a:pt x="431" y="207"/>
                    </a:cubicBezTo>
                    <a:cubicBezTo>
                      <a:pt x="431" y="192"/>
                      <a:pt x="443" y="180"/>
                      <a:pt x="458" y="180"/>
                    </a:cubicBezTo>
                    <a:cubicBezTo>
                      <a:pt x="472" y="180"/>
                      <a:pt x="485" y="192"/>
                      <a:pt x="485" y="207"/>
                    </a:cubicBezTo>
                    <a:close/>
                    <a:moveTo>
                      <a:pt x="513" y="205"/>
                    </a:moveTo>
                    <a:cubicBezTo>
                      <a:pt x="513" y="216"/>
                      <a:pt x="503" y="226"/>
                      <a:pt x="492" y="226"/>
                    </a:cubicBezTo>
                    <a:cubicBezTo>
                      <a:pt x="480" y="226"/>
                      <a:pt x="471" y="216"/>
                      <a:pt x="471" y="205"/>
                    </a:cubicBezTo>
                    <a:cubicBezTo>
                      <a:pt x="471" y="193"/>
                      <a:pt x="480" y="184"/>
                      <a:pt x="492" y="184"/>
                    </a:cubicBezTo>
                    <a:cubicBezTo>
                      <a:pt x="503" y="184"/>
                      <a:pt x="513" y="193"/>
                      <a:pt x="513" y="205"/>
                    </a:cubicBezTo>
                    <a:close/>
                    <a:moveTo>
                      <a:pt x="555" y="231"/>
                    </a:moveTo>
                    <a:cubicBezTo>
                      <a:pt x="555" y="246"/>
                      <a:pt x="542" y="259"/>
                      <a:pt x="527" y="259"/>
                    </a:cubicBezTo>
                    <a:cubicBezTo>
                      <a:pt x="511" y="259"/>
                      <a:pt x="499" y="246"/>
                      <a:pt x="499" y="231"/>
                    </a:cubicBezTo>
                    <a:cubicBezTo>
                      <a:pt x="499" y="215"/>
                      <a:pt x="511" y="203"/>
                      <a:pt x="527" y="203"/>
                    </a:cubicBezTo>
                    <a:cubicBezTo>
                      <a:pt x="542" y="203"/>
                      <a:pt x="555" y="215"/>
                      <a:pt x="555" y="231"/>
                    </a:cubicBezTo>
                    <a:close/>
                    <a:moveTo>
                      <a:pt x="579" y="222"/>
                    </a:moveTo>
                    <a:cubicBezTo>
                      <a:pt x="579" y="231"/>
                      <a:pt x="570" y="240"/>
                      <a:pt x="561" y="240"/>
                    </a:cubicBezTo>
                    <a:cubicBezTo>
                      <a:pt x="551" y="240"/>
                      <a:pt x="543" y="231"/>
                      <a:pt x="543" y="222"/>
                    </a:cubicBezTo>
                    <a:cubicBezTo>
                      <a:pt x="543" y="212"/>
                      <a:pt x="551" y="204"/>
                      <a:pt x="561" y="204"/>
                    </a:cubicBezTo>
                    <a:cubicBezTo>
                      <a:pt x="570" y="204"/>
                      <a:pt x="579" y="212"/>
                      <a:pt x="579" y="222"/>
                    </a:cubicBezTo>
                    <a:close/>
                    <a:moveTo>
                      <a:pt x="623" y="215"/>
                    </a:moveTo>
                    <a:cubicBezTo>
                      <a:pt x="623" y="229"/>
                      <a:pt x="610" y="242"/>
                      <a:pt x="596" y="242"/>
                    </a:cubicBezTo>
                    <a:cubicBezTo>
                      <a:pt x="581" y="242"/>
                      <a:pt x="569" y="229"/>
                      <a:pt x="569" y="215"/>
                    </a:cubicBezTo>
                    <a:cubicBezTo>
                      <a:pt x="569" y="200"/>
                      <a:pt x="581" y="188"/>
                      <a:pt x="596" y="188"/>
                    </a:cubicBezTo>
                    <a:cubicBezTo>
                      <a:pt x="610" y="188"/>
                      <a:pt x="623" y="200"/>
                      <a:pt x="623" y="215"/>
                    </a:cubicBezTo>
                    <a:close/>
                    <a:moveTo>
                      <a:pt x="648" y="197"/>
                    </a:moveTo>
                    <a:cubicBezTo>
                      <a:pt x="648" y="206"/>
                      <a:pt x="639" y="215"/>
                      <a:pt x="630" y="215"/>
                    </a:cubicBezTo>
                    <a:cubicBezTo>
                      <a:pt x="620" y="215"/>
                      <a:pt x="612" y="206"/>
                      <a:pt x="612" y="197"/>
                    </a:cubicBezTo>
                    <a:cubicBezTo>
                      <a:pt x="612" y="187"/>
                      <a:pt x="620" y="179"/>
                      <a:pt x="630" y="179"/>
                    </a:cubicBezTo>
                    <a:cubicBezTo>
                      <a:pt x="639" y="179"/>
                      <a:pt x="648" y="187"/>
                      <a:pt x="648" y="197"/>
                    </a:cubicBezTo>
                    <a:close/>
                    <a:moveTo>
                      <a:pt x="682" y="180"/>
                    </a:moveTo>
                    <a:cubicBezTo>
                      <a:pt x="682" y="189"/>
                      <a:pt x="673" y="198"/>
                      <a:pt x="664" y="198"/>
                    </a:cubicBezTo>
                    <a:cubicBezTo>
                      <a:pt x="654" y="198"/>
                      <a:pt x="646" y="189"/>
                      <a:pt x="646" y="180"/>
                    </a:cubicBezTo>
                    <a:cubicBezTo>
                      <a:pt x="646" y="170"/>
                      <a:pt x="654" y="162"/>
                      <a:pt x="664" y="162"/>
                    </a:cubicBezTo>
                    <a:cubicBezTo>
                      <a:pt x="673" y="162"/>
                      <a:pt x="682" y="170"/>
                      <a:pt x="682" y="180"/>
                    </a:cubicBezTo>
                    <a:close/>
                    <a:moveTo>
                      <a:pt x="719" y="194"/>
                    </a:moveTo>
                    <a:cubicBezTo>
                      <a:pt x="719" y="205"/>
                      <a:pt x="710" y="214"/>
                      <a:pt x="699" y="214"/>
                    </a:cubicBezTo>
                    <a:cubicBezTo>
                      <a:pt x="687" y="214"/>
                      <a:pt x="679" y="205"/>
                      <a:pt x="679" y="194"/>
                    </a:cubicBezTo>
                    <a:cubicBezTo>
                      <a:pt x="679" y="182"/>
                      <a:pt x="687" y="174"/>
                      <a:pt x="699" y="174"/>
                    </a:cubicBezTo>
                    <a:cubicBezTo>
                      <a:pt x="710" y="174"/>
                      <a:pt x="719" y="182"/>
                      <a:pt x="719" y="194"/>
                    </a:cubicBezTo>
                    <a:close/>
                    <a:moveTo>
                      <a:pt x="757" y="171"/>
                    </a:moveTo>
                    <a:cubicBezTo>
                      <a:pt x="757" y="184"/>
                      <a:pt x="746" y="195"/>
                      <a:pt x="733" y="195"/>
                    </a:cubicBezTo>
                    <a:cubicBezTo>
                      <a:pt x="719" y="195"/>
                      <a:pt x="709" y="184"/>
                      <a:pt x="709" y="171"/>
                    </a:cubicBezTo>
                    <a:cubicBezTo>
                      <a:pt x="709" y="157"/>
                      <a:pt x="719" y="147"/>
                      <a:pt x="733" y="147"/>
                    </a:cubicBezTo>
                    <a:cubicBezTo>
                      <a:pt x="746" y="147"/>
                      <a:pt x="757" y="157"/>
                      <a:pt x="757" y="171"/>
                    </a:cubicBezTo>
                    <a:close/>
                    <a:moveTo>
                      <a:pt x="794" y="156"/>
                    </a:moveTo>
                    <a:cubicBezTo>
                      <a:pt x="794" y="170"/>
                      <a:pt x="782" y="182"/>
                      <a:pt x="768" y="182"/>
                    </a:cubicBezTo>
                    <a:cubicBezTo>
                      <a:pt x="753" y="182"/>
                      <a:pt x="742" y="170"/>
                      <a:pt x="742" y="156"/>
                    </a:cubicBezTo>
                    <a:cubicBezTo>
                      <a:pt x="742" y="141"/>
                      <a:pt x="753" y="130"/>
                      <a:pt x="768" y="130"/>
                    </a:cubicBezTo>
                    <a:cubicBezTo>
                      <a:pt x="782" y="130"/>
                      <a:pt x="794" y="141"/>
                      <a:pt x="794" y="156"/>
                    </a:cubicBezTo>
                    <a:close/>
                    <a:moveTo>
                      <a:pt x="829" y="147"/>
                    </a:moveTo>
                    <a:cubicBezTo>
                      <a:pt x="829" y="161"/>
                      <a:pt x="816" y="174"/>
                      <a:pt x="802" y="174"/>
                    </a:cubicBezTo>
                    <a:cubicBezTo>
                      <a:pt x="787" y="174"/>
                      <a:pt x="775" y="161"/>
                      <a:pt x="775" y="147"/>
                    </a:cubicBezTo>
                    <a:cubicBezTo>
                      <a:pt x="775" y="132"/>
                      <a:pt x="787" y="120"/>
                      <a:pt x="802" y="120"/>
                    </a:cubicBezTo>
                    <a:cubicBezTo>
                      <a:pt x="816" y="120"/>
                      <a:pt x="829" y="132"/>
                      <a:pt x="829" y="147"/>
                    </a:cubicBezTo>
                    <a:close/>
                    <a:moveTo>
                      <a:pt x="862" y="153"/>
                    </a:moveTo>
                    <a:cubicBezTo>
                      <a:pt x="862" y="167"/>
                      <a:pt x="850" y="179"/>
                      <a:pt x="836" y="179"/>
                    </a:cubicBezTo>
                    <a:cubicBezTo>
                      <a:pt x="821" y="179"/>
                      <a:pt x="810" y="167"/>
                      <a:pt x="810" y="153"/>
                    </a:cubicBezTo>
                    <a:cubicBezTo>
                      <a:pt x="810" y="138"/>
                      <a:pt x="821" y="127"/>
                      <a:pt x="836" y="127"/>
                    </a:cubicBezTo>
                    <a:cubicBezTo>
                      <a:pt x="850" y="127"/>
                      <a:pt x="862" y="138"/>
                      <a:pt x="862" y="153"/>
                    </a:cubicBezTo>
                    <a:close/>
                    <a:moveTo>
                      <a:pt x="891" y="170"/>
                    </a:moveTo>
                    <a:cubicBezTo>
                      <a:pt x="891" y="181"/>
                      <a:pt x="882" y="190"/>
                      <a:pt x="871" y="190"/>
                    </a:cubicBezTo>
                    <a:cubicBezTo>
                      <a:pt x="859" y="190"/>
                      <a:pt x="851" y="181"/>
                      <a:pt x="851" y="170"/>
                    </a:cubicBezTo>
                    <a:cubicBezTo>
                      <a:pt x="851" y="158"/>
                      <a:pt x="859" y="150"/>
                      <a:pt x="871" y="150"/>
                    </a:cubicBezTo>
                    <a:cubicBezTo>
                      <a:pt x="882" y="150"/>
                      <a:pt x="891" y="158"/>
                      <a:pt x="891" y="170"/>
                    </a:cubicBezTo>
                    <a:close/>
                    <a:moveTo>
                      <a:pt x="932" y="127"/>
                    </a:moveTo>
                    <a:cubicBezTo>
                      <a:pt x="932" y="141"/>
                      <a:pt x="919" y="154"/>
                      <a:pt x="905" y="154"/>
                    </a:cubicBezTo>
                    <a:cubicBezTo>
                      <a:pt x="890" y="154"/>
                      <a:pt x="878" y="141"/>
                      <a:pt x="878" y="127"/>
                    </a:cubicBezTo>
                    <a:cubicBezTo>
                      <a:pt x="878" y="112"/>
                      <a:pt x="890" y="100"/>
                      <a:pt x="905" y="100"/>
                    </a:cubicBezTo>
                    <a:cubicBezTo>
                      <a:pt x="919" y="100"/>
                      <a:pt x="932" y="112"/>
                      <a:pt x="932" y="127"/>
                    </a:cubicBezTo>
                    <a:close/>
                    <a:moveTo>
                      <a:pt x="968" y="151"/>
                    </a:moveTo>
                    <a:cubicBezTo>
                      <a:pt x="968" y="166"/>
                      <a:pt x="955" y="179"/>
                      <a:pt x="940" y="179"/>
                    </a:cubicBezTo>
                    <a:cubicBezTo>
                      <a:pt x="924" y="179"/>
                      <a:pt x="912" y="166"/>
                      <a:pt x="912" y="151"/>
                    </a:cubicBezTo>
                    <a:cubicBezTo>
                      <a:pt x="912" y="135"/>
                      <a:pt x="924" y="123"/>
                      <a:pt x="940" y="123"/>
                    </a:cubicBezTo>
                    <a:cubicBezTo>
                      <a:pt x="955" y="123"/>
                      <a:pt x="968" y="135"/>
                      <a:pt x="968" y="151"/>
                    </a:cubicBezTo>
                    <a:close/>
                  </a:path>
                </a:pathLst>
              </a:custGeom>
              <a:noFill/>
              <a:ln w="9525" cap="rnd">
                <a:solidFill>
                  <a:srgbClr val="B18A67"/>
                </a:solidFill>
                <a:round/>
              </a:ln>
            </p:spPr>
          </p:sp>
          <p:sp>
            <p:nvSpPr>
              <p:cNvPr id="48" name="Islotes"/>
              <p:cNvSpPr/>
              <p:nvPr/>
            </p:nvSpPr>
            <p:spPr>
              <a:xfrm>
                <a:off x="10058400" y="5669280"/>
                <a:ext cx="1920240" cy="80650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286" y="300"/>
                    </a:moveTo>
                    <a:cubicBezTo>
                      <a:pt x="286" y="314"/>
                      <a:pt x="274" y="326"/>
                      <a:pt x="260" y="326"/>
                    </a:cubicBezTo>
                    <a:cubicBezTo>
                      <a:pt x="245" y="326"/>
                      <a:pt x="234" y="314"/>
                      <a:pt x="234" y="300"/>
                    </a:cubicBezTo>
                    <a:cubicBezTo>
                      <a:pt x="234" y="285"/>
                      <a:pt x="245" y="274"/>
                      <a:pt x="260" y="274"/>
                    </a:cubicBezTo>
                    <a:cubicBezTo>
                      <a:pt x="274" y="274"/>
                      <a:pt x="286" y="285"/>
                      <a:pt x="286" y="300"/>
                    </a:cubicBezTo>
                    <a:close/>
                    <a:moveTo>
                      <a:pt x="542" y="260"/>
                    </a:moveTo>
                    <a:cubicBezTo>
                      <a:pt x="542" y="272"/>
                      <a:pt x="532" y="282"/>
                      <a:pt x="520" y="282"/>
                    </a:cubicBezTo>
                    <a:cubicBezTo>
                      <a:pt x="507" y="282"/>
                      <a:pt x="498" y="272"/>
                      <a:pt x="498" y="260"/>
                    </a:cubicBezTo>
                    <a:cubicBezTo>
                      <a:pt x="498" y="247"/>
                      <a:pt x="507" y="238"/>
                      <a:pt x="520" y="238"/>
                    </a:cubicBezTo>
                    <a:cubicBezTo>
                      <a:pt x="532" y="238"/>
                      <a:pt x="542" y="247"/>
                      <a:pt x="542" y="260"/>
                    </a:cubicBezTo>
                    <a:close/>
                    <a:moveTo>
                      <a:pt x="784" y="200"/>
                    </a:moveTo>
                    <a:cubicBezTo>
                      <a:pt x="784" y="213"/>
                      <a:pt x="773" y="224"/>
                      <a:pt x="760" y="224"/>
                    </a:cubicBezTo>
                    <a:cubicBezTo>
                      <a:pt x="746" y="224"/>
                      <a:pt x="736" y="213"/>
                      <a:pt x="736" y="200"/>
                    </a:cubicBezTo>
                    <a:cubicBezTo>
                      <a:pt x="736" y="186"/>
                      <a:pt x="746" y="176"/>
                      <a:pt x="760" y="176"/>
                    </a:cubicBezTo>
                    <a:cubicBezTo>
                      <a:pt x="773" y="176"/>
                      <a:pt x="784" y="186"/>
                      <a:pt x="784" y="200"/>
                    </a:cubicBezTo>
                    <a:close/>
                    <a:moveTo>
                      <a:pt x="438" y="320"/>
                    </a:moveTo>
                    <a:cubicBezTo>
                      <a:pt x="438" y="329"/>
                      <a:pt x="429" y="338"/>
                      <a:pt x="420" y="338"/>
                    </a:cubicBezTo>
                    <a:cubicBezTo>
                      <a:pt x="410" y="338"/>
                      <a:pt x="402" y="329"/>
                      <a:pt x="402" y="320"/>
                    </a:cubicBezTo>
                    <a:cubicBezTo>
                      <a:pt x="402" y="310"/>
                      <a:pt x="410" y="302"/>
                      <a:pt x="420" y="302"/>
                    </a:cubicBezTo>
                    <a:cubicBezTo>
                      <a:pt x="429" y="302"/>
                      <a:pt x="438" y="310"/>
                      <a:pt x="438" y="3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DBD8"/>
                  </a:gs>
                  <a:gs pos="55000">
                    <a:srgbClr val="F5B7B1"/>
                  </a:gs>
                  <a:gs pos="100000">
                    <a:srgbClr val="C4928D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C0392B"/>
                </a:solidFill>
                <a:round/>
              </a:ln>
            </p:spPr>
          </p:sp>
          <p:sp>
            <p:nvSpPr>
              <p:cNvPr id="49" name="Forma 48"/>
              <p:cNvSpPr/>
              <p:nvPr/>
            </p:nvSpPr>
            <p:spPr>
              <a:xfrm>
                <a:off x="10058400" y="5669280"/>
                <a:ext cx="1920240" cy="80650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320"/>
                    </a:moveTo>
                    <a:cubicBezTo>
                      <a:pt x="300" y="300"/>
                      <a:pt x="600" y="230"/>
                      <a:pt x="930" y="170"/>
                    </a:cubicBezTo>
                  </a:path>
                </a:pathLst>
              </a:custGeom>
              <a:noFill/>
              <a:ln w="25400" cap="rnd">
                <a:solidFill>
                  <a:srgbClr val="F7DC6F"/>
                </a:solidFill>
                <a:round/>
              </a:ln>
            </p:spPr>
          </p:sp>
        </p:grp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MAPA DE LA CLASE: CINCO UNIDADES, UN MISMO RAZONAMIENTO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8888625" y="182880"/>
            <a:ext cx="302875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BIOQUÍMICA CLÍNICA Y METABOLISMO</a:t>
            </a:r>
            <a:endParaRPr lang="es-AR" sz="1250" dirty="0">
              <a:latin typeface="Calibri"/>
            </a:endParaRPr>
          </a:p>
        </p:txBody>
      </p:sp>
      <p:sp>
        <p:nvSpPr>
          <p:cNvPr id="5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6" name="Paso 1"/>
          <p:cNvGrpSpPr/>
          <p:nvPr/>
        </p:nvGrpSpPr>
        <p:grpSpPr>
          <a:xfrm>
            <a:off x="365760" y="1188720"/>
            <a:ext cx="2313432" cy="2606040"/>
            <a:chOff x="365760" y="1188720"/>
            <a:chExt cx="2313432" cy="2606040"/>
          </a:xfrm>
        </p:grpSpPr>
        <p:sp>
          <p:nvSpPr>
            <p:cNvPr id="7" name="Número 1"/>
            <p:cNvSpPr/>
            <p:nvPr/>
          </p:nvSpPr>
          <p:spPr>
            <a:xfrm>
              <a:off x="1234440" y="118872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65760" y="1691640"/>
              <a:ext cx="2103120" cy="2103120"/>
            </a:xfrm>
            <a:prstGeom prst="roundRect">
              <a:avLst>
                <a:gd name="adj" fmla="val 9000"/>
              </a:avLst>
            </a:prstGeom>
            <a:solidFill>
              <a:srgbClr val="A9CF86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 molecular normal</a:t>
              </a:r>
              <a:endParaRPr lang="es-AR" sz="170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Enzimas, proteínas y metabolitos cumplen su función dentro de la célula.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9" name="Flecha 8_2"/>
            <p:cNvSpPr/>
            <p:nvPr/>
          </p:nvSpPr>
          <p:spPr>
            <a:xfrm>
              <a:off x="2487168" y="2743200"/>
              <a:ext cx="192024" cy="502920"/>
            </a:xfrm>
            <a:custGeom>
              <a:avLst/>
              <a:gdLst/>
              <a:ahLst/>
              <a:cxnLst/>
              <a:rect l="0" t="0" r="r" b="b"/>
              <a:pathLst>
                <a:path w="209" h="549" fill="none">
                  <a:moveTo>
                    <a:pt x="0" y="0"/>
                  </a:moveTo>
                  <a:lnTo>
                    <a:pt x="209" y="549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0" name="Paso 2"/>
          <p:cNvGrpSpPr/>
          <p:nvPr/>
        </p:nvGrpSpPr>
        <p:grpSpPr>
          <a:xfrm>
            <a:off x="2697480" y="1691640"/>
            <a:ext cx="2313432" cy="2606040"/>
            <a:chOff x="2697480" y="1691640"/>
            <a:chExt cx="2313432" cy="2606040"/>
          </a:xfrm>
        </p:grpSpPr>
        <p:sp>
          <p:nvSpPr>
            <p:cNvPr id="11" name="Número 2"/>
            <p:cNvSpPr/>
            <p:nvPr/>
          </p:nvSpPr>
          <p:spPr>
            <a:xfrm>
              <a:off x="3566160" y="169164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Forma 12"/>
            <p:cNvSpPr/>
            <p:nvPr/>
          </p:nvSpPr>
          <p:spPr>
            <a:xfrm>
              <a:off x="2697480" y="2194560"/>
              <a:ext cx="2103120" cy="2103120"/>
            </a:xfrm>
            <a:prstGeom prst="roundRect">
              <a:avLst>
                <a:gd name="adj" fmla="val 9000"/>
              </a:avLst>
            </a:prstGeom>
            <a:solidFill>
              <a:srgbClr val="FF9393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Alteración del tejido</a:t>
              </a:r>
              <a:endParaRPr lang="es-AR" sz="165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Isquemia, autodigestión, hemólisis, obstrucción o déficit de cofactores.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13" name="Flecha 13_2"/>
            <p:cNvSpPr/>
            <p:nvPr/>
          </p:nvSpPr>
          <p:spPr>
            <a:xfrm>
              <a:off x="4818888" y="2743200"/>
              <a:ext cx="192024" cy="502920"/>
            </a:xfrm>
            <a:custGeom>
              <a:avLst/>
              <a:gdLst/>
              <a:ahLst/>
              <a:cxnLst/>
              <a:rect l="0" t="0" r="r" b="b"/>
              <a:pathLst>
                <a:path w="209" h="550" fill="none">
                  <a:moveTo>
                    <a:pt x="0" y="550"/>
                  </a:moveTo>
                  <a:lnTo>
                    <a:pt x="20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4" name="Paso 3"/>
          <p:cNvGrpSpPr/>
          <p:nvPr/>
        </p:nvGrpSpPr>
        <p:grpSpPr>
          <a:xfrm>
            <a:off x="5029200" y="1188720"/>
            <a:ext cx="2313432" cy="2606040"/>
            <a:chOff x="5029200" y="1188720"/>
            <a:chExt cx="2313432" cy="2606040"/>
          </a:xfrm>
        </p:grpSpPr>
        <p:sp>
          <p:nvSpPr>
            <p:cNvPr id="15" name="Número 3"/>
            <p:cNvSpPr/>
            <p:nvPr/>
          </p:nvSpPr>
          <p:spPr>
            <a:xfrm>
              <a:off x="5897880" y="118872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7"/>
            <p:cNvSpPr/>
            <p:nvPr/>
          </p:nvSpPr>
          <p:spPr>
            <a:xfrm>
              <a:off x="5029200" y="1691640"/>
              <a:ext cx="2103120" cy="2103120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Liberación / cambio de concentración</a:t>
              </a:r>
              <a:endParaRPr lang="es-AR" sz="170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analito pasa a la sangre o cambia su concentración plasmática.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7" name="Flecha 18_2"/>
            <p:cNvSpPr/>
            <p:nvPr/>
          </p:nvSpPr>
          <p:spPr>
            <a:xfrm>
              <a:off x="7150608" y="2743200"/>
              <a:ext cx="192024" cy="502920"/>
            </a:xfrm>
            <a:custGeom>
              <a:avLst/>
              <a:gdLst/>
              <a:ahLst/>
              <a:cxnLst/>
              <a:rect l="0" t="0" r="r" b="b"/>
              <a:pathLst>
                <a:path w="209" h="549" fill="none">
                  <a:moveTo>
                    <a:pt x="0" y="0"/>
                  </a:moveTo>
                  <a:lnTo>
                    <a:pt x="209" y="549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8" name="Paso 4"/>
          <p:cNvGrpSpPr/>
          <p:nvPr/>
        </p:nvGrpSpPr>
        <p:grpSpPr>
          <a:xfrm>
            <a:off x="7360920" y="1691640"/>
            <a:ext cx="2313432" cy="2606040"/>
            <a:chOff x="7360920" y="1691640"/>
            <a:chExt cx="2313432" cy="2606040"/>
          </a:xfrm>
        </p:grpSpPr>
        <p:sp>
          <p:nvSpPr>
            <p:cNvPr id="19" name="Número 4"/>
            <p:cNvSpPr/>
            <p:nvPr/>
          </p:nvSpPr>
          <p:spPr>
            <a:xfrm>
              <a:off x="8229600" y="169164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orma 22"/>
            <p:cNvSpPr/>
            <p:nvPr/>
          </p:nvSpPr>
          <p:spPr>
            <a:xfrm>
              <a:off x="7360920" y="2194560"/>
              <a:ext cx="2103120" cy="210312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Medición</a:t>
              </a:r>
              <a:endParaRPr lang="es-AR" sz="175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Muestra adecuada (suero o plasma), unidad correcta y método preciso y exacto.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21" name="Flecha 23_2"/>
            <p:cNvSpPr/>
            <p:nvPr/>
          </p:nvSpPr>
          <p:spPr>
            <a:xfrm>
              <a:off x="9482328" y="2743200"/>
              <a:ext cx="192024" cy="502920"/>
            </a:xfrm>
            <a:custGeom>
              <a:avLst/>
              <a:gdLst/>
              <a:ahLst/>
              <a:cxnLst/>
              <a:rect l="0" t="0" r="r" b="b"/>
              <a:pathLst>
                <a:path w="209" h="550" fill="none">
                  <a:moveTo>
                    <a:pt x="0" y="550"/>
                  </a:moveTo>
                  <a:lnTo>
                    <a:pt x="20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22" name="Paso 5"/>
          <p:cNvGrpSpPr/>
          <p:nvPr/>
        </p:nvGrpSpPr>
        <p:grpSpPr>
          <a:xfrm>
            <a:off x="9692640" y="1188720"/>
            <a:ext cx="2103120" cy="2606040"/>
            <a:chOff x="9692640" y="1188720"/>
            <a:chExt cx="2103120" cy="2606040"/>
          </a:xfrm>
        </p:grpSpPr>
        <p:sp>
          <p:nvSpPr>
            <p:cNvPr id="23" name="Número 5"/>
            <p:cNvSpPr/>
            <p:nvPr/>
          </p:nvSpPr>
          <p:spPr>
            <a:xfrm>
              <a:off x="10561320" y="118872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4" name="Forma 27"/>
            <p:cNvSpPr/>
            <p:nvPr/>
          </p:nvSpPr>
          <p:spPr>
            <a:xfrm>
              <a:off x="9692640" y="1691640"/>
              <a:ext cx="2103120" cy="2103120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</a:t>
              </a:r>
              <a:endParaRPr lang="es-AR" sz="150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Intervalo de referencia, cinética temporal, sensibilidad, especificidad y clínica del paciente.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5" name="Ilustraciones hilo"/>
          <p:cNvGrpSpPr/>
          <p:nvPr/>
        </p:nvGrpSpPr>
        <p:grpSpPr>
          <a:xfrm>
            <a:off x="411937" y="4343400"/>
            <a:ext cx="6239408" cy="2011680"/>
            <a:chOff x="411937" y="4343400"/>
            <a:chExt cx="6239408" cy="2011680"/>
          </a:xfrm>
        </p:grpSpPr>
        <p:grpSp>
          <p:nvGrpSpPr>
            <p:cNvPr id="26" name="Cardiomiocito hilo"/>
            <p:cNvGrpSpPr/>
            <p:nvPr/>
          </p:nvGrpSpPr>
          <p:grpSpPr>
            <a:xfrm>
              <a:off x="411937" y="4526280"/>
              <a:ext cx="3108046" cy="1371600"/>
              <a:chOff x="411937" y="4526280"/>
              <a:chExt cx="3108046" cy="1371600"/>
            </a:xfrm>
          </p:grpSpPr>
          <p:sp>
            <p:nvSpPr>
              <p:cNvPr id="27" name="Sarcolema"/>
              <p:cNvSpPr/>
              <p:nvPr/>
            </p:nvSpPr>
            <p:spPr>
              <a:xfrm>
                <a:off x="457200" y="4526280"/>
                <a:ext cx="3017520" cy="13716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200"/>
                    </a:moveTo>
                    <a:cubicBezTo>
                      <a:pt x="10" y="144"/>
                      <a:pt x="95" y="129"/>
                      <a:pt x="120" y="120"/>
                    </a:cubicBezTo>
                    <a:cubicBezTo>
                      <a:pt x="145" y="110"/>
                      <a:pt x="266" y="90"/>
                      <a:pt x="300" y="90"/>
                    </a:cubicBezTo>
                    <a:cubicBezTo>
                      <a:pt x="333" y="89"/>
                      <a:pt x="485" y="110"/>
                      <a:pt x="520" y="110"/>
                    </a:cubicBezTo>
                    <a:cubicBezTo>
                      <a:pt x="555" y="109"/>
                      <a:pt x="690" y="79"/>
                      <a:pt x="720" y="80"/>
                    </a:cubicBezTo>
                    <a:cubicBezTo>
                      <a:pt x="750" y="80"/>
                      <a:pt x="856" y="108"/>
                      <a:pt x="880" y="120"/>
                    </a:cubicBezTo>
                    <a:cubicBezTo>
                      <a:pt x="903" y="131"/>
                      <a:pt x="990" y="165"/>
                      <a:pt x="1000" y="220"/>
                    </a:cubicBezTo>
                    <a:cubicBezTo>
                      <a:pt x="1010" y="275"/>
                      <a:pt x="1010" y="725"/>
                      <a:pt x="1000" y="780"/>
                    </a:cubicBezTo>
                    <a:cubicBezTo>
                      <a:pt x="990" y="835"/>
                      <a:pt x="905" y="869"/>
                      <a:pt x="880" y="880"/>
                    </a:cubicBezTo>
                    <a:cubicBezTo>
                      <a:pt x="855" y="890"/>
                      <a:pt x="731" y="910"/>
                      <a:pt x="700" y="910"/>
                    </a:cubicBezTo>
                    <a:cubicBezTo>
                      <a:pt x="668" y="910"/>
                      <a:pt x="533" y="880"/>
                      <a:pt x="500" y="880"/>
                    </a:cubicBezTo>
                    <a:cubicBezTo>
                      <a:pt x="466" y="880"/>
                      <a:pt x="331" y="910"/>
                      <a:pt x="300" y="910"/>
                    </a:cubicBezTo>
                    <a:cubicBezTo>
                      <a:pt x="268" y="909"/>
                      <a:pt x="145" y="880"/>
                      <a:pt x="120" y="870"/>
                    </a:cubicBezTo>
                    <a:cubicBezTo>
                      <a:pt x="95" y="860"/>
                      <a:pt x="10" y="845"/>
                      <a:pt x="0" y="790"/>
                    </a:cubicBezTo>
                    <a:cubicBezTo>
                      <a:pt x="-10" y="734"/>
                      <a:pt x="-10" y="255"/>
                      <a:pt x="0" y="2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6837A"/>
                  </a:gs>
                  <a:gs pos="35000">
                    <a:srgbClr val="F5B7B1"/>
                  </a:gs>
                  <a:gs pos="65000">
                    <a:srgbClr val="EC9A90"/>
                  </a:gs>
                  <a:gs pos="100000">
                    <a:srgbClr val="C9564B"/>
                  </a:gs>
                </a:gsLst>
                <a:lin ang="5400000" scaled="0"/>
              </a:gradFill>
              <a:ln w="31750" cap="rnd">
                <a:solidFill>
                  <a:srgbClr val="7B241C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8" name="Estriaciones"/>
              <p:cNvSpPr/>
              <p:nvPr/>
            </p:nvSpPr>
            <p:spPr>
              <a:xfrm>
                <a:off x="457200" y="4526280"/>
                <a:ext cx="3017520" cy="13716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0" y="160"/>
                    </a:moveTo>
                    <a:lnTo>
                      <a:pt x="40" y="840"/>
                    </a:lnTo>
                  </a:path>
                  <a:path w="1000" h="1000" fill="none">
                    <a:moveTo>
                      <a:pt x="81" y="160"/>
                    </a:moveTo>
                    <a:lnTo>
                      <a:pt x="81" y="840"/>
                    </a:lnTo>
                  </a:path>
                  <a:path w="1000" h="1000" fill="none">
                    <a:moveTo>
                      <a:pt x="123" y="160"/>
                    </a:moveTo>
                    <a:lnTo>
                      <a:pt x="123" y="840"/>
                    </a:lnTo>
                  </a:path>
                  <a:path w="1000" h="1000" fill="none">
                    <a:moveTo>
                      <a:pt x="165" y="160"/>
                    </a:moveTo>
                    <a:lnTo>
                      <a:pt x="165" y="840"/>
                    </a:lnTo>
                  </a:path>
                  <a:path w="1000" h="1000" fill="none">
                    <a:moveTo>
                      <a:pt x="207" y="160"/>
                    </a:moveTo>
                    <a:lnTo>
                      <a:pt x="207" y="840"/>
                    </a:lnTo>
                  </a:path>
                  <a:path w="1000" h="1000" fill="none">
                    <a:moveTo>
                      <a:pt x="249" y="160"/>
                    </a:moveTo>
                    <a:lnTo>
                      <a:pt x="249" y="840"/>
                    </a:lnTo>
                  </a:path>
                  <a:path w="1000" h="1000" fill="none">
                    <a:moveTo>
                      <a:pt x="290" y="160"/>
                    </a:moveTo>
                    <a:lnTo>
                      <a:pt x="290" y="840"/>
                    </a:lnTo>
                  </a:path>
                  <a:path w="1000" h="1000" fill="none">
                    <a:moveTo>
                      <a:pt x="332" y="160"/>
                    </a:moveTo>
                    <a:lnTo>
                      <a:pt x="332" y="840"/>
                    </a:lnTo>
                  </a:path>
                  <a:path w="1000" h="1000" fill="none">
                    <a:moveTo>
                      <a:pt x="374" y="160"/>
                    </a:moveTo>
                    <a:lnTo>
                      <a:pt x="374" y="840"/>
                    </a:lnTo>
                  </a:path>
                  <a:path w="1000" h="1000" fill="none">
                    <a:moveTo>
                      <a:pt x="416" y="160"/>
                    </a:moveTo>
                    <a:lnTo>
                      <a:pt x="416" y="840"/>
                    </a:lnTo>
                  </a:path>
                  <a:path w="1000" h="1000" fill="none">
                    <a:moveTo>
                      <a:pt x="458" y="160"/>
                    </a:moveTo>
                    <a:lnTo>
                      <a:pt x="458" y="840"/>
                    </a:lnTo>
                  </a:path>
                  <a:path w="1000" h="1000" fill="none">
                    <a:moveTo>
                      <a:pt x="500" y="160"/>
                    </a:moveTo>
                    <a:lnTo>
                      <a:pt x="500" y="840"/>
                    </a:lnTo>
                  </a:path>
                  <a:path w="1000" h="1000" fill="none">
                    <a:moveTo>
                      <a:pt x="541" y="160"/>
                    </a:moveTo>
                    <a:lnTo>
                      <a:pt x="541" y="840"/>
                    </a:lnTo>
                  </a:path>
                  <a:path w="1000" h="1000" fill="none">
                    <a:moveTo>
                      <a:pt x="583" y="160"/>
                    </a:moveTo>
                    <a:lnTo>
                      <a:pt x="583" y="840"/>
                    </a:lnTo>
                  </a:path>
                  <a:path w="1000" h="1000" fill="none">
                    <a:moveTo>
                      <a:pt x="625" y="160"/>
                    </a:moveTo>
                    <a:lnTo>
                      <a:pt x="625" y="840"/>
                    </a:lnTo>
                  </a:path>
                  <a:path w="1000" h="1000" fill="none">
                    <a:moveTo>
                      <a:pt x="667" y="160"/>
                    </a:moveTo>
                    <a:lnTo>
                      <a:pt x="667" y="840"/>
                    </a:lnTo>
                  </a:path>
                  <a:path w="1000" h="1000" fill="none">
                    <a:moveTo>
                      <a:pt x="709" y="160"/>
                    </a:moveTo>
                    <a:lnTo>
                      <a:pt x="709" y="840"/>
                    </a:lnTo>
                  </a:path>
                  <a:path w="1000" h="1000" fill="none">
                    <a:moveTo>
                      <a:pt x="750" y="160"/>
                    </a:moveTo>
                    <a:lnTo>
                      <a:pt x="750" y="840"/>
                    </a:lnTo>
                  </a:path>
                  <a:path w="1000" h="1000" fill="none">
                    <a:moveTo>
                      <a:pt x="792" y="160"/>
                    </a:moveTo>
                    <a:lnTo>
                      <a:pt x="792" y="840"/>
                    </a:lnTo>
                  </a:path>
                  <a:path w="1000" h="1000" fill="none">
                    <a:moveTo>
                      <a:pt x="834" y="160"/>
                    </a:moveTo>
                    <a:lnTo>
                      <a:pt x="834" y="840"/>
                    </a:lnTo>
                  </a:path>
                  <a:path w="1000" h="1000" fill="none">
                    <a:moveTo>
                      <a:pt x="876" y="160"/>
                    </a:moveTo>
                    <a:lnTo>
                      <a:pt x="876" y="840"/>
                    </a:lnTo>
                  </a:path>
                  <a:path w="1000" h="1000" fill="none">
                    <a:moveTo>
                      <a:pt x="918" y="160"/>
                    </a:moveTo>
                    <a:lnTo>
                      <a:pt x="918" y="840"/>
                    </a:lnTo>
                  </a:path>
                  <a:path w="1000" h="1000" fill="none">
                    <a:moveTo>
                      <a:pt x="960" y="160"/>
                    </a:moveTo>
                    <a:lnTo>
                      <a:pt x="960" y="840"/>
                    </a:lnTo>
                  </a:path>
                </a:pathLst>
              </a:custGeom>
              <a:noFill/>
              <a:ln w="12700" cap="rnd">
                <a:solidFill>
                  <a:srgbClr val="A93226"/>
                </a:solidFill>
                <a:round/>
              </a:ln>
            </p:spPr>
          </p:sp>
          <p:sp>
            <p:nvSpPr>
              <p:cNvPr id="29" name="Disco intercalar izq"/>
              <p:cNvSpPr/>
              <p:nvPr/>
            </p:nvSpPr>
            <p:spPr>
              <a:xfrm>
                <a:off x="411937" y="4732020"/>
                <a:ext cx="90526" cy="960120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  <p:sp>
            <p:nvSpPr>
              <p:cNvPr id="30" name="Disco intercalar der"/>
              <p:cNvSpPr/>
              <p:nvPr/>
            </p:nvSpPr>
            <p:spPr>
              <a:xfrm>
                <a:off x="3429457" y="4732020"/>
                <a:ext cx="90526" cy="960120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  <p:grpSp>
            <p:nvGrpSpPr>
              <p:cNvPr id="31" name="Núcleo"/>
              <p:cNvGrpSpPr/>
              <p:nvPr/>
            </p:nvGrpSpPr>
            <p:grpSpPr>
              <a:xfrm>
                <a:off x="1784909" y="5047488"/>
                <a:ext cx="362102" cy="325892"/>
                <a:chOff x="1784909" y="5047488"/>
                <a:chExt cx="362102" cy="325892"/>
              </a:xfrm>
            </p:grpSpPr>
            <p:sp>
              <p:nvSpPr>
                <p:cNvPr id="32" name="Forma 35"/>
                <p:cNvSpPr/>
                <p:nvPr/>
              </p:nvSpPr>
              <p:spPr>
                <a:xfrm>
                  <a:off x="1784909" y="5047488"/>
                  <a:ext cx="362102" cy="32589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7A4CE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4B3663"/>
                  </a:solidFill>
                  <a:round/>
                </a:ln>
              </p:spPr>
            </p:sp>
            <p:sp>
              <p:nvSpPr>
                <p:cNvPr id="33" name="Forma 36"/>
                <p:cNvSpPr/>
                <p:nvPr/>
              </p:nvSpPr>
              <p:spPr>
                <a:xfrm>
                  <a:off x="1973202" y="5156119"/>
                  <a:ext cx="79663" cy="72420"/>
                </a:xfrm>
                <a:prstGeom prst="ellipse">
                  <a:avLst/>
                </a:prstGeom>
                <a:solidFill>
                  <a:srgbClr val="513B6B"/>
                </a:solidFill>
                <a:ln>
                  <a:noFill/>
                </a:ln>
              </p:spPr>
            </p:sp>
          </p:grpSp>
          <p:grpSp>
            <p:nvGrpSpPr>
              <p:cNvPr id="34" name="Mitocondria"/>
              <p:cNvGrpSpPr/>
              <p:nvPr/>
            </p:nvGrpSpPr>
            <p:grpSpPr>
              <a:xfrm>
                <a:off x="819302" y="4869180"/>
                <a:ext cx="301752" cy="150876"/>
                <a:chOff x="819302" y="4869180"/>
                <a:chExt cx="301752" cy="150876"/>
              </a:xfrm>
            </p:grpSpPr>
            <p:sp>
              <p:nvSpPr>
                <p:cNvPr id="35" name="Forma 38"/>
                <p:cNvSpPr/>
                <p:nvPr/>
              </p:nvSpPr>
              <p:spPr>
                <a:xfrm>
                  <a:off x="819302" y="4869180"/>
                  <a:ext cx="301752" cy="1508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36" name="Forma 39"/>
                <p:cNvSpPr/>
                <p:nvPr/>
              </p:nvSpPr>
              <p:spPr>
                <a:xfrm>
                  <a:off x="840425" y="4890303"/>
                  <a:ext cx="259507" cy="108631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7" name="Forma 40"/>
                <p:cNvSpPr/>
                <p:nvPr/>
              </p:nvSpPr>
              <p:spPr>
                <a:xfrm>
                  <a:off x="840425" y="4890303"/>
                  <a:ext cx="259507" cy="1086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38" name="Mitocondria_2"/>
              <p:cNvGrpSpPr/>
              <p:nvPr/>
            </p:nvGrpSpPr>
            <p:grpSpPr>
              <a:xfrm>
                <a:off x="1302106" y="5376672"/>
                <a:ext cx="301752" cy="150876"/>
                <a:chOff x="1302106" y="5376672"/>
                <a:chExt cx="301752" cy="150876"/>
              </a:xfrm>
            </p:grpSpPr>
            <p:sp>
              <p:nvSpPr>
                <p:cNvPr id="39" name="Forma 42"/>
                <p:cNvSpPr/>
                <p:nvPr/>
              </p:nvSpPr>
              <p:spPr>
                <a:xfrm>
                  <a:off x="1302106" y="5376672"/>
                  <a:ext cx="301752" cy="1508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40" name="Forma 43"/>
                <p:cNvSpPr/>
                <p:nvPr/>
              </p:nvSpPr>
              <p:spPr>
                <a:xfrm>
                  <a:off x="1323228" y="5397795"/>
                  <a:ext cx="259507" cy="108631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41" name="Forma 44"/>
                <p:cNvSpPr/>
                <p:nvPr/>
              </p:nvSpPr>
              <p:spPr>
                <a:xfrm>
                  <a:off x="1323228" y="5397795"/>
                  <a:ext cx="259507" cy="1086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42" name="Mitocondria_3"/>
              <p:cNvGrpSpPr/>
              <p:nvPr/>
            </p:nvGrpSpPr>
            <p:grpSpPr>
              <a:xfrm>
                <a:off x="2509114" y="4855464"/>
                <a:ext cx="301752" cy="150876"/>
                <a:chOff x="2509114" y="4855464"/>
                <a:chExt cx="301752" cy="150876"/>
              </a:xfrm>
            </p:grpSpPr>
            <p:sp>
              <p:nvSpPr>
                <p:cNvPr id="43" name="Forma 46"/>
                <p:cNvSpPr/>
                <p:nvPr/>
              </p:nvSpPr>
              <p:spPr>
                <a:xfrm>
                  <a:off x="2509114" y="4855464"/>
                  <a:ext cx="301752" cy="1508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44" name="Forma 47"/>
                <p:cNvSpPr/>
                <p:nvPr/>
              </p:nvSpPr>
              <p:spPr>
                <a:xfrm>
                  <a:off x="2530236" y="4876587"/>
                  <a:ext cx="259507" cy="108631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45" name="Forma 48"/>
                <p:cNvSpPr/>
                <p:nvPr/>
              </p:nvSpPr>
              <p:spPr>
                <a:xfrm>
                  <a:off x="2530236" y="4876587"/>
                  <a:ext cx="259507" cy="1086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46" name="Mitocondria_4"/>
              <p:cNvGrpSpPr/>
              <p:nvPr/>
            </p:nvGrpSpPr>
            <p:grpSpPr>
              <a:xfrm>
                <a:off x="2871216" y="5349240"/>
                <a:ext cx="301752" cy="150876"/>
                <a:chOff x="2871216" y="5349240"/>
                <a:chExt cx="301752" cy="150876"/>
              </a:xfrm>
            </p:grpSpPr>
            <p:sp>
              <p:nvSpPr>
                <p:cNvPr id="47" name="Forma 50"/>
                <p:cNvSpPr/>
                <p:nvPr/>
              </p:nvSpPr>
              <p:spPr>
                <a:xfrm>
                  <a:off x="2871216" y="5349240"/>
                  <a:ext cx="301752" cy="1508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48" name="Forma 51"/>
                <p:cNvSpPr/>
                <p:nvPr/>
              </p:nvSpPr>
              <p:spPr>
                <a:xfrm>
                  <a:off x="2892339" y="5370363"/>
                  <a:ext cx="259507" cy="108631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49" name="Forma 52"/>
                <p:cNvSpPr/>
                <p:nvPr/>
              </p:nvSpPr>
              <p:spPr>
                <a:xfrm>
                  <a:off x="2892339" y="5370363"/>
                  <a:ext cx="259507" cy="1086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50" name="Mitocondria_5"/>
              <p:cNvGrpSpPr/>
              <p:nvPr/>
            </p:nvGrpSpPr>
            <p:grpSpPr>
              <a:xfrm>
                <a:off x="2328062" y="5431536"/>
                <a:ext cx="301752" cy="150876"/>
                <a:chOff x="2328062" y="5431536"/>
                <a:chExt cx="301752" cy="150876"/>
              </a:xfrm>
            </p:grpSpPr>
            <p:sp>
              <p:nvSpPr>
                <p:cNvPr id="51" name="Forma 54"/>
                <p:cNvSpPr/>
                <p:nvPr/>
              </p:nvSpPr>
              <p:spPr>
                <a:xfrm>
                  <a:off x="2328062" y="5431536"/>
                  <a:ext cx="301752" cy="1508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52" name="Forma 55"/>
                <p:cNvSpPr/>
                <p:nvPr/>
              </p:nvSpPr>
              <p:spPr>
                <a:xfrm>
                  <a:off x="2349185" y="5452659"/>
                  <a:ext cx="259507" cy="108631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53" name="Forma 56"/>
                <p:cNvSpPr/>
                <p:nvPr/>
              </p:nvSpPr>
              <p:spPr>
                <a:xfrm>
                  <a:off x="2349185" y="5452659"/>
                  <a:ext cx="259507" cy="1086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54" name="Mitocondria_6"/>
              <p:cNvGrpSpPr/>
              <p:nvPr/>
            </p:nvGrpSpPr>
            <p:grpSpPr>
              <a:xfrm>
                <a:off x="1060704" y="5047488"/>
                <a:ext cx="301752" cy="150876"/>
                <a:chOff x="1060704" y="5047488"/>
                <a:chExt cx="301752" cy="150876"/>
              </a:xfrm>
            </p:grpSpPr>
            <p:sp>
              <p:nvSpPr>
                <p:cNvPr id="55" name="Forma 58"/>
                <p:cNvSpPr/>
                <p:nvPr/>
              </p:nvSpPr>
              <p:spPr>
                <a:xfrm>
                  <a:off x="1060704" y="5047488"/>
                  <a:ext cx="301752" cy="15087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56" name="Forma 59"/>
                <p:cNvSpPr/>
                <p:nvPr/>
              </p:nvSpPr>
              <p:spPr>
                <a:xfrm>
                  <a:off x="1081827" y="5068611"/>
                  <a:ext cx="259507" cy="108631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57" name="Forma 60"/>
                <p:cNvSpPr/>
                <p:nvPr/>
              </p:nvSpPr>
              <p:spPr>
                <a:xfrm>
                  <a:off x="1081827" y="5068611"/>
                  <a:ext cx="259507" cy="1086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</p:grpSp>
        <p:grpSp>
          <p:nvGrpSpPr>
            <p:cNvPr id="58" name="Tubo hilo"/>
            <p:cNvGrpSpPr/>
            <p:nvPr/>
          </p:nvGrpSpPr>
          <p:grpSpPr>
            <a:xfrm>
              <a:off x="4166006" y="4343400"/>
              <a:ext cx="583387" cy="2011680"/>
              <a:chOff x="4166006" y="4343400"/>
              <a:chExt cx="583387" cy="2011680"/>
            </a:xfrm>
          </p:grpSpPr>
          <p:sp>
            <p:nvSpPr>
              <p:cNvPr id="59" name="Vidrio"/>
              <p:cNvSpPr/>
              <p:nvPr/>
            </p:nvSpPr>
            <p:spPr>
              <a:xfrm>
                <a:off x="4206240" y="4544568"/>
                <a:ext cx="502920" cy="181051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60" name="Tapón"/>
              <p:cNvSpPr/>
              <p:nvPr/>
            </p:nvSpPr>
            <p:spPr>
              <a:xfrm>
                <a:off x="4166006" y="4343400"/>
                <a:ext cx="583387" cy="241402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61" name="Brillo"/>
              <p:cNvSpPr/>
              <p:nvPr/>
            </p:nvSpPr>
            <p:spPr>
              <a:xfrm>
                <a:off x="4276649" y="4665269"/>
                <a:ext cx="60350" cy="140817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62" name="Rojo h"/>
            <p:cNvSpPr/>
            <p:nvPr/>
          </p:nvSpPr>
          <p:spPr>
            <a:xfrm>
              <a:off x="4231386" y="5503737"/>
              <a:ext cx="452628" cy="811109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63" name="Buffy h"/>
            <p:cNvSpPr/>
            <p:nvPr/>
          </p:nvSpPr>
          <p:spPr>
            <a:xfrm>
              <a:off x="4231386" y="5436145"/>
              <a:ext cx="452628" cy="67592"/>
            </a:xfrm>
            <a:prstGeom prst="rect">
              <a:avLst/>
            </a:prstGeom>
            <a:gradFill rotWithShape="1">
              <a:gsLst>
                <a:gs pos="0">
                  <a:srgbClr val="F5F6F6"/>
                </a:gs>
                <a:gs pos="100000">
                  <a:srgbClr val="F2F3F4"/>
                </a:gs>
              </a:gsLst>
              <a:lin ang="5400000" scaled="0"/>
            </a:gradFill>
            <a:ln w="9525" cap="rnd">
              <a:solidFill>
                <a:srgbClr val="9D9D9E"/>
              </a:solidFill>
              <a:round/>
            </a:ln>
          </p:spPr>
        </p:sp>
        <p:sp>
          <p:nvSpPr>
            <p:cNvPr id="64" name="Plasma h"/>
            <p:cNvSpPr/>
            <p:nvPr/>
          </p:nvSpPr>
          <p:spPr>
            <a:xfrm>
              <a:off x="4231386" y="4794016"/>
              <a:ext cx="452628" cy="642128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grpSp>
          <p:nvGrpSpPr>
            <p:cNvPr id="65" name="Centrífuga hilo"/>
            <p:cNvGrpSpPr/>
            <p:nvPr/>
          </p:nvGrpSpPr>
          <p:grpSpPr>
            <a:xfrm>
              <a:off x="5007254" y="4526280"/>
              <a:ext cx="1644091" cy="1658264"/>
              <a:chOff x="5007254" y="4526280"/>
              <a:chExt cx="1644091" cy="1658264"/>
            </a:xfrm>
          </p:grpSpPr>
          <p:sp>
            <p:nvSpPr>
              <p:cNvPr id="66" name="Forma 69"/>
              <p:cNvSpPr/>
              <p:nvPr/>
            </p:nvSpPr>
            <p:spPr>
              <a:xfrm>
                <a:off x="5007254" y="5305806"/>
                <a:ext cx="1644091" cy="878738"/>
              </a:xfrm>
              <a:prstGeom prst="roundRect">
                <a:avLst>
                  <a:gd name="adj" fmla="val 12000"/>
                </a:avLst>
              </a:prstGeom>
              <a:gradFill rotWithShape="1">
                <a:gsLst>
                  <a:gs pos="0">
                    <a:srgbClr val="CFD8DC"/>
                  </a:gs>
                  <a:gs pos="55000">
                    <a:srgbClr val="B0BEC5"/>
                  </a:gs>
                  <a:gs pos="100000">
                    <a:srgbClr val="7B8589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37474F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67" name="Rotor"/>
              <p:cNvSpPr/>
              <p:nvPr/>
            </p:nvSpPr>
            <p:spPr>
              <a:xfrm>
                <a:off x="5120640" y="4526280"/>
                <a:ext cx="1417320" cy="1417320"/>
              </a:xfrm>
              <a:prstGeom prst="ellipse">
                <a:avLst/>
              </a:prstGeom>
              <a:gradFill rotWithShape="1">
                <a:gsLst>
                  <a:gs pos="0">
                    <a:srgbClr val="F1F3F5"/>
                  </a:gs>
                  <a:gs pos="55000">
                    <a:srgbClr val="ECEFF1"/>
                  </a:gs>
                  <a:gs pos="100000">
                    <a:srgbClr val="B1B3B4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37474F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68" name="Forma 71"/>
              <p:cNvSpPr/>
              <p:nvPr/>
            </p:nvSpPr>
            <p:spPr>
              <a:xfrm>
                <a:off x="5659222" y="5064862"/>
                <a:ext cx="340157" cy="340157"/>
              </a:xfrm>
              <a:prstGeom prst="ellipse">
                <a:avLst/>
              </a:prstGeom>
              <a:gradFill rotWithShape="1">
                <a:gsLst>
                  <a:gs pos="0">
                    <a:srgbClr val="A0B1B9"/>
                  </a:gs>
                  <a:gs pos="55000">
                    <a:srgbClr val="78909C"/>
                  </a:gs>
                  <a:gs pos="100000">
                    <a:srgbClr val="54646D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263238"/>
                </a:solidFill>
                <a:round/>
              </a:ln>
            </p:spPr>
          </p:sp>
          <p:sp>
            <p:nvSpPr>
              <p:cNvPr id="69" name="Forma 72"/>
              <p:cNvSpPr/>
              <p:nvPr/>
            </p:nvSpPr>
            <p:spPr>
              <a:xfrm>
                <a:off x="6183630" y="5135728"/>
                <a:ext cx="198425" cy="198425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70" name="Forma 73"/>
              <p:cNvSpPr/>
              <p:nvPr/>
            </p:nvSpPr>
            <p:spPr>
              <a:xfrm>
                <a:off x="5956859" y="5528507"/>
                <a:ext cx="198425" cy="198425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71" name="Forma 74"/>
              <p:cNvSpPr/>
              <p:nvPr/>
            </p:nvSpPr>
            <p:spPr>
              <a:xfrm>
                <a:off x="5503316" y="5528507"/>
                <a:ext cx="198425" cy="198425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72" name="Forma 75"/>
              <p:cNvSpPr/>
              <p:nvPr/>
            </p:nvSpPr>
            <p:spPr>
              <a:xfrm>
                <a:off x="5276545" y="5135728"/>
                <a:ext cx="198425" cy="198425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73" name="Forma 76"/>
              <p:cNvSpPr/>
              <p:nvPr/>
            </p:nvSpPr>
            <p:spPr>
              <a:xfrm>
                <a:off x="5503316" y="4742948"/>
                <a:ext cx="198425" cy="198425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74" name="Forma 77"/>
              <p:cNvSpPr/>
              <p:nvPr/>
            </p:nvSpPr>
            <p:spPr>
              <a:xfrm>
                <a:off x="5956859" y="4742948"/>
                <a:ext cx="198425" cy="198425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75" name="Forma 78"/>
              <p:cNvSpPr/>
              <p:nvPr/>
            </p:nvSpPr>
            <p:spPr>
              <a:xfrm>
                <a:off x="5474970" y="5943600"/>
                <a:ext cx="708660" cy="141732"/>
              </a:xfrm>
              <a:prstGeom prst="roundRect">
                <a:avLst>
                  <a:gd name="adj" fmla="val 50000"/>
                </a:avLst>
              </a:prstGeom>
              <a:solidFill>
                <a:srgbClr val="263238"/>
              </a:solidFill>
              <a:ln>
                <a:noFill/>
              </a:ln>
            </p:spPr>
          </p:sp>
        </p:grpSp>
      </p:grpSp>
      <p:grpSp>
        <p:nvGrpSpPr>
          <p:cNvPr id="76" name="Idea central"/>
          <p:cNvGrpSpPr/>
          <p:nvPr/>
        </p:nvGrpSpPr>
        <p:grpSpPr>
          <a:xfrm>
            <a:off x="7132320" y="4434840"/>
            <a:ext cx="4663440" cy="2011680"/>
            <a:chOff x="7132320" y="4434840"/>
            <a:chExt cx="4663440" cy="2011680"/>
          </a:xfrm>
        </p:grpSpPr>
        <p:sp>
          <p:nvSpPr>
            <p:cNvPr id="77" name="Forma 80"/>
            <p:cNvSpPr/>
            <p:nvPr/>
          </p:nvSpPr>
          <p:spPr>
            <a:xfrm>
              <a:off x="7132320" y="4636008"/>
              <a:ext cx="4663440" cy="18105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 solo biomarcador no alcanza: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de varios biomarcadores con la clínica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 la que permite localizar el daño y razonar el diagnóstico.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78" name="Forma 81"/>
            <p:cNvSpPr/>
            <p:nvPr/>
          </p:nvSpPr>
          <p:spPr>
            <a:xfrm>
              <a:off x="7260336" y="4434840"/>
              <a:ext cx="142495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IDEA CENTRAL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HILO CONDUCTOR: DE LA MOLÉCULA AL DATO DE LABORATORIO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8888625" y="182880"/>
            <a:ext cx="302875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BIOQUÍMICA CLÍNICA Y METABOLISMO</a:t>
            </a:r>
            <a:endParaRPr lang="es-AR" sz="1250" dirty="0">
              <a:latin typeface="Calibri"/>
            </a:endParaRPr>
          </a:p>
        </p:txBody>
      </p:sp>
      <p:sp>
        <p:nvSpPr>
          <p:cNvPr id="7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Código 1"/>
          <p:cNvGrpSpPr/>
          <p:nvPr/>
        </p:nvGrpSpPr>
        <p:grpSpPr>
          <a:xfrm>
            <a:off x="640080" y="1097280"/>
            <a:ext cx="7498080" cy="731520"/>
            <a:chOff x="640080" y="1097280"/>
            <a:chExt cx="7498080" cy="731520"/>
          </a:xfrm>
        </p:grpSpPr>
        <p:sp>
          <p:nvSpPr>
            <p:cNvPr id="6" name="Ej sustrato"/>
            <p:cNvSpPr/>
            <p:nvPr/>
          </p:nvSpPr>
          <p:spPr>
            <a:xfrm>
              <a:off x="640080" y="1234440"/>
              <a:ext cx="146304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CB83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Sustrato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651760" y="1097280"/>
              <a:ext cx="5486400" cy="7315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Sustratos, productos y metabolitos: fichas redondeadas de color.</a:t>
              </a:r>
              <a:endParaRPr lang="es-AR" sz="1650" dirty="0">
                <a:latin typeface="Calibri"/>
              </a:endParaRPr>
            </a:p>
          </p:txBody>
        </p:sp>
      </p:grpSp>
      <p:grpSp>
        <p:nvGrpSpPr>
          <p:cNvPr id="8" name="Código 2"/>
          <p:cNvGrpSpPr/>
          <p:nvPr/>
        </p:nvGrpSpPr>
        <p:grpSpPr>
          <a:xfrm>
            <a:off x="822960" y="1901952"/>
            <a:ext cx="7315200" cy="822960"/>
            <a:chOff x="822960" y="1901952"/>
            <a:chExt cx="7315200" cy="822960"/>
          </a:xfrm>
        </p:grpSpPr>
        <p:sp>
          <p:nvSpPr>
            <p:cNvPr id="9" name="Ej enzima"/>
            <p:cNvSpPr/>
            <p:nvPr/>
          </p:nvSpPr>
          <p:spPr>
            <a:xfrm>
              <a:off x="822960" y="1901952"/>
              <a:ext cx="1005840" cy="8229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2651760" y="1993392"/>
              <a:ext cx="5486400" cy="7315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Enzimas: formas globulares sombreadas.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11" name="Código 3"/>
          <p:cNvGrpSpPr/>
          <p:nvPr/>
        </p:nvGrpSpPr>
        <p:grpSpPr>
          <a:xfrm>
            <a:off x="640080" y="2889504"/>
            <a:ext cx="7498080" cy="731520"/>
            <a:chOff x="640080" y="2889504"/>
            <a:chExt cx="7498080" cy="731520"/>
          </a:xfrm>
        </p:grpSpPr>
        <p:sp>
          <p:nvSpPr>
            <p:cNvPr id="12" name="Ej rótulo"/>
            <p:cNvSpPr/>
            <p:nvPr/>
          </p:nvSpPr>
          <p:spPr>
            <a:xfrm>
              <a:off x="640080" y="3026664"/>
              <a:ext cx="1463040" cy="29337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2651760" y="2889504"/>
              <a:ext cx="5486400" cy="7315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Biomarcadores y conceptos clave: rótulos azul marino.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14" name="Código 4"/>
          <p:cNvGrpSpPr/>
          <p:nvPr/>
        </p:nvGrpSpPr>
        <p:grpSpPr>
          <a:xfrm>
            <a:off x="640080" y="3785616"/>
            <a:ext cx="7498080" cy="731520"/>
            <a:chOff x="640080" y="3785616"/>
            <a:chExt cx="7498080" cy="731520"/>
          </a:xfrm>
        </p:grpSpPr>
        <p:sp>
          <p:nvSpPr>
            <p:cNvPr id="15" name="Ej activa"/>
            <p:cNvSpPr/>
            <p:nvPr/>
          </p:nvSpPr>
          <p:spPr>
            <a:xfrm>
              <a:off x="640080" y="4105656"/>
              <a:ext cx="1463040" cy="9144"/>
            </a:xfrm>
            <a:custGeom>
              <a:avLst/>
              <a:gdLst/>
              <a:ahLst/>
              <a:cxnLst/>
              <a:rect l="0" t="0" r="r" b="b"/>
              <a:pathLst>
                <a:path w="1599" h="10" fill="none">
                  <a:moveTo>
                    <a:pt x="0" y="0"/>
                  </a:moveTo>
                  <a:lnTo>
                    <a:pt x="1599" y="0"/>
                  </a:lnTo>
                </a:path>
              </a:pathLst>
            </a:custGeom>
            <a:noFill/>
            <a:ln w="44450" cap="rnd">
              <a:solidFill>
                <a:srgbClr val="1E8C3A"/>
              </a:solidFill>
              <a:round/>
              <a:tailEnd type="triangle" w="med" len="med"/>
            </a:ln>
          </p:spPr>
        </p:sp>
        <p:sp>
          <p:nvSpPr>
            <p:cNvPr id="16" name="Forma 15"/>
            <p:cNvSpPr/>
            <p:nvPr/>
          </p:nvSpPr>
          <p:spPr>
            <a:xfrm>
              <a:off x="2651760" y="3785616"/>
              <a:ext cx="5486400" cy="7315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Flecha verde: activación / conversión.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17" name="Código 5"/>
          <p:cNvGrpSpPr/>
          <p:nvPr/>
        </p:nvGrpSpPr>
        <p:grpSpPr>
          <a:xfrm>
            <a:off x="640080" y="4681728"/>
            <a:ext cx="7498080" cy="731520"/>
            <a:chOff x="640080" y="4681728"/>
            <a:chExt cx="7498080" cy="731520"/>
          </a:xfrm>
        </p:grpSpPr>
        <p:grpSp>
          <p:nvGrpSpPr>
            <p:cNvPr id="18" name="Ej inhibe"/>
            <p:cNvGrpSpPr/>
            <p:nvPr/>
          </p:nvGrpSpPr>
          <p:grpSpPr>
            <a:xfrm>
              <a:off x="640080" y="4901184"/>
              <a:ext cx="1472184" cy="201168"/>
              <a:chOff x="640080" y="4901184"/>
              <a:chExt cx="1472184" cy="201168"/>
            </a:xfrm>
          </p:grpSpPr>
          <p:sp>
            <p:nvSpPr>
              <p:cNvPr id="19" name="Flecha 18_2"/>
              <p:cNvSpPr/>
              <p:nvPr/>
            </p:nvSpPr>
            <p:spPr>
              <a:xfrm>
                <a:off x="640080" y="5001768"/>
                <a:ext cx="1463040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1599" h="10" fill="none">
                    <a:moveTo>
                      <a:pt x="0" y="0"/>
                    </a:moveTo>
                    <a:lnTo>
                      <a:pt x="1599" y="0"/>
                    </a:lnTo>
                  </a:path>
                </a:pathLst>
              </a:custGeom>
              <a:noFill/>
              <a:ln w="31750" cap="rnd">
                <a:solidFill>
                  <a:srgbClr val="C00000"/>
                </a:solidFill>
                <a:round/>
              </a:ln>
            </p:spPr>
          </p:sp>
          <p:sp>
            <p:nvSpPr>
              <p:cNvPr id="20" name="Flecha 20_2"/>
              <p:cNvSpPr/>
              <p:nvPr/>
            </p:nvSpPr>
            <p:spPr>
              <a:xfrm>
                <a:off x="2103120" y="4901184"/>
                <a:ext cx="9144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20" fill="none">
                    <a:moveTo>
                      <a:pt x="0" y="0"/>
                    </a:moveTo>
                    <a:lnTo>
                      <a:pt x="0" y="220"/>
                    </a:lnTo>
                  </a:path>
                </a:pathLst>
              </a:custGeom>
              <a:noFill/>
              <a:ln w="50800" cap="rnd">
                <a:solidFill>
                  <a:srgbClr val="C00000"/>
                </a:solidFill>
                <a:round/>
              </a:ln>
            </p:spPr>
          </p:sp>
        </p:grpSp>
        <p:sp>
          <p:nvSpPr>
            <p:cNvPr id="21" name="Forma 22"/>
            <p:cNvSpPr/>
            <p:nvPr/>
          </p:nvSpPr>
          <p:spPr>
            <a:xfrm>
              <a:off x="2651760" y="4681728"/>
              <a:ext cx="5486400" cy="7315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Flecha roja con barra: inhibición.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22" name="Código 6"/>
          <p:cNvGrpSpPr/>
          <p:nvPr/>
        </p:nvGrpSpPr>
        <p:grpSpPr>
          <a:xfrm>
            <a:off x="640080" y="5577840"/>
            <a:ext cx="7498080" cy="731520"/>
            <a:chOff x="640080" y="5577840"/>
            <a:chExt cx="7498080" cy="731520"/>
          </a:xfrm>
        </p:grpSpPr>
        <p:sp>
          <p:nvSpPr>
            <p:cNvPr id="23" name="Ej rigor"/>
            <p:cNvSpPr/>
            <p:nvPr/>
          </p:nvSpPr>
          <p:spPr>
            <a:xfrm>
              <a:off x="640080" y="5623560"/>
              <a:ext cx="1463040" cy="548640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24" name="Forma 25"/>
            <p:cNvSpPr/>
            <p:nvPr/>
          </p:nvSpPr>
          <p:spPr>
            <a:xfrm>
              <a:off x="2651760" y="5577840"/>
              <a:ext cx="5486400" cy="7315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«Nota de rigor»: precisiones de la revisión científica, distinguidas del contenido base.</a:t>
              </a:r>
              <a:endParaRPr lang="es-AR" sz="1650" dirty="0">
                <a:latin typeface="Calibri"/>
              </a:endParaRPr>
            </a:p>
          </p:txBody>
        </p:sp>
      </p:grpSp>
      <p:grpSp>
        <p:nvGrpSpPr>
          <p:cNvPr id="25" name="Moléculas decorativas"/>
          <p:cNvGrpSpPr/>
          <p:nvPr/>
        </p:nvGrpSpPr>
        <p:grpSpPr>
          <a:xfrm>
            <a:off x="8756704" y="1374630"/>
            <a:ext cx="2609559" cy="3498834"/>
            <a:chOff x="8756704" y="1374630"/>
            <a:chExt cx="2609559" cy="3498834"/>
          </a:xfrm>
        </p:grpSpPr>
        <p:grpSp>
          <p:nvGrpSpPr>
            <p:cNvPr id="26" name="Molécula glucosa"/>
            <p:cNvGrpSpPr/>
            <p:nvPr/>
          </p:nvGrpSpPr>
          <p:grpSpPr>
            <a:xfrm>
              <a:off x="8756704" y="1374630"/>
              <a:ext cx="2183292" cy="1456980"/>
              <a:chOff x="8756704" y="1374630"/>
              <a:chExt cx="2183292" cy="1456980"/>
            </a:xfrm>
          </p:grpSpPr>
          <p:sp>
            <p:nvSpPr>
              <p:cNvPr id="27" name="Flecha 28_2"/>
              <p:cNvSpPr/>
              <p:nvPr/>
            </p:nvSpPr>
            <p:spPr>
              <a:xfrm>
                <a:off x="9538420" y="2120862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0" y="0"/>
                    </a:moveTo>
                    <a:lnTo>
                      <a:pt x="388" y="194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28" name="Flecha 30_2"/>
              <p:cNvSpPr/>
              <p:nvPr/>
            </p:nvSpPr>
            <p:spPr>
              <a:xfrm>
                <a:off x="9538420" y="2120862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0" y="0"/>
                    </a:moveTo>
                    <a:lnTo>
                      <a:pt x="388" y="194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29" name="Flecha 32_2"/>
              <p:cNvSpPr/>
              <p:nvPr/>
            </p:nvSpPr>
            <p:spPr>
              <a:xfrm>
                <a:off x="9893262" y="2120862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0" y="194"/>
                    </a:moveTo>
                    <a:lnTo>
                      <a:pt x="388" y="0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30" name="Flecha 34_2"/>
              <p:cNvSpPr/>
              <p:nvPr/>
            </p:nvSpPr>
            <p:spPr>
              <a:xfrm>
                <a:off x="9893262" y="2120862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0" y="194"/>
                    </a:moveTo>
                    <a:lnTo>
                      <a:pt x="388" y="0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31" name="Flecha 36_2"/>
              <p:cNvSpPr/>
              <p:nvPr/>
            </p:nvSpPr>
            <p:spPr>
              <a:xfrm>
                <a:off x="10248104" y="1730536"/>
                <a:ext cx="9144" cy="39032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6" fill="none">
                    <a:moveTo>
                      <a:pt x="0" y="426"/>
                    </a:moveTo>
                    <a:lnTo>
                      <a:pt x="0" y="0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32" name="Flecha 38_2"/>
              <p:cNvSpPr/>
              <p:nvPr/>
            </p:nvSpPr>
            <p:spPr>
              <a:xfrm>
                <a:off x="10248104" y="1730536"/>
                <a:ext cx="9144" cy="39032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6" fill="none">
                    <a:moveTo>
                      <a:pt x="0" y="426"/>
                    </a:moveTo>
                    <a:lnTo>
                      <a:pt x="0" y="0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33" name="Flecha 40_2"/>
              <p:cNvSpPr/>
              <p:nvPr/>
            </p:nvSpPr>
            <p:spPr>
              <a:xfrm>
                <a:off x="9893262" y="1553115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388" y="194"/>
                    </a:moveTo>
                    <a:lnTo>
                      <a:pt x="0" y="0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34" name="Flecha 42_2"/>
              <p:cNvSpPr/>
              <p:nvPr/>
            </p:nvSpPr>
            <p:spPr>
              <a:xfrm>
                <a:off x="9893262" y="1553115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388" y="194"/>
                    </a:moveTo>
                    <a:lnTo>
                      <a:pt x="0" y="0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35" name="Flecha 44_2"/>
              <p:cNvSpPr/>
              <p:nvPr/>
            </p:nvSpPr>
            <p:spPr>
              <a:xfrm>
                <a:off x="9538420" y="1553115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388" y="0"/>
                    </a:moveTo>
                    <a:lnTo>
                      <a:pt x="0" y="194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36" name="Flecha 46_2"/>
              <p:cNvSpPr/>
              <p:nvPr/>
            </p:nvSpPr>
            <p:spPr>
              <a:xfrm>
                <a:off x="9538420" y="1553115"/>
                <a:ext cx="354842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88" h="194" fill="none">
                    <a:moveTo>
                      <a:pt x="388" y="0"/>
                    </a:moveTo>
                    <a:lnTo>
                      <a:pt x="0" y="194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37" name="Flecha 48_2"/>
              <p:cNvSpPr/>
              <p:nvPr/>
            </p:nvSpPr>
            <p:spPr>
              <a:xfrm>
                <a:off x="9538420" y="1730536"/>
                <a:ext cx="9144" cy="39032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6" fill="none">
                    <a:moveTo>
                      <a:pt x="0" y="0"/>
                    </a:moveTo>
                    <a:lnTo>
                      <a:pt x="0" y="426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38" name="Flecha 50_2"/>
              <p:cNvSpPr/>
              <p:nvPr/>
            </p:nvSpPr>
            <p:spPr>
              <a:xfrm>
                <a:off x="9538420" y="1730536"/>
                <a:ext cx="9144" cy="39032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6" fill="none">
                    <a:moveTo>
                      <a:pt x="0" y="0"/>
                    </a:moveTo>
                    <a:lnTo>
                      <a:pt x="0" y="426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39" name="Flecha 52_2"/>
              <p:cNvSpPr/>
              <p:nvPr/>
            </p:nvSpPr>
            <p:spPr>
              <a:xfrm>
                <a:off x="9219063" y="2120862"/>
                <a:ext cx="319358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49" h="194" fill="none">
                    <a:moveTo>
                      <a:pt x="349" y="0"/>
                    </a:moveTo>
                    <a:lnTo>
                      <a:pt x="0" y="194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40" name="Flecha 54_2"/>
              <p:cNvSpPr/>
              <p:nvPr/>
            </p:nvSpPr>
            <p:spPr>
              <a:xfrm>
                <a:off x="9219063" y="2120862"/>
                <a:ext cx="319358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49" h="194" fill="none">
                    <a:moveTo>
                      <a:pt x="349" y="0"/>
                    </a:moveTo>
                    <a:lnTo>
                      <a:pt x="0" y="194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41" name="Flecha 56_2"/>
              <p:cNvSpPr/>
              <p:nvPr/>
            </p:nvSpPr>
            <p:spPr>
              <a:xfrm>
                <a:off x="9893262" y="2298283"/>
                <a:ext cx="9144" cy="39032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6" fill="none">
                    <a:moveTo>
                      <a:pt x="0" y="0"/>
                    </a:moveTo>
                    <a:lnTo>
                      <a:pt x="0" y="426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42" name="Flecha 58_2"/>
              <p:cNvSpPr/>
              <p:nvPr/>
            </p:nvSpPr>
            <p:spPr>
              <a:xfrm>
                <a:off x="9893262" y="2298283"/>
                <a:ext cx="9144" cy="39032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26" fill="none">
                    <a:moveTo>
                      <a:pt x="0" y="0"/>
                    </a:moveTo>
                    <a:lnTo>
                      <a:pt x="0" y="426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43" name="Flecha 60_2"/>
              <p:cNvSpPr/>
              <p:nvPr/>
            </p:nvSpPr>
            <p:spPr>
              <a:xfrm>
                <a:off x="10248104" y="2120862"/>
                <a:ext cx="319358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49" h="194" fill="none">
                    <a:moveTo>
                      <a:pt x="0" y="0"/>
                    </a:moveTo>
                    <a:lnTo>
                      <a:pt x="349" y="194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44" name="Flecha 62_2"/>
              <p:cNvSpPr/>
              <p:nvPr/>
            </p:nvSpPr>
            <p:spPr>
              <a:xfrm>
                <a:off x="10248104" y="2120862"/>
                <a:ext cx="319358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49" h="194" fill="none">
                    <a:moveTo>
                      <a:pt x="0" y="0"/>
                    </a:moveTo>
                    <a:lnTo>
                      <a:pt x="349" y="194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45" name="Flecha 64_2"/>
              <p:cNvSpPr/>
              <p:nvPr/>
            </p:nvSpPr>
            <p:spPr>
              <a:xfrm>
                <a:off x="9219063" y="1517631"/>
                <a:ext cx="319358" cy="212905"/>
              </a:xfrm>
              <a:custGeom>
                <a:avLst/>
                <a:gdLst/>
                <a:ahLst/>
                <a:cxnLst/>
                <a:rect l="0" t="0" r="r" b="b"/>
                <a:pathLst>
                  <a:path w="349" h="232" fill="none">
                    <a:moveTo>
                      <a:pt x="349" y="232"/>
                    </a:moveTo>
                    <a:lnTo>
                      <a:pt x="0" y="0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46" name="Flecha 66_2"/>
              <p:cNvSpPr/>
              <p:nvPr/>
            </p:nvSpPr>
            <p:spPr>
              <a:xfrm>
                <a:off x="9219063" y="1517631"/>
                <a:ext cx="319358" cy="212905"/>
              </a:xfrm>
              <a:custGeom>
                <a:avLst/>
                <a:gdLst/>
                <a:ahLst/>
                <a:cxnLst/>
                <a:rect l="0" t="0" r="r" b="b"/>
                <a:pathLst>
                  <a:path w="349" h="232" fill="none">
                    <a:moveTo>
                      <a:pt x="349" y="232"/>
                    </a:moveTo>
                    <a:lnTo>
                      <a:pt x="0" y="0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47" name="Flecha 68_2"/>
              <p:cNvSpPr/>
              <p:nvPr/>
            </p:nvSpPr>
            <p:spPr>
              <a:xfrm>
                <a:off x="8899705" y="1517631"/>
                <a:ext cx="319358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49" h="194" fill="none">
                    <a:moveTo>
                      <a:pt x="349" y="0"/>
                    </a:moveTo>
                    <a:lnTo>
                      <a:pt x="0" y="194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48" name="Flecha 70_2"/>
              <p:cNvSpPr/>
              <p:nvPr/>
            </p:nvSpPr>
            <p:spPr>
              <a:xfrm>
                <a:off x="8899705" y="1517631"/>
                <a:ext cx="319358" cy="177421"/>
              </a:xfrm>
              <a:custGeom>
                <a:avLst/>
                <a:gdLst/>
                <a:ahLst/>
                <a:cxnLst/>
                <a:rect l="0" t="0" r="r" b="b"/>
                <a:pathLst>
                  <a:path w="349" h="194" fill="none">
                    <a:moveTo>
                      <a:pt x="349" y="0"/>
                    </a:moveTo>
                    <a:lnTo>
                      <a:pt x="0" y="194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49" name="Flecha 72_2"/>
              <p:cNvSpPr/>
              <p:nvPr/>
            </p:nvSpPr>
            <p:spPr>
              <a:xfrm>
                <a:off x="8935189" y="2156346"/>
                <a:ext cx="283873" cy="141937"/>
              </a:xfrm>
              <a:custGeom>
                <a:avLst/>
                <a:gdLst/>
                <a:ahLst/>
                <a:cxnLst/>
                <a:rect l="0" t="0" r="r" b="b"/>
                <a:pathLst>
                  <a:path w="310" h="155" fill="none">
                    <a:moveTo>
                      <a:pt x="310" y="155"/>
                    </a:moveTo>
                    <a:lnTo>
                      <a:pt x="0" y="0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50" name="Flecha 74_2"/>
              <p:cNvSpPr/>
              <p:nvPr/>
            </p:nvSpPr>
            <p:spPr>
              <a:xfrm>
                <a:off x="8935189" y="2156346"/>
                <a:ext cx="283873" cy="141937"/>
              </a:xfrm>
              <a:custGeom>
                <a:avLst/>
                <a:gdLst/>
                <a:ahLst/>
                <a:cxnLst/>
                <a:rect l="0" t="0" r="r" b="b"/>
                <a:pathLst>
                  <a:path w="310" h="155" fill="none">
                    <a:moveTo>
                      <a:pt x="310" y="155"/>
                    </a:moveTo>
                    <a:lnTo>
                      <a:pt x="0" y="0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51" name="Flecha 76_2"/>
              <p:cNvSpPr/>
              <p:nvPr/>
            </p:nvSpPr>
            <p:spPr>
              <a:xfrm>
                <a:off x="10567461" y="2156346"/>
                <a:ext cx="283873" cy="141937"/>
              </a:xfrm>
              <a:custGeom>
                <a:avLst/>
                <a:gdLst/>
                <a:ahLst/>
                <a:cxnLst/>
                <a:rect l="0" t="0" r="r" b="b"/>
                <a:pathLst>
                  <a:path w="310" h="155" fill="none">
                    <a:moveTo>
                      <a:pt x="0" y="155"/>
                    </a:moveTo>
                    <a:lnTo>
                      <a:pt x="310" y="0"/>
                    </a:lnTo>
                  </a:path>
                </a:pathLst>
              </a:custGeom>
              <a:noFill/>
              <a:ln w="78853" cap="rnd">
                <a:solidFill>
                  <a:srgbClr val="B9B9B9"/>
                </a:solidFill>
                <a:round/>
              </a:ln>
            </p:spPr>
          </p:sp>
          <p:sp>
            <p:nvSpPr>
              <p:cNvPr id="52" name="Flecha 78_2"/>
              <p:cNvSpPr/>
              <p:nvPr/>
            </p:nvSpPr>
            <p:spPr>
              <a:xfrm>
                <a:off x="10567461" y="2156346"/>
                <a:ext cx="283873" cy="141937"/>
              </a:xfrm>
              <a:custGeom>
                <a:avLst/>
                <a:gdLst/>
                <a:ahLst/>
                <a:cxnLst/>
                <a:rect l="0" t="0" r="r" b="b"/>
                <a:pathLst>
                  <a:path w="310" h="155" fill="none">
                    <a:moveTo>
                      <a:pt x="0" y="155"/>
                    </a:moveTo>
                    <a:lnTo>
                      <a:pt x="310" y="0"/>
                    </a:lnTo>
                  </a:path>
                </a:pathLst>
              </a:custGeom>
              <a:noFill/>
              <a:ln w="44355" cap="rnd">
                <a:solidFill>
                  <a:srgbClr val="FFFFFF"/>
                </a:solidFill>
                <a:round/>
              </a:ln>
            </p:spPr>
          </p:sp>
          <p:sp>
            <p:nvSpPr>
              <p:cNvPr id="53" name="Forma 80"/>
              <p:cNvSpPr/>
              <p:nvPr/>
            </p:nvSpPr>
            <p:spPr>
              <a:xfrm>
                <a:off x="8846528" y="2067685"/>
                <a:ext cx="177322" cy="17732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4" name="Forma 81"/>
              <p:cNvSpPr/>
              <p:nvPr/>
            </p:nvSpPr>
            <p:spPr>
              <a:xfrm>
                <a:off x="10762674" y="2067685"/>
                <a:ext cx="177322" cy="17732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5" name="Forma 82"/>
              <p:cNvSpPr/>
              <p:nvPr/>
            </p:nvSpPr>
            <p:spPr>
              <a:xfrm>
                <a:off x="9395419" y="1977861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6" name="Forma 83"/>
              <p:cNvSpPr/>
              <p:nvPr/>
            </p:nvSpPr>
            <p:spPr>
              <a:xfrm>
                <a:off x="9750261" y="2155282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7" name="Forma 84"/>
              <p:cNvSpPr/>
              <p:nvPr/>
            </p:nvSpPr>
            <p:spPr>
              <a:xfrm>
                <a:off x="10105103" y="1977861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8" name="Forma 85"/>
              <p:cNvSpPr/>
              <p:nvPr/>
            </p:nvSpPr>
            <p:spPr>
              <a:xfrm>
                <a:off x="10105103" y="1587535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9" name="Forma 86"/>
              <p:cNvSpPr/>
              <p:nvPr/>
            </p:nvSpPr>
            <p:spPr>
              <a:xfrm>
                <a:off x="9750261" y="1410114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0" name="Forma 87"/>
              <p:cNvSpPr/>
              <p:nvPr/>
            </p:nvSpPr>
            <p:spPr>
              <a:xfrm>
                <a:off x="9395419" y="1587535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1" name="Forma 88"/>
              <p:cNvSpPr/>
              <p:nvPr/>
            </p:nvSpPr>
            <p:spPr>
              <a:xfrm>
                <a:off x="9076061" y="2155282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2" name="Forma 89"/>
              <p:cNvSpPr/>
              <p:nvPr/>
            </p:nvSpPr>
            <p:spPr>
              <a:xfrm>
                <a:off x="9750261" y="2545608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3" name="Forma 90"/>
              <p:cNvSpPr/>
              <p:nvPr/>
            </p:nvSpPr>
            <p:spPr>
              <a:xfrm>
                <a:off x="10424460" y="2155282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4" name="Forma 91"/>
              <p:cNvSpPr/>
              <p:nvPr/>
            </p:nvSpPr>
            <p:spPr>
              <a:xfrm>
                <a:off x="9076061" y="1374630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5" name="Forma 92"/>
              <p:cNvSpPr/>
              <p:nvPr/>
            </p:nvSpPr>
            <p:spPr>
              <a:xfrm>
                <a:off x="8756704" y="1552051"/>
                <a:ext cx="286002" cy="28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  <p:grpSp>
          <p:nvGrpSpPr>
            <p:cNvPr id="66" name="Molécula acetilo"/>
            <p:cNvGrpSpPr/>
            <p:nvPr/>
          </p:nvGrpSpPr>
          <p:grpSpPr>
            <a:xfrm>
              <a:off x="9531604" y="3855229"/>
              <a:ext cx="1834659" cy="1018235"/>
              <a:chOff x="9531604" y="3855229"/>
              <a:chExt cx="1834659" cy="1018235"/>
            </a:xfrm>
          </p:grpSpPr>
          <p:sp>
            <p:nvSpPr>
              <p:cNvPr id="67" name="Flecha 94_2"/>
              <p:cNvSpPr/>
              <p:nvPr/>
            </p:nvSpPr>
            <p:spPr>
              <a:xfrm>
                <a:off x="9858569" y="4323251"/>
                <a:ext cx="318645" cy="185866"/>
              </a:xfrm>
              <a:custGeom>
                <a:avLst/>
                <a:gdLst/>
                <a:ahLst/>
                <a:cxnLst/>
                <a:rect l="0" t="0" r="r" b="b"/>
                <a:pathLst>
                  <a:path w="348" h="203" fill="none">
                    <a:moveTo>
                      <a:pt x="348" y="0"/>
                    </a:moveTo>
                    <a:lnTo>
                      <a:pt x="0" y="203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68" name="Flecha 96_2"/>
              <p:cNvSpPr/>
              <p:nvPr/>
            </p:nvSpPr>
            <p:spPr>
              <a:xfrm>
                <a:off x="9858569" y="4323251"/>
                <a:ext cx="318645" cy="185866"/>
              </a:xfrm>
              <a:custGeom>
                <a:avLst/>
                <a:gdLst/>
                <a:ahLst/>
                <a:cxnLst/>
                <a:rect l="0" t="0" r="r" b="b"/>
                <a:pathLst>
                  <a:path w="348" h="203" fill="none">
                    <a:moveTo>
                      <a:pt x="348" y="0"/>
                    </a:moveTo>
                    <a:lnTo>
                      <a:pt x="0" y="203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69" name="Flecha 98_2"/>
              <p:cNvSpPr/>
              <p:nvPr/>
            </p:nvSpPr>
            <p:spPr>
              <a:xfrm>
                <a:off x="10177213" y="3985615"/>
                <a:ext cx="10016" cy="33763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9" fill="none">
                    <a:moveTo>
                      <a:pt x="0" y="369"/>
                    </a:moveTo>
                    <a:lnTo>
                      <a:pt x="10" y="0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70" name="Flecha 100_2"/>
              <p:cNvSpPr/>
              <p:nvPr/>
            </p:nvSpPr>
            <p:spPr>
              <a:xfrm>
                <a:off x="10177213" y="3985615"/>
                <a:ext cx="10016" cy="33763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9" fill="none">
                    <a:moveTo>
                      <a:pt x="0" y="369"/>
                    </a:moveTo>
                    <a:lnTo>
                      <a:pt x="10" y="0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71" name="Flecha 102_2"/>
              <p:cNvSpPr/>
              <p:nvPr/>
            </p:nvSpPr>
            <p:spPr>
              <a:xfrm>
                <a:off x="10177213" y="4323251"/>
                <a:ext cx="394009" cy="95397"/>
              </a:xfrm>
              <a:custGeom>
                <a:avLst/>
                <a:gdLst/>
                <a:ahLst/>
                <a:cxnLst/>
                <a:rect l="0" t="0" r="r" b="b"/>
                <a:pathLst>
                  <a:path w="430" h="104" fill="none">
                    <a:moveTo>
                      <a:pt x="0" y="0"/>
                    </a:moveTo>
                    <a:lnTo>
                      <a:pt x="430" y="104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72" name="Flecha 104_2"/>
              <p:cNvSpPr/>
              <p:nvPr/>
            </p:nvSpPr>
            <p:spPr>
              <a:xfrm>
                <a:off x="10177213" y="4323251"/>
                <a:ext cx="394009" cy="95397"/>
              </a:xfrm>
              <a:custGeom>
                <a:avLst/>
                <a:gdLst/>
                <a:ahLst/>
                <a:cxnLst/>
                <a:rect l="0" t="0" r="r" b="b"/>
                <a:pathLst>
                  <a:path w="430" h="104" fill="none">
                    <a:moveTo>
                      <a:pt x="0" y="0"/>
                    </a:moveTo>
                    <a:lnTo>
                      <a:pt x="430" y="104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73" name="Flecha 106_2"/>
              <p:cNvSpPr/>
              <p:nvPr/>
            </p:nvSpPr>
            <p:spPr>
              <a:xfrm>
                <a:off x="9612443" y="4340600"/>
                <a:ext cx="246125" cy="168517"/>
              </a:xfrm>
              <a:custGeom>
                <a:avLst/>
                <a:gdLst/>
                <a:ahLst/>
                <a:cxnLst/>
                <a:rect l="0" t="0" r="r" b="b"/>
                <a:pathLst>
                  <a:path w="269" h="184" fill="none">
                    <a:moveTo>
                      <a:pt x="269" y="184"/>
                    </a:moveTo>
                    <a:lnTo>
                      <a:pt x="0" y="0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74" name="Flecha 108_2"/>
              <p:cNvSpPr/>
              <p:nvPr/>
            </p:nvSpPr>
            <p:spPr>
              <a:xfrm>
                <a:off x="9612443" y="4340600"/>
                <a:ext cx="246125" cy="168517"/>
              </a:xfrm>
              <a:custGeom>
                <a:avLst/>
                <a:gdLst/>
                <a:ahLst/>
                <a:cxnLst/>
                <a:rect l="0" t="0" r="r" b="b"/>
                <a:pathLst>
                  <a:path w="269" h="184" fill="none">
                    <a:moveTo>
                      <a:pt x="269" y="184"/>
                    </a:moveTo>
                    <a:lnTo>
                      <a:pt x="0" y="0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75" name="Flecha 110_2"/>
              <p:cNvSpPr/>
              <p:nvPr/>
            </p:nvSpPr>
            <p:spPr>
              <a:xfrm>
                <a:off x="9800553" y="4509118"/>
                <a:ext cx="58015" cy="283507"/>
              </a:xfrm>
              <a:custGeom>
                <a:avLst/>
                <a:gdLst/>
                <a:ahLst/>
                <a:cxnLst/>
                <a:rect l="0" t="0" r="r" b="b"/>
                <a:pathLst>
                  <a:path w="63" h="310" fill="none">
                    <a:moveTo>
                      <a:pt x="63" y="0"/>
                    </a:moveTo>
                    <a:lnTo>
                      <a:pt x="0" y="310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76" name="Flecha 112_2"/>
              <p:cNvSpPr/>
              <p:nvPr/>
            </p:nvSpPr>
            <p:spPr>
              <a:xfrm>
                <a:off x="9800553" y="4509118"/>
                <a:ext cx="58015" cy="283507"/>
              </a:xfrm>
              <a:custGeom>
                <a:avLst/>
                <a:gdLst/>
                <a:ahLst/>
                <a:cxnLst/>
                <a:rect l="0" t="0" r="r" b="b"/>
                <a:pathLst>
                  <a:path w="63" h="310" fill="none">
                    <a:moveTo>
                      <a:pt x="63" y="0"/>
                    </a:moveTo>
                    <a:lnTo>
                      <a:pt x="0" y="310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77" name="Flecha 114_2"/>
              <p:cNvSpPr/>
              <p:nvPr/>
            </p:nvSpPr>
            <p:spPr>
              <a:xfrm>
                <a:off x="9858569" y="4509118"/>
                <a:ext cx="85681" cy="194761"/>
              </a:xfrm>
              <a:custGeom>
                <a:avLst/>
                <a:gdLst/>
                <a:ahLst/>
                <a:cxnLst/>
                <a:rect l="0" t="0" r="r" b="b"/>
                <a:pathLst>
                  <a:path w="93" h="212" fill="none">
                    <a:moveTo>
                      <a:pt x="0" y="0"/>
                    </a:moveTo>
                    <a:lnTo>
                      <a:pt x="93" y="212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78" name="Flecha 116_2"/>
              <p:cNvSpPr/>
              <p:nvPr/>
            </p:nvSpPr>
            <p:spPr>
              <a:xfrm>
                <a:off x="9858569" y="4509118"/>
                <a:ext cx="85681" cy="194761"/>
              </a:xfrm>
              <a:custGeom>
                <a:avLst/>
                <a:gdLst/>
                <a:ahLst/>
                <a:cxnLst/>
                <a:rect l="0" t="0" r="r" b="b"/>
                <a:pathLst>
                  <a:path w="93" h="212" fill="none">
                    <a:moveTo>
                      <a:pt x="0" y="0"/>
                    </a:moveTo>
                    <a:lnTo>
                      <a:pt x="93" y="212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79" name="Flecha 118_2"/>
              <p:cNvSpPr/>
              <p:nvPr/>
            </p:nvSpPr>
            <p:spPr>
              <a:xfrm>
                <a:off x="10571222" y="4201531"/>
                <a:ext cx="310271" cy="217118"/>
              </a:xfrm>
              <a:custGeom>
                <a:avLst/>
                <a:gdLst/>
                <a:ahLst/>
                <a:cxnLst/>
                <a:rect l="0" t="0" r="r" b="b"/>
                <a:pathLst>
                  <a:path w="339" h="237" fill="none">
                    <a:moveTo>
                      <a:pt x="0" y="237"/>
                    </a:moveTo>
                    <a:lnTo>
                      <a:pt x="339" y="0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80" name="Flecha 120_2"/>
              <p:cNvSpPr/>
              <p:nvPr/>
            </p:nvSpPr>
            <p:spPr>
              <a:xfrm>
                <a:off x="10571222" y="4201531"/>
                <a:ext cx="310271" cy="217118"/>
              </a:xfrm>
              <a:custGeom>
                <a:avLst/>
                <a:gdLst/>
                <a:ahLst/>
                <a:cxnLst/>
                <a:rect l="0" t="0" r="r" b="b"/>
                <a:pathLst>
                  <a:path w="339" h="237" fill="none">
                    <a:moveTo>
                      <a:pt x="0" y="237"/>
                    </a:moveTo>
                    <a:lnTo>
                      <a:pt x="339" y="0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81" name="Flecha 122_2"/>
              <p:cNvSpPr/>
              <p:nvPr/>
            </p:nvSpPr>
            <p:spPr>
              <a:xfrm>
                <a:off x="10881493" y="4201531"/>
                <a:ext cx="354384" cy="72519"/>
              </a:xfrm>
              <a:custGeom>
                <a:avLst/>
                <a:gdLst/>
                <a:ahLst/>
                <a:cxnLst/>
                <a:rect l="0" t="0" r="r" b="b"/>
                <a:pathLst>
                  <a:path w="387" h="79" fill="none">
                    <a:moveTo>
                      <a:pt x="0" y="0"/>
                    </a:moveTo>
                    <a:lnTo>
                      <a:pt x="387" y="79"/>
                    </a:lnTo>
                  </a:path>
                </a:pathLst>
              </a:custGeom>
              <a:noFill/>
              <a:ln w="71897" cap="rnd">
                <a:solidFill>
                  <a:srgbClr val="B9B9B9"/>
                </a:solidFill>
                <a:round/>
              </a:ln>
            </p:spPr>
          </p:sp>
          <p:sp>
            <p:nvSpPr>
              <p:cNvPr id="82" name="Flecha 124_2"/>
              <p:cNvSpPr/>
              <p:nvPr/>
            </p:nvSpPr>
            <p:spPr>
              <a:xfrm>
                <a:off x="10881493" y="4201531"/>
                <a:ext cx="354384" cy="72519"/>
              </a:xfrm>
              <a:custGeom>
                <a:avLst/>
                <a:gdLst/>
                <a:ahLst/>
                <a:cxnLst/>
                <a:rect l="0" t="0" r="r" b="b"/>
                <a:pathLst>
                  <a:path w="387" h="79" fill="none">
                    <a:moveTo>
                      <a:pt x="0" y="0"/>
                    </a:moveTo>
                    <a:lnTo>
                      <a:pt x="387" y="79"/>
                    </a:lnTo>
                  </a:path>
                </a:pathLst>
              </a:custGeom>
              <a:noFill/>
              <a:ln w="40442" cap="rnd">
                <a:solidFill>
                  <a:srgbClr val="FFFFFF"/>
                </a:solidFill>
                <a:round/>
              </a:ln>
            </p:spPr>
          </p:sp>
          <p:sp>
            <p:nvSpPr>
              <p:cNvPr id="83" name="Forma 126"/>
              <p:cNvSpPr/>
              <p:nvPr/>
            </p:nvSpPr>
            <p:spPr>
              <a:xfrm>
                <a:off x="9531604" y="4259761"/>
                <a:ext cx="161679" cy="1616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4" name="Forma 127"/>
              <p:cNvSpPr/>
              <p:nvPr/>
            </p:nvSpPr>
            <p:spPr>
              <a:xfrm>
                <a:off x="9719714" y="4711785"/>
                <a:ext cx="161679" cy="1616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5" name="Forma 128"/>
              <p:cNvSpPr/>
              <p:nvPr/>
            </p:nvSpPr>
            <p:spPr>
              <a:xfrm>
                <a:off x="9863410" y="4623039"/>
                <a:ext cx="161679" cy="1616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6" name="Forma 129"/>
              <p:cNvSpPr/>
              <p:nvPr/>
            </p:nvSpPr>
            <p:spPr>
              <a:xfrm>
                <a:off x="10046827" y="4192865"/>
                <a:ext cx="260772" cy="2607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7" name="Forma 130"/>
              <p:cNvSpPr/>
              <p:nvPr/>
            </p:nvSpPr>
            <p:spPr>
              <a:xfrm>
                <a:off x="9728183" y="4378731"/>
                <a:ext cx="260772" cy="2607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8" name="Forma 131"/>
              <p:cNvSpPr/>
              <p:nvPr/>
            </p:nvSpPr>
            <p:spPr>
              <a:xfrm>
                <a:off x="10056844" y="3855229"/>
                <a:ext cx="260772" cy="2607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9" name="Forma 132"/>
              <p:cNvSpPr/>
              <p:nvPr/>
            </p:nvSpPr>
            <p:spPr>
              <a:xfrm>
                <a:off x="10751107" y="4071145"/>
                <a:ext cx="260772" cy="2607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0" name="Forma 133"/>
              <p:cNvSpPr/>
              <p:nvPr/>
            </p:nvSpPr>
            <p:spPr>
              <a:xfrm>
                <a:off x="11105490" y="4143664"/>
                <a:ext cx="260772" cy="2607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1" name="Forma 134"/>
              <p:cNvSpPr/>
              <p:nvPr/>
            </p:nvSpPr>
            <p:spPr>
              <a:xfrm>
                <a:off x="10427797" y="4275224"/>
                <a:ext cx="286850" cy="28685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7DE6C"/>
                  </a:gs>
                  <a:gs pos="75000">
                    <a:srgbClr val="F5D33C"/>
                  </a:gs>
                  <a:gs pos="100000">
                    <a:srgbClr val="AB932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</p:grpSp>
      <p:sp>
        <p:nvSpPr>
          <p:cNvPr id="92" name="Nota morph"/>
          <p:cNvSpPr/>
          <p:nvPr/>
        </p:nvSpPr>
        <p:spPr>
          <a:xfrm>
            <a:off x="8503920" y="5486400"/>
            <a:ext cx="3474720" cy="10515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objetos con prefijo </a:t>
            </a:r>
            <a:r>
              <a:rPr lang="es-AR" sz="17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!!</a:t>
            </a:r>
            <a:r>
              <a:rPr lang="es-AR" sz="17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se conservan entre diapositivas para la transición </a:t>
            </a:r>
            <a:r>
              <a:rPr lang="es-AR" sz="17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Morph</a:t>
            </a:r>
            <a:r>
              <a:rPr lang="es-AR" sz="17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7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5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CÓDIGO VISUAL DE LA PRESENTACIÓN</a:t>
            </a:r>
            <a:endParaRPr lang="es-AR" sz="25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8888625" y="182880"/>
            <a:ext cx="302875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BIOQUÍMICA CLÍNICA Y METABOLISMO</a:t>
            </a:r>
            <a:endParaRPr lang="es-AR" sz="1250" dirty="0">
              <a:latin typeface="Calibri"/>
            </a:endParaRPr>
          </a:p>
        </p:txBody>
      </p:sp>
      <p:sp>
        <p:nvSpPr>
          <p:cNvPr id="9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4" name="Unidad"/>
          <p:cNvSpPr/>
          <p:nvPr/>
        </p:nvSpPr>
        <p:spPr>
          <a:xfrm>
            <a:off x="457200" y="411480"/>
            <a:ext cx="1318221" cy="41910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</a:t>
            </a:r>
            <a:endParaRPr lang="es-AR" sz="2000" dirty="0">
              <a:latin typeface="Calibri"/>
            </a:endParaRPr>
          </a:p>
        </p:txBody>
      </p:sp>
      <p:sp>
        <p:nvSpPr>
          <p:cNvPr id="5" name="Título unidad"/>
          <p:cNvSpPr txBox="1"/>
          <p:nvPr/>
        </p:nvSpPr>
        <p:spPr>
          <a:xfrm>
            <a:off x="365760" y="96012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"/>
              </a:lnSpc>
              <a:spcAft>
                <a:spcPts val="300"/>
              </a:spcAft>
              <a:buNone/>
            </a:pPr>
            <a:r>
              <a:rPr lang="es-AR" sz="3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VARIABLES BIOQUÍMICAS Y FUNDAMENTOS DEL LABORATORIO CLÍNICO</a:t>
            </a:r>
            <a:endParaRPr lang="es-AR" sz="3400" dirty="0">
              <a:latin typeface="Segoe Print"/>
            </a:endParaRPr>
          </a:p>
        </p:txBody>
      </p:sp>
      <p:sp>
        <p:nvSpPr>
          <p:cNvPr id="6" name="Subtítulo unidad"/>
          <p:cNvSpPr txBox="1"/>
          <p:nvPr/>
        </p:nvSpPr>
        <p:spPr>
          <a:xfrm>
            <a:off x="411480" y="33832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Qué se mide, en qué muestra, con qué unidad y cómo se interpreta</a:t>
            </a:r>
            <a:endParaRPr lang="es-AR" sz="1800" dirty="0">
              <a:latin typeface="Calibri"/>
            </a:endParaRPr>
          </a:p>
        </p:txBody>
      </p:sp>
      <p:grpSp>
        <p:nvGrpSpPr>
          <p:cNvPr id="7" name="Temario"/>
          <p:cNvGrpSpPr/>
          <p:nvPr/>
        </p:nvGrpSpPr>
        <p:grpSpPr>
          <a:xfrm>
            <a:off x="411480" y="4023360"/>
            <a:ext cx="5486400" cy="2514600"/>
            <a:chOff x="411480" y="4023360"/>
            <a:chExt cx="5486400" cy="2514600"/>
          </a:xfrm>
        </p:grpSpPr>
        <p:sp>
          <p:nvSpPr>
            <p:cNvPr id="8" name="Forma 7"/>
            <p:cNvSpPr/>
            <p:nvPr/>
          </p:nvSpPr>
          <p:spPr>
            <a:xfrm>
              <a:off x="41148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Variables bioquímicas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Composición de la sangre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Unidades de medida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 y plasma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Sensibilidad y especificidad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320040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Valores predictivos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Precisión y exactitud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Intervalos de referencia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Control de calidad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0" name="Arte unidad I"/>
          <p:cNvGrpSpPr/>
          <p:nvPr/>
        </p:nvGrpSpPr>
        <p:grpSpPr>
          <a:xfrm>
            <a:off x="6217920" y="548640"/>
            <a:ext cx="5786323" cy="5769523"/>
            <a:chOff x="6217920" y="548640"/>
            <a:chExt cx="5786323" cy="5769523"/>
          </a:xfrm>
        </p:grpSpPr>
        <p:grpSp>
          <p:nvGrpSpPr>
            <p:cNvPr id="11" name="Brazo div"/>
            <p:cNvGrpSpPr/>
            <p:nvPr/>
          </p:nvGrpSpPr>
          <p:grpSpPr>
            <a:xfrm>
              <a:off x="6217920" y="548640"/>
              <a:ext cx="3840480" cy="1613002"/>
              <a:chOff x="6217920" y="548640"/>
              <a:chExt cx="3840480" cy="1613002"/>
            </a:xfrm>
          </p:grpSpPr>
          <p:sp>
            <p:nvSpPr>
              <p:cNvPr id="12" name="Forma 11"/>
              <p:cNvSpPr/>
              <p:nvPr/>
            </p:nvSpPr>
            <p:spPr>
              <a:xfrm>
                <a:off x="6217920" y="548640"/>
                <a:ext cx="3840480" cy="161300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250"/>
                    </a:moveTo>
                    <a:cubicBezTo>
                      <a:pt x="30" y="192"/>
                      <a:pt x="238" y="202"/>
                      <a:pt x="300" y="200"/>
                    </a:cubicBezTo>
                    <a:cubicBezTo>
                      <a:pt x="362" y="198"/>
                      <a:pt x="560" y="220"/>
                      <a:pt x="620" y="230"/>
                    </a:cubicBezTo>
                    <a:cubicBezTo>
                      <a:pt x="680" y="240"/>
                      <a:pt x="862" y="281"/>
                      <a:pt x="900" y="300"/>
                    </a:cubicBezTo>
                    <a:cubicBezTo>
                      <a:pt x="938" y="319"/>
                      <a:pt x="992" y="380"/>
                      <a:pt x="1000" y="420"/>
                    </a:cubicBezTo>
                    <a:cubicBezTo>
                      <a:pt x="1008" y="460"/>
                      <a:pt x="992" y="662"/>
                      <a:pt x="980" y="700"/>
                    </a:cubicBezTo>
                    <a:cubicBezTo>
                      <a:pt x="968" y="738"/>
                      <a:pt x="918" y="793"/>
                      <a:pt x="880" y="800"/>
                    </a:cubicBezTo>
                    <a:cubicBezTo>
                      <a:pt x="842" y="807"/>
                      <a:pt x="658" y="770"/>
                      <a:pt x="600" y="770"/>
                    </a:cubicBezTo>
                    <a:cubicBezTo>
                      <a:pt x="542" y="770"/>
                      <a:pt x="360" y="799"/>
                      <a:pt x="300" y="800"/>
                    </a:cubicBezTo>
                    <a:cubicBezTo>
                      <a:pt x="240" y="801"/>
                      <a:pt x="30" y="835"/>
                      <a:pt x="0" y="780"/>
                    </a:cubicBezTo>
                    <a:cubicBezTo>
                      <a:pt x="-30" y="725"/>
                      <a:pt x="-30" y="308"/>
                      <a:pt x="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8DDC5"/>
                  </a:gs>
                  <a:gs pos="55000">
                    <a:srgbClr val="F5CBA7"/>
                  </a:gs>
                  <a:gs pos="100000">
                    <a:srgbClr val="C8A68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A0522D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3" name="Forma 12"/>
              <p:cNvSpPr/>
              <p:nvPr/>
            </p:nvSpPr>
            <p:spPr>
              <a:xfrm>
                <a:off x="6217920" y="548640"/>
                <a:ext cx="3840480" cy="161300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0" y="520"/>
                    </a:moveTo>
                    <a:cubicBezTo>
                      <a:pt x="300" y="470"/>
                      <a:pt x="520" y="560"/>
                      <a:pt x="760" y="520"/>
                    </a:cubicBezTo>
                    <a:cubicBezTo>
                      <a:pt x="860" y="505"/>
                      <a:pt x="930" y="520"/>
                      <a:pt x="990" y="560"/>
                    </a:cubicBezTo>
                  </a:path>
                </a:pathLst>
              </a:custGeom>
              <a:noFill/>
              <a:ln w="57150" cap="rnd">
                <a:solidFill>
                  <a:srgbClr val="5B7DB1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6217920" y="548640"/>
                <a:ext cx="3840480" cy="161300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0" y="520"/>
                    </a:moveTo>
                    <a:cubicBezTo>
                      <a:pt x="300" y="470"/>
                      <a:pt x="520" y="560"/>
                      <a:pt x="760" y="520"/>
                    </a:cubicBezTo>
                    <a:cubicBezTo>
                      <a:pt x="860" y="505"/>
                      <a:pt x="930" y="520"/>
                      <a:pt x="990" y="560"/>
                    </a:cubicBezTo>
                  </a:path>
                </a:pathLst>
              </a:custGeom>
              <a:noFill/>
              <a:ln w="25400" cap="rnd">
                <a:solidFill>
                  <a:srgbClr val="85A5D6"/>
                </a:solidFill>
                <a:round/>
              </a:ln>
            </p:spPr>
          </p:sp>
        </p:grpSp>
        <p:grpSp>
          <p:nvGrpSpPr>
            <p:cNvPr id="15" name="Jeringa div"/>
            <p:cNvGrpSpPr/>
            <p:nvPr/>
          </p:nvGrpSpPr>
          <p:grpSpPr>
            <a:xfrm>
              <a:off x="8778240" y="595274"/>
              <a:ext cx="2743200" cy="784555"/>
              <a:chOff x="8778240" y="595274"/>
              <a:chExt cx="2743200" cy="784555"/>
            </a:xfrm>
          </p:grpSpPr>
          <p:sp>
            <p:nvSpPr>
              <p:cNvPr id="16" name="Cilindro"/>
              <p:cNvSpPr/>
              <p:nvPr/>
            </p:nvSpPr>
            <p:spPr>
              <a:xfrm>
                <a:off x="9189720" y="685800"/>
                <a:ext cx="1700784" cy="603504"/>
              </a:xfrm>
              <a:prstGeom prst="rect">
                <a:avLst/>
              </a:prstGeom>
              <a:solidFill>
                <a:srgbClr val="EAF2FA">
                  <a:alpha val="60000"/>
                </a:srgbClr>
              </a:solidFill>
              <a:ln w="19050" cap="rnd">
                <a:solidFill>
                  <a:srgbClr val="5D6D7E"/>
                </a:solidFill>
                <a:round/>
              </a:ln>
            </p:spPr>
          </p:sp>
          <p:sp>
            <p:nvSpPr>
              <p:cNvPr id="17" name="Sangre"/>
              <p:cNvSpPr/>
              <p:nvPr/>
            </p:nvSpPr>
            <p:spPr>
              <a:xfrm>
                <a:off x="9699955" y="746150"/>
                <a:ext cx="1190549" cy="482803"/>
              </a:xfrm>
              <a:prstGeom prst="rect">
                <a:avLst/>
              </a:prstGeom>
              <a:gradFill rotWithShape="1">
                <a:gsLst>
                  <a:gs pos="0">
                    <a:srgbClr val="C96761"/>
                  </a:gs>
                  <a:gs pos="55000">
                    <a:srgbClr val="B3261E"/>
                  </a:gs>
                  <a:gs pos="100000">
                    <a:srgbClr val="8F1E18"/>
                  </a:gs>
                </a:gsLst>
                <a:path path="circle">
                  <a:fillToRect l="32000" t="28000" r="68000" b="72000"/>
                </a:path>
              </a:gradFill>
              <a:ln>
                <a:noFill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8778240" y="595274"/>
                <a:ext cx="109728" cy="784555"/>
              </a:xfrm>
              <a:prstGeom prst="rect">
                <a:avLst/>
              </a:prstGeom>
              <a:solidFill>
                <a:srgbClr val="7F8C8D"/>
              </a:solidFill>
              <a:ln w="12700" cap="rnd">
                <a:solidFill>
                  <a:srgbClr val="34495E"/>
                </a:solidFill>
                <a:round/>
              </a:ln>
            </p:spPr>
          </p:sp>
          <p:sp>
            <p:nvSpPr>
              <p:cNvPr id="19" name="Forma 18"/>
              <p:cNvSpPr/>
              <p:nvPr/>
            </p:nvSpPr>
            <p:spPr>
              <a:xfrm>
                <a:off x="8860536" y="927202"/>
                <a:ext cx="356616" cy="120701"/>
              </a:xfrm>
              <a:prstGeom prst="rect">
                <a:avLst/>
              </a:prstGeom>
              <a:solidFill>
                <a:srgbClr val="BDC3C7"/>
              </a:solidFill>
              <a:ln w="9525" cap="rnd">
                <a:solidFill>
                  <a:srgbClr val="34495E"/>
                </a:solidFill>
                <a:round/>
              </a:ln>
            </p:spPr>
          </p:sp>
          <p:sp>
            <p:nvSpPr>
              <p:cNvPr id="20" name="Forma 19"/>
              <p:cNvSpPr/>
              <p:nvPr/>
            </p:nvSpPr>
            <p:spPr>
              <a:xfrm>
                <a:off x="10890504" y="866851"/>
                <a:ext cx="164592" cy="241402"/>
              </a:xfrm>
              <a:prstGeom prst="rect">
                <a:avLst/>
              </a:prstGeom>
              <a:solidFill>
                <a:srgbClr val="D5DBDB"/>
              </a:solidFill>
              <a:ln w="9525" cap="rnd">
                <a:solidFill>
                  <a:srgbClr val="34495E"/>
                </a:solidFill>
                <a:round/>
              </a:ln>
            </p:spPr>
          </p:sp>
          <p:sp>
            <p:nvSpPr>
              <p:cNvPr id="21" name="Flecha 20_2"/>
              <p:cNvSpPr/>
              <p:nvPr/>
            </p:nvSpPr>
            <p:spPr>
              <a:xfrm>
                <a:off x="11055096" y="987552"/>
                <a:ext cx="466344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509" h="10" fill="none">
                    <a:moveTo>
                      <a:pt x="0" y="0"/>
                    </a:moveTo>
                    <a:lnTo>
                      <a:pt x="509" y="0"/>
                    </a:lnTo>
                  </a:path>
                </a:pathLst>
              </a:custGeom>
              <a:noFill/>
              <a:ln w="19050" cap="rnd">
                <a:solidFill>
                  <a:srgbClr val="7F8C8D"/>
                </a:solidFill>
                <a:round/>
              </a:ln>
            </p:spPr>
          </p:sp>
          <p:sp>
            <p:nvSpPr>
              <p:cNvPr id="22" name="Flecha 22_2"/>
              <p:cNvSpPr/>
              <p:nvPr/>
            </p:nvSpPr>
            <p:spPr>
              <a:xfrm>
                <a:off x="9601200" y="685800"/>
                <a:ext cx="9144" cy="1810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197" fill="none">
                    <a:moveTo>
                      <a:pt x="0" y="0"/>
                    </a:moveTo>
                    <a:lnTo>
                      <a:pt x="0" y="197"/>
                    </a:lnTo>
                  </a:path>
                </a:pathLst>
              </a:custGeom>
              <a:noFill/>
              <a:ln w="9525" cap="rnd">
                <a:solidFill>
                  <a:srgbClr val="5D6D7E"/>
                </a:solidFill>
                <a:round/>
              </a:ln>
            </p:spPr>
          </p:sp>
          <p:sp>
            <p:nvSpPr>
              <p:cNvPr id="23" name="Flecha 24_2"/>
              <p:cNvSpPr/>
              <p:nvPr/>
            </p:nvSpPr>
            <p:spPr>
              <a:xfrm>
                <a:off x="9875520" y="685800"/>
                <a:ext cx="9144" cy="1810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197" fill="none">
                    <a:moveTo>
                      <a:pt x="0" y="0"/>
                    </a:moveTo>
                    <a:lnTo>
                      <a:pt x="0" y="197"/>
                    </a:lnTo>
                  </a:path>
                </a:pathLst>
              </a:custGeom>
              <a:noFill/>
              <a:ln w="9525" cap="rnd">
                <a:solidFill>
                  <a:srgbClr val="5D6D7E"/>
                </a:solidFill>
                <a:round/>
              </a:ln>
            </p:spPr>
          </p:sp>
          <p:sp>
            <p:nvSpPr>
              <p:cNvPr id="24" name="Flecha 26_2"/>
              <p:cNvSpPr/>
              <p:nvPr/>
            </p:nvSpPr>
            <p:spPr>
              <a:xfrm>
                <a:off x="10149840" y="685800"/>
                <a:ext cx="9144" cy="1810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197" fill="none">
                    <a:moveTo>
                      <a:pt x="0" y="0"/>
                    </a:moveTo>
                    <a:lnTo>
                      <a:pt x="0" y="197"/>
                    </a:lnTo>
                  </a:path>
                </a:pathLst>
              </a:custGeom>
              <a:noFill/>
              <a:ln w="9525" cap="rnd">
                <a:solidFill>
                  <a:srgbClr val="5D6D7E"/>
                </a:solidFill>
                <a:round/>
              </a:ln>
            </p:spPr>
          </p:sp>
          <p:sp>
            <p:nvSpPr>
              <p:cNvPr id="25" name="Flecha 28_2"/>
              <p:cNvSpPr/>
              <p:nvPr/>
            </p:nvSpPr>
            <p:spPr>
              <a:xfrm>
                <a:off x="10424160" y="685800"/>
                <a:ext cx="9144" cy="1810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197" fill="none">
                    <a:moveTo>
                      <a:pt x="0" y="0"/>
                    </a:moveTo>
                    <a:lnTo>
                      <a:pt x="0" y="197"/>
                    </a:lnTo>
                  </a:path>
                </a:pathLst>
              </a:custGeom>
              <a:noFill/>
              <a:ln w="9525" cap="rnd">
                <a:solidFill>
                  <a:srgbClr val="5D6D7E"/>
                </a:solidFill>
                <a:round/>
              </a:ln>
            </p:spPr>
          </p:sp>
          <p:sp>
            <p:nvSpPr>
              <p:cNvPr id="26" name="Flecha 30_2"/>
              <p:cNvSpPr/>
              <p:nvPr/>
            </p:nvSpPr>
            <p:spPr>
              <a:xfrm>
                <a:off x="10698480" y="685800"/>
                <a:ext cx="9144" cy="1810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197" fill="none">
                    <a:moveTo>
                      <a:pt x="0" y="0"/>
                    </a:moveTo>
                    <a:lnTo>
                      <a:pt x="0" y="197"/>
                    </a:lnTo>
                  </a:path>
                </a:pathLst>
              </a:custGeom>
              <a:noFill/>
              <a:ln w="9525" cap="rnd">
                <a:solidFill>
                  <a:srgbClr val="5D6D7E"/>
                </a:solidFill>
                <a:round/>
              </a:ln>
            </p:spPr>
          </p:sp>
        </p:grpSp>
        <p:grpSp>
          <p:nvGrpSpPr>
            <p:cNvPr id="27" name="Tubo div 0"/>
            <p:cNvGrpSpPr/>
            <p:nvPr/>
          </p:nvGrpSpPr>
          <p:grpSpPr>
            <a:xfrm>
              <a:off x="6539789" y="2743200"/>
              <a:ext cx="636422" cy="2377440"/>
              <a:chOff x="6539789" y="2743200"/>
              <a:chExt cx="636422" cy="2377440"/>
            </a:xfrm>
          </p:grpSpPr>
          <p:sp>
            <p:nvSpPr>
              <p:cNvPr id="28" name="Vidrio"/>
              <p:cNvSpPr/>
              <p:nvPr/>
            </p:nvSpPr>
            <p:spPr>
              <a:xfrm>
                <a:off x="6583680" y="2980944"/>
                <a:ext cx="548640" cy="21396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9" name="Tapón"/>
              <p:cNvSpPr/>
              <p:nvPr/>
            </p:nvSpPr>
            <p:spPr>
              <a:xfrm>
                <a:off x="6539789" y="2743200"/>
                <a:ext cx="636422" cy="285293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30" name="Brillo"/>
              <p:cNvSpPr/>
              <p:nvPr/>
            </p:nvSpPr>
            <p:spPr>
              <a:xfrm>
                <a:off x="6660490" y="3123590"/>
                <a:ext cx="65837" cy="166420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1" name="R0"/>
            <p:cNvSpPr/>
            <p:nvPr/>
          </p:nvSpPr>
          <p:spPr>
            <a:xfrm>
              <a:off x="6611112" y="4074566"/>
              <a:ext cx="493776" cy="998525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32" name="P0"/>
            <p:cNvSpPr/>
            <p:nvPr/>
          </p:nvSpPr>
          <p:spPr>
            <a:xfrm>
              <a:off x="6611112" y="3435511"/>
              <a:ext cx="493776" cy="639056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grpSp>
          <p:nvGrpSpPr>
            <p:cNvPr id="33" name="Tubo div 1"/>
            <p:cNvGrpSpPr/>
            <p:nvPr/>
          </p:nvGrpSpPr>
          <p:grpSpPr>
            <a:xfrm>
              <a:off x="7499909" y="2743200"/>
              <a:ext cx="636422" cy="2377440"/>
              <a:chOff x="7499909" y="2743200"/>
              <a:chExt cx="636422" cy="2377440"/>
            </a:xfrm>
          </p:grpSpPr>
          <p:sp>
            <p:nvSpPr>
              <p:cNvPr id="34" name="Vidrio_2"/>
              <p:cNvSpPr/>
              <p:nvPr/>
            </p:nvSpPr>
            <p:spPr>
              <a:xfrm>
                <a:off x="7543800" y="2980944"/>
                <a:ext cx="548640" cy="21396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5" name="Tapón_2"/>
              <p:cNvSpPr/>
              <p:nvPr/>
            </p:nvSpPr>
            <p:spPr>
              <a:xfrm>
                <a:off x="7499909" y="2743200"/>
                <a:ext cx="636422" cy="285293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36" name="Brillo_2"/>
              <p:cNvSpPr/>
              <p:nvPr/>
            </p:nvSpPr>
            <p:spPr>
              <a:xfrm>
                <a:off x="7620610" y="3123590"/>
                <a:ext cx="65837" cy="166420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7" name="R1"/>
            <p:cNvSpPr/>
            <p:nvPr/>
          </p:nvSpPr>
          <p:spPr>
            <a:xfrm>
              <a:off x="7571232" y="3435511"/>
              <a:ext cx="493776" cy="163758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grpSp>
          <p:nvGrpSpPr>
            <p:cNvPr id="38" name="Tubo div 2"/>
            <p:cNvGrpSpPr/>
            <p:nvPr/>
          </p:nvGrpSpPr>
          <p:grpSpPr>
            <a:xfrm>
              <a:off x="8460029" y="2743200"/>
              <a:ext cx="636422" cy="2377440"/>
              <a:chOff x="8460029" y="2743200"/>
              <a:chExt cx="636422" cy="2377440"/>
            </a:xfrm>
          </p:grpSpPr>
          <p:sp>
            <p:nvSpPr>
              <p:cNvPr id="39" name="Vidrio_3"/>
              <p:cNvSpPr/>
              <p:nvPr/>
            </p:nvSpPr>
            <p:spPr>
              <a:xfrm>
                <a:off x="8503920" y="2980944"/>
                <a:ext cx="548640" cy="21396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0" name="Tapón_3"/>
              <p:cNvSpPr/>
              <p:nvPr/>
            </p:nvSpPr>
            <p:spPr>
              <a:xfrm>
                <a:off x="8460029" y="2743200"/>
                <a:ext cx="636422" cy="285293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72CA97"/>
                  </a:gs>
                  <a:gs pos="55000">
                    <a:srgbClr val="27AE60"/>
                  </a:gs>
                  <a:gs pos="100000">
                    <a:srgbClr val="1B7943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135730"/>
                </a:solidFill>
                <a:round/>
              </a:ln>
            </p:spPr>
          </p:sp>
          <p:sp>
            <p:nvSpPr>
              <p:cNvPr id="41" name="Brillo_3"/>
              <p:cNvSpPr/>
              <p:nvPr/>
            </p:nvSpPr>
            <p:spPr>
              <a:xfrm>
                <a:off x="8580730" y="3123590"/>
                <a:ext cx="65837" cy="166420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42" name="R2"/>
            <p:cNvSpPr/>
            <p:nvPr/>
          </p:nvSpPr>
          <p:spPr>
            <a:xfrm>
              <a:off x="8531352" y="4174419"/>
              <a:ext cx="493776" cy="89867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43" name="P2"/>
            <p:cNvSpPr/>
            <p:nvPr/>
          </p:nvSpPr>
          <p:spPr>
            <a:xfrm>
              <a:off x="8531352" y="3435511"/>
              <a:ext cx="493776" cy="738908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grpSp>
          <p:nvGrpSpPr>
            <p:cNvPr id="44" name="Tubo div 3"/>
            <p:cNvGrpSpPr/>
            <p:nvPr/>
          </p:nvGrpSpPr>
          <p:grpSpPr>
            <a:xfrm>
              <a:off x="9420149" y="2743200"/>
              <a:ext cx="636422" cy="2377440"/>
              <a:chOff x="9420149" y="2743200"/>
              <a:chExt cx="636422" cy="2377440"/>
            </a:xfrm>
          </p:grpSpPr>
          <p:sp>
            <p:nvSpPr>
              <p:cNvPr id="45" name="Vidrio_4"/>
              <p:cNvSpPr/>
              <p:nvPr/>
            </p:nvSpPr>
            <p:spPr>
              <a:xfrm>
                <a:off x="9464040" y="2980944"/>
                <a:ext cx="548640" cy="21396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6" name="Tapón_4"/>
              <p:cNvSpPr/>
              <p:nvPr/>
            </p:nvSpPr>
            <p:spPr>
              <a:xfrm>
                <a:off x="9420149" y="2743200"/>
                <a:ext cx="636422" cy="285293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F5D863"/>
                  </a:gs>
                  <a:gs pos="55000">
                    <a:srgbClr val="F1C40F"/>
                  </a:gs>
                  <a:gs pos="100000">
                    <a:srgbClr val="A8890A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86207"/>
                </a:solidFill>
                <a:round/>
              </a:ln>
            </p:spPr>
          </p:sp>
          <p:sp>
            <p:nvSpPr>
              <p:cNvPr id="47" name="Brillo_4"/>
              <p:cNvSpPr/>
              <p:nvPr/>
            </p:nvSpPr>
            <p:spPr>
              <a:xfrm>
                <a:off x="9540850" y="3123590"/>
                <a:ext cx="65837" cy="166420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48" name="R3"/>
            <p:cNvSpPr/>
            <p:nvPr/>
          </p:nvSpPr>
          <p:spPr>
            <a:xfrm>
              <a:off x="9491472" y="3435511"/>
              <a:ext cx="493776" cy="163758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grpSp>
          <p:nvGrpSpPr>
            <p:cNvPr id="49" name="Centrífuga div"/>
            <p:cNvGrpSpPr/>
            <p:nvPr/>
          </p:nvGrpSpPr>
          <p:grpSpPr>
            <a:xfrm>
              <a:off x="10307117" y="2926080"/>
              <a:ext cx="1697126" cy="1711757"/>
              <a:chOff x="10307117" y="2926080"/>
              <a:chExt cx="1697126" cy="1711757"/>
            </a:xfrm>
          </p:grpSpPr>
          <p:sp>
            <p:nvSpPr>
              <p:cNvPr id="50" name="Forma 55"/>
              <p:cNvSpPr/>
              <p:nvPr/>
            </p:nvSpPr>
            <p:spPr>
              <a:xfrm>
                <a:off x="10307117" y="3730752"/>
                <a:ext cx="1697126" cy="907085"/>
              </a:xfrm>
              <a:prstGeom prst="roundRect">
                <a:avLst>
                  <a:gd name="adj" fmla="val 12000"/>
                </a:avLst>
              </a:prstGeom>
              <a:gradFill rotWithShape="1">
                <a:gsLst>
                  <a:gs pos="0">
                    <a:srgbClr val="CFD8DC"/>
                  </a:gs>
                  <a:gs pos="55000">
                    <a:srgbClr val="B0BEC5"/>
                  </a:gs>
                  <a:gs pos="100000">
                    <a:srgbClr val="7B8589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37474F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51" name="Rotor"/>
              <p:cNvSpPr/>
              <p:nvPr/>
            </p:nvSpPr>
            <p:spPr>
              <a:xfrm>
                <a:off x="10424160" y="2926080"/>
                <a:ext cx="1463040" cy="1463040"/>
              </a:xfrm>
              <a:prstGeom prst="ellipse">
                <a:avLst/>
              </a:prstGeom>
              <a:gradFill rotWithShape="1">
                <a:gsLst>
                  <a:gs pos="0">
                    <a:srgbClr val="F1F3F5"/>
                  </a:gs>
                  <a:gs pos="55000">
                    <a:srgbClr val="ECEFF1"/>
                  </a:gs>
                  <a:gs pos="100000">
                    <a:srgbClr val="B1B3B4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37474F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52" name="Forma 57"/>
              <p:cNvSpPr/>
              <p:nvPr/>
            </p:nvSpPr>
            <p:spPr>
              <a:xfrm>
                <a:off x="10980115" y="3482035"/>
                <a:ext cx="351130" cy="351130"/>
              </a:xfrm>
              <a:prstGeom prst="ellipse">
                <a:avLst/>
              </a:prstGeom>
              <a:gradFill rotWithShape="1">
                <a:gsLst>
                  <a:gs pos="0">
                    <a:srgbClr val="A0B1B9"/>
                  </a:gs>
                  <a:gs pos="55000">
                    <a:srgbClr val="78909C"/>
                  </a:gs>
                  <a:gs pos="100000">
                    <a:srgbClr val="54646D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263238"/>
                </a:solidFill>
                <a:round/>
              </a:ln>
            </p:spPr>
          </p:sp>
          <p:sp>
            <p:nvSpPr>
              <p:cNvPr id="53" name="Forma 58"/>
              <p:cNvSpPr/>
              <p:nvPr/>
            </p:nvSpPr>
            <p:spPr>
              <a:xfrm>
                <a:off x="11521440" y="3555187"/>
                <a:ext cx="204826" cy="204826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54" name="Forma 59"/>
              <p:cNvSpPr/>
              <p:nvPr/>
            </p:nvSpPr>
            <p:spPr>
              <a:xfrm>
                <a:off x="11287354" y="3960637"/>
                <a:ext cx="204826" cy="204826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55" name="Forma 60"/>
              <p:cNvSpPr/>
              <p:nvPr/>
            </p:nvSpPr>
            <p:spPr>
              <a:xfrm>
                <a:off x="10819181" y="3960637"/>
                <a:ext cx="204826" cy="204826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56" name="Forma 61"/>
              <p:cNvSpPr/>
              <p:nvPr/>
            </p:nvSpPr>
            <p:spPr>
              <a:xfrm>
                <a:off x="10585094" y="3555187"/>
                <a:ext cx="204826" cy="204826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57" name="Forma 62"/>
              <p:cNvSpPr/>
              <p:nvPr/>
            </p:nvSpPr>
            <p:spPr>
              <a:xfrm>
                <a:off x="10819181" y="3149738"/>
                <a:ext cx="204826" cy="204826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58" name="Forma 63"/>
              <p:cNvSpPr/>
              <p:nvPr/>
            </p:nvSpPr>
            <p:spPr>
              <a:xfrm>
                <a:off x="11287354" y="3149738"/>
                <a:ext cx="204826" cy="204826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59" name="Forma 64"/>
              <p:cNvSpPr/>
              <p:nvPr/>
            </p:nvSpPr>
            <p:spPr>
              <a:xfrm>
                <a:off x="10789920" y="4389120"/>
                <a:ext cx="731520" cy="146304"/>
              </a:xfrm>
              <a:prstGeom prst="roundRect">
                <a:avLst>
                  <a:gd name="adj" fmla="val 50000"/>
                </a:avLst>
              </a:prstGeom>
              <a:solidFill>
                <a:srgbClr val="263238"/>
              </a:solidFill>
              <a:ln>
                <a:noFill/>
              </a:ln>
            </p:spPr>
          </p:sp>
        </p:grpSp>
        <p:grpSp>
          <p:nvGrpSpPr>
            <p:cNvPr id="60" name="Diana div"/>
            <p:cNvGrpSpPr/>
            <p:nvPr/>
          </p:nvGrpSpPr>
          <p:grpSpPr>
            <a:xfrm>
              <a:off x="10515600" y="4937760"/>
              <a:ext cx="1371600" cy="1371600"/>
              <a:chOff x="10515600" y="4937760"/>
              <a:chExt cx="1371600" cy="1371600"/>
            </a:xfrm>
          </p:grpSpPr>
          <p:sp>
            <p:nvSpPr>
              <p:cNvPr id="61" name="Forma 66"/>
              <p:cNvSpPr/>
              <p:nvPr/>
            </p:nvSpPr>
            <p:spPr>
              <a:xfrm>
                <a:off x="10515600" y="4937760"/>
                <a:ext cx="1371600" cy="1371600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62" name="Forma 67"/>
              <p:cNvSpPr/>
              <p:nvPr/>
            </p:nvSpPr>
            <p:spPr>
              <a:xfrm>
                <a:off x="10652760" y="5074920"/>
                <a:ext cx="1097280" cy="1097280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63" name="Forma 68"/>
              <p:cNvSpPr/>
              <p:nvPr/>
            </p:nvSpPr>
            <p:spPr>
              <a:xfrm>
                <a:off x="10789920" y="5212080"/>
                <a:ext cx="822960" cy="822960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64" name="Forma 69"/>
              <p:cNvSpPr/>
              <p:nvPr/>
            </p:nvSpPr>
            <p:spPr>
              <a:xfrm>
                <a:off x="10927080" y="5349240"/>
                <a:ext cx="548640" cy="548640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65" name="Forma 70"/>
              <p:cNvSpPr/>
              <p:nvPr/>
            </p:nvSpPr>
            <p:spPr>
              <a:xfrm>
                <a:off x="11064240" y="5486400"/>
                <a:ext cx="274320" cy="274320"/>
              </a:xfrm>
              <a:prstGeom prst="ellipse">
                <a:avLst/>
              </a:prstGeom>
              <a:solidFill>
                <a:srgbClr val="C00000"/>
              </a:solidFill>
              <a:ln w="15875" cap="rnd">
                <a:solidFill>
                  <a:srgbClr val="1E1E1E"/>
                </a:solidFill>
                <a:round/>
              </a:ln>
            </p:spPr>
          </p:sp>
        </p:grpSp>
        <p:sp>
          <p:nvSpPr>
            <p:cNvPr id="66" name="Impacto 1"/>
            <p:cNvSpPr/>
            <p:nvPr/>
          </p:nvSpPr>
          <p:spPr>
            <a:xfrm>
              <a:off x="11162538" y="5522976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67" name="Impacto 2"/>
            <p:cNvSpPr/>
            <p:nvPr/>
          </p:nvSpPr>
          <p:spPr>
            <a:xfrm>
              <a:off x="11087100" y="5584698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68" name="Impacto 3"/>
            <p:cNvSpPr/>
            <p:nvPr/>
          </p:nvSpPr>
          <p:spPr>
            <a:xfrm>
              <a:off x="11148822" y="5591556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grpSp>
          <p:nvGrpSpPr>
            <p:cNvPr id="69" name="Glucosa div"/>
            <p:cNvGrpSpPr/>
            <p:nvPr/>
          </p:nvGrpSpPr>
          <p:grpSpPr>
            <a:xfrm>
              <a:off x="6258249" y="5477597"/>
              <a:ext cx="1259591" cy="840566"/>
              <a:chOff x="6258249" y="5477597"/>
              <a:chExt cx="1259591" cy="840566"/>
            </a:xfrm>
          </p:grpSpPr>
          <p:sp>
            <p:nvSpPr>
              <p:cNvPr id="70" name="Flecha 75_2"/>
              <p:cNvSpPr/>
              <p:nvPr/>
            </p:nvSpPr>
            <p:spPr>
              <a:xfrm>
                <a:off x="6709239" y="5908116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0" y="0"/>
                    </a:moveTo>
                    <a:lnTo>
                      <a:pt x="223" y="111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71" name="Flecha 77_2"/>
              <p:cNvSpPr/>
              <p:nvPr/>
            </p:nvSpPr>
            <p:spPr>
              <a:xfrm>
                <a:off x="6709239" y="5908116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0" y="0"/>
                    </a:moveTo>
                    <a:lnTo>
                      <a:pt x="223" y="111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72" name="Flecha 79_2"/>
              <p:cNvSpPr/>
              <p:nvPr/>
            </p:nvSpPr>
            <p:spPr>
              <a:xfrm>
                <a:off x="6913956" y="5908116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0" y="111"/>
                    </a:moveTo>
                    <a:lnTo>
                      <a:pt x="223" y="0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73" name="Flecha 81_2"/>
              <p:cNvSpPr/>
              <p:nvPr/>
            </p:nvSpPr>
            <p:spPr>
              <a:xfrm>
                <a:off x="6913956" y="5908116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0" y="111"/>
                    </a:moveTo>
                    <a:lnTo>
                      <a:pt x="223" y="0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74" name="Flecha 83_2"/>
              <p:cNvSpPr/>
              <p:nvPr/>
            </p:nvSpPr>
            <p:spPr>
              <a:xfrm>
                <a:off x="7118672" y="5682928"/>
                <a:ext cx="9144" cy="2251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6" fill="none">
                    <a:moveTo>
                      <a:pt x="0" y="246"/>
                    </a:moveTo>
                    <a:lnTo>
                      <a:pt x="0" y="0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75" name="Flecha 85_2"/>
              <p:cNvSpPr/>
              <p:nvPr/>
            </p:nvSpPr>
            <p:spPr>
              <a:xfrm>
                <a:off x="7118672" y="5682928"/>
                <a:ext cx="9144" cy="2251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6" fill="none">
                    <a:moveTo>
                      <a:pt x="0" y="246"/>
                    </a:moveTo>
                    <a:lnTo>
                      <a:pt x="0" y="0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76" name="Flecha 87_2"/>
              <p:cNvSpPr/>
              <p:nvPr/>
            </p:nvSpPr>
            <p:spPr>
              <a:xfrm>
                <a:off x="6913956" y="5580570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223" y="111"/>
                    </a:moveTo>
                    <a:lnTo>
                      <a:pt x="0" y="0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77" name="Flecha 89_2"/>
              <p:cNvSpPr/>
              <p:nvPr/>
            </p:nvSpPr>
            <p:spPr>
              <a:xfrm>
                <a:off x="6913956" y="5580570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223" y="111"/>
                    </a:moveTo>
                    <a:lnTo>
                      <a:pt x="0" y="0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78" name="Flecha 91_2"/>
              <p:cNvSpPr/>
              <p:nvPr/>
            </p:nvSpPr>
            <p:spPr>
              <a:xfrm>
                <a:off x="6709239" y="5580570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223" y="0"/>
                    </a:moveTo>
                    <a:lnTo>
                      <a:pt x="0" y="111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79" name="Flecha 93_2"/>
              <p:cNvSpPr/>
              <p:nvPr/>
            </p:nvSpPr>
            <p:spPr>
              <a:xfrm>
                <a:off x="6709239" y="5580570"/>
                <a:ext cx="204716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23" h="111" fill="none">
                    <a:moveTo>
                      <a:pt x="223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80" name="Flecha 95_2"/>
              <p:cNvSpPr/>
              <p:nvPr/>
            </p:nvSpPr>
            <p:spPr>
              <a:xfrm>
                <a:off x="6709239" y="5682928"/>
                <a:ext cx="9144" cy="2251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6" fill="none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81" name="Flecha 97_2"/>
              <p:cNvSpPr/>
              <p:nvPr/>
            </p:nvSpPr>
            <p:spPr>
              <a:xfrm>
                <a:off x="6709239" y="5682928"/>
                <a:ext cx="9144" cy="2251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6" fill="none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82" name="Flecha 99_2"/>
              <p:cNvSpPr/>
              <p:nvPr/>
            </p:nvSpPr>
            <p:spPr>
              <a:xfrm>
                <a:off x="6524995" y="5908116"/>
                <a:ext cx="184245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11" fill="none">
                    <a:moveTo>
                      <a:pt x="201" y="0"/>
                    </a:moveTo>
                    <a:lnTo>
                      <a:pt x="0" y="111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83" name="Flecha 101_2"/>
              <p:cNvSpPr/>
              <p:nvPr/>
            </p:nvSpPr>
            <p:spPr>
              <a:xfrm>
                <a:off x="6524995" y="5908116"/>
                <a:ext cx="184245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11" fill="none">
                    <a:moveTo>
                      <a:pt x="201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84" name="Flecha 103_2"/>
              <p:cNvSpPr/>
              <p:nvPr/>
            </p:nvSpPr>
            <p:spPr>
              <a:xfrm>
                <a:off x="6913956" y="6010474"/>
                <a:ext cx="9144" cy="2251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6" fill="none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85" name="Flecha 105_2"/>
              <p:cNvSpPr/>
              <p:nvPr/>
            </p:nvSpPr>
            <p:spPr>
              <a:xfrm>
                <a:off x="6913956" y="6010474"/>
                <a:ext cx="9144" cy="2251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46" fill="none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86" name="Flecha 107_2"/>
              <p:cNvSpPr/>
              <p:nvPr/>
            </p:nvSpPr>
            <p:spPr>
              <a:xfrm>
                <a:off x="7118672" y="5908116"/>
                <a:ext cx="184245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11" fill="none">
                    <a:moveTo>
                      <a:pt x="0" y="0"/>
                    </a:moveTo>
                    <a:lnTo>
                      <a:pt x="201" y="111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87" name="Flecha 109_2"/>
              <p:cNvSpPr/>
              <p:nvPr/>
            </p:nvSpPr>
            <p:spPr>
              <a:xfrm>
                <a:off x="7118672" y="5908116"/>
                <a:ext cx="184245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11" fill="none">
                    <a:moveTo>
                      <a:pt x="0" y="0"/>
                    </a:moveTo>
                    <a:lnTo>
                      <a:pt x="201" y="111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88" name="Flecha 111_2"/>
              <p:cNvSpPr/>
              <p:nvPr/>
            </p:nvSpPr>
            <p:spPr>
              <a:xfrm>
                <a:off x="6524995" y="5560098"/>
                <a:ext cx="184245" cy="122830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34" fill="none">
                    <a:moveTo>
                      <a:pt x="201" y="134"/>
                    </a:moveTo>
                    <a:lnTo>
                      <a:pt x="0" y="0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89" name="Flecha 113_2"/>
              <p:cNvSpPr/>
              <p:nvPr/>
            </p:nvSpPr>
            <p:spPr>
              <a:xfrm>
                <a:off x="6524995" y="5560098"/>
                <a:ext cx="184245" cy="122830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34" fill="none">
                    <a:moveTo>
                      <a:pt x="201" y="134"/>
                    </a:moveTo>
                    <a:lnTo>
                      <a:pt x="0" y="0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90" name="Flecha 115_2"/>
              <p:cNvSpPr/>
              <p:nvPr/>
            </p:nvSpPr>
            <p:spPr>
              <a:xfrm>
                <a:off x="6340750" y="5560098"/>
                <a:ext cx="184245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11" fill="none">
                    <a:moveTo>
                      <a:pt x="201" y="0"/>
                    </a:moveTo>
                    <a:lnTo>
                      <a:pt x="0" y="111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91" name="Flecha 117_2"/>
              <p:cNvSpPr/>
              <p:nvPr/>
            </p:nvSpPr>
            <p:spPr>
              <a:xfrm>
                <a:off x="6340750" y="5560098"/>
                <a:ext cx="184245" cy="102358"/>
              </a:xfrm>
              <a:custGeom>
                <a:avLst/>
                <a:gdLst/>
                <a:ahLst/>
                <a:cxnLst/>
                <a:rect l="0" t="0" r="r" b="b"/>
                <a:pathLst>
                  <a:path w="201" h="111" fill="none">
                    <a:moveTo>
                      <a:pt x="201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92" name="Flecha 119_2"/>
              <p:cNvSpPr/>
              <p:nvPr/>
            </p:nvSpPr>
            <p:spPr>
              <a:xfrm>
                <a:off x="6361221" y="5928587"/>
                <a:ext cx="163773" cy="81887"/>
              </a:xfrm>
              <a:custGeom>
                <a:avLst/>
                <a:gdLst/>
                <a:ahLst/>
                <a:cxnLst/>
                <a:rect l="0" t="0" r="r" b="b"/>
                <a:pathLst>
                  <a:path w="179" h="89" fill="none">
                    <a:moveTo>
                      <a:pt x="179" y="89"/>
                    </a:moveTo>
                    <a:lnTo>
                      <a:pt x="0" y="0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93" name="Flecha 121_2"/>
              <p:cNvSpPr/>
              <p:nvPr/>
            </p:nvSpPr>
            <p:spPr>
              <a:xfrm>
                <a:off x="6361221" y="5928587"/>
                <a:ext cx="163773" cy="81887"/>
              </a:xfrm>
              <a:custGeom>
                <a:avLst/>
                <a:gdLst/>
                <a:ahLst/>
                <a:cxnLst/>
                <a:rect l="0" t="0" r="r" b="b"/>
                <a:pathLst>
                  <a:path w="179" h="89" fill="none">
                    <a:moveTo>
                      <a:pt x="179" y="89"/>
                    </a:moveTo>
                    <a:lnTo>
                      <a:pt x="0" y="0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94" name="Flecha 123_2"/>
              <p:cNvSpPr/>
              <p:nvPr/>
            </p:nvSpPr>
            <p:spPr>
              <a:xfrm>
                <a:off x="7302917" y="5928587"/>
                <a:ext cx="163773" cy="81887"/>
              </a:xfrm>
              <a:custGeom>
                <a:avLst/>
                <a:gdLst/>
                <a:ahLst/>
                <a:cxnLst/>
                <a:rect l="0" t="0" r="r" b="b"/>
                <a:pathLst>
                  <a:path w="179" h="89" fill="none">
                    <a:moveTo>
                      <a:pt x="0" y="89"/>
                    </a:moveTo>
                    <a:lnTo>
                      <a:pt x="179" y="0"/>
                    </a:lnTo>
                  </a:path>
                </a:pathLst>
              </a:custGeom>
              <a:noFill/>
              <a:ln w="45492" cap="rnd">
                <a:solidFill>
                  <a:srgbClr val="B9B9B9"/>
                </a:solidFill>
                <a:round/>
              </a:ln>
            </p:spPr>
          </p:sp>
          <p:sp>
            <p:nvSpPr>
              <p:cNvPr id="95" name="Flecha 125_2"/>
              <p:cNvSpPr/>
              <p:nvPr/>
            </p:nvSpPr>
            <p:spPr>
              <a:xfrm>
                <a:off x="7302917" y="5928587"/>
                <a:ext cx="163773" cy="81887"/>
              </a:xfrm>
              <a:custGeom>
                <a:avLst/>
                <a:gdLst/>
                <a:ahLst/>
                <a:cxnLst/>
                <a:rect l="0" t="0" r="r" b="b"/>
                <a:pathLst>
                  <a:path w="179" h="89" fill="none">
                    <a:moveTo>
                      <a:pt x="0" y="89"/>
                    </a:moveTo>
                    <a:lnTo>
                      <a:pt x="179" y="0"/>
                    </a:lnTo>
                  </a:path>
                </a:pathLst>
              </a:custGeom>
              <a:noFill/>
              <a:ln w="25589" cap="rnd">
                <a:solidFill>
                  <a:srgbClr val="FFFFFF"/>
                </a:solidFill>
                <a:round/>
              </a:ln>
            </p:spPr>
          </p:sp>
          <p:sp>
            <p:nvSpPr>
              <p:cNvPr id="96" name="Forma 127"/>
              <p:cNvSpPr/>
              <p:nvPr/>
            </p:nvSpPr>
            <p:spPr>
              <a:xfrm>
                <a:off x="6310071" y="5877437"/>
                <a:ext cx="102301" cy="1023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7" name="Forma 128"/>
              <p:cNvSpPr/>
              <p:nvPr/>
            </p:nvSpPr>
            <p:spPr>
              <a:xfrm>
                <a:off x="7415540" y="5877437"/>
                <a:ext cx="102301" cy="1023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8" name="Forma 129"/>
              <p:cNvSpPr/>
              <p:nvPr/>
            </p:nvSpPr>
            <p:spPr>
              <a:xfrm>
                <a:off x="6626739" y="5825615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9" name="Forma 130"/>
              <p:cNvSpPr/>
              <p:nvPr/>
            </p:nvSpPr>
            <p:spPr>
              <a:xfrm>
                <a:off x="6831455" y="5927973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0" name="Forma 131"/>
              <p:cNvSpPr/>
              <p:nvPr/>
            </p:nvSpPr>
            <p:spPr>
              <a:xfrm>
                <a:off x="7036172" y="5825615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1" name="Forma 132"/>
              <p:cNvSpPr/>
              <p:nvPr/>
            </p:nvSpPr>
            <p:spPr>
              <a:xfrm>
                <a:off x="7036172" y="5600427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2" name="Forma 133"/>
              <p:cNvSpPr/>
              <p:nvPr/>
            </p:nvSpPr>
            <p:spPr>
              <a:xfrm>
                <a:off x="6831455" y="5498069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3" name="Forma 134"/>
              <p:cNvSpPr/>
              <p:nvPr/>
            </p:nvSpPr>
            <p:spPr>
              <a:xfrm>
                <a:off x="6626739" y="5600427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4" name="Forma 135"/>
              <p:cNvSpPr/>
              <p:nvPr/>
            </p:nvSpPr>
            <p:spPr>
              <a:xfrm>
                <a:off x="6442494" y="5927973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5" name="Forma 136"/>
              <p:cNvSpPr/>
              <p:nvPr/>
            </p:nvSpPr>
            <p:spPr>
              <a:xfrm>
                <a:off x="6831455" y="6153161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6" name="Forma 137"/>
              <p:cNvSpPr/>
              <p:nvPr/>
            </p:nvSpPr>
            <p:spPr>
              <a:xfrm>
                <a:off x="7220416" y="5927973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7" name="Forma 138"/>
              <p:cNvSpPr/>
              <p:nvPr/>
            </p:nvSpPr>
            <p:spPr>
              <a:xfrm>
                <a:off x="6442494" y="5477597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108" name="Forma 139"/>
              <p:cNvSpPr/>
              <p:nvPr/>
            </p:nvSpPr>
            <p:spPr>
              <a:xfrm>
                <a:off x="6258249" y="5579955"/>
                <a:ext cx="165001" cy="1650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</p:grpSp>
      <p:sp>
        <p:nvSpPr>
          <p:cNvPr id="10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Organismo"/>
          <p:cNvGrpSpPr/>
          <p:nvPr/>
        </p:nvGrpSpPr>
        <p:grpSpPr>
          <a:xfrm>
            <a:off x="365760" y="1097280"/>
            <a:ext cx="2103120" cy="4206240"/>
            <a:chOff x="365760" y="1097280"/>
            <a:chExt cx="2103120" cy="420624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2103120" cy="420624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365760" y="1097280"/>
              <a:ext cx="2103120" cy="420624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grpSp>
        <p:nvGrpSpPr>
          <p:cNvPr id="8" name="Vaso"/>
          <p:cNvGrpSpPr/>
          <p:nvPr/>
        </p:nvGrpSpPr>
        <p:grpSpPr>
          <a:xfrm>
            <a:off x="914400" y="3017520"/>
            <a:ext cx="2926080" cy="502920"/>
            <a:chOff x="914400" y="3017520"/>
            <a:chExt cx="2926080" cy="502920"/>
          </a:xfrm>
        </p:grpSpPr>
        <p:sp>
          <p:nvSpPr>
            <p:cNvPr id="9" name="Forma 8"/>
            <p:cNvSpPr/>
            <p:nvPr/>
          </p:nvSpPr>
          <p:spPr>
            <a:xfrm>
              <a:off x="914400" y="3017520"/>
              <a:ext cx="292608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0" name="Forma 9"/>
            <p:cNvSpPr/>
            <p:nvPr/>
          </p:nvSpPr>
          <p:spPr>
            <a:xfrm>
              <a:off x="989838" y="3108046"/>
              <a:ext cx="2775204" cy="32186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11" name="Eritrocito"/>
            <p:cNvSpPr/>
            <p:nvPr/>
          </p:nvSpPr>
          <p:spPr>
            <a:xfrm>
              <a:off x="1203149" y="3262420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2" name="Eritrocito_2"/>
            <p:cNvSpPr/>
            <p:nvPr/>
          </p:nvSpPr>
          <p:spPr>
            <a:xfrm>
              <a:off x="1433966" y="3153921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3" name="Eritrocito_3"/>
            <p:cNvSpPr/>
            <p:nvPr/>
          </p:nvSpPr>
          <p:spPr>
            <a:xfrm>
              <a:off x="1906836" y="3235784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4" name="Eritrocito_4"/>
            <p:cNvSpPr/>
            <p:nvPr/>
          </p:nvSpPr>
          <p:spPr>
            <a:xfrm>
              <a:off x="2243465" y="3181992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5" name="Eritrocito_5"/>
            <p:cNvSpPr/>
            <p:nvPr/>
          </p:nvSpPr>
          <p:spPr>
            <a:xfrm>
              <a:off x="2594801" y="3219543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6" name="Eritrocito_6"/>
            <p:cNvSpPr/>
            <p:nvPr/>
          </p:nvSpPr>
          <p:spPr>
            <a:xfrm>
              <a:off x="2951768" y="3163163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7" name="Eritrocito_7"/>
            <p:cNvSpPr/>
            <p:nvPr/>
          </p:nvSpPr>
          <p:spPr>
            <a:xfrm>
              <a:off x="3290594" y="3192729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18" name="!!TuboMuestra"/>
          <p:cNvGrpSpPr/>
          <p:nvPr/>
        </p:nvGrpSpPr>
        <p:grpSpPr>
          <a:xfrm>
            <a:off x="2657246" y="1234440"/>
            <a:ext cx="583387" cy="1828800"/>
            <a:chOff x="2657246" y="1234440"/>
            <a:chExt cx="583387" cy="1828800"/>
          </a:xfrm>
        </p:grpSpPr>
        <p:sp>
          <p:nvSpPr>
            <p:cNvPr id="19" name="Vidrio"/>
            <p:cNvSpPr/>
            <p:nvPr/>
          </p:nvSpPr>
          <p:spPr>
            <a:xfrm>
              <a:off x="2697480" y="1417320"/>
              <a:ext cx="502920" cy="16459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0" name="Tapón"/>
            <p:cNvSpPr/>
            <p:nvPr/>
          </p:nvSpPr>
          <p:spPr>
            <a:xfrm>
              <a:off x="2657246" y="1234440"/>
              <a:ext cx="583387" cy="219456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21" name="Brillo"/>
            <p:cNvSpPr/>
            <p:nvPr/>
          </p:nvSpPr>
          <p:spPr>
            <a:xfrm>
              <a:off x="2767889" y="1527048"/>
              <a:ext cx="60350" cy="12801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2" name="Rojo def"/>
          <p:cNvSpPr/>
          <p:nvPr/>
        </p:nvSpPr>
        <p:spPr>
          <a:xfrm>
            <a:off x="2722626" y="2258568"/>
            <a:ext cx="452628" cy="7680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23" name="Plasma def"/>
          <p:cNvSpPr/>
          <p:nvPr/>
        </p:nvSpPr>
        <p:spPr>
          <a:xfrm>
            <a:off x="2722626" y="1766987"/>
            <a:ext cx="452628" cy="491581"/>
          </a:xfrm>
          <a:prstGeom prst="rect">
            <a:avLst/>
          </a:prstGeom>
          <a:gradFill rotWithShape="1">
            <a:gsLst>
              <a:gs pos="0">
                <a:srgbClr val="FAEDB7"/>
              </a:gs>
              <a:gs pos="100000">
                <a:srgbClr val="F9E79F"/>
              </a:gs>
            </a:gsLst>
            <a:lin ang="5400000" scaled="0"/>
          </a:gradFill>
          <a:ln w="9525" cap="rnd">
            <a:solidFill>
              <a:srgbClr val="A19667"/>
            </a:solidFill>
            <a:round/>
          </a:ln>
        </p:spPr>
      </p:sp>
      <p:grpSp>
        <p:nvGrpSpPr>
          <p:cNvPr id="24" name="Analito"/>
          <p:cNvGrpSpPr/>
          <p:nvPr/>
        </p:nvGrpSpPr>
        <p:grpSpPr>
          <a:xfrm>
            <a:off x="264896" y="5542485"/>
            <a:ext cx="1133632" cy="756509"/>
            <a:chOff x="264896" y="5542485"/>
            <a:chExt cx="1133632" cy="756509"/>
          </a:xfrm>
        </p:grpSpPr>
        <p:sp>
          <p:nvSpPr>
            <p:cNvPr id="25" name="Flecha 24_2"/>
            <p:cNvSpPr/>
            <p:nvPr/>
          </p:nvSpPr>
          <p:spPr>
            <a:xfrm>
              <a:off x="670787" y="5929952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0" y="0"/>
                  </a:moveTo>
                  <a:lnTo>
                    <a:pt x="201" y="10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26" name="Flecha 26_2"/>
            <p:cNvSpPr/>
            <p:nvPr/>
          </p:nvSpPr>
          <p:spPr>
            <a:xfrm>
              <a:off x="670787" y="5929952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0" y="0"/>
                  </a:moveTo>
                  <a:lnTo>
                    <a:pt x="201" y="10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27" name="Flecha 28_2"/>
            <p:cNvSpPr/>
            <p:nvPr/>
          </p:nvSpPr>
          <p:spPr>
            <a:xfrm>
              <a:off x="855032" y="5929952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0" y="100"/>
                  </a:moveTo>
                  <a:lnTo>
                    <a:pt x="201" y="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28" name="Flecha 30_2"/>
            <p:cNvSpPr/>
            <p:nvPr/>
          </p:nvSpPr>
          <p:spPr>
            <a:xfrm>
              <a:off x="855032" y="5929952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0" y="100"/>
                  </a:moveTo>
                  <a:lnTo>
                    <a:pt x="201" y="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29" name="Flecha 32_2"/>
            <p:cNvSpPr/>
            <p:nvPr/>
          </p:nvSpPr>
          <p:spPr>
            <a:xfrm>
              <a:off x="1039277" y="5727283"/>
              <a:ext cx="9144" cy="202669"/>
            </a:xfrm>
            <a:custGeom>
              <a:avLst/>
              <a:gdLst/>
              <a:ahLst/>
              <a:cxnLst/>
              <a:rect l="0" t="0" r="r" b="b"/>
              <a:pathLst>
                <a:path w="10" h="221" fill="none">
                  <a:moveTo>
                    <a:pt x="0" y="221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30" name="Flecha 34_2"/>
            <p:cNvSpPr/>
            <p:nvPr/>
          </p:nvSpPr>
          <p:spPr>
            <a:xfrm>
              <a:off x="1039277" y="5727283"/>
              <a:ext cx="9144" cy="202669"/>
            </a:xfrm>
            <a:custGeom>
              <a:avLst/>
              <a:gdLst/>
              <a:ahLst/>
              <a:cxnLst/>
              <a:rect l="0" t="0" r="r" b="b"/>
              <a:pathLst>
                <a:path w="10" h="221" fill="none">
                  <a:moveTo>
                    <a:pt x="0" y="221"/>
                  </a:moveTo>
                  <a:lnTo>
                    <a:pt x="0" y="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31" name="Flecha 36_2"/>
            <p:cNvSpPr/>
            <p:nvPr/>
          </p:nvSpPr>
          <p:spPr>
            <a:xfrm>
              <a:off x="855032" y="5635161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201" y="100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32" name="Flecha 38_2"/>
            <p:cNvSpPr/>
            <p:nvPr/>
          </p:nvSpPr>
          <p:spPr>
            <a:xfrm>
              <a:off x="855032" y="5635161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201" y="100"/>
                  </a:moveTo>
                  <a:lnTo>
                    <a:pt x="0" y="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33" name="Flecha 40_2"/>
            <p:cNvSpPr/>
            <p:nvPr/>
          </p:nvSpPr>
          <p:spPr>
            <a:xfrm>
              <a:off x="670787" y="5635161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201" y="0"/>
                  </a:moveTo>
                  <a:lnTo>
                    <a:pt x="0" y="10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34" name="Flecha 42_2"/>
            <p:cNvSpPr/>
            <p:nvPr/>
          </p:nvSpPr>
          <p:spPr>
            <a:xfrm>
              <a:off x="670787" y="5635161"/>
              <a:ext cx="184245" cy="92122"/>
            </a:xfrm>
            <a:custGeom>
              <a:avLst/>
              <a:gdLst/>
              <a:ahLst/>
              <a:cxnLst/>
              <a:rect l="0" t="0" r="r" b="b"/>
              <a:pathLst>
                <a:path w="201" h="100" fill="none">
                  <a:moveTo>
                    <a:pt x="201" y="0"/>
                  </a:moveTo>
                  <a:lnTo>
                    <a:pt x="0" y="10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35" name="Flecha 44_2"/>
            <p:cNvSpPr/>
            <p:nvPr/>
          </p:nvSpPr>
          <p:spPr>
            <a:xfrm>
              <a:off x="670787" y="5727283"/>
              <a:ext cx="9144" cy="202669"/>
            </a:xfrm>
            <a:custGeom>
              <a:avLst/>
              <a:gdLst/>
              <a:ahLst/>
              <a:cxnLst/>
              <a:rect l="0" t="0" r="r" b="b"/>
              <a:pathLst>
                <a:path w="10" h="221" fill="none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36" name="Flecha 46_2"/>
            <p:cNvSpPr/>
            <p:nvPr/>
          </p:nvSpPr>
          <p:spPr>
            <a:xfrm>
              <a:off x="670787" y="5727283"/>
              <a:ext cx="9144" cy="202669"/>
            </a:xfrm>
            <a:custGeom>
              <a:avLst/>
              <a:gdLst/>
              <a:ahLst/>
              <a:cxnLst/>
              <a:rect l="0" t="0" r="r" b="b"/>
              <a:pathLst>
                <a:path w="10" h="221" fill="none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37" name="Flecha 48_2"/>
            <p:cNvSpPr/>
            <p:nvPr/>
          </p:nvSpPr>
          <p:spPr>
            <a:xfrm>
              <a:off x="504967" y="5929952"/>
              <a:ext cx="165820" cy="92122"/>
            </a:xfrm>
            <a:custGeom>
              <a:avLst/>
              <a:gdLst/>
              <a:ahLst/>
              <a:cxnLst/>
              <a:rect l="0" t="0" r="r" b="b"/>
              <a:pathLst>
                <a:path w="181" h="100" fill="none">
                  <a:moveTo>
                    <a:pt x="181" y="0"/>
                  </a:moveTo>
                  <a:lnTo>
                    <a:pt x="0" y="10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38" name="Flecha 50_2"/>
            <p:cNvSpPr/>
            <p:nvPr/>
          </p:nvSpPr>
          <p:spPr>
            <a:xfrm>
              <a:off x="504967" y="5929952"/>
              <a:ext cx="165820" cy="92122"/>
            </a:xfrm>
            <a:custGeom>
              <a:avLst/>
              <a:gdLst/>
              <a:ahLst/>
              <a:cxnLst/>
              <a:rect l="0" t="0" r="r" b="b"/>
              <a:pathLst>
                <a:path w="181" h="100" fill="none">
                  <a:moveTo>
                    <a:pt x="181" y="0"/>
                  </a:moveTo>
                  <a:lnTo>
                    <a:pt x="0" y="10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39" name="Flecha 52_2"/>
            <p:cNvSpPr/>
            <p:nvPr/>
          </p:nvSpPr>
          <p:spPr>
            <a:xfrm>
              <a:off x="855032" y="6022075"/>
              <a:ext cx="9144" cy="202669"/>
            </a:xfrm>
            <a:custGeom>
              <a:avLst/>
              <a:gdLst/>
              <a:ahLst/>
              <a:cxnLst/>
              <a:rect l="0" t="0" r="r" b="b"/>
              <a:pathLst>
                <a:path w="10" h="221" fill="none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40" name="Flecha 54_2"/>
            <p:cNvSpPr/>
            <p:nvPr/>
          </p:nvSpPr>
          <p:spPr>
            <a:xfrm>
              <a:off x="855032" y="6022075"/>
              <a:ext cx="9144" cy="202669"/>
            </a:xfrm>
            <a:custGeom>
              <a:avLst/>
              <a:gdLst/>
              <a:ahLst/>
              <a:cxnLst/>
              <a:rect l="0" t="0" r="r" b="b"/>
              <a:pathLst>
                <a:path w="10" h="221" fill="none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41" name="Flecha 56_2"/>
            <p:cNvSpPr/>
            <p:nvPr/>
          </p:nvSpPr>
          <p:spPr>
            <a:xfrm>
              <a:off x="1039277" y="5929952"/>
              <a:ext cx="165820" cy="92122"/>
            </a:xfrm>
            <a:custGeom>
              <a:avLst/>
              <a:gdLst/>
              <a:ahLst/>
              <a:cxnLst/>
              <a:rect l="0" t="0" r="r" b="b"/>
              <a:pathLst>
                <a:path w="181" h="100" fill="none">
                  <a:moveTo>
                    <a:pt x="0" y="0"/>
                  </a:moveTo>
                  <a:lnTo>
                    <a:pt x="181" y="10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42" name="Flecha 58_2"/>
            <p:cNvSpPr/>
            <p:nvPr/>
          </p:nvSpPr>
          <p:spPr>
            <a:xfrm>
              <a:off x="1039277" y="5929952"/>
              <a:ext cx="165820" cy="92122"/>
            </a:xfrm>
            <a:custGeom>
              <a:avLst/>
              <a:gdLst/>
              <a:ahLst/>
              <a:cxnLst/>
              <a:rect l="0" t="0" r="r" b="b"/>
              <a:pathLst>
                <a:path w="181" h="100" fill="none">
                  <a:moveTo>
                    <a:pt x="0" y="0"/>
                  </a:moveTo>
                  <a:lnTo>
                    <a:pt x="181" y="10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43" name="Flecha 60_2"/>
            <p:cNvSpPr/>
            <p:nvPr/>
          </p:nvSpPr>
          <p:spPr>
            <a:xfrm>
              <a:off x="504967" y="5616736"/>
              <a:ext cx="165820" cy="110547"/>
            </a:xfrm>
            <a:custGeom>
              <a:avLst/>
              <a:gdLst/>
              <a:ahLst/>
              <a:cxnLst/>
              <a:rect l="0" t="0" r="r" b="b"/>
              <a:pathLst>
                <a:path w="181" h="120" fill="none">
                  <a:moveTo>
                    <a:pt x="181" y="120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44" name="Flecha 62_2"/>
            <p:cNvSpPr/>
            <p:nvPr/>
          </p:nvSpPr>
          <p:spPr>
            <a:xfrm>
              <a:off x="504967" y="5616736"/>
              <a:ext cx="165820" cy="110547"/>
            </a:xfrm>
            <a:custGeom>
              <a:avLst/>
              <a:gdLst/>
              <a:ahLst/>
              <a:cxnLst/>
              <a:rect l="0" t="0" r="r" b="b"/>
              <a:pathLst>
                <a:path w="181" h="120" fill="none">
                  <a:moveTo>
                    <a:pt x="181" y="120"/>
                  </a:moveTo>
                  <a:lnTo>
                    <a:pt x="0" y="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45" name="Flecha 64_2"/>
            <p:cNvSpPr/>
            <p:nvPr/>
          </p:nvSpPr>
          <p:spPr>
            <a:xfrm>
              <a:off x="339147" y="5616736"/>
              <a:ext cx="165820" cy="92122"/>
            </a:xfrm>
            <a:custGeom>
              <a:avLst/>
              <a:gdLst/>
              <a:ahLst/>
              <a:cxnLst/>
              <a:rect l="0" t="0" r="r" b="b"/>
              <a:pathLst>
                <a:path w="181" h="100" fill="none">
                  <a:moveTo>
                    <a:pt x="181" y="0"/>
                  </a:moveTo>
                  <a:lnTo>
                    <a:pt x="0" y="10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46" name="Flecha 66_2"/>
            <p:cNvSpPr/>
            <p:nvPr/>
          </p:nvSpPr>
          <p:spPr>
            <a:xfrm>
              <a:off x="339147" y="5616736"/>
              <a:ext cx="165820" cy="92122"/>
            </a:xfrm>
            <a:custGeom>
              <a:avLst/>
              <a:gdLst/>
              <a:ahLst/>
              <a:cxnLst/>
              <a:rect l="0" t="0" r="r" b="b"/>
              <a:pathLst>
                <a:path w="181" h="100" fill="none">
                  <a:moveTo>
                    <a:pt x="181" y="0"/>
                  </a:moveTo>
                  <a:lnTo>
                    <a:pt x="0" y="10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47" name="Flecha 68_2"/>
            <p:cNvSpPr/>
            <p:nvPr/>
          </p:nvSpPr>
          <p:spPr>
            <a:xfrm>
              <a:off x="357571" y="5948377"/>
              <a:ext cx="147396" cy="73698"/>
            </a:xfrm>
            <a:custGeom>
              <a:avLst/>
              <a:gdLst/>
              <a:ahLst/>
              <a:cxnLst/>
              <a:rect l="0" t="0" r="r" b="b"/>
              <a:pathLst>
                <a:path w="161" h="80" fill="none">
                  <a:moveTo>
                    <a:pt x="161" y="80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48" name="Flecha 70_2"/>
            <p:cNvSpPr/>
            <p:nvPr/>
          </p:nvSpPr>
          <p:spPr>
            <a:xfrm>
              <a:off x="357571" y="5948377"/>
              <a:ext cx="147396" cy="73698"/>
            </a:xfrm>
            <a:custGeom>
              <a:avLst/>
              <a:gdLst/>
              <a:ahLst/>
              <a:cxnLst/>
              <a:rect l="0" t="0" r="r" b="b"/>
              <a:pathLst>
                <a:path w="161" h="80" fill="none">
                  <a:moveTo>
                    <a:pt x="161" y="80"/>
                  </a:moveTo>
                  <a:lnTo>
                    <a:pt x="0" y="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49" name="Flecha 72_2"/>
            <p:cNvSpPr/>
            <p:nvPr/>
          </p:nvSpPr>
          <p:spPr>
            <a:xfrm>
              <a:off x="1205097" y="5948377"/>
              <a:ext cx="147396" cy="73698"/>
            </a:xfrm>
            <a:custGeom>
              <a:avLst/>
              <a:gdLst/>
              <a:ahLst/>
              <a:cxnLst/>
              <a:rect l="0" t="0" r="r" b="b"/>
              <a:pathLst>
                <a:path w="161" h="80" fill="none">
                  <a:moveTo>
                    <a:pt x="0" y="80"/>
                  </a:moveTo>
                  <a:lnTo>
                    <a:pt x="161" y="0"/>
                  </a:lnTo>
                </a:path>
              </a:pathLst>
            </a:custGeom>
            <a:noFill/>
            <a:ln w="40943" cap="rnd">
              <a:solidFill>
                <a:srgbClr val="B9B9B9"/>
              </a:solidFill>
              <a:round/>
            </a:ln>
          </p:spPr>
        </p:sp>
        <p:sp>
          <p:nvSpPr>
            <p:cNvPr id="50" name="Flecha 74_2"/>
            <p:cNvSpPr/>
            <p:nvPr/>
          </p:nvSpPr>
          <p:spPr>
            <a:xfrm>
              <a:off x="1205097" y="5948377"/>
              <a:ext cx="147396" cy="73698"/>
            </a:xfrm>
            <a:custGeom>
              <a:avLst/>
              <a:gdLst/>
              <a:ahLst/>
              <a:cxnLst/>
              <a:rect l="0" t="0" r="r" b="b"/>
              <a:pathLst>
                <a:path w="161" h="80" fill="none">
                  <a:moveTo>
                    <a:pt x="0" y="80"/>
                  </a:moveTo>
                  <a:lnTo>
                    <a:pt x="161" y="0"/>
                  </a:lnTo>
                </a:path>
              </a:pathLst>
            </a:custGeom>
            <a:noFill/>
            <a:ln w="23030" cap="rnd">
              <a:solidFill>
                <a:srgbClr val="FFFFFF"/>
              </a:solidFill>
              <a:round/>
            </a:ln>
          </p:spPr>
        </p:sp>
        <p:sp>
          <p:nvSpPr>
            <p:cNvPr id="51" name="Forma 76"/>
            <p:cNvSpPr/>
            <p:nvPr/>
          </p:nvSpPr>
          <p:spPr>
            <a:xfrm>
              <a:off x="311536" y="5902341"/>
              <a:ext cx="92071" cy="9207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2" name="Forma 77"/>
            <p:cNvSpPr/>
            <p:nvPr/>
          </p:nvSpPr>
          <p:spPr>
            <a:xfrm>
              <a:off x="1306458" y="5902341"/>
              <a:ext cx="92071" cy="9207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3" name="Forma 78"/>
            <p:cNvSpPr/>
            <p:nvPr/>
          </p:nvSpPr>
          <p:spPr>
            <a:xfrm>
              <a:off x="596537" y="5855702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4" name="Forma 79"/>
            <p:cNvSpPr/>
            <p:nvPr/>
          </p:nvSpPr>
          <p:spPr>
            <a:xfrm>
              <a:off x="780782" y="5947824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5" name="Forma 80"/>
            <p:cNvSpPr/>
            <p:nvPr/>
          </p:nvSpPr>
          <p:spPr>
            <a:xfrm>
              <a:off x="965026" y="5855702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6" name="Forma 81"/>
            <p:cNvSpPr/>
            <p:nvPr/>
          </p:nvSpPr>
          <p:spPr>
            <a:xfrm>
              <a:off x="965026" y="5653032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7" name="Forma 82"/>
            <p:cNvSpPr/>
            <p:nvPr/>
          </p:nvSpPr>
          <p:spPr>
            <a:xfrm>
              <a:off x="780782" y="5560910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8" name="Forma 83"/>
            <p:cNvSpPr/>
            <p:nvPr/>
          </p:nvSpPr>
          <p:spPr>
            <a:xfrm>
              <a:off x="596537" y="5653032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9" name="Forma 84"/>
            <p:cNvSpPr/>
            <p:nvPr/>
          </p:nvSpPr>
          <p:spPr>
            <a:xfrm>
              <a:off x="430717" y="5947824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0" name="Forma 85"/>
            <p:cNvSpPr/>
            <p:nvPr/>
          </p:nvSpPr>
          <p:spPr>
            <a:xfrm>
              <a:off x="780782" y="6150493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1" name="Forma 86"/>
            <p:cNvSpPr/>
            <p:nvPr/>
          </p:nvSpPr>
          <p:spPr>
            <a:xfrm>
              <a:off x="1130847" y="5947824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2" name="Forma 87"/>
            <p:cNvSpPr/>
            <p:nvPr/>
          </p:nvSpPr>
          <p:spPr>
            <a:xfrm>
              <a:off x="430717" y="5542485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3" name="Forma 88"/>
            <p:cNvSpPr/>
            <p:nvPr/>
          </p:nvSpPr>
          <p:spPr>
            <a:xfrm>
              <a:off x="264896" y="5634608"/>
              <a:ext cx="148501" cy="1485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64" name="Definición"/>
          <p:cNvSpPr/>
          <p:nvPr/>
        </p:nvSpPr>
        <p:spPr>
          <a:xfrm>
            <a:off x="4617720" y="1051560"/>
            <a:ext cx="7223760" cy="11430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Cantidad o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concentración de una sustancia presente en un fluido biológico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que se utiliza para evaluar si un paciente está sano o enfermo.</a:t>
            </a:r>
            <a:endParaRPr lang="es-AR" sz="1850" dirty="0">
              <a:latin typeface="Calibri"/>
            </a:endParaRPr>
          </a:p>
        </p:txBody>
      </p:sp>
      <p:grpSp>
        <p:nvGrpSpPr>
          <p:cNvPr id="65" name="Condición 1"/>
          <p:cNvGrpSpPr/>
          <p:nvPr/>
        </p:nvGrpSpPr>
        <p:grpSpPr>
          <a:xfrm>
            <a:off x="4617720" y="2514600"/>
            <a:ext cx="2286000" cy="2743200"/>
            <a:chOff x="4617720" y="2514600"/>
            <a:chExt cx="2286000" cy="2743200"/>
          </a:xfrm>
        </p:grpSpPr>
        <p:sp>
          <p:nvSpPr>
            <p:cNvPr id="66" name="Forma 91"/>
            <p:cNvSpPr/>
            <p:nvPr/>
          </p:nvSpPr>
          <p:spPr>
            <a:xfrm>
              <a:off x="4617720" y="2715768"/>
              <a:ext cx="2286000" cy="254203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mg/dL, mmol/L, UI/L… permiten comparar resultados entre laboratorios.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67" name="Forma 92"/>
            <p:cNvSpPr/>
            <p:nvPr/>
          </p:nvSpPr>
          <p:spPr>
            <a:xfrm>
              <a:off x="4745736" y="2514600"/>
              <a:ext cx="210312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UNIDADES ESTANDARIZADAS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68" name="Condición 2"/>
          <p:cNvGrpSpPr/>
          <p:nvPr/>
        </p:nvGrpSpPr>
        <p:grpSpPr>
          <a:xfrm>
            <a:off x="7059168" y="2514600"/>
            <a:ext cx="2286000" cy="2743200"/>
            <a:chOff x="7059168" y="2514600"/>
            <a:chExt cx="2286000" cy="2743200"/>
          </a:xfrm>
        </p:grpSpPr>
        <p:sp>
          <p:nvSpPr>
            <p:cNvPr id="69" name="Forma 94"/>
            <p:cNvSpPr/>
            <p:nvPr/>
          </p:nvSpPr>
          <p:spPr>
            <a:xfrm>
              <a:off x="7059168" y="2715768"/>
              <a:ext cx="2286000" cy="254203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Establecido estadísticamente a partir de una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población sana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70" name="Forma 95"/>
            <p:cNvSpPr/>
            <p:nvPr/>
          </p:nvSpPr>
          <p:spPr>
            <a:xfrm>
              <a:off x="7187184" y="2514600"/>
              <a:ext cx="207847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DE REFERENCIA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71" name="Condición 3"/>
          <p:cNvGrpSpPr/>
          <p:nvPr/>
        </p:nvGrpSpPr>
        <p:grpSpPr>
          <a:xfrm>
            <a:off x="9500616" y="2514600"/>
            <a:ext cx="2286000" cy="2743200"/>
            <a:chOff x="9500616" y="2514600"/>
            <a:chExt cx="2286000" cy="2743200"/>
          </a:xfrm>
        </p:grpSpPr>
        <p:sp>
          <p:nvSpPr>
            <p:cNvPr id="72" name="Forma 97"/>
            <p:cNvSpPr/>
            <p:nvPr/>
          </p:nvSpPr>
          <p:spPr>
            <a:xfrm>
              <a:off x="9500616" y="2715768"/>
              <a:ext cx="2286000" cy="254203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Refleja un proceso </a:t>
              </a:r>
              <a:r>
                <a:rPr lang="es-AR" sz="19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fisiológico o patológico</a:t>
              </a:r>
              <a:r>
                <a:rPr lang="es-AR" sz="19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determinado: medir sin información clínica asociada no sirve.</a:t>
              </a:r>
              <a:endParaRPr lang="es-AR" sz="1900" dirty="0">
                <a:latin typeface="Calibri"/>
              </a:endParaRPr>
            </a:p>
          </p:txBody>
        </p:sp>
        <p:sp>
          <p:nvSpPr>
            <p:cNvPr id="73" name="Forma 98"/>
            <p:cNvSpPr/>
            <p:nvPr/>
          </p:nvSpPr>
          <p:spPr>
            <a:xfrm>
              <a:off x="9628632" y="2514600"/>
              <a:ext cx="199816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SIGNIFICADO CLÍNICO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74" name="Síntesis"/>
          <p:cNvSpPr/>
          <p:nvPr/>
        </p:nvSpPr>
        <p:spPr>
          <a:xfrm>
            <a:off x="4617720" y="5532120"/>
            <a:ext cx="7223760" cy="86868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tres condiciones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deben cumplirse para que un parámetro sea una variable bioquímica válida.</a:t>
            </a:r>
            <a:endParaRPr lang="es-AR" sz="20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641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7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VARIABLE BIOQUÍMICA: DEFINICIÓN</a:t>
            </a:r>
            <a:endParaRPr lang="es-AR" sz="27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7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64" grpId="0" animBg="1"/>
      <p:bldP spid="7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Familia Metabolitos"/>
          <p:cNvGrpSpPr/>
          <p:nvPr/>
        </p:nvGrpSpPr>
        <p:grpSpPr>
          <a:xfrm>
            <a:off x="502920" y="1097280"/>
            <a:ext cx="5394960" cy="2468880"/>
            <a:chOff x="502920" y="1097280"/>
            <a:chExt cx="5394960" cy="2468880"/>
          </a:xfrm>
        </p:grpSpPr>
        <p:sp>
          <p:nvSpPr>
            <p:cNvPr id="7" name="Forma 6"/>
            <p:cNvSpPr/>
            <p:nvPr/>
          </p:nvSpPr>
          <p:spPr>
            <a:xfrm>
              <a:off x="502920" y="1097280"/>
              <a:ext cx="5394960" cy="24688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grpSp>
          <p:nvGrpSpPr>
            <p:cNvPr id="8" name="Ícono glucosa"/>
            <p:cNvGrpSpPr/>
            <p:nvPr/>
          </p:nvGrpSpPr>
          <p:grpSpPr>
            <a:xfrm>
              <a:off x="699229" y="1669585"/>
              <a:ext cx="1847401" cy="1232830"/>
              <a:chOff x="699229" y="1669585"/>
              <a:chExt cx="1847401" cy="1232830"/>
            </a:xfrm>
          </p:grpSpPr>
          <p:sp>
            <p:nvSpPr>
              <p:cNvPr id="9" name="Flecha 8_2"/>
              <p:cNvSpPr/>
              <p:nvPr/>
            </p:nvSpPr>
            <p:spPr>
              <a:xfrm>
                <a:off x="1360682" y="2301013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0" y="0"/>
                    </a:moveTo>
                    <a:lnTo>
                      <a:pt x="328" y="164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10" name="Flecha 10_2"/>
              <p:cNvSpPr/>
              <p:nvPr/>
            </p:nvSpPr>
            <p:spPr>
              <a:xfrm>
                <a:off x="1360682" y="2301013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0" y="0"/>
                    </a:moveTo>
                    <a:lnTo>
                      <a:pt x="328" y="164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11" name="Flecha 12_2"/>
              <p:cNvSpPr/>
              <p:nvPr/>
            </p:nvSpPr>
            <p:spPr>
              <a:xfrm>
                <a:off x="1660933" y="2301013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0" y="164"/>
                    </a:moveTo>
                    <a:lnTo>
                      <a:pt x="328" y="0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12" name="Flecha 14_2"/>
              <p:cNvSpPr/>
              <p:nvPr/>
            </p:nvSpPr>
            <p:spPr>
              <a:xfrm>
                <a:off x="1660933" y="2301013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0" y="164"/>
                    </a:moveTo>
                    <a:lnTo>
                      <a:pt x="328" y="0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13" name="Flecha 16_2"/>
              <p:cNvSpPr/>
              <p:nvPr/>
            </p:nvSpPr>
            <p:spPr>
              <a:xfrm>
                <a:off x="1961183" y="1970737"/>
                <a:ext cx="9144" cy="33027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1" fill="none">
                    <a:moveTo>
                      <a:pt x="0" y="361"/>
                    </a:moveTo>
                    <a:lnTo>
                      <a:pt x="0" y="0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14" name="Flecha 18_2"/>
              <p:cNvSpPr/>
              <p:nvPr/>
            </p:nvSpPr>
            <p:spPr>
              <a:xfrm>
                <a:off x="1961183" y="1970737"/>
                <a:ext cx="9144" cy="33027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1" fill="none">
                    <a:moveTo>
                      <a:pt x="0" y="361"/>
                    </a:moveTo>
                    <a:lnTo>
                      <a:pt x="0" y="0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15" name="Flecha 20_2"/>
              <p:cNvSpPr/>
              <p:nvPr/>
            </p:nvSpPr>
            <p:spPr>
              <a:xfrm>
                <a:off x="1660933" y="1820611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328" y="164"/>
                    </a:moveTo>
                    <a:lnTo>
                      <a:pt x="0" y="0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16" name="Flecha 22_2"/>
              <p:cNvSpPr/>
              <p:nvPr/>
            </p:nvSpPr>
            <p:spPr>
              <a:xfrm>
                <a:off x="1660933" y="1820611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328" y="164"/>
                    </a:moveTo>
                    <a:lnTo>
                      <a:pt x="0" y="0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17" name="Flecha 24_2"/>
              <p:cNvSpPr/>
              <p:nvPr/>
            </p:nvSpPr>
            <p:spPr>
              <a:xfrm>
                <a:off x="1360682" y="1820611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328" y="0"/>
                    </a:moveTo>
                    <a:lnTo>
                      <a:pt x="0" y="164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18" name="Flecha 26_2"/>
              <p:cNvSpPr/>
              <p:nvPr/>
            </p:nvSpPr>
            <p:spPr>
              <a:xfrm>
                <a:off x="1360682" y="1820611"/>
                <a:ext cx="300251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328" h="164" fill="none">
                    <a:moveTo>
                      <a:pt x="328" y="0"/>
                    </a:moveTo>
                    <a:lnTo>
                      <a:pt x="0" y="164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19" name="Flecha 28_2"/>
              <p:cNvSpPr/>
              <p:nvPr/>
            </p:nvSpPr>
            <p:spPr>
              <a:xfrm>
                <a:off x="1360682" y="1970737"/>
                <a:ext cx="9144" cy="33027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1" fill="none">
                    <a:moveTo>
                      <a:pt x="0" y="0"/>
                    </a:moveTo>
                    <a:lnTo>
                      <a:pt x="0" y="361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20" name="Flecha 30_2"/>
              <p:cNvSpPr/>
              <p:nvPr/>
            </p:nvSpPr>
            <p:spPr>
              <a:xfrm>
                <a:off x="1360682" y="1970737"/>
                <a:ext cx="9144" cy="33027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1" fill="none">
                    <a:moveTo>
                      <a:pt x="0" y="0"/>
                    </a:moveTo>
                    <a:lnTo>
                      <a:pt x="0" y="361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21" name="Flecha 32_2"/>
              <p:cNvSpPr/>
              <p:nvPr/>
            </p:nvSpPr>
            <p:spPr>
              <a:xfrm>
                <a:off x="1090456" y="2301013"/>
                <a:ext cx="270226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64" fill="none">
                    <a:moveTo>
                      <a:pt x="295" y="0"/>
                    </a:moveTo>
                    <a:lnTo>
                      <a:pt x="0" y="164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22" name="Flecha 34_2"/>
              <p:cNvSpPr/>
              <p:nvPr/>
            </p:nvSpPr>
            <p:spPr>
              <a:xfrm>
                <a:off x="1090456" y="2301013"/>
                <a:ext cx="270226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64" fill="none">
                    <a:moveTo>
                      <a:pt x="295" y="0"/>
                    </a:moveTo>
                    <a:lnTo>
                      <a:pt x="0" y="164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23" name="Flecha 36_2"/>
              <p:cNvSpPr/>
              <p:nvPr/>
            </p:nvSpPr>
            <p:spPr>
              <a:xfrm>
                <a:off x="1660933" y="2451138"/>
                <a:ext cx="9144" cy="33027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1" fill="none">
                    <a:moveTo>
                      <a:pt x="0" y="0"/>
                    </a:moveTo>
                    <a:lnTo>
                      <a:pt x="0" y="361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24" name="Flecha 38_2"/>
              <p:cNvSpPr/>
              <p:nvPr/>
            </p:nvSpPr>
            <p:spPr>
              <a:xfrm>
                <a:off x="1660933" y="2451138"/>
                <a:ext cx="9144" cy="330276"/>
              </a:xfrm>
              <a:custGeom>
                <a:avLst/>
                <a:gdLst/>
                <a:ahLst/>
                <a:cxnLst/>
                <a:rect l="0" t="0" r="r" b="b"/>
                <a:pathLst>
                  <a:path w="10" h="361" fill="none">
                    <a:moveTo>
                      <a:pt x="0" y="0"/>
                    </a:moveTo>
                    <a:lnTo>
                      <a:pt x="0" y="361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25" name="Flecha 40_2"/>
              <p:cNvSpPr/>
              <p:nvPr/>
            </p:nvSpPr>
            <p:spPr>
              <a:xfrm>
                <a:off x="1961183" y="2301013"/>
                <a:ext cx="270226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64" fill="none">
                    <a:moveTo>
                      <a:pt x="0" y="0"/>
                    </a:moveTo>
                    <a:lnTo>
                      <a:pt x="295" y="164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26" name="Flecha 42_2"/>
              <p:cNvSpPr/>
              <p:nvPr/>
            </p:nvSpPr>
            <p:spPr>
              <a:xfrm>
                <a:off x="1961183" y="2301013"/>
                <a:ext cx="270226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64" fill="none">
                    <a:moveTo>
                      <a:pt x="0" y="0"/>
                    </a:moveTo>
                    <a:lnTo>
                      <a:pt x="295" y="164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27" name="Flecha 44_2"/>
              <p:cNvSpPr/>
              <p:nvPr/>
            </p:nvSpPr>
            <p:spPr>
              <a:xfrm>
                <a:off x="1090456" y="1790586"/>
                <a:ext cx="270226" cy="180150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97" fill="none">
                    <a:moveTo>
                      <a:pt x="295" y="197"/>
                    </a:moveTo>
                    <a:lnTo>
                      <a:pt x="0" y="0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28" name="Flecha 46_2"/>
              <p:cNvSpPr/>
              <p:nvPr/>
            </p:nvSpPr>
            <p:spPr>
              <a:xfrm>
                <a:off x="1090456" y="1790586"/>
                <a:ext cx="270226" cy="180150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97" fill="none">
                    <a:moveTo>
                      <a:pt x="295" y="197"/>
                    </a:moveTo>
                    <a:lnTo>
                      <a:pt x="0" y="0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29" name="Flecha 48_2"/>
              <p:cNvSpPr/>
              <p:nvPr/>
            </p:nvSpPr>
            <p:spPr>
              <a:xfrm>
                <a:off x="820230" y="1790586"/>
                <a:ext cx="270226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64" fill="none">
                    <a:moveTo>
                      <a:pt x="295" y="0"/>
                    </a:moveTo>
                    <a:lnTo>
                      <a:pt x="0" y="164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30" name="Flecha 50_2"/>
              <p:cNvSpPr/>
              <p:nvPr/>
            </p:nvSpPr>
            <p:spPr>
              <a:xfrm>
                <a:off x="820230" y="1790586"/>
                <a:ext cx="270226" cy="150125"/>
              </a:xfrm>
              <a:custGeom>
                <a:avLst/>
                <a:gdLst/>
                <a:ahLst/>
                <a:cxnLst/>
                <a:rect l="0" t="0" r="r" b="b"/>
                <a:pathLst>
                  <a:path w="295" h="164" fill="none">
                    <a:moveTo>
                      <a:pt x="295" y="0"/>
                    </a:moveTo>
                    <a:lnTo>
                      <a:pt x="0" y="164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31" name="Flecha 52_2"/>
              <p:cNvSpPr/>
              <p:nvPr/>
            </p:nvSpPr>
            <p:spPr>
              <a:xfrm>
                <a:off x="850256" y="2331038"/>
                <a:ext cx="240201" cy="120100"/>
              </a:xfrm>
              <a:custGeom>
                <a:avLst/>
                <a:gdLst/>
                <a:ahLst/>
                <a:cxnLst/>
                <a:rect l="0" t="0" r="r" b="b"/>
                <a:pathLst>
                  <a:path w="262" h="131" fill="none">
                    <a:moveTo>
                      <a:pt x="262" y="131"/>
                    </a:moveTo>
                    <a:lnTo>
                      <a:pt x="0" y="0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32" name="Flecha 54_2"/>
              <p:cNvSpPr/>
              <p:nvPr/>
            </p:nvSpPr>
            <p:spPr>
              <a:xfrm>
                <a:off x="850256" y="2331038"/>
                <a:ext cx="240201" cy="120100"/>
              </a:xfrm>
              <a:custGeom>
                <a:avLst/>
                <a:gdLst/>
                <a:ahLst/>
                <a:cxnLst/>
                <a:rect l="0" t="0" r="r" b="b"/>
                <a:pathLst>
                  <a:path w="262" h="131" fill="none">
                    <a:moveTo>
                      <a:pt x="262" y="131"/>
                    </a:moveTo>
                    <a:lnTo>
                      <a:pt x="0" y="0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33" name="Flecha 56_2"/>
              <p:cNvSpPr/>
              <p:nvPr/>
            </p:nvSpPr>
            <p:spPr>
              <a:xfrm>
                <a:off x="2231409" y="2331038"/>
                <a:ext cx="240201" cy="120100"/>
              </a:xfrm>
              <a:custGeom>
                <a:avLst/>
                <a:gdLst/>
                <a:ahLst/>
                <a:cxnLst/>
                <a:rect l="0" t="0" r="r" b="b"/>
                <a:pathLst>
                  <a:path w="262" h="131" fill="none">
                    <a:moveTo>
                      <a:pt x="0" y="131"/>
                    </a:moveTo>
                    <a:lnTo>
                      <a:pt x="262" y="0"/>
                    </a:lnTo>
                  </a:path>
                </a:pathLst>
              </a:custGeom>
              <a:noFill/>
              <a:ln w="66722" cap="rnd">
                <a:solidFill>
                  <a:srgbClr val="B9B9B9"/>
                </a:solidFill>
                <a:round/>
              </a:ln>
            </p:spPr>
          </p:sp>
          <p:sp>
            <p:nvSpPr>
              <p:cNvPr id="34" name="Flecha 58_2"/>
              <p:cNvSpPr/>
              <p:nvPr/>
            </p:nvSpPr>
            <p:spPr>
              <a:xfrm>
                <a:off x="2231409" y="2331038"/>
                <a:ext cx="240201" cy="120100"/>
              </a:xfrm>
              <a:custGeom>
                <a:avLst/>
                <a:gdLst/>
                <a:ahLst/>
                <a:cxnLst/>
                <a:rect l="0" t="0" r="r" b="b"/>
                <a:pathLst>
                  <a:path w="262" h="131" fill="none">
                    <a:moveTo>
                      <a:pt x="0" y="131"/>
                    </a:moveTo>
                    <a:lnTo>
                      <a:pt x="262" y="0"/>
                    </a:lnTo>
                  </a:path>
                </a:pathLst>
              </a:custGeom>
              <a:noFill/>
              <a:ln w="37531" cap="rnd">
                <a:solidFill>
                  <a:srgbClr val="FFFFFF"/>
                </a:solidFill>
                <a:round/>
              </a:ln>
            </p:spPr>
          </p:sp>
          <p:sp>
            <p:nvSpPr>
              <p:cNvPr id="35" name="Forma 60"/>
              <p:cNvSpPr/>
              <p:nvPr/>
            </p:nvSpPr>
            <p:spPr>
              <a:xfrm>
                <a:off x="775235" y="2256017"/>
                <a:ext cx="150041" cy="15004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6" name="Forma 61"/>
              <p:cNvSpPr/>
              <p:nvPr/>
            </p:nvSpPr>
            <p:spPr>
              <a:xfrm>
                <a:off x="2396589" y="2256017"/>
                <a:ext cx="150041" cy="15004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7" name="Forma 62"/>
              <p:cNvSpPr/>
              <p:nvPr/>
            </p:nvSpPr>
            <p:spPr>
              <a:xfrm>
                <a:off x="1239681" y="2180011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8" name="Forma 63"/>
              <p:cNvSpPr/>
              <p:nvPr/>
            </p:nvSpPr>
            <p:spPr>
              <a:xfrm>
                <a:off x="1539931" y="2330137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9" name="Forma 64"/>
              <p:cNvSpPr/>
              <p:nvPr/>
            </p:nvSpPr>
            <p:spPr>
              <a:xfrm>
                <a:off x="1840182" y="2180011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0" name="Forma 65"/>
              <p:cNvSpPr/>
              <p:nvPr/>
            </p:nvSpPr>
            <p:spPr>
              <a:xfrm>
                <a:off x="1840182" y="1849736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1" name="Forma 66"/>
              <p:cNvSpPr/>
              <p:nvPr/>
            </p:nvSpPr>
            <p:spPr>
              <a:xfrm>
                <a:off x="1539931" y="1699610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2" name="Forma 67"/>
              <p:cNvSpPr/>
              <p:nvPr/>
            </p:nvSpPr>
            <p:spPr>
              <a:xfrm>
                <a:off x="1239681" y="1849736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3" name="Forma 68"/>
              <p:cNvSpPr/>
              <p:nvPr/>
            </p:nvSpPr>
            <p:spPr>
              <a:xfrm>
                <a:off x="969455" y="2330137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4" name="Forma 69"/>
              <p:cNvSpPr/>
              <p:nvPr/>
            </p:nvSpPr>
            <p:spPr>
              <a:xfrm>
                <a:off x="1539931" y="2660413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5" name="Forma 70"/>
              <p:cNvSpPr/>
              <p:nvPr/>
            </p:nvSpPr>
            <p:spPr>
              <a:xfrm>
                <a:off x="2110408" y="2330137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6" name="Forma 71"/>
              <p:cNvSpPr/>
              <p:nvPr/>
            </p:nvSpPr>
            <p:spPr>
              <a:xfrm>
                <a:off x="969455" y="1669585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7" name="Forma 72"/>
              <p:cNvSpPr/>
              <p:nvPr/>
            </p:nvSpPr>
            <p:spPr>
              <a:xfrm>
                <a:off x="699229" y="1819711"/>
                <a:ext cx="242002" cy="242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  <p:sp>
          <p:nvSpPr>
            <p:cNvPr id="48" name="Forma 73"/>
            <p:cNvSpPr txBox="1"/>
            <p:nvPr/>
          </p:nvSpPr>
          <p:spPr>
            <a:xfrm>
              <a:off x="2697480" y="1280160"/>
              <a:ext cx="3108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METABOLITOS</a:t>
              </a:r>
              <a:endParaRPr lang="es-AR" sz="2400" dirty="0">
                <a:latin typeface="Segoe Print"/>
              </a:endParaRPr>
            </a:p>
          </p:txBody>
        </p:sp>
        <p:sp>
          <p:nvSpPr>
            <p:cNvPr id="49" name="Forma 74"/>
            <p:cNvSpPr txBox="1"/>
            <p:nvPr/>
          </p:nvSpPr>
          <p:spPr>
            <a:xfrm>
              <a:off x="2697480" y="1965960"/>
              <a:ext cx="306324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Productos de un metabolismo: su cantidad informa el estado de esa vía.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50" name="Familia Electrolitos"/>
          <p:cNvGrpSpPr/>
          <p:nvPr/>
        </p:nvGrpSpPr>
        <p:grpSpPr>
          <a:xfrm>
            <a:off x="6172200" y="1097280"/>
            <a:ext cx="5394960" cy="2468880"/>
            <a:chOff x="6172200" y="1097280"/>
            <a:chExt cx="5394960" cy="2468880"/>
          </a:xfrm>
        </p:grpSpPr>
        <p:sp>
          <p:nvSpPr>
            <p:cNvPr id="51" name="Forma 76"/>
            <p:cNvSpPr/>
            <p:nvPr/>
          </p:nvSpPr>
          <p:spPr>
            <a:xfrm>
              <a:off x="6172200" y="1097280"/>
              <a:ext cx="5394960" cy="24688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sp>
          <p:nvSpPr>
            <p:cNvPr id="52" name="Ion 0"/>
            <p:cNvSpPr/>
            <p:nvPr/>
          </p:nvSpPr>
          <p:spPr>
            <a:xfrm>
              <a:off x="6355080" y="137160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8CBCDC"/>
                </a:gs>
                <a:gs pos="55000">
                  <a:srgbClr val="2E86C1"/>
                </a:gs>
                <a:gs pos="100000">
                  <a:srgbClr val="22649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7436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20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090" dirty="0">
                <a:latin typeface="Calibri"/>
              </a:endParaRPr>
            </a:p>
          </p:txBody>
        </p:sp>
        <p:sp>
          <p:nvSpPr>
            <p:cNvPr id="53" name="Ion 1"/>
            <p:cNvSpPr/>
            <p:nvPr/>
          </p:nvSpPr>
          <p:spPr>
            <a:xfrm>
              <a:off x="7315200" y="137160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C098D1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7225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s-AR" sz="20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090" dirty="0">
                <a:latin typeface="Calibri"/>
              </a:endParaRPr>
            </a:p>
          </p:txBody>
        </p:sp>
        <p:sp>
          <p:nvSpPr>
            <p:cNvPr id="54" name="Ion 2"/>
            <p:cNvSpPr/>
            <p:nvPr/>
          </p:nvSpPr>
          <p:spPr>
            <a:xfrm>
              <a:off x="6355080" y="233172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88D2A7"/>
                </a:gs>
                <a:gs pos="55000">
                  <a:srgbClr val="27AE60"/>
                </a:gs>
                <a:gs pos="100000">
                  <a:srgbClr val="1D8248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3573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</a:t>
              </a:r>
              <a:r>
                <a:rPr lang="es-AR" sz="20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 lang="es-AR" sz="2090" dirty="0">
                <a:latin typeface="Calibri"/>
              </a:endParaRPr>
            </a:p>
          </p:txBody>
        </p:sp>
        <p:sp>
          <p:nvSpPr>
            <p:cNvPr id="55" name="Ion 3"/>
            <p:cNvSpPr/>
            <p:nvPr/>
          </p:nvSpPr>
          <p:spPr>
            <a:xfrm>
              <a:off x="7315200" y="233172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1B885"/>
                </a:gs>
                <a:gs pos="55000">
                  <a:srgbClr val="E67E22"/>
                </a:gs>
                <a:gs pos="100000">
                  <a:srgbClr val="AC5E19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33F11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</a:t>
              </a:r>
              <a:r>
                <a:rPr lang="es-AR" sz="20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endParaRPr lang="es-AR" sz="2090" dirty="0">
                <a:latin typeface="Calibri"/>
              </a:endParaRPr>
            </a:p>
          </p:txBody>
        </p:sp>
        <p:sp>
          <p:nvSpPr>
            <p:cNvPr id="56" name="Forma 81"/>
            <p:cNvSpPr txBox="1"/>
            <p:nvPr/>
          </p:nvSpPr>
          <p:spPr>
            <a:xfrm>
              <a:off x="8366760" y="1280160"/>
              <a:ext cx="3108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ELECTROLITOS</a:t>
              </a:r>
              <a:endParaRPr lang="es-AR" sz="2400" dirty="0">
                <a:latin typeface="Segoe Print"/>
              </a:endParaRPr>
            </a:p>
          </p:txBody>
        </p:sp>
        <p:sp>
          <p:nvSpPr>
            <p:cNvPr id="57" name="Forma 82"/>
            <p:cNvSpPr txBox="1"/>
            <p:nvPr/>
          </p:nvSpPr>
          <p:spPr>
            <a:xfrm>
              <a:off x="8366760" y="1965960"/>
              <a:ext cx="306324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Cationes y aniones minerales: Na</a:t>
              </a:r>
              <a:r>
                <a:rPr lang="es-AR" sz="17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K</a:t>
              </a:r>
              <a:r>
                <a:rPr lang="es-AR" sz="17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Cl</a:t>
              </a:r>
              <a:r>
                <a:rPr lang="es-AR" sz="17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Ca</a:t>
              </a:r>
              <a:r>
                <a:rPr lang="es-AR" sz="17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58" name="Familia Enzimas"/>
          <p:cNvGrpSpPr/>
          <p:nvPr/>
        </p:nvGrpSpPr>
        <p:grpSpPr>
          <a:xfrm>
            <a:off x="502920" y="3794760"/>
            <a:ext cx="5394960" cy="2468880"/>
            <a:chOff x="502920" y="3794760"/>
            <a:chExt cx="5394960" cy="2468880"/>
          </a:xfrm>
        </p:grpSpPr>
        <p:sp>
          <p:nvSpPr>
            <p:cNvPr id="59" name="Forma 84"/>
            <p:cNvSpPr/>
            <p:nvPr/>
          </p:nvSpPr>
          <p:spPr>
            <a:xfrm>
              <a:off x="502920" y="3794760"/>
              <a:ext cx="5394960" cy="24688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sp>
          <p:nvSpPr>
            <p:cNvPr id="60" name="Ícono enzima"/>
            <p:cNvSpPr/>
            <p:nvPr/>
          </p:nvSpPr>
          <p:spPr>
            <a:xfrm>
              <a:off x="731520" y="4160520"/>
              <a:ext cx="1737360" cy="15544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61" name="Forma 86"/>
            <p:cNvSpPr txBox="1"/>
            <p:nvPr/>
          </p:nvSpPr>
          <p:spPr>
            <a:xfrm>
              <a:off x="2697480" y="3977640"/>
              <a:ext cx="3108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ENZIMAS</a:t>
              </a:r>
              <a:endParaRPr lang="es-AR" sz="2400" dirty="0">
                <a:latin typeface="Segoe Print"/>
              </a:endParaRPr>
            </a:p>
          </p:txBody>
        </p:sp>
        <p:sp>
          <p:nvSpPr>
            <p:cNvPr id="62" name="Forma 87"/>
            <p:cNvSpPr txBox="1"/>
            <p:nvPr/>
          </p:nvSpPr>
          <p:spPr>
            <a:xfrm>
              <a:off x="2697480" y="4663440"/>
              <a:ext cx="306324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Catalizadores biológicos: su elevación en sangre puede indicar daño de un órgano.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63" name="Familia Hormonas"/>
          <p:cNvGrpSpPr/>
          <p:nvPr/>
        </p:nvGrpSpPr>
        <p:grpSpPr>
          <a:xfrm>
            <a:off x="6172200" y="3794760"/>
            <a:ext cx="5394960" cy="2468880"/>
            <a:chOff x="6172200" y="3794760"/>
            <a:chExt cx="5394960" cy="2468880"/>
          </a:xfrm>
        </p:grpSpPr>
        <p:sp>
          <p:nvSpPr>
            <p:cNvPr id="64" name="Forma 89"/>
            <p:cNvSpPr/>
            <p:nvPr/>
          </p:nvSpPr>
          <p:spPr>
            <a:xfrm>
              <a:off x="6172200" y="3794760"/>
              <a:ext cx="5394960" cy="24688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sp>
          <p:nvSpPr>
            <p:cNvPr id="65" name="Ícono tiroides"/>
            <p:cNvSpPr/>
            <p:nvPr/>
          </p:nvSpPr>
          <p:spPr>
            <a:xfrm>
              <a:off x="6355080" y="4297680"/>
              <a:ext cx="1828800" cy="12801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420"/>
                  </a:moveTo>
                  <a:cubicBezTo>
                    <a:pt x="484" y="420"/>
                    <a:pt x="440" y="236"/>
                    <a:pt x="420" y="200"/>
                  </a:cubicBezTo>
                  <a:cubicBezTo>
                    <a:pt x="400" y="164"/>
                    <a:pt x="327" y="72"/>
                    <a:pt x="300" y="60"/>
                  </a:cubicBezTo>
                  <a:cubicBezTo>
                    <a:pt x="273" y="48"/>
                    <a:pt x="174" y="56"/>
                    <a:pt x="150" y="80"/>
                  </a:cubicBezTo>
                  <a:cubicBezTo>
                    <a:pt x="126" y="104"/>
                    <a:pt x="67" y="243"/>
                    <a:pt x="60" y="300"/>
                  </a:cubicBezTo>
                  <a:cubicBezTo>
                    <a:pt x="53" y="357"/>
                    <a:pt x="64" y="590"/>
                    <a:pt x="80" y="650"/>
                  </a:cubicBezTo>
                  <a:cubicBezTo>
                    <a:pt x="96" y="710"/>
                    <a:pt x="188" y="877"/>
                    <a:pt x="220" y="900"/>
                  </a:cubicBezTo>
                  <a:cubicBezTo>
                    <a:pt x="252" y="923"/>
                    <a:pt x="372" y="900"/>
                    <a:pt x="400" y="880"/>
                  </a:cubicBezTo>
                  <a:cubicBezTo>
                    <a:pt x="428" y="860"/>
                    <a:pt x="480" y="700"/>
                    <a:pt x="500" y="700"/>
                  </a:cubicBezTo>
                  <a:cubicBezTo>
                    <a:pt x="520" y="700"/>
                    <a:pt x="572" y="860"/>
                    <a:pt x="600" y="880"/>
                  </a:cubicBezTo>
                  <a:cubicBezTo>
                    <a:pt x="628" y="900"/>
                    <a:pt x="748" y="923"/>
                    <a:pt x="780" y="900"/>
                  </a:cubicBezTo>
                  <a:cubicBezTo>
                    <a:pt x="812" y="877"/>
                    <a:pt x="904" y="710"/>
                    <a:pt x="920" y="650"/>
                  </a:cubicBezTo>
                  <a:cubicBezTo>
                    <a:pt x="936" y="590"/>
                    <a:pt x="947" y="357"/>
                    <a:pt x="940" y="300"/>
                  </a:cubicBezTo>
                  <a:cubicBezTo>
                    <a:pt x="933" y="243"/>
                    <a:pt x="874" y="104"/>
                    <a:pt x="850" y="80"/>
                  </a:cubicBezTo>
                  <a:cubicBezTo>
                    <a:pt x="826" y="56"/>
                    <a:pt x="727" y="48"/>
                    <a:pt x="700" y="60"/>
                  </a:cubicBezTo>
                  <a:cubicBezTo>
                    <a:pt x="673" y="72"/>
                    <a:pt x="600" y="164"/>
                    <a:pt x="580" y="200"/>
                  </a:cubicBezTo>
                  <a:cubicBezTo>
                    <a:pt x="560" y="236"/>
                    <a:pt x="516" y="420"/>
                    <a:pt x="500" y="42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928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66" name="Forma 91"/>
            <p:cNvSpPr txBox="1"/>
            <p:nvPr/>
          </p:nvSpPr>
          <p:spPr>
            <a:xfrm>
              <a:off x="8366760" y="3977640"/>
              <a:ext cx="310896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HORMONAS</a:t>
              </a:r>
              <a:endParaRPr lang="es-AR" sz="2400" dirty="0">
                <a:latin typeface="Segoe Print"/>
              </a:endParaRPr>
            </a:p>
          </p:txBody>
        </p:sp>
        <p:sp>
          <p:nvSpPr>
            <p:cNvPr id="67" name="Forma 92"/>
            <p:cNvSpPr txBox="1"/>
            <p:nvPr/>
          </p:nvSpPr>
          <p:spPr>
            <a:xfrm>
              <a:off x="8366760" y="4663440"/>
              <a:ext cx="3063240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Mensajeros endocrinos: informan sobre la comunicación celular.</a:t>
              </a:r>
              <a:endParaRPr lang="es-AR" sz="17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CUATRO FAMILIAS DE VARIABLES BIOQUÍMICAS</a:t>
            </a:r>
            <a:endParaRPr lang="es-AR" sz="2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6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5" name="Tabla metabolitos fila 0"/>
          <p:cNvGrpSpPr/>
          <p:nvPr/>
        </p:nvGrpSpPr>
        <p:grpSpPr>
          <a:xfrm>
            <a:off x="411480" y="1188720"/>
            <a:ext cx="7680960" cy="685800"/>
            <a:chOff x="411480" y="1188720"/>
            <a:chExt cx="7680960" cy="685800"/>
          </a:xfrm>
        </p:grpSpPr>
        <p:sp>
          <p:nvSpPr>
            <p:cNvPr id="6" name="Forma 5"/>
            <p:cNvSpPr/>
            <p:nvPr/>
          </p:nvSpPr>
          <p:spPr>
            <a:xfrm>
              <a:off x="411480" y="1188720"/>
              <a:ext cx="182880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Metabolito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240280" y="1188720"/>
              <a:ext cx="356616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Información que aporta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5806440" y="1188720"/>
              <a:ext cx="228600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Metabolismo evaluado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9" name="Tabla metabolitos fila 1"/>
          <p:cNvGrpSpPr/>
          <p:nvPr/>
        </p:nvGrpSpPr>
        <p:grpSpPr>
          <a:xfrm>
            <a:off x="411480" y="1874520"/>
            <a:ext cx="7680960" cy="685800"/>
            <a:chOff x="411480" y="1874520"/>
            <a:chExt cx="7680960" cy="685800"/>
          </a:xfrm>
        </p:grpSpPr>
        <p:sp>
          <p:nvSpPr>
            <p:cNvPr id="10" name="Forma 9"/>
            <p:cNvSpPr/>
            <p:nvPr/>
          </p:nvSpPr>
          <p:spPr>
            <a:xfrm>
              <a:off x="411480" y="1874520"/>
              <a:ext cx="18288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2240280" y="1874520"/>
              <a:ext cx="356616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Estado del metabolismo de los carbohidratos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5806440" y="1874520"/>
              <a:ext cx="22860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Hidratos de carbono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3" name="Tabla metabolitos fila 2"/>
          <p:cNvGrpSpPr/>
          <p:nvPr/>
        </p:nvGrpSpPr>
        <p:grpSpPr>
          <a:xfrm>
            <a:off x="411480" y="2560320"/>
            <a:ext cx="7680960" cy="685800"/>
            <a:chOff x="411480" y="2560320"/>
            <a:chExt cx="7680960" cy="685800"/>
          </a:xfrm>
        </p:grpSpPr>
        <p:sp>
          <p:nvSpPr>
            <p:cNvPr id="14" name="Forma 13"/>
            <p:cNvSpPr/>
            <p:nvPr/>
          </p:nvSpPr>
          <p:spPr>
            <a:xfrm>
              <a:off x="411480" y="2560320"/>
              <a:ext cx="182880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Urea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2240280" y="2560320"/>
              <a:ext cx="356616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Metabolismo de las proteínas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5806440" y="2560320"/>
              <a:ext cx="228600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Proteínas / función renal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7" name="Tabla metabolitos fila 3"/>
          <p:cNvGrpSpPr/>
          <p:nvPr/>
        </p:nvGrpSpPr>
        <p:grpSpPr>
          <a:xfrm>
            <a:off x="411480" y="3246120"/>
            <a:ext cx="7680960" cy="685800"/>
            <a:chOff x="411480" y="3246120"/>
            <a:chExt cx="7680960" cy="685800"/>
          </a:xfrm>
        </p:grpSpPr>
        <p:sp>
          <p:nvSpPr>
            <p:cNvPr id="18" name="Forma 17"/>
            <p:cNvSpPr/>
            <p:nvPr/>
          </p:nvSpPr>
          <p:spPr>
            <a:xfrm>
              <a:off x="411480" y="3246120"/>
              <a:ext cx="18288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Creatinina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2240280" y="3246120"/>
              <a:ext cx="356616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 renal (excreción de productos de desecho)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5806440" y="3246120"/>
              <a:ext cx="22860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Renal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1" name="Tabla metabolitos fila 4"/>
          <p:cNvGrpSpPr/>
          <p:nvPr/>
        </p:nvGrpSpPr>
        <p:grpSpPr>
          <a:xfrm>
            <a:off x="411480" y="3931920"/>
            <a:ext cx="7680960" cy="685800"/>
            <a:chOff x="411480" y="3931920"/>
            <a:chExt cx="7680960" cy="685800"/>
          </a:xfrm>
        </p:grpSpPr>
        <p:sp>
          <p:nvSpPr>
            <p:cNvPr id="22" name="Forma 21"/>
            <p:cNvSpPr/>
            <p:nvPr/>
          </p:nvSpPr>
          <p:spPr>
            <a:xfrm>
              <a:off x="411480" y="3931920"/>
              <a:ext cx="182880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úrico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2240280" y="3931920"/>
              <a:ext cx="356616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Metabolismo de las bases púricas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806440" y="3931920"/>
              <a:ext cx="228600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Purinas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5" name="Molécula glucosa"/>
          <p:cNvGrpSpPr/>
          <p:nvPr/>
        </p:nvGrpSpPr>
        <p:grpSpPr>
          <a:xfrm>
            <a:off x="8646444" y="1250722"/>
            <a:ext cx="1595483" cy="1064716"/>
            <a:chOff x="8646444" y="1250722"/>
            <a:chExt cx="1595483" cy="1064716"/>
          </a:xfrm>
        </p:grpSpPr>
        <p:sp>
          <p:nvSpPr>
            <p:cNvPr id="26" name="Flecha 25_2"/>
            <p:cNvSpPr/>
            <p:nvPr/>
          </p:nvSpPr>
          <p:spPr>
            <a:xfrm>
              <a:off x="9217698" y="1796045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0" y="0"/>
                  </a:moveTo>
                  <a:lnTo>
                    <a:pt x="283" y="141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27" name="Flecha 27_2"/>
            <p:cNvSpPr/>
            <p:nvPr/>
          </p:nvSpPr>
          <p:spPr>
            <a:xfrm>
              <a:off x="9217698" y="1796045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0" y="0"/>
                  </a:moveTo>
                  <a:lnTo>
                    <a:pt x="283" y="141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28" name="Flecha 29_2"/>
            <p:cNvSpPr/>
            <p:nvPr/>
          </p:nvSpPr>
          <p:spPr>
            <a:xfrm>
              <a:off x="9477005" y="1796045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0" y="141"/>
                  </a:moveTo>
                  <a:lnTo>
                    <a:pt x="283" y="0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29" name="Flecha 31_2"/>
            <p:cNvSpPr/>
            <p:nvPr/>
          </p:nvSpPr>
          <p:spPr>
            <a:xfrm>
              <a:off x="9477005" y="1796045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0" y="141"/>
                  </a:moveTo>
                  <a:lnTo>
                    <a:pt x="283" y="0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30" name="Flecha 33_2"/>
            <p:cNvSpPr/>
            <p:nvPr/>
          </p:nvSpPr>
          <p:spPr>
            <a:xfrm>
              <a:off x="9736313" y="1510807"/>
              <a:ext cx="9144" cy="285238"/>
            </a:xfrm>
            <a:custGeom>
              <a:avLst/>
              <a:gdLst/>
              <a:ahLst/>
              <a:cxnLst/>
              <a:rect l="0" t="0" r="r" b="b"/>
              <a:pathLst>
                <a:path w="10" h="311" fill="none">
                  <a:moveTo>
                    <a:pt x="0" y="311"/>
                  </a:moveTo>
                  <a:lnTo>
                    <a:pt x="0" y="0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31" name="Flecha 35_2"/>
            <p:cNvSpPr/>
            <p:nvPr/>
          </p:nvSpPr>
          <p:spPr>
            <a:xfrm>
              <a:off x="9736313" y="1510807"/>
              <a:ext cx="9144" cy="285238"/>
            </a:xfrm>
            <a:custGeom>
              <a:avLst/>
              <a:gdLst/>
              <a:ahLst/>
              <a:cxnLst/>
              <a:rect l="0" t="0" r="r" b="b"/>
              <a:pathLst>
                <a:path w="10" h="311" fill="none">
                  <a:moveTo>
                    <a:pt x="0" y="311"/>
                  </a:moveTo>
                  <a:lnTo>
                    <a:pt x="0" y="0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32" name="Flecha 37_2"/>
            <p:cNvSpPr/>
            <p:nvPr/>
          </p:nvSpPr>
          <p:spPr>
            <a:xfrm>
              <a:off x="9477005" y="1381153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283" y="141"/>
                  </a:moveTo>
                  <a:lnTo>
                    <a:pt x="0" y="0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33" name="Flecha 39_2"/>
            <p:cNvSpPr/>
            <p:nvPr/>
          </p:nvSpPr>
          <p:spPr>
            <a:xfrm>
              <a:off x="9477005" y="1381153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283" y="141"/>
                  </a:moveTo>
                  <a:lnTo>
                    <a:pt x="0" y="0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34" name="Flecha 41_2"/>
            <p:cNvSpPr/>
            <p:nvPr/>
          </p:nvSpPr>
          <p:spPr>
            <a:xfrm>
              <a:off x="9217698" y="1381153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283" y="0"/>
                  </a:moveTo>
                  <a:lnTo>
                    <a:pt x="0" y="141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35" name="Flecha 43_2"/>
            <p:cNvSpPr/>
            <p:nvPr/>
          </p:nvSpPr>
          <p:spPr>
            <a:xfrm>
              <a:off x="9217698" y="1381153"/>
              <a:ext cx="259307" cy="129654"/>
            </a:xfrm>
            <a:custGeom>
              <a:avLst/>
              <a:gdLst/>
              <a:ahLst/>
              <a:cxnLst/>
              <a:rect l="0" t="0" r="r" b="b"/>
              <a:pathLst>
                <a:path w="283" h="141" fill="none">
                  <a:moveTo>
                    <a:pt x="283" y="0"/>
                  </a:moveTo>
                  <a:lnTo>
                    <a:pt x="0" y="141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36" name="Flecha 45_2"/>
            <p:cNvSpPr/>
            <p:nvPr/>
          </p:nvSpPr>
          <p:spPr>
            <a:xfrm>
              <a:off x="9217698" y="1510807"/>
              <a:ext cx="9144" cy="285238"/>
            </a:xfrm>
            <a:custGeom>
              <a:avLst/>
              <a:gdLst/>
              <a:ahLst/>
              <a:cxnLst/>
              <a:rect l="0" t="0" r="r" b="b"/>
              <a:pathLst>
                <a:path w="10" h="311" fill="none">
                  <a:moveTo>
                    <a:pt x="0" y="0"/>
                  </a:moveTo>
                  <a:lnTo>
                    <a:pt x="0" y="311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37" name="Flecha 47_2"/>
            <p:cNvSpPr/>
            <p:nvPr/>
          </p:nvSpPr>
          <p:spPr>
            <a:xfrm>
              <a:off x="9217698" y="1510807"/>
              <a:ext cx="9144" cy="285238"/>
            </a:xfrm>
            <a:custGeom>
              <a:avLst/>
              <a:gdLst/>
              <a:ahLst/>
              <a:cxnLst/>
              <a:rect l="0" t="0" r="r" b="b"/>
              <a:pathLst>
                <a:path w="10" h="311" fill="none">
                  <a:moveTo>
                    <a:pt x="0" y="0"/>
                  </a:moveTo>
                  <a:lnTo>
                    <a:pt x="0" y="311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38" name="Flecha 49_2"/>
            <p:cNvSpPr/>
            <p:nvPr/>
          </p:nvSpPr>
          <p:spPr>
            <a:xfrm>
              <a:off x="8984321" y="1796045"/>
              <a:ext cx="233377" cy="129654"/>
            </a:xfrm>
            <a:custGeom>
              <a:avLst/>
              <a:gdLst/>
              <a:ahLst/>
              <a:cxnLst/>
              <a:rect l="0" t="0" r="r" b="b"/>
              <a:pathLst>
                <a:path w="255" h="141" fill="none">
                  <a:moveTo>
                    <a:pt x="255" y="0"/>
                  </a:moveTo>
                  <a:lnTo>
                    <a:pt x="0" y="141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39" name="Flecha 51_2"/>
            <p:cNvSpPr/>
            <p:nvPr/>
          </p:nvSpPr>
          <p:spPr>
            <a:xfrm>
              <a:off x="8984321" y="1796045"/>
              <a:ext cx="233377" cy="129654"/>
            </a:xfrm>
            <a:custGeom>
              <a:avLst/>
              <a:gdLst/>
              <a:ahLst/>
              <a:cxnLst/>
              <a:rect l="0" t="0" r="r" b="b"/>
              <a:pathLst>
                <a:path w="255" h="141" fill="none">
                  <a:moveTo>
                    <a:pt x="255" y="0"/>
                  </a:moveTo>
                  <a:lnTo>
                    <a:pt x="0" y="141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40" name="Flecha 53_2"/>
            <p:cNvSpPr/>
            <p:nvPr/>
          </p:nvSpPr>
          <p:spPr>
            <a:xfrm>
              <a:off x="9477005" y="1925699"/>
              <a:ext cx="9144" cy="285238"/>
            </a:xfrm>
            <a:custGeom>
              <a:avLst/>
              <a:gdLst/>
              <a:ahLst/>
              <a:cxnLst/>
              <a:rect l="0" t="0" r="r" b="b"/>
              <a:pathLst>
                <a:path w="10" h="311" fill="none">
                  <a:moveTo>
                    <a:pt x="0" y="0"/>
                  </a:moveTo>
                  <a:lnTo>
                    <a:pt x="0" y="311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41" name="Flecha 55_2"/>
            <p:cNvSpPr/>
            <p:nvPr/>
          </p:nvSpPr>
          <p:spPr>
            <a:xfrm>
              <a:off x="9477005" y="1925699"/>
              <a:ext cx="9144" cy="285238"/>
            </a:xfrm>
            <a:custGeom>
              <a:avLst/>
              <a:gdLst/>
              <a:ahLst/>
              <a:cxnLst/>
              <a:rect l="0" t="0" r="r" b="b"/>
              <a:pathLst>
                <a:path w="10" h="311" fill="none">
                  <a:moveTo>
                    <a:pt x="0" y="0"/>
                  </a:moveTo>
                  <a:lnTo>
                    <a:pt x="0" y="311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42" name="Flecha 57_2"/>
            <p:cNvSpPr/>
            <p:nvPr/>
          </p:nvSpPr>
          <p:spPr>
            <a:xfrm>
              <a:off x="9736313" y="1796045"/>
              <a:ext cx="233377" cy="129654"/>
            </a:xfrm>
            <a:custGeom>
              <a:avLst/>
              <a:gdLst/>
              <a:ahLst/>
              <a:cxnLst/>
              <a:rect l="0" t="0" r="r" b="b"/>
              <a:pathLst>
                <a:path w="255" h="141" fill="none">
                  <a:moveTo>
                    <a:pt x="0" y="0"/>
                  </a:moveTo>
                  <a:lnTo>
                    <a:pt x="255" y="141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43" name="Flecha 59_2"/>
            <p:cNvSpPr/>
            <p:nvPr/>
          </p:nvSpPr>
          <p:spPr>
            <a:xfrm>
              <a:off x="9736313" y="1796045"/>
              <a:ext cx="233377" cy="129654"/>
            </a:xfrm>
            <a:custGeom>
              <a:avLst/>
              <a:gdLst/>
              <a:ahLst/>
              <a:cxnLst/>
              <a:rect l="0" t="0" r="r" b="b"/>
              <a:pathLst>
                <a:path w="255" h="141" fill="none">
                  <a:moveTo>
                    <a:pt x="0" y="0"/>
                  </a:moveTo>
                  <a:lnTo>
                    <a:pt x="255" y="141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44" name="Flecha 61_2"/>
            <p:cNvSpPr/>
            <p:nvPr/>
          </p:nvSpPr>
          <p:spPr>
            <a:xfrm>
              <a:off x="8984321" y="1355223"/>
              <a:ext cx="233377" cy="155584"/>
            </a:xfrm>
            <a:custGeom>
              <a:avLst/>
              <a:gdLst/>
              <a:ahLst/>
              <a:cxnLst/>
              <a:rect l="0" t="0" r="r" b="b"/>
              <a:pathLst>
                <a:path w="255" h="170" fill="none">
                  <a:moveTo>
                    <a:pt x="255" y="170"/>
                  </a:moveTo>
                  <a:lnTo>
                    <a:pt x="0" y="0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45" name="Flecha 63_2"/>
            <p:cNvSpPr/>
            <p:nvPr/>
          </p:nvSpPr>
          <p:spPr>
            <a:xfrm>
              <a:off x="8984321" y="1355223"/>
              <a:ext cx="233377" cy="155584"/>
            </a:xfrm>
            <a:custGeom>
              <a:avLst/>
              <a:gdLst/>
              <a:ahLst/>
              <a:cxnLst/>
              <a:rect l="0" t="0" r="r" b="b"/>
              <a:pathLst>
                <a:path w="255" h="170" fill="none">
                  <a:moveTo>
                    <a:pt x="255" y="170"/>
                  </a:moveTo>
                  <a:lnTo>
                    <a:pt x="0" y="0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46" name="Flecha 65_2"/>
            <p:cNvSpPr/>
            <p:nvPr/>
          </p:nvSpPr>
          <p:spPr>
            <a:xfrm>
              <a:off x="8750944" y="1355223"/>
              <a:ext cx="233377" cy="129654"/>
            </a:xfrm>
            <a:custGeom>
              <a:avLst/>
              <a:gdLst/>
              <a:ahLst/>
              <a:cxnLst/>
              <a:rect l="0" t="0" r="r" b="b"/>
              <a:pathLst>
                <a:path w="255" h="141" fill="none">
                  <a:moveTo>
                    <a:pt x="255" y="0"/>
                  </a:moveTo>
                  <a:lnTo>
                    <a:pt x="0" y="141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47" name="Flecha 67_2"/>
            <p:cNvSpPr/>
            <p:nvPr/>
          </p:nvSpPr>
          <p:spPr>
            <a:xfrm>
              <a:off x="8750944" y="1355223"/>
              <a:ext cx="233377" cy="129654"/>
            </a:xfrm>
            <a:custGeom>
              <a:avLst/>
              <a:gdLst/>
              <a:ahLst/>
              <a:cxnLst/>
              <a:rect l="0" t="0" r="r" b="b"/>
              <a:pathLst>
                <a:path w="255" h="141" fill="none">
                  <a:moveTo>
                    <a:pt x="255" y="0"/>
                  </a:moveTo>
                  <a:lnTo>
                    <a:pt x="0" y="141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48" name="Flecha 69_2"/>
            <p:cNvSpPr/>
            <p:nvPr/>
          </p:nvSpPr>
          <p:spPr>
            <a:xfrm>
              <a:off x="8776875" y="1821976"/>
              <a:ext cx="207446" cy="103723"/>
            </a:xfrm>
            <a:custGeom>
              <a:avLst/>
              <a:gdLst/>
              <a:ahLst/>
              <a:cxnLst/>
              <a:rect l="0" t="0" r="r" b="b"/>
              <a:pathLst>
                <a:path w="226" h="113" fill="none">
                  <a:moveTo>
                    <a:pt x="226" y="113"/>
                  </a:moveTo>
                  <a:lnTo>
                    <a:pt x="0" y="0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49" name="Flecha 71_2"/>
            <p:cNvSpPr/>
            <p:nvPr/>
          </p:nvSpPr>
          <p:spPr>
            <a:xfrm>
              <a:off x="8776875" y="1821976"/>
              <a:ext cx="207446" cy="103723"/>
            </a:xfrm>
            <a:custGeom>
              <a:avLst/>
              <a:gdLst/>
              <a:ahLst/>
              <a:cxnLst/>
              <a:rect l="0" t="0" r="r" b="b"/>
              <a:pathLst>
                <a:path w="226" h="113" fill="none">
                  <a:moveTo>
                    <a:pt x="226" y="113"/>
                  </a:moveTo>
                  <a:lnTo>
                    <a:pt x="0" y="0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50" name="Flecha 73_2"/>
            <p:cNvSpPr/>
            <p:nvPr/>
          </p:nvSpPr>
          <p:spPr>
            <a:xfrm>
              <a:off x="9969690" y="1821976"/>
              <a:ext cx="207446" cy="103723"/>
            </a:xfrm>
            <a:custGeom>
              <a:avLst/>
              <a:gdLst/>
              <a:ahLst/>
              <a:cxnLst/>
              <a:rect l="0" t="0" r="r" b="b"/>
              <a:pathLst>
                <a:path w="226" h="113" fill="none">
                  <a:moveTo>
                    <a:pt x="0" y="113"/>
                  </a:moveTo>
                  <a:lnTo>
                    <a:pt x="226" y="0"/>
                  </a:lnTo>
                </a:path>
              </a:pathLst>
            </a:custGeom>
            <a:noFill/>
            <a:ln w="57623" cap="rnd">
              <a:solidFill>
                <a:srgbClr val="B9B9B9"/>
              </a:solidFill>
              <a:round/>
            </a:ln>
          </p:spPr>
        </p:sp>
        <p:sp>
          <p:nvSpPr>
            <p:cNvPr id="51" name="Flecha 75_2"/>
            <p:cNvSpPr/>
            <p:nvPr/>
          </p:nvSpPr>
          <p:spPr>
            <a:xfrm>
              <a:off x="9969690" y="1821976"/>
              <a:ext cx="207446" cy="103723"/>
            </a:xfrm>
            <a:custGeom>
              <a:avLst/>
              <a:gdLst/>
              <a:ahLst/>
              <a:cxnLst/>
              <a:rect l="0" t="0" r="r" b="b"/>
              <a:pathLst>
                <a:path w="226" h="113" fill="none">
                  <a:moveTo>
                    <a:pt x="0" y="113"/>
                  </a:moveTo>
                  <a:lnTo>
                    <a:pt x="226" y="0"/>
                  </a:lnTo>
                </a:path>
              </a:pathLst>
            </a:custGeom>
            <a:noFill/>
            <a:ln w="32413" cap="rnd">
              <a:solidFill>
                <a:srgbClr val="FFFFFF"/>
              </a:solidFill>
              <a:round/>
            </a:ln>
          </p:spPr>
        </p:sp>
        <p:sp>
          <p:nvSpPr>
            <p:cNvPr id="52" name="Forma 77"/>
            <p:cNvSpPr/>
            <p:nvPr/>
          </p:nvSpPr>
          <p:spPr>
            <a:xfrm>
              <a:off x="8712085" y="1757186"/>
              <a:ext cx="129581" cy="1295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3" name="Forma 78"/>
            <p:cNvSpPr/>
            <p:nvPr/>
          </p:nvSpPr>
          <p:spPr>
            <a:xfrm>
              <a:off x="10112345" y="1757186"/>
              <a:ext cx="129581" cy="1295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4" name="Forma 79"/>
            <p:cNvSpPr/>
            <p:nvPr/>
          </p:nvSpPr>
          <p:spPr>
            <a:xfrm>
              <a:off x="9113197" y="1691544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5" name="Forma 80"/>
            <p:cNvSpPr/>
            <p:nvPr/>
          </p:nvSpPr>
          <p:spPr>
            <a:xfrm>
              <a:off x="9372504" y="1821198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6" name="Forma 81"/>
            <p:cNvSpPr/>
            <p:nvPr/>
          </p:nvSpPr>
          <p:spPr>
            <a:xfrm>
              <a:off x="9631812" y="1691544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7" name="Forma 82"/>
            <p:cNvSpPr/>
            <p:nvPr/>
          </p:nvSpPr>
          <p:spPr>
            <a:xfrm>
              <a:off x="9631812" y="1406306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8" name="Forma 83"/>
            <p:cNvSpPr/>
            <p:nvPr/>
          </p:nvSpPr>
          <p:spPr>
            <a:xfrm>
              <a:off x="9372504" y="1276653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9" name="Forma 84"/>
            <p:cNvSpPr/>
            <p:nvPr/>
          </p:nvSpPr>
          <p:spPr>
            <a:xfrm>
              <a:off x="9113197" y="1406306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0" name="Forma 85"/>
            <p:cNvSpPr/>
            <p:nvPr/>
          </p:nvSpPr>
          <p:spPr>
            <a:xfrm>
              <a:off x="8879820" y="1821198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1" name="Forma 86"/>
            <p:cNvSpPr/>
            <p:nvPr/>
          </p:nvSpPr>
          <p:spPr>
            <a:xfrm>
              <a:off x="9372504" y="2106436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2" name="Forma 87"/>
            <p:cNvSpPr/>
            <p:nvPr/>
          </p:nvSpPr>
          <p:spPr>
            <a:xfrm>
              <a:off x="9865189" y="1821198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3" name="Forma 88"/>
            <p:cNvSpPr/>
            <p:nvPr/>
          </p:nvSpPr>
          <p:spPr>
            <a:xfrm>
              <a:off x="8879820" y="1250722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4" name="Forma 89"/>
            <p:cNvSpPr/>
            <p:nvPr/>
          </p:nvSpPr>
          <p:spPr>
            <a:xfrm>
              <a:off x="8646444" y="1380376"/>
              <a:ext cx="209002" cy="209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grpSp>
        <p:nvGrpSpPr>
          <p:cNvPr id="65" name="Molécula urea"/>
          <p:cNvGrpSpPr/>
          <p:nvPr/>
        </p:nvGrpSpPr>
        <p:grpSpPr>
          <a:xfrm>
            <a:off x="10439443" y="1309726"/>
            <a:ext cx="1249595" cy="991472"/>
            <a:chOff x="10439443" y="1309726"/>
            <a:chExt cx="1249595" cy="991472"/>
          </a:xfrm>
        </p:grpSpPr>
        <p:sp>
          <p:nvSpPr>
            <p:cNvPr id="66" name="Flecha 91_2"/>
            <p:cNvSpPr/>
            <p:nvPr/>
          </p:nvSpPr>
          <p:spPr>
            <a:xfrm>
              <a:off x="11064240" y="1432560"/>
              <a:ext cx="9144" cy="335280"/>
            </a:xfrm>
            <a:custGeom>
              <a:avLst/>
              <a:gdLst/>
              <a:ahLst/>
              <a:cxnLst/>
              <a:rect l="0" t="0" r="r" b="b"/>
              <a:pathLst>
                <a:path w="10" h="366" fill="none">
                  <a:moveTo>
                    <a:pt x="0" y="366"/>
                  </a:moveTo>
                  <a:lnTo>
                    <a:pt x="0" y="0"/>
                  </a:lnTo>
                </a:path>
              </a:pathLst>
            </a:custGeom>
            <a:noFill/>
            <a:ln w="67733" cap="rnd">
              <a:solidFill>
                <a:srgbClr val="B9B9B9"/>
              </a:solidFill>
              <a:round/>
            </a:ln>
          </p:spPr>
        </p:sp>
        <p:sp>
          <p:nvSpPr>
            <p:cNvPr id="67" name="Flecha 93_2"/>
            <p:cNvSpPr/>
            <p:nvPr/>
          </p:nvSpPr>
          <p:spPr>
            <a:xfrm>
              <a:off x="11064240" y="1432560"/>
              <a:ext cx="9144" cy="335280"/>
            </a:xfrm>
            <a:custGeom>
              <a:avLst/>
              <a:gdLst/>
              <a:ahLst/>
              <a:cxnLst/>
              <a:rect l="0" t="0" r="r" b="b"/>
              <a:pathLst>
                <a:path w="10" h="366" fill="none">
                  <a:moveTo>
                    <a:pt x="0" y="366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68" name="Flecha 95_2"/>
            <p:cNvSpPr/>
            <p:nvPr/>
          </p:nvSpPr>
          <p:spPr>
            <a:xfrm>
              <a:off x="11064240" y="1767840"/>
              <a:ext cx="304800" cy="182880"/>
            </a:xfrm>
            <a:custGeom>
              <a:avLst/>
              <a:gdLst/>
              <a:ahLst/>
              <a:cxnLst/>
              <a:rect l="0" t="0" r="r" b="b"/>
              <a:pathLst>
                <a:path w="333" h="199" fill="none">
                  <a:moveTo>
                    <a:pt x="0" y="0"/>
                  </a:moveTo>
                  <a:lnTo>
                    <a:pt x="333" y="199"/>
                  </a:lnTo>
                </a:path>
              </a:pathLst>
            </a:custGeom>
            <a:noFill/>
            <a:ln w="67733" cap="rnd">
              <a:solidFill>
                <a:srgbClr val="B9B9B9"/>
              </a:solidFill>
              <a:round/>
            </a:ln>
          </p:spPr>
        </p:sp>
        <p:sp>
          <p:nvSpPr>
            <p:cNvPr id="69" name="Flecha 97_2"/>
            <p:cNvSpPr/>
            <p:nvPr/>
          </p:nvSpPr>
          <p:spPr>
            <a:xfrm>
              <a:off x="11064240" y="1767840"/>
              <a:ext cx="304800" cy="182880"/>
            </a:xfrm>
            <a:custGeom>
              <a:avLst/>
              <a:gdLst/>
              <a:ahLst/>
              <a:cxnLst/>
              <a:rect l="0" t="0" r="r" b="b"/>
              <a:pathLst>
                <a:path w="333" h="199" fill="none">
                  <a:moveTo>
                    <a:pt x="0" y="0"/>
                  </a:moveTo>
                  <a:lnTo>
                    <a:pt x="333" y="199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70" name="Flecha 99_2"/>
            <p:cNvSpPr/>
            <p:nvPr/>
          </p:nvSpPr>
          <p:spPr>
            <a:xfrm>
              <a:off x="10759440" y="1767840"/>
              <a:ext cx="304800" cy="182880"/>
            </a:xfrm>
            <a:custGeom>
              <a:avLst/>
              <a:gdLst/>
              <a:ahLst/>
              <a:cxnLst/>
              <a:rect l="0" t="0" r="r" b="b"/>
              <a:pathLst>
                <a:path w="333" h="199" fill="none">
                  <a:moveTo>
                    <a:pt x="333" y="0"/>
                  </a:moveTo>
                  <a:lnTo>
                    <a:pt x="0" y="199"/>
                  </a:lnTo>
                </a:path>
              </a:pathLst>
            </a:custGeom>
            <a:noFill/>
            <a:ln w="67733" cap="rnd">
              <a:solidFill>
                <a:srgbClr val="B9B9B9"/>
              </a:solidFill>
              <a:round/>
            </a:ln>
          </p:spPr>
        </p:sp>
        <p:sp>
          <p:nvSpPr>
            <p:cNvPr id="71" name="Flecha 101_2"/>
            <p:cNvSpPr/>
            <p:nvPr/>
          </p:nvSpPr>
          <p:spPr>
            <a:xfrm>
              <a:off x="10759440" y="1767840"/>
              <a:ext cx="304800" cy="182880"/>
            </a:xfrm>
            <a:custGeom>
              <a:avLst/>
              <a:gdLst/>
              <a:ahLst/>
              <a:cxnLst/>
              <a:rect l="0" t="0" r="r" b="b"/>
              <a:pathLst>
                <a:path w="333" h="199" fill="none">
                  <a:moveTo>
                    <a:pt x="333" y="0"/>
                  </a:moveTo>
                  <a:lnTo>
                    <a:pt x="0" y="199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72" name="Flecha 103_2"/>
            <p:cNvSpPr/>
            <p:nvPr/>
          </p:nvSpPr>
          <p:spPr>
            <a:xfrm>
              <a:off x="11369040" y="1828800"/>
              <a:ext cx="243840" cy="121920"/>
            </a:xfrm>
            <a:custGeom>
              <a:avLst/>
              <a:gdLst/>
              <a:ahLst/>
              <a:cxnLst/>
              <a:rect l="0" t="0" r="r" b="b"/>
              <a:pathLst>
                <a:path w="266" h="133" fill="none">
                  <a:moveTo>
                    <a:pt x="0" y="133"/>
                  </a:moveTo>
                  <a:lnTo>
                    <a:pt x="266" y="0"/>
                  </a:lnTo>
                </a:path>
              </a:pathLst>
            </a:custGeom>
            <a:noFill/>
            <a:ln w="67733" cap="rnd">
              <a:solidFill>
                <a:srgbClr val="B9B9B9"/>
              </a:solidFill>
              <a:round/>
            </a:ln>
          </p:spPr>
        </p:sp>
        <p:sp>
          <p:nvSpPr>
            <p:cNvPr id="73" name="Flecha 105_2"/>
            <p:cNvSpPr/>
            <p:nvPr/>
          </p:nvSpPr>
          <p:spPr>
            <a:xfrm>
              <a:off x="11369040" y="1828800"/>
              <a:ext cx="243840" cy="121920"/>
            </a:xfrm>
            <a:custGeom>
              <a:avLst/>
              <a:gdLst/>
              <a:ahLst/>
              <a:cxnLst/>
              <a:rect l="0" t="0" r="r" b="b"/>
              <a:pathLst>
                <a:path w="266" h="133" fill="none">
                  <a:moveTo>
                    <a:pt x="0" y="133"/>
                  </a:moveTo>
                  <a:lnTo>
                    <a:pt x="266" y="0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74" name="Flecha 107_2"/>
            <p:cNvSpPr/>
            <p:nvPr/>
          </p:nvSpPr>
          <p:spPr>
            <a:xfrm>
              <a:off x="11369040" y="1950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67733" cap="rnd">
              <a:solidFill>
                <a:srgbClr val="B9B9B9"/>
              </a:solidFill>
              <a:round/>
            </a:ln>
          </p:spPr>
        </p:sp>
        <p:sp>
          <p:nvSpPr>
            <p:cNvPr id="75" name="Flecha 109_2"/>
            <p:cNvSpPr/>
            <p:nvPr/>
          </p:nvSpPr>
          <p:spPr>
            <a:xfrm>
              <a:off x="11369040" y="1950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76" name="Flecha 111_2"/>
            <p:cNvSpPr/>
            <p:nvPr/>
          </p:nvSpPr>
          <p:spPr>
            <a:xfrm>
              <a:off x="10515600" y="1828800"/>
              <a:ext cx="243840" cy="121920"/>
            </a:xfrm>
            <a:custGeom>
              <a:avLst/>
              <a:gdLst/>
              <a:ahLst/>
              <a:cxnLst/>
              <a:rect l="0" t="0" r="r" b="b"/>
              <a:pathLst>
                <a:path w="266" h="133" fill="none">
                  <a:moveTo>
                    <a:pt x="266" y="133"/>
                  </a:moveTo>
                  <a:lnTo>
                    <a:pt x="0" y="0"/>
                  </a:lnTo>
                </a:path>
              </a:pathLst>
            </a:custGeom>
            <a:noFill/>
            <a:ln w="67733" cap="rnd">
              <a:solidFill>
                <a:srgbClr val="B9B9B9"/>
              </a:solidFill>
              <a:round/>
            </a:ln>
          </p:spPr>
        </p:sp>
        <p:sp>
          <p:nvSpPr>
            <p:cNvPr id="77" name="Flecha 113_2"/>
            <p:cNvSpPr/>
            <p:nvPr/>
          </p:nvSpPr>
          <p:spPr>
            <a:xfrm>
              <a:off x="10515600" y="1828800"/>
              <a:ext cx="243840" cy="121920"/>
            </a:xfrm>
            <a:custGeom>
              <a:avLst/>
              <a:gdLst/>
              <a:ahLst/>
              <a:cxnLst/>
              <a:rect l="0" t="0" r="r" b="b"/>
              <a:pathLst>
                <a:path w="266" h="133" fill="none">
                  <a:moveTo>
                    <a:pt x="266" y="133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78" name="Flecha 115_2"/>
            <p:cNvSpPr/>
            <p:nvPr/>
          </p:nvSpPr>
          <p:spPr>
            <a:xfrm>
              <a:off x="10759440" y="1950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67733" cap="rnd">
              <a:solidFill>
                <a:srgbClr val="B9B9B9"/>
              </a:solidFill>
              <a:round/>
            </a:ln>
          </p:spPr>
        </p:sp>
        <p:sp>
          <p:nvSpPr>
            <p:cNvPr id="79" name="Flecha 117_2"/>
            <p:cNvSpPr/>
            <p:nvPr/>
          </p:nvSpPr>
          <p:spPr>
            <a:xfrm>
              <a:off x="10759440" y="1950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8100" cap="rnd">
              <a:solidFill>
                <a:srgbClr val="FFFFFF"/>
              </a:solidFill>
              <a:round/>
            </a:ln>
          </p:spPr>
        </p:sp>
        <p:sp>
          <p:nvSpPr>
            <p:cNvPr id="80" name="Forma 119"/>
            <p:cNvSpPr/>
            <p:nvPr/>
          </p:nvSpPr>
          <p:spPr>
            <a:xfrm>
              <a:off x="11536723" y="1752643"/>
              <a:ext cx="152315" cy="15231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1" name="Forma 120"/>
            <p:cNvSpPr/>
            <p:nvPr/>
          </p:nvSpPr>
          <p:spPr>
            <a:xfrm>
              <a:off x="11292883" y="2148883"/>
              <a:ext cx="152315" cy="15231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2" name="Forma 121"/>
            <p:cNvSpPr/>
            <p:nvPr/>
          </p:nvSpPr>
          <p:spPr>
            <a:xfrm>
              <a:off x="10439443" y="1752643"/>
              <a:ext cx="152315" cy="15231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3" name="Forma 122"/>
            <p:cNvSpPr/>
            <p:nvPr/>
          </p:nvSpPr>
          <p:spPr>
            <a:xfrm>
              <a:off x="10683283" y="2148883"/>
              <a:ext cx="152315" cy="15231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4" name="Forma 123"/>
            <p:cNvSpPr/>
            <p:nvPr/>
          </p:nvSpPr>
          <p:spPr>
            <a:xfrm>
              <a:off x="10941406" y="1645006"/>
              <a:ext cx="245669" cy="24566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5" name="Forma 124"/>
            <p:cNvSpPr/>
            <p:nvPr/>
          </p:nvSpPr>
          <p:spPr>
            <a:xfrm>
              <a:off x="10941406" y="1309726"/>
              <a:ext cx="245669" cy="24566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6" name="Forma 125"/>
            <p:cNvSpPr/>
            <p:nvPr/>
          </p:nvSpPr>
          <p:spPr>
            <a:xfrm>
              <a:off x="11246206" y="1827886"/>
              <a:ext cx="245669" cy="24566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87" name="Forma 126"/>
            <p:cNvSpPr/>
            <p:nvPr/>
          </p:nvSpPr>
          <p:spPr>
            <a:xfrm>
              <a:off x="10636606" y="1827886"/>
              <a:ext cx="245669" cy="24566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grpSp>
        <p:nvGrpSpPr>
          <p:cNvPr id="88" name="!!Riñón"/>
          <p:cNvGrpSpPr/>
          <p:nvPr/>
        </p:nvGrpSpPr>
        <p:grpSpPr>
          <a:xfrm>
            <a:off x="9052560" y="2926080"/>
            <a:ext cx="1188720" cy="1664208"/>
            <a:chOff x="9052560" y="2926080"/>
            <a:chExt cx="1188720" cy="1664208"/>
          </a:xfrm>
        </p:grpSpPr>
        <p:sp>
          <p:nvSpPr>
            <p:cNvPr id="89" name="Forma 128"/>
            <p:cNvSpPr/>
            <p:nvPr/>
          </p:nvSpPr>
          <p:spPr>
            <a:xfrm>
              <a:off x="9052560" y="292608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350" y="30"/>
                  </a:moveTo>
                  <a:cubicBezTo>
                    <a:pt x="398" y="30"/>
                    <a:pt x="471" y="31"/>
                    <a:pt x="520" y="60"/>
                  </a:cubicBezTo>
                  <a:cubicBezTo>
                    <a:pt x="568" y="88"/>
                    <a:pt x="613" y="143"/>
                    <a:pt x="640" y="200"/>
                  </a:cubicBezTo>
                  <a:cubicBezTo>
                    <a:pt x="666" y="256"/>
                    <a:pt x="676" y="330"/>
                    <a:pt x="680" y="400"/>
                  </a:cubicBezTo>
                  <a:cubicBezTo>
                    <a:pt x="683" y="470"/>
                    <a:pt x="676" y="550"/>
                    <a:pt x="660" y="620"/>
                  </a:cubicBezTo>
                  <a:cubicBezTo>
                    <a:pt x="643" y="690"/>
                    <a:pt x="620" y="763"/>
                    <a:pt x="580" y="820"/>
                  </a:cubicBezTo>
                  <a:cubicBezTo>
                    <a:pt x="540" y="876"/>
                    <a:pt x="475" y="936"/>
                    <a:pt x="420" y="960"/>
                  </a:cubicBezTo>
                  <a:cubicBezTo>
                    <a:pt x="365" y="983"/>
                    <a:pt x="296" y="976"/>
                    <a:pt x="250" y="960"/>
                  </a:cubicBezTo>
                  <a:cubicBezTo>
                    <a:pt x="203" y="943"/>
                    <a:pt x="163" y="903"/>
                    <a:pt x="140" y="860"/>
                  </a:cubicBezTo>
                  <a:cubicBezTo>
                    <a:pt x="116" y="816"/>
                    <a:pt x="105" y="743"/>
                    <a:pt x="110" y="700"/>
                  </a:cubicBezTo>
                  <a:cubicBezTo>
                    <a:pt x="115" y="656"/>
                    <a:pt x="143" y="623"/>
                    <a:pt x="170" y="600"/>
                  </a:cubicBezTo>
                  <a:cubicBezTo>
                    <a:pt x="196" y="576"/>
                    <a:pt x="248" y="576"/>
                    <a:pt x="270" y="560"/>
                  </a:cubicBezTo>
                  <a:cubicBezTo>
                    <a:pt x="291" y="543"/>
                    <a:pt x="301" y="521"/>
                    <a:pt x="300" y="500"/>
                  </a:cubicBezTo>
                  <a:cubicBezTo>
                    <a:pt x="298" y="478"/>
                    <a:pt x="283" y="446"/>
                    <a:pt x="260" y="430"/>
                  </a:cubicBezTo>
                  <a:cubicBezTo>
                    <a:pt x="236" y="413"/>
                    <a:pt x="186" y="421"/>
                    <a:pt x="160" y="400"/>
                  </a:cubicBezTo>
                  <a:cubicBezTo>
                    <a:pt x="133" y="378"/>
                    <a:pt x="103" y="341"/>
                    <a:pt x="100" y="300"/>
                  </a:cubicBezTo>
                  <a:cubicBezTo>
                    <a:pt x="96" y="258"/>
                    <a:pt x="118" y="190"/>
                    <a:pt x="140" y="150"/>
                  </a:cubicBezTo>
                  <a:cubicBezTo>
                    <a:pt x="161" y="110"/>
                    <a:pt x="195" y="80"/>
                    <a:pt x="230" y="60"/>
                  </a:cubicBezTo>
                  <a:cubicBezTo>
                    <a:pt x="265" y="40"/>
                    <a:pt x="301" y="30"/>
                    <a:pt x="350" y="3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4F1A14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90" name="Forma 129"/>
            <p:cNvSpPr/>
            <p:nvPr/>
          </p:nvSpPr>
          <p:spPr>
            <a:xfrm>
              <a:off x="9052560" y="292608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440" y="150"/>
                  </a:moveTo>
                  <a:lnTo>
                    <a:pt x="530" y="270"/>
                  </a:lnTo>
                  <a:lnTo>
                    <a:pt x="380" y="290"/>
                  </a:lnTo>
                  <a:close/>
                </a:path>
                <a:path w="700" h="1000">
                  <a:moveTo>
                    <a:pt x="520" y="350"/>
                  </a:moveTo>
                  <a:lnTo>
                    <a:pt x="610" y="470"/>
                  </a:lnTo>
                  <a:lnTo>
                    <a:pt x="460" y="490"/>
                  </a:lnTo>
                  <a:close/>
                </a:path>
                <a:path w="700" h="1000">
                  <a:moveTo>
                    <a:pt x="500" y="570"/>
                  </a:moveTo>
                  <a:lnTo>
                    <a:pt x="590" y="690"/>
                  </a:lnTo>
                  <a:lnTo>
                    <a:pt x="440" y="710"/>
                  </a:lnTo>
                  <a:close/>
                </a:path>
                <a:path w="700" h="1000">
                  <a:moveTo>
                    <a:pt x="380" y="750"/>
                  </a:moveTo>
                  <a:lnTo>
                    <a:pt x="470" y="870"/>
                  </a:lnTo>
                  <a:lnTo>
                    <a:pt x="320" y="890"/>
                  </a:lnTo>
                  <a:close/>
                </a:path>
              </a:pathLst>
            </a:custGeom>
            <a:solidFill>
              <a:srgbClr val="7B2820"/>
            </a:solidFill>
            <a:ln w="9525" cap="rnd">
              <a:solidFill>
                <a:srgbClr val="4F1A14"/>
              </a:solidFill>
              <a:round/>
            </a:ln>
          </p:spPr>
        </p:sp>
        <p:sp>
          <p:nvSpPr>
            <p:cNvPr id="91" name="Forma 130"/>
            <p:cNvSpPr/>
            <p:nvPr/>
          </p:nvSpPr>
          <p:spPr>
            <a:xfrm>
              <a:off x="9052560" y="292608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300" y="470"/>
                  </a:moveTo>
                  <a:cubicBezTo>
                    <a:pt x="313" y="440"/>
                    <a:pt x="360" y="375"/>
                    <a:pt x="380" y="380"/>
                  </a:cubicBezTo>
                  <a:cubicBezTo>
                    <a:pt x="400" y="385"/>
                    <a:pt x="420" y="460"/>
                    <a:pt x="420" y="500"/>
                  </a:cubicBezTo>
                  <a:cubicBezTo>
                    <a:pt x="420" y="540"/>
                    <a:pt x="400" y="610"/>
                    <a:pt x="380" y="620"/>
                  </a:cubicBezTo>
                  <a:cubicBezTo>
                    <a:pt x="360" y="630"/>
                    <a:pt x="313" y="585"/>
                    <a:pt x="300" y="560"/>
                  </a:cubicBezTo>
                  <a:cubicBezTo>
                    <a:pt x="286" y="535"/>
                    <a:pt x="286" y="500"/>
                    <a:pt x="300" y="470"/>
                  </a:cubicBezTo>
                  <a:close/>
                </a:path>
              </a:pathLst>
            </a:custGeom>
            <a:solidFill>
              <a:srgbClr val="F5CBA7"/>
            </a:soli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92" name="Forma 131"/>
            <p:cNvSpPr/>
            <p:nvPr/>
          </p:nvSpPr>
          <p:spPr>
            <a:xfrm>
              <a:off x="9052560" y="292608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 fill="none">
                  <a:moveTo>
                    <a:pt x="300" y="520"/>
                  </a:moveTo>
                  <a:cubicBezTo>
                    <a:pt x="220" y="560"/>
                    <a:pt x="200" y="700"/>
                    <a:pt x="230" y="1000"/>
                  </a:cubicBezTo>
                </a:path>
              </a:pathLst>
            </a:custGeom>
            <a:noFill/>
            <a:ln w="63500" cap="rnd">
              <a:solidFill>
                <a:srgbClr val="E59866"/>
              </a:solidFill>
              <a:round/>
            </a:ln>
          </p:spPr>
        </p:sp>
      </p:grpSp>
      <p:grpSp>
        <p:nvGrpSpPr>
          <p:cNvPr id="93" name="Hígado met"/>
          <p:cNvGrpSpPr/>
          <p:nvPr/>
        </p:nvGrpSpPr>
        <p:grpSpPr>
          <a:xfrm>
            <a:off x="10241280" y="3200400"/>
            <a:ext cx="1737360" cy="1227966"/>
            <a:chOff x="10241280" y="3200400"/>
            <a:chExt cx="1737360" cy="1227966"/>
          </a:xfrm>
        </p:grpSpPr>
        <p:sp>
          <p:nvSpPr>
            <p:cNvPr id="94" name="Vesícula biliar"/>
            <p:cNvSpPr/>
            <p:nvPr/>
          </p:nvSpPr>
          <p:spPr>
            <a:xfrm>
              <a:off x="10710367" y="4040587"/>
              <a:ext cx="225857" cy="387779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95" name="Forma 134"/>
            <p:cNvSpPr/>
            <p:nvPr/>
          </p:nvSpPr>
          <p:spPr>
            <a:xfrm>
              <a:off x="10241280" y="3200400"/>
              <a:ext cx="1737360" cy="1077163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96" name="Forma 135"/>
            <p:cNvSpPr/>
            <p:nvPr/>
          </p:nvSpPr>
          <p:spPr>
            <a:xfrm>
              <a:off x="10241280" y="3200400"/>
              <a:ext cx="1737360" cy="107716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97" name="Forma 136"/>
            <p:cNvSpPr/>
            <p:nvPr/>
          </p:nvSpPr>
          <p:spPr>
            <a:xfrm>
              <a:off x="10241280" y="3200400"/>
              <a:ext cx="1737360" cy="107716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sp>
        <p:nvSpPr>
          <p:cNvPr id="98" name="Idea metabolitos"/>
          <p:cNvSpPr/>
          <p:nvPr/>
        </p:nvSpPr>
        <p:spPr>
          <a:xfrm>
            <a:off x="8549640" y="5074920"/>
            <a:ext cx="338328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cuantificación del metabolito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informa sobre el estado de ese metabolismo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99" name="Ejemplo creatinina"/>
          <p:cNvSpPr/>
          <p:nvPr/>
        </p:nvSpPr>
        <p:spPr>
          <a:xfrm>
            <a:off x="411480" y="5120640"/>
            <a:ext cx="7680960" cy="128016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Ejemplo: la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creatinina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se interpreta como dato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función renal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porque su concentración depende de la excreción de productos de desecho.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METABOLITOS: EL ESTADO DE CADA METABOLISMO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10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Electrolito Sodio"/>
          <p:cNvGrpSpPr/>
          <p:nvPr/>
        </p:nvGrpSpPr>
        <p:grpSpPr>
          <a:xfrm>
            <a:off x="822960" y="1051560"/>
            <a:ext cx="8275320" cy="1143000"/>
            <a:chOff x="822960" y="1051560"/>
            <a:chExt cx="8275320" cy="1143000"/>
          </a:xfrm>
        </p:grpSpPr>
        <p:sp>
          <p:nvSpPr>
            <p:cNvPr id="6" name="!!Ion Sodio"/>
            <p:cNvSpPr/>
            <p:nvPr/>
          </p:nvSpPr>
          <p:spPr>
            <a:xfrm>
              <a:off x="822960" y="1051560"/>
              <a:ext cx="1143000" cy="1143000"/>
            </a:xfrm>
            <a:prstGeom prst="ellipse">
              <a:avLst/>
            </a:prstGeom>
            <a:gradFill rotWithShape="1">
              <a:gsLst>
                <a:gs pos="0">
                  <a:srgbClr val="8CBCDC"/>
                </a:gs>
                <a:gs pos="55000">
                  <a:srgbClr val="2E86C1"/>
                </a:gs>
                <a:gs pos="100000">
                  <a:srgbClr val="22649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7436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275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750" dirty="0">
                <a:latin typeface="Calibri"/>
              </a:endParaRPr>
            </a:p>
          </p:txBody>
        </p:sp>
        <p:sp>
          <p:nvSpPr>
            <p:cNvPr id="7" name="Forma 6"/>
            <p:cNvSpPr txBox="1"/>
            <p:nvPr/>
          </p:nvSpPr>
          <p:spPr>
            <a:xfrm>
              <a:off x="2103120" y="1280160"/>
              <a:ext cx="20116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SODIO</a:t>
              </a:r>
              <a:endParaRPr lang="es-AR" sz="2200" dirty="0">
                <a:latin typeface="Segoe Print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4526280" y="1097280"/>
              <a:ext cx="4572000" cy="1097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Estado de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hidratación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paciente: normal, deshidratado o sobrehidratado.</a:t>
              </a:r>
              <a:endParaRPr lang="es-AR" sz="1950" dirty="0">
                <a:latin typeface="Calibri"/>
              </a:endParaRPr>
            </a:p>
          </p:txBody>
        </p:sp>
      </p:grpSp>
      <p:grpSp>
        <p:nvGrpSpPr>
          <p:cNvPr id="9" name="Electrolito Potasio"/>
          <p:cNvGrpSpPr/>
          <p:nvPr/>
        </p:nvGrpSpPr>
        <p:grpSpPr>
          <a:xfrm>
            <a:off x="822960" y="2377440"/>
            <a:ext cx="8275320" cy="1143000"/>
            <a:chOff x="822960" y="2377440"/>
            <a:chExt cx="8275320" cy="1143000"/>
          </a:xfrm>
        </p:grpSpPr>
        <p:sp>
          <p:nvSpPr>
            <p:cNvPr id="10" name="!!Ion Potasio"/>
            <p:cNvSpPr/>
            <p:nvPr/>
          </p:nvSpPr>
          <p:spPr>
            <a:xfrm>
              <a:off x="822960" y="2377440"/>
              <a:ext cx="1143000" cy="1143000"/>
            </a:xfrm>
            <a:prstGeom prst="ellipse">
              <a:avLst/>
            </a:prstGeom>
            <a:gradFill rotWithShape="1">
              <a:gsLst>
                <a:gs pos="0">
                  <a:srgbClr val="C098D1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7225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s-AR" sz="275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750" dirty="0">
                <a:latin typeface="Calibri"/>
              </a:endParaRPr>
            </a:p>
          </p:txBody>
        </p:sp>
        <p:sp>
          <p:nvSpPr>
            <p:cNvPr id="11" name="Forma 10"/>
            <p:cNvSpPr txBox="1"/>
            <p:nvPr/>
          </p:nvSpPr>
          <p:spPr>
            <a:xfrm>
              <a:off x="2103120" y="2606040"/>
              <a:ext cx="20116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POTASIO</a:t>
              </a:r>
              <a:endParaRPr lang="es-AR" sz="2200" dirty="0">
                <a:latin typeface="Segoe Print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4526280" y="2423160"/>
              <a:ext cx="4572000" cy="1097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Evalúa la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excitabilidad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neuronal (transmisión sináptica correcta).</a:t>
              </a:r>
              <a:endParaRPr lang="es-AR" sz="2200" dirty="0">
                <a:latin typeface="Calibri"/>
              </a:endParaRPr>
            </a:p>
          </p:txBody>
        </p:sp>
      </p:grpSp>
      <p:grpSp>
        <p:nvGrpSpPr>
          <p:cNvPr id="13" name="Electrolito Cloro"/>
          <p:cNvGrpSpPr/>
          <p:nvPr/>
        </p:nvGrpSpPr>
        <p:grpSpPr>
          <a:xfrm>
            <a:off x="822960" y="3703320"/>
            <a:ext cx="8275320" cy="1143000"/>
            <a:chOff x="822960" y="3703320"/>
            <a:chExt cx="8275320" cy="1143000"/>
          </a:xfrm>
        </p:grpSpPr>
        <p:sp>
          <p:nvSpPr>
            <p:cNvPr id="14" name="!!Ion Cloro"/>
            <p:cNvSpPr/>
            <p:nvPr/>
          </p:nvSpPr>
          <p:spPr>
            <a:xfrm>
              <a:off x="822960" y="3703320"/>
              <a:ext cx="1143000" cy="1143000"/>
            </a:xfrm>
            <a:prstGeom prst="ellipse">
              <a:avLst/>
            </a:prstGeom>
            <a:gradFill rotWithShape="1">
              <a:gsLst>
                <a:gs pos="0">
                  <a:srgbClr val="88D2A7"/>
                </a:gs>
                <a:gs pos="55000">
                  <a:srgbClr val="27AE60"/>
                </a:gs>
                <a:gs pos="100000">
                  <a:srgbClr val="1D8248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3573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</a:t>
              </a:r>
              <a:r>
                <a:rPr lang="es-AR" sz="275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 lang="es-AR" sz="2750" dirty="0">
                <a:latin typeface="Calibri"/>
              </a:endParaRPr>
            </a:p>
          </p:txBody>
        </p:sp>
        <p:sp>
          <p:nvSpPr>
            <p:cNvPr id="15" name="Forma 14"/>
            <p:cNvSpPr txBox="1"/>
            <p:nvPr/>
          </p:nvSpPr>
          <p:spPr>
            <a:xfrm>
              <a:off x="2103120" y="3931920"/>
              <a:ext cx="20116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CLORO</a:t>
              </a:r>
              <a:endParaRPr lang="es-AR" sz="2200" dirty="0">
                <a:latin typeface="Segoe Print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4526280" y="3749040"/>
              <a:ext cx="4572000" cy="1097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Informa sobre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equilibrio ácido-base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crisis de acidosis o alcalosis.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17" name="Electrolito Calcio"/>
          <p:cNvGrpSpPr/>
          <p:nvPr/>
        </p:nvGrpSpPr>
        <p:grpSpPr>
          <a:xfrm>
            <a:off x="822960" y="5029200"/>
            <a:ext cx="8275320" cy="1143000"/>
            <a:chOff x="822960" y="5029200"/>
            <a:chExt cx="8275320" cy="1143000"/>
          </a:xfrm>
        </p:grpSpPr>
        <p:sp>
          <p:nvSpPr>
            <p:cNvPr id="18" name="!!Ion Calcio"/>
            <p:cNvSpPr/>
            <p:nvPr/>
          </p:nvSpPr>
          <p:spPr>
            <a:xfrm>
              <a:off x="822960" y="5029200"/>
              <a:ext cx="1143000" cy="1143000"/>
            </a:xfrm>
            <a:prstGeom prst="ellipse">
              <a:avLst/>
            </a:prstGeom>
            <a:gradFill rotWithShape="1">
              <a:gsLst>
                <a:gs pos="0">
                  <a:srgbClr val="F1B885"/>
                </a:gs>
                <a:gs pos="55000">
                  <a:srgbClr val="E67E22"/>
                </a:gs>
                <a:gs pos="100000">
                  <a:srgbClr val="AC5E19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33F11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</a:t>
              </a:r>
              <a:r>
                <a:rPr lang="es-AR" sz="275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endParaRPr lang="es-AR" sz="2750" dirty="0">
                <a:latin typeface="Calibri"/>
              </a:endParaRPr>
            </a:p>
          </p:txBody>
        </p:sp>
        <p:sp>
          <p:nvSpPr>
            <p:cNvPr id="19" name="Forma 18"/>
            <p:cNvSpPr txBox="1"/>
            <p:nvPr/>
          </p:nvSpPr>
          <p:spPr>
            <a:xfrm>
              <a:off x="2103120" y="5257800"/>
              <a:ext cx="20116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CALCIO</a:t>
              </a:r>
              <a:endParaRPr lang="es-AR" sz="2200" dirty="0">
                <a:latin typeface="Segoe Print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4526280" y="5074920"/>
              <a:ext cx="4572000" cy="1097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Evalúa la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 muscular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el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sistema de coagulación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200" dirty="0">
                <a:latin typeface="Calibri"/>
              </a:endParaRPr>
            </a:p>
          </p:txBody>
        </p:sp>
      </p:grpSp>
      <p:grpSp>
        <p:nvGrpSpPr>
          <p:cNvPr id="21" name="Capilar iones"/>
          <p:cNvGrpSpPr/>
          <p:nvPr/>
        </p:nvGrpSpPr>
        <p:grpSpPr>
          <a:xfrm>
            <a:off x="9418320" y="1188720"/>
            <a:ext cx="2468880" cy="914400"/>
            <a:chOff x="9418320" y="1188720"/>
            <a:chExt cx="2468880" cy="914400"/>
          </a:xfrm>
        </p:grpSpPr>
        <p:sp>
          <p:nvSpPr>
            <p:cNvPr id="22" name="Forma 21"/>
            <p:cNvSpPr/>
            <p:nvPr/>
          </p:nvSpPr>
          <p:spPr>
            <a:xfrm>
              <a:off x="9418320" y="1188720"/>
              <a:ext cx="2468880" cy="9144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05050"/>
                </a:gs>
                <a:gs pos="30000">
                  <a:srgbClr val="EB9696"/>
                </a:gs>
                <a:gs pos="55000">
                  <a:srgbClr val="E57373"/>
                </a:gs>
                <a:gs pos="100000">
                  <a:srgbClr val="A05050"/>
                </a:gs>
              </a:gsLst>
              <a:lin ang="5400000" scaled="0"/>
            </a:gradFill>
            <a:ln w="22225" cap="rnd">
              <a:solidFill>
                <a:srgbClr val="8E2A2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3" name="Forma 22"/>
            <p:cNvSpPr/>
            <p:nvPr/>
          </p:nvSpPr>
          <p:spPr>
            <a:xfrm>
              <a:off x="9473184" y="1371600"/>
              <a:ext cx="2359152" cy="5486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D8"/>
                </a:gs>
                <a:gs pos="50000">
                  <a:srgbClr val="FDEDEC"/>
                </a:gs>
                <a:gs pos="100000">
                  <a:srgbClr val="F5B7B1"/>
                </a:gs>
              </a:gsLst>
              <a:lin ang="5400000" scaled="0"/>
            </a:gradFill>
            <a:ln w="9525" cap="rnd">
              <a:solidFill>
                <a:srgbClr val="C0392B"/>
              </a:solidFill>
              <a:round/>
            </a:ln>
          </p:spPr>
        </p:sp>
      </p:grpSp>
      <p:grpSp>
        <p:nvGrpSpPr>
          <p:cNvPr id="24" name="Iones decorativos"/>
          <p:cNvGrpSpPr/>
          <p:nvPr/>
        </p:nvGrpSpPr>
        <p:grpSpPr>
          <a:xfrm>
            <a:off x="9776224" y="2288597"/>
            <a:ext cx="2072201" cy="1726937"/>
            <a:chOff x="9776224" y="2288597"/>
            <a:chExt cx="2072201" cy="1726937"/>
          </a:xfrm>
        </p:grpSpPr>
        <p:sp>
          <p:nvSpPr>
            <p:cNvPr id="25" name="Ion deco 0"/>
            <p:cNvSpPr/>
            <p:nvPr/>
          </p:nvSpPr>
          <p:spPr>
            <a:xfrm>
              <a:off x="11069827" y="3449400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88D2A7"/>
                </a:gs>
                <a:gs pos="55000">
                  <a:srgbClr val="27AE60"/>
                </a:gs>
                <a:gs pos="100000">
                  <a:srgbClr val="1D8248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3573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26" name="Ion deco 1"/>
            <p:cNvSpPr/>
            <p:nvPr/>
          </p:nvSpPr>
          <p:spPr>
            <a:xfrm>
              <a:off x="11277113" y="3421258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8CBCDC"/>
                </a:gs>
                <a:gs pos="55000">
                  <a:srgbClr val="2E86C1"/>
                </a:gs>
                <a:gs pos="100000">
                  <a:srgbClr val="22649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7436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27" name="Ion deco 2"/>
            <p:cNvSpPr/>
            <p:nvPr/>
          </p:nvSpPr>
          <p:spPr>
            <a:xfrm>
              <a:off x="10874631" y="3604053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C098D1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7225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28" name="Ion deco 3"/>
            <p:cNvSpPr/>
            <p:nvPr/>
          </p:nvSpPr>
          <p:spPr>
            <a:xfrm>
              <a:off x="10291686" y="3556570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8CBCDC"/>
                </a:gs>
                <a:gs pos="55000">
                  <a:srgbClr val="2E86C1"/>
                </a:gs>
                <a:gs pos="100000">
                  <a:srgbClr val="22649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7436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29" name="Ion deco 4"/>
            <p:cNvSpPr/>
            <p:nvPr/>
          </p:nvSpPr>
          <p:spPr>
            <a:xfrm>
              <a:off x="10653354" y="3125699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F1B885"/>
                </a:gs>
                <a:gs pos="55000">
                  <a:srgbClr val="E67E22"/>
                </a:gs>
                <a:gs pos="100000">
                  <a:srgbClr val="AC5E19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33F11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30" name="Ion deco 5"/>
            <p:cNvSpPr/>
            <p:nvPr/>
          </p:nvSpPr>
          <p:spPr>
            <a:xfrm>
              <a:off x="11047527" y="2883141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8CBCDC"/>
                </a:gs>
                <a:gs pos="55000">
                  <a:srgbClr val="2E86C1"/>
                </a:gs>
                <a:gs pos="100000">
                  <a:srgbClr val="22649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7436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31" name="Ion deco 6"/>
            <p:cNvSpPr/>
            <p:nvPr/>
          </p:nvSpPr>
          <p:spPr>
            <a:xfrm>
              <a:off x="11436944" y="3406287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C098D1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7225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32" name="Ion deco 7"/>
            <p:cNvSpPr/>
            <p:nvPr/>
          </p:nvSpPr>
          <p:spPr>
            <a:xfrm>
              <a:off x="11112181" y="2391239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C098D1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7225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33" name="Ion deco 8"/>
            <p:cNvSpPr/>
            <p:nvPr/>
          </p:nvSpPr>
          <p:spPr>
            <a:xfrm>
              <a:off x="9776224" y="2288597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F1B885"/>
                </a:gs>
                <a:gs pos="55000">
                  <a:srgbClr val="E67E22"/>
                </a:gs>
                <a:gs pos="100000">
                  <a:srgbClr val="AC5E19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33F11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endParaRPr lang="es-AR" sz="990" dirty="0">
                <a:latin typeface="Calibri"/>
              </a:endParaRPr>
            </a:p>
          </p:txBody>
        </p:sp>
        <p:sp>
          <p:nvSpPr>
            <p:cNvPr id="34" name="Ion deco 9"/>
            <p:cNvSpPr/>
            <p:nvPr/>
          </p:nvSpPr>
          <p:spPr>
            <a:xfrm>
              <a:off x="9950272" y="2601258"/>
              <a:ext cx="411480" cy="411480"/>
            </a:xfrm>
            <a:prstGeom prst="ellipse">
              <a:avLst/>
            </a:prstGeom>
            <a:gradFill rotWithShape="1">
              <a:gsLst>
                <a:gs pos="0">
                  <a:srgbClr val="8CBCDC"/>
                </a:gs>
                <a:gs pos="55000">
                  <a:srgbClr val="2E86C1"/>
                </a:gs>
                <a:gs pos="100000">
                  <a:srgbClr val="22649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7436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9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9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90" dirty="0">
                <a:latin typeface="Calibri"/>
              </a:endParaRPr>
            </a:p>
          </p:txBody>
        </p:sp>
      </p:grpSp>
      <p:grpSp>
        <p:nvGrpSpPr>
          <p:cNvPr id="35" name="Nota de rigor"/>
          <p:cNvGrpSpPr/>
          <p:nvPr/>
        </p:nvGrpSpPr>
        <p:grpSpPr>
          <a:xfrm>
            <a:off x="9281160" y="4206240"/>
            <a:ext cx="2743200" cy="2240280"/>
            <a:chOff x="9281160" y="4206240"/>
            <a:chExt cx="2743200" cy="2240280"/>
          </a:xfrm>
        </p:grpSpPr>
        <p:sp>
          <p:nvSpPr>
            <p:cNvPr id="36" name="Forma 35"/>
            <p:cNvSpPr/>
            <p:nvPr/>
          </p:nvSpPr>
          <p:spPr>
            <a:xfrm>
              <a:off x="9281160" y="4407408"/>
              <a:ext cx="2743200" cy="20391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Cada ion participa en varios procesos; estas asociaciones son puntos de partida y se interpretan siempre junto con la clínica.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9409176" y="42062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ELECTROLITOS: CATIONES Y ANIONES CON SIGNIFICADO CLÍNICO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!!Hepatocito"/>
          <p:cNvGrpSpPr/>
          <p:nvPr/>
        </p:nvGrpSpPr>
        <p:grpSpPr>
          <a:xfrm>
            <a:off x="365760" y="1234440"/>
            <a:ext cx="3108960" cy="2549347"/>
            <a:chOff x="365760" y="1234440"/>
            <a:chExt cx="3108960" cy="2549347"/>
          </a:xfrm>
        </p:grpSpPr>
        <p:sp>
          <p:nvSpPr>
            <p:cNvPr id="6" name="Forma 5"/>
            <p:cNvSpPr/>
            <p:nvPr/>
          </p:nvSpPr>
          <p:spPr>
            <a:xfrm>
              <a:off x="365760" y="1234440"/>
              <a:ext cx="3108960" cy="254934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20" y="80"/>
                  </a:moveTo>
                  <a:cubicBezTo>
                    <a:pt x="164" y="38"/>
                    <a:pt x="430" y="19"/>
                    <a:pt x="500" y="20"/>
                  </a:cubicBezTo>
                  <a:cubicBezTo>
                    <a:pt x="569" y="20"/>
                    <a:pt x="836" y="50"/>
                    <a:pt x="880" y="90"/>
                  </a:cubicBezTo>
                  <a:cubicBezTo>
                    <a:pt x="924" y="129"/>
                    <a:pt x="981" y="375"/>
                    <a:pt x="980" y="450"/>
                  </a:cubicBezTo>
                  <a:cubicBezTo>
                    <a:pt x="978" y="524"/>
                    <a:pt x="905" y="851"/>
                    <a:pt x="860" y="900"/>
                  </a:cubicBezTo>
                  <a:cubicBezTo>
                    <a:pt x="814" y="948"/>
                    <a:pt x="548" y="980"/>
                    <a:pt x="480" y="980"/>
                  </a:cubicBezTo>
                  <a:cubicBezTo>
                    <a:pt x="411" y="980"/>
                    <a:pt x="152" y="946"/>
                    <a:pt x="110" y="900"/>
                  </a:cubicBezTo>
                  <a:cubicBezTo>
                    <a:pt x="67" y="853"/>
                    <a:pt x="19" y="545"/>
                    <a:pt x="20" y="470"/>
                  </a:cubicBezTo>
                  <a:cubicBezTo>
                    <a:pt x="20" y="394"/>
                    <a:pt x="76" y="121"/>
                    <a:pt x="120" y="80"/>
                  </a:cubicBezTo>
                  <a:close/>
                </a:path>
              </a:pathLst>
            </a:custGeom>
            <a:gradFill rotWithShape="1">
              <a:gsLst>
                <a:gs pos="0">
                  <a:srgbClr val="F2CABE"/>
                </a:gs>
                <a:gs pos="55000">
                  <a:srgbClr val="E8A08A"/>
                </a:gs>
                <a:gs pos="100000">
                  <a:srgbClr val="AE7867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6848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7" name="Núcleo hepatocito"/>
            <p:cNvGrpSpPr/>
            <p:nvPr/>
          </p:nvGrpSpPr>
          <p:grpSpPr>
            <a:xfrm>
              <a:off x="1609344" y="2152205"/>
              <a:ext cx="683971" cy="615574"/>
              <a:chOff x="1609344" y="2152205"/>
              <a:chExt cx="683971" cy="615574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1609344" y="2152205"/>
                <a:ext cx="683971" cy="615574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9" name="Forma 8"/>
              <p:cNvSpPr/>
              <p:nvPr/>
            </p:nvSpPr>
            <p:spPr>
              <a:xfrm>
                <a:off x="1965009" y="2357396"/>
                <a:ext cx="150474" cy="136794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  <p:grpSp>
          <p:nvGrpSpPr>
            <p:cNvPr id="10" name="Retículo endoplasmático"/>
            <p:cNvGrpSpPr/>
            <p:nvPr/>
          </p:nvGrpSpPr>
          <p:grpSpPr>
            <a:xfrm>
              <a:off x="738835" y="1601886"/>
              <a:ext cx="746150" cy="542161"/>
              <a:chOff x="738835" y="1601886"/>
              <a:chExt cx="746150" cy="542161"/>
            </a:xfrm>
          </p:grpSpPr>
          <p:sp>
            <p:nvSpPr>
              <p:cNvPr id="11" name="Forma 10"/>
              <p:cNvSpPr/>
              <p:nvPr/>
            </p:nvSpPr>
            <p:spPr>
              <a:xfrm>
                <a:off x="738835" y="1616842"/>
                <a:ext cx="746150" cy="14021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8BEE2"/>
              </a:solidFill>
              <a:ln w="9525" cap="rnd">
                <a:solidFill>
                  <a:srgbClr val="7E6489"/>
                </a:solidFill>
                <a:round/>
              </a:ln>
            </p:spPr>
          </p:sp>
          <p:sp>
            <p:nvSpPr>
              <p:cNvPr id="12" name="Forma 11"/>
              <p:cNvSpPr/>
              <p:nvPr/>
            </p:nvSpPr>
            <p:spPr>
              <a:xfrm>
                <a:off x="738835" y="1601886"/>
                <a:ext cx="746150" cy="16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3" name="Forma 12"/>
              <p:cNvSpPr/>
              <p:nvPr/>
            </p:nvSpPr>
            <p:spPr>
              <a:xfrm>
                <a:off x="738835" y="1803794"/>
                <a:ext cx="746150" cy="14021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8BEE2"/>
              </a:solidFill>
              <a:ln w="9525" cap="rnd">
                <a:solidFill>
                  <a:srgbClr val="7E6489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738835" y="1788838"/>
                <a:ext cx="746150" cy="16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738835" y="1990746"/>
                <a:ext cx="746150" cy="14021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8BEE2"/>
              </a:solidFill>
              <a:ln w="9525" cap="rnd">
                <a:solidFill>
                  <a:srgbClr val="7E6489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738835" y="1975790"/>
                <a:ext cx="746150" cy="16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17" name="Mitocondria"/>
            <p:cNvGrpSpPr/>
            <p:nvPr/>
          </p:nvGrpSpPr>
          <p:grpSpPr>
            <a:xfrm>
              <a:off x="2417674" y="1744309"/>
              <a:ext cx="497434" cy="248717"/>
              <a:chOff x="2417674" y="1744309"/>
              <a:chExt cx="497434" cy="248717"/>
            </a:xfrm>
          </p:grpSpPr>
          <p:sp>
            <p:nvSpPr>
              <p:cNvPr id="18" name="Forma 17"/>
              <p:cNvSpPr/>
              <p:nvPr/>
            </p:nvSpPr>
            <p:spPr>
              <a:xfrm>
                <a:off x="2417674" y="1744309"/>
                <a:ext cx="497434" cy="248717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19" name="Forma 18"/>
              <p:cNvSpPr/>
              <p:nvPr/>
            </p:nvSpPr>
            <p:spPr>
              <a:xfrm>
                <a:off x="2452494" y="1779130"/>
                <a:ext cx="427793" cy="179076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20" name="Forma 19"/>
              <p:cNvSpPr/>
              <p:nvPr/>
            </p:nvSpPr>
            <p:spPr>
              <a:xfrm>
                <a:off x="2452494" y="1779130"/>
                <a:ext cx="427793" cy="17907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21" name="Mitocondria_2"/>
            <p:cNvGrpSpPr/>
            <p:nvPr/>
          </p:nvGrpSpPr>
          <p:grpSpPr>
            <a:xfrm>
              <a:off x="2542032" y="2815035"/>
              <a:ext cx="497434" cy="248717"/>
              <a:chOff x="2542032" y="2815035"/>
              <a:chExt cx="497434" cy="248717"/>
            </a:xfrm>
          </p:grpSpPr>
          <p:sp>
            <p:nvSpPr>
              <p:cNvPr id="22" name="Forma 21"/>
              <p:cNvSpPr/>
              <p:nvPr/>
            </p:nvSpPr>
            <p:spPr>
              <a:xfrm rot="1500000">
                <a:off x="2542032" y="2815035"/>
                <a:ext cx="497434" cy="248717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23" name="Forma 22"/>
              <p:cNvSpPr/>
              <p:nvPr/>
            </p:nvSpPr>
            <p:spPr>
              <a:xfrm rot="1500000">
                <a:off x="2576852" y="2849856"/>
                <a:ext cx="427793" cy="179076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24" name="Forma 23"/>
              <p:cNvSpPr/>
              <p:nvPr/>
            </p:nvSpPr>
            <p:spPr>
              <a:xfrm rot="1500000">
                <a:off x="2576852" y="2849856"/>
                <a:ext cx="427793" cy="17907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25" name="Mitocondria_3"/>
            <p:cNvGrpSpPr/>
            <p:nvPr/>
          </p:nvGrpSpPr>
          <p:grpSpPr>
            <a:xfrm>
              <a:off x="987552" y="2815035"/>
              <a:ext cx="497434" cy="248717"/>
              <a:chOff x="987552" y="2815035"/>
              <a:chExt cx="497434" cy="248717"/>
            </a:xfrm>
          </p:grpSpPr>
          <p:sp>
            <p:nvSpPr>
              <p:cNvPr id="26" name="Forma 25"/>
              <p:cNvSpPr/>
              <p:nvPr/>
            </p:nvSpPr>
            <p:spPr>
              <a:xfrm rot="-1200000">
                <a:off x="987552" y="2815035"/>
                <a:ext cx="497434" cy="248717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27" name="Forma 26"/>
              <p:cNvSpPr/>
              <p:nvPr/>
            </p:nvSpPr>
            <p:spPr>
              <a:xfrm rot="-1200000">
                <a:off x="1022372" y="2849856"/>
                <a:ext cx="427793" cy="179076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28" name="Forma 27"/>
              <p:cNvSpPr/>
              <p:nvPr/>
            </p:nvSpPr>
            <p:spPr>
              <a:xfrm rot="-1200000">
                <a:off x="1022372" y="2849856"/>
                <a:ext cx="427793" cy="17907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29" name="Mitocondria_4"/>
            <p:cNvGrpSpPr/>
            <p:nvPr/>
          </p:nvGrpSpPr>
          <p:grpSpPr>
            <a:xfrm>
              <a:off x="1764792" y="3146450"/>
              <a:ext cx="497434" cy="248717"/>
              <a:chOff x="1764792" y="3146450"/>
              <a:chExt cx="497434" cy="248717"/>
            </a:xfrm>
          </p:grpSpPr>
          <p:sp>
            <p:nvSpPr>
              <p:cNvPr id="30" name="Forma 29"/>
              <p:cNvSpPr/>
              <p:nvPr/>
            </p:nvSpPr>
            <p:spPr>
              <a:xfrm rot="600000">
                <a:off x="1764792" y="3146450"/>
                <a:ext cx="497434" cy="248717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 rot="600000">
                <a:off x="1799612" y="3181271"/>
                <a:ext cx="427793" cy="179076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2" name="Forma 31"/>
              <p:cNvSpPr/>
              <p:nvPr/>
            </p:nvSpPr>
            <p:spPr>
              <a:xfrm rot="600000">
                <a:off x="1799612" y="3181271"/>
                <a:ext cx="427793" cy="17907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sp>
          <p:nvSpPr>
            <p:cNvPr id="33" name="Glucógeno"/>
            <p:cNvSpPr/>
            <p:nvPr/>
          </p:nvSpPr>
          <p:spPr>
            <a:xfrm>
              <a:off x="2293315" y="2254179"/>
              <a:ext cx="683971" cy="45888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71" y="726"/>
                  </a:moveTo>
                  <a:cubicBezTo>
                    <a:pt x="471" y="746"/>
                    <a:pt x="453" y="764"/>
                    <a:pt x="433" y="764"/>
                  </a:cubicBezTo>
                  <a:cubicBezTo>
                    <a:pt x="412" y="764"/>
                    <a:pt x="395" y="746"/>
                    <a:pt x="395" y="726"/>
                  </a:cubicBezTo>
                  <a:cubicBezTo>
                    <a:pt x="395" y="705"/>
                    <a:pt x="412" y="688"/>
                    <a:pt x="433" y="688"/>
                  </a:cubicBezTo>
                  <a:cubicBezTo>
                    <a:pt x="453" y="688"/>
                    <a:pt x="471" y="705"/>
                    <a:pt x="471" y="726"/>
                  </a:cubicBezTo>
                  <a:close/>
                  <a:moveTo>
                    <a:pt x="438" y="784"/>
                  </a:moveTo>
                  <a:cubicBezTo>
                    <a:pt x="438" y="804"/>
                    <a:pt x="420" y="822"/>
                    <a:pt x="400" y="822"/>
                  </a:cubicBezTo>
                  <a:cubicBezTo>
                    <a:pt x="379" y="822"/>
                    <a:pt x="362" y="804"/>
                    <a:pt x="362" y="784"/>
                  </a:cubicBezTo>
                  <a:cubicBezTo>
                    <a:pt x="362" y="763"/>
                    <a:pt x="379" y="746"/>
                    <a:pt x="400" y="746"/>
                  </a:cubicBezTo>
                  <a:cubicBezTo>
                    <a:pt x="420" y="746"/>
                    <a:pt x="438" y="763"/>
                    <a:pt x="438" y="784"/>
                  </a:cubicBezTo>
                  <a:close/>
                  <a:moveTo>
                    <a:pt x="371" y="789"/>
                  </a:moveTo>
                  <a:cubicBezTo>
                    <a:pt x="371" y="809"/>
                    <a:pt x="353" y="827"/>
                    <a:pt x="333" y="827"/>
                  </a:cubicBezTo>
                  <a:cubicBezTo>
                    <a:pt x="312" y="827"/>
                    <a:pt x="295" y="809"/>
                    <a:pt x="295" y="789"/>
                  </a:cubicBezTo>
                  <a:cubicBezTo>
                    <a:pt x="295" y="768"/>
                    <a:pt x="312" y="751"/>
                    <a:pt x="333" y="751"/>
                  </a:cubicBezTo>
                  <a:cubicBezTo>
                    <a:pt x="353" y="751"/>
                    <a:pt x="371" y="768"/>
                    <a:pt x="371" y="789"/>
                  </a:cubicBezTo>
                  <a:close/>
                  <a:moveTo>
                    <a:pt x="331" y="735"/>
                  </a:moveTo>
                  <a:cubicBezTo>
                    <a:pt x="331" y="755"/>
                    <a:pt x="313" y="773"/>
                    <a:pt x="293" y="773"/>
                  </a:cubicBezTo>
                  <a:cubicBezTo>
                    <a:pt x="272" y="773"/>
                    <a:pt x="255" y="755"/>
                    <a:pt x="255" y="735"/>
                  </a:cubicBezTo>
                  <a:cubicBezTo>
                    <a:pt x="255" y="714"/>
                    <a:pt x="272" y="697"/>
                    <a:pt x="293" y="697"/>
                  </a:cubicBezTo>
                  <a:cubicBezTo>
                    <a:pt x="313" y="697"/>
                    <a:pt x="331" y="714"/>
                    <a:pt x="331" y="735"/>
                  </a:cubicBezTo>
                  <a:close/>
                  <a:moveTo>
                    <a:pt x="355" y="673"/>
                  </a:moveTo>
                  <a:cubicBezTo>
                    <a:pt x="355" y="693"/>
                    <a:pt x="337" y="711"/>
                    <a:pt x="317" y="711"/>
                  </a:cubicBezTo>
                  <a:cubicBezTo>
                    <a:pt x="296" y="711"/>
                    <a:pt x="279" y="693"/>
                    <a:pt x="279" y="673"/>
                  </a:cubicBezTo>
                  <a:cubicBezTo>
                    <a:pt x="279" y="652"/>
                    <a:pt x="296" y="635"/>
                    <a:pt x="317" y="635"/>
                  </a:cubicBezTo>
                  <a:cubicBezTo>
                    <a:pt x="337" y="635"/>
                    <a:pt x="355" y="652"/>
                    <a:pt x="355" y="673"/>
                  </a:cubicBezTo>
                  <a:close/>
                  <a:moveTo>
                    <a:pt x="420" y="658"/>
                  </a:moveTo>
                  <a:cubicBezTo>
                    <a:pt x="420" y="678"/>
                    <a:pt x="402" y="696"/>
                    <a:pt x="382" y="696"/>
                  </a:cubicBezTo>
                  <a:cubicBezTo>
                    <a:pt x="361" y="696"/>
                    <a:pt x="344" y="678"/>
                    <a:pt x="344" y="658"/>
                  </a:cubicBezTo>
                  <a:cubicBezTo>
                    <a:pt x="344" y="637"/>
                    <a:pt x="361" y="620"/>
                    <a:pt x="382" y="620"/>
                  </a:cubicBezTo>
                  <a:cubicBezTo>
                    <a:pt x="402" y="620"/>
                    <a:pt x="420" y="637"/>
                    <a:pt x="420" y="658"/>
                  </a:cubicBezTo>
                  <a:close/>
                  <a:moveTo>
                    <a:pt x="785" y="253"/>
                  </a:moveTo>
                  <a:cubicBezTo>
                    <a:pt x="785" y="273"/>
                    <a:pt x="767" y="291"/>
                    <a:pt x="747" y="291"/>
                  </a:cubicBezTo>
                  <a:cubicBezTo>
                    <a:pt x="726" y="291"/>
                    <a:pt x="709" y="273"/>
                    <a:pt x="709" y="253"/>
                  </a:cubicBezTo>
                  <a:cubicBezTo>
                    <a:pt x="709" y="232"/>
                    <a:pt x="726" y="215"/>
                    <a:pt x="747" y="215"/>
                  </a:cubicBezTo>
                  <a:cubicBezTo>
                    <a:pt x="767" y="215"/>
                    <a:pt x="785" y="232"/>
                    <a:pt x="785" y="253"/>
                  </a:cubicBezTo>
                  <a:close/>
                  <a:moveTo>
                    <a:pt x="752" y="311"/>
                  </a:moveTo>
                  <a:cubicBezTo>
                    <a:pt x="752" y="331"/>
                    <a:pt x="734" y="349"/>
                    <a:pt x="714" y="349"/>
                  </a:cubicBezTo>
                  <a:cubicBezTo>
                    <a:pt x="693" y="349"/>
                    <a:pt x="676" y="331"/>
                    <a:pt x="676" y="311"/>
                  </a:cubicBezTo>
                  <a:cubicBezTo>
                    <a:pt x="676" y="290"/>
                    <a:pt x="693" y="273"/>
                    <a:pt x="714" y="273"/>
                  </a:cubicBezTo>
                  <a:cubicBezTo>
                    <a:pt x="734" y="273"/>
                    <a:pt x="752" y="290"/>
                    <a:pt x="752" y="311"/>
                  </a:cubicBezTo>
                  <a:close/>
                  <a:moveTo>
                    <a:pt x="685" y="316"/>
                  </a:moveTo>
                  <a:cubicBezTo>
                    <a:pt x="685" y="336"/>
                    <a:pt x="667" y="354"/>
                    <a:pt x="647" y="354"/>
                  </a:cubicBezTo>
                  <a:cubicBezTo>
                    <a:pt x="626" y="354"/>
                    <a:pt x="609" y="336"/>
                    <a:pt x="609" y="316"/>
                  </a:cubicBezTo>
                  <a:cubicBezTo>
                    <a:pt x="609" y="295"/>
                    <a:pt x="626" y="278"/>
                    <a:pt x="647" y="278"/>
                  </a:cubicBezTo>
                  <a:cubicBezTo>
                    <a:pt x="667" y="278"/>
                    <a:pt x="685" y="295"/>
                    <a:pt x="685" y="316"/>
                  </a:cubicBezTo>
                  <a:close/>
                  <a:moveTo>
                    <a:pt x="645" y="262"/>
                  </a:moveTo>
                  <a:cubicBezTo>
                    <a:pt x="645" y="282"/>
                    <a:pt x="627" y="300"/>
                    <a:pt x="607" y="300"/>
                  </a:cubicBezTo>
                  <a:cubicBezTo>
                    <a:pt x="586" y="300"/>
                    <a:pt x="569" y="282"/>
                    <a:pt x="569" y="262"/>
                  </a:cubicBezTo>
                  <a:cubicBezTo>
                    <a:pt x="569" y="241"/>
                    <a:pt x="586" y="224"/>
                    <a:pt x="607" y="224"/>
                  </a:cubicBezTo>
                  <a:cubicBezTo>
                    <a:pt x="627" y="224"/>
                    <a:pt x="645" y="241"/>
                    <a:pt x="645" y="262"/>
                  </a:cubicBezTo>
                  <a:close/>
                  <a:moveTo>
                    <a:pt x="669" y="200"/>
                  </a:moveTo>
                  <a:cubicBezTo>
                    <a:pt x="669" y="220"/>
                    <a:pt x="651" y="238"/>
                    <a:pt x="631" y="238"/>
                  </a:cubicBezTo>
                  <a:cubicBezTo>
                    <a:pt x="610" y="238"/>
                    <a:pt x="593" y="220"/>
                    <a:pt x="593" y="200"/>
                  </a:cubicBezTo>
                  <a:cubicBezTo>
                    <a:pt x="593" y="179"/>
                    <a:pt x="610" y="162"/>
                    <a:pt x="631" y="162"/>
                  </a:cubicBezTo>
                  <a:cubicBezTo>
                    <a:pt x="651" y="162"/>
                    <a:pt x="669" y="179"/>
                    <a:pt x="669" y="200"/>
                  </a:cubicBezTo>
                  <a:close/>
                  <a:moveTo>
                    <a:pt x="734" y="185"/>
                  </a:moveTo>
                  <a:cubicBezTo>
                    <a:pt x="734" y="205"/>
                    <a:pt x="716" y="223"/>
                    <a:pt x="696" y="223"/>
                  </a:cubicBezTo>
                  <a:cubicBezTo>
                    <a:pt x="675" y="223"/>
                    <a:pt x="658" y="205"/>
                    <a:pt x="658" y="185"/>
                  </a:cubicBezTo>
                  <a:cubicBezTo>
                    <a:pt x="658" y="164"/>
                    <a:pt x="675" y="147"/>
                    <a:pt x="696" y="147"/>
                  </a:cubicBezTo>
                  <a:cubicBezTo>
                    <a:pt x="716" y="147"/>
                    <a:pt x="734" y="164"/>
                    <a:pt x="734" y="185"/>
                  </a:cubicBezTo>
                  <a:close/>
                  <a:moveTo>
                    <a:pt x="606" y="738"/>
                  </a:moveTo>
                  <a:cubicBezTo>
                    <a:pt x="606" y="758"/>
                    <a:pt x="588" y="776"/>
                    <a:pt x="568" y="776"/>
                  </a:cubicBezTo>
                  <a:cubicBezTo>
                    <a:pt x="547" y="776"/>
                    <a:pt x="530" y="758"/>
                    <a:pt x="530" y="738"/>
                  </a:cubicBezTo>
                  <a:cubicBezTo>
                    <a:pt x="530" y="717"/>
                    <a:pt x="547" y="700"/>
                    <a:pt x="568" y="700"/>
                  </a:cubicBezTo>
                  <a:cubicBezTo>
                    <a:pt x="588" y="700"/>
                    <a:pt x="606" y="717"/>
                    <a:pt x="606" y="738"/>
                  </a:cubicBezTo>
                  <a:close/>
                  <a:moveTo>
                    <a:pt x="573" y="796"/>
                  </a:moveTo>
                  <a:cubicBezTo>
                    <a:pt x="573" y="816"/>
                    <a:pt x="555" y="834"/>
                    <a:pt x="535" y="834"/>
                  </a:cubicBezTo>
                  <a:cubicBezTo>
                    <a:pt x="514" y="834"/>
                    <a:pt x="497" y="816"/>
                    <a:pt x="497" y="796"/>
                  </a:cubicBezTo>
                  <a:cubicBezTo>
                    <a:pt x="497" y="775"/>
                    <a:pt x="514" y="758"/>
                    <a:pt x="535" y="758"/>
                  </a:cubicBezTo>
                  <a:cubicBezTo>
                    <a:pt x="555" y="758"/>
                    <a:pt x="573" y="775"/>
                    <a:pt x="573" y="796"/>
                  </a:cubicBezTo>
                  <a:close/>
                  <a:moveTo>
                    <a:pt x="506" y="801"/>
                  </a:moveTo>
                  <a:cubicBezTo>
                    <a:pt x="506" y="821"/>
                    <a:pt x="488" y="839"/>
                    <a:pt x="468" y="839"/>
                  </a:cubicBezTo>
                  <a:cubicBezTo>
                    <a:pt x="447" y="839"/>
                    <a:pt x="430" y="821"/>
                    <a:pt x="430" y="801"/>
                  </a:cubicBezTo>
                  <a:cubicBezTo>
                    <a:pt x="430" y="780"/>
                    <a:pt x="447" y="763"/>
                    <a:pt x="468" y="763"/>
                  </a:cubicBezTo>
                  <a:cubicBezTo>
                    <a:pt x="488" y="763"/>
                    <a:pt x="506" y="780"/>
                    <a:pt x="506" y="801"/>
                  </a:cubicBezTo>
                  <a:close/>
                  <a:moveTo>
                    <a:pt x="466" y="747"/>
                  </a:moveTo>
                  <a:cubicBezTo>
                    <a:pt x="466" y="767"/>
                    <a:pt x="448" y="785"/>
                    <a:pt x="428" y="785"/>
                  </a:cubicBezTo>
                  <a:cubicBezTo>
                    <a:pt x="407" y="785"/>
                    <a:pt x="390" y="767"/>
                    <a:pt x="390" y="747"/>
                  </a:cubicBezTo>
                  <a:cubicBezTo>
                    <a:pt x="390" y="726"/>
                    <a:pt x="407" y="709"/>
                    <a:pt x="428" y="709"/>
                  </a:cubicBezTo>
                  <a:cubicBezTo>
                    <a:pt x="448" y="709"/>
                    <a:pt x="466" y="726"/>
                    <a:pt x="466" y="747"/>
                  </a:cubicBezTo>
                  <a:close/>
                  <a:moveTo>
                    <a:pt x="490" y="685"/>
                  </a:moveTo>
                  <a:cubicBezTo>
                    <a:pt x="490" y="705"/>
                    <a:pt x="472" y="723"/>
                    <a:pt x="452" y="723"/>
                  </a:cubicBezTo>
                  <a:cubicBezTo>
                    <a:pt x="431" y="723"/>
                    <a:pt x="414" y="705"/>
                    <a:pt x="414" y="685"/>
                  </a:cubicBezTo>
                  <a:cubicBezTo>
                    <a:pt x="414" y="664"/>
                    <a:pt x="431" y="647"/>
                    <a:pt x="452" y="647"/>
                  </a:cubicBezTo>
                  <a:cubicBezTo>
                    <a:pt x="472" y="647"/>
                    <a:pt x="490" y="664"/>
                    <a:pt x="490" y="685"/>
                  </a:cubicBezTo>
                  <a:close/>
                  <a:moveTo>
                    <a:pt x="555" y="670"/>
                  </a:moveTo>
                  <a:cubicBezTo>
                    <a:pt x="555" y="690"/>
                    <a:pt x="537" y="708"/>
                    <a:pt x="517" y="708"/>
                  </a:cubicBezTo>
                  <a:cubicBezTo>
                    <a:pt x="496" y="708"/>
                    <a:pt x="479" y="690"/>
                    <a:pt x="479" y="670"/>
                  </a:cubicBezTo>
                  <a:cubicBezTo>
                    <a:pt x="479" y="649"/>
                    <a:pt x="496" y="632"/>
                    <a:pt x="517" y="632"/>
                  </a:cubicBezTo>
                  <a:cubicBezTo>
                    <a:pt x="537" y="632"/>
                    <a:pt x="555" y="649"/>
                    <a:pt x="555" y="670"/>
                  </a:cubicBezTo>
                  <a:close/>
                  <a:moveTo>
                    <a:pt x="713" y="760"/>
                  </a:moveTo>
                  <a:cubicBezTo>
                    <a:pt x="713" y="780"/>
                    <a:pt x="695" y="798"/>
                    <a:pt x="675" y="798"/>
                  </a:cubicBezTo>
                  <a:cubicBezTo>
                    <a:pt x="654" y="798"/>
                    <a:pt x="637" y="780"/>
                    <a:pt x="637" y="760"/>
                  </a:cubicBezTo>
                  <a:cubicBezTo>
                    <a:pt x="637" y="739"/>
                    <a:pt x="654" y="722"/>
                    <a:pt x="675" y="722"/>
                  </a:cubicBezTo>
                  <a:cubicBezTo>
                    <a:pt x="695" y="722"/>
                    <a:pt x="713" y="739"/>
                    <a:pt x="713" y="760"/>
                  </a:cubicBezTo>
                  <a:close/>
                  <a:moveTo>
                    <a:pt x="680" y="818"/>
                  </a:moveTo>
                  <a:cubicBezTo>
                    <a:pt x="680" y="838"/>
                    <a:pt x="662" y="856"/>
                    <a:pt x="642" y="856"/>
                  </a:cubicBezTo>
                  <a:cubicBezTo>
                    <a:pt x="621" y="856"/>
                    <a:pt x="604" y="838"/>
                    <a:pt x="604" y="818"/>
                  </a:cubicBezTo>
                  <a:cubicBezTo>
                    <a:pt x="604" y="797"/>
                    <a:pt x="621" y="780"/>
                    <a:pt x="642" y="780"/>
                  </a:cubicBezTo>
                  <a:cubicBezTo>
                    <a:pt x="662" y="780"/>
                    <a:pt x="680" y="797"/>
                    <a:pt x="680" y="818"/>
                  </a:cubicBezTo>
                  <a:close/>
                  <a:moveTo>
                    <a:pt x="613" y="823"/>
                  </a:moveTo>
                  <a:cubicBezTo>
                    <a:pt x="613" y="843"/>
                    <a:pt x="595" y="861"/>
                    <a:pt x="575" y="861"/>
                  </a:cubicBezTo>
                  <a:cubicBezTo>
                    <a:pt x="554" y="861"/>
                    <a:pt x="537" y="843"/>
                    <a:pt x="537" y="823"/>
                  </a:cubicBezTo>
                  <a:cubicBezTo>
                    <a:pt x="537" y="802"/>
                    <a:pt x="554" y="785"/>
                    <a:pt x="575" y="785"/>
                  </a:cubicBezTo>
                  <a:cubicBezTo>
                    <a:pt x="595" y="785"/>
                    <a:pt x="613" y="802"/>
                    <a:pt x="613" y="823"/>
                  </a:cubicBezTo>
                  <a:close/>
                  <a:moveTo>
                    <a:pt x="573" y="769"/>
                  </a:moveTo>
                  <a:cubicBezTo>
                    <a:pt x="573" y="789"/>
                    <a:pt x="555" y="807"/>
                    <a:pt x="535" y="807"/>
                  </a:cubicBezTo>
                  <a:cubicBezTo>
                    <a:pt x="514" y="807"/>
                    <a:pt x="497" y="789"/>
                    <a:pt x="497" y="769"/>
                  </a:cubicBezTo>
                  <a:cubicBezTo>
                    <a:pt x="497" y="748"/>
                    <a:pt x="514" y="731"/>
                    <a:pt x="535" y="731"/>
                  </a:cubicBezTo>
                  <a:cubicBezTo>
                    <a:pt x="555" y="731"/>
                    <a:pt x="573" y="748"/>
                    <a:pt x="573" y="769"/>
                  </a:cubicBezTo>
                  <a:close/>
                  <a:moveTo>
                    <a:pt x="597" y="707"/>
                  </a:moveTo>
                  <a:cubicBezTo>
                    <a:pt x="597" y="727"/>
                    <a:pt x="579" y="745"/>
                    <a:pt x="559" y="745"/>
                  </a:cubicBezTo>
                  <a:cubicBezTo>
                    <a:pt x="538" y="745"/>
                    <a:pt x="521" y="727"/>
                    <a:pt x="521" y="707"/>
                  </a:cubicBezTo>
                  <a:cubicBezTo>
                    <a:pt x="521" y="686"/>
                    <a:pt x="538" y="669"/>
                    <a:pt x="559" y="669"/>
                  </a:cubicBezTo>
                  <a:cubicBezTo>
                    <a:pt x="579" y="669"/>
                    <a:pt x="597" y="686"/>
                    <a:pt x="597" y="707"/>
                  </a:cubicBezTo>
                  <a:close/>
                  <a:moveTo>
                    <a:pt x="662" y="692"/>
                  </a:moveTo>
                  <a:cubicBezTo>
                    <a:pt x="662" y="712"/>
                    <a:pt x="644" y="730"/>
                    <a:pt x="624" y="730"/>
                  </a:cubicBezTo>
                  <a:cubicBezTo>
                    <a:pt x="603" y="730"/>
                    <a:pt x="586" y="712"/>
                    <a:pt x="586" y="692"/>
                  </a:cubicBezTo>
                  <a:cubicBezTo>
                    <a:pt x="586" y="671"/>
                    <a:pt x="603" y="654"/>
                    <a:pt x="624" y="654"/>
                  </a:cubicBezTo>
                  <a:cubicBezTo>
                    <a:pt x="644" y="654"/>
                    <a:pt x="662" y="671"/>
                    <a:pt x="662" y="692"/>
                  </a:cubicBezTo>
                  <a:close/>
                  <a:moveTo>
                    <a:pt x="822" y="187"/>
                  </a:moveTo>
                  <a:cubicBezTo>
                    <a:pt x="822" y="207"/>
                    <a:pt x="804" y="225"/>
                    <a:pt x="784" y="225"/>
                  </a:cubicBezTo>
                  <a:cubicBezTo>
                    <a:pt x="763" y="225"/>
                    <a:pt x="746" y="207"/>
                    <a:pt x="746" y="187"/>
                  </a:cubicBezTo>
                  <a:cubicBezTo>
                    <a:pt x="746" y="166"/>
                    <a:pt x="763" y="149"/>
                    <a:pt x="784" y="149"/>
                  </a:cubicBezTo>
                  <a:cubicBezTo>
                    <a:pt x="804" y="149"/>
                    <a:pt x="822" y="166"/>
                    <a:pt x="822" y="187"/>
                  </a:cubicBezTo>
                  <a:close/>
                  <a:moveTo>
                    <a:pt x="789" y="245"/>
                  </a:moveTo>
                  <a:cubicBezTo>
                    <a:pt x="789" y="265"/>
                    <a:pt x="771" y="283"/>
                    <a:pt x="751" y="283"/>
                  </a:cubicBezTo>
                  <a:cubicBezTo>
                    <a:pt x="730" y="283"/>
                    <a:pt x="713" y="265"/>
                    <a:pt x="713" y="245"/>
                  </a:cubicBezTo>
                  <a:cubicBezTo>
                    <a:pt x="713" y="224"/>
                    <a:pt x="730" y="207"/>
                    <a:pt x="751" y="207"/>
                  </a:cubicBezTo>
                  <a:cubicBezTo>
                    <a:pt x="771" y="207"/>
                    <a:pt x="789" y="224"/>
                    <a:pt x="789" y="245"/>
                  </a:cubicBezTo>
                  <a:close/>
                  <a:moveTo>
                    <a:pt x="722" y="250"/>
                  </a:moveTo>
                  <a:cubicBezTo>
                    <a:pt x="722" y="270"/>
                    <a:pt x="704" y="288"/>
                    <a:pt x="684" y="288"/>
                  </a:cubicBezTo>
                  <a:cubicBezTo>
                    <a:pt x="663" y="288"/>
                    <a:pt x="646" y="270"/>
                    <a:pt x="646" y="250"/>
                  </a:cubicBezTo>
                  <a:cubicBezTo>
                    <a:pt x="646" y="229"/>
                    <a:pt x="663" y="212"/>
                    <a:pt x="684" y="212"/>
                  </a:cubicBezTo>
                  <a:cubicBezTo>
                    <a:pt x="704" y="212"/>
                    <a:pt x="722" y="229"/>
                    <a:pt x="722" y="250"/>
                  </a:cubicBezTo>
                  <a:close/>
                  <a:moveTo>
                    <a:pt x="682" y="196"/>
                  </a:moveTo>
                  <a:cubicBezTo>
                    <a:pt x="682" y="216"/>
                    <a:pt x="664" y="234"/>
                    <a:pt x="644" y="234"/>
                  </a:cubicBezTo>
                  <a:cubicBezTo>
                    <a:pt x="623" y="234"/>
                    <a:pt x="606" y="216"/>
                    <a:pt x="606" y="196"/>
                  </a:cubicBezTo>
                  <a:cubicBezTo>
                    <a:pt x="606" y="175"/>
                    <a:pt x="623" y="158"/>
                    <a:pt x="644" y="158"/>
                  </a:cubicBezTo>
                  <a:cubicBezTo>
                    <a:pt x="664" y="158"/>
                    <a:pt x="682" y="175"/>
                    <a:pt x="682" y="196"/>
                  </a:cubicBezTo>
                  <a:close/>
                  <a:moveTo>
                    <a:pt x="706" y="134"/>
                  </a:moveTo>
                  <a:cubicBezTo>
                    <a:pt x="706" y="154"/>
                    <a:pt x="688" y="172"/>
                    <a:pt x="668" y="172"/>
                  </a:cubicBezTo>
                  <a:cubicBezTo>
                    <a:pt x="647" y="172"/>
                    <a:pt x="630" y="154"/>
                    <a:pt x="630" y="134"/>
                  </a:cubicBezTo>
                  <a:cubicBezTo>
                    <a:pt x="630" y="113"/>
                    <a:pt x="647" y="96"/>
                    <a:pt x="668" y="96"/>
                  </a:cubicBezTo>
                  <a:cubicBezTo>
                    <a:pt x="688" y="96"/>
                    <a:pt x="706" y="113"/>
                    <a:pt x="706" y="134"/>
                  </a:cubicBezTo>
                  <a:close/>
                  <a:moveTo>
                    <a:pt x="771" y="119"/>
                  </a:moveTo>
                  <a:cubicBezTo>
                    <a:pt x="771" y="139"/>
                    <a:pt x="753" y="157"/>
                    <a:pt x="733" y="157"/>
                  </a:cubicBezTo>
                  <a:cubicBezTo>
                    <a:pt x="712" y="157"/>
                    <a:pt x="695" y="139"/>
                    <a:pt x="695" y="119"/>
                  </a:cubicBezTo>
                  <a:cubicBezTo>
                    <a:pt x="695" y="98"/>
                    <a:pt x="712" y="81"/>
                    <a:pt x="733" y="81"/>
                  </a:cubicBezTo>
                  <a:cubicBezTo>
                    <a:pt x="753" y="81"/>
                    <a:pt x="771" y="98"/>
                    <a:pt x="771" y="119"/>
                  </a:cubicBezTo>
                  <a:close/>
                  <a:moveTo>
                    <a:pt x="848" y="133"/>
                  </a:moveTo>
                  <a:cubicBezTo>
                    <a:pt x="848" y="153"/>
                    <a:pt x="830" y="171"/>
                    <a:pt x="810" y="171"/>
                  </a:cubicBezTo>
                  <a:cubicBezTo>
                    <a:pt x="789" y="171"/>
                    <a:pt x="772" y="153"/>
                    <a:pt x="772" y="133"/>
                  </a:cubicBezTo>
                  <a:cubicBezTo>
                    <a:pt x="772" y="112"/>
                    <a:pt x="789" y="95"/>
                    <a:pt x="810" y="95"/>
                  </a:cubicBezTo>
                  <a:cubicBezTo>
                    <a:pt x="830" y="95"/>
                    <a:pt x="848" y="112"/>
                    <a:pt x="848" y="133"/>
                  </a:cubicBezTo>
                  <a:close/>
                  <a:moveTo>
                    <a:pt x="815" y="191"/>
                  </a:moveTo>
                  <a:cubicBezTo>
                    <a:pt x="815" y="211"/>
                    <a:pt x="797" y="229"/>
                    <a:pt x="777" y="229"/>
                  </a:cubicBezTo>
                  <a:cubicBezTo>
                    <a:pt x="756" y="229"/>
                    <a:pt x="739" y="211"/>
                    <a:pt x="739" y="191"/>
                  </a:cubicBezTo>
                  <a:cubicBezTo>
                    <a:pt x="739" y="170"/>
                    <a:pt x="756" y="153"/>
                    <a:pt x="777" y="153"/>
                  </a:cubicBezTo>
                  <a:cubicBezTo>
                    <a:pt x="797" y="153"/>
                    <a:pt x="815" y="170"/>
                    <a:pt x="815" y="191"/>
                  </a:cubicBezTo>
                  <a:close/>
                  <a:moveTo>
                    <a:pt x="748" y="196"/>
                  </a:moveTo>
                  <a:cubicBezTo>
                    <a:pt x="748" y="216"/>
                    <a:pt x="730" y="234"/>
                    <a:pt x="710" y="234"/>
                  </a:cubicBezTo>
                  <a:cubicBezTo>
                    <a:pt x="689" y="234"/>
                    <a:pt x="672" y="216"/>
                    <a:pt x="672" y="196"/>
                  </a:cubicBezTo>
                  <a:cubicBezTo>
                    <a:pt x="672" y="175"/>
                    <a:pt x="689" y="158"/>
                    <a:pt x="710" y="158"/>
                  </a:cubicBezTo>
                  <a:cubicBezTo>
                    <a:pt x="730" y="158"/>
                    <a:pt x="748" y="175"/>
                    <a:pt x="748" y="196"/>
                  </a:cubicBezTo>
                  <a:close/>
                  <a:moveTo>
                    <a:pt x="708" y="142"/>
                  </a:moveTo>
                  <a:cubicBezTo>
                    <a:pt x="708" y="162"/>
                    <a:pt x="690" y="180"/>
                    <a:pt x="670" y="180"/>
                  </a:cubicBezTo>
                  <a:cubicBezTo>
                    <a:pt x="649" y="180"/>
                    <a:pt x="632" y="162"/>
                    <a:pt x="632" y="142"/>
                  </a:cubicBezTo>
                  <a:cubicBezTo>
                    <a:pt x="632" y="121"/>
                    <a:pt x="649" y="104"/>
                    <a:pt x="670" y="104"/>
                  </a:cubicBezTo>
                  <a:cubicBezTo>
                    <a:pt x="690" y="104"/>
                    <a:pt x="708" y="121"/>
                    <a:pt x="708" y="142"/>
                  </a:cubicBezTo>
                  <a:close/>
                  <a:moveTo>
                    <a:pt x="732" y="80"/>
                  </a:moveTo>
                  <a:cubicBezTo>
                    <a:pt x="732" y="100"/>
                    <a:pt x="714" y="118"/>
                    <a:pt x="694" y="118"/>
                  </a:cubicBezTo>
                  <a:cubicBezTo>
                    <a:pt x="673" y="118"/>
                    <a:pt x="656" y="100"/>
                    <a:pt x="656" y="80"/>
                  </a:cubicBezTo>
                  <a:cubicBezTo>
                    <a:pt x="656" y="59"/>
                    <a:pt x="673" y="42"/>
                    <a:pt x="694" y="42"/>
                  </a:cubicBezTo>
                  <a:cubicBezTo>
                    <a:pt x="714" y="42"/>
                    <a:pt x="732" y="59"/>
                    <a:pt x="732" y="80"/>
                  </a:cubicBezTo>
                  <a:close/>
                  <a:moveTo>
                    <a:pt x="797" y="65"/>
                  </a:moveTo>
                  <a:cubicBezTo>
                    <a:pt x="797" y="85"/>
                    <a:pt x="779" y="103"/>
                    <a:pt x="759" y="103"/>
                  </a:cubicBezTo>
                  <a:cubicBezTo>
                    <a:pt x="738" y="103"/>
                    <a:pt x="721" y="85"/>
                    <a:pt x="721" y="65"/>
                  </a:cubicBezTo>
                  <a:cubicBezTo>
                    <a:pt x="721" y="44"/>
                    <a:pt x="738" y="27"/>
                    <a:pt x="759" y="27"/>
                  </a:cubicBezTo>
                  <a:cubicBezTo>
                    <a:pt x="779" y="27"/>
                    <a:pt x="797" y="44"/>
                    <a:pt x="797" y="65"/>
                  </a:cubicBezTo>
                  <a:close/>
                  <a:moveTo>
                    <a:pt x="708" y="385"/>
                  </a:moveTo>
                  <a:cubicBezTo>
                    <a:pt x="708" y="405"/>
                    <a:pt x="690" y="423"/>
                    <a:pt x="670" y="423"/>
                  </a:cubicBezTo>
                  <a:cubicBezTo>
                    <a:pt x="649" y="423"/>
                    <a:pt x="632" y="405"/>
                    <a:pt x="632" y="385"/>
                  </a:cubicBezTo>
                  <a:cubicBezTo>
                    <a:pt x="632" y="364"/>
                    <a:pt x="649" y="347"/>
                    <a:pt x="670" y="347"/>
                  </a:cubicBezTo>
                  <a:cubicBezTo>
                    <a:pt x="690" y="347"/>
                    <a:pt x="708" y="364"/>
                    <a:pt x="708" y="385"/>
                  </a:cubicBezTo>
                  <a:close/>
                  <a:moveTo>
                    <a:pt x="675" y="443"/>
                  </a:moveTo>
                  <a:cubicBezTo>
                    <a:pt x="675" y="463"/>
                    <a:pt x="657" y="481"/>
                    <a:pt x="637" y="481"/>
                  </a:cubicBezTo>
                  <a:cubicBezTo>
                    <a:pt x="616" y="481"/>
                    <a:pt x="599" y="463"/>
                    <a:pt x="599" y="443"/>
                  </a:cubicBezTo>
                  <a:cubicBezTo>
                    <a:pt x="599" y="422"/>
                    <a:pt x="616" y="405"/>
                    <a:pt x="637" y="405"/>
                  </a:cubicBezTo>
                  <a:cubicBezTo>
                    <a:pt x="657" y="405"/>
                    <a:pt x="675" y="422"/>
                    <a:pt x="675" y="443"/>
                  </a:cubicBezTo>
                  <a:close/>
                  <a:moveTo>
                    <a:pt x="608" y="448"/>
                  </a:moveTo>
                  <a:cubicBezTo>
                    <a:pt x="608" y="468"/>
                    <a:pt x="590" y="486"/>
                    <a:pt x="570" y="486"/>
                  </a:cubicBezTo>
                  <a:cubicBezTo>
                    <a:pt x="549" y="486"/>
                    <a:pt x="532" y="468"/>
                    <a:pt x="532" y="448"/>
                  </a:cubicBezTo>
                  <a:cubicBezTo>
                    <a:pt x="532" y="427"/>
                    <a:pt x="549" y="410"/>
                    <a:pt x="570" y="410"/>
                  </a:cubicBezTo>
                  <a:cubicBezTo>
                    <a:pt x="590" y="410"/>
                    <a:pt x="608" y="427"/>
                    <a:pt x="608" y="448"/>
                  </a:cubicBezTo>
                  <a:close/>
                  <a:moveTo>
                    <a:pt x="568" y="394"/>
                  </a:moveTo>
                  <a:cubicBezTo>
                    <a:pt x="568" y="414"/>
                    <a:pt x="550" y="432"/>
                    <a:pt x="530" y="432"/>
                  </a:cubicBezTo>
                  <a:cubicBezTo>
                    <a:pt x="509" y="432"/>
                    <a:pt x="492" y="414"/>
                    <a:pt x="492" y="394"/>
                  </a:cubicBezTo>
                  <a:cubicBezTo>
                    <a:pt x="492" y="373"/>
                    <a:pt x="509" y="356"/>
                    <a:pt x="530" y="356"/>
                  </a:cubicBezTo>
                  <a:cubicBezTo>
                    <a:pt x="550" y="356"/>
                    <a:pt x="568" y="373"/>
                    <a:pt x="568" y="394"/>
                  </a:cubicBezTo>
                  <a:close/>
                  <a:moveTo>
                    <a:pt x="592" y="332"/>
                  </a:moveTo>
                  <a:cubicBezTo>
                    <a:pt x="592" y="352"/>
                    <a:pt x="574" y="370"/>
                    <a:pt x="554" y="370"/>
                  </a:cubicBezTo>
                  <a:cubicBezTo>
                    <a:pt x="533" y="370"/>
                    <a:pt x="516" y="352"/>
                    <a:pt x="516" y="332"/>
                  </a:cubicBezTo>
                  <a:cubicBezTo>
                    <a:pt x="516" y="311"/>
                    <a:pt x="533" y="294"/>
                    <a:pt x="554" y="294"/>
                  </a:cubicBezTo>
                  <a:cubicBezTo>
                    <a:pt x="574" y="294"/>
                    <a:pt x="592" y="311"/>
                    <a:pt x="592" y="332"/>
                  </a:cubicBezTo>
                  <a:close/>
                  <a:moveTo>
                    <a:pt x="657" y="317"/>
                  </a:moveTo>
                  <a:cubicBezTo>
                    <a:pt x="657" y="337"/>
                    <a:pt x="639" y="355"/>
                    <a:pt x="619" y="355"/>
                  </a:cubicBezTo>
                  <a:cubicBezTo>
                    <a:pt x="598" y="355"/>
                    <a:pt x="581" y="337"/>
                    <a:pt x="581" y="317"/>
                  </a:cubicBezTo>
                  <a:cubicBezTo>
                    <a:pt x="581" y="296"/>
                    <a:pt x="598" y="279"/>
                    <a:pt x="619" y="279"/>
                  </a:cubicBezTo>
                  <a:cubicBezTo>
                    <a:pt x="639" y="279"/>
                    <a:pt x="657" y="296"/>
                    <a:pt x="657" y="317"/>
                  </a:cubicBezTo>
                  <a:close/>
                  <a:moveTo>
                    <a:pt x="792" y="359"/>
                  </a:moveTo>
                  <a:cubicBezTo>
                    <a:pt x="792" y="379"/>
                    <a:pt x="774" y="397"/>
                    <a:pt x="754" y="397"/>
                  </a:cubicBezTo>
                  <a:cubicBezTo>
                    <a:pt x="733" y="397"/>
                    <a:pt x="716" y="379"/>
                    <a:pt x="716" y="359"/>
                  </a:cubicBezTo>
                  <a:cubicBezTo>
                    <a:pt x="716" y="338"/>
                    <a:pt x="733" y="321"/>
                    <a:pt x="754" y="321"/>
                  </a:cubicBezTo>
                  <a:cubicBezTo>
                    <a:pt x="774" y="321"/>
                    <a:pt x="792" y="338"/>
                    <a:pt x="792" y="359"/>
                  </a:cubicBezTo>
                  <a:close/>
                  <a:moveTo>
                    <a:pt x="759" y="417"/>
                  </a:moveTo>
                  <a:cubicBezTo>
                    <a:pt x="759" y="437"/>
                    <a:pt x="741" y="455"/>
                    <a:pt x="721" y="455"/>
                  </a:cubicBezTo>
                  <a:cubicBezTo>
                    <a:pt x="700" y="455"/>
                    <a:pt x="683" y="437"/>
                    <a:pt x="683" y="417"/>
                  </a:cubicBezTo>
                  <a:cubicBezTo>
                    <a:pt x="683" y="396"/>
                    <a:pt x="700" y="379"/>
                    <a:pt x="721" y="379"/>
                  </a:cubicBezTo>
                  <a:cubicBezTo>
                    <a:pt x="741" y="379"/>
                    <a:pt x="759" y="396"/>
                    <a:pt x="759" y="417"/>
                  </a:cubicBezTo>
                  <a:close/>
                  <a:moveTo>
                    <a:pt x="692" y="422"/>
                  </a:moveTo>
                  <a:cubicBezTo>
                    <a:pt x="692" y="442"/>
                    <a:pt x="674" y="460"/>
                    <a:pt x="654" y="460"/>
                  </a:cubicBezTo>
                  <a:cubicBezTo>
                    <a:pt x="633" y="460"/>
                    <a:pt x="616" y="442"/>
                    <a:pt x="616" y="422"/>
                  </a:cubicBezTo>
                  <a:cubicBezTo>
                    <a:pt x="616" y="401"/>
                    <a:pt x="633" y="384"/>
                    <a:pt x="654" y="384"/>
                  </a:cubicBezTo>
                  <a:cubicBezTo>
                    <a:pt x="674" y="384"/>
                    <a:pt x="692" y="401"/>
                    <a:pt x="692" y="422"/>
                  </a:cubicBezTo>
                  <a:close/>
                  <a:moveTo>
                    <a:pt x="652" y="368"/>
                  </a:moveTo>
                  <a:cubicBezTo>
                    <a:pt x="652" y="388"/>
                    <a:pt x="634" y="406"/>
                    <a:pt x="614" y="406"/>
                  </a:cubicBezTo>
                  <a:cubicBezTo>
                    <a:pt x="593" y="406"/>
                    <a:pt x="576" y="388"/>
                    <a:pt x="576" y="368"/>
                  </a:cubicBezTo>
                  <a:cubicBezTo>
                    <a:pt x="576" y="347"/>
                    <a:pt x="593" y="330"/>
                    <a:pt x="614" y="330"/>
                  </a:cubicBezTo>
                  <a:cubicBezTo>
                    <a:pt x="634" y="330"/>
                    <a:pt x="652" y="347"/>
                    <a:pt x="652" y="368"/>
                  </a:cubicBezTo>
                  <a:close/>
                  <a:moveTo>
                    <a:pt x="676" y="306"/>
                  </a:moveTo>
                  <a:cubicBezTo>
                    <a:pt x="676" y="326"/>
                    <a:pt x="658" y="344"/>
                    <a:pt x="638" y="344"/>
                  </a:cubicBezTo>
                  <a:cubicBezTo>
                    <a:pt x="617" y="344"/>
                    <a:pt x="600" y="326"/>
                    <a:pt x="600" y="306"/>
                  </a:cubicBezTo>
                  <a:cubicBezTo>
                    <a:pt x="600" y="285"/>
                    <a:pt x="617" y="268"/>
                    <a:pt x="638" y="268"/>
                  </a:cubicBezTo>
                  <a:cubicBezTo>
                    <a:pt x="658" y="268"/>
                    <a:pt x="676" y="285"/>
                    <a:pt x="676" y="306"/>
                  </a:cubicBezTo>
                  <a:close/>
                  <a:moveTo>
                    <a:pt x="741" y="291"/>
                  </a:moveTo>
                  <a:cubicBezTo>
                    <a:pt x="741" y="311"/>
                    <a:pt x="723" y="329"/>
                    <a:pt x="703" y="329"/>
                  </a:cubicBezTo>
                  <a:cubicBezTo>
                    <a:pt x="682" y="329"/>
                    <a:pt x="665" y="311"/>
                    <a:pt x="665" y="291"/>
                  </a:cubicBezTo>
                  <a:cubicBezTo>
                    <a:pt x="665" y="270"/>
                    <a:pt x="682" y="253"/>
                    <a:pt x="703" y="253"/>
                  </a:cubicBezTo>
                  <a:cubicBezTo>
                    <a:pt x="723" y="253"/>
                    <a:pt x="741" y="270"/>
                    <a:pt x="741" y="291"/>
                  </a:cubicBezTo>
                  <a:close/>
                </a:path>
              </a:pathLst>
            </a:custGeom>
            <a:solidFill>
              <a:srgbClr val="B03A6E"/>
            </a:solidFill>
            <a:ln>
              <a:noFill/>
            </a:ln>
          </p:spPr>
        </p:sp>
        <p:sp>
          <p:nvSpPr>
            <p:cNvPr id="34" name="Gotas lipídicas"/>
            <p:cNvSpPr/>
            <p:nvPr/>
          </p:nvSpPr>
          <p:spPr>
            <a:xfrm>
              <a:off x="832104" y="2203192"/>
              <a:ext cx="621792" cy="509869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60" y="300"/>
                  </a:moveTo>
                  <a:cubicBezTo>
                    <a:pt x="460" y="388"/>
                    <a:pt x="388" y="460"/>
                    <a:pt x="300" y="460"/>
                  </a:cubicBezTo>
                  <a:cubicBezTo>
                    <a:pt x="211" y="460"/>
                    <a:pt x="140" y="388"/>
                    <a:pt x="140" y="300"/>
                  </a:cubicBezTo>
                  <a:cubicBezTo>
                    <a:pt x="140" y="211"/>
                    <a:pt x="211" y="140"/>
                    <a:pt x="300" y="140"/>
                  </a:cubicBezTo>
                  <a:cubicBezTo>
                    <a:pt x="388" y="140"/>
                    <a:pt x="460" y="211"/>
                    <a:pt x="460" y="300"/>
                  </a:cubicBezTo>
                  <a:close/>
                  <a:moveTo>
                    <a:pt x="820" y="650"/>
                  </a:moveTo>
                  <a:cubicBezTo>
                    <a:pt x="820" y="716"/>
                    <a:pt x="766" y="770"/>
                    <a:pt x="700" y="770"/>
                  </a:cubicBezTo>
                  <a:cubicBezTo>
                    <a:pt x="633" y="770"/>
                    <a:pt x="580" y="716"/>
                    <a:pt x="580" y="650"/>
                  </a:cubicBezTo>
                  <a:cubicBezTo>
                    <a:pt x="580" y="583"/>
                    <a:pt x="633" y="530"/>
                    <a:pt x="700" y="530"/>
                  </a:cubicBezTo>
                  <a:cubicBezTo>
                    <a:pt x="766" y="530"/>
                    <a:pt x="820" y="583"/>
                    <a:pt x="820" y="65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6C2"/>
                </a:gs>
                <a:gs pos="100000">
                  <a:srgbClr val="E9B90B"/>
                </a:gs>
              </a:gsLst>
              <a:path path="circle">
                <a:fillToRect l="35000" t="30000" r="65000" b="70000"/>
              </a:path>
            </a:gradFill>
            <a:ln w="9525" cap="rnd">
              <a:solidFill>
                <a:srgbClr val="9A7D0A"/>
              </a:solidFill>
              <a:round/>
            </a:ln>
          </p:spPr>
        </p:sp>
      </p:grpSp>
      <p:grpSp>
        <p:nvGrpSpPr>
          <p:cNvPr id="35" name="!!Vaso sanguíneo"/>
          <p:cNvGrpSpPr/>
          <p:nvPr/>
        </p:nvGrpSpPr>
        <p:grpSpPr>
          <a:xfrm>
            <a:off x="182880" y="4023360"/>
            <a:ext cx="7863840" cy="731520"/>
            <a:chOff x="182880" y="4023360"/>
            <a:chExt cx="7863840" cy="731520"/>
          </a:xfrm>
        </p:grpSpPr>
        <p:sp>
          <p:nvSpPr>
            <p:cNvPr id="36" name="Forma 35"/>
            <p:cNvSpPr/>
            <p:nvPr/>
          </p:nvSpPr>
          <p:spPr>
            <a:xfrm>
              <a:off x="182880" y="4023360"/>
              <a:ext cx="7863840" cy="7315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37" name="Forma 36"/>
            <p:cNvSpPr/>
            <p:nvPr/>
          </p:nvSpPr>
          <p:spPr>
            <a:xfrm>
              <a:off x="292608" y="4155034"/>
              <a:ext cx="7644384" cy="46817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38" name="Eritrocito"/>
            <p:cNvSpPr/>
            <p:nvPr/>
          </p:nvSpPr>
          <p:spPr>
            <a:xfrm>
              <a:off x="711608" y="4379579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39" name="Eritrocito_2"/>
            <p:cNvSpPr/>
            <p:nvPr/>
          </p:nvSpPr>
          <p:spPr>
            <a:xfrm>
              <a:off x="1229366" y="4221761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0" name="Eritrocito_3"/>
            <p:cNvSpPr/>
            <p:nvPr/>
          </p:nvSpPr>
          <p:spPr>
            <a:xfrm>
              <a:off x="2290087" y="4340834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1" name="Eritrocito_4"/>
            <p:cNvSpPr/>
            <p:nvPr/>
          </p:nvSpPr>
          <p:spPr>
            <a:xfrm>
              <a:off x="3045198" y="4262592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2" name="Eritrocito_5"/>
            <p:cNvSpPr/>
            <p:nvPr/>
          </p:nvSpPr>
          <p:spPr>
            <a:xfrm>
              <a:off x="3833300" y="4317212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3" name="Eritrocito_6"/>
            <p:cNvSpPr/>
            <p:nvPr/>
          </p:nvSpPr>
          <p:spPr>
            <a:xfrm>
              <a:off x="4634032" y="4235205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4" name="Eritrocito_7"/>
            <p:cNvSpPr/>
            <p:nvPr/>
          </p:nvSpPr>
          <p:spPr>
            <a:xfrm>
              <a:off x="5394071" y="4278209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5" name="Eritrocito_8"/>
            <p:cNvSpPr/>
            <p:nvPr/>
          </p:nvSpPr>
          <p:spPr>
            <a:xfrm>
              <a:off x="6297378" y="4388173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6" name="Eritrocito_9"/>
            <p:cNvSpPr/>
            <p:nvPr/>
          </p:nvSpPr>
          <p:spPr>
            <a:xfrm>
              <a:off x="7179348" y="4305759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sp>
        <p:nvSpPr>
          <p:cNvPr id="47" name="!!Enzima 0"/>
          <p:cNvSpPr/>
          <p:nvPr/>
        </p:nvSpPr>
        <p:spPr>
          <a:xfrm>
            <a:off x="1280160" y="2194560"/>
            <a:ext cx="292608" cy="292608"/>
          </a:xfrm>
          <a:prstGeom prst="ellipse">
            <a:avLst/>
          </a:prstGeom>
          <a:gradFill rotWithShape="1">
            <a:gsLst>
              <a:gs pos="0">
                <a:srgbClr val="EFC1A3"/>
              </a:gs>
              <a:gs pos="55000">
                <a:srgbClr val="E59866"/>
              </a:gs>
              <a:gs pos="100000">
                <a:srgbClr val="B7795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84212"/>
            </a:solidFill>
            <a:round/>
          </a:ln>
        </p:spPr>
      </p:sp>
      <p:sp>
        <p:nvSpPr>
          <p:cNvPr id="48" name="!!Enzima 1"/>
          <p:cNvSpPr/>
          <p:nvPr/>
        </p:nvSpPr>
        <p:spPr>
          <a:xfrm>
            <a:off x="1783080" y="2560320"/>
            <a:ext cx="292608" cy="292608"/>
          </a:xfrm>
          <a:prstGeom prst="ellipse">
            <a:avLst/>
          </a:prstGeom>
          <a:gradFill rotWithShape="1">
            <a:gsLst>
              <a:gs pos="0">
                <a:srgbClr val="EFC1A3"/>
              </a:gs>
              <a:gs pos="55000">
                <a:srgbClr val="E59866"/>
              </a:gs>
              <a:gs pos="100000">
                <a:srgbClr val="B7795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84212"/>
            </a:solidFill>
            <a:round/>
          </a:ln>
        </p:spPr>
      </p:sp>
      <p:sp>
        <p:nvSpPr>
          <p:cNvPr id="49" name="!!Enzima 2"/>
          <p:cNvSpPr/>
          <p:nvPr/>
        </p:nvSpPr>
        <p:spPr>
          <a:xfrm>
            <a:off x="2286000" y="2194560"/>
            <a:ext cx="292608" cy="292608"/>
          </a:xfrm>
          <a:prstGeom prst="ellipse">
            <a:avLst/>
          </a:prstGeom>
          <a:gradFill rotWithShape="1">
            <a:gsLst>
              <a:gs pos="0">
                <a:srgbClr val="EFC1A3"/>
              </a:gs>
              <a:gs pos="55000">
                <a:srgbClr val="E59866"/>
              </a:gs>
              <a:gs pos="100000">
                <a:srgbClr val="B7795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84212"/>
            </a:solidFill>
            <a:round/>
          </a:ln>
        </p:spPr>
      </p:sp>
      <p:sp>
        <p:nvSpPr>
          <p:cNvPr id="50" name="!!Enzima 3"/>
          <p:cNvSpPr/>
          <p:nvPr/>
        </p:nvSpPr>
        <p:spPr>
          <a:xfrm>
            <a:off x="2788920" y="2560320"/>
            <a:ext cx="292608" cy="292608"/>
          </a:xfrm>
          <a:prstGeom prst="ellipse">
            <a:avLst/>
          </a:prstGeom>
          <a:gradFill rotWithShape="1">
            <a:gsLst>
              <a:gs pos="0">
                <a:srgbClr val="EFC1A3"/>
              </a:gs>
              <a:gs pos="55000">
                <a:srgbClr val="E59866"/>
              </a:gs>
              <a:gs pos="100000">
                <a:srgbClr val="B7795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84212"/>
            </a:solidFill>
            <a:round/>
          </a:ln>
        </p:spPr>
      </p:sp>
      <p:sp>
        <p:nvSpPr>
          <p:cNvPr id="51" name="Rótulo liberación"/>
          <p:cNvSpPr txBox="1"/>
          <p:nvPr/>
        </p:nvSpPr>
        <p:spPr>
          <a:xfrm>
            <a:off x="3566160" y="128016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7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Lesión de la membrana → las enzimas intracelulares </a:t>
            </a:r>
            <a:r>
              <a:rPr lang="es-AR" sz="17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pasan a la sangre</a:t>
            </a:r>
            <a:r>
              <a:rPr lang="es-AR" sz="17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700" dirty="0">
              <a:latin typeface="Calibri"/>
            </a:endParaRPr>
          </a:p>
        </p:txBody>
      </p:sp>
      <p:grpSp>
        <p:nvGrpSpPr>
          <p:cNvPr id="52" name="Tabla enzimas fila 0"/>
          <p:cNvGrpSpPr/>
          <p:nvPr/>
        </p:nvGrpSpPr>
        <p:grpSpPr>
          <a:xfrm>
            <a:off x="411480" y="4892040"/>
            <a:ext cx="7680960" cy="333756"/>
            <a:chOff x="411480" y="4892040"/>
            <a:chExt cx="7680960" cy="333756"/>
          </a:xfrm>
        </p:grpSpPr>
        <p:sp>
          <p:nvSpPr>
            <p:cNvPr id="53" name="Forma 52"/>
            <p:cNvSpPr/>
            <p:nvPr/>
          </p:nvSpPr>
          <p:spPr>
            <a:xfrm>
              <a:off x="411480" y="4892040"/>
              <a:ext cx="2194560" cy="333756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Enzima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54" name="Forma 53"/>
            <p:cNvSpPr/>
            <p:nvPr/>
          </p:nvSpPr>
          <p:spPr>
            <a:xfrm>
              <a:off x="2606040" y="4892040"/>
              <a:ext cx="2377440" cy="333756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Origen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55" name="Forma 54"/>
            <p:cNvSpPr/>
            <p:nvPr/>
          </p:nvSpPr>
          <p:spPr>
            <a:xfrm>
              <a:off x="4983480" y="4892040"/>
              <a:ext cx="3108960" cy="333756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Significado de su elevación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56" name="Tabla enzimas fila 1"/>
          <p:cNvGrpSpPr/>
          <p:nvPr/>
        </p:nvGrpSpPr>
        <p:grpSpPr>
          <a:xfrm>
            <a:off x="411480" y="5225796"/>
            <a:ext cx="7680960" cy="333756"/>
            <a:chOff x="411480" y="5225796"/>
            <a:chExt cx="7680960" cy="333756"/>
          </a:xfrm>
        </p:grpSpPr>
        <p:sp>
          <p:nvSpPr>
            <p:cNvPr id="57" name="Forma 56"/>
            <p:cNvSpPr/>
            <p:nvPr/>
          </p:nvSpPr>
          <p:spPr>
            <a:xfrm>
              <a:off x="411480" y="5225796"/>
              <a:ext cx="2194560" cy="3337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GPT (ALT)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58" name="Forma 57"/>
            <p:cNvSpPr/>
            <p:nvPr/>
          </p:nvSpPr>
          <p:spPr>
            <a:xfrm>
              <a:off x="2606040" y="5225796"/>
              <a:ext cx="2377440" cy="3337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Hígado (específica)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4983480" y="5225796"/>
              <a:ext cx="3108960" cy="3337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Daño hepático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60" name="Tabla enzimas fila 2"/>
          <p:cNvGrpSpPr/>
          <p:nvPr/>
        </p:nvGrpSpPr>
        <p:grpSpPr>
          <a:xfrm>
            <a:off x="411480" y="5559552"/>
            <a:ext cx="7680960" cy="333756"/>
            <a:chOff x="411480" y="5559552"/>
            <a:chExt cx="7680960" cy="333756"/>
          </a:xfrm>
        </p:grpSpPr>
        <p:sp>
          <p:nvSpPr>
            <p:cNvPr id="61" name="Forma 60"/>
            <p:cNvSpPr/>
            <p:nvPr/>
          </p:nvSpPr>
          <p:spPr>
            <a:xfrm>
              <a:off x="411480" y="5559552"/>
              <a:ext cx="2194560" cy="3337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GOT (AST)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2" name="Forma 61"/>
            <p:cNvSpPr/>
            <p:nvPr/>
          </p:nvSpPr>
          <p:spPr>
            <a:xfrm>
              <a:off x="2606040" y="5559552"/>
              <a:ext cx="2377440" cy="3337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Hígado y músculo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3" name="Forma 62"/>
            <p:cNvSpPr/>
            <p:nvPr/>
          </p:nvSpPr>
          <p:spPr>
            <a:xfrm>
              <a:off x="4983480" y="5559552"/>
              <a:ext cx="3108960" cy="3337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Daño hepático o muscular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64" name="Tabla enzimas fila 3"/>
          <p:cNvGrpSpPr/>
          <p:nvPr/>
        </p:nvGrpSpPr>
        <p:grpSpPr>
          <a:xfrm>
            <a:off x="411480" y="5893308"/>
            <a:ext cx="7680960" cy="333756"/>
            <a:chOff x="411480" y="5893308"/>
            <a:chExt cx="7680960" cy="333756"/>
          </a:xfrm>
        </p:grpSpPr>
        <p:sp>
          <p:nvSpPr>
            <p:cNvPr id="65" name="Forma 64"/>
            <p:cNvSpPr/>
            <p:nvPr/>
          </p:nvSpPr>
          <p:spPr>
            <a:xfrm>
              <a:off x="411480" y="5893308"/>
              <a:ext cx="2194560" cy="3337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Creatinquinasa (CK)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6" name="Forma 65"/>
            <p:cNvSpPr/>
            <p:nvPr/>
          </p:nvSpPr>
          <p:spPr>
            <a:xfrm>
              <a:off x="2606040" y="5893308"/>
              <a:ext cx="2377440" cy="3337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Músculos (principalmente)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7" name="Forma 66"/>
            <p:cNvSpPr/>
            <p:nvPr/>
          </p:nvSpPr>
          <p:spPr>
            <a:xfrm>
              <a:off x="4983480" y="5893308"/>
              <a:ext cx="3108960" cy="3337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Daño muscular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68" name="Tabla enzimas fila 4"/>
          <p:cNvGrpSpPr/>
          <p:nvPr/>
        </p:nvGrpSpPr>
        <p:grpSpPr>
          <a:xfrm>
            <a:off x="411480" y="6227064"/>
            <a:ext cx="7680960" cy="333756"/>
            <a:chOff x="411480" y="6227064"/>
            <a:chExt cx="7680960" cy="333756"/>
          </a:xfrm>
        </p:grpSpPr>
        <p:sp>
          <p:nvSpPr>
            <p:cNvPr id="69" name="Forma 68"/>
            <p:cNvSpPr/>
            <p:nvPr/>
          </p:nvSpPr>
          <p:spPr>
            <a:xfrm>
              <a:off x="411480" y="6227064"/>
              <a:ext cx="2194560" cy="3337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0" name="Forma 69"/>
            <p:cNvSpPr/>
            <p:nvPr/>
          </p:nvSpPr>
          <p:spPr>
            <a:xfrm>
              <a:off x="2606040" y="6227064"/>
              <a:ext cx="2377440" cy="3337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Mayoría de las células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1" name="Forma 70"/>
            <p:cNvSpPr/>
            <p:nvPr/>
          </p:nvSpPr>
          <p:spPr>
            <a:xfrm>
              <a:off x="4983480" y="6227064"/>
              <a:ext cx="3108960" cy="3337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Necrosis celular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72" name="Concepto enzimas"/>
          <p:cNvGrpSpPr/>
          <p:nvPr/>
        </p:nvGrpSpPr>
        <p:grpSpPr>
          <a:xfrm>
            <a:off x="8549640" y="1097280"/>
            <a:ext cx="3383280" cy="2194560"/>
            <a:chOff x="8549640" y="1097280"/>
            <a:chExt cx="3383280" cy="2194560"/>
          </a:xfrm>
        </p:grpSpPr>
        <p:sp>
          <p:nvSpPr>
            <p:cNvPr id="73" name="Forma 72"/>
            <p:cNvSpPr/>
            <p:nvPr/>
          </p:nvSpPr>
          <p:spPr>
            <a:xfrm>
              <a:off x="8549640" y="1298448"/>
              <a:ext cx="3383280" cy="19933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Proteínas que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aceleran reacciones químicas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Algunas predominan en determinados órganos: su aumento en sangre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orienta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al órgano dañado.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74" name="Forma 73"/>
            <p:cNvSpPr/>
            <p:nvPr/>
          </p:nvSpPr>
          <p:spPr>
            <a:xfrm>
              <a:off x="8677656" y="1097280"/>
              <a:ext cx="115994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CONCEPTO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75" name="Nota de rigor"/>
          <p:cNvGrpSpPr/>
          <p:nvPr/>
        </p:nvGrpSpPr>
        <p:grpSpPr>
          <a:xfrm>
            <a:off x="8549640" y="3520440"/>
            <a:ext cx="3383280" cy="2926080"/>
            <a:chOff x="8549640" y="3520440"/>
            <a:chExt cx="3383280" cy="2926080"/>
          </a:xfrm>
        </p:grpSpPr>
        <p:sp>
          <p:nvSpPr>
            <p:cNvPr id="76" name="Forma 75"/>
            <p:cNvSpPr/>
            <p:nvPr/>
          </p:nvSpPr>
          <p:spPr>
            <a:xfrm>
              <a:off x="8549640" y="372160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especificidad de órgano es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relativa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ALT predomina en hígado, pero existen otras fuentes; por eso las enzimas se piden e interpretan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conjunto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(Unidad V).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77" name="Forma 76"/>
            <p:cNvSpPr/>
            <p:nvPr/>
          </p:nvSpPr>
          <p:spPr>
            <a:xfrm>
              <a:off x="8677656" y="35204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ENZIMAS: CATALIZADORES QUE REVELAN QUÉ ÓRGANO SE DAÑÓ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7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5 0.3400 E" pathEditMode="relative" ptsTypes="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5" y="1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20"/>
                            </p:stCondLst>
                            <p:childTnLst>
                              <p:par>
                                <p:cTn id="32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75 0.2867 E" pathEditMode="relative" ptsTypes="">
                                      <p:cBhvr>
                                        <p:cTn id="3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75" y="14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40"/>
                            </p:stCondLst>
                            <p:childTnLst>
                              <p:par>
                                <p:cTn id="35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75 0.3400 E" pathEditMode="relative" ptsTypes="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75" y="1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60"/>
                            </p:stCondLst>
                            <p:childTnLst>
                              <p:par>
                                <p:cTn id="3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575 0.2867 E" pathEditMode="relative" ptsTypes="">
                                      <p:cBhvr>
                                        <p:cTn id="3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75" y="14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Páncreas hormonas"/>
          <p:cNvGrpSpPr/>
          <p:nvPr/>
        </p:nvGrpSpPr>
        <p:grpSpPr>
          <a:xfrm>
            <a:off x="274320" y="1371600"/>
            <a:ext cx="2651760" cy="1113739"/>
            <a:chOff x="274320" y="1371600"/>
            <a:chExt cx="2651760" cy="1113739"/>
          </a:xfrm>
        </p:grpSpPr>
        <p:sp>
          <p:nvSpPr>
            <p:cNvPr id="7" name="Forma 6"/>
            <p:cNvSpPr/>
            <p:nvPr/>
          </p:nvSpPr>
          <p:spPr>
            <a:xfrm>
              <a:off x="274320" y="1371600"/>
              <a:ext cx="2651760" cy="1113739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8" name="Forma 7"/>
            <p:cNvSpPr/>
            <p:nvPr/>
          </p:nvSpPr>
          <p:spPr>
            <a:xfrm>
              <a:off x="274320" y="1371600"/>
              <a:ext cx="2651760" cy="1113739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9" name="Islotes"/>
            <p:cNvSpPr/>
            <p:nvPr/>
          </p:nvSpPr>
          <p:spPr>
            <a:xfrm>
              <a:off x="274320" y="1371600"/>
              <a:ext cx="2651760" cy="1113739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274320" y="1371600"/>
              <a:ext cx="2651760" cy="1113739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11" name="Ficha insulina"/>
          <p:cNvSpPr/>
          <p:nvPr/>
        </p:nvSpPr>
        <p:spPr>
          <a:xfrm>
            <a:off x="731520" y="2651760"/>
            <a:ext cx="155448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98B4"/>
              </a:gs>
              <a:gs pos="55000">
                <a:srgbClr val="1F618D"/>
              </a:gs>
              <a:gs pos="100000">
                <a:srgbClr val="184D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0F30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Insulina</a:t>
            </a:r>
            <a:endParaRPr lang="es-AR" sz="1400" dirty="0">
              <a:latin typeface="Calibri"/>
            </a:endParaRPr>
          </a:p>
        </p:txBody>
      </p:sp>
      <p:grpSp>
        <p:nvGrpSpPr>
          <p:cNvPr id="12" name="Reloj cortisol"/>
          <p:cNvGrpSpPr/>
          <p:nvPr/>
        </p:nvGrpSpPr>
        <p:grpSpPr>
          <a:xfrm>
            <a:off x="731520" y="3657600"/>
            <a:ext cx="1280160" cy="1280160"/>
            <a:chOff x="731520" y="3657600"/>
            <a:chExt cx="1280160" cy="1280160"/>
          </a:xfrm>
        </p:grpSpPr>
        <p:sp>
          <p:nvSpPr>
            <p:cNvPr id="13" name="Forma 12"/>
            <p:cNvSpPr/>
            <p:nvPr/>
          </p:nvSpPr>
          <p:spPr>
            <a:xfrm>
              <a:off x="731520" y="3657600"/>
              <a:ext cx="1280160" cy="12801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5000">
                  <a:srgbClr val="FFFFFF"/>
                </a:gs>
                <a:gs pos="100000">
                  <a:srgbClr val="EAEAEA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14" name="Flecha 13_2"/>
            <p:cNvSpPr/>
            <p:nvPr/>
          </p:nvSpPr>
          <p:spPr>
            <a:xfrm>
              <a:off x="1061178" y="4297680"/>
              <a:ext cx="310422" cy="179222"/>
            </a:xfrm>
            <a:custGeom>
              <a:avLst/>
              <a:gdLst/>
              <a:ahLst/>
              <a:cxnLst/>
              <a:rect l="0" t="0" r="r" b="b"/>
              <a:pathLst>
                <a:path w="339" h="195" fill="none">
                  <a:moveTo>
                    <a:pt x="339" y="0"/>
                  </a:moveTo>
                  <a:lnTo>
                    <a:pt x="0" y="195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15" name="Flecha 15_2"/>
            <p:cNvSpPr/>
            <p:nvPr/>
          </p:nvSpPr>
          <p:spPr>
            <a:xfrm>
              <a:off x="1371600" y="3811219"/>
              <a:ext cx="9144" cy="486461"/>
            </a:xfrm>
            <a:custGeom>
              <a:avLst/>
              <a:gdLst/>
              <a:ahLst/>
              <a:cxnLst/>
              <a:rect l="0" t="0" r="r" b="b"/>
              <a:pathLst>
                <a:path w="10" h="532" fill="none">
                  <a:moveTo>
                    <a:pt x="0" y="532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rgbClr val="1E1E1E"/>
              </a:solidFill>
              <a:round/>
            </a:ln>
          </p:spPr>
        </p:sp>
      </p:grpSp>
      <p:sp>
        <p:nvSpPr>
          <p:cNvPr id="16" name="Tiroides"/>
          <p:cNvSpPr/>
          <p:nvPr/>
        </p:nvSpPr>
        <p:spPr>
          <a:xfrm>
            <a:off x="548640" y="5212080"/>
            <a:ext cx="1828800" cy="1280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420"/>
                </a:moveTo>
                <a:cubicBezTo>
                  <a:pt x="484" y="420"/>
                  <a:pt x="440" y="236"/>
                  <a:pt x="420" y="200"/>
                </a:cubicBezTo>
                <a:cubicBezTo>
                  <a:pt x="400" y="164"/>
                  <a:pt x="327" y="72"/>
                  <a:pt x="300" y="60"/>
                </a:cubicBezTo>
                <a:cubicBezTo>
                  <a:pt x="273" y="48"/>
                  <a:pt x="174" y="56"/>
                  <a:pt x="150" y="80"/>
                </a:cubicBezTo>
                <a:cubicBezTo>
                  <a:pt x="126" y="104"/>
                  <a:pt x="67" y="243"/>
                  <a:pt x="60" y="300"/>
                </a:cubicBezTo>
                <a:cubicBezTo>
                  <a:pt x="53" y="357"/>
                  <a:pt x="64" y="590"/>
                  <a:pt x="80" y="650"/>
                </a:cubicBezTo>
                <a:cubicBezTo>
                  <a:pt x="96" y="710"/>
                  <a:pt x="188" y="877"/>
                  <a:pt x="220" y="900"/>
                </a:cubicBezTo>
                <a:cubicBezTo>
                  <a:pt x="252" y="923"/>
                  <a:pt x="372" y="900"/>
                  <a:pt x="400" y="880"/>
                </a:cubicBezTo>
                <a:cubicBezTo>
                  <a:pt x="428" y="860"/>
                  <a:pt x="480" y="700"/>
                  <a:pt x="500" y="700"/>
                </a:cubicBezTo>
                <a:cubicBezTo>
                  <a:pt x="520" y="700"/>
                  <a:pt x="572" y="860"/>
                  <a:pt x="600" y="880"/>
                </a:cubicBezTo>
                <a:cubicBezTo>
                  <a:pt x="628" y="900"/>
                  <a:pt x="748" y="923"/>
                  <a:pt x="780" y="900"/>
                </a:cubicBezTo>
                <a:cubicBezTo>
                  <a:pt x="812" y="877"/>
                  <a:pt x="904" y="710"/>
                  <a:pt x="920" y="650"/>
                </a:cubicBezTo>
                <a:cubicBezTo>
                  <a:pt x="936" y="590"/>
                  <a:pt x="947" y="357"/>
                  <a:pt x="940" y="300"/>
                </a:cubicBezTo>
                <a:cubicBezTo>
                  <a:pt x="933" y="243"/>
                  <a:pt x="874" y="104"/>
                  <a:pt x="850" y="80"/>
                </a:cubicBezTo>
                <a:cubicBezTo>
                  <a:pt x="826" y="56"/>
                  <a:pt x="727" y="48"/>
                  <a:pt x="700" y="60"/>
                </a:cubicBezTo>
                <a:cubicBezTo>
                  <a:pt x="673" y="72"/>
                  <a:pt x="600" y="164"/>
                  <a:pt x="580" y="200"/>
                </a:cubicBezTo>
                <a:cubicBezTo>
                  <a:pt x="560" y="236"/>
                  <a:pt x="516" y="420"/>
                  <a:pt x="500" y="420"/>
                </a:cubicBezTo>
                <a:close/>
              </a:path>
            </a:pathLst>
          </a:custGeom>
          <a:gradFill rotWithShape="1">
            <a:gsLst>
              <a:gs pos="0">
                <a:srgbClr val="DC928A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641E16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grpSp>
        <p:nvGrpSpPr>
          <p:cNvPr id="17" name="Hormona Insulina"/>
          <p:cNvGrpSpPr/>
          <p:nvPr/>
        </p:nvGrpSpPr>
        <p:grpSpPr>
          <a:xfrm>
            <a:off x="3291840" y="1097280"/>
            <a:ext cx="5760720" cy="1600200"/>
            <a:chOff x="3291840" y="1097280"/>
            <a:chExt cx="5760720" cy="1600200"/>
          </a:xfrm>
        </p:grpSpPr>
        <p:sp>
          <p:nvSpPr>
            <p:cNvPr id="18" name="Forma 19"/>
            <p:cNvSpPr/>
            <p:nvPr/>
          </p:nvSpPr>
          <p:spPr>
            <a:xfrm>
              <a:off x="3291840" y="1298448"/>
              <a:ext cx="5760720" cy="139903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Evalúa el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control del metabolismo de los hidratos de carbono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9" name="Forma 20"/>
            <p:cNvSpPr/>
            <p:nvPr/>
          </p:nvSpPr>
          <p:spPr>
            <a:xfrm>
              <a:off x="3419856" y="1097280"/>
              <a:ext cx="105857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INSULINA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0" name="Hormona Cortisol"/>
          <p:cNvGrpSpPr/>
          <p:nvPr/>
        </p:nvGrpSpPr>
        <p:grpSpPr>
          <a:xfrm>
            <a:off x="3291840" y="2880360"/>
            <a:ext cx="5760720" cy="1600200"/>
            <a:chOff x="3291840" y="2880360"/>
            <a:chExt cx="5760720" cy="1600200"/>
          </a:xfrm>
        </p:grpSpPr>
        <p:sp>
          <p:nvSpPr>
            <p:cNvPr id="21" name="Forma 22"/>
            <p:cNvSpPr/>
            <p:nvPr/>
          </p:nvSpPr>
          <p:spPr>
            <a:xfrm>
              <a:off x="3291840" y="3081528"/>
              <a:ext cx="5760720" cy="139903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Indica el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nivel de estrés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organismo. Presenta ritmo circadiano: más alto a la mañana.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2" name="Forma 23"/>
            <p:cNvSpPr/>
            <p:nvPr/>
          </p:nvSpPr>
          <p:spPr>
            <a:xfrm>
              <a:off x="3419856" y="2880360"/>
              <a:ext cx="107351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CORTISOL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3" name="Hormona T3, T4 y TSH"/>
          <p:cNvGrpSpPr/>
          <p:nvPr/>
        </p:nvGrpSpPr>
        <p:grpSpPr>
          <a:xfrm>
            <a:off x="3291840" y="4663440"/>
            <a:ext cx="5760720" cy="1600200"/>
            <a:chOff x="3291840" y="4663440"/>
            <a:chExt cx="5760720" cy="1600200"/>
          </a:xfrm>
        </p:grpSpPr>
        <p:sp>
          <p:nvSpPr>
            <p:cNvPr id="24" name="Forma 25"/>
            <p:cNvSpPr/>
            <p:nvPr/>
          </p:nvSpPr>
          <p:spPr>
            <a:xfrm>
              <a:off x="3291840" y="4864608"/>
              <a:ext cx="5760720" cy="13990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Evalúan la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 tiroidea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el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metabolismo basal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5" name="Forma 26"/>
            <p:cNvSpPr/>
            <p:nvPr/>
          </p:nvSpPr>
          <p:spPr>
            <a:xfrm>
              <a:off x="3419856" y="4663440"/>
              <a:ext cx="125428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T3, T4 Y TSH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6" name="Molécula decorativa"/>
          <p:cNvGrpSpPr/>
          <p:nvPr/>
        </p:nvGrpSpPr>
        <p:grpSpPr>
          <a:xfrm>
            <a:off x="9852724" y="1095908"/>
            <a:ext cx="1944408" cy="1761528"/>
            <a:chOff x="9852724" y="1095908"/>
            <a:chExt cx="1944408" cy="1761528"/>
          </a:xfrm>
        </p:grpSpPr>
        <p:sp>
          <p:nvSpPr>
            <p:cNvPr id="27" name="Flecha 28_2"/>
            <p:cNvSpPr/>
            <p:nvPr/>
          </p:nvSpPr>
          <p:spPr>
            <a:xfrm>
              <a:off x="10744200" y="1737360"/>
              <a:ext cx="457200" cy="228600"/>
            </a:xfrm>
            <a:custGeom>
              <a:avLst/>
              <a:gdLst/>
              <a:ahLst/>
              <a:cxnLst/>
              <a:rect l="0" t="0" r="r" b="b"/>
              <a:pathLst>
                <a:path w="500" h="250" fill="none">
                  <a:moveTo>
                    <a:pt x="0" y="250"/>
                  </a:moveTo>
                  <a:lnTo>
                    <a:pt x="500" y="0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28" name="Flecha 30_2"/>
            <p:cNvSpPr/>
            <p:nvPr/>
          </p:nvSpPr>
          <p:spPr>
            <a:xfrm>
              <a:off x="10744200" y="1737360"/>
              <a:ext cx="457200" cy="228600"/>
            </a:xfrm>
            <a:custGeom>
              <a:avLst/>
              <a:gdLst/>
              <a:ahLst/>
              <a:cxnLst/>
              <a:rect l="0" t="0" r="r" b="b"/>
              <a:pathLst>
                <a:path w="500" h="250" fill="none">
                  <a:moveTo>
                    <a:pt x="0" y="250"/>
                  </a:moveTo>
                  <a:lnTo>
                    <a:pt x="500" y="0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29" name="Flecha 32_2"/>
            <p:cNvSpPr/>
            <p:nvPr/>
          </p:nvSpPr>
          <p:spPr>
            <a:xfrm>
              <a:off x="11201400" y="1737360"/>
              <a:ext cx="411480" cy="182880"/>
            </a:xfrm>
            <a:custGeom>
              <a:avLst/>
              <a:gdLst/>
              <a:ahLst/>
              <a:cxnLst/>
              <a:rect l="0" t="0" r="r" b="b"/>
              <a:pathLst>
                <a:path w="449" h="200" fill="none">
                  <a:moveTo>
                    <a:pt x="0" y="0"/>
                  </a:moveTo>
                  <a:lnTo>
                    <a:pt x="449" y="200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30" name="Flecha 34_2"/>
            <p:cNvSpPr/>
            <p:nvPr/>
          </p:nvSpPr>
          <p:spPr>
            <a:xfrm>
              <a:off x="11201400" y="1737360"/>
              <a:ext cx="411480" cy="182880"/>
            </a:xfrm>
            <a:custGeom>
              <a:avLst/>
              <a:gdLst/>
              <a:ahLst/>
              <a:cxnLst/>
              <a:rect l="0" t="0" r="r" b="b"/>
              <a:pathLst>
                <a:path w="449" h="200" fill="none">
                  <a:moveTo>
                    <a:pt x="0" y="0"/>
                  </a:moveTo>
                  <a:lnTo>
                    <a:pt x="449" y="200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31" name="Flecha 36_2"/>
            <p:cNvSpPr/>
            <p:nvPr/>
          </p:nvSpPr>
          <p:spPr>
            <a:xfrm>
              <a:off x="11201400" y="1280160"/>
              <a:ext cx="45720" cy="457200"/>
            </a:xfrm>
            <a:custGeom>
              <a:avLst/>
              <a:gdLst/>
              <a:ahLst/>
              <a:cxnLst/>
              <a:rect l="0" t="0" r="r" b="b"/>
              <a:pathLst>
                <a:path w="50" h="500" fill="none">
                  <a:moveTo>
                    <a:pt x="0" y="500"/>
                  </a:moveTo>
                  <a:lnTo>
                    <a:pt x="50" y="0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32" name="Flecha 38_2"/>
            <p:cNvSpPr/>
            <p:nvPr/>
          </p:nvSpPr>
          <p:spPr>
            <a:xfrm>
              <a:off x="11201400" y="1280160"/>
              <a:ext cx="45720" cy="457200"/>
            </a:xfrm>
            <a:custGeom>
              <a:avLst/>
              <a:gdLst/>
              <a:ahLst/>
              <a:cxnLst/>
              <a:rect l="0" t="0" r="r" b="b"/>
              <a:pathLst>
                <a:path w="50" h="500" fill="none">
                  <a:moveTo>
                    <a:pt x="0" y="500"/>
                  </a:moveTo>
                  <a:lnTo>
                    <a:pt x="50" y="0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33" name="Flecha 40_2"/>
            <p:cNvSpPr/>
            <p:nvPr/>
          </p:nvSpPr>
          <p:spPr>
            <a:xfrm>
              <a:off x="10332720" y="1691640"/>
              <a:ext cx="411480" cy="274320"/>
            </a:xfrm>
            <a:custGeom>
              <a:avLst/>
              <a:gdLst/>
              <a:ahLst/>
              <a:cxnLst/>
              <a:rect l="0" t="0" r="r" b="b"/>
              <a:pathLst>
                <a:path w="449" h="300" fill="none">
                  <a:moveTo>
                    <a:pt x="449" y="300"/>
                  </a:moveTo>
                  <a:lnTo>
                    <a:pt x="0" y="0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34" name="Flecha 42_2"/>
            <p:cNvSpPr/>
            <p:nvPr/>
          </p:nvSpPr>
          <p:spPr>
            <a:xfrm>
              <a:off x="10332720" y="1691640"/>
              <a:ext cx="411480" cy="274320"/>
            </a:xfrm>
            <a:custGeom>
              <a:avLst/>
              <a:gdLst/>
              <a:ahLst/>
              <a:cxnLst/>
              <a:rect l="0" t="0" r="r" b="b"/>
              <a:pathLst>
                <a:path w="449" h="300" fill="none">
                  <a:moveTo>
                    <a:pt x="449" y="300"/>
                  </a:moveTo>
                  <a:lnTo>
                    <a:pt x="0" y="0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35" name="Flecha 44_2"/>
            <p:cNvSpPr/>
            <p:nvPr/>
          </p:nvSpPr>
          <p:spPr>
            <a:xfrm>
              <a:off x="9966960" y="1691640"/>
              <a:ext cx="365760" cy="182880"/>
            </a:xfrm>
            <a:custGeom>
              <a:avLst/>
              <a:gdLst/>
              <a:ahLst/>
              <a:cxnLst/>
              <a:rect l="0" t="0" r="r" b="b"/>
              <a:pathLst>
                <a:path w="400" h="199" fill="none">
                  <a:moveTo>
                    <a:pt x="400" y="0"/>
                  </a:moveTo>
                  <a:lnTo>
                    <a:pt x="0" y="199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36" name="Flecha 46_2"/>
            <p:cNvSpPr/>
            <p:nvPr/>
          </p:nvSpPr>
          <p:spPr>
            <a:xfrm>
              <a:off x="9966960" y="1691640"/>
              <a:ext cx="365760" cy="182880"/>
            </a:xfrm>
            <a:custGeom>
              <a:avLst/>
              <a:gdLst/>
              <a:ahLst/>
              <a:cxnLst/>
              <a:rect l="0" t="0" r="r" b="b"/>
              <a:pathLst>
                <a:path w="400" h="199" fill="none">
                  <a:moveTo>
                    <a:pt x="400" y="0"/>
                  </a:moveTo>
                  <a:lnTo>
                    <a:pt x="0" y="199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37" name="Flecha 48_2"/>
            <p:cNvSpPr/>
            <p:nvPr/>
          </p:nvSpPr>
          <p:spPr>
            <a:xfrm>
              <a:off x="10287000" y="1280160"/>
              <a:ext cx="45720" cy="411480"/>
            </a:xfrm>
            <a:custGeom>
              <a:avLst/>
              <a:gdLst/>
              <a:ahLst/>
              <a:cxnLst/>
              <a:rect l="0" t="0" r="r" b="b"/>
              <a:pathLst>
                <a:path w="50" h="449" fill="none">
                  <a:moveTo>
                    <a:pt x="50" y="449"/>
                  </a:moveTo>
                  <a:lnTo>
                    <a:pt x="0" y="0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38" name="Flecha 50_2"/>
            <p:cNvSpPr/>
            <p:nvPr/>
          </p:nvSpPr>
          <p:spPr>
            <a:xfrm>
              <a:off x="10287000" y="1280160"/>
              <a:ext cx="45720" cy="411480"/>
            </a:xfrm>
            <a:custGeom>
              <a:avLst/>
              <a:gdLst/>
              <a:ahLst/>
              <a:cxnLst/>
              <a:rect l="0" t="0" r="r" b="b"/>
              <a:pathLst>
                <a:path w="50" h="449" fill="none">
                  <a:moveTo>
                    <a:pt x="50" y="449"/>
                  </a:moveTo>
                  <a:lnTo>
                    <a:pt x="0" y="0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39" name="Flecha 52_2"/>
            <p:cNvSpPr/>
            <p:nvPr/>
          </p:nvSpPr>
          <p:spPr>
            <a:xfrm>
              <a:off x="10744200" y="1965960"/>
              <a:ext cx="9144" cy="502920"/>
            </a:xfrm>
            <a:custGeom>
              <a:avLst/>
              <a:gdLst/>
              <a:ahLst/>
              <a:cxnLst/>
              <a:rect l="0" t="0" r="r" b="b"/>
              <a:pathLst>
                <a:path w="10" h="550" fill="none">
                  <a:moveTo>
                    <a:pt x="0" y="0"/>
                  </a:moveTo>
                  <a:lnTo>
                    <a:pt x="0" y="550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40" name="Flecha 54_2"/>
            <p:cNvSpPr/>
            <p:nvPr/>
          </p:nvSpPr>
          <p:spPr>
            <a:xfrm>
              <a:off x="10744200" y="1965960"/>
              <a:ext cx="9144" cy="502920"/>
            </a:xfrm>
            <a:custGeom>
              <a:avLst/>
              <a:gdLst/>
              <a:ahLst/>
              <a:cxnLst/>
              <a:rect l="0" t="0" r="r" b="b"/>
              <a:pathLst>
                <a:path w="10" h="550" fill="none">
                  <a:moveTo>
                    <a:pt x="0" y="0"/>
                  </a:moveTo>
                  <a:lnTo>
                    <a:pt x="0" y="550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41" name="Flecha 56_2"/>
            <p:cNvSpPr/>
            <p:nvPr/>
          </p:nvSpPr>
          <p:spPr>
            <a:xfrm>
              <a:off x="10744200" y="2468880"/>
              <a:ext cx="320040" cy="274320"/>
            </a:xfrm>
            <a:custGeom>
              <a:avLst/>
              <a:gdLst/>
              <a:ahLst/>
              <a:cxnLst/>
              <a:rect l="0" t="0" r="r" b="b"/>
              <a:pathLst>
                <a:path w="349" h="299" fill="none">
                  <a:moveTo>
                    <a:pt x="0" y="0"/>
                  </a:moveTo>
                  <a:lnTo>
                    <a:pt x="349" y="299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42" name="Flecha 58_2"/>
            <p:cNvSpPr/>
            <p:nvPr/>
          </p:nvSpPr>
          <p:spPr>
            <a:xfrm>
              <a:off x="10744200" y="2468880"/>
              <a:ext cx="320040" cy="274320"/>
            </a:xfrm>
            <a:custGeom>
              <a:avLst/>
              <a:gdLst/>
              <a:ahLst/>
              <a:cxnLst/>
              <a:rect l="0" t="0" r="r" b="b"/>
              <a:pathLst>
                <a:path w="349" h="299" fill="none">
                  <a:moveTo>
                    <a:pt x="0" y="0"/>
                  </a:moveTo>
                  <a:lnTo>
                    <a:pt x="349" y="299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43" name="Flecha 60_2"/>
            <p:cNvSpPr/>
            <p:nvPr/>
          </p:nvSpPr>
          <p:spPr>
            <a:xfrm>
              <a:off x="10424160" y="2468880"/>
              <a:ext cx="320040" cy="274320"/>
            </a:xfrm>
            <a:custGeom>
              <a:avLst/>
              <a:gdLst/>
              <a:ahLst/>
              <a:cxnLst/>
              <a:rect l="0" t="0" r="r" b="b"/>
              <a:pathLst>
                <a:path w="349" h="299" fill="none">
                  <a:moveTo>
                    <a:pt x="349" y="0"/>
                  </a:moveTo>
                  <a:lnTo>
                    <a:pt x="0" y="299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44" name="Flecha 62_2"/>
            <p:cNvSpPr/>
            <p:nvPr/>
          </p:nvSpPr>
          <p:spPr>
            <a:xfrm>
              <a:off x="10424160" y="2468880"/>
              <a:ext cx="320040" cy="274320"/>
            </a:xfrm>
            <a:custGeom>
              <a:avLst/>
              <a:gdLst/>
              <a:ahLst/>
              <a:cxnLst/>
              <a:rect l="0" t="0" r="r" b="b"/>
              <a:pathLst>
                <a:path w="349" h="299" fill="none">
                  <a:moveTo>
                    <a:pt x="349" y="0"/>
                  </a:moveTo>
                  <a:lnTo>
                    <a:pt x="0" y="299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45" name="Flecha 64_2"/>
            <p:cNvSpPr/>
            <p:nvPr/>
          </p:nvSpPr>
          <p:spPr>
            <a:xfrm>
              <a:off x="10515600" y="1965960"/>
              <a:ext cx="228600" cy="160020"/>
            </a:xfrm>
            <a:custGeom>
              <a:avLst/>
              <a:gdLst/>
              <a:ahLst/>
              <a:cxnLst/>
              <a:rect l="0" t="0" r="r" b="b"/>
              <a:pathLst>
                <a:path w="250" h="174" fill="none">
                  <a:moveTo>
                    <a:pt x="250" y="0"/>
                  </a:moveTo>
                  <a:lnTo>
                    <a:pt x="0" y="174"/>
                  </a:lnTo>
                </a:path>
              </a:pathLst>
            </a:custGeom>
            <a:noFill/>
            <a:ln w="101600" cap="rnd">
              <a:solidFill>
                <a:srgbClr val="B9B9B9"/>
              </a:solidFill>
              <a:round/>
            </a:ln>
          </p:spPr>
        </p:sp>
        <p:sp>
          <p:nvSpPr>
            <p:cNvPr id="46" name="Flecha 66_2"/>
            <p:cNvSpPr/>
            <p:nvPr/>
          </p:nvSpPr>
          <p:spPr>
            <a:xfrm>
              <a:off x="10515600" y="1965960"/>
              <a:ext cx="228600" cy="160020"/>
            </a:xfrm>
            <a:custGeom>
              <a:avLst/>
              <a:gdLst/>
              <a:ahLst/>
              <a:cxnLst/>
              <a:rect l="0" t="0" r="r" b="b"/>
              <a:pathLst>
                <a:path w="250" h="174" fill="none">
                  <a:moveTo>
                    <a:pt x="250" y="0"/>
                  </a:moveTo>
                  <a:lnTo>
                    <a:pt x="0" y="174"/>
                  </a:lnTo>
                </a:path>
              </a:pathLst>
            </a:custGeom>
            <a:noFill/>
            <a:ln w="57150" cap="rnd">
              <a:solidFill>
                <a:srgbClr val="FFFFFF"/>
              </a:solidFill>
              <a:round/>
            </a:ln>
          </p:spPr>
        </p:sp>
        <p:sp>
          <p:nvSpPr>
            <p:cNvPr id="47" name="Forma 68"/>
            <p:cNvSpPr/>
            <p:nvPr/>
          </p:nvSpPr>
          <p:spPr>
            <a:xfrm>
              <a:off x="9852724" y="1760284"/>
              <a:ext cx="228472" cy="22847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69"/>
            <p:cNvSpPr/>
            <p:nvPr/>
          </p:nvSpPr>
          <p:spPr>
            <a:xfrm>
              <a:off x="10172764" y="1165924"/>
              <a:ext cx="228472" cy="22847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9" name="Forma 70"/>
            <p:cNvSpPr/>
            <p:nvPr/>
          </p:nvSpPr>
          <p:spPr>
            <a:xfrm>
              <a:off x="10950004" y="2628964"/>
              <a:ext cx="228472" cy="22847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0" name="Forma 71"/>
            <p:cNvSpPr/>
            <p:nvPr/>
          </p:nvSpPr>
          <p:spPr>
            <a:xfrm>
              <a:off x="10309924" y="2628964"/>
              <a:ext cx="228472" cy="22847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1" name="Forma 72"/>
            <p:cNvSpPr/>
            <p:nvPr/>
          </p:nvSpPr>
          <p:spPr>
            <a:xfrm>
              <a:off x="10401364" y="2011744"/>
              <a:ext cx="228472" cy="22847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2" name="Forma 73"/>
            <p:cNvSpPr/>
            <p:nvPr/>
          </p:nvSpPr>
          <p:spPr>
            <a:xfrm>
              <a:off x="10559948" y="1781708"/>
              <a:ext cx="368503" cy="3685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3" name="Forma 74"/>
            <p:cNvSpPr/>
            <p:nvPr/>
          </p:nvSpPr>
          <p:spPr>
            <a:xfrm>
              <a:off x="11017148" y="1553108"/>
              <a:ext cx="368503" cy="3685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4" name="Forma 75"/>
            <p:cNvSpPr/>
            <p:nvPr/>
          </p:nvSpPr>
          <p:spPr>
            <a:xfrm>
              <a:off x="11428628" y="1735988"/>
              <a:ext cx="368503" cy="3685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5" name="Forma 76"/>
            <p:cNvSpPr/>
            <p:nvPr/>
          </p:nvSpPr>
          <p:spPr>
            <a:xfrm>
              <a:off x="11062868" y="1095908"/>
              <a:ext cx="368503" cy="3685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6" name="Forma 77"/>
            <p:cNvSpPr/>
            <p:nvPr/>
          </p:nvSpPr>
          <p:spPr>
            <a:xfrm>
              <a:off x="10148468" y="1507388"/>
              <a:ext cx="368503" cy="3685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7" name="Forma 78"/>
            <p:cNvSpPr/>
            <p:nvPr/>
          </p:nvSpPr>
          <p:spPr>
            <a:xfrm>
              <a:off x="10559948" y="2284628"/>
              <a:ext cx="368503" cy="36850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58" name="Síntesis hormonas"/>
          <p:cNvSpPr/>
          <p:nvPr/>
        </p:nvSpPr>
        <p:spPr>
          <a:xfrm>
            <a:off x="9555480" y="3566160"/>
            <a:ext cx="242316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Su medición informa sobre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estado de la comunicación celular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sistema endocrino.</a:t>
            </a:r>
            <a:endParaRPr lang="es-AR" sz="19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HORMONAS: MENSAJEROS DE LA COMUNICACIÓN CELULAR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5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58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Ejes evolución"/>
          <p:cNvGrpSpPr/>
          <p:nvPr/>
        </p:nvGrpSpPr>
        <p:grpSpPr>
          <a:xfrm>
            <a:off x="502920" y="1005840"/>
            <a:ext cx="7269480" cy="3666744"/>
            <a:chOff x="502920" y="1005840"/>
            <a:chExt cx="7269480" cy="3666744"/>
          </a:xfrm>
        </p:grpSpPr>
        <p:sp>
          <p:nvSpPr>
            <p:cNvPr id="6" name="Flecha 5_2"/>
            <p:cNvSpPr/>
            <p:nvPr/>
          </p:nvSpPr>
          <p:spPr>
            <a:xfrm>
              <a:off x="548640" y="1371600"/>
              <a:ext cx="9144" cy="2926080"/>
            </a:xfrm>
            <a:custGeom>
              <a:avLst/>
              <a:gdLst/>
              <a:ahLst/>
              <a:cxnLst/>
              <a:rect l="0" t="0" r="r" b="b"/>
              <a:pathLst>
                <a:path w="10" h="3200" fill="none">
                  <a:moveTo>
                    <a:pt x="0" y="32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548640" y="4297680"/>
              <a:ext cx="7223760" cy="9144"/>
            </a:xfrm>
            <a:custGeom>
              <a:avLst/>
              <a:gdLst/>
              <a:ahLst/>
              <a:cxnLst/>
              <a:rect l="0" t="0" r="r" b="b"/>
              <a:pathLst>
                <a:path w="7900" h="10" fill="none">
                  <a:moveTo>
                    <a:pt x="0" y="0"/>
                  </a:moveTo>
                  <a:lnTo>
                    <a:pt x="790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4937760" y="435254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tiempo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502920" y="100584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intensidad del proceso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Curva enfermedad"/>
          <p:cNvSpPr/>
          <p:nvPr/>
        </p:nvSpPr>
        <p:spPr>
          <a:xfrm>
            <a:off x="548640" y="1463040"/>
            <a:ext cx="7132320" cy="283464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0"/>
                </a:moveTo>
                <a:cubicBezTo>
                  <a:pt x="37" y="942"/>
                  <a:pt x="182" y="922"/>
                  <a:pt x="250" y="900"/>
                </a:cubicBezTo>
                <a:cubicBezTo>
                  <a:pt x="317" y="877"/>
                  <a:pt x="397" y="845"/>
                  <a:pt x="450" y="800"/>
                </a:cubicBezTo>
                <a:cubicBezTo>
                  <a:pt x="502" y="755"/>
                  <a:pt x="555" y="667"/>
                  <a:pt x="600" y="600"/>
                </a:cubicBezTo>
                <a:cubicBezTo>
                  <a:pt x="645" y="532"/>
                  <a:pt x="690" y="422"/>
                  <a:pt x="750" y="350"/>
                </a:cubicBezTo>
                <a:cubicBezTo>
                  <a:pt x="810" y="278"/>
                  <a:pt x="962" y="154"/>
                  <a:pt x="1000" y="120"/>
                </a:cubicBezTo>
              </a:path>
            </a:pathLst>
          </a:custGeom>
          <a:noFill/>
          <a:ln w="63500" cap="rnd">
            <a:solidFill>
              <a:srgbClr val="C00000"/>
            </a:solidFill>
            <a:round/>
          </a:ln>
        </p:spPr>
      </p:sp>
      <p:sp>
        <p:nvSpPr>
          <p:cNvPr id="11" name="Umbral de síntomas"/>
          <p:cNvSpPr/>
          <p:nvPr/>
        </p:nvSpPr>
        <p:spPr>
          <a:xfrm>
            <a:off x="548640" y="2743200"/>
            <a:ext cx="7132320" cy="9144"/>
          </a:xfrm>
          <a:custGeom>
            <a:avLst/>
            <a:gdLst/>
            <a:ahLst/>
            <a:cxnLst/>
            <a:rect l="0" t="0" r="r" b="b"/>
            <a:pathLst>
              <a:path w="7800" h="10" fill="none">
                <a:moveTo>
                  <a:pt x="0" y="0"/>
                </a:moveTo>
                <a:lnTo>
                  <a:pt x="7800" y="0"/>
                </a:lnTo>
              </a:path>
            </a:pathLst>
          </a:custGeom>
          <a:noFill/>
          <a:ln w="25400" cap="rnd">
            <a:solidFill>
              <a:srgbClr val="5D6D7E"/>
            </a:solidFill>
            <a:prstDash val="dash"/>
            <a:round/>
          </a:ln>
        </p:spPr>
      </p:sp>
      <p:sp>
        <p:nvSpPr>
          <p:cNvPr id="12" name="Etapa subclínica"/>
          <p:cNvSpPr/>
          <p:nvPr/>
        </p:nvSpPr>
        <p:spPr>
          <a:xfrm>
            <a:off x="914400" y="4434840"/>
            <a:ext cx="2569148" cy="293370"/>
          </a:xfrm>
          <a:prstGeom prst="rect">
            <a:avLst/>
          </a:prstGeom>
          <a:solidFill>
            <a:srgbClr val="D8E6F2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Etapa subclínica: sin síntomas</a:t>
            </a:r>
            <a:endParaRPr lang="es-AR" sz="1400" dirty="0">
              <a:latin typeface="Calibri"/>
            </a:endParaRPr>
          </a:p>
        </p:txBody>
      </p:sp>
      <p:sp>
        <p:nvSpPr>
          <p:cNvPr id="13" name="Etapa clínica"/>
          <p:cNvSpPr/>
          <p:nvPr/>
        </p:nvSpPr>
        <p:spPr>
          <a:xfrm>
            <a:off x="4937760" y="2240280"/>
            <a:ext cx="2015975" cy="293370"/>
          </a:xfrm>
          <a:prstGeom prst="rect">
            <a:avLst/>
          </a:prstGeom>
          <a:solidFill>
            <a:srgbClr val="FF9393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Aparecen los síntomas</a:t>
            </a:r>
            <a:endParaRPr lang="es-AR" sz="1400" dirty="0">
              <a:latin typeface="Calibri"/>
            </a:endParaRPr>
          </a:p>
        </p:txBody>
      </p:sp>
      <p:grpSp>
        <p:nvGrpSpPr>
          <p:cNvPr id="14" name="Tubo detección"/>
          <p:cNvGrpSpPr/>
          <p:nvPr/>
        </p:nvGrpSpPr>
        <p:grpSpPr>
          <a:xfrm>
            <a:off x="2532522" y="3063240"/>
            <a:ext cx="403068" cy="1188720"/>
            <a:chOff x="2532522" y="3063240"/>
            <a:chExt cx="403068" cy="1188720"/>
          </a:xfrm>
        </p:grpSpPr>
        <p:grpSp>
          <p:nvGrpSpPr>
            <p:cNvPr id="15" name="Tubo"/>
            <p:cNvGrpSpPr/>
            <p:nvPr/>
          </p:nvGrpSpPr>
          <p:grpSpPr>
            <a:xfrm>
              <a:off x="2532522" y="3063240"/>
              <a:ext cx="403068" cy="1188720"/>
              <a:chOff x="2532522" y="3063240"/>
              <a:chExt cx="403068" cy="1188720"/>
            </a:xfrm>
          </p:grpSpPr>
          <p:sp>
            <p:nvSpPr>
              <p:cNvPr id="16" name="Vidrio"/>
              <p:cNvSpPr/>
              <p:nvPr/>
            </p:nvSpPr>
            <p:spPr>
              <a:xfrm>
                <a:off x="2560320" y="3182112"/>
                <a:ext cx="347472" cy="106984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7" name="Tapón"/>
              <p:cNvSpPr/>
              <p:nvPr/>
            </p:nvSpPr>
            <p:spPr>
              <a:xfrm>
                <a:off x="2532522" y="3063240"/>
                <a:ext cx="403068" cy="142646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18" name="Brillo"/>
              <p:cNvSpPr/>
              <p:nvPr/>
            </p:nvSpPr>
            <p:spPr>
              <a:xfrm>
                <a:off x="2608966" y="3253435"/>
                <a:ext cx="41697" cy="83210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19" name="R ut"/>
            <p:cNvSpPr/>
            <p:nvPr/>
          </p:nvSpPr>
          <p:spPr>
            <a:xfrm>
              <a:off x="2577694" y="3728923"/>
              <a:ext cx="312725" cy="49926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20" name="P ut"/>
            <p:cNvSpPr/>
            <p:nvPr/>
          </p:nvSpPr>
          <p:spPr>
            <a:xfrm>
              <a:off x="2577694" y="3429366"/>
              <a:ext cx="312725" cy="299557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</p:grpSp>
      <p:grpSp>
        <p:nvGrpSpPr>
          <p:cNvPr id="21" name="Utilidad Detectar"/>
          <p:cNvGrpSpPr/>
          <p:nvPr/>
        </p:nvGrpSpPr>
        <p:grpSpPr>
          <a:xfrm>
            <a:off x="8229600" y="1051560"/>
            <a:ext cx="3703320" cy="1234440"/>
            <a:chOff x="8229600" y="1051560"/>
            <a:chExt cx="3703320" cy="1234440"/>
          </a:xfrm>
        </p:grpSpPr>
        <p:sp>
          <p:nvSpPr>
            <p:cNvPr id="22" name="Forma 23"/>
            <p:cNvSpPr/>
            <p:nvPr/>
          </p:nvSpPr>
          <p:spPr>
            <a:xfrm>
              <a:off x="8229600" y="1252728"/>
              <a:ext cx="3703320" cy="103327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Enfermedades en 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etapas tempranas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incluso antes de los síntomas.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3" name="Forma 24"/>
            <p:cNvSpPr/>
            <p:nvPr/>
          </p:nvSpPr>
          <p:spPr>
            <a:xfrm>
              <a:off x="8357616" y="1051560"/>
              <a:ext cx="109614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DETECTAR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Utilidad Evaluar"/>
          <p:cNvGrpSpPr/>
          <p:nvPr/>
        </p:nvGrpSpPr>
        <p:grpSpPr>
          <a:xfrm>
            <a:off x="8229600" y="2423160"/>
            <a:ext cx="3703320" cy="1234440"/>
            <a:chOff x="8229600" y="2423160"/>
            <a:chExt cx="3703320" cy="1234440"/>
          </a:xfrm>
        </p:grpSpPr>
        <p:sp>
          <p:nvSpPr>
            <p:cNvPr id="25" name="Forma 26"/>
            <p:cNvSpPr/>
            <p:nvPr/>
          </p:nvSpPr>
          <p:spPr>
            <a:xfrm>
              <a:off x="8229600" y="2624328"/>
              <a:ext cx="3703320" cy="103327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 de los órganos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6" name="Forma 27"/>
            <p:cNvSpPr/>
            <p:nvPr/>
          </p:nvSpPr>
          <p:spPr>
            <a:xfrm>
              <a:off x="8357616" y="2423160"/>
              <a:ext cx="102498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EVALUAR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7" name="Utilidad Monitorizar"/>
          <p:cNvGrpSpPr/>
          <p:nvPr/>
        </p:nvGrpSpPr>
        <p:grpSpPr>
          <a:xfrm>
            <a:off x="8229600" y="3794760"/>
            <a:ext cx="3703320" cy="1234440"/>
            <a:chOff x="8229600" y="3794760"/>
            <a:chExt cx="3703320" cy="1234440"/>
          </a:xfrm>
        </p:grpSpPr>
        <p:sp>
          <p:nvSpPr>
            <p:cNvPr id="28" name="Forma 29"/>
            <p:cNvSpPr/>
            <p:nvPr/>
          </p:nvSpPr>
          <p:spPr>
            <a:xfrm>
              <a:off x="8229600" y="3995928"/>
              <a:ext cx="3703320" cy="103327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evolución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una patología o la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respuesta a un tratamiento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9" name="Forma 30"/>
            <p:cNvSpPr/>
            <p:nvPr/>
          </p:nvSpPr>
          <p:spPr>
            <a:xfrm>
              <a:off x="8357616" y="3794760"/>
              <a:ext cx="144776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MONITORIZAR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0" name="Utilidad Además"/>
          <p:cNvGrpSpPr/>
          <p:nvPr/>
        </p:nvGrpSpPr>
        <p:grpSpPr>
          <a:xfrm>
            <a:off x="8229600" y="5166360"/>
            <a:ext cx="3703320" cy="1234440"/>
            <a:chOff x="8229600" y="5166360"/>
            <a:chExt cx="3703320" cy="1234440"/>
          </a:xfrm>
        </p:grpSpPr>
        <p:sp>
          <p:nvSpPr>
            <p:cNvPr id="31" name="Forma 32"/>
            <p:cNvSpPr/>
            <p:nvPr/>
          </p:nvSpPr>
          <p:spPr>
            <a:xfrm>
              <a:off x="8229600" y="5367528"/>
              <a:ext cx="3703320" cy="103327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Confirmar diagnósticos, estimar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pronóstico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aportar datos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epidemiológicos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32" name="Forma 33"/>
            <p:cNvSpPr/>
            <p:nvPr/>
          </p:nvSpPr>
          <p:spPr>
            <a:xfrm>
              <a:off x="8357616" y="5166360"/>
              <a:ext cx="99729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ADEMÁS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3" name="Nota subclínica"/>
          <p:cNvSpPr/>
          <p:nvPr/>
        </p:nvSpPr>
        <p:spPr>
          <a:xfrm>
            <a:off x="548640" y="5029200"/>
            <a:ext cx="7132320" cy="1371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la etapa subclínica el laboratorio puede mostrar alteraciones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que el paciente perciba la enfermedad.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UTILIDAD CLÍNICA DE LAS VARIABLES BIOQUÍMICAS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3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TuboMuestra"/>
          <p:cNvGrpSpPr/>
          <p:nvPr/>
        </p:nvGrpSpPr>
        <p:grpSpPr>
          <a:xfrm>
            <a:off x="797357" y="1143000"/>
            <a:ext cx="1697126" cy="5120640"/>
            <a:chOff x="797357" y="1143000"/>
            <a:chExt cx="1697126" cy="5120640"/>
          </a:xfrm>
        </p:grpSpPr>
        <p:sp>
          <p:nvSpPr>
            <p:cNvPr id="6" name="Vidrio"/>
            <p:cNvSpPr/>
            <p:nvPr/>
          </p:nvSpPr>
          <p:spPr>
            <a:xfrm>
              <a:off x="914400" y="1655064"/>
              <a:ext cx="1463040" cy="46085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Tapón"/>
            <p:cNvSpPr/>
            <p:nvPr/>
          </p:nvSpPr>
          <p:spPr>
            <a:xfrm>
              <a:off x="797357" y="1143000"/>
              <a:ext cx="1697126" cy="614477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8" name="Brillo"/>
            <p:cNvSpPr/>
            <p:nvPr/>
          </p:nvSpPr>
          <p:spPr>
            <a:xfrm>
              <a:off x="1119226" y="1962302"/>
              <a:ext cx="175565" cy="358444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9" name="!!Elementos formes"/>
          <p:cNvSpPr/>
          <p:nvPr/>
        </p:nvSpPr>
        <p:spPr>
          <a:xfrm>
            <a:off x="987552" y="4225625"/>
            <a:ext cx="1316736" cy="193560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10" name="!!Plasma"/>
          <p:cNvSpPr/>
          <p:nvPr/>
        </p:nvSpPr>
        <p:spPr>
          <a:xfrm>
            <a:off x="987552" y="1859890"/>
            <a:ext cx="1316736" cy="2365736"/>
          </a:xfrm>
          <a:prstGeom prst="rect">
            <a:avLst/>
          </a:prstGeom>
          <a:gradFill rotWithShape="1">
            <a:gsLst>
              <a:gs pos="0">
                <a:srgbClr val="FAEDB7"/>
              </a:gs>
              <a:gs pos="100000">
                <a:srgbClr val="F9E79F"/>
              </a:gs>
            </a:gsLst>
            <a:lin ang="5400000" scaled="0"/>
          </a:gradFill>
          <a:ln w="9525" cap="rnd">
            <a:solidFill>
              <a:srgbClr val="A19667"/>
            </a:solidFill>
            <a:round/>
          </a:ln>
        </p:spPr>
      </p:sp>
      <p:sp>
        <p:nvSpPr>
          <p:cNvPr id="11" name="Flecha plasma"/>
          <p:cNvSpPr/>
          <p:nvPr/>
        </p:nvSpPr>
        <p:spPr>
          <a:xfrm>
            <a:off x="2514600" y="2103120"/>
            <a:ext cx="777240" cy="9144"/>
          </a:xfrm>
          <a:custGeom>
            <a:avLst/>
            <a:gdLst/>
            <a:ahLst/>
            <a:cxnLst/>
            <a:rect l="0" t="0" r="r" b="b"/>
            <a:pathLst>
              <a:path w="850" h="10" fill="none">
                <a:moveTo>
                  <a:pt x="0" y="0"/>
                </a:moveTo>
                <a:lnTo>
                  <a:pt x="850" y="0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  <a:tailEnd type="triangle" w="med" len="med"/>
          </a:ln>
        </p:spPr>
      </p:sp>
      <p:sp>
        <p:nvSpPr>
          <p:cNvPr id="12" name="Rótulo plasma"/>
          <p:cNvSpPr/>
          <p:nvPr/>
        </p:nvSpPr>
        <p:spPr>
          <a:xfrm>
            <a:off x="3383280" y="1417320"/>
            <a:ext cx="4572000" cy="14173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55 % plasma</a:t>
            </a:r>
            <a:endParaRPr lang="es-AR" sz="220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Componente líquido o acuoso.</a:t>
            </a:r>
            <a:endParaRPr lang="es-AR" sz="2200" dirty="0">
              <a:latin typeface="Calibri"/>
            </a:endParaRPr>
          </a:p>
        </p:txBody>
      </p:sp>
      <p:sp>
        <p:nvSpPr>
          <p:cNvPr id="13" name="Flecha formes"/>
          <p:cNvSpPr/>
          <p:nvPr/>
        </p:nvSpPr>
        <p:spPr>
          <a:xfrm>
            <a:off x="2514600" y="5029200"/>
            <a:ext cx="777240" cy="9144"/>
          </a:xfrm>
          <a:custGeom>
            <a:avLst/>
            <a:gdLst/>
            <a:ahLst/>
            <a:cxnLst/>
            <a:rect l="0" t="0" r="r" b="b"/>
            <a:pathLst>
              <a:path w="850" h="10" fill="none">
                <a:moveTo>
                  <a:pt x="0" y="0"/>
                </a:moveTo>
                <a:lnTo>
                  <a:pt x="850" y="0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  <a:tailEnd type="triangle" w="med" len="med"/>
          </a:ln>
        </p:spPr>
      </p:sp>
      <p:sp>
        <p:nvSpPr>
          <p:cNvPr id="14" name="Rótulo formes"/>
          <p:cNvSpPr/>
          <p:nvPr/>
        </p:nvSpPr>
        <p:spPr>
          <a:xfrm>
            <a:off x="3383280" y="4343400"/>
            <a:ext cx="4572000" cy="1417320"/>
          </a:xfrm>
          <a:prstGeom prst="roundRect">
            <a:avLst>
              <a:gd name="adj" fmla="val 9000"/>
            </a:avLst>
          </a:prstGeom>
          <a:solidFill>
            <a:srgbClr val="FF9393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45 % elementos formes</a:t>
            </a:r>
            <a:endParaRPr lang="es-AR" sz="220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Componente celular: eritrocitos, leucocitos y plaquetas.</a:t>
            </a:r>
            <a:endParaRPr lang="es-AR" sz="2200" dirty="0">
              <a:latin typeface="Calibri"/>
            </a:endParaRPr>
          </a:p>
        </p:txBody>
      </p:sp>
      <p:grpSp>
        <p:nvGrpSpPr>
          <p:cNvPr id="15" name="Concepto sangre"/>
          <p:cNvGrpSpPr/>
          <p:nvPr/>
        </p:nvGrpSpPr>
        <p:grpSpPr>
          <a:xfrm>
            <a:off x="8549640" y="1097280"/>
            <a:ext cx="3383280" cy="2468880"/>
            <a:chOff x="8549640" y="1097280"/>
            <a:chExt cx="3383280" cy="2468880"/>
          </a:xfrm>
        </p:grpSpPr>
        <p:sp>
          <p:nvSpPr>
            <p:cNvPr id="16" name="Forma 15"/>
            <p:cNvSpPr/>
            <p:nvPr/>
          </p:nvSpPr>
          <p:spPr>
            <a:xfrm>
              <a:off x="8549640" y="129844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Tejido derivado del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tejido conectivo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Fisicoquímicamente es una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mezcla heterogénea (suspensión)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células suspendidas en un líquido.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8677656" y="1097280"/>
              <a:ext cx="115994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CONCEPTO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8" name="Células suspendidas"/>
          <p:cNvGrpSpPr/>
          <p:nvPr/>
        </p:nvGrpSpPr>
        <p:grpSpPr>
          <a:xfrm>
            <a:off x="8686800" y="3931920"/>
            <a:ext cx="3063240" cy="2386584"/>
            <a:chOff x="8686800" y="3931920"/>
            <a:chExt cx="3063240" cy="2386584"/>
          </a:xfrm>
        </p:grpSpPr>
        <p:sp>
          <p:nvSpPr>
            <p:cNvPr id="19" name="GR deco 0"/>
            <p:cNvSpPr/>
            <p:nvPr/>
          </p:nvSpPr>
          <p:spPr>
            <a:xfrm>
              <a:off x="8686800" y="393192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0" name="GR deco 1"/>
            <p:cNvSpPr/>
            <p:nvPr/>
          </p:nvSpPr>
          <p:spPr>
            <a:xfrm>
              <a:off x="9738360" y="393192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1" name="GR deco 2"/>
            <p:cNvSpPr/>
            <p:nvPr/>
          </p:nvSpPr>
          <p:spPr>
            <a:xfrm>
              <a:off x="10789920" y="393192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2" name="GR deco 3"/>
            <p:cNvSpPr/>
            <p:nvPr/>
          </p:nvSpPr>
          <p:spPr>
            <a:xfrm>
              <a:off x="8686800" y="493776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3" name="GR deco 4"/>
            <p:cNvSpPr/>
            <p:nvPr/>
          </p:nvSpPr>
          <p:spPr>
            <a:xfrm>
              <a:off x="9738360" y="493776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24" name="Leucocito deco"/>
            <p:cNvGrpSpPr/>
            <p:nvPr/>
          </p:nvGrpSpPr>
          <p:grpSpPr>
            <a:xfrm>
              <a:off x="10835640" y="4937760"/>
              <a:ext cx="914400" cy="914400"/>
              <a:chOff x="10835640" y="4937760"/>
              <a:chExt cx="914400" cy="914400"/>
            </a:xfrm>
          </p:grpSpPr>
          <p:sp>
            <p:nvSpPr>
              <p:cNvPr id="25" name="Forma 24"/>
              <p:cNvSpPr/>
              <p:nvPr/>
            </p:nvSpPr>
            <p:spPr>
              <a:xfrm>
                <a:off x="10835640" y="4937760"/>
                <a:ext cx="914400" cy="914400"/>
              </a:xfrm>
              <a:prstGeom prst="ellipse">
                <a:avLst/>
              </a:prstGeom>
              <a:gradFill rotWithShape="1">
                <a:gsLst>
                  <a:gs pos="0">
                    <a:srgbClr val="F9F0F5"/>
                  </a:gs>
                  <a:gs pos="55000">
                    <a:srgbClr val="F5E6EF"/>
                  </a:gs>
                  <a:gs pos="100000">
                    <a:srgbClr val="D7CA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6" name="Forma 25"/>
              <p:cNvSpPr/>
              <p:nvPr/>
            </p:nvSpPr>
            <p:spPr>
              <a:xfrm>
                <a:off x="10835640" y="4937760"/>
                <a:ext cx="914400" cy="9144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D7BDE2"/>
              </a:solidFill>
              <a:ln>
                <a:noFill/>
              </a:ln>
            </p:spPr>
          </p:sp>
          <p:sp>
            <p:nvSpPr>
              <p:cNvPr id="27" name="Forma 26"/>
              <p:cNvSpPr/>
              <p:nvPr/>
            </p:nvSpPr>
            <p:spPr>
              <a:xfrm>
                <a:off x="10835640" y="4937760"/>
                <a:ext cx="914400" cy="9144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50" y="420"/>
                    </a:moveTo>
                    <a:cubicBezTo>
                      <a:pt x="450" y="486"/>
                      <a:pt x="396" y="540"/>
                      <a:pt x="330" y="540"/>
                    </a:cubicBezTo>
                    <a:cubicBezTo>
                      <a:pt x="263" y="540"/>
                      <a:pt x="210" y="486"/>
                      <a:pt x="210" y="420"/>
                    </a:cubicBezTo>
                    <a:cubicBezTo>
                      <a:pt x="210" y="353"/>
                      <a:pt x="263" y="300"/>
                      <a:pt x="330" y="300"/>
                    </a:cubicBezTo>
                    <a:cubicBezTo>
                      <a:pt x="396" y="300"/>
                      <a:pt x="450" y="353"/>
                      <a:pt x="450" y="420"/>
                    </a:cubicBezTo>
                    <a:close/>
                    <a:moveTo>
                      <a:pt x="620" y="330"/>
                    </a:moveTo>
                    <a:cubicBezTo>
                      <a:pt x="620" y="396"/>
                      <a:pt x="566" y="450"/>
                      <a:pt x="500" y="450"/>
                    </a:cubicBezTo>
                    <a:cubicBezTo>
                      <a:pt x="433" y="450"/>
                      <a:pt x="380" y="396"/>
                      <a:pt x="380" y="330"/>
                    </a:cubicBezTo>
                    <a:cubicBezTo>
                      <a:pt x="380" y="263"/>
                      <a:pt x="433" y="210"/>
                      <a:pt x="500" y="210"/>
                    </a:cubicBezTo>
                    <a:cubicBezTo>
                      <a:pt x="566" y="210"/>
                      <a:pt x="620" y="263"/>
                      <a:pt x="620" y="330"/>
                    </a:cubicBezTo>
                    <a:close/>
                    <a:moveTo>
                      <a:pt x="780" y="450"/>
                    </a:moveTo>
                    <a:cubicBezTo>
                      <a:pt x="780" y="516"/>
                      <a:pt x="726" y="570"/>
                      <a:pt x="660" y="570"/>
                    </a:cubicBezTo>
                    <a:cubicBezTo>
                      <a:pt x="593" y="570"/>
                      <a:pt x="540" y="516"/>
                      <a:pt x="540" y="450"/>
                    </a:cubicBezTo>
                    <a:cubicBezTo>
                      <a:pt x="540" y="383"/>
                      <a:pt x="593" y="330"/>
                      <a:pt x="660" y="330"/>
                    </a:cubicBezTo>
                    <a:cubicBezTo>
                      <a:pt x="726" y="330"/>
                      <a:pt x="780" y="383"/>
                      <a:pt x="780" y="450"/>
                    </a:cubicBezTo>
                    <a:close/>
                    <a:moveTo>
                      <a:pt x="630" y="600"/>
                    </a:moveTo>
                    <a:cubicBezTo>
                      <a:pt x="630" y="660"/>
                      <a:pt x="580" y="710"/>
                      <a:pt x="520" y="710"/>
                    </a:cubicBezTo>
                    <a:cubicBezTo>
                      <a:pt x="459" y="710"/>
                      <a:pt x="410" y="660"/>
                      <a:pt x="410" y="600"/>
                    </a:cubicBezTo>
                    <a:cubicBezTo>
                      <a:pt x="410" y="539"/>
                      <a:pt x="459" y="490"/>
                      <a:pt x="520" y="490"/>
                    </a:cubicBezTo>
                    <a:cubicBezTo>
                      <a:pt x="580" y="490"/>
                      <a:pt x="630" y="539"/>
                      <a:pt x="630" y="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sp>
          <p:nvSpPr>
            <p:cNvPr id="28" name="Plaqueta deco"/>
            <p:cNvSpPr/>
            <p:nvPr/>
          </p:nvSpPr>
          <p:spPr>
            <a:xfrm>
              <a:off x="9326880" y="6035040"/>
              <a:ext cx="457200" cy="283464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 SANGRE: UNA SUSPENSIÓN QUE PUEDE SEPARARSE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6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6" name="!!Barra plasma"/>
          <p:cNvGrpSpPr/>
          <p:nvPr/>
        </p:nvGrpSpPr>
        <p:grpSpPr>
          <a:xfrm>
            <a:off x="548640" y="1188720"/>
            <a:ext cx="1828800" cy="5223053"/>
            <a:chOff x="548640" y="1188720"/>
            <a:chExt cx="1828800" cy="5223053"/>
          </a:xfrm>
        </p:grpSpPr>
        <p:sp>
          <p:nvSpPr>
            <p:cNvPr id="7" name="Barra Agua ~90 %"/>
            <p:cNvSpPr/>
            <p:nvPr/>
          </p:nvSpPr>
          <p:spPr>
            <a:xfrm>
              <a:off x="548640" y="1188720"/>
              <a:ext cx="1828800" cy="4608576"/>
            </a:xfrm>
            <a:prstGeom prst="rect">
              <a:avLst/>
            </a:prstGeom>
            <a:gradFill rotWithShape="1">
              <a:gsLst>
                <a:gs pos="0">
                  <a:srgbClr val="8DC5EA"/>
                </a:gs>
                <a:gs pos="100000">
                  <a:srgbClr val="5DADE2"/>
                </a:gs>
              </a:gsLst>
              <a:lin ang="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8" name="Barra Proteínas ~7 %"/>
            <p:cNvSpPr/>
            <p:nvPr/>
          </p:nvSpPr>
          <p:spPr>
            <a:xfrm>
              <a:off x="548640" y="5797296"/>
              <a:ext cx="1828800" cy="358445"/>
            </a:xfrm>
            <a:prstGeom prst="rect">
              <a:avLst/>
            </a:prstGeom>
            <a:gradFill rotWithShape="1">
              <a:gsLst>
                <a:gs pos="0">
                  <a:srgbClr val="F8C77A"/>
                </a:gs>
                <a:gs pos="100000">
                  <a:srgbClr val="F5B041"/>
                </a:gs>
              </a:gsLst>
              <a:lin ang="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9" name="Barra Metabolitos, electrolitos, hormonas ~1–3 %"/>
            <p:cNvSpPr/>
            <p:nvPr/>
          </p:nvSpPr>
          <p:spPr>
            <a:xfrm>
              <a:off x="548640" y="6155741"/>
              <a:ext cx="1828800" cy="256032"/>
            </a:xfrm>
            <a:prstGeom prst="rect">
              <a:avLst/>
            </a:prstGeom>
            <a:gradFill rotWithShape="1">
              <a:gsLst>
                <a:gs pos="0">
                  <a:srgbClr val="EE8176"/>
                </a:gs>
                <a:gs pos="100000">
                  <a:srgbClr val="E74C3C"/>
                </a:gs>
              </a:gsLst>
              <a:lin ang="0" scaled="0"/>
            </a:gradFill>
            <a:ln w="19050" cap="rnd">
              <a:solidFill>
                <a:srgbClr val="1E1E1E"/>
              </a:solidFill>
              <a:round/>
            </a:ln>
          </p:spPr>
        </p:sp>
      </p:grpSp>
      <p:grpSp>
        <p:nvGrpSpPr>
          <p:cNvPr id="10" name="Plasma Agua ~90 %"/>
          <p:cNvGrpSpPr/>
          <p:nvPr/>
        </p:nvGrpSpPr>
        <p:grpSpPr>
          <a:xfrm>
            <a:off x="2468880" y="1188720"/>
            <a:ext cx="6675120" cy="1463040"/>
            <a:chOff x="2468880" y="1188720"/>
            <a:chExt cx="6675120" cy="1463040"/>
          </a:xfrm>
        </p:grpSpPr>
        <p:sp>
          <p:nvSpPr>
            <p:cNvPr id="11" name="Flecha 10_2"/>
            <p:cNvSpPr/>
            <p:nvPr/>
          </p:nvSpPr>
          <p:spPr>
            <a:xfrm>
              <a:off x="2468880" y="1874520"/>
              <a:ext cx="777240" cy="9144"/>
            </a:xfrm>
            <a:custGeom>
              <a:avLst/>
              <a:gdLst/>
              <a:ahLst/>
              <a:cxnLst/>
              <a:rect l="0" t="0" r="r" b="b"/>
              <a:pathLst>
                <a:path w="849" h="10" fill="none">
                  <a:moveTo>
                    <a:pt x="0" y="0"/>
                  </a:moveTo>
                  <a:lnTo>
                    <a:pt x="84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grpSp>
          <p:nvGrpSpPr>
            <p:cNvPr id="12" name="Recuadro Agua ~90 %"/>
            <p:cNvGrpSpPr/>
            <p:nvPr/>
          </p:nvGrpSpPr>
          <p:grpSpPr>
            <a:xfrm>
              <a:off x="3291840" y="1188720"/>
              <a:ext cx="5852160" cy="1463040"/>
              <a:chOff x="3291840" y="1188720"/>
              <a:chExt cx="5852160" cy="1463040"/>
            </a:xfrm>
          </p:grpSpPr>
          <p:sp>
            <p:nvSpPr>
              <p:cNvPr id="13" name="Forma 13"/>
              <p:cNvSpPr/>
              <p:nvPr/>
            </p:nvSpPr>
            <p:spPr>
              <a:xfrm>
                <a:off x="3291840" y="1389888"/>
                <a:ext cx="5852160" cy="1261872"/>
              </a:xfrm>
              <a:prstGeom prst="roundRect">
                <a:avLst>
                  <a:gd name="adj" fmla="val 9000"/>
                </a:avLst>
              </a:prstGeom>
              <a:solidFill>
                <a:srgbClr val="D8E6F2"/>
              </a:solidFill>
              <a:ln w="22225" cap="rnd">
                <a:solidFill>
                  <a:srgbClr val="1E1E1E"/>
                </a:solidFill>
                <a:round/>
              </a:ln>
            </p:spPr>
            <p:txBody>
              <a:bodyPr wrap="square" lIns="137160" tIns="274320" rIns="137160" bIns="73152" anchor="t" rtlCol="0">
                <a:noAutofit/>
              </a:bodyPr>
              <a:lstStyle/>
              <a:p>
                <a:pPr algn="l">
                  <a:spcAft>
                    <a:spcPts val="400"/>
                  </a:spcAft>
                  <a:buNone/>
                </a:pPr>
                <a:r>
                  <a:rPr lang="es-AR" sz="220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Componente mayoritario. Mantiene el </a:t>
                </a:r>
                <a:r>
                  <a:rPr lang="es-AR" sz="220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estado líquido</a:t>
                </a:r>
                <a:r>
                  <a:rPr lang="es-AR" sz="220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de la sangre.</a:t>
                </a:r>
                <a:endParaRPr lang="es-AR" sz="2200" dirty="0">
                  <a:latin typeface="Calibri"/>
                </a:endParaRPr>
              </a:p>
            </p:txBody>
          </p:sp>
          <p:sp>
            <p:nvSpPr>
              <p:cNvPr id="14" name="Forma 14"/>
              <p:cNvSpPr/>
              <p:nvPr/>
            </p:nvSpPr>
            <p:spPr>
              <a:xfrm>
                <a:off x="3419856" y="1188720"/>
                <a:ext cx="1273412" cy="384048"/>
              </a:xfrm>
              <a:prstGeom prst="rect">
                <a:avLst/>
              </a:prstGeom>
              <a:solidFill>
                <a:srgbClr val="1F3864"/>
              </a:solidFill>
              <a:ln w="19050" cap="rnd">
                <a:solidFill>
                  <a:srgbClr val="1E1E1E"/>
                </a:solidFill>
                <a:round/>
              </a:ln>
            </p:spPr>
            <p:txBody>
              <a:bodyPr wrap="square" lIns="36576" tIns="0" rIns="36576" bIns="0" anchor="ctr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140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AGUA ~90 %</a:t>
                </a:r>
                <a:endParaRPr lang="es-AR" sz="1400" dirty="0">
                  <a:latin typeface="Calibri"/>
                </a:endParaRPr>
              </a:p>
            </p:txBody>
          </p:sp>
        </p:grpSp>
      </p:grpSp>
      <p:grpSp>
        <p:nvGrpSpPr>
          <p:cNvPr id="15" name="Plasma Proteínas pl"/>
          <p:cNvGrpSpPr/>
          <p:nvPr/>
        </p:nvGrpSpPr>
        <p:grpSpPr>
          <a:xfrm>
            <a:off x="2468880" y="2880360"/>
            <a:ext cx="6675120" cy="1463040"/>
            <a:chOff x="2468880" y="2880360"/>
            <a:chExt cx="6675120" cy="1463040"/>
          </a:xfrm>
        </p:grpSpPr>
        <p:sp>
          <p:nvSpPr>
            <p:cNvPr id="16" name="Flecha 16_2"/>
            <p:cNvSpPr/>
            <p:nvPr/>
          </p:nvSpPr>
          <p:spPr>
            <a:xfrm>
              <a:off x="2468880" y="3566160"/>
              <a:ext cx="777240" cy="9144"/>
            </a:xfrm>
            <a:custGeom>
              <a:avLst/>
              <a:gdLst/>
              <a:ahLst/>
              <a:cxnLst/>
              <a:rect l="0" t="0" r="r" b="b"/>
              <a:pathLst>
                <a:path w="849" h="10" fill="none">
                  <a:moveTo>
                    <a:pt x="0" y="0"/>
                  </a:moveTo>
                  <a:lnTo>
                    <a:pt x="84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grpSp>
          <p:nvGrpSpPr>
            <p:cNvPr id="17" name="Recuadro Proteínas plasmáticas ~7 %"/>
            <p:cNvGrpSpPr/>
            <p:nvPr/>
          </p:nvGrpSpPr>
          <p:grpSpPr>
            <a:xfrm>
              <a:off x="3291840" y="2880360"/>
              <a:ext cx="5852160" cy="1463040"/>
              <a:chOff x="3291840" y="2880360"/>
              <a:chExt cx="5852160" cy="1463040"/>
            </a:xfrm>
          </p:grpSpPr>
          <p:sp>
            <p:nvSpPr>
              <p:cNvPr id="18" name="Forma 19"/>
              <p:cNvSpPr/>
              <p:nvPr/>
            </p:nvSpPr>
            <p:spPr>
              <a:xfrm>
                <a:off x="3291840" y="3081528"/>
                <a:ext cx="5852160" cy="1261872"/>
              </a:xfrm>
              <a:prstGeom prst="roundRect">
                <a:avLst>
                  <a:gd name="adj" fmla="val 9000"/>
                </a:avLst>
              </a:prstGeom>
              <a:solidFill>
                <a:srgbClr val="FFF2CC"/>
              </a:solidFill>
              <a:ln w="22225" cap="rnd">
                <a:solidFill>
                  <a:srgbClr val="1E1E1E"/>
                </a:solidFill>
                <a:round/>
              </a:ln>
            </p:spPr>
            <p:txBody>
              <a:bodyPr wrap="square" lIns="137160" tIns="274320" rIns="137160" bIns="73152" anchor="t" rtlCol="0">
                <a:noAutofit/>
              </a:bodyPr>
              <a:lstStyle/>
              <a:p>
                <a:pPr algn="l">
                  <a:spcAft>
                    <a:spcPts val="400"/>
                  </a:spcAft>
                  <a:buNone/>
                </a:pPr>
                <a:r>
                  <a:rPr lang="es-AR" sz="20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Principal soluto</a:t>
                </a:r>
                <a:r>
                  <a:rPr lang="es-AR" sz="20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sanguíneo. Mantienen la </a:t>
                </a:r>
                <a:r>
                  <a:rPr lang="es-AR" sz="20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osmolaridad (presión osmótica)</a:t>
                </a:r>
                <a:r>
                  <a:rPr lang="es-AR" sz="20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y evitan edemas.</a:t>
                </a:r>
                <a:endParaRPr lang="es-AR" sz="2050" dirty="0">
                  <a:latin typeface="Calibri"/>
                </a:endParaRPr>
              </a:p>
            </p:txBody>
          </p:sp>
          <p:sp>
            <p:nvSpPr>
              <p:cNvPr id="19" name="Forma 20"/>
              <p:cNvSpPr/>
              <p:nvPr/>
            </p:nvSpPr>
            <p:spPr>
              <a:xfrm>
                <a:off x="3419856" y="2880360"/>
                <a:ext cx="2727406" cy="384048"/>
              </a:xfrm>
              <a:prstGeom prst="rect">
                <a:avLst/>
              </a:prstGeom>
              <a:solidFill>
                <a:srgbClr val="1F3864"/>
              </a:solidFill>
              <a:ln w="19050" cap="rnd">
                <a:solidFill>
                  <a:srgbClr val="1E1E1E"/>
                </a:solidFill>
                <a:round/>
              </a:ln>
            </p:spPr>
            <p:txBody>
              <a:bodyPr wrap="square" lIns="36576" tIns="0" rIns="36576" bIns="0" anchor="ctr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140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PROTEÍNAS PLASMÁTICAS ~7 %</a:t>
                </a:r>
                <a:endParaRPr lang="es-AR" sz="1400" dirty="0">
                  <a:latin typeface="Calibri"/>
                </a:endParaRPr>
              </a:p>
            </p:txBody>
          </p:sp>
        </p:grpSp>
      </p:grpSp>
      <p:grpSp>
        <p:nvGrpSpPr>
          <p:cNvPr id="20" name="Plasma Metabolitos,"/>
          <p:cNvGrpSpPr/>
          <p:nvPr/>
        </p:nvGrpSpPr>
        <p:grpSpPr>
          <a:xfrm>
            <a:off x="2468880" y="4572000"/>
            <a:ext cx="6675120" cy="1463040"/>
            <a:chOff x="2468880" y="4572000"/>
            <a:chExt cx="6675120" cy="1463040"/>
          </a:xfrm>
        </p:grpSpPr>
        <p:sp>
          <p:nvSpPr>
            <p:cNvPr id="21" name="Flecha 22_2"/>
            <p:cNvSpPr/>
            <p:nvPr/>
          </p:nvSpPr>
          <p:spPr>
            <a:xfrm>
              <a:off x="2468880" y="5257800"/>
              <a:ext cx="777240" cy="9144"/>
            </a:xfrm>
            <a:custGeom>
              <a:avLst/>
              <a:gdLst/>
              <a:ahLst/>
              <a:cxnLst/>
              <a:rect l="0" t="0" r="r" b="b"/>
              <a:pathLst>
                <a:path w="849" h="10" fill="none">
                  <a:moveTo>
                    <a:pt x="0" y="0"/>
                  </a:moveTo>
                  <a:lnTo>
                    <a:pt x="84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grpSp>
          <p:nvGrpSpPr>
            <p:cNvPr id="22" name="Recuadro Metabolitos, electrolitos, h"/>
            <p:cNvGrpSpPr/>
            <p:nvPr/>
          </p:nvGrpSpPr>
          <p:grpSpPr>
            <a:xfrm>
              <a:off x="3291840" y="4572000"/>
              <a:ext cx="5852160" cy="1463040"/>
              <a:chOff x="3291840" y="4572000"/>
              <a:chExt cx="5852160" cy="1463040"/>
            </a:xfrm>
          </p:grpSpPr>
          <p:sp>
            <p:nvSpPr>
              <p:cNvPr id="23" name="Forma 25"/>
              <p:cNvSpPr/>
              <p:nvPr/>
            </p:nvSpPr>
            <p:spPr>
              <a:xfrm>
                <a:off x="3291840" y="4773168"/>
                <a:ext cx="5852160" cy="1261872"/>
              </a:xfrm>
              <a:prstGeom prst="roundRect">
                <a:avLst>
                  <a:gd name="adj" fmla="val 9000"/>
                </a:avLst>
              </a:prstGeom>
              <a:solidFill>
                <a:srgbClr val="FDE4E4"/>
              </a:solidFill>
              <a:ln w="22225" cap="rnd">
                <a:solidFill>
                  <a:srgbClr val="1E1E1E"/>
                </a:solidFill>
                <a:round/>
              </a:ln>
            </p:spPr>
            <p:txBody>
              <a:bodyPr wrap="square" lIns="137160" tIns="274320" rIns="137160" bIns="73152" anchor="t" rtlCol="0">
                <a:noAutofit/>
              </a:bodyPr>
              <a:lstStyle/>
              <a:p>
                <a:pPr algn="l">
                  <a:spcAft>
                    <a:spcPts val="400"/>
                  </a:spcAft>
                  <a:buNone/>
                </a:pPr>
                <a:r>
                  <a:rPr lang="es-AR" sz="220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Componentes minoritarios: son </a:t>
                </a:r>
                <a:r>
                  <a:rPr lang="es-AR" sz="220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 analitos que se miden</a:t>
                </a:r>
                <a:r>
                  <a:rPr lang="es-AR" sz="220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habitualmente en el laboratorio.</a:t>
                </a:r>
                <a:endParaRPr lang="es-AR" sz="2200" dirty="0">
                  <a:latin typeface="Calibri"/>
                </a:endParaRPr>
              </a:p>
            </p:txBody>
          </p:sp>
          <p:sp>
            <p:nvSpPr>
              <p:cNvPr id="24" name="Forma 26"/>
              <p:cNvSpPr/>
              <p:nvPr/>
            </p:nvSpPr>
            <p:spPr>
              <a:xfrm>
                <a:off x="3419856" y="4572000"/>
                <a:ext cx="4267516" cy="384048"/>
              </a:xfrm>
              <a:prstGeom prst="rect">
                <a:avLst/>
              </a:prstGeom>
              <a:solidFill>
                <a:srgbClr val="1F3864"/>
              </a:solidFill>
              <a:ln w="19050" cap="rnd">
                <a:solidFill>
                  <a:srgbClr val="1E1E1E"/>
                </a:solidFill>
                <a:round/>
              </a:ln>
            </p:spPr>
            <p:txBody>
              <a:bodyPr wrap="square" lIns="36576" tIns="0" rIns="36576" bIns="0" anchor="ctr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140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METABOLITOS, ELECTROLITOS, HORMONAS ~1–3 %</a:t>
                </a:r>
                <a:endParaRPr lang="es-AR" sz="1400" dirty="0">
                  <a:latin typeface="Calibri"/>
                </a:endParaRPr>
              </a:p>
            </p:txBody>
          </p:sp>
        </p:grpSp>
      </p:grpSp>
      <p:grpSp>
        <p:nvGrpSpPr>
          <p:cNvPr id="25" name="Moléculas plasma"/>
          <p:cNvGrpSpPr/>
          <p:nvPr/>
        </p:nvGrpSpPr>
        <p:grpSpPr>
          <a:xfrm>
            <a:off x="9708758" y="1504406"/>
            <a:ext cx="1931374" cy="3383770"/>
            <a:chOff x="9708758" y="1504406"/>
            <a:chExt cx="1931374" cy="3383770"/>
          </a:xfrm>
        </p:grpSpPr>
        <p:grpSp>
          <p:nvGrpSpPr>
            <p:cNvPr id="26" name="Glucosa plasma"/>
            <p:cNvGrpSpPr/>
            <p:nvPr/>
          </p:nvGrpSpPr>
          <p:grpSpPr>
            <a:xfrm>
              <a:off x="9708758" y="1504406"/>
              <a:ext cx="1931374" cy="1288867"/>
              <a:chOff x="9708758" y="1504406"/>
              <a:chExt cx="1931374" cy="1288867"/>
            </a:xfrm>
          </p:grpSpPr>
          <p:sp>
            <p:nvSpPr>
              <p:cNvPr id="27" name="Flecha 29_2"/>
              <p:cNvSpPr/>
              <p:nvPr/>
            </p:nvSpPr>
            <p:spPr>
              <a:xfrm>
                <a:off x="10400276" y="2164535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0" y="0"/>
                    </a:moveTo>
                    <a:lnTo>
                      <a:pt x="343" y="171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28" name="Flecha 31_2"/>
              <p:cNvSpPr/>
              <p:nvPr/>
            </p:nvSpPr>
            <p:spPr>
              <a:xfrm>
                <a:off x="10400276" y="2164535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0" y="0"/>
                    </a:moveTo>
                    <a:lnTo>
                      <a:pt x="343" y="171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29" name="Flecha 33_2"/>
              <p:cNvSpPr/>
              <p:nvPr/>
            </p:nvSpPr>
            <p:spPr>
              <a:xfrm>
                <a:off x="10714175" y="2164535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0" y="171"/>
                    </a:moveTo>
                    <a:lnTo>
                      <a:pt x="343" y="0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30" name="Flecha 35_2"/>
              <p:cNvSpPr/>
              <p:nvPr/>
            </p:nvSpPr>
            <p:spPr>
              <a:xfrm>
                <a:off x="10714175" y="2164535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0" y="171"/>
                    </a:moveTo>
                    <a:lnTo>
                      <a:pt x="343" y="0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31" name="Flecha 37_2"/>
              <p:cNvSpPr/>
              <p:nvPr/>
            </p:nvSpPr>
            <p:spPr>
              <a:xfrm>
                <a:off x="11028073" y="1819247"/>
                <a:ext cx="9144" cy="345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7" fill="none">
                    <a:moveTo>
                      <a:pt x="0" y="377"/>
                    </a:moveTo>
                    <a:lnTo>
                      <a:pt x="0" y="0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32" name="Flecha 39_2"/>
              <p:cNvSpPr/>
              <p:nvPr/>
            </p:nvSpPr>
            <p:spPr>
              <a:xfrm>
                <a:off x="11028073" y="1819247"/>
                <a:ext cx="9144" cy="345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7" fill="none">
                    <a:moveTo>
                      <a:pt x="0" y="377"/>
                    </a:moveTo>
                    <a:lnTo>
                      <a:pt x="0" y="0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33" name="Flecha 41_2"/>
              <p:cNvSpPr/>
              <p:nvPr/>
            </p:nvSpPr>
            <p:spPr>
              <a:xfrm>
                <a:off x="10714175" y="1662297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343" y="171"/>
                    </a:moveTo>
                    <a:lnTo>
                      <a:pt x="0" y="0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34" name="Flecha 43_2"/>
              <p:cNvSpPr/>
              <p:nvPr/>
            </p:nvSpPr>
            <p:spPr>
              <a:xfrm>
                <a:off x="10714175" y="1662297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343" y="171"/>
                    </a:moveTo>
                    <a:lnTo>
                      <a:pt x="0" y="0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35" name="Flecha 45_2"/>
              <p:cNvSpPr/>
              <p:nvPr/>
            </p:nvSpPr>
            <p:spPr>
              <a:xfrm>
                <a:off x="10400276" y="1662297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343" y="0"/>
                    </a:moveTo>
                    <a:lnTo>
                      <a:pt x="0" y="171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36" name="Flecha 47_2"/>
              <p:cNvSpPr/>
              <p:nvPr/>
            </p:nvSpPr>
            <p:spPr>
              <a:xfrm>
                <a:off x="10400276" y="1662297"/>
                <a:ext cx="31389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43" h="171" fill="none">
                    <a:moveTo>
                      <a:pt x="343" y="0"/>
                    </a:moveTo>
                    <a:lnTo>
                      <a:pt x="0" y="171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37" name="Flecha 49_2"/>
              <p:cNvSpPr/>
              <p:nvPr/>
            </p:nvSpPr>
            <p:spPr>
              <a:xfrm>
                <a:off x="10400276" y="1819247"/>
                <a:ext cx="9144" cy="345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7" fill="none">
                    <a:moveTo>
                      <a:pt x="0" y="0"/>
                    </a:moveTo>
                    <a:lnTo>
                      <a:pt x="0" y="377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38" name="Flecha 51_2"/>
              <p:cNvSpPr/>
              <p:nvPr/>
            </p:nvSpPr>
            <p:spPr>
              <a:xfrm>
                <a:off x="10400276" y="1819247"/>
                <a:ext cx="9144" cy="345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7" fill="none">
                    <a:moveTo>
                      <a:pt x="0" y="0"/>
                    </a:moveTo>
                    <a:lnTo>
                      <a:pt x="0" y="377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39" name="Flecha 53_2"/>
              <p:cNvSpPr/>
              <p:nvPr/>
            </p:nvSpPr>
            <p:spPr>
              <a:xfrm>
                <a:off x="10117768" y="2164535"/>
                <a:ext cx="28250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171" fill="none">
                    <a:moveTo>
                      <a:pt x="308" y="0"/>
                    </a:moveTo>
                    <a:lnTo>
                      <a:pt x="0" y="171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40" name="Flecha 55_2"/>
              <p:cNvSpPr/>
              <p:nvPr/>
            </p:nvSpPr>
            <p:spPr>
              <a:xfrm>
                <a:off x="10117768" y="2164535"/>
                <a:ext cx="28250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171" fill="none">
                    <a:moveTo>
                      <a:pt x="308" y="0"/>
                    </a:moveTo>
                    <a:lnTo>
                      <a:pt x="0" y="171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41" name="Flecha 57_2"/>
              <p:cNvSpPr/>
              <p:nvPr/>
            </p:nvSpPr>
            <p:spPr>
              <a:xfrm>
                <a:off x="10714175" y="2321484"/>
                <a:ext cx="9144" cy="345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7" fill="none">
                    <a:moveTo>
                      <a:pt x="0" y="0"/>
                    </a:moveTo>
                    <a:lnTo>
                      <a:pt x="0" y="377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42" name="Flecha 59_2"/>
              <p:cNvSpPr/>
              <p:nvPr/>
            </p:nvSpPr>
            <p:spPr>
              <a:xfrm>
                <a:off x="10714175" y="2321484"/>
                <a:ext cx="9144" cy="345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7" fill="none">
                    <a:moveTo>
                      <a:pt x="0" y="0"/>
                    </a:moveTo>
                    <a:lnTo>
                      <a:pt x="0" y="377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43" name="Flecha 61_2"/>
              <p:cNvSpPr/>
              <p:nvPr/>
            </p:nvSpPr>
            <p:spPr>
              <a:xfrm>
                <a:off x="11028073" y="2164535"/>
                <a:ext cx="28250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171" fill="none">
                    <a:moveTo>
                      <a:pt x="0" y="0"/>
                    </a:moveTo>
                    <a:lnTo>
                      <a:pt x="308" y="171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44" name="Flecha 63_2"/>
              <p:cNvSpPr/>
              <p:nvPr/>
            </p:nvSpPr>
            <p:spPr>
              <a:xfrm>
                <a:off x="11028073" y="2164535"/>
                <a:ext cx="28250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171" fill="none">
                    <a:moveTo>
                      <a:pt x="0" y="0"/>
                    </a:moveTo>
                    <a:lnTo>
                      <a:pt x="308" y="171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45" name="Flecha 65_2"/>
              <p:cNvSpPr/>
              <p:nvPr/>
            </p:nvSpPr>
            <p:spPr>
              <a:xfrm>
                <a:off x="10117768" y="1630907"/>
                <a:ext cx="282509" cy="18833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205" fill="none">
                    <a:moveTo>
                      <a:pt x="308" y="205"/>
                    </a:moveTo>
                    <a:lnTo>
                      <a:pt x="0" y="0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46" name="Flecha 67_2"/>
              <p:cNvSpPr/>
              <p:nvPr/>
            </p:nvSpPr>
            <p:spPr>
              <a:xfrm>
                <a:off x="10117768" y="1630907"/>
                <a:ext cx="282509" cy="18833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205" fill="none">
                    <a:moveTo>
                      <a:pt x="308" y="205"/>
                    </a:moveTo>
                    <a:lnTo>
                      <a:pt x="0" y="0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47" name="Flecha 69_2"/>
              <p:cNvSpPr/>
              <p:nvPr/>
            </p:nvSpPr>
            <p:spPr>
              <a:xfrm>
                <a:off x="9835259" y="1630907"/>
                <a:ext cx="28250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171" fill="none">
                    <a:moveTo>
                      <a:pt x="308" y="0"/>
                    </a:moveTo>
                    <a:lnTo>
                      <a:pt x="0" y="171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48" name="Flecha 71_2"/>
              <p:cNvSpPr/>
              <p:nvPr/>
            </p:nvSpPr>
            <p:spPr>
              <a:xfrm>
                <a:off x="9835259" y="1630907"/>
                <a:ext cx="282509" cy="156949"/>
              </a:xfrm>
              <a:custGeom>
                <a:avLst/>
                <a:gdLst/>
                <a:ahLst/>
                <a:cxnLst/>
                <a:rect l="0" t="0" r="r" b="b"/>
                <a:pathLst>
                  <a:path w="308" h="171" fill="none">
                    <a:moveTo>
                      <a:pt x="308" y="0"/>
                    </a:moveTo>
                    <a:lnTo>
                      <a:pt x="0" y="171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49" name="Flecha 73_2"/>
              <p:cNvSpPr/>
              <p:nvPr/>
            </p:nvSpPr>
            <p:spPr>
              <a:xfrm>
                <a:off x="9866649" y="2195925"/>
                <a:ext cx="251119" cy="125559"/>
              </a:xfrm>
              <a:custGeom>
                <a:avLst/>
                <a:gdLst/>
                <a:ahLst/>
                <a:cxnLst/>
                <a:rect l="0" t="0" r="r" b="b"/>
                <a:pathLst>
                  <a:path w="274" h="137" fill="none">
                    <a:moveTo>
                      <a:pt x="274" y="137"/>
                    </a:moveTo>
                    <a:lnTo>
                      <a:pt x="0" y="0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50" name="Flecha 75_2"/>
              <p:cNvSpPr/>
              <p:nvPr/>
            </p:nvSpPr>
            <p:spPr>
              <a:xfrm>
                <a:off x="9866649" y="2195925"/>
                <a:ext cx="251119" cy="125559"/>
              </a:xfrm>
              <a:custGeom>
                <a:avLst/>
                <a:gdLst/>
                <a:ahLst/>
                <a:cxnLst/>
                <a:rect l="0" t="0" r="r" b="b"/>
                <a:pathLst>
                  <a:path w="274" h="137" fill="none">
                    <a:moveTo>
                      <a:pt x="274" y="137"/>
                    </a:moveTo>
                    <a:lnTo>
                      <a:pt x="0" y="0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51" name="Flecha 77_2"/>
              <p:cNvSpPr/>
              <p:nvPr/>
            </p:nvSpPr>
            <p:spPr>
              <a:xfrm>
                <a:off x="11310582" y="2195925"/>
                <a:ext cx="251119" cy="125559"/>
              </a:xfrm>
              <a:custGeom>
                <a:avLst/>
                <a:gdLst/>
                <a:ahLst/>
                <a:cxnLst/>
                <a:rect l="0" t="0" r="r" b="b"/>
                <a:pathLst>
                  <a:path w="274" h="137" fill="none">
                    <a:moveTo>
                      <a:pt x="0" y="137"/>
                    </a:moveTo>
                    <a:lnTo>
                      <a:pt x="274" y="0"/>
                    </a:lnTo>
                  </a:path>
                </a:pathLst>
              </a:custGeom>
              <a:noFill/>
              <a:ln w="69755" cap="rnd">
                <a:solidFill>
                  <a:srgbClr val="B9B9B9"/>
                </a:solidFill>
                <a:round/>
              </a:ln>
            </p:spPr>
          </p:sp>
          <p:sp>
            <p:nvSpPr>
              <p:cNvPr id="52" name="Flecha 79_2"/>
              <p:cNvSpPr/>
              <p:nvPr/>
            </p:nvSpPr>
            <p:spPr>
              <a:xfrm>
                <a:off x="11310582" y="2195925"/>
                <a:ext cx="251119" cy="125559"/>
              </a:xfrm>
              <a:custGeom>
                <a:avLst/>
                <a:gdLst/>
                <a:ahLst/>
                <a:cxnLst/>
                <a:rect l="0" t="0" r="r" b="b"/>
                <a:pathLst>
                  <a:path w="274" h="137" fill="none">
                    <a:moveTo>
                      <a:pt x="0" y="137"/>
                    </a:moveTo>
                    <a:lnTo>
                      <a:pt x="274" y="0"/>
                    </a:lnTo>
                  </a:path>
                </a:pathLst>
              </a:custGeom>
              <a:noFill/>
              <a:ln w="39237" cap="rnd">
                <a:solidFill>
                  <a:srgbClr val="FFFFFF"/>
                </a:solidFill>
                <a:round/>
              </a:ln>
            </p:spPr>
          </p:sp>
          <p:sp>
            <p:nvSpPr>
              <p:cNvPr id="53" name="Forma 81"/>
              <p:cNvSpPr/>
              <p:nvPr/>
            </p:nvSpPr>
            <p:spPr>
              <a:xfrm>
                <a:off x="9788218" y="2117494"/>
                <a:ext cx="156861" cy="15686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4" name="Forma 82"/>
              <p:cNvSpPr/>
              <p:nvPr/>
            </p:nvSpPr>
            <p:spPr>
              <a:xfrm>
                <a:off x="11483270" y="2117494"/>
                <a:ext cx="156861" cy="15686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5" name="Forma 83"/>
              <p:cNvSpPr/>
              <p:nvPr/>
            </p:nvSpPr>
            <p:spPr>
              <a:xfrm>
                <a:off x="10273775" y="2038034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6" name="Forma 84"/>
              <p:cNvSpPr/>
              <p:nvPr/>
            </p:nvSpPr>
            <p:spPr>
              <a:xfrm>
                <a:off x="10587674" y="2194983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7" name="Forma 85"/>
              <p:cNvSpPr/>
              <p:nvPr/>
            </p:nvSpPr>
            <p:spPr>
              <a:xfrm>
                <a:off x="10901572" y="2038034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8" name="Forma 86"/>
              <p:cNvSpPr/>
              <p:nvPr/>
            </p:nvSpPr>
            <p:spPr>
              <a:xfrm>
                <a:off x="10901572" y="1692745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9" name="Forma 87"/>
              <p:cNvSpPr/>
              <p:nvPr/>
            </p:nvSpPr>
            <p:spPr>
              <a:xfrm>
                <a:off x="10587674" y="1535796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0" name="Forma 88"/>
              <p:cNvSpPr/>
              <p:nvPr/>
            </p:nvSpPr>
            <p:spPr>
              <a:xfrm>
                <a:off x="10273775" y="1692745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1" name="Forma 89"/>
              <p:cNvSpPr/>
              <p:nvPr/>
            </p:nvSpPr>
            <p:spPr>
              <a:xfrm>
                <a:off x="9991267" y="2194983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2" name="Forma 90"/>
              <p:cNvSpPr/>
              <p:nvPr/>
            </p:nvSpPr>
            <p:spPr>
              <a:xfrm>
                <a:off x="10587674" y="2540271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3" name="Forma 91"/>
              <p:cNvSpPr/>
              <p:nvPr/>
            </p:nvSpPr>
            <p:spPr>
              <a:xfrm>
                <a:off x="11184081" y="2194983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4" name="Forma 92"/>
              <p:cNvSpPr/>
              <p:nvPr/>
            </p:nvSpPr>
            <p:spPr>
              <a:xfrm>
                <a:off x="9991267" y="1504406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5" name="Forma 93"/>
              <p:cNvSpPr/>
              <p:nvPr/>
            </p:nvSpPr>
            <p:spPr>
              <a:xfrm>
                <a:off x="9708758" y="1661356"/>
                <a:ext cx="253002" cy="253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  <p:grpSp>
          <p:nvGrpSpPr>
            <p:cNvPr id="66" name="Urea plasma"/>
            <p:cNvGrpSpPr/>
            <p:nvPr/>
          </p:nvGrpSpPr>
          <p:grpSpPr>
            <a:xfrm>
              <a:off x="9917483" y="3648837"/>
              <a:ext cx="1561993" cy="1239340"/>
              <a:chOff x="9917483" y="3648837"/>
              <a:chExt cx="1561993" cy="1239340"/>
            </a:xfrm>
          </p:grpSpPr>
          <p:sp>
            <p:nvSpPr>
              <p:cNvPr id="67" name="Flecha 95_2"/>
              <p:cNvSpPr/>
              <p:nvPr/>
            </p:nvSpPr>
            <p:spPr>
              <a:xfrm>
                <a:off x="10698480" y="3802380"/>
                <a:ext cx="9144" cy="4191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458" fill="none">
                    <a:moveTo>
                      <a:pt x="0" y="458"/>
                    </a:moveTo>
                    <a:lnTo>
                      <a:pt x="0" y="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68" name="Flecha 97_2"/>
              <p:cNvSpPr/>
              <p:nvPr/>
            </p:nvSpPr>
            <p:spPr>
              <a:xfrm>
                <a:off x="10698480" y="3802380"/>
                <a:ext cx="9144" cy="4191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458" fill="none">
                    <a:moveTo>
                      <a:pt x="0" y="458"/>
                    </a:moveTo>
                    <a:lnTo>
                      <a:pt x="0" y="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69" name="Flecha 99_2"/>
              <p:cNvSpPr/>
              <p:nvPr/>
            </p:nvSpPr>
            <p:spPr>
              <a:xfrm>
                <a:off x="10698480" y="4221480"/>
                <a:ext cx="3810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416" h="250" fill="none">
                    <a:moveTo>
                      <a:pt x="0" y="0"/>
                    </a:moveTo>
                    <a:lnTo>
                      <a:pt x="416" y="25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0" name="Flecha 101_2"/>
              <p:cNvSpPr/>
              <p:nvPr/>
            </p:nvSpPr>
            <p:spPr>
              <a:xfrm>
                <a:off x="10698480" y="4221480"/>
                <a:ext cx="3810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416" h="250" fill="none">
                    <a:moveTo>
                      <a:pt x="0" y="0"/>
                    </a:moveTo>
                    <a:lnTo>
                      <a:pt x="416" y="25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1" name="Flecha 103_2"/>
              <p:cNvSpPr/>
              <p:nvPr/>
            </p:nvSpPr>
            <p:spPr>
              <a:xfrm>
                <a:off x="10317480" y="4221480"/>
                <a:ext cx="3810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416" h="250" fill="none">
                    <a:moveTo>
                      <a:pt x="416" y="0"/>
                    </a:moveTo>
                    <a:lnTo>
                      <a:pt x="0" y="25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2" name="Flecha 105_2"/>
              <p:cNvSpPr/>
              <p:nvPr/>
            </p:nvSpPr>
            <p:spPr>
              <a:xfrm>
                <a:off x="10317480" y="4221480"/>
                <a:ext cx="3810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416" h="250" fill="none">
                    <a:moveTo>
                      <a:pt x="416" y="0"/>
                    </a:moveTo>
                    <a:lnTo>
                      <a:pt x="0" y="25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3" name="Flecha 107_2"/>
              <p:cNvSpPr/>
              <p:nvPr/>
            </p:nvSpPr>
            <p:spPr>
              <a:xfrm>
                <a:off x="11079480" y="4297680"/>
                <a:ext cx="3048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3" h="166" fill="none">
                    <a:moveTo>
                      <a:pt x="0" y="166"/>
                    </a:moveTo>
                    <a:lnTo>
                      <a:pt x="333" y="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4" name="Flecha 109_2"/>
              <p:cNvSpPr/>
              <p:nvPr/>
            </p:nvSpPr>
            <p:spPr>
              <a:xfrm>
                <a:off x="11079480" y="4297680"/>
                <a:ext cx="3048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3" h="166" fill="none">
                    <a:moveTo>
                      <a:pt x="0" y="166"/>
                    </a:moveTo>
                    <a:lnTo>
                      <a:pt x="333" y="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5" name="Flecha 111_2"/>
              <p:cNvSpPr/>
              <p:nvPr/>
            </p:nvSpPr>
            <p:spPr>
              <a:xfrm>
                <a:off x="11079480" y="4450080"/>
                <a:ext cx="9144" cy="3429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5" fill="none">
                    <a:moveTo>
                      <a:pt x="0" y="0"/>
                    </a:moveTo>
                    <a:lnTo>
                      <a:pt x="0" y="375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6" name="Flecha 113_2"/>
              <p:cNvSpPr/>
              <p:nvPr/>
            </p:nvSpPr>
            <p:spPr>
              <a:xfrm>
                <a:off x="11079480" y="4450080"/>
                <a:ext cx="9144" cy="3429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5" fill="none">
                    <a:moveTo>
                      <a:pt x="0" y="0"/>
                    </a:moveTo>
                    <a:lnTo>
                      <a:pt x="0" y="375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7" name="Flecha 115_2"/>
              <p:cNvSpPr/>
              <p:nvPr/>
            </p:nvSpPr>
            <p:spPr>
              <a:xfrm>
                <a:off x="10012680" y="4297680"/>
                <a:ext cx="3048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3" h="166" fill="none">
                    <a:moveTo>
                      <a:pt x="333" y="166"/>
                    </a:moveTo>
                    <a:lnTo>
                      <a:pt x="0" y="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8" name="Flecha 117_2"/>
              <p:cNvSpPr/>
              <p:nvPr/>
            </p:nvSpPr>
            <p:spPr>
              <a:xfrm>
                <a:off x="10012680" y="4297680"/>
                <a:ext cx="3048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3" h="166" fill="none">
                    <a:moveTo>
                      <a:pt x="333" y="166"/>
                    </a:moveTo>
                    <a:lnTo>
                      <a:pt x="0" y="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9" name="Flecha 119_2"/>
              <p:cNvSpPr/>
              <p:nvPr/>
            </p:nvSpPr>
            <p:spPr>
              <a:xfrm>
                <a:off x="10317480" y="4450080"/>
                <a:ext cx="9144" cy="3429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5" fill="none">
                    <a:moveTo>
                      <a:pt x="0" y="0"/>
                    </a:moveTo>
                    <a:lnTo>
                      <a:pt x="0" y="375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80" name="Flecha 121_2"/>
              <p:cNvSpPr/>
              <p:nvPr/>
            </p:nvSpPr>
            <p:spPr>
              <a:xfrm>
                <a:off x="10317480" y="4450080"/>
                <a:ext cx="9144" cy="3429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75" fill="none">
                    <a:moveTo>
                      <a:pt x="0" y="0"/>
                    </a:moveTo>
                    <a:lnTo>
                      <a:pt x="0" y="375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81" name="Forma 123"/>
              <p:cNvSpPr/>
              <p:nvPr/>
            </p:nvSpPr>
            <p:spPr>
              <a:xfrm>
                <a:off x="11289083" y="420248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2" name="Forma 124"/>
              <p:cNvSpPr/>
              <p:nvPr/>
            </p:nvSpPr>
            <p:spPr>
              <a:xfrm>
                <a:off x="10984283" y="469778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3" name="Forma 125"/>
              <p:cNvSpPr/>
              <p:nvPr/>
            </p:nvSpPr>
            <p:spPr>
              <a:xfrm>
                <a:off x="9917483" y="420248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4" name="Forma 126"/>
              <p:cNvSpPr/>
              <p:nvPr/>
            </p:nvSpPr>
            <p:spPr>
              <a:xfrm>
                <a:off x="10222283" y="469778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5" name="Forma 127"/>
              <p:cNvSpPr/>
              <p:nvPr/>
            </p:nvSpPr>
            <p:spPr>
              <a:xfrm>
                <a:off x="10544937" y="406793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6" name="Forma 128"/>
              <p:cNvSpPr/>
              <p:nvPr/>
            </p:nvSpPr>
            <p:spPr>
              <a:xfrm>
                <a:off x="10544937" y="364883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7" name="Forma 129"/>
              <p:cNvSpPr/>
              <p:nvPr/>
            </p:nvSpPr>
            <p:spPr>
              <a:xfrm>
                <a:off x="10925937" y="429653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CA8F3"/>
                  </a:gs>
                  <a:gs pos="75000">
                    <a:srgbClr val="7C8CF0"/>
                  </a:gs>
                  <a:gs pos="100000">
                    <a:srgbClr val="5662A8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8" name="Forma 130"/>
              <p:cNvSpPr/>
              <p:nvPr/>
            </p:nvSpPr>
            <p:spPr>
              <a:xfrm>
                <a:off x="10163937" y="429653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CA8F3"/>
                  </a:gs>
                  <a:gs pos="75000">
                    <a:srgbClr val="7C8CF0"/>
                  </a:gs>
                  <a:gs pos="100000">
                    <a:srgbClr val="5662A8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</p:grpSp>
      <p:grpSp>
        <p:nvGrpSpPr>
          <p:cNvPr id="89" name="Tubo plasma mini"/>
          <p:cNvGrpSpPr/>
          <p:nvPr/>
        </p:nvGrpSpPr>
        <p:grpSpPr>
          <a:xfrm>
            <a:off x="10120579" y="5029200"/>
            <a:ext cx="424282" cy="1463040"/>
            <a:chOff x="10120579" y="5029200"/>
            <a:chExt cx="424282" cy="1463040"/>
          </a:xfrm>
        </p:grpSpPr>
        <p:sp>
          <p:nvSpPr>
            <p:cNvPr id="90" name="Vidrio"/>
            <p:cNvSpPr/>
            <p:nvPr/>
          </p:nvSpPr>
          <p:spPr>
            <a:xfrm>
              <a:off x="10149840" y="5175504"/>
              <a:ext cx="365760" cy="13167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91" name="Tapón"/>
            <p:cNvSpPr/>
            <p:nvPr/>
          </p:nvSpPr>
          <p:spPr>
            <a:xfrm>
              <a:off x="10120579" y="5029200"/>
              <a:ext cx="424282" cy="175565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92" name="Brillo"/>
            <p:cNvSpPr/>
            <p:nvPr/>
          </p:nvSpPr>
          <p:spPr>
            <a:xfrm>
              <a:off x="10201046" y="5263286"/>
              <a:ext cx="43891" cy="102412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93" name="R pl"/>
          <p:cNvSpPr/>
          <p:nvPr/>
        </p:nvSpPr>
        <p:spPr>
          <a:xfrm>
            <a:off x="10168128" y="5909950"/>
            <a:ext cx="329184" cy="55302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94" name="P pl"/>
          <p:cNvSpPr/>
          <p:nvPr/>
        </p:nvSpPr>
        <p:spPr>
          <a:xfrm>
            <a:off x="10168128" y="5418369"/>
            <a:ext cx="329184" cy="491581"/>
          </a:xfrm>
          <a:prstGeom prst="rect">
            <a:avLst/>
          </a:prstGeom>
          <a:gradFill rotWithShape="1">
            <a:gsLst>
              <a:gs pos="0">
                <a:srgbClr val="FAEDB7"/>
              </a:gs>
              <a:gs pos="100000">
                <a:srgbClr val="F9E79F"/>
              </a:gs>
            </a:gsLst>
            <a:lin ang="5400000" scaled="0"/>
          </a:gradFill>
          <a:ln w="9525" cap="rnd">
            <a:solidFill>
              <a:srgbClr val="A19667"/>
            </a:solidFill>
            <a:round/>
          </a:ln>
        </p:spPr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PLASMA: COMPOSICIÓN DE LA FASE LÍQUIDA</a:t>
            </a:r>
            <a:endParaRPr lang="es-AR" sz="21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9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4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sp>
        <p:nvSpPr>
          <p:cNvPr id="5" name="Intersticio"/>
          <p:cNvSpPr/>
          <p:nvPr/>
        </p:nvSpPr>
        <p:spPr>
          <a:xfrm>
            <a:off x="274320" y="1097280"/>
            <a:ext cx="7772400" cy="5303520"/>
          </a:xfrm>
          <a:prstGeom prst="roundRect">
            <a:avLst>
              <a:gd name="adj" fmla="val 6000"/>
            </a:avLst>
          </a:prstGeom>
          <a:solidFill>
            <a:srgbClr val="FAD7A0">
              <a:alpha val="45000"/>
            </a:srgbClr>
          </a:solidFill>
          <a:ln w="15875" cap="rnd">
            <a:solidFill>
              <a:srgbClr val="B9770E"/>
            </a:solidFill>
            <a:prstDash val="dash"/>
            <a:round/>
          </a:ln>
        </p:spPr>
      </p:sp>
      <p:sp>
        <p:nvSpPr>
          <p:cNvPr id="6" name="Forma 5"/>
          <p:cNvSpPr txBox="1"/>
          <p:nvPr/>
        </p:nvSpPr>
        <p:spPr>
          <a:xfrm>
            <a:off x="457200" y="58521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7E5109"/>
                </a:solidFill>
                <a:latin typeface="Calibri"/>
                <a:ea typeface="Calibri"/>
                <a:cs typeface="Calibri"/>
                <a:sym typeface="Calibri"/>
              </a:rPr>
              <a:t>Intersticio (tejidos)</a:t>
            </a:r>
            <a:endParaRPr lang="es-AR" sz="1400" dirty="0">
              <a:latin typeface="Calibri"/>
            </a:endParaRPr>
          </a:p>
        </p:txBody>
      </p:sp>
      <p:grpSp>
        <p:nvGrpSpPr>
          <p:cNvPr id="7" name="!!Capilar"/>
          <p:cNvGrpSpPr/>
          <p:nvPr/>
        </p:nvGrpSpPr>
        <p:grpSpPr>
          <a:xfrm>
            <a:off x="548640" y="2468880"/>
            <a:ext cx="7223760" cy="1554480"/>
            <a:chOff x="548640" y="2468880"/>
            <a:chExt cx="7223760" cy="1554480"/>
          </a:xfrm>
        </p:grpSpPr>
        <p:sp>
          <p:nvSpPr>
            <p:cNvPr id="8" name="Forma 7"/>
            <p:cNvSpPr/>
            <p:nvPr/>
          </p:nvSpPr>
          <p:spPr>
            <a:xfrm>
              <a:off x="548640" y="2468880"/>
              <a:ext cx="7223760" cy="1554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05050"/>
                </a:gs>
                <a:gs pos="30000">
                  <a:srgbClr val="EB9696"/>
                </a:gs>
                <a:gs pos="55000">
                  <a:srgbClr val="E57373"/>
                </a:gs>
                <a:gs pos="100000">
                  <a:srgbClr val="A05050"/>
                </a:gs>
              </a:gsLst>
              <a:lin ang="5400000" scaled="0"/>
            </a:gradFill>
            <a:ln w="22225" cap="rnd">
              <a:solidFill>
                <a:srgbClr val="8E2A2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9" name="Forma 8"/>
            <p:cNvSpPr/>
            <p:nvPr/>
          </p:nvSpPr>
          <p:spPr>
            <a:xfrm>
              <a:off x="603504" y="2779776"/>
              <a:ext cx="7114032" cy="9326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D8"/>
                </a:gs>
                <a:gs pos="50000">
                  <a:srgbClr val="FDEDEC"/>
                </a:gs>
                <a:gs pos="100000">
                  <a:srgbClr val="F5B7B1"/>
                </a:gs>
              </a:gsLst>
              <a:lin ang="5400000" scaled="0"/>
            </a:gradFill>
            <a:ln w="9525" cap="rnd">
              <a:solidFill>
                <a:srgbClr val="C0392B"/>
              </a:solidFill>
              <a:round/>
            </a:ln>
          </p:spPr>
        </p:sp>
      </p:grpSp>
      <p:sp>
        <p:nvSpPr>
          <p:cNvPr id="10" name="!!Albúmina 0"/>
          <p:cNvSpPr/>
          <p:nvPr/>
        </p:nvSpPr>
        <p:spPr>
          <a:xfrm>
            <a:off x="1097280" y="2926080"/>
            <a:ext cx="411480" cy="411480"/>
          </a:xfrm>
          <a:prstGeom prst="ellipse">
            <a:avLst/>
          </a:prstGeom>
          <a:gradFill rotWithShape="1">
            <a:gsLst>
              <a:gs pos="0">
                <a:srgbClr val="F8E28B"/>
              </a:gs>
              <a:gs pos="55000">
                <a:srgbClr val="F4D03F"/>
              </a:gs>
              <a:gs pos="100000">
                <a:srgbClr val="B79C2F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A681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Alb</a:t>
            </a:r>
            <a:endParaRPr lang="es-AR" sz="1100" dirty="0">
              <a:latin typeface="Calibri"/>
            </a:endParaRPr>
          </a:p>
        </p:txBody>
      </p:sp>
      <p:sp>
        <p:nvSpPr>
          <p:cNvPr id="11" name="!!Albúmina 1"/>
          <p:cNvSpPr/>
          <p:nvPr/>
        </p:nvSpPr>
        <p:spPr>
          <a:xfrm>
            <a:off x="2148840" y="3246120"/>
            <a:ext cx="411480" cy="411480"/>
          </a:xfrm>
          <a:prstGeom prst="ellipse">
            <a:avLst/>
          </a:prstGeom>
          <a:gradFill rotWithShape="1">
            <a:gsLst>
              <a:gs pos="0">
                <a:srgbClr val="F8E28B"/>
              </a:gs>
              <a:gs pos="55000">
                <a:srgbClr val="F4D03F"/>
              </a:gs>
              <a:gs pos="100000">
                <a:srgbClr val="B79C2F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A681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Alb</a:t>
            </a:r>
            <a:endParaRPr lang="es-AR" sz="1100" dirty="0">
              <a:latin typeface="Calibri"/>
            </a:endParaRPr>
          </a:p>
        </p:txBody>
      </p:sp>
      <p:sp>
        <p:nvSpPr>
          <p:cNvPr id="12" name="!!Albúmina 2"/>
          <p:cNvSpPr/>
          <p:nvPr/>
        </p:nvSpPr>
        <p:spPr>
          <a:xfrm>
            <a:off x="3200400" y="2926080"/>
            <a:ext cx="411480" cy="411480"/>
          </a:xfrm>
          <a:prstGeom prst="ellipse">
            <a:avLst/>
          </a:prstGeom>
          <a:gradFill rotWithShape="1">
            <a:gsLst>
              <a:gs pos="0">
                <a:srgbClr val="F8E28B"/>
              </a:gs>
              <a:gs pos="55000">
                <a:srgbClr val="F4D03F"/>
              </a:gs>
              <a:gs pos="100000">
                <a:srgbClr val="B79C2F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A681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Alb</a:t>
            </a:r>
            <a:endParaRPr lang="es-AR" sz="1100" dirty="0">
              <a:latin typeface="Calibri"/>
            </a:endParaRPr>
          </a:p>
        </p:txBody>
      </p:sp>
      <p:sp>
        <p:nvSpPr>
          <p:cNvPr id="13" name="!!Albúmina 3"/>
          <p:cNvSpPr/>
          <p:nvPr/>
        </p:nvSpPr>
        <p:spPr>
          <a:xfrm>
            <a:off x="4251960" y="3246120"/>
            <a:ext cx="411480" cy="411480"/>
          </a:xfrm>
          <a:prstGeom prst="ellipse">
            <a:avLst/>
          </a:prstGeom>
          <a:gradFill rotWithShape="1">
            <a:gsLst>
              <a:gs pos="0">
                <a:srgbClr val="F8E28B"/>
              </a:gs>
              <a:gs pos="55000">
                <a:srgbClr val="F4D03F"/>
              </a:gs>
              <a:gs pos="100000">
                <a:srgbClr val="B79C2F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A681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Alb</a:t>
            </a:r>
            <a:endParaRPr lang="es-AR" sz="1100" dirty="0">
              <a:latin typeface="Calibri"/>
            </a:endParaRPr>
          </a:p>
        </p:txBody>
      </p:sp>
      <p:sp>
        <p:nvSpPr>
          <p:cNvPr id="14" name="!!Albúmina 4"/>
          <p:cNvSpPr/>
          <p:nvPr/>
        </p:nvSpPr>
        <p:spPr>
          <a:xfrm>
            <a:off x="5303520" y="2926080"/>
            <a:ext cx="411480" cy="411480"/>
          </a:xfrm>
          <a:prstGeom prst="ellipse">
            <a:avLst/>
          </a:prstGeom>
          <a:gradFill rotWithShape="1">
            <a:gsLst>
              <a:gs pos="0">
                <a:srgbClr val="F8E28B"/>
              </a:gs>
              <a:gs pos="55000">
                <a:srgbClr val="F4D03F"/>
              </a:gs>
              <a:gs pos="100000">
                <a:srgbClr val="B79C2F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A681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Alb</a:t>
            </a:r>
            <a:endParaRPr lang="es-AR" sz="1100" dirty="0">
              <a:latin typeface="Calibri"/>
            </a:endParaRPr>
          </a:p>
        </p:txBody>
      </p:sp>
      <p:sp>
        <p:nvSpPr>
          <p:cNvPr id="15" name="!!Albúmina 5"/>
          <p:cNvSpPr/>
          <p:nvPr/>
        </p:nvSpPr>
        <p:spPr>
          <a:xfrm>
            <a:off x="6355080" y="3246120"/>
            <a:ext cx="411480" cy="411480"/>
          </a:xfrm>
          <a:prstGeom prst="ellipse">
            <a:avLst/>
          </a:prstGeom>
          <a:gradFill rotWithShape="1">
            <a:gsLst>
              <a:gs pos="0">
                <a:srgbClr val="F8E28B"/>
              </a:gs>
              <a:gs pos="55000">
                <a:srgbClr val="F4D03F"/>
              </a:gs>
              <a:gs pos="100000">
                <a:srgbClr val="B79C2F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A681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Alb</a:t>
            </a:r>
            <a:endParaRPr lang="es-AR" sz="1100" dirty="0">
              <a:latin typeface="Calibri"/>
            </a:endParaRPr>
          </a:p>
        </p:txBody>
      </p:sp>
      <p:sp>
        <p:nvSpPr>
          <p:cNvPr id="16" name="!!Agua 0"/>
          <p:cNvSpPr/>
          <p:nvPr/>
        </p:nvSpPr>
        <p:spPr>
          <a:xfrm>
            <a:off x="1463040" y="1600200"/>
            <a:ext cx="347472" cy="347472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9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lang="es-AR" sz="900" dirty="0">
              <a:latin typeface="Calibri"/>
            </a:endParaRPr>
          </a:p>
        </p:txBody>
      </p:sp>
      <p:sp>
        <p:nvSpPr>
          <p:cNvPr id="17" name="!!Agua 1"/>
          <p:cNvSpPr/>
          <p:nvPr/>
        </p:nvSpPr>
        <p:spPr>
          <a:xfrm>
            <a:off x="2743200" y="1600200"/>
            <a:ext cx="347472" cy="347472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9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lang="es-AR" sz="900" dirty="0">
              <a:latin typeface="Calibri"/>
            </a:endParaRPr>
          </a:p>
        </p:txBody>
      </p:sp>
      <p:sp>
        <p:nvSpPr>
          <p:cNvPr id="18" name="!!Agua 2"/>
          <p:cNvSpPr/>
          <p:nvPr/>
        </p:nvSpPr>
        <p:spPr>
          <a:xfrm>
            <a:off x="4023360" y="1600200"/>
            <a:ext cx="347472" cy="347472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9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lang="es-AR" sz="900" dirty="0">
              <a:latin typeface="Calibri"/>
            </a:endParaRPr>
          </a:p>
        </p:txBody>
      </p:sp>
      <p:sp>
        <p:nvSpPr>
          <p:cNvPr id="19" name="!!Agua 3"/>
          <p:cNvSpPr/>
          <p:nvPr/>
        </p:nvSpPr>
        <p:spPr>
          <a:xfrm>
            <a:off x="5303520" y="1600200"/>
            <a:ext cx="347472" cy="347472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9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lang="es-AR" sz="900" dirty="0">
              <a:latin typeface="Calibri"/>
            </a:endParaRPr>
          </a:p>
        </p:txBody>
      </p:sp>
      <p:sp>
        <p:nvSpPr>
          <p:cNvPr id="20" name="!!Agua 4"/>
          <p:cNvSpPr/>
          <p:nvPr/>
        </p:nvSpPr>
        <p:spPr>
          <a:xfrm>
            <a:off x="6583680" y="1600200"/>
            <a:ext cx="347472" cy="347472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9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lang="es-AR" sz="900" dirty="0">
              <a:latin typeface="Calibri"/>
            </a:endParaRPr>
          </a:p>
        </p:txBody>
      </p:sp>
      <p:grpSp>
        <p:nvGrpSpPr>
          <p:cNvPr id="21" name="Mecanismo osmótico"/>
          <p:cNvGrpSpPr/>
          <p:nvPr/>
        </p:nvGrpSpPr>
        <p:grpSpPr>
          <a:xfrm>
            <a:off x="8549640" y="1097280"/>
            <a:ext cx="3383280" cy="2286000"/>
            <a:chOff x="8549640" y="1097280"/>
            <a:chExt cx="3383280" cy="2286000"/>
          </a:xfrm>
        </p:grpSpPr>
        <p:sp>
          <p:nvSpPr>
            <p:cNvPr id="22" name="Forma 21"/>
            <p:cNvSpPr/>
            <p:nvPr/>
          </p:nvSpPr>
          <p:spPr>
            <a:xfrm>
              <a:off x="8549640" y="1298448"/>
              <a:ext cx="3383280" cy="20848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proteínas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atraen el agua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por su poder osmótico, el agua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permanece dentro de los capilares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lugar de escaparse hacia los tejidos.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1097280"/>
              <a:ext cx="132475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MECANISMO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Edema"/>
          <p:cNvGrpSpPr/>
          <p:nvPr/>
        </p:nvGrpSpPr>
        <p:grpSpPr>
          <a:xfrm>
            <a:off x="8549640" y="3657600"/>
            <a:ext cx="3383280" cy="2743200"/>
            <a:chOff x="8549640" y="3657600"/>
            <a:chExt cx="3383280" cy="2743200"/>
          </a:xfrm>
        </p:grpSpPr>
        <p:sp>
          <p:nvSpPr>
            <p:cNvPr id="25" name="Forma 24"/>
            <p:cNvSpPr/>
            <p:nvPr/>
          </p:nvSpPr>
          <p:spPr>
            <a:xfrm>
              <a:off x="8549640" y="385876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 un paciente </a:t>
              </a:r>
              <a:r>
                <a:rPr lang="es-AR" sz="19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pierde proteínas</a:t>
              </a: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(síndrome nefrótico, desnutrición), la capacidad osmótica </a:t>
              </a:r>
              <a:r>
                <a:rPr lang="es-AR" sz="19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disminuye</a:t>
              </a: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y el agua escapa hacia los tejidos → </a:t>
              </a:r>
              <a:r>
                <a:rPr lang="es-AR" sz="19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edema</a:t>
              </a: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3657600"/>
              <a:ext cx="887010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EDEMA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PROTEÍNAS PLASMÁTICAS Y PRESIÓN OSMÓTICA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333 E" pathEditMode="relative" ptsTypes="">
                                      <p:cBhvr>
                                        <p:cTn id="71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666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333 E" pathEditMode="relative" ptsTypes="">
                                      <p:cBhvr>
                                        <p:cTn id="73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666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333 E" pathEditMode="relative" ptsTypes="">
                                      <p:cBhvr>
                                        <p:cTn id="75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666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333 E" pathEditMode="relative" ptsTypes="">
                                      <p:cBhvr>
                                        <p:cTn id="77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666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333 E" pathEditMode="relative" ptsTypes="">
                                      <p:cBhvr>
                                        <p:cTn id="79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4400 E" pathEditMode="relative" ptsTypes="">
                                      <p:cBhvr>
                                        <p:cTn id="97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00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133 E" pathEditMode="relative" ptsTypes="">
                                      <p:cBhvr>
                                        <p:cTn id="99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66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4400 E" pathEditMode="relative" ptsTypes="">
                                      <p:cBhvr>
                                        <p:cTn id="101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000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133 E" pathEditMode="relative" ptsTypes="">
                                      <p:cBhvr>
                                        <p:cTn id="103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66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4400 E" pathEditMode="relative" ptsTypes="">
                                      <p:cBhvr>
                                        <p:cTn id="105" dur="9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!!Albúmina"/>
          <p:cNvGrpSpPr/>
          <p:nvPr/>
        </p:nvGrpSpPr>
        <p:grpSpPr>
          <a:xfrm>
            <a:off x="320040" y="1280160"/>
            <a:ext cx="2834640" cy="2185416"/>
            <a:chOff x="320040" y="1280160"/>
            <a:chExt cx="2834640" cy="2185416"/>
          </a:xfrm>
        </p:grpSpPr>
        <p:sp>
          <p:nvSpPr>
            <p:cNvPr id="7" name="Albúmina forma"/>
            <p:cNvSpPr/>
            <p:nvPr/>
          </p:nvSpPr>
          <p:spPr>
            <a:xfrm>
              <a:off x="640080" y="1280160"/>
              <a:ext cx="20116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895" y="570"/>
                    <a:pt x="887" y="648"/>
                    <a:pt x="853" y="704"/>
                  </a:cubicBezTo>
                  <a:cubicBezTo>
                    <a:pt x="818" y="759"/>
                    <a:pt x="749" y="788"/>
                    <a:pt x="691" y="831"/>
                  </a:cubicBezTo>
                  <a:cubicBezTo>
                    <a:pt x="632" y="874"/>
                    <a:pt x="566" y="956"/>
                    <a:pt x="500" y="962"/>
                  </a:cubicBezTo>
                  <a:cubicBezTo>
                    <a:pt x="433" y="967"/>
                    <a:pt x="352" y="904"/>
                    <a:pt x="290" y="863"/>
                  </a:cubicBezTo>
                  <a:cubicBezTo>
                    <a:pt x="227" y="821"/>
                    <a:pt x="155" y="775"/>
                    <a:pt x="126" y="715"/>
                  </a:cubicBezTo>
                  <a:cubicBezTo>
                    <a:pt x="96" y="654"/>
                    <a:pt x="103" y="567"/>
                    <a:pt x="111" y="500"/>
                  </a:cubicBezTo>
                  <a:cubicBezTo>
                    <a:pt x="118" y="432"/>
                    <a:pt x="136" y="363"/>
                    <a:pt x="170" y="309"/>
                  </a:cubicBezTo>
                  <a:cubicBezTo>
                    <a:pt x="203" y="254"/>
                    <a:pt x="255" y="202"/>
                    <a:pt x="310" y="172"/>
                  </a:cubicBezTo>
                  <a:cubicBezTo>
                    <a:pt x="364" y="141"/>
                    <a:pt x="432" y="134"/>
                    <a:pt x="499" y="128"/>
                  </a:cubicBezTo>
                  <a:cubicBezTo>
                    <a:pt x="565" y="121"/>
                    <a:pt x="646" y="109"/>
                    <a:pt x="710" y="135"/>
                  </a:cubicBezTo>
                  <a:cubicBezTo>
                    <a:pt x="773" y="160"/>
                    <a:pt x="849" y="218"/>
                    <a:pt x="881" y="279"/>
                  </a:cubicBezTo>
                  <a:cubicBezTo>
                    <a:pt x="912" y="339"/>
                    <a:pt x="904" y="429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E595"/>
                </a:gs>
                <a:gs pos="55000">
                  <a:srgbClr val="F4D03F"/>
                </a:gs>
                <a:gs pos="100000">
                  <a:srgbClr val="B79C2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A681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Albúmina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8" name="Carga fármaco"/>
            <p:cNvSpPr/>
            <p:nvPr/>
          </p:nvSpPr>
          <p:spPr>
            <a:xfrm>
              <a:off x="320040" y="3154680"/>
              <a:ext cx="914400" cy="31089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CBA8D9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573D6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fármaco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9" name="Carga toxina"/>
            <p:cNvSpPr/>
            <p:nvPr/>
          </p:nvSpPr>
          <p:spPr>
            <a:xfrm>
              <a:off x="1280160" y="3154680"/>
              <a:ext cx="914400" cy="31089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5A0AB"/>
                </a:gs>
                <a:gs pos="55000">
                  <a:srgbClr val="5D6D7E"/>
                </a:gs>
                <a:gs pos="100000">
                  <a:srgbClr val="4A576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363F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toxina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10" name="Carga metabolito"/>
            <p:cNvSpPr/>
            <p:nvPr/>
          </p:nvSpPr>
          <p:spPr>
            <a:xfrm>
              <a:off x="2240280" y="3154680"/>
              <a:ext cx="914400" cy="31089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EAB6F"/>
                </a:gs>
                <a:gs pos="55000">
                  <a:srgbClr val="E67E22"/>
                </a:gs>
                <a:gs pos="100000">
                  <a:srgbClr val="B8641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33F1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metabolito</a:t>
              </a:r>
              <a:endParaRPr lang="es-AR" sz="1100" dirty="0">
                <a:latin typeface="Calibri"/>
              </a:endParaRPr>
            </a:p>
          </p:txBody>
        </p:sp>
      </p:grpSp>
      <p:grpSp>
        <p:nvGrpSpPr>
          <p:cNvPr id="11" name="Caja albúmina"/>
          <p:cNvGrpSpPr/>
          <p:nvPr/>
        </p:nvGrpSpPr>
        <p:grpSpPr>
          <a:xfrm>
            <a:off x="3246120" y="1188720"/>
            <a:ext cx="5852160" cy="1554480"/>
            <a:chOff x="3246120" y="1188720"/>
            <a:chExt cx="5852160" cy="1554480"/>
          </a:xfrm>
        </p:grpSpPr>
        <p:sp>
          <p:nvSpPr>
            <p:cNvPr id="12" name="Forma 11"/>
            <p:cNvSpPr/>
            <p:nvPr/>
          </p:nvSpPr>
          <p:spPr>
            <a:xfrm>
              <a:off x="3246120" y="1389888"/>
              <a:ext cx="5852160" cy="13533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≈ 50 % de las proteínas totales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más abundante. Función principal: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transportadora (carrier)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metabolitos, fármacos y toxinas.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374136" y="1188720"/>
              <a:ext cx="117852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ALBÚMINA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4" name="!!Globulinas"/>
          <p:cNvGrpSpPr/>
          <p:nvPr/>
        </p:nvGrpSpPr>
        <p:grpSpPr>
          <a:xfrm>
            <a:off x="1051560" y="3429000"/>
            <a:ext cx="1188720" cy="1143000"/>
            <a:chOff x="1051560" y="3429000"/>
            <a:chExt cx="1188720" cy="1143000"/>
          </a:xfrm>
        </p:grpSpPr>
        <p:sp>
          <p:nvSpPr>
            <p:cNvPr id="15" name="Flecha 14_2"/>
            <p:cNvSpPr/>
            <p:nvPr/>
          </p:nvSpPr>
          <p:spPr>
            <a:xfrm>
              <a:off x="1645920" y="3931920"/>
              <a:ext cx="9144" cy="640080"/>
            </a:xfrm>
            <a:custGeom>
              <a:avLst/>
              <a:gdLst/>
              <a:ahLst/>
              <a:cxnLst/>
              <a:rect l="0" t="0" r="r" b="b"/>
              <a:pathLst>
                <a:path w="10" h="700" fill="none">
                  <a:moveTo>
                    <a:pt x="0" y="700"/>
                  </a:moveTo>
                  <a:lnTo>
                    <a:pt x="0" y="0"/>
                  </a:lnTo>
                </a:path>
              </a:pathLst>
            </a:custGeom>
            <a:noFill/>
            <a:ln w="114300" cap="rnd">
              <a:solidFill>
                <a:srgbClr val="2E86C1"/>
              </a:solidFill>
              <a:round/>
            </a:ln>
          </p:spPr>
        </p:sp>
        <p:sp>
          <p:nvSpPr>
            <p:cNvPr id="16" name="Flecha 16_2"/>
            <p:cNvSpPr/>
            <p:nvPr/>
          </p:nvSpPr>
          <p:spPr>
            <a:xfrm>
              <a:off x="1051560" y="3429000"/>
              <a:ext cx="594360" cy="502920"/>
            </a:xfrm>
            <a:custGeom>
              <a:avLst/>
              <a:gdLst/>
              <a:ahLst/>
              <a:cxnLst/>
              <a:rect l="0" t="0" r="r" b="b"/>
              <a:pathLst>
                <a:path w="650" h="549" fill="none">
                  <a:moveTo>
                    <a:pt x="650" y="549"/>
                  </a:moveTo>
                  <a:lnTo>
                    <a:pt x="0" y="0"/>
                  </a:lnTo>
                </a:path>
              </a:pathLst>
            </a:custGeom>
            <a:noFill/>
            <a:ln w="114300" cap="rnd">
              <a:solidFill>
                <a:srgbClr val="2E86C1"/>
              </a:solidFill>
              <a:round/>
            </a:ln>
          </p:spPr>
        </p:sp>
        <p:sp>
          <p:nvSpPr>
            <p:cNvPr id="17" name="Flecha 18_2"/>
            <p:cNvSpPr/>
            <p:nvPr/>
          </p:nvSpPr>
          <p:spPr>
            <a:xfrm>
              <a:off x="1645920" y="3429000"/>
              <a:ext cx="594360" cy="502920"/>
            </a:xfrm>
            <a:custGeom>
              <a:avLst/>
              <a:gdLst/>
              <a:ahLst/>
              <a:cxnLst/>
              <a:rect l="0" t="0" r="r" b="b"/>
              <a:pathLst>
                <a:path w="650" h="549" fill="none">
                  <a:moveTo>
                    <a:pt x="0" y="549"/>
                  </a:moveTo>
                  <a:lnTo>
                    <a:pt x="650" y="0"/>
                  </a:lnTo>
                </a:path>
              </a:pathLst>
            </a:custGeom>
            <a:noFill/>
            <a:ln w="114300" cap="rnd">
              <a:solidFill>
                <a:srgbClr val="2E86C1"/>
              </a:solidFill>
              <a:round/>
            </a:ln>
          </p:spPr>
        </p:sp>
      </p:grpSp>
      <p:grpSp>
        <p:nvGrpSpPr>
          <p:cNvPr id="18" name="Caja globulinas"/>
          <p:cNvGrpSpPr/>
          <p:nvPr/>
        </p:nvGrpSpPr>
        <p:grpSpPr>
          <a:xfrm>
            <a:off x="3246120" y="3063240"/>
            <a:ext cx="5852160" cy="1463040"/>
            <a:chOff x="3246120" y="3063240"/>
            <a:chExt cx="5852160" cy="1463040"/>
          </a:xfrm>
        </p:grpSpPr>
        <p:sp>
          <p:nvSpPr>
            <p:cNvPr id="19" name="Forma 21"/>
            <p:cNvSpPr/>
            <p:nvPr/>
          </p:nvSpPr>
          <p:spPr>
            <a:xfrm>
              <a:off x="3246120" y="3264408"/>
              <a:ext cx="5852160" cy="126187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Clases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alfa, beta y gamma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Las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gamma-globulinas son los anticuerpos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(inmunoglobulinas), fundamentales para el sistema inmune.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0" name="Forma 22"/>
            <p:cNvSpPr/>
            <p:nvPr/>
          </p:nvSpPr>
          <p:spPr>
            <a:xfrm>
              <a:off x="3374136" y="3063240"/>
              <a:ext cx="131135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GLOBULINAS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!!Fibrinógeno"/>
          <p:cNvGrpSpPr/>
          <p:nvPr/>
        </p:nvGrpSpPr>
        <p:grpSpPr>
          <a:xfrm>
            <a:off x="365760" y="4937760"/>
            <a:ext cx="2560320" cy="1280160"/>
            <a:chOff x="365760" y="4937760"/>
            <a:chExt cx="2560320" cy="1280160"/>
          </a:xfrm>
        </p:grpSpPr>
        <p:sp>
          <p:nvSpPr>
            <p:cNvPr id="22" name="Flecha 24_2"/>
            <p:cNvSpPr/>
            <p:nvPr/>
          </p:nvSpPr>
          <p:spPr>
            <a:xfrm>
              <a:off x="457200" y="4937760"/>
              <a:ext cx="365760" cy="1280160"/>
            </a:xfrm>
            <a:custGeom>
              <a:avLst/>
              <a:gdLst/>
              <a:ahLst/>
              <a:cxnLst/>
              <a:rect l="0" t="0" r="r" b="b"/>
              <a:pathLst>
                <a:path w="400" h="1399" fill="none">
                  <a:moveTo>
                    <a:pt x="0" y="0"/>
                  </a:moveTo>
                  <a:lnTo>
                    <a:pt x="400" y="1399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23" name="Flecha 26_2"/>
            <p:cNvSpPr/>
            <p:nvPr/>
          </p:nvSpPr>
          <p:spPr>
            <a:xfrm>
              <a:off x="365760" y="5120640"/>
              <a:ext cx="2560320" cy="274320"/>
            </a:xfrm>
            <a:custGeom>
              <a:avLst/>
              <a:gdLst/>
              <a:ahLst/>
              <a:cxnLst/>
              <a:rect l="0" t="0" r="r" b="b"/>
              <a:pathLst>
                <a:path w="2800" h="300" fill="none">
                  <a:moveTo>
                    <a:pt x="0" y="0"/>
                  </a:moveTo>
                  <a:lnTo>
                    <a:pt x="2800" y="300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24" name="Flecha 28_2"/>
            <p:cNvSpPr/>
            <p:nvPr/>
          </p:nvSpPr>
          <p:spPr>
            <a:xfrm>
              <a:off x="868680" y="4937760"/>
              <a:ext cx="365760" cy="1280160"/>
            </a:xfrm>
            <a:custGeom>
              <a:avLst/>
              <a:gdLst/>
              <a:ahLst/>
              <a:cxnLst/>
              <a:rect l="0" t="0" r="r" b="b"/>
              <a:pathLst>
                <a:path w="400" h="1399" fill="none">
                  <a:moveTo>
                    <a:pt x="0" y="0"/>
                  </a:moveTo>
                  <a:lnTo>
                    <a:pt x="400" y="1399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25" name="Flecha 30_2"/>
            <p:cNvSpPr/>
            <p:nvPr/>
          </p:nvSpPr>
          <p:spPr>
            <a:xfrm>
              <a:off x="365760" y="5321808"/>
              <a:ext cx="2560320" cy="237744"/>
            </a:xfrm>
            <a:custGeom>
              <a:avLst/>
              <a:gdLst/>
              <a:ahLst/>
              <a:cxnLst/>
              <a:rect l="0" t="0" r="r" b="b"/>
              <a:pathLst>
                <a:path w="2800" h="260" fill="none">
                  <a:moveTo>
                    <a:pt x="0" y="0"/>
                  </a:moveTo>
                  <a:lnTo>
                    <a:pt x="2800" y="260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26" name="Flecha 32_2"/>
            <p:cNvSpPr/>
            <p:nvPr/>
          </p:nvSpPr>
          <p:spPr>
            <a:xfrm>
              <a:off x="1280160" y="4937760"/>
              <a:ext cx="365760" cy="1280160"/>
            </a:xfrm>
            <a:custGeom>
              <a:avLst/>
              <a:gdLst/>
              <a:ahLst/>
              <a:cxnLst/>
              <a:rect l="0" t="0" r="r" b="b"/>
              <a:pathLst>
                <a:path w="400" h="1399" fill="none">
                  <a:moveTo>
                    <a:pt x="0" y="0"/>
                  </a:moveTo>
                  <a:lnTo>
                    <a:pt x="400" y="1399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27" name="Flecha 34_2"/>
            <p:cNvSpPr/>
            <p:nvPr/>
          </p:nvSpPr>
          <p:spPr>
            <a:xfrm>
              <a:off x="365760" y="5522976"/>
              <a:ext cx="2560320" cy="201168"/>
            </a:xfrm>
            <a:custGeom>
              <a:avLst/>
              <a:gdLst/>
              <a:ahLst/>
              <a:cxnLst/>
              <a:rect l="0" t="0" r="r" b="b"/>
              <a:pathLst>
                <a:path w="2800" h="220" fill="none">
                  <a:moveTo>
                    <a:pt x="0" y="0"/>
                  </a:moveTo>
                  <a:lnTo>
                    <a:pt x="2800" y="220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28" name="Flecha 36_2"/>
            <p:cNvSpPr/>
            <p:nvPr/>
          </p:nvSpPr>
          <p:spPr>
            <a:xfrm>
              <a:off x="1691640" y="4937760"/>
              <a:ext cx="365760" cy="1280160"/>
            </a:xfrm>
            <a:custGeom>
              <a:avLst/>
              <a:gdLst/>
              <a:ahLst/>
              <a:cxnLst/>
              <a:rect l="0" t="0" r="r" b="b"/>
              <a:pathLst>
                <a:path w="399" h="1399" fill="none">
                  <a:moveTo>
                    <a:pt x="0" y="0"/>
                  </a:moveTo>
                  <a:lnTo>
                    <a:pt x="399" y="1399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29" name="Flecha 38_2"/>
            <p:cNvSpPr/>
            <p:nvPr/>
          </p:nvSpPr>
          <p:spPr>
            <a:xfrm>
              <a:off x="365760" y="5724144"/>
              <a:ext cx="2560320" cy="164592"/>
            </a:xfrm>
            <a:custGeom>
              <a:avLst/>
              <a:gdLst/>
              <a:ahLst/>
              <a:cxnLst/>
              <a:rect l="0" t="0" r="r" b="b"/>
              <a:pathLst>
                <a:path w="2800" h="180" fill="none">
                  <a:moveTo>
                    <a:pt x="0" y="0"/>
                  </a:moveTo>
                  <a:lnTo>
                    <a:pt x="2800" y="180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30" name="Flecha 40_2"/>
            <p:cNvSpPr/>
            <p:nvPr/>
          </p:nvSpPr>
          <p:spPr>
            <a:xfrm>
              <a:off x="2103120" y="4937760"/>
              <a:ext cx="365760" cy="1280160"/>
            </a:xfrm>
            <a:custGeom>
              <a:avLst/>
              <a:gdLst/>
              <a:ahLst/>
              <a:cxnLst/>
              <a:rect l="0" t="0" r="r" b="b"/>
              <a:pathLst>
                <a:path w="400" h="1399" fill="none">
                  <a:moveTo>
                    <a:pt x="0" y="0"/>
                  </a:moveTo>
                  <a:lnTo>
                    <a:pt x="400" y="1399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31" name="Flecha 42_2"/>
            <p:cNvSpPr/>
            <p:nvPr/>
          </p:nvSpPr>
          <p:spPr>
            <a:xfrm>
              <a:off x="365760" y="5925312"/>
              <a:ext cx="2560320" cy="128016"/>
            </a:xfrm>
            <a:custGeom>
              <a:avLst/>
              <a:gdLst/>
              <a:ahLst/>
              <a:cxnLst/>
              <a:rect l="0" t="0" r="r" b="b"/>
              <a:pathLst>
                <a:path w="2800" h="140" fill="none">
                  <a:moveTo>
                    <a:pt x="0" y="0"/>
                  </a:moveTo>
                  <a:lnTo>
                    <a:pt x="2800" y="140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32" name="Flecha 44_2"/>
            <p:cNvSpPr/>
            <p:nvPr/>
          </p:nvSpPr>
          <p:spPr>
            <a:xfrm>
              <a:off x="2514600" y="4937760"/>
              <a:ext cx="365760" cy="1280160"/>
            </a:xfrm>
            <a:custGeom>
              <a:avLst/>
              <a:gdLst/>
              <a:ahLst/>
              <a:cxnLst/>
              <a:rect l="0" t="0" r="r" b="b"/>
              <a:pathLst>
                <a:path w="399" h="1399" fill="none">
                  <a:moveTo>
                    <a:pt x="0" y="0"/>
                  </a:moveTo>
                  <a:lnTo>
                    <a:pt x="399" y="1399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  <p:sp>
          <p:nvSpPr>
            <p:cNvPr id="33" name="Flecha 46_2"/>
            <p:cNvSpPr/>
            <p:nvPr/>
          </p:nvSpPr>
          <p:spPr>
            <a:xfrm>
              <a:off x="365760" y="6126480"/>
              <a:ext cx="2560320" cy="91440"/>
            </a:xfrm>
            <a:custGeom>
              <a:avLst/>
              <a:gdLst/>
              <a:ahLst/>
              <a:cxnLst/>
              <a:rect l="0" t="0" r="r" b="b"/>
              <a:pathLst>
                <a:path w="2800" h="100" fill="none">
                  <a:moveTo>
                    <a:pt x="0" y="0"/>
                  </a:moveTo>
                  <a:lnTo>
                    <a:pt x="2800" y="100"/>
                  </a:lnTo>
                </a:path>
              </a:pathLst>
            </a:custGeom>
            <a:noFill/>
            <a:ln w="28575" cap="rnd">
              <a:solidFill>
                <a:srgbClr val="C0392B"/>
              </a:solidFill>
              <a:round/>
            </a:ln>
          </p:spPr>
        </p:sp>
      </p:grpSp>
      <p:grpSp>
        <p:nvGrpSpPr>
          <p:cNvPr id="34" name="Caja fibrinógeno"/>
          <p:cNvGrpSpPr/>
          <p:nvPr/>
        </p:nvGrpSpPr>
        <p:grpSpPr>
          <a:xfrm>
            <a:off x="3246120" y="4846320"/>
            <a:ext cx="5852160" cy="1600200"/>
            <a:chOff x="3246120" y="4846320"/>
            <a:chExt cx="5852160" cy="1600200"/>
          </a:xfrm>
        </p:grpSpPr>
        <p:sp>
          <p:nvSpPr>
            <p:cNvPr id="35" name="Forma 49"/>
            <p:cNvSpPr/>
            <p:nvPr/>
          </p:nvSpPr>
          <p:spPr>
            <a:xfrm>
              <a:off x="3246120" y="5047488"/>
              <a:ext cx="5852160" cy="13990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Principal proteína de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coagulación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se convierte en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fibrina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durante la formación del coágulo. Presente en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ausente en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36" name="Forma 50"/>
            <p:cNvSpPr/>
            <p:nvPr/>
          </p:nvSpPr>
          <p:spPr>
            <a:xfrm>
              <a:off x="3374136" y="4846320"/>
              <a:ext cx="141436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FIBRINÓGENO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7" name="Aminoácido deco"/>
          <p:cNvGrpSpPr/>
          <p:nvPr/>
        </p:nvGrpSpPr>
        <p:grpSpPr>
          <a:xfrm>
            <a:off x="9767954" y="1469231"/>
            <a:ext cx="2025425" cy="1834925"/>
            <a:chOff x="9767954" y="1469231"/>
            <a:chExt cx="2025425" cy="1834925"/>
          </a:xfrm>
        </p:grpSpPr>
        <p:sp>
          <p:nvSpPr>
            <p:cNvPr id="38" name="Flecha 52_2"/>
            <p:cNvSpPr/>
            <p:nvPr/>
          </p:nvSpPr>
          <p:spPr>
            <a:xfrm>
              <a:off x="10696575" y="2137410"/>
              <a:ext cx="476250" cy="238125"/>
            </a:xfrm>
            <a:custGeom>
              <a:avLst/>
              <a:gdLst/>
              <a:ahLst/>
              <a:cxnLst/>
              <a:rect l="0" t="0" r="r" b="b"/>
              <a:pathLst>
                <a:path w="520" h="260" fill="none">
                  <a:moveTo>
                    <a:pt x="0" y="260"/>
                  </a:moveTo>
                  <a:lnTo>
                    <a:pt x="520" y="0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39" name="Flecha 54_2"/>
            <p:cNvSpPr/>
            <p:nvPr/>
          </p:nvSpPr>
          <p:spPr>
            <a:xfrm>
              <a:off x="10696575" y="2137410"/>
              <a:ext cx="476250" cy="238125"/>
            </a:xfrm>
            <a:custGeom>
              <a:avLst/>
              <a:gdLst/>
              <a:ahLst/>
              <a:cxnLst/>
              <a:rect l="0" t="0" r="r" b="b"/>
              <a:pathLst>
                <a:path w="520" h="260" fill="none">
                  <a:moveTo>
                    <a:pt x="0" y="260"/>
                  </a:moveTo>
                  <a:lnTo>
                    <a:pt x="520" y="0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40" name="Flecha 56_2"/>
            <p:cNvSpPr/>
            <p:nvPr/>
          </p:nvSpPr>
          <p:spPr>
            <a:xfrm>
              <a:off x="11172825" y="2137410"/>
              <a:ext cx="428625" cy="190500"/>
            </a:xfrm>
            <a:custGeom>
              <a:avLst/>
              <a:gdLst/>
              <a:ahLst/>
              <a:cxnLst/>
              <a:rect l="0" t="0" r="r" b="b"/>
              <a:pathLst>
                <a:path w="468" h="208" fill="none">
                  <a:moveTo>
                    <a:pt x="0" y="0"/>
                  </a:moveTo>
                  <a:lnTo>
                    <a:pt x="468" y="208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41" name="Flecha 58_2"/>
            <p:cNvSpPr/>
            <p:nvPr/>
          </p:nvSpPr>
          <p:spPr>
            <a:xfrm>
              <a:off x="11172825" y="2137410"/>
              <a:ext cx="428625" cy="190500"/>
            </a:xfrm>
            <a:custGeom>
              <a:avLst/>
              <a:gdLst/>
              <a:ahLst/>
              <a:cxnLst/>
              <a:rect l="0" t="0" r="r" b="b"/>
              <a:pathLst>
                <a:path w="468" h="208" fill="none">
                  <a:moveTo>
                    <a:pt x="0" y="0"/>
                  </a:moveTo>
                  <a:lnTo>
                    <a:pt x="468" y="208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42" name="Flecha 60_2"/>
            <p:cNvSpPr/>
            <p:nvPr/>
          </p:nvSpPr>
          <p:spPr>
            <a:xfrm>
              <a:off x="11172825" y="1661160"/>
              <a:ext cx="47625" cy="476250"/>
            </a:xfrm>
            <a:custGeom>
              <a:avLst/>
              <a:gdLst/>
              <a:ahLst/>
              <a:cxnLst/>
              <a:rect l="0" t="0" r="r" b="b"/>
              <a:pathLst>
                <a:path w="52" h="520" fill="none">
                  <a:moveTo>
                    <a:pt x="0" y="520"/>
                  </a:moveTo>
                  <a:lnTo>
                    <a:pt x="52" y="0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43" name="Flecha 62_2"/>
            <p:cNvSpPr/>
            <p:nvPr/>
          </p:nvSpPr>
          <p:spPr>
            <a:xfrm>
              <a:off x="11172825" y="1661160"/>
              <a:ext cx="47625" cy="476250"/>
            </a:xfrm>
            <a:custGeom>
              <a:avLst/>
              <a:gdLst/>
              <a:ahLst/>
              <a:cxnLst/>
              <a:rect l="0" t="0" r="r" b="b"/>
              <a:pathLst>
                <a:path w="52" h="520" fill="none">
                  <a:moveTo>
                    <a:pt x="0" y="520"/>
                  </a:moveTo>
                  <a:lnTo>
                    <a:pt x="52" y="0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44" name="Flecha 64_2"/>
            <p:cNvSpPr/>
            <p:nvPr/>
          </p:nvSpPr>
          <p:spPr>
            <a:xfrm>
              <a:off x="10267950" y="2089785"/>
              <a:ext cx="428625" cy="285750"/>
            </a:xfrm>
            <a:custGeom>
              <a:avLst/>
              <a:gdLst/>
              <a:ahLst/>
              <a:cxnLst/>
              <a:rect l="0" t="0" r="r" b="b"/>
              <a:pathLst>
                <a:path w="468" h="312" fill="none">
                  <a:moveTo>
                    <a:pt x="468" y="312"/>
                  </a:moveTo>
                  <a:lnTo>
                    <a:pt x="0" y="0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45" name="Flecha 66_2"/>
            <p:cNvSpPr/>
            <p:nvPr/>
          </p:nvSpPr>
          <p:spPr>
            <a:xfrm>
              <a:off x="10267950" y="2089785"/>
              <a:ext cx="428625" cy="285750"/>
            </a:xfrm>
            <a:custGeom>
              <a:avLst/>
              <a:gdLst/>
              <a:ahLst/>
              <a:cxnLst/>
              <a:rect l="0" t="0" r="r" b="b"/>
              <a:pathLst>
                <a:path w="468" h="312" fill="none">
                  <a:moveTo>
                    <a:pt x="468" y="312"/>
                  </a:moveTo>
                  <a:lnTo>
                    <a:pt x="0" y="0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46" name="Flecha 68_2"/>
            <p:cNvSpPr/>
            <p:nvPr/>
          </p:nvSpPr>
          <p:spPr>
            <a:xfrm>
              <a:off x="9886950" y="2089785"/>
              <a:ext cx="381000" cy="190500"/>
            </a:xfrm>
            <a:custGeom>
              <a:avLst/>
              <a:gdLst/>
              <a:ahLst/>
              <a:cxnLst/>
              <a:rect l="0" t="0" r="r" b="b"/>
              <a:pathLst>
                <a:path w="416" h="208" fill="none">
                  <a:moveTo>
                    <a:pt x="416" y="0"/>
                  </a:moveTo>
                  <a:lnTo>
                    <a:pt x="0" y="208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47" name="Flecha 70_2"/>
            <p:cNvSpPr/>
            <p:nvPr/>
          </p:nvSpPr>
          <p:spPr>
            <a:xfrm>
              <a:off x="9886950" y="2089785"/>
              <a:ext cx="381000" cy="190500"/>
            </a:xfrm>
            <a:custGeom>
              <a:avLst/>
              <a:gdLst/>
              <a:ahLst/>
              <a:cxnLst/>
              <a:rect l="0" t="0" r="r" b="b"/>
              <a:pathLst>
                <a:path w="416" h="208" fill="none">
                  <a:moveTo>
                    <a:pt x="416" y="0"/>
                  </a:moveTo>
                  <a:lnTo>
                    <a:pt x="0" y="208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48" name="Flecha 72_2"/>
            <p:cNvSpPr/>
            <p:nvPr/>
          </p:nvSpPr>
          <p:spPr>
            <a:xfrm>
              <a:off x="10220325" y="1661160"/>
              <a:ext cx="47625" cy="428625"/>
            </a:xfrm>
            <a:custGeom>
              <a:avLst/>
              <a:gdLst/>
              <a:ahLst/>
              <a:cxnLst/>
              <a:rect l="0" t="0" r="r" b="b"/>
              <a:pathLst>
                <a:path w="52" h="468" fill="none">
                  <a:moveTo>
                    <a:pt x="52" y="468"/>
                  </a:moveTo>
                  <a:lnTo>
                    <a:pt x="0" y="0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49" name="Flecha 74_2"/>
            <p:cNvSpPr/>
            <p:nvPr/>
          </p:nvSpPr>
          <p:spPr>
            <a:xfrm>
              <a:off x="10220325" y="1661160"/>
              <a:ext cx="47625" cy="428625"/>
            </a:xfrm>
            <a:custGeom>
              <a:avLst/>
              <a:gdLst/>
              <a:ahLst/>
              <a:cxnLst/>
              <a:rect l="0" t="0" r="r" b="b"/>
              <a:pathLst>
                <a:path w="52" h="468" fill="none">
                  <a:moveTo>
                    <a:pt x="52" y="468"/>
                  </a:moveTo>
                  <a:lnTo>
                    <a:pt x="0" y="0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50" name="Flecha 76_2"/>
            <p:cNvSpPr/>
            <p:nvPr/>
          </p:nvSpPr>
          <p:spPr>
            <a:xfrm>
              <a:off x="10696575" y="2375535"/>
              <a:ext cx="9144" cy="523875"/>
            </a:xfrm>
            <a:custGeom>
              <a:avLst/>
              <a:gdLst/>
              <a:ahLst/>
              <a:cxnLst/>
              <a:rect l="0" t="0" r="r" b="b"/>
              <a:pathLst>
                <a:path w="10" h="572" fill="none">
                  <a:moveTo>
                    <a:pt x="0" y="0"/>
                  </a:moveTo>
                  <a:lnTo>
                    <a:pt x="0" y="572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51" name="Flecha 78_2"/>
            <p:cNvSpPr/>
            <p:nvPr/>
          </p:nvSpPr>
          <p:spPr>
            <a:xfrm>
              <a:off x="10696575" y="2375535"/>
              <a:ext cx="9144" cy="523875"/>
            </a:xfrm>
            <a:custGeom>
              <a:avLst/>
              <a:gdLst/>
              <a:ahLst/>
              <a:cxnLst/>
              <a:rect l="0" t="0" r="r" b="b"/>
              <a:pathLst>
                <a:path w="10" h="572" fill="none">
                  <a:moveTo>
                    <a:pt x="0" y="0"/>
                  </a:moveTo>
                  <a:lnTo>
                    <a:pt x="0" y="572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52" name="Flecha 80_2"/>
            <p:cNvSpPr/>
            <p:nvPr/>
          </p:nvSpPr>
          <p:spPr>
            <a:xfrm>
              <a:off x="10696575" y="2899410"/>
              <a:ext cx="333375" cy="285750"/>
            </a:xfrm>
            <a:custGeom>
              <a:avLst/>
              <a:gdLst/>
              <a:ahLst/>
              <a:cxnLst/>
              <a:rect l="0" t="0" r="r" b="b"/>
              <a:pathLst>
                <a:path w="364" h="312" fill="none">
                  <a:moveTo>
                    <a:pt x="0" y="0"/>
                  </a:moveTo>
                  <a:lnTo>
                    <a:pt x="364" y="312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53" name="Flecha 82_2"/>
            <p:cNvSpPr/>
            <p:nvPr/>
          </p:nvSpPr>
          <p:spPr>
            <a:xfrm>
              <a:off x="10696575" y="2899410"/>
              <a:ext cx="333375" cy="285750"/>
            </a:xfrm>
            <a:custGeom>
              <a:avLst/>
              <a:gdLst/>
              <a:ahLst/>
              <a:cxnLst/>
              <a:rect l="0" t="0" r="r" b="b"/>
              <a:pathLst>
                <a:path w="364" h="312" fill="none">
                  <a:moveTo>
                    <a:pt x="0" y="0"/>
                  </a:moveTo>
                  <a:lnTo>
                    <a:pt x="364" y="312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54" name="Flecha 84_2"/>
            <p:cNvSpPr/>
            <p:nvPr/>
          </p:nvSpPr>
          <p:spPr>
            <a:xfrm>
              <a:off x="10363200" y="2899410"/>
              <a:ext cx="333375" cy="285750"/>
            </a:xfrm>
            <a:custGeom>
              <a:avLst/>
              <a:gdLst/>
              <a:ahLst/>
              <a:cxnLst/>
              <a:rect l="0" t="0" r="r" b="b"/>
              <a:pathLst>
                <a:path w="364" h="312" fill="none">
                  <a:moveTo>
                    <a:pt x="364" y="0"/>
                  </a:moveTo>
                  <a:lnTo>
                    <a:pt x="0" y="312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55" name="Flecha 86_2"/>
            <p:cNvSpPr/>
            <p:nvPr/>
          </p:nvSpPr>
          <p:spPr>
            <a:xfrm>
              <a:off x="10363200" y="2899410"/>
              <a:ext cx="333375" cy="285750"/>
            </a:xfrm>
            <a:custGeom>
              <a:avLst/>
              <a:gdLst/>
              <a:ahLst/>
              <a:cxnLst/>
              <a:rect l="0" t="0" r="r" b="b"/>
              <a:pathLst>
                <a:path w="364" h="312" fill="none">
                  <a:moveTo>
                    <a:pt x="364" y="0"/>
                  </a:moveTo>
                  <a:lnTo>
                    <a:pt x="0" y="312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56" name="Flecha 88_2"/>
            <p:cNvSpPr/>
            <p:nvPr/>
          </p:nvSpPr>
          <p:spPr>
            <a:xfrm>
              <a:off x="10458450" y="2375535"/>
              <a:ext cx="238125" cy="166687"/>
            </a:xfrm>
            <a:custGeom>
              <a:avLst/>
              <a:gdLst/>
              <a:ahLst/>
              <a:cxnLst/>
              <a:rect l="0" t="0" r="r" b="b"/>
              <a:pathLst>
                <a:path w="260" h="182" fill="none">
                  <a:moveTo>
                    <a:pt x="260" y="0"/>
                  </a:moveTo>
                  <a:lnTo>
                    <a:pt x="0" y="182"/>
                  </a:lnTo>
                </a:path>
              </a:pathLst>
            </a:custGeom>
            <a:noFill/>
            <a:ln w="105833" cap="rnd">
              <a:solidFill>
                <a:srgbClr val="B9B9B9"/>
              </a:solidFill>
              <a:round/>
            </a:ln>
          </p:spPr>
        </p:sp>
        <p:sp>
          <p:nvSpPr>
            <p:cNvPr id="57" name="Flecha 90_2"/>
            <p:cNvSpPr/>
            <p:nvPr/>
          </p:nvSpPr>
          <p:spPr>
            <a:xfrm>
              <a:off x="10458450" y="2375535"/>
              <a:ext cx="238125" cy="166687"/>
            </a:xfrm>
            <a:custGeom>
              <a:avLst/>
              <a:gdLst/>
              <a:ahLst/>
              <a:cxnLst/>
              <a:rect l="0" t="0" r="r" b="b"/>
              <a:pathLst>
                <a:path w="260" h="182" fill="none">
                  <a:moveTo>
                    <a:pt x="260" y="0"/>
                  </a:moveTo>
                  <a:lnTo>
                    <a:pt x="0" y="182"/>
                  </a:lnTo>
                </a:path>
              </a:pathLst>
            </a:custGeom>
            <a:noFill/>
            <a:ln w="59531" cap="rnd">
              <a:solidFill>
                <a:srgbClr val="FFFFFF"/>
              </a:solidFill>
              <a:round/>
            </a:ln>
          </p:spPr>
        </p:sp>
        <p:sp>
          <p:nvSpPr>
            <p:cNvPr id="58" name="Forma 92"/>
            <p:cNvSpPr/>
            <p:nvPr/>
          </p:nvSpPr>
          <p:spPr>
            <a:xfrm>
              <a:off x="9767954" y="2161289"/>
              <a:ext cx="237992" cy="23799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9" name="Forma 93"/>
            <p:cNvSpPr/>
            <p:nvPr/>
          </p:nvSpPr>
          <p:spPr>
            <a:xfrm>
              <a:off x="10101329" y="1542164"/>
              <a:ext cx="237992" cy="23799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0" name="Forma 94"/>
            <p:cNvSpPr/>
            <p:nvPr/>
          </p:nvSpPr>
          <p:spPr>
            <a:xfrm>
              <a:off x="10910954" y="3066164"/>
              <a:ext cx="237992" cy="23799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1" name="Forma 95"/>
            <p:cNvSpPr/>
            <p:nvPr/>
          </p:nvSpPr>
          <p:spPr>
            <a:xfrm>
              <a:off x="10244204" y="3066164"/>
              <a:ext cx="237992" cy="23799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2" name="Forma 96"/>
            <p:cNvSpPr/>
            <p:nvPr/>
          </p:nvSpPr>
          <p:spPr>
            <a:xfrm>
              <a:off x="10339454" y="2423227"/>
              <a:ext cx="237992" cy="23799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3" name="Forma 97"/>
            <p:cNvSpPr/>
            <p:nvPr/>
          </p:nvSpPr>
          <p:spPr>
            <a:xfrm>
              <a:off x="10504646" y="2183606"/>
              <a:ext cx="383858" cy="3838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4" name="Forma 98"/>
            <p:cNvSpPr/>
            <p:nvPr/>
          </p:nvSpPr>
          <p:spPr>
            <a:xfrm>
              <a:off x="10980896" y="1945481"/>
              <a:ext cx="383858" cy="3838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5" name="Forma 99"/>
            <p:cNvSpPr/>
            <p:nvPr/>
          </p:nvSpPr>
          <p:spPr>
            <a:xfrm>
              <a:off x="11409521" y="2135981"/>
              <a:ext cx="383858" cy="3838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6" name="Forma 100"/>
            <p:cNvSpPr/>
            <p:nvPr/>
          </p:nvSpPr>
          <p:spPr>
            <a:xfrm>
              <a:off x="11028521" y="1469231"/>
              <a:ext cx="383858" cy="3838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7" name="Forma 101"/>
            <p:cNvSpPr/>
            <p:nvPr/>
          </p:nvSpPr>
          <p:spPr>
            <a:xfrm>
              <a:off x="10076021" y="1897856"/>
              <a:ext cx="383858" cy="3838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8" name="Forma 102"/>
            <p:cNvSpPr/>
            <p:nvPr/>
          </p:nvSpPr>
          <p:spPr>
            <a:xfrm>
              <a:off x="10504646" y="2707481"/>
              <a:ext cx="383858" cy="38385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69" name="Síntesis proteínas"/>
          <p:cNvSpPr/>
          <p:nvPr/>
        </p:nvSpPr>
        <p:spPr>
          <a:xfrm>
            <a:off x="9509760" y="3931920"/>
            <a:ext cx="2514600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Las tres sostienen la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presión osmótica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plasma.</a:t>
            </a:r>
            <a:endParaRPr lang="es-AR" sz="20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LAS TRES PROTEÍNAS PLASMÁTICAS MÁS IMPORTANTES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7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!!Eritrocito"/>
          <p:cNvSpPr/>
          <p:nvPr/>
        </p:nvSpPr>
        <p:spPr>
          <a:xfrm>
            <a:off x="548640" y="1143000"/>
            <a:ext cx="3017520" cy="30175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6" name="!!Eritrocito perfil"/>
          <p:cNvSpPr/>
          <p:nvPr/>
        </p:nvSpPr>
        <p:spPr>
          <a:xfrm>
            <a:off x="457200" y="4480560"/>
            <a:ext cx="3291840" cy="118506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0" y="425"/>
                  <a:pt x="34" y="233"/>
                  <a:pt x="60" y="180"/>
                </a:cubicBezTo>
                <a:cubicBezTo>
                  <a:pt x="85" y="126"/>
                  <a:pt x="182" y="47"/>
                  <a:pt x="220" y="40"/>
                </a:cubicBezTo>
                <a:cubicBezTo>
                  <a:pt x="257" y="33"/>
                  <a:pt x="347" y="89"/>
                  <a:pt x="380" y="120"/>
                </a:cubicBezTo>
                <a:cubicBezTo>
                  <a:pt x="412" y="150"/>
                  <a:pt x="472" y="300"/>
                  <a:pt x="500" y="300"/>
                </a:cubicBezTo>
                <a:cubicBezTo>
                  <a:pt x="528" y="300"/>
                  <a:pt x="587" y="150"/>
                  <a:pt x="620" y="120"/>
                </a:cubicBezTo>
                <a:cubicBezTo>
                  <a:pt x="652" y="89"/>
                  <a:pt x="742" y="33"/>
                  <a:pt x="780" y="40"/>
                </a:cubicBezTo>
                <a:cubicBezTo>
                  <a:pt x="817" y="47"/>
                  <a:pt x="914" y="126"/>
                  <a:pt x="940" y="180"/>
                </a:cubicBezTo>
                <a:cubicBezTo>
                  <a:pt x="965" y="233"/>
                  <a:pt x="1000" y="425"/>
                  <a:pt x="1000" y="500"/>
                </a:cubicBezTo>
                <a:cubicBezTo>
                  <a:pt x="1000" y="574"/>
                  <a:pt x="965" y="766"/>
                  <a:pt x="940" y="820"/>
                </a:cubicBezTo>
                <a:cubicBezTo>
                  <a:pt x="914" y="873"/>
                  <a:pt x="817" y="953"/>
                  <a:pt x="780" y="960"/>
                </a:cubicBezTo>
                <a:cubicBezTo>
                  <a:pt x="742" y="967"/>
                  <a:pt x="652" y="910"/>
                  <a:pt x="620" y="880"/>
                </a:cubicBezTo>
                <a:cubicBezTo>
                  <a:pt x="587" y="849"/>
                  <a:pt x="528" y="700"/>
                  <a:pt x="500" y="700"/>
                </a:cubicBezTo>
                <a:cubicBezTo>
                  <a:pt x="472" y="700"/>
                  <a:pt x="412" y="849"/>
                  <a:pt x="380" y="880"/>
                </a:cubicBezTo>
                <a:cubicBezTo>
                  <a:pt x="347" y="910"/>
                  <a:pt x="257" y="967"/>
                  <a:pt x="220" y="960"/>
                </a:cubicBezTo>
                <a:cubicBezTo>
                  <a:pt x="182" y="953"/>
                  <a:pt x="85" y="873"/>
                  <a:pt x="60" y="820"/>
                </a:cubicBezTo>
                <a:cubicBezTo>
                  <a:pt x="34" y="766"/>
                  <a:pt x="0" y="574"/>
                  <a:pt x="0" y="500"/>
                </a:cubicBezTo>
                <a:close/>
              </a:path>
            </a:pathLst>
          </a:custGeom>
          <a:gradFill rotWithShape="1">
            <a:gsLst>
              <a:gs pos="0">
                <a:srgbClr val="7C251B"/>
              </a:gs>
              <a:gs pos="30000">
                <a:srgbClr val="D2746A"/>
              </a:gs>
              <a:gs pos="55000">
                <a:srgbClr val="C0392B"/>
              </a:gs>
              <a:gs pos="100000">
                <a:srgbClr val="7C251B"/>
              </a:gs>
            </a:gsLst>
            <a:lin ang="5400000" scaled="0"/>
          </a:gradFill>
          <a:ln w="15875" cap="rnd">
            <a:solidFill>
              <a:srgbClr val="6E1A12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sp>
        <p:nvSpPr>
          <p:cNvPr id="7" name="Forma 6"/>
          <p:cNvSpPr txBox="1"/>
          <p:nvPr/>
        </p:nvSpPr>
        <p:spPr>
          <a:xfrm>
            <a:off x="457200" y="58064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6E1A12"/>
                </a:solidFill>
                <a:latin typeface="Calibri"/>
                <a:ea typeface="Calibri"/>
                <a:cs typeface="Calibri"/>
                <a:sym typeface="Calibri"/>
              </a:rPr>
              <a:t>Corte: ancho en los bordes, fino en el centro</a:t>
            </a:r>
            <a:endParaRPr lang="es-AR" sz="1300" dirty="0">
              <a:latin typeface="Calibri"/>
            </a:endParaRPr>
          </a:p>
        </p:txBody>
      </p:sp>
      <p:grpSp>
        <p:nvGrpSpPr>
          <p:cNvPr id="8" name="!!Hemoglobina"/>
          <p:cNvGrpSpPr/>
          <p:nvPr/>
        </p:nvGrpSpPr>
        <p:grpSpPr>
          <a:xfrm>
            <a:off x="4292194" y="1366114"/>
            <a:ext cx="1931213" cy="1931213"/>
            <a:chOff x="4292194" y="1366114"/>
            <a:chExt cx="1931213" cy="1931213"/>
          </a:xfrm>
        </p:grpSpPr>
        <p:sp>
          <p:nvSpPr>
            <p:cNvPr id="9" name="Forma 8"/>
            <p:cNvSpPr/>
            <p:nvPr/>
          </p:nvSpPr>
          <p:spPr>
            <a:xfrm>
              <a:off x="4292194" y="1366114"/>
              <a:ext cx="1053389" cy="1053389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10972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1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312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665269" y="1936699"/>
              <a:ext cx="307238" cy="307238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5170018" y="1366114"/>
              <a:ext cx="1053389" cy="1053389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10972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1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312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5543093" y="1936699"/>
              <a:ext cx="307238" cy="307238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4292194" y="2243938"/>
              <a:ext cx="1053389" cy="1053389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10972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1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312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4665269" y="2814523"/>
              <a:ext cx="307238" cy="307238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5170018" y="2243938"/>
              <a:ext cx="1053389" cy="1053389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10972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1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312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5543093" y="2814523"/>
              <a:ext cx="307238" cy="307238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</p:grpSp>
      <p:sp>
        <p:nvSpPr>
          <p:cNvPr id="17" name="Rótulo hemoglobina"/>
          <p:cNvSpPr/>
          <p:nvPr/>
        </p:nvSpPr>
        <p:spPr>
          <a:xfrm>
            <a:off x="3931920" y="3611880"/>
            <a:ext cx="402336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Hemoglobina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4 cadenas de globina + 4 grupos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hemo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cada hemo tiene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un átomo de hierro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que une O</a:t>
            </a:r>
            <a:r>
              <a:rPr lang="es-AR" sz="190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00" dirty="0">
              <a:latin typeface="Calibri"/>
            </a:endParaRPr>
          </a:p>
        </p:txBody>
      </p:sp>
      <p:sp>
        <p:nvSpPr>
          <p:cNvPr id="18" name="!!O2"/>
          <p:cNvSpPr/>
          <p:nvPr/>
        </p:nvSpPr>
        <p:spPr>
          <a:xfrm>
            <a:off x="6583680" y="13716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9" name="!!CO2"/>
          <p:cNvSpPr/>
          <p:nvPr/>
        </p:nvSpPr>
        <p:spPr>
          <a:xfrm>
            <a:off x="6583680" y="2377440"/>
            <a:ext cx="82296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20" name="Función"/>
          <p:cNvSpPr/>
          <p:nvPr/>
        </p:nvSpPr>
        <p:spPr>
          <a:xfrm>
            <a:off x="3931920" y="5166360"/>
            <a:ext cx="4023360" cy="12801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Transporta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9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los pulmones a los tejidos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9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los tejidos a los pulmones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21" name="Características GR"/>
          <p:cNvGrpSpPr/>
          <p:nvPr/>
        </p:nvGrpSpPr>
        <p:grpSpPr>
          <a:xfrm>
            <a:off x="8549640" y="1097280"/>
            <a:ext cx="3383280" cy="2377440"/>
            <a:chOff x="8549640" y="1097280"/>
            <a:chExt cx="3383280" cy="2377440"/>
          </a:xfrm>
        </p:grpSpPr>
        <p:sp>
          <p:nvSpPr>
            <p:cNvPr id="22" name="Forma 21"/>
            <p:cNvSpPr/>
            <p:nvPr/>
          </p:nvSpPr>
          <p:spPr>
            <a:xfrm>
              <a:off x="8549640" y="12984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52400" indent="-15240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Componente celular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abundante</a:t>
              </a:r>
              <a:endParaRPr lang="es-AR" sz="1600" dirty="0">
                <a:latin typeface="Calibri"/>
              </a:endParaRPr>
            </a:p>
            <a:p>
              <a:pPr algn="l" marL="152400" indent="-15240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Anucleado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(solo sus precursores, los eritroblastos, tienen núcleo)</a:t>
              </a:r>
              <a:endParaRPr lang="es-AR" sz="1600" dirty="0">
                <a:latin typeface="Calibri"/>
              </a:endParaRPr>
            </a:p>
            <a:p>
              <a:pPr algn="l" marL="152400" indent="-15240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Molécula principal: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1097280"/>
              <a:ext cx="170580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CARACTERÍSTICAS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VR GR"/>
          <p:cNvGrpSpPr/>
          <p:nvPr/>
        </p:nvGrpSpPr>
        <p:grpSpPr>
          <a:xfrm>
            <a:off x="8549640" y="3794760"/>
            <a:ext cx="3383280" cy="1371600"/>
            <a:chOff x="8549640" y="3794760"/>
            <a:chExt cx="3383280" cy="1371600"/>
          </a:xfrm>
        </p:grpSpPr>
        <p:sp>
          <p:nvSpPr>
            <p:cNvPr id="25" name="Forma 24"/>
            <p:cNvSpPr/>
            <p:nvPr/>
          </p:nvSpPr>
          <p:spPr>
            <a:xfrm>
              <a:off x="8549640" y="3995928"/>
              <a:ext cx="3383280" cy="11704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4,5 – 6 millones / mm</a:t>
              </a:r>
              <a:r>
                <a:rPr lang="es-AR" sz="22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3794760"/>
              <a:ext cx="207847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DE REFERENCIA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7" name="Grupo hemo deco"/>
          <p:cNvGrpSpPr/>
          <p:nvPr/>
        </p:nvGrpSpPr>
        <p:grpSpPr>
          <a:xfrm>
            <a:off x="9574095" y="5322135"/>
            <a:ext cx="1242931" cy="1242931"/>
            <a:chOff x="9574095" y="5322135"/>
            <a:chExt cx="1242931" cy="1242931"/>
          </a:xfrm>
        </p:grpSpPr>
        <p:sp>
          <p:nvSpPr>
            <p:cNvPr id="28" name="Flecha 27_2"/>
            <p:cNvSpPr/>
            <p:nvPr/>
          </p:nvSpPr>
          <p:spPr>
            <a:xfrm>
              <a:off x="10195560" y="594360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0" y="0"/>
                  </a:moveTo>
                  <a:lnTo>
                    <a:pt x="321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29" name="Flecha 29_2"/>
            <p:cNvSpPr/>
            <p:nvPr/>
          </p:nvSpPr>
          <p:spPr>
            <a:xfrm>
              <a:off x="10195560" y="594360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0" y="0"/>
                  </a:moveTo>
                  <a:lnTo>
                    <a:pt x="321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0" name="Flecha 31_2"/>
            <p:cNvSpPr/>
            <p:nvPr/>
          </p:nvSpPr>
          <p:spPr>
            <a:xfrm>
              <a:off x="9901646" y="594360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321" y="0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1" name="Flecha 33_2"/>
            <p:cNvSpPr/>
            <p:nvPr/>
          </p:nvSpPr>
          <p:spPr>
            <a:xfrm>
              <a:off x="9901646" y="594360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321" y="0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2" name="Flecha 35_2"/>
            <p:cNvSpPr/>
            <p:nvPr/>
          </p:nvSpPr>
          <p:spPr>
            <a:xfrm>
              <a:off x="10195560" y="5943600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0"/>
                  </a:moveTo>
                  <a:lnTo>
                    <a:pt x="0" y="321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3" name="Flecha 37_2"/>
            <p:cNvSpPr/>
            <p:nvPr/>
          </p:nvSpPr>
          <p:spPr>
            <a:xfrm>
              <a:off x="10195560" y="5943600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0"/>
                  </a:moveTo>
                  <a:lnTo>
                    <a:pt x="0" y="321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4" name="Flecha 39_2"/>
            <p:cNvSpPr/>
            <p:nvPr/>
          </p:nvSpPr>
          <p:spPr>
            <a:xfrm>
              <a:off x="10195560" y="5649686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321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5" name="Flecha 41_2"/>
            <p:cNvSpPr/>
            <p:nvPr/>
          </p:nvSpPr>
          <p:spPr>
            <a:xfrm>
              <a:off x="10195560" y="5649686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321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6" name="Flecha 43_2"/>
            <p:cNvSpPr/>
            <p:nvPr/>
          </p:nvSpPr>
          <p:spPr>
            <a:xfrm>
              <a:off x="10489474" y="594360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0"/>
                  </a:moveTo>
                  <a:lnTo>
                    <a:pt x="214" y="285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7" name="Flecha 45_2"/>
            <p:cNvSpPr/>
            <p:nvPr/>
          </p:nvSpPr>
          <p:spPr>
            <a:xfrm>
              <a:off x="10489474" y="594360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0"/>
                  </a:moveTo>
                  <a:lnTo>
                    <a:pt x="214" y="285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8" name="Flecha 47_2"/>
            <p:cNvSpPr/>
            <p:nvPr/>
          </p:nvSpPr>
          <p:spPr>
            <a:xfrm>
              <a:off x="10489474" y="568234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285"/>
                  </a:moveTo>
                  <a:lnTo>
                    <a:pt x="214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9" name="Flecha 49_2"/>
            <p:cNvSpPr/>
            <p:nvPr/>
          </p:nvSpPr>
          <p:spPr>
            <a:xfrm>
              <a:off x="10489474" y="568234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285"/>
                  </a:moveTo>
                  <a:lnTo>
                    <a:pt x="214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40" name="Flecha 51_2"/>
            <p:cNvSpPr/>
            <p:nvPr/>
          </p:nvSpPr>
          <p:spPr>
            <a:xfrm>
              <a:off x="9705703" y="594360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0"/>
                  </a:moveTo>
                  <a:lnTo>
                    <a:pt x="0" y="285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41" name="Flecha 53_2"/>
            <p:cNvSpPr/>
            <p:nvPr/>
          </p:nvSpPr>
          <p:spPr>
            <a:xfrm>
              <a:off x="9705703" y="594360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0"/>
                  </a:moveTo>
                  <a:lnTo>
                    <a:pt x="0" y="285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42" name="Flecha 55_2"/>
            <p:cNvSpPr/>
            <p:nvPr/>
          </p:nvSpPr>
          <p:spPr>
            <a:xfrm>
              <a:off x="9705703" y="568234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285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43" name="Flecha 57_2"/>
            <p:cNvSpPr/>
            <p:nvPr/>
          </p:nvSpPr>
          <p:spPr>
            <a:xfrm>
              <a:off x="9705703" y="568234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285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44" name="Flecha 59_2"/>
            <p:cNvSpPr/>
            <p:nvPr/>
          </p:nvSpPr>
          <p:spPr>
            <a:xfrm>
              <a:off x="10195560" y="623751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0"/>
                  </a:moveTo>
                  <a:lnTo>
                    <a:pt x="285" y="214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45" name="Flecha 61_2"/>
            <p:cNvSpPr/>
            <p:nvPr/>
          </p:nvSpPr>
          <p:spPr>
            <a:xfrm>
              <a:off x="10195560" y="623751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0"/>
                  </a:moveTo>
                  <a:lnTo>
                    <a:pt x="285" y="214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46" name="Flecha 63_2"/>
            <p:cNvSpPr/>
            <p:nvPr/>
          </p:nvSpPr>
          <p:spPr>
            <a:xfrm>
              <a:off x="9934303" y="623751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0"/>
                  </a:moveTo>
                  <a:lnTo>
                    <a:pt x="0" y="214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47" name="Flecha 65_2"/>
            <p:cNvSpPr/>
            <p:nvPr/>
          </p:nvSpPr>
          <p:spPr>
            <a:xfrm>
              <a:off x="9934303" y="623751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0"/>
                  </a:moveTo>
                  <a:lnTo>
                    <a:pt x="0" y="214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48" name="Flecha 67_2"/>
            <p:cNvSpPr/>
            <p:nvPr/>
          </p:nvSpPr>
          <p:spPr>
            <a:xfrm>
              <a:off x="10195560" y="545374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214"/>
                  </a:moveTo>
                  <a:lnTo>
                    <a:pt x="285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49" name="Flecha 69_2"/>
            <p:cNvSpPr/>
            <p:nvPr/>
          </p:nvSpPr>
          <p:spPr>
            <a:xfrm>
              <a:off x="10195560" y="545374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214"/>
                  </a:moveTo>
                  <a:lnTo>
                    <a:pt x="285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50" name="Flecha 71_2"/>
            <p:cNvSpPr/>
            <p:nvPr/>
          </p:nvSpPr>
          <p:spPr>
            <a:xfrm>
              <a:off x="9934303" y="545374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214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51" name="Flecha 73_2"/>
            <p:cNvSpPr/>
            <p:nvPr/>
          </p:nvSpPr>
          <p:spPr>
            <a:xfrm>
              <a:off x="9934303" y="545374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214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52" name="Flecha 75_2"/>
            <p:cNvSpPr/>
            <p:nvPr/>
          </p:nvSpPr>
          <p:spPr>
            <a:xfrm>
              <a:off x="10456817" y="620485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250" y="0"/>
                  </a:moveTo>
                  <a:lnTo>
                    <a:pt x="0" y="25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53" name="Flecha 77_2"/>
            <p:cNvSpPr/>
            <p:nvPr/>
          </p:nvSpPr>
          <p:spPr>
            <a:xfrm>
              <a:off x="10456817" y="620485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250" y="0"/>
                  </a:moveTo>
                  <a:lnTo>
                    <a:pt x="0" y="25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54" name="Flecha 79_2"/>
            <p:cNvSpPr/>
            <p:nvPr/>
          </p:nvSpPr>
          <p:spPr>
            <a:xfrm>
              <a:off x="9705703" y="620485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0" y="0"/>
                  </a:moveTo>
                  <a:lnTo>
                    <a:pt x="250" y="25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55" name="Flecha 81_2"/>
            <p:cNvSpPr/>
            <p:nvPr/>
          </p:nvSpPr>
          <p:spPr>
            <a:xfrm>
              <a:off x="9705703" y="620485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0" y="0"/>
                  </a:moveTo>
                  <a:lnTo>
                    <a:pt x="250" y="25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56" name="Flecha 83_2"/>
            <p:cNvSpPr/>
            <p:nvPr/>
          </p:nvSpPr>
          <p:spPr>
            <a:xfrm>
              <a:off x="10456817" y="545374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250" y="250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57" name="Flecha 85_2"/>
            <p:cNvSpPr/>
            <p:nvPr/>
          </p:nvSpPr>
          <p:spPr>
            <a:xfrm>
              <a:off x="10456817" y="545374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250" y="250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58" name="Flecha 87_2"/>
            <p:cNvSpPr/>
            <p:nvPr/>
          </p:nvSpPr>
          <p:spPr>
            <a:xfrm>
              <a:off x="9705703" y="545374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0" y="250"/>
                  </a:moveTo>
                  <a:lnTo>
                    <a:pt x="25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59" name="Flecha 89_2"/>
            <p:cNvSpPr/>
            <p:nvPr/>
          </p:nvSpPr>
          <p:spPr>
            <a:xfrm>
              <a:off x="9705703" y="545374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0" y="250"/>
                  </a:moveTo>
                  <a:lnTo>
                    <a:pt x="25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60" name="Forma 91"/>
            <p:cNvSpPr/>
            <p:nvPr/>
          </p:nvSpPr>
          <p:spPr>
            <a:xfrm>
              <a:off x="10357866" y="5811992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1" name="Forma 92"/>
            <p:cNvSpPr/>
            <p:nvPr/>
          </p:nvSpPr>
          <p:spPr>
            <a:xfrm>
              <a:off x="9770037" y="5811992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2" name="Forma 93"/>
            <p:cNvSpPr/>
            <p:nvPr/>
          </p:nvSpPr>
          <p:spPr>
            <a:xfrm>
              <a:off x="10063952" y="6105906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3" name="Forma 94"/>
            <p:cNvSpPr/>
            <p:nvPr/>
          </p:nvSpPr>
          <p:spPr>
            <a:xfrm>
              <a:off x="10063952" y="5518077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4" name="Forma 95"/>
            <p:cNvSpPr/>
            <p:nvPr/>
          </p:nvSpPr>
          <p:spPr>
            <a:xfrm>
              <a:off x="10553809" y="607324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5" name="Forma 96"/>
            <p:cNvSpPr/>
            <p:nvPr/>
          </p:nvSpPr>
          <p:spPr>
            <a:xfrm>
              <a:off x="9574095" y="607324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6" name="Forma 97"/>
            <p:cNvSpPr/>
            <p:nvPr/>
          </p:nvSpPr>
          <p:spPr>
            <a:xfrm>
              <a:off x="10553809" y="555073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7" name="Forma 98"/>
            <p:cNvSpPr/>
            <p:nvPr/>
          </p:nvSpPr>
          <p:spPr>
            <a:xfrm>
              <a:off x="9574095" y="555073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8" name="Forma 99"/>
            <p:cNvSpPr/>
            <p:nvPr/>
          </p:nvSpPr>
          <p:spPr>
            <a:xfrm>
              <a:off x="10325209" y="630184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9" name="Forma 100"/>
            <p:cNvSpPr/>
            <p:nvPr/>
          </p:nvSpPr>
          <p:spPr>
            <a:xfrm>
              <a:off x="9802695" y="630184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0" name="Forma 101"/>
            <p:cNvSpPr/>
            <p:nvPr/>
          </p:nvSpPr>
          <p:spPr>
            <a:xfrm>
              <a:off x="10325209" y="532213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1" name="Forma 102"/>
            <p:cNvSpPr/>
            <p:nvPr/>
          </p:nvSpPr>
          <p:spPr>
            <a:xfrm>
              <a:off x="9802695" y="532213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2" name="Forma 103"/>
            <p:cNvSpPr/>
            <p:nvPr/>
          </p:nvSpPr>
          <p:spPr>
            <a:xfrm>
              <a:off x="10037630" y="5785670"/>
              <a:ext cx="315860" cy="3158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DE7E3F"/>
                </a:gs>
                <a:gs pos="75000">
                  <a:srgbClr val="D35400"/>
                </a:gs>
                <a:gs pos="100000">
                  <a:srgbClr val="933A00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ERITROCITO: DISCO BICÓNCAVO SIN NÚCLEO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7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200 0.0533 E" pathEditMode="relative" ptsTypes="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00" y="266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50 -0.0533 E" pathEditMode="relative" ptsTypes="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50" y="-2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!!Capilar estrecho"/>
          <p:cNvGrpSpPr/>
          <p:nvPr/>
        </p:nvGrpSpPr>
        <p:grpSpPr>
          <a:xfrm>
            <a:off x="274320" y="1371600"/>
            <a:ext cx="11612880" cy="1920240"/>
            <a:chOff x="274320" y="1371600"/>
            <a:chExt cx="11612880" cy="1920240"/>
          </a:xfrm>
        </p:grpSpPr>
        <p:sp>
          <p:nvSpPr>
            <p:cNvPr id="6" name="Forma 5"/>
            <p:cNvSpPr/>
            <p:nvPr/>
          </p:nvSpPr>
          <p:spPr>
            <a:xfrm>
              <a:off x="274320" y="1371600"/>
              <a:ext cx="11612880" cy="19202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380" y="0"/>
                  </a:lnTo>
                  <a:cubicBezTo>
                    <a:pt x="450" y="0"/>
                    <a:pt x="470" y="330"/>
                    <a:pt x="540" y="330"/>
                  </a:cubicBezTo>
                  <a:lnTo>
                    <a:pt x="760" y="330"/>
                  </a:lnTo>
                  <a:cubicBezTo>
                    <a:pt x="830" y="330"/>
                    <a:pt x="850" y="0"/>
                    <a:pt x="920" y="0"/>
                  </a:cubicBezTo>
                  <a:lnTo>
                    <a:pt x="1000" y="0"/>
                  </a:lnTo>
                  <a:lnTo>
                    <a:pt x="1000" y="1000"/>
                  </a:lnTo>
                  <a:lnTo>
                    <a:pt x="920" y="1000"/>
                  </a:lnTo>
                  <a:cubicBezTo>
                    <a:pt x="850" y="1000"/>
                    <a:pt x="830" y="670"/>
                    <a:pt x="760" y="670"/>
                  </a:cubicBezTo>
                  <a:lnTo>
                    <a:pt x="540" y="670"/>
                  </a:lnTo>
                  <a:cubicBezTo>
                    <a:pt x="470" y="670"/>
                    <a:pt x="450" y="1000"/>
                    <a:pt x="380" y="1000"/>
                  </a:cubicBezTo>
                  <a:lnTo>
                    <a:pt x="0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F5B7B1"/>
                </a:gs>
                <a:gs pos="50000">
                  <a:srgbClr val="FDEDEC"/>
                </a:gs>
                <a:gs pos="100000">
                  <a:srgbClr val="F5B7B1"/>
                </a:gs>
              </a:gsLst>
              <a:lin ang="5400000" scaled="0"/>
            </a:gradFill>
            <a:ln w="25400" cap="rnd">
              <a:solidFill>
                <a:srgbClr val="922B21"/>
              </a:solidFill>
              <a:round/>
            </a:ln>
          </p:spPr>
        </p:sp>
      </p:grpSp>
      <p:sp>
        <p:nvSpPr>
          <p:cNvPr id="7" name="!!Eritrocito sano"/>
          <p:cNvSpPr/>
          <p:nvPr/>
        </p:nvSpPr>
        <p:spPr>
          <a:xfrm>
            <a:off x="640080" y="1965960"/>
            <a:ext cx="1737360" cy="6254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0" y="425"/>
                  <a:pt x="34" y="233"/>
                  <a:pt x="60" y="180"/>
                </a:cubicBezTo>
                <a:cubicBezTo>
                  <a:pt x="85" y="126"/>
                  <a:pt x="182" y="47"/>
                  <a:pt x="220" y="40"/>
                </a:cubicBezTo>
                <a:cubicBezTo>
                  <a:pt x="257" y="33"/>
                  <a:pt x="347" y="89"/>
                  <a:pt x="380" y="120"/>
                </a:cubicBezTo>
                <a:cubicBezTo>
                  <a:pt x="412" y="150"/>
                  <a:pt x="472" y="300"/>
                  <a:pt x="500" y="300"/>
                </a:cubicBezTo>
                <a:cubicBezTo>
                  <a:pt x="528" y="300"/>
                  <a:pt x="587" y="150"/>
                  <a:pt x="620" y="120"/>
                </a:cubicBezTo>
                <a:cubicBezTo>
                  <a:pt x="652" y="89"/>
                  <a:pt x="742" y="33"/>
                  <a:pt x="780" y="40"/>
                </a:cubicBezTo>
                <a:cubicBezTo>
                  <a:pt x="817" y="47"/>
                  <a:pt x="914" y="126"/>
                  <a:pt x="940" y="180"/>
                </a:cubicBezTo>
                <a:cubicBezTo>
                  <a:pt x="965" y="233"/>
                  <a:pt x="1000" y="425"/>
                  <a:pt x="1000" y="500"/>
                </a:cubicBezTo>
                <a:cubicBezTo>
                  <a:pt x="1000" y="574"/>
                  <a:pt x="965" y="766"/>
                  <a:pt x="940" y="820"/>
                </a:cubicBezTo>
                <a:cubicBezTo>
                  <a:pt x="914" y="873"/>
                  <a:pt x="817" y="953"/>
                  <a:pt x="780" y="960"/>
                </a:cubicBezTo>
                <a:cubicBezTo>
                  <a:pt x="742" y="967"/>
                  <a:pt x="652" y="910"/>
                  <a:pt x="620" y="880"/>
                </a:cubicBezTo>
                <a:cubicBezTo>
                  <a:pt x="587" y="849"/>
                  <a:pt x="528" y="700"/>
                  <a:pt x="500" y="700"/>
                </a:cubicBezTo>
                <a:cubicBezTo>
                  <a:pt x="472" y="700"/>
                  <a:pt x="412" y="849"/>
                  <a:pt x="380" y="880"/>
                </a:cubicBezTo>
                <a:cubicBezTo>
                  <a:pt x="347" y="910"/>
                  <a:pt x="257" y="967"/>
                  <a:pt x="220" y="960"/>
                </a:cubicBezTo>
                <a:cubicBezTo>
                  <a:pt x="182" y="953"/>
                  <a:pt x="85" y="873"/>
                  <a:pt x="60" y="820"/>
                </a:cubicBezTo>
                <a:cubicBezTo>
                  <a:pt x="34" y="766"/>
                  <a:pt x="0" y="574"/>
                  <a:pt x="0" y="500"/>
                </a:cubicBezTo>
                <a:close/>
              </a:path>
            </a:pathLst>
          </a:custGeom>
          <a:gradFill rotWithShape="1">
            <a:gsLst>
              <a:gs pos="0">
                <a:srgbClr val="7C251B"/>
              </a:gs>
              <a:gs pos="30000">
                <a:srgbClr val="D2746A"/>
              </a:gs>
              <a:gs pos="55000">
                <a:srgbClr val="C0392B"/>
              </a:gs>
              <a:gs pos="100000">
                <a:srgbClr val="7C251B"/>
              </a:gs>
            </a:gsLst>
            <a:lin ang="5400000" scaled="0"/>
          </a:gradFill>
          <a:ln w="15875" cap="rnd">
            <a:solidFill>
              <a:srgbClr val="6E1A12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grpSp>
        <p:nvGrpSpPr>
          <p:cNvPr id="8" name="Membrana sana"/>
          <p:cNvGrpSpPr/>
          <p:nvPr/>
        </p:nvGrpSpPr>
        <p:grpSpPr>
          <a:xfrm>
            <a:off x="365760" y="3657600"/>
            <a:ext cx="5486400" cy="1463040"/>
            <a:chOff x="365760" y="3657600"/>
            <a:chExt cx="5486400" cy="1463040"/>
          </a:xfrm>
        </p:grpSpPr>
        <p:sp>
          <p:nvSpPr>
            <p:cNvPr id="9" name="Forma 8"/>
            <p:cNvSpPr/>
            <p:nvPr/>
          </p:nvSpPr>
          <p:spPr>
            <a:xfrm>
              <a:off x="365760" y="3858768"/>
              <a:ext cx="5486400" cy="126187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Membrana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versátil y flexible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eritrocito se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deforma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para atravesar capilares más estrechos que él y luego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recupera su forma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93776" y="3657600"/>
              <a:ext cx="176466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MEMBRANA SANA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1" name="!!Eritrocito dañado"/>
          <p:cNvSpPr/>
          <p:nvPr/>
        </p:nvSpPr>
        <p:spPr>
          <a:xfrm>
            <a:off x="640080" y="1965960"/>
            <a:ext cx="1737360" cy="62545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0" y="425"/>
                  <a:pt x="34" y="233"/>
                  <a:pt x="60" y="180"/>
                </a:cubicBezTo>
                <a:cubicBezTo>
                  <a:pt x="85" y="126"/>
                  <a:pt x="182" y="47"/>
                  <a:pt x="220" y="40"/>
                </a:cubicBezTo>
                <a:cubicBezTo>
                  <a:pt x="257" y="33"/>
                  <a:pt x="347" y="89"/>
                  <a:pt x="380" y="120"/>
                </a:cubicBezTo>
                <a:cubicBezTo>
                  <a:pt x="412" y="150"/>
                  <a:pt x="472" y="300"/>
                  <a:pt x="500" y="300"/>
                </a:cubicBezTo>
                <a:cubicBezTo>
                  <a:pt x="528" y="300"/>
                  <a:pt x="587" y="150"/>
                  <a:pt x="620" y="120"/>
                </a:cubicBezTo>
                <a:cubicBezTo>
                  <a:pt x="652" y="89"/>
                  <a:pt x="742" y="33"/>
                  <a:pt x="780" y="40"/>
                </a:cubicBezTo>
                <a:cubicBezTo>
                  <a:pt x="817" y="47"/>
                  <a:pt x="914" y="126"/>
                  <a:pt x="940" y="180"/>
                </a:cubicBezTo>
                <a:cubicBezTo>
                  <a:pt x="965" y="233"/>
                  <a:pt x="1000" y="425"/>
                  <a:pt x="1000" y="500"/>
                </a:cubicBezTo>
                <a:cubicBezTo>
                  <a:pt x="1000" y="574"/>
                  <a:pt x="965" y="766"/>
                  <a:pt x="940" y="820"/>
                </a:cubicBezTo>
                <a:cubicBezTo>
                  <a:pt x="914" y="873"/>
                  <a:pt x="817" y="953"/>
                  <a:pt x="780" y="960"/>
                </a:cubicBezTo>
                <a:cubicBezTo>
                  <a:pt x="742" y="967"/>
                  <a:pt x="652" y="910"/>
                  <a:pt x="620" y="880"/>
                </a:cubicBezTo>
                <a:cubicBezTo>
                  <a:pt x="587" y="849"/>
                  <a:pt x="528" y="700"/>
                  <a:pt x="500" y="700"/>
                </a:cubicBezTo>
                <a:cubicBezTo>
                  <a:pt x="472" y="700"/>
                  <a:pt x="412" y="849"/>
                  <a:pt x="380" y="880"/>
                </a:cubicBezTo>
                <a:cubicBezTo>
                  <a:pt x="347" y="910"/>
                  <a:pt x="257" y="967"/>
                  <a:pt x="220" y="960"/>
                </a:cubicBezTo>
                <a:cubicBezTo>
                  <a:pt x="182" y="953"/>
                  <a:pt x="85" y="873"/>
                  <a:pt x="60" y="820"/>
                </a:cubicBezTo>
                <a:cubicBezTo>
                  <a:pt x="34" y="766"/>
                  <a:pt x="0" y="574"/>
                  <a:pt x="0" y="500"/>
                </a:cubicBezTo>
                <a:close/>
              </a:path>
            </a:pathLst>
          </a:custGeom>
          <a:gradFill rotWithShape="1">
            <a:gsLst>
              <a:gs pos="0">
                <a:srgbClr val="7C251B"/>
              </a:gs>
              <a:gs pos="30000">
                <a:srgbClr val="D2746A"/>
              </a:gs>
              <a:gs pos="55000">
                <a:srgbClr val="C0392B"/>
              </a:gs>
              <a:gs pos="100000">
                <a:srgbClr val="7C251B"/>
              </a:gs>
            </a:gsLst>
            <a:lin ang="5400000" scaled="0"/>
          </a:gradFill>
          <a:ln w="15875" cap="rnd">
            <a:solidFill>
              <a:srgbClr val="6E1A12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grpSp>
        <p:nvGrpSpPr>
          <p:cNvPr id="12" name="Fragmentos"/>
          <p:cNvGrpSpPr/>
          <p:nvPr/>
        </p:nvGrpSpPr>
        <p:grpSpPr>
          <a:xfrm>
            <a:off x="5394960" y="2011680"/>
            <a:ext cx="1444752" cy="704088"/>
            <a:chOff x="5394960" y="2011680"/>
            <a:chExt cx="1444752" cy="704088"/>
          </a:xfrm>
        </p:grpSpPr>
        <p:sp>
          <p:nvSpPr>
            <p:cNvPr id="13" name="Forma 12"/>
            <p:cNvSpPr/>
            <p:nvPr/>
          </p:nvSpPr>
          <p:spPr>
            <a:xfrm>
              <a:off x="5394960" y="2011680"/>
              <a:ext cx="274320" cy="201168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5687568" y="2514600"/>
              <a:ext cx="274320" cy="201168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5980176" y="2011680"/>
              <a:ext cx="274320" cy="201168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6272784" y="2514600"/>
              <a:ext cx="274320" cy="201168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6565392" y="2011680"/>
              <a:ext cx="274320" cy="201168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18" name="Membrana dañada"/>
          <p:cNvGrpSpPr/>
          <p:nvPr/>
        </p:nvGrpSpPr>
        <p:grpSpPr>
          <a:xfrm>
            <a:off x="6217920" y="3657600"/>
            <a:ext cx="5669280" cy="1463040"/>
            <a:chOff x="6217920" y="3657600"/>
            <a:chExt cx="5669280" cy="1463040"/>
          </a:xfrm>
        </p:grpSpPr>
        <p:sp>
          <p:nvSpPr>
            <p:cNvPr id="19" name="Forma 18"/>
            <p:cNvSpPr/>
            <p:nvPr/>
          </p:nvSpPr>
          <p:spPr>
            <a:xfrm>
              <a:off x="6217920" y="3858768"/>
              <a:ext cx="5669280" cy="126187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 la membrana </a:t>
              </a: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 deteriora</a:t>
              </a:r>
              <a:r>
                <a:rPr lang="es-AR" sz="2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, el glóbulo rojo </a:t>
              </a: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 rompe</a:t>
              </a:r>
              <a:r>
                <a:rPr lang="es-AR" sz="2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al intentar pasar por los capilares → </a:t>
              </a: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hemólisis</a:t>
              </a:r>
              <a:r>
                <a:rPr lang="es-AR" sz="2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6345936" y="3657600"/>
              <a:ext cx="2447496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MEMBRANA DETERIORADA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Perla"/>
          <p:cNvGrpSpPr/>
          <p:nvPr/>
        </p:nvGrpSpPr>
        <p:grpSpPr>
          <a:xfrm>
            <a:off x="365760" y="5349240"/>
            <a:ext cx="11521440" cy="1097280"/>
            <a:chOff x="365760" y="5349240"/>
            <a:chExt cx="11521440" cy="1097280"/>
          </a:xfrm>
        </p:grpSpPr>
        <p:sp>
          <p:nvSpPr>
            <p:cNvPr id="22" name="Forma 21"/>
            <p:cNvSpPr/>
            <p:nvPr/>
          </p:nvSpPr>
          <p:spPr>
            <a:xfrm>
              <a:off x="365760" y="5550408"/>
              <a:ext cx="11521440" cy="89611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1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membrana plasmática</a:t>
              </a:r>
              <a:r>
                <a:rPr lang="es-AR" sz="18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es el elemento más importante del glóbulo rojo: de ella depende su supervivencia en la microcirculación.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493776" y="5349240"/>
              <a:ext cx="1624894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PARA RECORDAR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MEMBRANA ERITROCITARIA: FLEXIBILIDAD Y HEMÓLISIS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150 0.0000 L 0.4200 0.0000 L 0.7500 0.0000 E" pathEditMode="relative" ptsTypes="">
                                      <p:cBhvr>
                                        <p:cTn id="13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450 0.0000 E" pathEditMode="relative" ptsTypes="">
                                      <p:cBhvr>
                                        <p:cTn id="25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00"/>
                            </p:stCondLst>
                            <p:childTnLst>
                              <p:par>
                                <p:cTn id="2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3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!!Neutrófilo"/>
          <p:cNvGrpSpPr/>
          <p:nvPr/>
        </p:nvGrpSpPr>
        <p:grpSpPr>
          <a:xfrm>
            <a:off x="457200" y="1371600"/>
            <a:ext cx="2103120" cy="2788920"/>
            <a:chOff x="457200" y="1371600"/>
            <a:chExt cx="2103120" cy="2788920"/>
          </a:xfrm>
        </p:grpSpPr>
        <p:grpSp>
          <p:nvGrpSpPr>
            <p:cNvPr id="7" name="Célula Neutrófilo"/>
            <p:cNvGrpSpPr/>
            <p:nvPr/>
          </p:nvGrpSpPr>
          <p:grpSpPr>
            <a:xfrm>
              <a:off x="731520" y="1371600"/>
              <a:ext cx="1463040" cy="1463040"/>
              <a:chOff x="731520" y="1371600"/>
              <a:chExt cx="1463040" cy="146304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731520" y="1371600"/>
                <a:ext cx="1463040" cy="1463040"/>
              </a:xfrm>
              <a:prstGeom prst="ellipse">
                <a:avLst/>
              </a:prstGeom>
              <a:gradFill rotWithShape="1">
                <a:gsLst>
                  <a:gs pos="0">
                    <a:srgbClr val="F9F0F5"/>
                  </a:gs>
                  <a:gs pos="55000">
                    <a:srgbClr val="F5E6EF"/>
                  </a:gs>
                  <a:gs pos="100000">
                    <a:srgbClr val="D7CA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9" name="Forma 8"/>
              <p:cNvSpPr/>
              <p:nvPr/>
            </p:nvSpPr>
            <p:spPr>
              <a:xfrm>
                <a:off x="731520" y="1371600"/>
                <a:ext cx="1463040" cy="14630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D7BDE2"/>
              </a:solidFill>
              <a:ln>
                <a:noFill/>
              </a:ln>
            </p:spPr>
          </p:sp>
          <p:sp>
            <p:nvSpPr>
              <p:cNvPr id="10" name="Forma 9"/>
              <p:cNvSpPr/>
              <p:nvPr/>
            </p:nvSpPr>
            <p:spPr>
              <a:xfrm>
                <a:off x="731520" y="1371600"/>
                <a:ext cx="1463040" cy="14630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50" y="420"/>
                    </a:moveTo>
                    <a:cubicBezTo>
                      <a:pt x="450" y="486"/>
                      <a:pt x="396" y="540"/>
                      <a:pt x="330" y="540"/>
                    </a:cubicBezTo>
                    <a:cubicBezTo>
                      <a:pt x="263" y="540"/>
                      <a:pt x="210" y="486"/>
                      <a:pt x="210" y="420"/>
                    </a:cubicBezTo>
                    <a:cubicBezTo>
                      <a:pt x="210" y="353"/>
                      <a:pt x="263" y="300"/>
                      <a:pt x="330" y="300"/>
                    </a:cubicBezTo>
                    <a:cubicBezTo>
                      <a:pt x="396" y="300"/>
                      <a:pt x="450" y="353"/>
                      <a:pt x="450" y="420"/>
                    </a:cubicBezTo>
                    <a:close/>
                    <a:moveTo>
                      <a:pt x="620" y="330"/>
                    </a:moveTo>
                    <a:cubicBezTo>
                      <a:pt x="620" y="396"/>
                      <a:pt x="566" y="450"/>
                      <a:pt x="500" y="450"/>
                    </a:cubicBezTo>
                    <a:cubicBezTo>
                      <a:pt x="433" y="450"/>
                      <a:pt x="380" y="396"/>
                      <a:pt x="380" y="330"/>
                    </a:cubicBezTo>
                    <a:cubicBezTo>
                      <a:pt x="380" y="263"/>
                      <a:pt x="433" y="210"/>
                      <a:pt x="500" y="210"/>
                    </a:cubicBezTo>
                    <a:cubicBezTo>
                      <a:pt x="566" y="210"/>
                      <a:pt x="620" y="263"/>
                      <a:pt x="620" y="330"/>
                    </a:cubicBezTo>
                    <a:close/>
                    <a:moveTo>
                      <a:pt x="780" y="450"/>
                    </a:moveTo>
                    <a:cubicBezTo>
                      <a:pt x="780" y="516"/>
                      <a:pt x="726" y="570"/>
                      <a:pt x="660" y="570"/>
                    </a:cubicBezTo>
                    <a:cubicBezTo>
                      <a:pt x="593" y="570"/>
                      <a:pt x="540" y="516"/>
                      <a:pt x="540" y="450"/>
                    </a:cubicBezTo>
                    <a:cubicBezTo>
                      <a:pt x="540" y="383"/>
                      <a:pt x="593" y="330"/>
                      <a:pt x="660" y="330"/>
                    </a:cubicBezTo>
                    <a:cubicBezTo>
                      <a:pt x="726" y="330"/>
                      <a:pt x="780" y="383"/>
                      <a:pt x="780" y="450"/>
                    </a:cubicBezTo>
                    <a:close/>
                    <a:moveTo>
                      <a:pt x="630" y="600"/>
                    </a:moveTo>
                    <a:cubicBezTo>
                      <a:pt x="630" y="660"/>
                      <a:pt x="580" y="710"/>
                      <a:pt x="520" y="710"/>
                    </a:cubicBezTo>
                    <a:cubicBezTo>
                      <a:pt x="459" y="710"/>
                      <a:pt x="410" y="660"/>
                      <a:pt x="410" y="600"/>
                    </a:cubicBezTo>
                    <a:cubicBezTo>
                      <a:pt x="410" y="539"/>
                      <a:pt x="459" y="490"/>
                      <a:pt x="520" y="490"/>
                    </a:cubicBezTo>
                    <a:cubicBezTo>
                      <a:pt x="580" y="490"/>
                      <a:pt x="630" y="539"/>
                      <a:pt x="630" y="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sp>
          <p:nvSpPr>
            <p:cNvPr id="11" name="Rótulo Neutrófilo"/>
            <p:cNvSpPr/>
            <p:nvPr/>
          </p:nvSpPr>
          <p:spPr>
            <a:xfrm>
              <a:off x="502920" y="2971800"/>
              <a:ext cx="201168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Neutrófilo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Forma 11"/>
            <p:cNvSpPr txBox="1"/>
            <p:nvPr/>
          </p:nvSpPr>
          <p:spPr>
            <a:xfrm>
              <a:off x="457200" y="3474720"/>
              <a:ext cx="21031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pH neutro · bacterias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3" name="!!Eosinófilo"/>
          <p:cNvGrpSpPr/>
          <p:nvPr/>
        </p:nvGrpSpPr>
        <p:grpSpPr>
          <a:xfrm>
            <a:off x="2743200" y="1371600"/>
            <a:ext cx="2103120" cy="2788920"/>
            <a:chOff x="2743200" y="1371600"/>
            <a:chExt cx="2103120" cy="2788920"/>
          </a:xfrm>
        </p:grpSpPr>
        <p:grpSp>
          <p:nvGrpSpPr>
            <p:cNvPr id="14" name="Célula Eosinófilo"/>
            <p:cNvGrpSpPr/>
            <p:nvPr/>
          </p:nvGrpSpPr>
          <p:grpSpPr>
            <a:xfrm>
              <a:off x="3017520" y="1371600"/>
              <a:ext cx="1463040" cy="1463040"/>
              <a:chOff x="3017520" y="1371600"/>
              <a:chExt cx="1463040" cy="1463040"/>
            </a:xfrm>
          </p:grpSpPr>
          <p:sp>
            <p:nvSpPr>
              <p:cNvPr id="15" name="Forma 14"/>
              <p:cNvSpPr/>
              <p:nvPr/>
            </p:nvSpPr>
            <p:spPr>
              <a:xfrm>
                <a:off x="3017520" y="1371600"/>
                <a:ext cx="1463040" cy="1463040"/>
              </a:xfrm>
              <a:prstGeom prst="ellipse">
                <a:avLst/>
              </a:prstGeom>
              <a:gradFill rotWithShape="1">
                <a:gsLst>
                  <a:gs pos="0">
                    <a:srgbClr val="FCE9E7"/>
                  </a:gs>
                  <a:gs pos="55000">
                    <a:srgbClr val="FADBD8"/>
                  </a:gs>
                  <a:gs pos="100000">
                    <a:srgbClr val="DCC0B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6" name="Forma 15"/>
              <p:cNvSpPr/>
              <p:nvPr/>
            </p:nvSpPr>
            <p:spPr>
              <a:xfrm>
                <a:off x="3017520" y="1371600"/>
                <a:ext cx="1463040" cy="14630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17" name="Forma 16"/>
              <p:cNvSpPr/>
              <p:nvPr/>
            </p:nvSpPr>
            <p:spPr>
              <a:xfrm>
                <a:off x="3017520" y="1371600"/>
                <a:ext cx="1463040" cy="14630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540" y="450"/>
                    </a:moveTo>
                    <a:cubicBezTo>
                      <a:pt x="540" y="538"/>
                      <a:pt x="468" y="610"/>
                      <a:pt x="380" y="610"/>
                    </a:cubicBezTo>
                    <a:cubicBezTo>
                      <a:pt x="291" y="610"/>
                      <a:pt x="220" y="538"/>
                      <a:pt x="220" y="450"/>
                    </a:cubicBezTo>
                    <a:cubicBezTo>
                      <a:pt x="220" y="361"/>
                      <a:pt x="291" y="290"/>
                      <a:pt x="380" y="290"/>
                    </a:cubicBezTo>
                    <a:cubicBezTo>
                      <a:pt x="468" y="290"/>
                      <a:pt x="540" y="361"/>
                      <a:pt x="540" y="450"/>
                    </a:cubicBezTo>
                    <a:close/>
                    <a:moveTo>
                      <a:pt x="790" y="470"/>
                    </a:moveTo>
                    <a:cubicBezTo>
                      <a:pt x="790" y="558"/>
                      <a:pt x="718" y="630"/>
                      <a:pt x="630" y="630"/>
                    </a:cubicBezTo>
                    <a:cubicBezTo>
                      <a:pt x="541" y="630"/>
                      <a:pt x="470" y="558"/>
                      <a:pt x="470" y="470"/>
                    </a:cubicBezTo>
                    <a:cubicBezTo>
                      <a:pt x="470" y="381"/>
                      <a:pt x="541" y="310"/>
                      <a:pt x="630" y="310"/>
                    </a:cubicBezTo>
                    <a:cubicBezTo>
                      <a:pt x="718" y="310"/>
                      <a:pt x="790" y="381"/>
                      <a:pt x="790" y="47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sp>
          <p:nvSpPr>
            <p:cNvPr id="18" name="Rótulo Eosinófilo"/>
            <p:cNvSpPr/>
            <p:nvPr/>
          </p:nvSpPr>
          <p:spPr>
            <a:xfrm>
              <a:off x="2788920" y="2971800"/>
              <a:ext cx="201168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Eosinófilo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9" name="Forma 18"/>
            <p:cNvSpPr txBox="1"/>
            <p:nvPr/>
          </p:nvSpPr>
          <p:spPr>
            <a:xfrm>
              <a:off x="2743200" y="3474720"/>
              <a:ext cx="21031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pH ácido · parásitos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0" name="!!Basófilo"/>
          <p:cNvGrpSpPr/>
          <p:nvPr/>
        </p:nvGrpSpPr>
        <p:grpSpPr>
          <a:xfrm>
            <a:off x="5029200" y="1371600"/>
            <a:ext cx="2103120" cy="2788920"/>
            <a:chOff x="5029200" y="1371600"/>
            <a:chExt cx="2103120" cy="2788920"/>
          </a:xfrm>
        </p:grpSpPr>
        <p:grpSp>
          <p:nvGrpSpPr>
            <p:cNvPr id="21" name="Célula Basófilo"/>
            <p:cNvGrpSpPr/>
            <p:nvPr/>
          </p:nvGrpSpPr>
          <p:grpSpPr>
            <a:xfrm>
              <a:off x="5303520" y="1371600"/>
              <a:ext cx="1463040" cy="1463040"/>
              <a:chOff x="5303520" y="1371600"/>
              <a:chExt cx="1463040" cy="1463040"/>
            </a:xfrm>
          </p:grpSpPr>
          <p:sp>
            <p:nvSpPr>
              <p:cNvPr id="22" name="Forma 21"/>
              <p:cNvSpPr/>
              <p:nvPr/>
            </p:nvSpPr>
            <p:spPr>
              <a:xfrm>
                <a:off x="5303520" y="1371600"/>
                <a:ext cx="1463040" cy="1463040"/>
              </a:xfrm>
              <a:prstGeom prst="ellipse">
                <a:avLst/>
              </a:prstGeom>
              <a:gradFill rotWithShape="1">
                <a:gsLst>
                  <a:gs pos="0">
                    <a:srgbClr val="F1E8F5"/>
                  </a:gs>
                  <a:gs pos="55000">
                    <a:srgbClr val="E8DAEF"/>
                  </a:gs>
                  <a:gs pos="100000">
                    <a:srgbClr val="CCBF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3" name="Forma 22"/>
              <p:cNvSpPr/>
              <p:nvPr/>
            </p:nvSpPr>
            <p:spPr>
              <a:xfrm>
                <a:off x="5303520" y="1371600"/>
                <a:ext cx="1463040" cy="14630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10" y="529"/>
                    </a:moveTo>
                    <a:cubicBezTo>
                      <a:pt x="410" y="544"/>
                      <a:pt x="397" y="557"/>
                      <a:pt x="382" y="557"/>
                    </a:cubicBezTo>
                    <a:cubicBezTo>
                      <a:pt x="366" y="557"/>
                      <a:pt x="354" y="544"/>
                      <a:pt x="354" y="529"/>
                    </a:cubicBezTo>
                    <a:cubicBezTo>
                      <a:pt x="354" y="513"/>
                      <a:pt x="366" y="501"/>
                      <a:pt x="382" y="501"/>
                    </a:cubicBezTo>
                    <a:cubicBezTo>
                      <a:pt x="397" y="501"/>
                      <a:pt x="410" y="513"/>
                      <a:pt x="410" y="529"/>
                    </a:cubicBezTo>
                    <a:close/>
                    <a:moveTo>
                      <a:pt x="312" y="347"/>
                    </a:moveTo>
                    <a:cubicBezTo>
                      <a:pt x="312" y="365"/>
                      <a:pt x="297" y="380"/>
                      <a:pt x="279" y="380"/>
                    </a:cubicBezTo>
                    <a:cubicBezTo>
                      <a:pt x="260" y="380"/>
                      <a:pt x="246" y="365"/>
                      <a:pt x="246" y="347"/>
                    </a:cubicBezTo>
                    <a:cubicBezTo>
                      <a:pt x="246" y="328"/>
                      <a:pt x="260" y="314"/>
                      <a:pt x="279" y="314"/>
                    </a:cubicBezTo>
                    <a:cubicBezTo>
                      <a:pt x="297" y="314"/>
                      <a:pt x="312" y="328"/>
                      <a:pt x="312" y="347"/>
                    </a:cubicBezTo>
                    <a:close/>
                    <a:moveTo>
                      <a:pt x="428" y="668"/>
                    </a:moveTo>
                    <a:cubicBezTo>
                      <a:pt x="428" y="681"/>
                      <a:pt x="416" y="693"/>
                      <a:pt x="403" y="693"/>
                    </a:cubicBezTo>
                    <a:cubicBezTo>
                      <a:pt x="389" y="693"/>
                      <a:pt x="378" y="681"/>
                      <a:pt x="378" y="668"/>
                    </a:cubicBezTo>
                    <a:cubicBezTo>
                      <a:pt x="378" y="654"/>
                      <a:pt x="389" y="643"/>
                      <a:pt x="403" y="643"/>
                    </a:cubicBezTo>
                    <a:cubicBezTo>
                      <a:pt x="416" y="643"/>
                      <a:pt x="428" y="654"/>
                      <a:pt x="428" y="668"/>
                    </a:cubicBezTo>
                    <a:close/>
                    <a:moveTo>
                      <a:pt x="582" y="807"/>
                    </a:moveTo>
                    <a:cubicBezTo>
                      <a:pt x="582" y="819"/>
                      <a:pt x="572" y="829"/>
                      <a:pt x="560" y="829"/>
                    </a:cubicBezTo>
                    <a:cubicBezTo>
                      <a:pt x="547" y="829"/>
                      <a:pt x="538" y="819"/>
                      <a:pt x="538" y="807"/>
                    </a:cubicBezTo>
                    <a:cubicBezTo>
                      <a:pt x="538" y="794"/>
                      <a:pt x="547" y="785"/>
                      <a:pt x="560" y="785"/>
                    </a:cubicBezTo>
                    <a:cubicBezTo>
                      <a:pt x="572" y="785"/>
                      <a:pt x="582" y="794"/>
                      <a:pt x="582" y="807"/>
                    </a:cubicBezTo>
                    <a:close/>
                    <a:moveTo>
                      <a:pt x="649" y="649"/>
                    </a:moveTo>
                    <a:cubicBezTo>
                      <a:pt x="649" y="665"/>
                      <a:pt x="636" y="678"/>
                      <a:pt x="620" y="678"/>
                    </a:cubicBezTo>
                    <a:cubicBezTo>
                      <a:pt x="603" y="678"/>
                      <a:pt x="591" y="665"/>
                      <a:pt x="591" y="649"/>
                    </a:cubicBezTo>
                    <a:cubicBezTo>
                      <a:pt x="591" y="632"/>
                      <a:pt x="603" y="620"/>
                      <a:pt x="620" y="620"/>
                    </a:cubicBezTo>
                    <a:cubicBezTo>
                      <a:pt x="636" y="620"/>
                      <a:pt x="649" y="632"/>
                      <a:pt x="649" y="649"/>
                    </a:cubicBezTo>
                    <a:close/>
                    <a:moveTo>
                      <a:pt x="580" y="656"/>
                    </a:moveTo>
                    <a:cubicBezTo>
                      <a:pt x="580" y="673"/>
                      <a:pt x="566" y="687"/>
                      <a:pt x="549" y="687"/>
                    </a:cubicBezTo>
                    <a:cubicBezTo>
                      <a:pt x="531" y="687"/>
                      <a:pt x="518" y="673"/>
                      <a:pt x="518" y="656"/>
                    </a:cubicBezTo>
                    <a:cubicBezTo>
                      <a:pt x="518" y="638"/>
                      <a:pt x="531" y="625"/>
                      <a:pt x="549" y="625"/>
                    </a:cubicBezTo>
                    <a:cubicBezTo>
                      <a:pt x="566" y="625"/>
                      <a:pt x="580" y="638"/>
                      <a:pt x="580" y="656"/>
                    </a:cubicBezTo>
                    <a:close/>
                    <a:moveTo>
                      <a:pt x="369" y="562"/>
                    </a:moveTo>
                    <a:cubicBezTo>
                      <a:pt x="369" y="574"/>
                      <a:pt x="358" y="585"/>
                      <a:pt x="346" y="585"/>
                    </a:cubicBezTo>
                    <a:cubicBezTo>
                      <a:pt x="333" y="585"/>
                      <a:pt x="323" y="574"/>
                      <a:pt x="323" y="562"/>
                    </a:cubicBezTo>
                    <a:cubicBezTo>
                      <a:pt x="323" y="549"/>
                      <a:pt x="333" y="539"/>
                      <a:pt x="346" y="539"/>
                    </a:cubicBezTo>
                    <a:cubicBezTo>
                      <a:pt x="358" y="539"/>
                      <a:pt x="369" y="549"/>
                      <a:pt x="369" y="562"/>
                    </a:cubicBezTo>
                    <a:close/>
                    <a:moveTo>
                      <a:pt x="680" y="389"/>
                    </a:moveTo>
                    <a:cubicBezTo>
                      <a:pt x="680" y="407"/>
                      <a:pt x="664" y="423"/>
                      <a:pt x="646" y="423"/>
                    </a:cubicBezTo>
                    <a:cubicBezTo>
                      <a:pt x="627" y="423"/>
                      <a:pt x="612" y="407"/>
                      <a:pt x="612" y="389"/>
                    </a:cubicBezTo>
                    <a:cubicBezTo>
                      <a:pt x="612" y="370"/>
                      <a:pt x="627" y="355"/>
                      <a:pt x="646" y="355"/>
                    </a:cubicBezTo>
                    <a:cubicBezTo>
                      <a:pt x="664" y="355"/>
                      <a:pt x="680" y="370"/>
                      <a:pt x="680" y="389"/>
                    </a:cubicBezTo>
                    <a:close/>
                    <a:moveTo>
                      <a:pt x="200" y="423"/>
                    </a:moveTo>
                    <a:cubicBezTo>
                      <a:pt x="200" y="439"/>
                      <a:pt x="186" y="453"/>
                      <a:pt x="170" y="453"/>
                    </a:cubicBezTo>
                    <a:cubicBezTo>
                      <a:pt x="153" y="453"/>
                      <a:pt x="140" y="439"/>
                      <a:pt x="140" y="423"/>
                    </a:cubicBezTo>
                    <a:cubicBezTo>
                      <a:pt x="140" y="406"/>
                      <a:pt x="153" y="393"/>
                      <a:pt x="170" y="393"/>
                    </a:cubicBezTo>
                    <a:cubicBezTo>
                      <a:pt x="186" y="393"/>
                      <a:pt x="200" y="406"/>
                      <a:pt x="200" y="423"/>
                    </a:cubicBezTo>
                    <a:close/>
                    <a:moveTo>
                      <a:pt x="595" y="635"/>
                    </a:moveTo>
                    <a:cubicBezTo>
                      <a:pt x="595" y="650"/>
                      <a:pt x="582" y="663"/>
                      <a:pt x="567" y="663"/>
                    </a:cubicBezTo>
                    <a:cubicBezTo>
                      <a:pt x="551" y="663"/>
                      <a:pt x="539" y="650"/>
                      <a:pt x="539" y="635"/>
                    </a:cubicBezTo>
                    <a:cubicBezTo>
                      <a:pt x="539" y="619"/>
                      <a:pt x="551" y="607"/>
                      <a:pt x="567" y="607"/>
                    </a:cubicBezTo>
                    <a:cubicBezTo>
                      <a:pt x="582" y="607"/>
                      <a:pt x="595" y="619"/>
                      <a:pt x="595" y="635"/>
                    </a:cubicBezTo>
                    <a:close/>
                    <a:moveTo>
                      <a:pt x="808" y="536"/>
                    </a:moveTo>
                    <a:cubicBezTo>
                      <a:pt x="808" y="548"/>
                      <a:pt x="797" y="559"/>
                      <a:pt x="785" y="559"/>
                    </a:cubicBezTo>
                    <a:cubicBezTo>
                      <a:pt x="772" y="559"/>
                      <a:pt x="762" y="548"/>
                      <a:pt x="762" y="536"/>
                    </a:cubicBezTo>
                    <a:cubicBezTo>
                      <a:pt x="762" y="523"/>
                      <a:pt x="772" y="513"/>
                      <a:pt x="785" y="513"/>
                    </a:cubicBezTo>
                    <a:cubicBezTo>
                      <a:pt x="797" y="513"/>
                      <a:pt x="808" y="523"/>
                      <a:pt x="808" y="536"/>
                    </a:cubicBezTo>
                    <a:close/>
                    <a:moveTo>
                      <a:pt x="419" y="238"/>
                    </a:moveTo>
                    <a:cubicBezTo>
                      <a:pt x="419" y="254"/>
                      <a:pt x="406" y="267"/>
                      <a:pt x="390" y="267"/>
                    </a:cubicBezTo>
                    <a:cubicBezTo>
                      <a:pt x="373" y="267"/>
                      <a:pt x="361" y="254"/>
                      <a:pt x="361" y="238"/>
                    </a:cubicBezTo>
                    <a:cubicBezTo>
                      <a:pt x="361" y="221"/>
                      <a:pt x="373" y="209"/>
                      <a:pt x="390" y="209"/>
                    </a:cubicBezTo>
                    <a:cubicBezTo>
                      <a:pt x="406" y="209"/>
                      <a:pt x="419" y="221"/>
                      <a:pt x="419" y="238"/>
                    </a:cubicBezTo>
                    <a:close/>
                    <a:moveTo>
                      <a:pt x="776" y="295"/>
                    </a:moveTo>
                    <a:cubicBezTo>
                      <a:pt x="776" y="312"/>
                      <a:pt x="762" y="326"/>
                      <a:pt x="745" y="326"/>
                    </a:cubicBezTo>
                    <a:cubicBezTo>
                      <a:pt x="727" y="326"/>
                      <a:pt x="714" y="312"/>
                      <a:pt x="714" y="295"/>
                    </a:cubicBezTo>
                    <a:cubicBezTo>
                      <a:pt x="714" y="277"/>
                      <a:pt x="727" y="264"/>
                      <a:pt x="745" y="264"/>
                    </a:cubicBezTo>
                    <a:cubicBezTo>
                      <a:pt x="762" y="264"/>
                      <a:pt x="776" y="277"/>
                      <a:pt x="776" y="295"/>
                    </a:cubicBezTo>
                    <a:close/>
                    <a:moveTo>
                      <a:pt x="237" y="702"/>
                    </a:moveTo>
                    <a:cubicBezTo>
                      <a:pt x="237" y="714"/>
                      <a:pt x="227" y="724"/>
                      <a:pt x="215" y="724"/>
                    </a:cubicBezTo>
                    <a:cubicBezTo>
                      <a:pt x="202" y="724"/>
                      <a:pt x="193" y="714"/>
                      <a:pt x="193" y="702"/>
                    </a:cubicBezTo>
                    <a:cubicBezTo>
                      <a:pt x="193" y="689"/>
                      <a:pt x="202" y="680"/>
                      <a:pt x="215" y="680"/>
                    </a:cubicBezTo>
                    <a:cubicBezTo>
                      <a:pt x="227" y="680"/>
                      <a:pt x="237" y="689"/>
                      <a:pt x="237" y="702"/>
                    </a:cubicBezTo>
                    <a:close/>
                    <a:moveTo>
                      <a:pt x="674" y="348"/>
                    </a:moveTo>
                    <a:cubicBezTo>
                      <a:pt x="674" y="361"/>
                      <a:pt x="663" y="372"/>
                      <a:pt x="650" y="372"/>
                    </a:cubicBezTo>
                    <a:cubicBezTo>
                      <a:pt x="636" y="372"/>
                      <a:pt x="626" y="361"/>
                      <a:pt x="626" y="348"/>
                    </a:cubicBezTo>
                    <a:cubicBezTo>
                      <a:pt x="626" y="334"/>
                      <a:pt x="636" y="324"/>
                      <a:pt x="650" y="324"/>
                    </a:cubicBezTo>
                    <a:cubicBezTo>
                      <a:pt x="663" y="324"/>
                      <a:pt x="674" y="334"/>
                      <a:pt x="674" y="348"/>
                    </a:cubicBezTo>
                    <a:close/>
                    <a:moveTo>
                      <a:pt x="775" y="617"/>
                    </a:moveTo>
                    <a:cubicBezTo>
                      <a:pt x="775" y="635"/>
                      <a:pt x="760" y="650"/>
                      <a:pt x="742" y="650"/>
                    </a:cubicBezTo>
                    <a:cubicBezTo>
                      <a:pt x="723" y="650"/>
                      <a:pt x="709" y="635"/>
                      <a:pt x="709" y="617"/>
                    </a:cubicBezTo>
                    <a:cubicBezTo>
                      <a:pt x="709" y="598"/>
                      <a:pt x="723" y="584"/>
                      <a:pt x="742" y="584"/>
                    </a:cubicBezTo>
                    <a:cubicBezTo>
                      <a:pt x="760" y="584"/>
                      <a:pt x="775" y="598"/>
                      <a:pt x="775" y="617"/>
                    </a:cubicBezTo>
                    <a:close/>
                    <a:moveTo>
                      <a:pt x="774" y="605"/>
                    </a:moveTo>
                    <a:cubicBezTo>
                      <a:pt x="774" y="619"/>
                      <a:pt x="762" y="631"/>
                      <a:pt x="748" y="631"/>
                    </a:cubicBezTo>
                    <a:cubicBezTo>
                      <a:pt x="733" y="631"/>
                      <a:pt x="722" y="619"/>
                      <a:pt x="722" y="605"/>
                    </a:cubicBezTo>
                    <a:cubicBezTo>
                      <a:pt x="722" y="590"/>
                      <a:pt x="733" y="579"/>
                      <a:pt x="748" y="579"/>
                    </a:cubicBezTo>
                    <a:cubicBezTo>
                      <a:pt x="762" y="579"/>
                      <a:pt x="774" y="590"/>
                      <a:pt x="774" y="605"/>
                    </a:cubicBezTo>
                    <a:close/>
                    <a:moveTo>
                      <a:pt x="748" y="515"/>
                    </a:moveTo>
                    <a:cubicBezTo>
                      <a:pt x="748" y="530"/>
                      <a:pt x="735" y="543"/>
                      <a:pt x="720" y="543"/>
                    </a:cubicBezTo>
                    <a:cubicBezTo>
                      <a:pt x="704" y="543"/>
                      <a:pt x="692" y="530"/>
                      <a:pt x="692" y="515"/>
                    </a:cubicBezTo>
                    <a:cubicBezTo>
                      <a:pt x="692" y="499"/>
                      <a:pt x="704" y="487"/>
                      <a:pt x="720" y="487"/>
                    </a:cubicBezTo>
                    <a:cubicBezTo>
                      <a:pt x="735" y="487"/>
                      <a:pt x="748" y="499"/>
                      <a:pt x="748" y="515"/>
                    </a:cubicBezTo>
                    <a:close/>
                    <a:moveTo>
                      <a:pt x="322" y="312"/>
                    </a:moveTo>
                    <a:cubicBezTo>
                      <a:pt x="322" y="330"/>
                      <a:pt x="306" y="346"/>
                      <a:pt x="288" y="346"/>
                    </a:cubicBezTo>
                    <a:cubicBezTo>
                      <a:pt x="269" y="346"/>
                      <a:pt x="254" y="330"/>
                      <a:pt x="254" y="312"/>
                    </a:cubicBezTo>
                    <a:cubicBezTo>
                      <a:pt x="254" y="293"/>
                      <a:pt x="269" y="278"/>
                      <a:pt x="288" y="278"/>
                    </a:cubicBezTo>
                    <a:cubicBezTo>
                      <a:pt x="306" y="278"/>
                      <a:pt x="322" y="293"/>
                      <a:pt x="322" y="312"/>
                    </a:cubicBezTo>
                    <a:close/>
                    <a:moveTo>
                      <a:pt x="503" y="515"/>
                    </a:moveTo>
                    <a:cubicBezTo>
                      <a:pt x="503" y="532"/>
                      <a:pt x="488" y="547"/>
                      <a:pt x="471" y="547"/>
                    </a:cubicBezTo>
                    <a:cubicBezTo>
                      <a:pt x="453" y="547"/>
                      <a:pt x="439" y="532"/>
                      <a:pt x="439" y="515"/>
                    </a:cubicBezTo>
                    <a:cubicBezTo>
                      <a:pt x="439" y="497"/>
                      <a:pt x="453" y="483"/>
                      <a:pt x="471" y="483"/>
                    </a:cubicBezTo>
                    <a:cubicBezTo>
                      <a:pt x="488" y="483"/>
                      <a:pt x="503" y="497"/>
                      <a:pt x="503" y="515"/>
                    </a:cubicBezTo>
                    <a:close/>
                    <a:moveTo>
                      <a:pt x="687" y="665"/>
                    </a:moveTo>
                    <a:cubicBezTo>
                      <a:pt x="687" y="682"/>
                      <a:pt x="673" y="696"/>
                      <a:pt x="656" y="696"/>
                    </a:cubicBezTo>
                    <a:cubicBezTo>
                      <a:pt x="638" y="696"/>
                      <a:pt x="625" y="682"/>
                      <a:pt x="625" y="665"/>
                    </a:cubicBezTo>
                    <a:cubicBezTo>
                      <a:pt x="625" y="647"/>
                      <a:pt x="638" y="634"/>
                      <a:pt x="656" y="634"/>
                    </a:cubicBezTo>
                    <a:cubicBezTo>
                      <a:pt x="673" y="634"/>
                      <a:pt x="687" y="647"/>
                      <a:pt x="687" y="665"/>
                    </a:cubicBezTo>
                    <a:close/>
                    <a:moveTo>
                      <a:pt x="376" y="466"/>
                    </a:moveTo>
                    <a:cubicBezTo>
                      <a:pt x="376" y="479"/>
                      <a:pt x="365" y="490"/>
                      <a:pt x="352" y="490"/>
                    </a:cubicBezTo>
                    <a:cubicBezTo>
                      <a:pt x="338" y="490"/>
                      <a:pt x="328" y="479"/>
                      <a:pt x="328" y="466"/>
                    </a:cubicBezTo>
                    <a:cubicBezTo>
                      <a:pt x="328" y="452"/>
                      <a:pt x="338" y="442"/>
                      <a:pt x="352" y="442"/>
                    </a:cubicBezTo>
                    <a:cubicBezTo>
                      <a:pt x="365" y="442"/>
                      <a:pt x="376" y="452"/>
                      <a:pt x="376" y="466"/>
                    </a:cubicBezTo>
                    <a:close/>
                    <a:moveTo>
                      <a:pt x="540" y="691"/>
                    </a:moveTo>
                    <a:cubicBezTo>
                      <a:pt x="540" y="705"/>
                      <a:pt x="528" y="717"/>
                      <a:pt x="514" y="717"/>
                    </a:cubicBezTo>
                    <a:cubicBezTo>
                      <a:pt x="499" y="717"/>
                      <a:pt x="488" y="705"/>
                      <a:pt x="488" y="691"/>
                    </a:cubicBezTo>
                    <a:cubicBezTo>
                      <a:pt x="488" y="676"/>
                      <a:pt x="499" y="665"/>
                      <a:pt x="514" y="665"/>
                    </a:cubicBezTo>
                    <a:cubicBezTo>
                      <a:pt x="528" y="665"/>
                      <a:pt x="540" y="676"/>
                      <a:pt x="540" y="691"/>
                    </a:cubicBezTo>
                    <a:close/>
                    <a:moveTo>
                      <a:pt x="694" y="708"/>
                    </a:moveTo>
                    <a:cubicBezTo>
                      <a:pt x="694" y="721"/>
                      <a:pt x="682" y="733"/>
                      <a:pt x="669" y="733"/>
                    </a:cubicBezTo>
                    <a:cubicBezTo>
                      <a:pt x="655" y="733"/>
                      <a:pt x="644" y="721"/>
                      <a:pt x="644" y="708"/>
                    </a:cubicBezTo>
                    <a:cubicBezTo>
                      <a:pt x="644" y="694"/>
                      <a:pt x="655" y="683"/>
                      <a:pt x="669" y="683"/>
                    </a:cubicBezTo>
                    <a:cubicBezTo>
                      <a:pt x="682" y="683"/>
                      <a:pt x="694" y="694"/>
                      <a:pt x="694" y="708"/>
                    </a:cubicBezTo>
                    <a:close/>
                    <a:moveTo>
                      <a:pt x="524" y="399"/>
                    </a:moveTo>
                    <a:cubicBezTo>
                      <a:pt x="524" y="411"/>
                      <a:pt x="514" y="421"/>
                      <a:pt x="502" y="421"/>
                    </a:cubicBezTo>
                    <a:cubicBezTo>
                      <a:pt x="489" y="421"/>
                      <a:pt x="480" y="411"/>
                      <a:pt x="480" y="399"/>
                    </a:cubicBezTo>
                    <a:cubicBezTo>
                      <a:pt x="480" y="386"/>
                      <a:pt x="489" y="377"/>
                      <a:pt x="502" y="377"/>
                    </a:cubicBezTo>
                    <a:cubicBezTo>
                      <a:pt x="514" y="377"/>
                      <a:pt x="524" y="386"/>
                      <a:pt x="524" y="399"/>
                    </a:cubicBezTo>
                    <a:close/>
                    <a:moveTo>
                      <a:pt x="477" y="501"/>
                    </a:moveTo>
                    <a:cubicBezTo>
                      <a:pt x="477" y="514"/>
                      <a:pt x="465" y="526"/>
                      <a:pt x="452" y="526"/>
                    </a:cubicBezTo>
                    <a:cubicBezTo>
                      <a:pt x="438" y="526"/>
                      <a:pt x="427" y="514"/>
                      <a:pt x="427" y="501"/>
                    </a:cubicBezTo>
                    <a:cubicBezTo>
                      <a:pt x="427" y="487"/>
                      <a:pt x="438" y="476"/>
                      <a:pt x="452" y="476"/>
                    </a:cubicBezTo>
                    <a:cubicBezTo>
                      <a:pt x="465" y="476"/>
                      <a:pt x="477" y="487"/>
                      <a:pt x="477" y="501"/>
                    </a:cubicBezTo>
                    <a:close/>
                    <a:moveTo>
                      <a:pt x="451" y="184"/>
                    </a:moveTo>
                    <a:cubicBezTo>
                      <a:pt x="451" y="199"/>
                      <a:pt x="438" y="212"/>
                      <a:pt x="423" y="212"/>
                    </a:cubicBezTo>
                    <a:cubicBezTo>
                      <a:pt x="407" y="212"/>
                      <a:pt x="395" y="199"/>
                      <a:pt x="395" y="184"/>
                    </a:cubicBezTo>
                    <a:cubicBezTo>
                      <a:pt x="395" y="168"/>
                      <a:pt x="407" y="156"/>
                      <a:pt x="423" y="156"/>
                    </a:cubicBezTo>
                    <a:cubicBezTo>
                      <a:pt x="438" y="156"/>
                      <a:pt x="451" y="168"/>
                      <a:pt x="451" y="184"/>
                    </a:cubicBezTo>
                    <a:close/>
                    <a:moveTo>
                      <a:pt x="436" y="535"/>
                    </a:moveTo>
                    <a:cubicBezTo>
                      <a:pt x="436" y="549"/>
                      <a:pt x="424" y="561"/>
                      <a:pt x="410" y="561"/>
                    </a:cubicBezTo>
                    <a:cubicBezTo>
                      <a:pt x="395" y="561"/>
                      <a:pt x="384" y="549"/>
                      <a:pt x="384" y="535"/>
                    </a:cubicBezTo>
                    <a:cubicBezTo>
                      <a:pt x="384" y="520"/>
                      <a:pt x="395" y="509"/>
                      <a:pt x="410" y="509"/>
                    </a:cubicBezTo>
                    <a:cubicBezTo>
                      <a:pt x="424" y="509"/>
                      <a:pt x="436" y="520"/>
                      <a:pt x="436" y="535"/>
                    </a:cubicBezTo>
                    <a:close/>
                    <a:moveTo>
                      <a:pt x="608" y="329"/>
                    </a:moveTo>
                    <a:cubicBezTo>
                      <a:pt x="608" y="346"/>
                      <a:pt x="593" y="361"/>
                      <a:pt x="576" y="361"/>
                    </a:cubicBezTo>
                    <a:cubicBezTo>
                      <a:pt x="558" y="361"/>
                      <a:pt x="544" y="346"/>
                      <a:pt x="544" y="329"/>
                    </a:cubicBezTo>
                    <a:cubicBezTo>
                      <a:pt x="544" y="311"/>
                      <a:pt x="558" y="297"/>
                      <a:pt x="576" y="297"/>
                    </a:cubicBezTo>
                    <a:cubicBezTo>
                      <a:pt x="593" y="297"/>
                      <a:pt x="608" y="311"/>
                      <a:pt x="608" y="329"/>
                    </a:cubicBezTo>
                    <a:close/>
                    <a:moveTo>
                      <a:pt x="579" y="269"/>
                    </a:moveTo>
                    <a:cubicBezTo>
                      <a:pt x="579" y="282"/>
                      <a:pt x="568" y="293"/>
                      <a:pt x="555" y="293"/>
                    </a:cubicBezTo>
                    <a:cubicBezTo>
                      <a:pt x="541" y="293"/>
                      <a:pt x="531" y="282"/>
                      <a:pt x="531" y="269"/>
                    </a:cubicBezTo>
                    <a:cubicBezTo>
                      <a:pt x="531" y="255"/>
                      <a:pt x="541" y="245"/>
                      <a:pt x="555" y="245"/>
                    </a:cubicBezTo>
                    <a:cubicBezTo>
                      <a:pt x="568" y="245"/>
                      <a:pt x="579" y="255"/>
                      <a:pt x="579" y="269"/>
                    </a:cubicBezTo>
                    <a:close/>
                    <a:moveTo>
                      <a:pt x="337" y="457"/>
                    </a:moveTo>
                    <a:cubicBezTo>
                      <a:pt x="337" y="469"/>
                      <a:pt x="326" y="480"/>
                      <a:pt x="314" y="480"/>
                    </a:cubicBezTo>
                    <a:cubicBezTo>
                      <a:pt x="301" y="480"/>
                      <a:pt x="291" y="469"/>
                      <a:pt x="291" y="457"/>
                    </a:cubicBezTo>
                    <a:cubicBezTo>
                      <a:pt x="291" y="444"/>
                      <a:pt x="301" y="434"/>
                      <a:pt x="314" y="434"/>
                    </a:cubicBezTo>
                    <a:cubicBezTo>
                      <a:pt x="326" y="434"/>
                      <a:pt x="337" y="444"/>
                      <a:pt x="337" y="457"/>
                    </a:cubicBezTo>
                    <a:close/>
                    <a:moveTo>
                      <a:pt x="190" y="539"/>
                    </a:moveTo>
                    <a:cubicBezTo>
                      <a:pt x="190" y="553"/>
                      <a:pt x="177" y="566"/>
                      <a:pt x="163" y="566"/>
                    </a:cubicBezTo>
                    <a:cubicBezTo>
                      <a:pt x="148" y="566"/>
                      <a:pt x="136" y="553"/>
                      <a:pt x="136" y="539"/>
                    </a:cubicBezTo>
                    <a:cubicBezTo>
                      <a:pt x="136" y="524"/>
                      <a:pt x="148" y="512"/>
                      <a:pt x="163" y="512"/>
                    </a:cubicBezTo>
                    <a:cubicBezTo>
                      <a:pt x="177" y="512"/>
                      <a:pt x="190" y="524"/>
                      <a:pt x="190" y="539"/>
                    </a:cubicBezTo>
                    <a:close/>
                  </a:path>
                </a:pathLst>
              </a:custGeom>
              <a:solidFill>
                <a:srgbClr val="4A235A"/>
              </a:solidFill>
              <a:ln>
                <a:noFill/>
              </a:ln>
            </p:spPr>
          </p:sp>
          <p:sp>
            <p:nvSpPr>
              <p:cNvPr id="24" name="Forma 23"/>
              <p:cNvSpPr/>
              <p:nvPr/>
            </p:nvSpPr>
            <p:spPr>
              <a:xfrm>
                <a:off x="5303520" y="1371600"/>
                <a:ext cx="1463040" cy="14630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540" y="450"/>
                    </a:moveTo>
                    <a:cubicBezTo>
                      <a:pt x="540" y="538"/>
                      <a:pt x="468" y="610"/>
                      <a:pt x="380" y="610"/>
                    </a:cubicBezTo>
                    <a:cubicBezTo>
                      <a:pt x="291" y="610"/>
                      <a:pt x="220" y="538"/>
                      <a:pt x="220" y="450"/>
                    </a:cubicBezTo>
                    <a:cubicBezTo>
                      <a:pt x="220" y="361"/>
                      <a:pt x="291" y="290"/>
                      <a:pt x="380" y="290"/>
                    </a:cubicBezTo>
                    <a:cubicBezTo>
                      <a:pt x="468" y="290"/>
                      <a:pt x="540" y="361"/>
                      <a:pt x="540" y="450"/>
                    </a:cubicBezTo>
                    <a:close/>
                    <a:moveTo>
                      <a:pt x="790" y="470"/>
                    </a:moveTo>
                    <a:cubicBezTo>
                      <a:pt x="790" y="558"/>
                      <a:pt x="718" y="630"/>
                      <a:pt x="630" y="630"/>
                    </a:cubicBezTo>
                    <a:cubicBezTo>
                      <a:pt x="541" y="630"/>
                      <a:pt x="470" y="558"/>
                      <a:pt x="470" y="470"/>
                    </a:cubicBezTo>
                    <a:cubicBezTo>
                      <a:pt x="470" y="381"/>
                      <a:pt x="541" y="310"/>
                      <a:pt x="630" y="310"/>
                    </a:cubicBezTo>
                    <a:cubicBezTo>
                      <a:pt x="718" y="310"/>
                      <a:pt x="790" y="381"/>
                      <a:pt x="790" y="47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sp>
          <p:nvSpPr>
            <p:cNvPr id="25" name="Rótulo Basófilo"/>
            <p:cNvSpPr/>
            <p:nvPr/>
          </p:nvSpPr>
          <p:spPr>
            <a:xfrm>
              <a:off x="5074920" y="2971800"/>
              <a:ext cx="201168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Basófilo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6" name="Forma 25"/>
            <p:cNvSpPr txBox="1"/>
            <p:nvPr/>
          </p:nvSpPr>
          <p:spPr>
            <a:xfrm>
              <a:off x="5029200" y="3474720"/>
              <a:ext cx="21031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pH básico · inflamación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7" name="!!Linfocito"/>
          <p:cNvGrpSpPr/>
          <p:nvPr/>
        </p:nvGrpSpPr>
        <p:grpSpPr>
          <a:xfrm>
            <a:off x="7315200" y="1371600"/>
            <a:ext cx="2103120" cy="2788920"/>
            <a:chOff x="7315200" y="1371600"/>
            <a:chExt cx="2103120" cy="2788920"/>
          </a:xfrm>
        </p:grpSpPr>
        <p:grpSp>
          <p:nvGrpSpPr>
            <p:cNvPr id="28" name="Célula Linfocito"/>
            <p:cNvGrpSpPr/>
            <p:nvPr/>
          </p:nvGrpSpPr>
          <p:grpSpPr>
            <a:xfrm>
              <a:off x="7589520" y="1371600"/>
              <a:ext cx="1463040" cy="1463040"/>
              <a:chOff x="7589520" y="1371600"/>
              <a:chExt cx="1463040" cy="1463040"/>
            </a:xfrm>
          </p:grpSpPr>
          <p:sp>
            <p:nvSpPr>
              <p:cNvPr id="29" name="Forma 28"/>
              <p:cNvSpPr/>
              <p:nvPr/>
            </p:nvSpPr>
            <p:spPr>
              <a:xfrm>
                <a:off x="7589520" y="1371600"/>
                <a:ext cx="1463040" cy="1463040"/>
              </a:xfrm>
              <a:prstGeom prst="ellipse">
                <a:avLst/>
              </a:prstGeom>
              <a:gradFill rotWithShape="1">
                <a:gsLst>
                  <a:gs pos="0">
                    <a:srgbClr val="EEF7FD"/>
                  </a:gs>
                  <a:gs pos="55000">
                    <a:srgbClr val="E3F2FD"/>
                  </a:gs>
                  <a:gs pos="100000">
                    <a:srgbClr val="C7D4D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0" name="Forma 29"/>
              <p:cNvSpPr/>
              <p:nvPr/>
            </p:nvSpPr>
            <p:spPr>
              <a:xfrm>
                <a:off x="7794346" y="1576426"/>
                <a:ext cx="1053389" cy="1053389"/>
              </a:xfrm>
              <a:prstGeom prst="ellipse">
                <a:avLst/>
              </a:prstGeom>
              <a:gradFill rotWithShape="1">
                <a:gsLst>
                  <a:gs pos="0">
                    <a:srgbClr val="7E57C2"/>
                  </a:gs>
                  <a:gs pos="100000">
                    <a:srgbClr val="311B92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1A0F4F"/>
                </a:solidFill>
                <a:round/>
              </a:ln>
            </p:spPr>
          </p:sp>
        </p:grpSp>
        <p:sp>
          <p:nvSpPr>
            <p:cNvPr id="31" name="Rótulo Linfocito"/>
            <p:cNvSpPr/>
            <p:nvPr/>
          </p:nvSpPr>
          <p:spPr>
            <a:xfrm>
              <a:off x="7360920" y="2971800"/>
              <a:ext cx="201168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Linfocito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32" name="Forma 31"/>
            <p:cNvSpPr txBox="1"/>
            <p:nvPr/>
          </p:nvSpPr>
          <p:spPr>
            <a:xfrm>
              <a:off x="7315200" y="3474720"/>
              <a:ext cx="21031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virus · fabrica anticuerpos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33" name="!!Monocito"/>
          <p:cNvGrpSpPr/>
          <p:nvPr/>
        </p:nvGrpSpPr>
        <p:grpSpPr>
          <a:xfrm>
            <a:off x="9601200" y="1371600"/>
            <a:ext cx="2103120" cy="2788920"/>
            <a:chOff x="9601200" y="1371600"/>
            <a:chExt cx="2103120" cy="2788920"/>
          </a:xfrm>
        </p:grpSpPr>
        <p:grpSp>
          <p:nvGrpSpPr>
            <p:cNvPr id="34" name="Célula Monocito"/>
            <p:cNvGrpSpPr/>
            <p:nvPr/>
          </p:nvGrpSpPr>
          <p:grpSpPr>
            <a:xfrm>
              <a:off x="9875520" y="1371600"/>
              <a:ext cx="1463040" cy="1463040"/>
              <a:chOff x="9875520" y="1371600"/>
              <a:chExt cx="1463040" cy="1463040"/>
            </a:xfrm>
          </p:grpSpPr>
          <p:sp>
            <p:nvSpPr>
              <p:cNvPr id="35" name="Forma 34"/>
              <p:cNvSpPr/>
              <p:nvPr/>
            </p:nvSpPr>
            <p:spPr>
              <a:xfrm>
                <a:off x="9875520" y="1371600"/>
                <a:ext cx="1463040" cy="1463040"/>
              </a:xfrm>
              <a:prstGeom prst="ellipse">
                <a:avLst/>
              </a:prstGeom>
              <a:gradFill rotWithShape="1">
                <a:gsLst>
                  <a:gs pos="0">
                    <a:srgbClr val="F4F0F9"/>
                  </a:gs>
                  <a:gs pos="55000">
                    <a:srgbClr val="EDE7F6"/>
                  </a:gs>
                  <a:gs pos="100000">
                    <a:srgbClr val="D0CBD8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6" name="Forma 35"/>
              <p:cNvSpPr/>
              <p:nvPr/>
            </p:nvSpPr>
            <p:spPr>
              <a:xfrm>
                <a:off x="9875520" y="1371600"/>
                <a:ext cx="1463040" cy="14630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50" y="300"/>
                    </a:moveTo>
                    <a:cubicBezTo>
                      <a:pt x="286" y="245"/>
                      <a:pt x="375" y="230"/>
                      <a:pt x="450" y="230"/>
                    </a:cubicBezTo>
                    <a:cubicBezTo>
                      <a:pt x="525" y="230"/>
                      <a:pt x="655" y="255"/>
                      <a:pt x="700" y="300"/>
                    </a:cubicBezTo>
                    <a:cubicBezTo>
                      <a:pt x="745" y="345"/>
                      <a:pt x="736" y="456"/>
                      <a:pt x="720" y="500"/>
                    </a:cubicBezTo>
                    <a:cubicBezTo>
                      <a:pt x="703" y="543"/>
                      <a:pt x="640" y="556"/>
                      <a:pt x="600" y="560"/>
                    </a:cubicBezTo>
                    <a:cubicBezTo>
                      <a:pt x="560" y="563"/>
                      <a:pt x="516" y="506"/>
                      <a:pt x="480" y="520"/>
                    </a:cubicBezTo>
                    <a:cubicBezTo>
                      <a:pt x="443" y="533"/>
                      <a:pt x="421" y="633"/>
                      <a:pt x="380" y="640"/>
                    </a:cubicBezTo>
                    <a:cubicBezTo>
                      <a:pt x="338" y="646"/>
                      <a:pt x="251" y="616"/>
                      <a:pt x="230" y="560"/>
                    </a:cubicBezTo>
                    <a:cubicBezTo>
                      <a:pt x="208" y="503"/>
                      <a:pt x="213" y="355"/>
                      <a:pt x="250" y="3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575CD"/>
                  </a:gs>
                  <a:gs pos="100000">
                    <a:srgbClr val="4527A0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311B92"/>
                </a:solidFill>
                <a:round/>
              </a:ln>
            </p:spPr>
          </p:sp>
        </p:grpSp>
        <p:sp>
          <p:nvSpPr>
            <p:cNvPr id="37" name="Rótulo Monocito"/>
            <p:cNvSpPr/>
            <p:nvPr/>
          </p:nvSpPr>
          <p:spPr>
            <a:xfrm>
              <a:off x="9646920" y="2971800"/>
              <a:ext cx="201168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Monocito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38" name="Forma 37"/>
            <p:cNvSpPr txBox="1"/>
            <p:nvPr/>
          </p:nvSpPr>
          <p:spPr>
            <a:xfrm>
              <a:off x="9601200" y="3474720"/>
              <a:ext cx="210312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fagocita patógenos y detritos</a:t>
              </a:r>
              <a:endParaRPr lang="es-AR" sz="1450" dirty="0">
                <a:latin typeface="Calibri"/>
              </a:endParaRPr>
            </a:p>
          </p:txBody>
        </p:sp>
      </p:grpSp>
      <p:sp>
        <p:nvSpPr>
          <p:cNvPr id="39" name="Granulocitos"/>
          <p:cNvSpPr/>
          <p:nvPr/>
        </p:nvSpPr>
        <p:spPr>
          <a:xfrm>
            <a:off x="411480" y="4343400"/>
            <a:ext cx="6583680" cy="114300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Granulocitos (polimorfonucleares)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gránulos visibles y núcleos de formas variadas; se nombran por su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afinidad tintorial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sp>
        <p:nvSpPr>
          <p:cNvPr id="40" name="Mononucleares"/>
          <p:cNvSpPr/>
          <p:nvPr/>
        </p:nvSpPr>
        <p:spPr>
          <a:xfrm>
            <a:off x="7178040" y="4343400"/>
            <a:ext cx="4572000" cy="114300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Mononucleares (agranulares)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linfocitos y monocitos.</a:t>
            </a:r>
            <a:endParaRPr lang="es-AR" sz="1950" dirty="0">
              <a:latin typeface="Calibri"/>
            </a:endParaRPr>
          </a:p>
        </p:txBody>
      </p:sp>
      <p:sp>
        <p:nvSpPr>
          <p:cNvPr id="41" name="VR leucocitos"/>
          <p:cNvSpPr/>
          <p:nvPr/>
        </p:nvSpPr>
        <p:spPr>
          <a:xfrm>
            <a:off x="411480" y="5623560"/>
            <a:ext cx="11338560" cy="8229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4.000 – 11.000 leucocitos / mm</a:t>
            </a:r>
            <a:r>
              <a:rPr lang="es-AR" sz="22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· hay unas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100 veces menos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leucocitos que eritrocitos.</a:t>
            </a:r>
            <a:endParaRPr lang="es-AR" sz="22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LEUCOCITOS: EL COMPONENTE CELULAR INMUNOLÓGICO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!!MedulaOsea"/>
          <p:cNvGrpSpPr/>
          <p:nvPr/>
        </p:nvGrpSpPr>
        <p:grpSpPr>
          <a:xfrm>
            <a:off x="274320" y="1097280"/>
            <a:ext cx="3840480" cy="2743200"/>
            <a:chOff x="274320" y="1097280"/>
            <a:chExt cx="3840480" cy="2743200"/>
          </a:xfrm>
        </p:grpSpPr>
        <p:sp>
          <p:nvSpPr>
            <p:cNvPr id="6" name="Hueso"/>
            <p:cNvSpPr/>
            <p:nvPr/>
          </p:nvSpPr>
          <p:spPr>
            <a:xfrm>
              <a:off x="274320" y="1097280"/>
              <a:ext cx="3840480" cy="27432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édula"/>
            <p:cNvSpPr/>
            <p:nvPr/>
          </p:nvSpPr>
          <p:spPr>
            <a:xfrm>
              <a:off x="504749" y="1426464"/>
              <a:ext cx="3379622" cy="2084832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429740" y="2541678"/>
              <a:ext cx="270199" cy="27019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510800" y="2622737"/>
              <a:ext cx="108080" cy="108080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0" name="Forma 9"/>
            <p:cNvSpPr/>
            <p:nvPr/>
          </p:nvSpPr>
          <p:spPr>
            <a:xfrm>
              <a:off x="2561508" y="1753775"/>
              <a:ext cx="221262" cy="221262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2627887" y="1820154"/>
              <a:ext cx="88505" cy="8850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2" name="Forma 11"/>
            <p:cNvSpPr/>
            <p:nvPr/>
          </p:nvSpPr>
          <p:spPr>
            <a:xfrm>
              <a:off x="1492171" y="2031610"/>
              <a:ext cx="356019" cy="35601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1598977" y="2138416"/>
              <a:ext cx="142407" cy="142407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4" name="Forma 13"/>
            <p:cNvSpPr/>
            <p:nvPr/>
          </p:nvSpPr>
          <p:spPr>
            <a:xfrm>
              <a:off x="2314153" y="2550569"/>
              <a:ext cx="273927" cy="273927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2396331" y="2632747"/>
              <a:ext cx="109571" cy="109571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6" name="Forma 15"/>
            <p:cNvSpPr/>
            <p:nvPr/>
          </p:nvSpPr>
          <p:spPr>
            <a:xfrm>
              <a:off x="1412103" y="1895478"/>
              <a:ext cx="346444" cy="346444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1516036" y="1999411"/>
              <a:ext cx="138577" cy="138577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8" name="Forma 17"/>
            <p:cNvSpPr/>
            <p:nvPr/>
          </p:nvSpPr>
          <p:spPr>
            <a:xfrm>
              <a:off x="2898717" y="2751010"/>
              <a:ext cx="228239" cy="228239"/>
            </a:xfrm>
            <a:prstGeom prst="ellipse">
              <a:avLst/>
            </a:pr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2749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14D69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2967189" y="2819481"/>
              <a:ext cx="91295" cy="9129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0" name="Forma 19"/>
            <p:cNvSpPr/>
            <p:nvPr/>
          </p:nvSpPr>
          <p:spPr>
            <a:xfrm>
              <a:off x="1614507" y="1696963"/>
              <a:ext cx="338172" cy="338172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1715959" y="1798414"/>
              <a:ext cx="135269" cy="135269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2" name="Forma 21"/>
            <p:cNvSpPr/>
            <p:nvPr/>
          </p:nvSpPr>
          <p:spPr>
            <a:xfrm>
              <a:off x="2471112" y="3160424"/>
              <a:ext cx="272620" cy="272620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2552898" y="3242210"/>
              <a:ext cx="109048" cy="109048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</p:grpSp>
      <p:grpSp>
        <p:nvGrpSpPr>
          <p:cNvPr id="24" name="!!Megacariocito"/>
          <p:cNvGrpSpPr/>
          <p:nvPr/>
        </p:nvGrpSpPr>
        <p:grpSpPr>
          <a:xfrm>
            <a:off x="1188720" y="1600200"/>
            <a:ext cx="1737360" cy="1737360"/>
            <a:chOff x="1188720" y="1600200"/>
            <a:chExt cx="1737360" cy="1737360"/>
          </a:xfrm>
        </p:grpSpPr>
        <p:sp>
          <p:nvSpPr>
            <p:cNvPr id="25" name="Forma 24"/>
            <p:cNvSpPr/>
            <p:nvPr/>
          </p:nvSpPr>
          <p:spPr>
            <a:xfrm>
              <a:off x="1188720" y="1600200"/>
              <a:ext cx="173736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40"/>
                  </a:moveTo>
                  <a:cubicBezTo>
                    <a:pt x="566" y="40"/>
                    <a:pt x="636" y="58"/>
                    <a:pt x="700" y="90"/>
                  </a:cubicBezTo>
                  <a:cubicBezTo>
                    <a:pt x="763" y="121"/>
                    <a:pt x="836" y="170"/>
                    <a:pt x="880" y="230"/>
                  </a:cubicBezTo>
                  <a:cubicBezTo>
                    <a:pt x="923" y="290"/>
                    <a:pt x="956" y="371"/>
                    <a:pt x="960" y="450"/>
                  </a:cubicBezTo>
                  <a:cubicBezTo>
                    <a:pt x="963" y="528"/>
                    <a:pt x="933" y="628"/>
                    <a:pt x="900" y="700"/>
                  </a:cubicBezTo>
                  <a:cubicBezTo>
                    <a:pt x="866" y="771"/>
                    <a:pt x="823" y="836"/>
                    <a:pt x="760" y="880"/>
                  </a:cubicBezTo>
                  <a:cubicBezTo>
                    <a:pt x="696" y="923"/>
                    <a:pt x="600" y="956"/>
                    <a:pt x="520" y="960"/>
                  </a:cubicBezTo>
                  <a:cubicBezTo>
                    <a:pt x="440" y="963"/>
                    <a:pt x="348" y="940"/>
                    <a:pt x="280" y="900"/>
                  </a:cubicBezTo>
                  <a:cubicBezTo>
                    <a:pt x="211" y="860"/>
                    <a:pt x="148" y="791"/>
                    <a:pt x="110" y="720"/>
                  </a:cubicBezTo>
                  <a:cubicBezTo>
                    <a:pt x="71" y="648"/>
                    <a:pt x="48" y="550"/>
                    <a:pt x="50" y="470"/>
                  </a:cubicBezTo>
                  <a:cubicBezTo>
                    <a:pt x="51" y="390"/>
                    <a:pt x="78" y="303"/>
                    <a:pt x="120" y="240"/>
                  </a:cubicBezTo>
                  <a:cubicBezTo>
                    <a:pt x="161" y="176"/>
                    <a:pt x="236" y="123"/>
                    <a:pt x="300" y="90"/>
                  </a:cubicBezTo>
                  <a:cubicBezTo>
                    <a:pt x="363" y="56"/>
                    <a:pt x="433" y="40"/>
                    <a:pt x="50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1E8F5"/>
                </a:gs>
                <a:gs pos="55000">
                  <a:srgbClr val="E8DAEF"/>
                </a:gs>
                <a:gs pos="100000">
                  <a:srgbClr val="B9AEBF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C348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6" name="Forma 25"/>
            <p:cNvSpPr/>
            <p:nvPr/>
          </p:nvSpPr>
          <p:spPr>
            <a:xfrm>
              <a:off x="1188720" y="1600200"/>
              <a:ext cx="173736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50" y="420"/>
                  </a:moveTo>
                  <a:cubicBezTo>
                    <a:pt x="550" y="502"/>
                    <a:pt x="482" y="570"/>
                    <a:pt x="400" y="570"/>
                  </a:cubicBezTo>
                  <a:cubicBezTo>
                    <a:pt x="317" y="570"/>
                    <a:pt x="250" y="502"/>
                    <a:pt x="250" y="420"/>
                  </a:cubicBezTo>
                  <a:cubicBezTo>
                    <a:pt x="250" y="337"/>
                    <a:pt x="317" y="270"/>
                    <a:pt x="400" y="270"/>
                  </a:cubicBezTo>
                  <a:cubicBezTo>
                    <a:pt x="482" y="270"/>
                    <a:pt x="550" y="337"/>
                    <a:pt x="550" y="420"/>
                  </a:cubicBezTo>
                  <a:close/>
                  <a:moveTo>
                    <a:pt x="720" y="380"/>
                  </a:moveTo>
                  <a:cubicBezTo>
                    <a:pt x="720" y="457"/>
                    <a:pt x="657" y="520"/>
                    <a:pt x="580" y="520"/>
                  </a:cubicBezTo>
                  <a:cubicBezTo>
                    <a:pt x="502" y="520"/>
                    <a:pt x="440" y="457"/>
                    <a:pt x="440" y="380"/>
                  </a:cubicBezTo>
                  <a:cubicBezTo>
                    <a:pt x="440" y="302"/>
                    <a:pt x="502" y="240"/>
                    <a:pt x="580" y="240"/>
                  </a:cubicBezTo>
                  <a:cubicBezTo>
                    <a:pt x="657" y="240"/>
                    <a:pt x="720" y="302"/>
                    <a:pt x="720" y="380"/>
                  </a:cubicBezTo>
                  <a:close/>
                  <a:moveTo>
                    <a:pt x="710" y="580"/>
                  </a:moveTo>
                  <a:cubicBezTo>
                    <a:pt x="710" y="662"/>
                    <a:pt x="642" y="730"/>
                    <a:pt x="560" y="730"/>
                  </a:cubicBezTo>
                  <a:cubicBezTo>
                    <a:pt x="477" y="730"/>
                    <a:pt x="410" y="662"/>
                    <a:pt x="410" y="580"/>
                  </a:cubicBezTo>
                  <a:cubicBezTo>
                    <a:pt x="410" y="497"/>
                    <a:pt x="477" y="430"/>
                    <a:pt x="560" y="430"/>
                  </a:cubicBezTo>
                  <a:cubicBezTo>
                    <a:pt x="642" y="430"/>
                    <a:pt x="710" y="497"/>
                    <a:pt x="710" y="580"/>
                  </a:cubicBezTo>
                  <a:close/>
                  <a:moveTo>
                    <a:pt x="510" y="600"/>
                  </a:moveTo>
                  <a:cubicBezTo>
                    <a:pt x="510" y="671"/>
                    <a:pt x="451" y="730"/>
                    <a:pt x="380" y="730"/>
                  </a:cubicBezTo>
                  <a:cubicBezTo>
                    <a:pt x="308" y="730"/>
                    <a:pt x="250" y="671"/>
                    <a:pt x="250" y="600"/>
                  </a:cubicBezTo>
                  <a:cubicBezTo>
                    <a:pt x="250" y="528"/>
                    <a:pt x="308" y="470"/>
                    <a:pt x="380" y="470"/>
                  </a:cubicBezTo>
                  <a:cubicBezTo>
                    <a:pt x="451" y="470"/>
                    <a:pt x="510" y="528"/>
                    <a:pt x="51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8E44AD"/>
                </a:gs>
                <a:gs pos="100000">
                  <a:srgbClr val="4A235A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4A235A"/>
              </a:solidFill>
              <a:round/>
            </a:ln>
          </p:spPr>
        </p:sp>
      </p:grpSp>
      <p:sp>
        <p:nvSpPr>
          <p:cNvPr id="27" name="!!Plaqueta 0"/>
          <p:cNvSpPr/>
          <p:nvPr/>
        </p:nvSpPr>
        <p:spPr>
          <a:xfrm>
            <a:off x="2743200" y="2194560"/>
            <a:ext cx="384048" cy="238110"/>
          </a:xfrm>
          <a:prstGeom prst="ellipse">
            <a:avLst/>
          </a:prstGeom>
          <a:gradFill rotWithShape="1">
            <a:gsLst>
              <a:gs pos="0">
                <a:srgbClr val="E4D2EB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6C3483"/>
            </a:solidFill>
            <a:round/>
          </a:ln>
        </p:spPr>
      </p:sp>
      <p:sp>
        <p:nvSpPr>
          <p:cNvPr id="28" name="!!Plaqueta 1"/>
          <p:cNvSpPr/>
          <p:nvPr/>
        </p:nvSpPr>
        <p:spPr>
          <a:xfrm>
            <a:off x="2788920" y="2468880"/>
            <a:ext cx="384048" cy="238110"/>
          </a:xfrm>
          <a:prstGeom prst="ellipse">
            <a:avLst/>
          </a:prstGeom>
          <a:gradFill rotWithShape="1">
            <a:gsLst>
              <a:gs pos="0">
                <a:srgbClr val="E4D2EB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6C3483"/>
            </a:solidFill>
            <a:round/>
          </a:ln>
        </p:spPr>
      </p:sp>
      <p:sp>
        <p:nvSpPr>
          <p:cNvPr id="29" name="!!Plaqueta 2"/>
          <p:cNvSpPr/>
          <p:nvPr/>
        </p:nvSpPr>
        <p:spPr>
          <a:xfrm>
            <a:off x="2834640" y="2743200"/>
            <a:ext cx="384048" cy="238110"/>
          </a:xfrm>
          <a:prstGeom prst="ellipse">
            <a:avLst/>
          </a:prstGeom>
          <a:gradFill rotWithShape="1">
            <a:gsLst>
              <a:gs pos="0">
                <a:srgbClr val="E4D2EB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6C3483"/>
            </a:solidFill>
            <a:round/>
          </a:ln>
        </p:spPr>
      </p:sp>
      <p:sp>
        <p:nvSpPr>
          <p:cNvPr id="30" name="!!Plaqueta 3"/>
          <p:cNvSpPr/>
          <p:nvPr/>
        </p:nvSpPr>
        <p:spPr>
          <a:xfrm>
            <a:off x="2880360" y="2194560"/>
            <a:ext cx="384048" cy="238110"/>
          </a:xfrm>
          <a:prstGeom prst="ellipse">
            <a:avLst/>
          </a:prstGeom>
          <a:gradFill rotWithShape="1">
            <a:gsLst>
              <a:gs pos="0">
                <a:srgbClr val="E4D2EB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6C3483"/>
            </a:solidFill>
            <a:round/>
          </a:ln>
        </p:spPr>
      </p:sp>
      <p:sp>
        <p:nvSpPr>
          <p:cNvPr id="31" name="!!Plaqueta 4"/>
          <p:cNvSpPr/>
          <p:nvPr/>
        </p:nvSpPr>
        <p:spPr>
          <a:xfrm>
            <a:off x="2926080" y="2468880"/>
            <a:ext cx="384048" cy="238110"/>
          </a:xfrm>
          <a:prstGeom prst="ellipse">
            <a:avLst/>
          </a:prstGeom>
          <a:gradFill rotWithShape="1">
            <a:gsLst>
              <a:gs pos="0">
                <a:srgbClr val="E4D2EB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6C3483"/>
            </a:solidFill>
            <a:round/>
          </a:ln>
        </p:spPr>
      </p:sp>
      <p:sp>
        <p:nvSpPr>
          <p:cNvPr id="32" name="Origen plaquetas"/>
          <p:cNvSpPr/>
          <p:nvPr/>
        </p:nvSpPr>
        <p:spPr>
          <a:xfrm>
            <a:off x="274320" y="4114800"/>
            <a:ext cx="3840480" cy="109728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son células: son </a:t>
            </a:r>
            <a:r>
              <a:rPr lang="es-AR" sz="17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fragmentos del citoplasma</a:t>
            </a:r>
            <a:r>
              <a:rPr lang="es-AR" sz="17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megacariocito, que emite seudópodos que se fragmentan.</a:t>
            </a:r>
            <a:endParaRPr lang="es-AR" sz="1700" dirty="0">
              <a:latin typeface="Calibri"/>
            </a:endParaRPr>
          </a:p>
        </p:txBody>
      </p:sp>
      <p:sp>
        <p:nvSpPr>
          <p:cNvPr id="33" name="!!Vaso lesionado"/>
          <p:cNvSpPr/>
          <p:nvPr/>
        </p:nvSpPr>
        <p:spPr>
          <a:xfrm>
            <a:off x="4572000" y="1188720"/>
            <a:ext cx="3474720" cy="35661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5B7B1"/>
              </a:gs>
              <a:gs pos="100000">
                <a:srgbClr val="FADBD8"/>
              </a:gs>
            </a:gsLst>
            <a:lin ang="5400000" scaled="0"/>
          </a:gradFill>
          <a:ln w="25400" cap="rnd">
            <a:solidFill>
              <a:srgbClr val="922B21"/>
            </a:solidFill>
            <a:round/>
          </a:ln>
        </p:spPr>
      </p:sp>
      <p:sp>
        <p:nvSpPr>
          <p:cNvPr id="34" name="Lesión vascular"/>
          <p:cNvSpPr/>
          <p:nvPr/>
        </p:nvSpPr>
        <p:spPr>
          <a:xfrm>
            <a:off x="5852160" y="4206240"/>
            <a:ext cx="914400" cy="548640"/>
          </a:xfrm>
          <a:prstGeom prst="triangle">
            <a:avLst/>
          </a:prstGeom>
          <a:solidFill>
            <a:srgbClr val="FFFFFF"/>
          </a:solidFill>
          <a:ln w="25400" cap="rnd">
            <a:solidFill>
              <a:srgbClr val="922B21"/>
            </a:solidFill>
            <a:round/>
          </a:ln>
        </p:spPr>
      </p:sp>
      <p:grpSp>
        <p:nvGrpSpPr>
          <p:cNvPr id="35" name="Malla de fibrina"/>
          <p:cNvGrpSpPr/>
          <p:nvPr/>
        </p:nvGrpSpPr>
        <p:grpSpPr>
          <a:xfrm>
            <a:off x="5303520" y="3383280"/>
            <a:ext cx="1828800" cy="1005840"/>
            <a:chOff x="5303520" y="3383280"/>
            <a:chExt cx="1828800" cy="1005840"/>
          </a:xfrm>
        </p:grpSpPr>
        <p:sp>
          <p:nvSpPr>
            <p:cNvPr id="36" name="Flecha 35_2"/>
            <p:cNvSpPr/>
            <p:nvPr/>
          </p:nvSpPr>
          <p:spPr>
            <a:xfrm>
              <a:off x="5394960" y="3383280"/>
              <a:ext cx="274320" cy="1005840"/>
            </a:xfrm>
            <a:custGeom>
              <a:avLst/>
              <a:gdLst/>
              <a:ahLst/>
              <a:cxnLst/>
              <a:rect l="0" t="0" r="r" b="b"/>
              <a:pathLst>
                <a:path w="299" h="1099" fill="none">
                  <a:moveTo>
                    <a:pt x="0" y="0"/>
                  </a:moveTo>
                  <a:lnTo>
                    <a:pt x="299" y="109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37" name="Flecha 37_2"/>
            <p:cNvSpPr/>
            <p:nvPr/>
          </p:nvSpPr>
          <p:spPr>
            <a:xfrm>
              <a:off x="5303520" y="3566160"/>
              <a:ext cx="1828800" cy="91440"/>
            </a:xfrm>
            <a:custGeom>
              <a:avLst/>
              <a:gdLst/>
              <a:ahLst/>
              <a:cxnLst/>
              <a:rect l="0" t="0" r="r" b="b"/>
              <a:pathLst>
                <a:path w="2000" h="100" fill="none">
                  <a:moveTo>
                    <a:pt x="0" y="0"/>
                  </a:moveTo>
                  <a:lnTo>
                    <a:pt x="2000" y="100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38" name="Flecha 39_2"/>
            <p:cNvSpPr/>
            <p:nvPr/>
          </p:nvSpPr>
          <p:spPr>
            <a:xfrm>
              <a:off x="5623560" y="3383280"/>
              <a:ext cx="228600" cy="1005840"/>
            </a:xfrm>
            <a:custGeom>
              <a:avLst/>
              <a:gdLst/>
              <a:ahLst/>
              <a:cxnLst/>
              <a:rect l="0" t="0" r="r" b="b"/>
              <a:pathLst>
                <a:path w="250" h="1099" fill="none">
                  <a:moveTo>
                    <a:pt x="0" y="0"/>
                  </a:moveTo>
                  <a:lnTo>
                    <a:pt x="250" y="109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39" name="Flecha 41_2"/>
            <p:cNvSpPr/>
            <p:nvPr/>
          </p:nvSpPr>
          <p:spPr>
            <a:xfrm>
              <a:off x="5303520" y="3685032"/>
              <a:ext cx="1828800" cy="82296"/>
            </a:xfrm>
            <a:custGeom>
              <a:avLst/>
              <a:gdLst/>
              <a:ahLst/>
              <a:cxnLst/>
              <a:rect l="0" t="0" r="r" b="b"/>
              <a:pathLst>
                <a:path w="2000" h="89" fill="none">
                  <a:moveTo>
                    <a:pt x="0" y="0"/>
                  </a:moveTo>
                  <a:lnTo>
                    <a:pt x="2000" y="8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0" name="Flecha 43_2"/>
            <p:cNvSpPr/>
            <p:nvPr/>
          </p:nvSpPr>
          <p:spPr>
            <a:xfrm>
              <a:off x="5852160" y="3383280"/>
              <a:ext cx="182880" cy="1005840"/>
            </a:xfrm>
            <a:custGeom>
              <a:avLst/>
              <a:gdLst/>
              <a:ahLst/>
              <a:cxnLst/>
              <a:rect l="0" t="0" r="r" b="b"/>
              <a:pathLst>
                <a:path w="200" h="1099" fill="none">
                  <a:moveTo>
                    <a:pt x="0" y="0"/>
                  </a:moveTo>
                  <a:lnTo>
                    <a:pt x="200" y="109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1" name="Flecha 45_2"/>
            <p:cNvSpPr/>
            <p:nvPr/>
          </p:nvSpPr>
          <p:spPr>
            <a:xfrm>
              <a:off x="5303520" y="3803904"/>
              <a:ext cx="1828800" cy="73152"/>
            </a:xfrm>
            <a:custGeom>
              <a:avLst/>
              <a:gdLst/>
              <a:ahLst/>
              <a:cxnLst/>
              <a:rect l="0" t="0" r="r" b="b"/>
              <a:pathLst>
                <a:path w="2000" h="80" fill="none">
                  <a:moveTo>
                    <a:pt x="0" y="0"/>
                  </a:moveTo>
                  <a:lnTo>
                    <a:pt x="2000" y="80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2" name="Flecha 47_2"/>
            <p:cNvSpPr/>
            <p:nvPr/>
          </p:nvSpPr>
          <p:spPr>
            <a:xfrm>
              <a:off x="6080760" y="3383280"/>
              <a:ext cx="137160" cy="1005840"/>
            </a:xfrm>
            <a:custGeom>
              <a:avLst/>
              <a:gdLst/>
              <a:ahLst/>
              <a:cxnLst/>
              <a:rect l="0" t="0" r="r" b="b"/>
              <a:pathLst>
                <a:path w="150" h="1099" fill="none">
                  <a:moveTo>
                    <a:pt x="0" y="0"/>
                  </a:moveTo>
                  <a:lnTo>
                    <a:pt x="150" y="109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3" name="Flecha 49_2"/>
            <p:cNvSpPr/>
            <p:nvPr/>
          </p:nvSpPr>
          <p:spPr>
            <a:xfrm>
              <a:off x="5303520" y="3922776"/>
              <a:ext cx="1828800" cy="64008"/>
            </a:xfrm>
            <a:custGeom>
              <a:avLst/>
              <a:gdLst/>
              <a:ahLst/>
              <a:cxnLst/>
              <a:rect l="0" t="0" r="r" b="b"/>
              <a:pathLst>
                <a:path w="2000" h="70" fill="none">
                  <a:moveTo>
                    <a:pt x="0" y="0"/>
                  </a:moveTo>
                  <a:lnTo>
                    <a:pt x="2000" y="70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4" name="Flecha 51_2"/>
            <p:cNvSpPr/>
            <p:nvPr/>
          </p:nvSpPr>
          <p:spPr>
            <a:xfrm>
              <a:off x="6309360" y="3383280"/>
              <a:ext cx="91440" cy="1005840"/>
            </a:xfrm>
            <a:custGeom>
              <a:avLst/>
              <a:gdLst/>
              <a:ahLst/>
              <a:cxnLst/>
              <a:rect l="0" t="0" r="r" b="b"/>
              <a:pathLst>
                <a:path w="99" h="1099" fill="none">
                  <a:moveTo>
                    <a:pt x="0" y="0"/>
                  </a:moveTo>
                  <a:lnTo>
                    <a:pt x="99" y="109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5" name="Flecha 53_2"/>
            <p:cNvSpPr/>
            <p:nvPr/>
          </p:nvSpPr>
          <p:spPr>
            <a:xfrm>
              <a:off x="5303520" y="4041648"/>
              <a:ext cx="1828800" cy="54864"/>
            </a:xfrm>
            <a:custGeom>
              <a:avLst/>
              <a:gdLst/>
              <a:ahLst/>
              <a:cxnLst/>
              <a:rect l="0" t="0" r="r" b="b"/>
              <a:pathLst>
                <a:path w="2000" h="60" fill="none">
                  <a:moveTo>
                    <a:pt x="0" y="0"/>
                  </a:moveTo>
                  <a:lnTo>
                    <a:pt x="2000" y="60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6" name="Flecha 55_2"/>
            <p:cNvSpPr/>
            <p:nvPr/>
          </p:nvSpPr>
          <p:spPr>
            <a:xfrm>
              <a:off x="6537960" y="3383280"/>
              <a:ext cx="45720" cy="1005840"/>
            </a:xfrm>
            <a:custGeom>
              <a:avLst/>
              <a:gdLst/>
              <a:ahLst/>
              <a:cxnLst/>
              <a:rect l="0" t="0" r="r" b="b"/>
              <a:pathLst>
                <a:path w="49" h="1099" fill="none">
                  <a:moveTo>
                    <a:pt x="0" y="0"/>
                  </a:moveTo>
                  <a:lnTo>
                    <a:pt x="49" y="109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7" name="Flecha 57_2"/>
            <p:cNvSpPr/>
            <p:nvPr/>
          </p:nvSpPr>
          <p:spPr>
            <a:xfrm>
              <a:off x="5303520" y="4160520"/>
              <a:ext cx="1828800" cy="45720"/>
            </a:xfrm>
            <a:custGeom>
              <a:avLst/>
              <a:gdLst/>
              <a:ahLst/>
              <a:cxnLst/>
              <a:rect l="0" t="0" r="r" b="b"/>
              <a:pathLst>
                <a:path w="2000" h="49" fill="none">
                  <a:moveTo>
                    <a:pt x="0" y="0"/>
                  </a:moveTo>
                  <a:lnTo>
                    <a:pt x="2000" y="4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8" name="Flecha 59_2"/>
            <p:cNvSpPr/>
            <p:nvPr/>
          </p:nvSpPr>
          <p:spPr>
            <a:xfrm>
              <a:off x="6766560" y="3383280"/>
              <a:ext cx="9144" cy="1005840"/>
            </a:xfrm>
            <a:custGeom>
              <a:avLst/>
              <a:gdLst/>
              <a:ahLst/>
              <a:cxnLst/>
              <a:rect l="0" t="0" r="r" b="b"/>
              <a:pathLst>
                <a:path w="10" h="1099" fill="none">
                  <a:moveTo>
                    <a:pt x="0" y="0"/>
                  </a:moveTo>
                  <a:lnTo>
                    <a:pt x="0" y="1099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  <p:sp>
          <p:nvSpPr>
            <p:cNvPr id="49" name="Flecha 61_2"/>
            <p:cNvSpPr/>
            <p:nvPr/>
          </p:nvSpPr>
          <p:spPr>
            <a:xfrm>
              <a:off x="5303520" y="4279392"/>
              <a:ext cx="1828800" cy="36576"/>
            </a:xfrm>
            <a:custGeom>
              <a:avLst/>
              <a:gdLst/>
              <a:ahLst/>
              <a:cxnLst/>
              <a:rect l="0" t="0" r="r" b="b"/>
              <a:pathLst>
                <a:path w="2000" h="40" fill="none">
                  <a:moveTo>
                    <a:pt x="0" y="0"/>
                  </a:moveTo>
                  <a:lnTo>
                    <a:pt x="2000" y="40"/>
                  </a:lnTo>
                </a:path>
              </a:pathLst>
            </a:custGeom>
            <a:noFill/>
            <a:ln w="22225" cap="rnd">
              <a:solidFill>
                <a:srgbClr val="C0392B"/>
              </a:solidFill>
              <a:round/>
            </a:ln>
          </p:spPr>
        </p:sp>
      </p:grpSp>
      <p:sp>
        <p:nvSpPr>
          <p:cNvPr id="50" name="Hemostasia"/>
          <p:cNvSpPr/>
          <p:nvPr/>
        </p:nvSpPr>
        <p:spPr>
          <a:xfrm>
            <a:off x="4572000" y="4937760"/>
            <a:ext cx="3474720" cy="150876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Lesión vascular → plaquetas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activadas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(seudópodos) → malla plaquetaria +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fibrina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tapón plaquetario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00" dirty="0">
              <a:latin typeface="Calibri"/>
            </a:endParaRPr>
          </a:p>
        </p:txBody>
      </p:sp>
      <p:grpSp>
        <p:nvGrpSpPr>
          <p:cNvPr id="51" name="Función plaquetas"/>
          <p:cNvGrpSpPr/>
          <p:nvPr/>
        </p:nvGrpSpPr>
        <p:grpSpPr>
          <a:xfrm>
            <a:off x="8549640" y="1097280"/>
            <a:ext cx="3383280" cy="2194560"/>
            <a:chOff x="8549640" y="1097280"/>
            <a:chExt cx="3383280" cy="2194560"/>
          </a:xfrm>
        </p:grpSpPr>
        <p:sp>
          <p:nvSpPr>
            <p:cNvPr id="52" name="Forma 65"/>
            <p:cNvSpPr/>
            <p:nvPr/>
          </p:nvSpPr>
          <p:spPr>
            <a:xfrm>
              <a:off x="8549640" y="1298448"/>
              <a:ext cx="3383280" cy="19933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 principal: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hemostasia y coagulación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53" name="Forma 66"/>
            <p:cNvSpPr/>
            <p:nvPr/>
          </p:nvSpPr>
          <p:spPr>
            <a:xfrm>
              <a:off x="8677656" y="1097280"/>
              <a:ext cx="103925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54" name="VR plaquetas"/>
          <p:cNvGrpSpPr/>
          <p:nvPr/>
        </p:nvGrpSpPr>
        <p:grpSpPr>
          <a:xfrm>
            <a:off x="8549640" y="3611880"/>
            <a:ext cx="3383280" cy="1463040"/>
            <a:chOff x="8549640" y="3611880"/>
            <a:chExt cx="3383280" cy="1463040"/>
          </a:xfrm>
        </p:grpSpPr>
        <p:sp>
          <p:nvSpPr>
            <p:cNvPr id="55" name="Forma 68"/>
            <p:cNvSpPr/>
            <p:nvPr/>
          </p:nvSpPr>
          <p:spPr>
            <a:xfrm>
              <a:off x="8549640" y="3813048"/>
              <a:ext cx="3383280" cy="12618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150.000 – 400.000 / mm</a:t>
              </a:r>
              <a:r>
                <a:rPr lang="es-AR" sz="22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56" name="Forma 69"/>
            <p:cNvSpPr/>
            <p:nvPr/>
          </p:nvSpPr>
          <p:spPr>
            <a:xfrm>
              <a:off x="8677656" y="3611880"/>
              <a:ext cx="207847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DE REFERENCIA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PLAQUETAS: FRAGMENTOS DE MEGACARIOCITO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5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250 0.1867 E" pathEditMode="relative" ptsTypes="">
                                      <p:cBhvr>
                                        <p:cTn id="13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0" y="9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5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438 0.2067 E" pathEditMode="relative" ptsTypes="">
                                      <p:cBhvr>
                                        <p:cTn id="16" dur="9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87" y="10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175 0.2267 E" pathEditMode="relative" ptsTypes="">
                                      <p:cBhvr>
                                        <p:cTn id="19" dur="9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75" y="11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00"/>
                            </p:stCondLst>
                            <p:childTnLst>
                              <p:par>
                                <p:cTn id="21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63 0.1867 E" pathEditMode="relative" ptsTypes="">
                                      <p:cBhvr>
                                        <p:cTn id="22" dur="9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12" y="9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600"/>
                            </p:stCondLst>
                            <p:childTnLst>
                              <p:par>
                                <p:cTn id="24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100 0.2067 E" pathEditMode="relative" ptsTypes="">
                                      <p:cBhvr>
                                        <p:cTn id="25" dur="9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00" y="10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5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Fila Glóbulos rojos"/>
          <p:cNvGrpSpPr/>
          <p:nvPr/>
        </p:nvGrpSpPr>
        <p:grpSpPr>
          <a:xfrm>
            <a:off x="457200" y="1188720"/>
            <a:ext cx="11430000" cy="1463040"/>
            <a:chOff x="457200" y="1188720"/>
            <a:chExt cx="11430000" cy="1463040"/>
          </a:xfrm>
        </p:grpSpPr>
        <p:sp>
          <p:nvSpPr>
            <p:cNvPr id="6" name="GR 0"/>
            <p:cNvSpPr/>
            <p:nvPr/>
          </p:nvSpPr>
          <p:spPr>
            <a:xfrm>
              <a:off x="457200" y="1188720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7" name="GR 1"/>
            <p:cNvSpPr/>
            <p:nvPr/>
          </p:nvSpPr>
          <p:spPr>
            <a:xfrm>
              <a:off x="1024128" y="1188720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8" name="GR 2"/>
            <p:cNvSpPr/>
            <p:nvPr/>
          </p:nvSpPr>
          <p:spPr>
            <a:xfrm>
              <a:off x="1591056" y="1188720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9" name="GR 3"/>
            <p:cNvSpPr/>
            <p:nvPr/>
          </p:nvSpPr>
          <p:spPr>
            <a:xfrm>
              <a:off x="2157984" y="1188720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0" name="GR 4"/>
            <p:cNvSpPr/>
            <p:nvPr/>
          </p:nvSpPr>
          <p:spPr>
            <a:xfrm>
              <a:off x="2724912" y="1188720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1" name="GR 5"/>
            <p:cNvSpPr/>
            <p:nvPr/>
          </p:nvSpPr>
          <p:spPr>
            <a:xfrm>
              <a:off x="3291840" y="1188720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2" name="GR 6"/>
            <p:cNvSpPr/>
            <p:nvPr/>
          </p:nvSpPr>
          <p:spPr>
            <a:xfrm>
              <a:off x="457200" y="1755648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3" name="GR 7"/>
            <p:cNvSpPr/>
            <p:nvPr/>
          </p:nvSpPr>
          <p:spPr>
            <a:xfrm>
              <a:off x="1024128" y="1755648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4" name="GR 8"/>
            <p:cNvSpPr/>
            <p:nvPr/>
          </p:nvSpPr>
          <p:spPr>
            <a:xfrm>
              <a:off x="1591056" y="1755648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5" name="GR 9"/>
            <p:cNvSpPr/>
            <p:nvPr/>
          </p:nvSpPr>
          <p:spPr>
            <a:xfrm>
              <a:off x="2157984" y="1755648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6" name="GR 10"/>
            <p:cNvSpPr/>
            <p:nvPr/>
          </p:nvSpPr>
          <p:spPr>
            <a:xfrm>
              <a:off x="2724912" y="1755648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7" name="GR 11"/>
            <p:cNvSpPr/>
            <p:nvPr/>
          </p:nvSpPr>
          <p:spPr>
            <a:xfrm>
              <a:off x="3291840" y="1755648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4206240" y="1188720"/>
              <a:ext cx="4023360" cy="14630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Glóbulos rojos</a:t>
              </a:r>
              <a:endParaRPr lang="es-AR" sz="22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millones / mm</a:t>
              </a:r>
              <a:r>
                <a:rPr lang="es-AR" sz="22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9" name="Rótulo 4,5 – 6 millones"/>
            <p:cNvSpPr/>
            <p:nvPr/>
          </p:nvSpPr>
          <p:spPr>
            <a:xfrm>
              <a:off x="8503920" y="1645920"/>
              <a:ext cx="3383280" cy="594360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4,5 – 6 millones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0" name="Fila Plaquetas"/>
          <p:cNvGrpSpPr/>
          <p:nvPr/>
        </p:nvGrpSpPr>
        <p:grpSpPr>
          <a:xfrm>
            <a:off x="457200" y="2971800"/>
            <a:ext cx="11430000" cy="1463040"/>
            <a:chOff x="457200" y="2971800"/>
            <a:chExt cx="11430000" cy="1463040"/>
          </a:xfrm>
        </p:grpSpPr>
        <p:sp>
          <p:nvSpPr>
            <p:cNvPr id="21" name="Pl 0"/>
            <p:cNvSpPr/>
            <p:nvPr/>
          </p:nvSpPr>
          <p:spPr>
            <a:xfrm>
              <a:off x="457200" y="3063240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2" name="Pl 1"/>
            <p:cNvSpPr/>
            <p:nvPr/>
          </p:nvSpPr>
          <p:spPr>
            <a:xfrm>
              <a:off x="1024128" y="3063240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3" name="Pl 2"/>
            <p:cNvSpPr/>
            <p:nvPr/>
          </p:nvSpPr>
          <p:spPr>
            <a:xfrm>
              <a:off x="1591056" y="3063240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4" name="Pl 3"/>
            <p:cNvSpPr/>
            <p:nvPr/>
          </p:nvSpPr>
          <p:spPr>
            <a:xfrm>
              <a:off x="2157984" y="3063240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5" name="Pl 4"/>
            <p:cNvSpPr/>
            <p:nvPr/>
          </p:nvSpPr>
          <p:spPr>
            <a:xfrm>
              <a:off x="2724912" y="3063240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6" name="Pl 5"/>
            <p:cNvSpPr/>
            <p:nvPr/>
          </p:nvSpPr>
          <p:spPr>
            <a:xfrm>
              <a:off x="3291840" y="3063240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7" name="Pl 6"/>
            <p:cNvSpPr/>
            <p:nvPr/>
          </p:nvSpPr>
          <p:spPr>
            <a:xfrm>
              <a:off x="457200" y="3630168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8" name="Pl 7"/>
            <p:cNvSpPr/>
            <p:nvPr/>
          </p:nvSpPr>
          <p:spPr>
            <a:xfrm>
              <a:off x="1024128" y="3630168"/>
              <a:ext cx="475488" cy="294803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>
              <a:off x="4206240" y="2971800"/>
              <a:ext cx="4023360" cy="14630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Plaquetas</a:t>
              </a:r>
              <a:endParaRPr lang="es-AR" sz="22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cientos de miles / mm</a:t>
              </a:r>
              <a:r>
                <a:rPr lang="es-AR" sz="22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30" name="Rótulo 150.000 – 400.000"/>
            <p:cNvSpPr/>
            <p:nvPr/>
          </p:nvSpPr>
          <p:spPr>
            <a:xfrm>
              <a:off x="8503920" y="3429000"/>
              <a:ext cx="3383280" cy="594360"/>
            </a:xfrm>
            <a:prstGeom prst="rect">
              <a:avLst/>
            </a:prstGeom>
            <a:solidFill>
              <a:srgbClr val="8E44AD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150.000 – 400.000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31" name="Fila Leucocitos"/>
          <p:cNvGrpSpPr/>
          <p:nvPr/>
        </p:nvGrpSpPr>
        <p:grpSpPr>
          <a:xfrm>
            <a:off x="457200" y="4754880"/>
            <a:ext cx="11430000" cy="1463040"/>
            <a:chOff x="457200" y="4754880"/>
            <a:chExt cx="11430000" cy="1463040"/>
          </a:xfrm>
        </p:grpSpPr>
        <p:grpSp>
          <p:nvGrpSpPr>
            <p:cNvPr id="32" name="Lc 0"/>
            <p:cNvGrpSpPr/>
            <p:nvPr/>
          </p:nvGrpSpPr>
          <p:grpSpPr>
            <a:xfrm>
              <a:off x="457200" y="4754880"/>
              <a:ext cx="502920" cy="502920"/>
              <a:chOff x="457200" y="4754880"/>
              <a:chExt cx="502920" cy="502920"/>
            </a:xfrm>
          </p:grpSpPr>
          <p:sp>
            <p:nvSpPr>
              <p:cNvPr id="33" name="Forma 32"/>
              <p:cNvSpPr/>
              <p:nvPr/>
            </p:nvSpPr>
            <p:spPr>
              <a:xfrm>
                <a:off x="457200" y="4754880"/>
                <a:ext cx="502920" cy="502920"/>
              </a:xfrm>
              <a:prstGeom prst="ellipse">
                <a:avLst/>
              </a:prstGeom>
              <a:gradFill rotWithShape="1">
                <a:gsLst>
                  <a:gs pos="0">
                    <a:srgbClr val="F9F0F5"/>
                  </a:gs>
                  <a:gs pos="55000">
                    <a:srgbClr val="F5E6EF"/>
                  </a:gs>
                  <a:gs pos="100000">
                    <a:srgbClr val="D7CA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4" name="Forma 33"/>
              <p:cNvSpPr/>
              <p:nvPr/>
            </p:nvSpPr>
            <p:spPr>
              <a:xfrm>
                <a:off x="457200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D7BDE2"/>
              </a:solidFill>
              <a:ln>
                <a:noFill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457200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50" y="420"/>
                    </a:moveTo>
                    <a:cubicBezTo>
                      <a:pt x="450" y="486"/>
                      <a:pt x="396" y="540"/>
                      <a:pt x="330" y="540"/>
                    </a:cubicBezTo>
                    <a:cubicBezTo>
                      <a:pt x="263" y="540"/>
                      <a:pt x="210" y="486"/>
                      <a:pt x="210" y="420"/>
                    </a:cubicBezTo>
                    <a:cubicBezTo>
                      <a:pt x="210" y="353"/>
                      <a:pt x="263" y="300"/>
                      <a:pt x="330" y="300"/>
                    </a:cubicBezTo>
                    <a:cubicBezTo>
                      <a:pt x="396" y="300"/>
                      <a:pt x="450" y="353"/>
                      <a:pt x="450" y="420"/>
                    </a:cubicBezTo>
                    <a:close/>
                    <a:moveTo>
                      <a:pt x="620" y="330"/>
                    </a:moveTo>
                    <a:cubicBezTo>
                      <a:pt x="620" y="396"/>
                      <a:pt x="566" y="450"/>
                      <a:pt x="500" y="450"/>
                    </a:cubicBezTo>
                    <a:cubicBezTo>
                      <a:pt x="433" y="450"/>
                      <a:pt x="380" y="396"/>
                      <a:pt x="380" y="330"/>
                    </a:cubicBezTo>
                    <a:cubicBezTo>
                      <a:pt x="380" y="263"/>
                      <a:pt x="433" y="210"/>
                      <a:pt x="500" y="210"/>
                    </a:cubicBezTo>
                    <a:cubicBezTo>
                      <a:pt x="566" y="210"/>
                      <a:pt x="620" y="263"/>
                      <a:pt x="620" y="330"/>
                    </a:cubicBezTo>
                    <a:close/>
                    <a:moveTo>
                      <a:pt x="780" y="450"/>
                    </a:moveTo>
                    <a:cubicBezTo>
                      <a:pt x="780" y="516"/>
                      <a:pt x="726" y="570"/>
                      <a:pt x="660" y="570"/>
                    </a:cubicBezTo>
                    <a:cubicBezTo>
                      <a:pt x="593" y="570"/>
                      <a:pt x="540" y="516"/>
                      <a:pt x="540" y="450"/>
                    </a:cubicBezTo>
                    <a:cubicBezTo>
                      <a:pt x="540" y="383"/>
                      <a:pt x="593" y="330"/>
                      <a:pt x="660" y="330"/>
                    </a:cubicBezTo>
                    <a:cubicBezTo>
                      <a:pt x="726" y="330"/>
                      <a:pt x="780" y="383"/>
                      <a:pt x="780" y="450"/>
                    </a:cubicBezTo>
                    <a:close/>
                    <a:moveTo>
                      <a:pt x="630" y="600"/>
                    </a:moveTo>
                    <a:cubicBezTo>
                      <a:pt x="630" y="660"/>
                      <a:pt x="580" y="710"/>
                      <a:pt x="520" y="710"/>
                    </a:cubicBezTo>
                    <a:cubicBezTo>
                      <a:pt x="459" y="710"/>
                      <a:pt x="410" y="660"/>
                      <a:pt x="410" y="600"/>
                    </a:cubicBezTo>
                    <a:cubicBezTo>
                      <a:pt x="410" y="539"/>
                      <a:pt x="459" y="490"/>
                      <a:pt x="520" y="490"/>
                    </a:cubicBezTo>
                    <a:cubicBezTo>
                      <a:pt x="580" y="490"/>
                      <a:pt x="630" y="539"/>
                      <a:pt x="630" y="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grpSp>
          <p:nvGrpSpPr>
            <p:cNvPr id="36" name="Lc 1"/>
            <p:cNvGrpSpPr/>
            <p:nvPr/>
          </p:nvGrpSpPr>
          <p:grpSpPr>
            <a:xfrm>
              <a:off x="1024128" y="4754880"/>
              <a:ext cx="502920" cy="502920"/>
              <a:chOff x="1024128" y="4754880"/>
              <a:chExt cx="502920" cy="502920"/>
            </a:xfrm>
          </p:grpSpPr>
          <p:sp>
            <p:nvSpPr>
              <p:cNvPr id="37" name="Forma 36"/>
              <p:cNvSpPr/>
              <p:nvPr/>
            </p:nvSpPr>
            <p:spPr>
              <a:xfrm>
                <a:off x="1024128" y="4754880"/>
                <a:ext cx="502920" cy="502920"/>
              </a:xfrm>
              <a:prstGeom prst="ellipse">
                <a:avLst/>
              </a:prstGeom>
              <a:gradFill rotWithShape="1">
                <a:gsLst>
                  <a:gs pos="0">
                    <a:srgbClr val="F9F0F5"/>
                  </a:gs>
                  <a:gs pos="55000">
                    <a:srgbClr val="F5E6EF"/>
                  </a:gs>
                  <a:gs pos="100000">
                    <a:srgbClr val="D7CA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8" name="Forma 37"/>
              <p:cNvSpPr/>
              <p:nvPr/>
            </p:nvSpPr>
            <p:spPr>
              <a:xfrm>
                <a:off x="1024128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D7BDE2"/>
              </a:solidFill>
              <a:ln>
                <a:noFill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1024128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50" y="420"/>
                    </a:moveTo>
                    <a:cubicBezTo>
                      <a:pt x="450" y="486"/>
                      <a:pt x="396" y="540"/>
                      <a:pt x="330" y="540"/>
                    </a:cubicBezTo>
                    <a:cubicBezTo>
                      <a:pt x="263" y="540"/>
                      <a:pt x="210" y="486"/>
                      <a:pt x="210" y="420"/>
                    </a:cubicBezTo>
                    <a:cubicBezTo>
                      <a:pt x="210" y="353"/>
                      <a:pt x="263" y="300"/>
                      <a:pt x="330" y="300"/>
                    </a:cubicBezTo>
                    <a:cubicBezTo>
                      <a:pt x="396" y="300"/>
                      <a:pt x="450" y="353"/>
                      <a:pt x="450" y="420"/>
                    </a:cubicBezTo>
                    <a:close/>
                    <a:moveTo>
                      <a:pt x="620" y="330"/>
                    </a:moveTo>
                    <a:cubicBezTo>
                      <a:pt x="620" y="396"/>
                      <a:pt x="566" y="450"/>
                      <a:pt x="500" y="450"/>
                    </a:cubicBezTo>
                    <a:cubicBezTo>
                      <a:pt x="433" y="450"/>
                      <a:pt x="380" y="396"/>
                      <a:pt x="380" y="330"/>
                    </a:cubicBezTo>
                    <a:cubicBezTo>
                      <a:pt x="380" y="263"/>
                      <a:pt x="433" y="210"/>
                      <a:pt x="500" y="210"/>
                    </a:cubicBezTo>
                    <a:cubicBezTo>
                      <a:pt x="566" y="210"/>
                      <a:pt x="620" y="263"/>
                      <a:pt x="620" y="330"/>
                    </a:cubicBezTo>
                    <a:close/>
                    <a:moveTo>
                      <a:pt x="780" y="450"/>
                    </a:moveTo>
                    <a:cubicBezTo>
                      <a:pt x="780" y="516"/>
                      <a:pt x="726" y="570"/>
                      <a:pt x="660" y="570"/>
                    </a:cubicBezTo>
                    <a:cubicBezTo>
                      <a:pt x="593" y="570"/>
                      <a:pt x="540" y="516"/>
                      <a:pt x="540" y="450"/>
                    </a:cubicBezTo>
                    <a:cubicBezTo>
                      <a:pt x="540" y="383"/>
                      <a:pt x="593" y="330"/>
                      <a:pt x="660" y="330"/>
                    </a:cubicBezTo>
                    <a:cubicBezTo>
                      <a:pt x="726" y="330"/>
                      <a:pt x="780" y="383"/>
                      <a:pt x="780" y="450"/>
                    </a:cubicBezTo>
                    <a:close/>
                    <a:moveTo>
                      <a:pt x="630" y="600"/>
                    </a:moveTo>
                    <a:cubicBezTo>
                      <a:pt x="630" y="660"/>
                      <a:pt x="580" y="710"/>
                      <a:pt x="520" y="710"/>
                    </a:cubicBezTo>
                    <a:cubicBezTo>
                      <a:pt x="459" y="710"/>
                      <a:pt x="410" y="660"/>
                      <a:pt x="410" y="600"/>
                    </a:cubicBezTo>
                    <a:cubicBezTo>
                      <a:pt x="410" y="539"/>
                      <a:pt x="459" y="490"/>
                      <a:pt x="520" y="490"/>
                    </a:cubicBezTo>
                    <a:cubicBezTo>
                      <a:pt x="580" y="490"/>
                      <a:pt x="630" y="539"/>
                      <a:pt x="630" y="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grpSp>
          <p:nvGrpSpPr>
            <p:cNvPr id="40" name="Lc 2"/>
            <p:cNvGrpSpPr/>
            <p:nvPr/>
          </p:nvGrpSpPr>
          <p:grpSpPr>
            <a:xfrm>
              <a:off x="1591056" y="4754880"/>
              <a:ext cx="502920" cy="502920"/>
              <a:chOff x="1591056" y="4754880"/>
              <a:chExt cx="502920" cy="502920"/>
            </a:xfrm>
          </p:grpSpPr>
          <p:sp>
            <p:nvSpPr>
              <p:cNvPr id="41" name="Forma 40"/>
              <p:cNvSpPr/>
              <p:nvPr/>
            </p:nvSpPr>
            <p:spPr>
              <a:xfrm>
                <a:off x="1591056" y="4754880"/>
                <a:ext cx="502920" cy="502920"/>
              </a:xfrm>
              <a:prstGeom prst="ellipse">
                <a:avLst/>
              </a:prstGeom>
              <a:gradFill rotWithShape="1">
                <a:gsLst>
                  <a:gs pos="0">
                    <a:srgbClr val="F9F0F5"/>
                  </a:gs>
                  <a:gs pos="55000">
                    <a:srgbClr val="F5E6EF"/>
                  </a:gs>
                  <a:gs pos="100000">
                    <a:srgbClr val="D7CA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2" name="Forma 41"/>
              <p:cNvSpPr/>
              <p:nvPr/>
            </p:nvSpPr>
            <p:spPr>
              <a:xfrm>
                <a:off x="1591056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D7BDE2"/>
              </a:solidFill>
              <a:ln>
                <a:noFill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1591056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50" y="420"/>
                    </a:moveTo>
                    <a:cubicBezTo>
                      <a:pt x="450" y="486"/>
                      <a:pt x="396" y="540"/>
                      <a:pt x="330" y="540"/>
                    </a:cubicBezTo>
                    <a:cubicBezTo>
                      <a:pt x="263" y="540"/>
                      <a:pt x="210" y="486"/>
                      <a:pt x="210" y="420"/>
                    </a:cubicBezTo>
                    <a:cubicBezTo>
                      <a:pt x="210" y="353"/>
                      <a:pt x="263" y="300"/>
                      <a:pt x="330" y="300"/>
                    </a:cubicBezTo>
                    <a:cubicBezTo>
                      <a:pt x="396" y="300"/>
                      <a:pt x="450" y="353"/>
                      <a:pt x="450" y="420"/>
                    </a:cubicBezTo>
                    <a:close/>
                    <a:moveTo>
                      <a:pt x="620" y="330"/>
                    </a:moveTo>
                    <a:cubicBezTo>
                      <a:pt x="620" y="396"/>
                      <a:pt x="566" y="450"/>
                      <a:pt x="500" y="450"/>
                    </a:cubicBezTo>
                    <a:cubicBezTo>
                      <a:pt x="433" y="450"/>
                      <a:pt x="380" y="396"/>
                      <a:pt x="380" y="330"/>
                    </a:cubicBezTo>
                    <a:cubicBezTo>
                      <a:pt x="380" y="263"/>
                      <a:pt x="433" y="210"/>
                      <a:pt x="500" y="210"/>
                    </a:cubicBezTo>
                    <a:cubicBezTo>
                      <a:pt x="566" y="210"/>
                      <a:pt x="620" y="263"/>
                      <a:pt x="620" y="330"/>
                    </a:cubicBezTo>
                    <a:close/>
                    <a:moveTo>
                      <a:pt x="780" y="450"/>
                    </a:moveTo>
                    <a:cubicBezTo>
                      <a:pt x="780" y="516"/>
                      <a:pt x="726" y="570"/>
                      <a:pt x="660" y="570"/>
                    </a:cubicBezTo>
                    <a:cubicBezTo>
                      <a:pt x="593" y="570"/>
                      <a:pt x="540" y="516"/>
                      <a:pt x="540" y="450"/>
                    </a:cubicBezTo>
                    <a:cubicBezTo>
                      <a:pt x="540" y="383"/>
                      <a:pt x="593" y="330"/>
                      <a:pt x="660" y="330"/>
                    </a:cubicBezTo>
                    <a:cubicBezTo>
                      <a:pt x="726" y="330"/>
                      <a:pt x="780" y="383"/>
                      <a:pt x="780" y="450"/>
                    </a:cubicBezTo>
                    <a:close/>
                    <a:moveTo>
                      <a:pt x="630" y="600"/>
                    </a:moveTo>
                    <a:cubicBezTo>
                      <a:pt x="630" y="660"/>
                      <a:pt x="580" y="710"/>
                      <a:pt x="520" y="710"/>
                    </a:cubicBezTo>
                    <a:cubicBezTo>
                      <a:pt x="459" y="710"/>
                      <a:pt x="410" y="660"/>
                      <a:pt x="410" y="600"/>
                    </a:cubicBezTo>
                    <a:cubicBezTo>
                      <a:pt x="410" y="539"/>
                      <a:pt x="459" y="490"/>
                      <a:pt x="520" y="490"/>
                    </a:cubicBezTo>
                    <a:cubicBezTo>
                      <a:pt x="580" y="490"/>
                      <a:pt x="630" y="539"/>
                      <a:pt x="630" y="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grpSp>
          <p:nvGrpSpPr>
            <p:cNvPr id="44" name="Lc 3"/>
            <p:cNvGrpSpPr/>
            <p:nvPr/>
          </p:nvGrpSpPr>
          <p:grpSpPr>
            <a:xfrm>
              <a:off x="2157984" y="4754880"/>
              <a:ext cx="502920" cy="502920"/>
              <a:chOff x="2157984" y="4754880"/>
              <a:chExt cx="502920" cy="502920"/>
            </a:xfrm>
          </p:grpSpPr>
          <p:sp>
            <p:nvSpPr>
              <p:cNvPr id="45" name="Forma 44"/>
              <p:cNvSpPr/>
              <p:nvPr/>
            </p:nvSpPr>
            <p:spPr>
              <a:xfrm>
                <a:off x="2157984" y="4754880"/>
                <a:ext cx="502920" cy="502920"/>
              </a:xfrm>
              <a:prstGeom prst="ellipse">
                <a:avLst/>
              </a:prstGeom>
              <a:gradFill rotWithShape="1">
                <a:gsLst>
                  <a:gs pos="0">
                    <a:srgbClr val="F9F0F5"/>
                  </a:gs>
                  <a:gs pos="55000">
                    <a:srgbClr val="F5E6EF"/>
                  </a:gs>
                  <a:gs pos="100000">
                    <a:srgbClr val="D7CA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6" name="Forma 45"/>
              <p:cNvSpPr/>
              <p:nvPr/>
            </p:nvSpPr>
            <p:spPr>
              <a:xfrm>
                <a:off x="2157984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D7BDE2"/>
              </a:solidFill>
              <a:ln>
                <a:noFill/>
              </a:ln>
            </p:spPr>
          </p:sp>
          <p:sp>
            <p:nvSpPr>
              <p:cNvPr id="47" name="Forma 46"/>
              <p:cNvSpPr/>
              <p:nvPr/>
            </p:nvSpPr>
            <p:spPr>
              <a:xfrm>
                <a:off x="2157984" y="4754880"/>
                <a:ext cx="502920" cy="5029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50" y="420"/>
                    </a:moveTo>
                    <a:cubicBezTo>
                      <a:pt x="450" y="486"/>
                      <a:pt x="396" y="540"/>
                      <a:pt x="330" y="540"/>
                    </a:cubicBezTo>
                    <a:cubicBezTo>
                      <a:pt x="263" y="540"/>
                      <a:pt x="210" y="486"/>
                      <a:pt x="210" y="420"/>
                    </a:cubicBezTo>
                    <a:cubicBezTo>
                      <a:pt x="210" y="353"/>
                      <a:pt x="263" y="300"/>
                      <a:pt x="330" y="300"/>
                    </a:cubicBezTo>
                    <a:cubicBezTo>
                      <a:pt x="396" y="300"/>
                      <a:pt x="450" y="353"/>
                      <a:pt x="450" y="420"/>
                    </a:cubicBezTo>
                    <a:close/>
                    <a:moveTo>
                      <a:pt x="620" y="330"/>
                    </a:moveTo>
                    <a:cubicBezTo>
                      <a:pt x="620" y="396"/>
                      <a:pt x="566" y="450"/>
                      <a:pt x="500" y="450"/>
                    </a:cubicBezTo>
                    <a:cubicBezTo>
                      <a:pt x="433" y="450"/>
                      <a:pt x="380" y="396"/>
                      <a:pt x="380" y="330"/>
                    </a:cubicBezTo>
                    <a:cubicBezTo>
                      <a:pt x="380" y="263"/>
                      <a:pt x="433" y="210"/>
                      <a:pt x="500" y="210"/>
                    </a:cubicBezTo>
                    <a:cubicBezTo>
                      <a:pt x="566" y="210"/>
                      <a:pt x="620" y="263"/>
                      <a:pt x="620" y="330"/>
                    </a:cubicBezTo>
                    <a:close/>
                    <a:moveTo>
                      <a:pt x="780" y="450"/>
                    </a:moveTo>
                    <a:cubicBezTo>
                      <a:pt x="780" y="516"/>
                      <a:pt x="726" y="570"/>
                      <a:pt x="660" y="570"/>
                    </a:cubicBezTo>
                    <a:cubicBezTo>
                      <a:pt x="593" y="570"/>
                      <a:pt x="540" y="516"/>
                      <a:pt x="540" y="450"/>
                    </a:cubicBezTo>
                    <a:cubicBezTo>
                      <a:pt x="540" y="383"/>
                      <a:pt x="593" y="330"/>
                      <a:pt x="660" y="330"/>
                    </a:cubicBezTo>
                    <a:cubicBezTo>
                      <a:pt x="726" y="330"/>
                      <a:pt x="780" y="383"/>
                      <a:pt x="780" y="450"/>
                    </a:cubicBezTo>
                    <a:close/>
                    <a:moveTo>
                      <a:pt x="630" y="600"/>
                    </a:moveTo>
                    <a:cubicBezTo>
                      <a:pt x="630" y="660"/>
                      <a:pt x="580" y="710"/>
                      <a:pt x="520" y="710"/>
                    </a:cubicBezTo>
                    <a:cubicBezTo>
                      <a:pt x="459" y="710"/>
                      <a:pt x="410" y="660"/>
                      <a:pt x="410" y="600"/>
                    </a:cubicBezTo>
                    <a:cubicBezTo>
                      <a:pt x="410" y="539"/>
                      <a:pt x="459" y="490"/>
                      <a:pt x="520" y="490"/>
                    </a:cubicBezTo>
                    <a:cubicBezTo>
                      <a:pt x="580" y="490"/>
                      <a:pt x="630" y="539"/>
                      <a:pt x="630" y="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sp>
          <p:nvSpPr>
            <p:cNvPr id="48" name="Forma 47"/>
            <p:cNvSpPr/>
            <p:nvPr/>
          </p:nvSpPr>
          <p:spPr>
            <a:xfrm>
              <a:off x="4206240" y="4754880"/>
              <a:ext cx="4023360" cy="14630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Leucocitos</a:t>
              </a:r>
              <a:endParaRPr lang="es-AR" sz="22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miles / mm</a:t>
              </a:r>
              <a:r>
                <a:rPr lang="es-AR" sz="22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49" name="Rótulo 4.000 – 11.000"/>
            <p:cNvSpPr/>
            <p:nvPr/>
          </p:nvSpPr>
          <p:spPr>
            <a:xfrm>
              <a:off x="8503920" y="5212080"/>
              <a:ext cx="3383280" cy="594360"/>
            </a:xfrm>
            <a:prstGeom prst="rect">
              <a:avLst/>
            </a:prstGeom>
            <a:solidFill>
              <a:srgbClr val="2E86C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4.000 – 11.000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50" name="Desigualdades"/>
          <p:cNvGrpSpPr/>
          <p:nvPr/>
        </p:nvGrpSpPr>
        <p:grpSpPr>
          <a:xfrm>
            <a:off x="9692640" y="2697480"/>
            <a:ext cx="1097280" cy="2240280"/>
            <a:chOff x="9692640" y="2697480"/>
            <a:chExt cx="1097280" cy="2240280"/>
          </a:xfrm>
        </p:grpSpPr>
        <p:sp>
          <p:nvSpPr>
            <p:cNvPr id="51" name="Forma 50"/>
            <p:cNvSpPr txBox="1"/>
            <p:nvPr/>
          </p:nvSpPr>
          <p:spPr>
            <a:xfrm>
              <a:off x="9692640" y="2697480"/>
              <a:ext cx="10972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 lang="es-AR" sz="3000" dirty="0">
                <a:latin typeface="Calibri"/>
              </a:endParaRPr>
            </a:p>
          </p:txBody>
        </p:sp>
        <p:sp>
          <p:nvSpPr>
            <p:cNvPr id="52" name="Forma 51"/>
            <p:cNvSpPr txBox="1"/>
            <p:nvPr/>
          </p:nvSpPr>
          <p:spPr>
            <a:xfrm>
              <a:off x="9692640" y="4480560"/>
              <a:ext cx="10972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</a:t>
              </a:r>
              <a:endParaRPr lang="es-AR" sz="30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ORDEN DE ABUNDANCIA CELULAR EN LA SANGRE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5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grpSp>
        <p:nvGrpSpPr>
          <p:cNvPr id="5" name="!!Laboratorio A"/>
          <p:cNvGrpSpPr/>
          <p:nvPr/>
        </p:nvGrpSpPr>
        <p:grpSpPr>
          <a:xfrm>
            <a:off x="640080" y="914400"/>
            <a:ext cx="2651760" cy="2194560"/>
            <a:chOff x="640080" y="914400"/>
            <a:chExt cx="2651760" cy="2194560"/>
          </a:xfrm>
        </p:grpSpPr>
        <p:sp>
          <p:nvSpPr>
            <p:cNvPr id="6" name="Forma 5"/>
            <p:cNvSpPr/>
            <p:nvPr/>
          </p:nvSpPr>
          <p:spPr>
            <a:xfrm>
              <a:off x="640080" y="1371600"/>
              <a:ext cx="2651760" cy="173736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1005840" y="914400"/>
              <a:ext cx="1920240" cy="548640"/>
            </a:xfrm>
            <a:prstGeom prst="triangle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</p:sp>
        <p:grpSp>
          <p:nvGrpSpPr>
            <p:cNvPr id="8" name="Tubo Laboratorio A"/>
            <p:cNvGrpSpPr/>
            <p:nvPr/>
          </p:nvGrpSpPr>
          <p:grpSpPr>
            <a:xfrm>
              <a:off x="845271" y="1691640"/>
              <a:ext cx="339425" cy="1143000"/>
              <a:chOff x="845271" y="1691640"/>
              <a:chExt cx="339425" cy="1143000"/>
            </a:xfrm>
          </p:grpSpPr>
          <p:sp>
            <p:nvSpPr>
              <p:cNvPr id="9" name="Vidrio"/>
              <p:cNvSpPr/>
              <p:nvPr/>
            </p:nvSpPr>
            <p:spPr>
              <a:xfrm>
                <a:off x="868680" y="1805940"/>
                <a:ext cx="292608" cy="10287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0" name="Tapón"/>
              <p:cNvSpPr/>
              <p:nvPr/>
            </p:nvSpPr>
            <p:spPr>
              <a:xfrm>
                <a:off x="845271" y="1691640"/>
                <a:ext cx="339425" cy="137160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11" name="Brillo"/>
              <p:cNvSpPr/>
              <p:nvPr/>
            </p:nvSpPr>
            <p:spPr>
              <a:xfrm>
                <a:off x="909645" y="1874520"/>
                <a:ext cx="35113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12" name="r0"/>
            <p:cNvSpPr/>
            <p:nvPr/>
          </p:nvSpPr>
          <p:spPr>
            <a:xfrm>
              <a:off x="883310" y="2331720"/>
              <a:ext cx="263347" cy="4800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13" name="p0"/>
            <p:cNvSpPr/>
            <p:nvPr/>
          </p:nvSpPr>
          <p:spPr>
            <a:xfrm>
              <a:off x="883310" y="2043684"/>
              <a:ext cx="263347" cy="288036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sp>
          <p:nvSpPr>
            <p:cNvPr id="14" name="Forma 13"/>
            <p:cNvSpPr txBox="1"/>
            <p:nvPr/>
          </p:nvSpPr>
          <p:spPr>
            <a:xfrm>
              <a:off x="1325880" y="1783080"/>
              <a:ext cx="187452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Laboratorio A</a:t>
              </a:r>
              <a:endParaRPr lang="es-AR" sz="140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glucosa: 90 mg/dL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5" name="!!Laboratorio B"/>
          <p:cNvGrpSpPr/>
          <p:nvPr/>
        </p:nvGrpSpPr>
        <p:grpSpPr>
          <a:xfrm>
            <a:off x="4937760" y="914400"/>
            <a:ext cx="2651760" cy="2194560"/>
            <a:chOff x="4937760" y="914400"/>
            <a:chExt cx="2651760" cy="2194560"/>
          </a:xfrm>
        </p:grpSpPr>
        <p:sp>
          <p:nvSpPr>
            <p:cNvPr id="16" name="Forma 15"/>
            <p:cNvSpPr/>
            <p:nvPr/>
          </p:nvSpPr>
          <p:spPr>
            <a:xfrm>
              <a:off x="4937760" y="1371600"/>
              <a:ext cx="2651760" cy="173736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7" name="Forma 16"/>
            <p:cNvSpPr/>
            <p:nvPr/>
          </p:nvSpPr>
          <p:spPr>
            <a:xfrm>
              <a:off x="5303520" y="914400"/>
              <a:ext cx="1920240" cy="548640"/>
            </a:xfrm>
            <a:prstGeom prst="triangle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</p:sp>
        <p:grpSp>
          <p:nvGrpSpPr>
            <p:cNvPr id="18" name="Tubo Laboratorio B"/>
            <p:cNvGrpSpPr/>
            <p:nvPr/>
          </p:nvGrpSpPr>
          <p:grpSpPr>
            <a:xfrm>
              <a:off x="5142951" y="1691640"/>
              <a:ext cx="339425" cy="1143000"/>
              <a:chOff x="5142951" y="1691640"/>
              <a:chExt cx="339425" cy="1143000"/>
            </a:xfrm>
          </p:grpSpPr>
          <p:sp>
            <p:nvSpPr>
              <p:cNvPr id="19" name="Vidrio_2"/>
              <p:cNvSpPr/>
              <p:nvPr/>
            </p:nvSpPr>
            <p:spPr>
              <a:xfrm>
                <a:off x="5166360" y="1805940"/>
                <a:ext cx="292608" cy="10287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0" name="Tapón_2"/>
              <p:cNvSpPr/>
              <p:nvPr/>
            </p:nvSpPr>
            <p:spPr>
              <a:xfrm>
                <a:off x="5142951" y="1691640"/>
                <a:ext cx="339425" cy="137160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21" name="Brillo_2"/>
              <p:cNvSpPr/>
              <p:nvPr/>
            </p:nvSpPr>
            <p:spPr>
              <a:xfrm>
                <a:off x="5207325" y="1874520"/>
                <a:ext cx="35113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22" name="r1"/>
            <p:cNvSpPr/>
            <p:nvPr/>
          </p:nvSpPr>
          <p:spPr>
            <a:xfrm>
              <a:off x="5180990" y="2331720"/>
              <a:ext cx="263347" cy="4800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23" name="p1"/>
            <p:cNvSpPr/>
            <p:nvPr/>
          </p:nvSpPr>
          <p:spPr>
            <a:xfrm>
              <a:off x="5180990" y="2043684"/>
              <a:ext cx="263347" cy="288036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sp>
          <p:nvSpPr>
            <p:cNvPr id="24" name="Forma 23"/>
            <p:cNvSpPr txBox="1"/>
            <p:nvPr/>
          </p:nvSpPr>
          <p:spPr>
            <a:xfrm>
              <a:off x="5623560" y="1783080"/>
              <a:ext cx="187452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Laboratorio B</a:t>
              </a:r>
              <a:endParaRPr lang="es-AR" sz="140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glucosa: 90 mg/dL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5" name="!!Laboratorio C"/>
          <p:cNvGrpSpPr/>
          <p:nvPr/>
        </p:nvGrpSpPr>
        <p:grpSpPr>
          <a:xfrm>
            <a:off x="2788920" y="3474720"/>
            <a:ext cx="2651760" cy="2194560"/>
            <a:chOff x="2788920" y="3474720"/>
            <a:chExt cx="2651760" cy="2194560"/>
          </a:xfrm>
        </p:grpSpPr>
        <p:sp>
          <p:nvSpPr>
            <p:cNvPr id="26" name="Forma 25"/>
            <p:cNvSpPr/>
            <p:nvPr/>
          </p:nvSpPr>
          <p:spPr>
            <a:xfrm>
              <a:off x="2788920" y="3931920"/>
              <a:ext cx="2651760" cy="173736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7" name="Forma 26"/>
            <p:cNvSpPr/>
            <p:nvPr/>
          </p:nvSpPr>
          <p:spPr>
            <a:xfrm>
              <a:off x="3154680" y="3474720"/>
              <a:ext cx="1920240" cy="548640"/>
            </a:xfrm>
            <a:prstGeom prst="triangle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</p:sp>
        <p:grpSp>
          <p:nvGrpSpPr>
            <p:cNvPr id="28" name="Tubo Laboratorio C"/>
            <p:cNvGrpSpPr/>
            <p:nvPr/>
          </p:nvGrpSpPr>
          <p:grpSpPr>
            <a:xfrm>
              <a:off x="2994111" y="4251960"/>
              <a:ext cx="339425" cy="1143000"/>
              <a:chOff x="2994111" y="4251960"/>
              <a:chExt cx="339425" cy="1143000"/>
            </a:xfrm>
          </p:grpSpPr>
          <p:sp>
            <p:nvSpPr>
              <p:cNvPr id="29" name="Vidrio_3"/>
              <p:cNvSpPr/>
              <p:nvPr/>
            </p:nvSpPr>
            <p:spPr>
              <a:xfrm>
                <a:off x="3017520" y="4366260"/>
                <a:ext cx="292608" cy="10287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0" name="Tapón_3"/>
              <p:cNvSpPr/>
              <p:nvPr/>
            </p:nvSpPr>
            <p:spPr>
              <a:xfrm>
                <a:off x="2994111" y="4251960"/>
                <a:ext cx="339425" cy="137160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31" name="Brillo_3"/>
              <p:cNvSpPr/>
              <p:nvPr/>
            </p:nvSpPr>
            <p:spPr>
              <a:xfrm>
                <a:off x="3058485" y="4434840"/>
                <a:ext cx="35113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2" name="r2"/>
            <p:cNvSpPr/>
            <p:nvPr/>
          </p:nvSpPr>
          <p:spPr>
            <a:xfrm>
              <a:off x="3032150" y="4892040"/>
              <a:ext cx="263347" cy="4800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33" name="p2"/>
            <p:cNvSpPr/>
            <p:nvPr/>
          </p:nvSpPr>
          <p:spPr>
            <a:xfrm>
              <a:off x="3032150" y="4604004"/>
              <a:ext cx="263347" cy="288036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sp>
          <p:nvSpPr>
            <p:cNvPr id="34" name="Forma 33"/>
            <p:cNvSpPr txBox="1"/>
            <p:nvPr/>
          </p:nvSpPr>
          <p:spPr>
            <a:xfrm>
              <a:off x="3474720" y="4343400"/>
              <a:ext cx="187452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Laboratorio C</a:t>
              </a:r>
              <a:endParaRPr lang="es-AR" sz="1400" dirty="0">
                <a:latin typeface="Calibri"/>
              </a:endParaRPr>
            </a:p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glucosa: 90 mg/dL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5" name="Red de comparación"/>
          <p:cNvGrpSpPr/>
          <p:nvPr/>
        </p:nvGrpSpPr>
        <p:grpSpPr>
          <a:xfrm>
            <a:off x="2011680" y="2240280"/>
            <a:ext cx="4206240" cy="1645920"/>
            <a:chOff x="2011680" y="2240280"/>
            <a:chExt cx="4206240" cy="1645920"/>
          </a:xfrm>
        </p:grpSpPr>
        <p:sp>
          <p:nvSpPr>
            <p:cNvPr id="36" name="Flecha 35_2"/>
            <p:cNvSpPr/>
            <p:nvPr/>
          </p:nvSpPr>
          <p:spPr>
            <a:xfrm>
              <a:off x="3337560" y="2240280"/>
              <a:ext cx="1554480" cy="9144"/>
            </a:xfrm>
            <a:custGeom>
              <a:avLst/>
              <a:gdLst/>
              <a:ahLst/>
              <a:cxnLst/>
              <a:rect l="0" t="0" r="r" b="b"/>
              <a:pathLst>
                <a:path w="1699" h="10" fill="none">
                  <a:moveTo>
                    <a:pt x="0" y="0"/>
                  </a:moveTo>
                  <a:lnTo>
                    <a:pt x="1699" y="0"/>
                  </a:lnTo>
                </a:path>
              </a:pathLst>
            </a:custGeom>
            <a:noFill/>
            <a:ln w="38100" cap="rnd">
              <a:solidFill>
                <a:srgbClr val="1E8C3A"/>
              </a:solidFill>
              <a:round/>
              <a:headEnd type="triangle" w="med" len="med"/>
              <a:tailEnd type="triangle" w="med" len="med"/>
            </a:ln>
          </p:spPr>
        </p:sp>
        <p:sp>
          <p:nvSpPr>
            <p:cNvPr id="37" name="Flecha 37_2"/>
            <p:cNvSpPr/>
            <p:nvPr/>
          </p:nvSpPr>
          <p:spPr>
            <a:xfrm>
              <a:off x="2011680" y="3154680"/>
              <a:ext cx="1188720" cy="731520"/>
            </a:xfrm>
            <a:custGeom>
              <a:avLst/>
              <a:gdLst/>
              <a:ahLst/>
              <a:cxnLst/>
              <a:rect l="0" t="0" r="r" b="b"/>
              <a:pathLst>
                <a:path w="1299" h="799" fill="none">
                  <a:moveTo>
                    <a:pt x="0" y="0"/>
                  </a:moveTo>
                  <a:lnTo>
                    <a:pt x="1299" y="799"/>
                  </a:lnTo>
                </a:path>
              </a:pathLst>
            </a:custGeom>
            <a:noFill/>
            <a:ln w="38100" cap="rnd">
              <a:solidFill>
                <a:srgbClr val="1E8C3A"/>
              </a:solidFill>
              <a:round/>
              <a:headEnd type="triangle" w="med" len="med"/>
              <a:tailEnd type="triangle" w="med" len="med"/>
            </a:ln>
          </p:spPr>
        </p:sp>
        <p:sp>
          <p:nvSpPr>
            <p:cNvPr id="38" name="Flecha 39_2"/>
            <p:cNvSpPr/>
            <p:nvPr/>
          </p:nvSpPr>
          <p:spPr>
            <a:xfrm>
              <a:off x="5120640" y="3154680"/>
              <a:ext cx="1097280" cy="731520"/>
            </a:xfrm>
            <a:custGeom>
              <a:avLst/>
              <a:gdLst/>
              <a:ahLst/>
              <a:cxnLst/>
              <a:rect l="0" t="0" r="r" b="b"/>
              <a:pathLst>
                <a:path w="1200" h="799" fill="none">
                  <a:moveTo>
                    <a:pt x="1200" y="0"/>
                  </a:moveTo>
                  <a:lnTo>
                    <a:pt x="0" y="799"/>
                  </a:lnTo>
                </a:path>
              </a:pathLst>
            </a:custGeom>
            <a:noFill/>
            <a:ln w="38100" cap="rnd">
              <a:solidFill>
                <a:srgbClr val="1E8C3A"/>
              </a:solidFill>
              <a:round/>
              <a:headEnd type="triangle" w="med" len="med"/>
              <a:tailEnd type="triangle" w="med" len="med"/>
            </a:ln>
          </p:spPr>
        </p:sp>
      </p:grpSp>
      <p:grpSp>
        <p:nvGrpSpPr>
          <p:cNvPr id="39" name="Por qué unidades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40" name="Forma 42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unidades estandarizadas permiten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comparar resultados entre laboratorios, regiones y países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evitando errores diagnósticos.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41" name="Forma 43"/>
            <p:cNvSpPr/>
            <p:nvPr/>
          </p:nvSpPr>
          <p:spPr>
            <a:xfrm>
              <a:off x="8677656" y="1097280"/>
              <a:ext cx="102483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POR QUÉ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2" name="Red global"/>
          <p:cNvSpPr/>
          <p:nvPr/>
        </p:nvSpPr>
        <p:spPr>
          <a:xfrm>
            <a:off x="8549640" y="4297680"/>
            <a:ext cx="3383280" cy="21488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Facilitan la construcción de una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red global de datos bioquímicos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UNIDADES ESTANDARIZADAS: UN IDIOMA COMÚN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Columna masa"/>
          <p:cNvGrpSpPr/>
          <p:nvPr/>
        </p:nvGrpSpPr>
        <p:grpSpPr>
          <a:xfrm>
            <a:off x="365760" y="1051560"/>
            <a:ext cx="5577840" cy="2718816"/>
            <a:chOff x="365760" y="1051560"/>
            <a:chExt cx="5577840" cy="2718816"/>
          </a:xfrm>
        </p:grpSpPr>
        <p:sp>
          <p:nvSpPr>
            <p:cNvPr id="7" name="Forma 6"/>
            <p:cNvSpPr txBox="1"/>
            <p:nvPr/>
          </p:nvSpPr>
          <p:spPr>
            <a:xfrm>
              <a:off x="365760" y="1051560"/>
              <a:ext cx="5486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MASA / VOLUMEN</a:t>
              </a:r>
              <a:endParaRPr lang="es-AR" sz="2400" dirty="0">
                <a:latin typeface="Segoe Print"/>
              </a:endParaRPr>
            </a:p>
          </p:txBody>
        </p:sp>
        <p:grpSp>
          <p:nvGrpSpPr>
            <p:cNvPr id="8" name="Tabla masa fila 0"/>
            <p:cNvGrpSpPr/>
            <p:nvPr/>
          </p:nvGrpSpPr>
          <p:grpSpPr>
            <a:xfrm>
              <a:off x="365760" y="1691640"/>
              <a:ext cx="5577840" cy="502920"/>
              <a:chOff x="365760" y="1691640"/>
              <a:chExt cx="5577840" cy="502920"/>
            </a:xfrm>
          </p:grpSpPr>
          <p:sp>
            <p:nvSpPr>
              <p:cNvPr id="9" name="Forma 8"/>
              <p:cNvSpPr/>
              <p:nvPr/>
            </p:nvSpPr>
            <p:spPr>
              <a:xfrm>
                <a:off x="365760" y="1691640"/>
                <a:ext cx="1188720" cy="502920"/>
              </a:xfrm>
              <a:prstGeom prst="rect">
                <a:avLst/>
              </a:prstGeom>
              <a:solidFill>
                <a:srgbClr val="1F3864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Unidad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10" name="Forma 9"/>
              <p:cNvSpPr/>
              <p:nvPr/>
            </p:nvSpPr>
            <p:spPr>
              <a:xfrm>
                <a:off x="1554480" y="1691640"/>
                <a:ext cx="2377440" cy="502920"/>
              </a:xfrm>
              <a:prstGeom prst="rect">
                <a:avLst/>
              </a:prstGeom>
              <a:solidFill>
                <a:srgbClr val="1F3864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Uso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11" name="Forma 10"/>
              <p:cNvSpPr/>
              <p:nvPr/>
            </p:nvSpPr>
            <p:spPr>
              <a:xfrm>
                <a:off x="3931920" y="1691640"/>
                <a:ext cx="2011680" cy="502920"/>
              </a:xfrm>
              <a:prstGeom prst="rect">
                <a:avLst/>
              </a:prstGeom>
              <a:solidFill>
                <a:srgbClr val="1F3864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Ejemplos del material</a:t>
                </a:r>
                <a:endParaRPr lang="es-AR" sz="1450" dirty="0">
                  <a:latin typeface="Calibri"/>
                </a:endParaRPr>
              </a:p>
            </p:txBody>
          </p:sp>
        </p:grpSp>
        <p:grpSp>
          <p:nvGrpSpPr>
            <p:cNvPr id="12" name="Tabla masa fila 1"/>
            <p:cNvGrpSpPr/>
            <p:nvPr/>
          </p:nvGrpSpPr>
          <p:grpSpPr>
            <a:xfrm>
              <a:off x="365760" y="2194560"/>
              <a:ext cx="5577840" cy="502920"/>
              <a:chOff x="365760" y="2194560"/>
              <a:chExt cx="5577840" cy="502920"/>
            </a:xfrm>
          </p:grpSpPr>
          <p:sp>
            <p:nvSpPr>
              <p:cNvPr id="13" name="Forma 12"/>
              <p:cNvSpPr/>
              <p:nvPr/>
            </p:nvSpPr>
            <p:spPr>
              <a:xfrm>
                <a:off x="365760" y="2194560"/>
                <a:ext cx="118872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mg/dL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14" name="Forma 13"/>
              <p:cNvSpPr/>
              <p:nvPr/>
            </p:nvSpPr>
            <p:spPr>
              <a:xfrm>
                <a:off x="1554480" y="2194560"/>
                <a:ext cx="237744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más usada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15" name="Forma 14"/>
              <p:cNvSpPr/>
              <p:nvPr/>
            </p:nvSpPr>
            <p:spPr>
              <a:xfrm>
                <a:off x="3931920" y="2194560"/>
                <a:ext cx="201168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Glucosa, colesterol</a:t>
                </a:r>
                <a:endParaRPr lang="es-AR" sz="1450" dirty="0">
                  <a:latin typeface="Calibri"/>
                </a:endParaRPr>
              </a:p>
            </p:txBody>
          </p:sp>
        </p:grpSp>
        <p:grpSp>
          <p:nvGrpSpPr>
            <p:cNvPr id="16" name="Tabla masa fila 2"/>
            <p:cNvGrpSpPr/>
            <p:nvPr/>
          </p:nvGrpSpPr>
          <p:grpSpPr>
            <a:xfrm>
              <a:off x="365760" y="2697480"/>
              <a:ext cx="5577840" cy="569976"/>
              <a:chOff x="365760" y="2697480"/>
              <a:chExt cx="5577840" cy="569976"/>
            </a:xfrm>
          </p:grpSpPr>
          <p:sp>
            <p:nvSpPr>
              <p:cNvPr id="17" name="Forma 16"/>
              <p:cNvSpPr/>
              <p:nvPr/>
            </p:nvSpPr>
            <p:spPr>
              <a:xfrm>
                <a:off x="365760" y="2697480"/>
                <a:ext cx="1188720" cy="569976"/>
              </a:xfrm>
              <a:prstGeom prst="rect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g/dL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18" name="Forma 17"/>
              <p:cNvSpPr/>
              <p:nvPr/>
            </p:nvSpPr>
            <p:spPr>
              <a:xfrm>
                <a:off x="1554480" y="2697480"/>
                <a:ext cx="2377440" cy="569976"/>
              </a:xfrm>
              <a:prstGeom prst="rect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Sustancias en mayor concentración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19" name="Forma 18"/>
              <p:cNvSpPr/>
              <p:nvPr/>
            </p:nvSpPr>
            <p:spPr>
              <a:xfrm>
                <a:off x="3931920" y="2697480"/>
                <a:ext cx="2011680" cy="569976"/>
              </a:xfrm>
              <a:prstGeom prst="rect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Proteínas totales, hemoglobina</a:t>
                </a:r>
                <a:endParaRPr lang="es-AR" sz="1450" dirty="0">
                  <a:latin typeface="Calibri"/>
                </a:endParaRPr>
              </a:p>
            </p:txBody>
          </p:sp>
        </p:grpSp>
        <p:grpSp>
          <p:nvGrpSpPr>
            <p:cNvPr id="20" name="Tabla masa fila 3"/>
            <p:cNvGrpSpPr/>
            <p:nvPr/>
          </p:nvGrpSpPr>
          <p:grpSpPr>
            <a:xfrm>
              <a:off x="365760" y="3267456"/>
              <a:ext cx="5577840" cy="502920"/>
              <a:chOff x="365760" y="3267456"/>
              <a:chExt cx="5577840" cy="502920"/>
            </a:xfrm>
          </p:grpSpPr>
          <p:sp>
            <p:nvSpPr>
              <p:cNvPr id="21" name="Forma 20"/>
              <p:cNvSpPr/>
              <p:nvPr/>
            </p:nvSpPr>
            <p:spPr>
              <a:xfrm>
                <a:off x="365760" y="3267456"/>
                <a:ext cx="118872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µg/mL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22" name="Forma 21"/>
              <p:cNvSpPr/>
              <p:nvPr/>
            </p:nvSpPr>
            <p:spPr>
              <a:xfrm>
                <a:off x="1554480" y="3267456"/>
                <a:ext cx="237744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Cantidades muy pequeñas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23" name="Forma 22"/>
              <p:cNvSpPr/>
              <p:nvPr/>
            </p:nvSpPr>
            <p:spPr>
              <a:xfrm>
                <a:off x="3931920" y="3267456"/>
                <a:ext cx="201168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</a:t>
                </a:r>
                <a:endParaRPr lang="es-AR" sz="1450" dirty="0">
                  <a:latin typeface="Calibri"/>
                </a:endParaRPr>
              </a:p>
            </p:txBody>
          </p:sp>
        </p:grpSp>
      </p:grpSp>
      <p:grpSp>
        <p:nvGrpSpPr>
          <p:cNvPr id="24" name="Columna molar"/>
          <p:cNvGrpSpPr/>
          <p:nvPr/>
        </p:nvGrpSpPr>
        <p:grpSpPr>
          <a:xfrm>
            <a:off x="6172200" y="1051560"/>
            <a:ext cx="5577840" cy="2718816"/>
            <a:chOff x="6172200" y="1051560"/>
            <a:chExt cx="5577840" cy="2718816"/>
          </a:xfrm>
        </p:grpSpPr>
        <p:sp>
          <p:nvSpPr>
            <p:cNvPr id="25" name="Forma 24"/>
            <p:cNvSpPr txBox="1"/>
            <p:nvPr/>
          </p:nvSpPr>
          <p:spPr>
            <a:xfrm>
              <a:off x="6172200" y="1051560"/>
              <a:ext cx="54864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MOLES / VOLUMEN</a:t>
              </a:r>
              <a:endParaRPr lang="es-AR" sz="2400" dirty="0">
                <a:latin typeface="Segoe Print"/>
              </a:endParaRPr>
            </a:p>
          </p:txBody>
        </p:sp>
        <p:grpSp>
          <p:nvGrpSpPr>
            <p:cNvPr id="26" name="Tabla molar fila 0"/>
            <p:cNvGrpSpPr/>
            <p:nvPr/>
          </p:nvGrpSpPr>
          <p:grpSpPr>
            <a:xfrm>
              <a:off x="6172200" y="1691640"/>
              <a:ext cx="5577840" cy="502920"/>
              <a:chOff x="6172200" y="1691640"/>
              <a:chExt cx="5577840" cy="502920"/>
            </a:xfrm>
          </p:grpSpPr>
          <p:sp>
            <p:nvSpPr>
              <p:cNvPr id="27" name="Forma 26"/>
              <p:cNvSpPr/>
              <p:nvPr/>
            </p:nvSpPr>
            <p:spPr>
              <a:xfrm>
                <a:off x="6172200" y="1691640"/>
                <a:ext cx="1188720" cy="502920"/>
              </a:xfrm>
              <a:prstGeom prst="rect">
                <a:avLst/>
              </a:prstGeom>
              <a:solidFill>
                <a:srgbClr val="1F3864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Unidad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28" name="Forma 27"/>
              <p:cNvSpPr/>
              <p:nvPr/>
            </p:nvSpPr>
            <p:spPr>
              <a:xfrm>
                <a:off x="7360920" y="1691640"/>
                <a:ext cx="2377440" cy="502920"/>
              </a:xfrm>
              <a:prstGeom prst="rect">
                <a:avLst/>
              </a:prstGeom>
              <a:solidFill>
                <a:srgbClr val="1F3864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Uso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29" name="Forma 28"/>
              <p:cNvSpPr/>
              <p:nvPr/>
            </p:nvSpPr>
            <p:spPr>
              <a:xfrm>
                <a:off x="9738360" y="1691640"/>
                <a:ext cx="2011680" cy="502920"/>
              </a:xfrm>
              <a:prstGeom prst="rect">
                <a:avLst/>
              </a:prstGeom>
              <a:solidFill>
                <a:srgbClr val="1F3864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Ejemplos del material</a:t>
                </a:r>
                <a:endParaRPr lang="es-AR" sz="1450" dirty="0">
                  <a:latin typeface="Calibri"/>
                </a:endParaRPr>
              </a:p>
            </p:txBody>
          </p:sp>
        </p:grpSp>
        <p:grpSp>
          <p:nvGrpSpPr>
            <p:cNvPr id="30" name="Tabla molar fila 1"/>
            <p:cNvGrpSpPr/>
            <p:nvPr/>
          </p:nvGrpSpPr>
          <p:grpSpPr>
            <a:xfrm>
              <a:off x="6172200" y="2194560"/>
              <a:ext cx="5577840" cy="502920"/>
              <a:chOff x="6172200" y="2194560"/>
              <a:chExt cx="5577840" cy="502920"/>
            </a:xfrm>
          </p:grpSpPr>
          <p:sp>
            <p:nvSpPr>
              <p:cNvPr id="31" name="Forma 30"/>
              <p:cNvSpPr/>
              <p:nvPr/>
            </p:nvSpPr>
            <p:spPr>
              <a:xfrm>
                <a:off x="6172200" y="2194560"/>
                <a:ext cx="118872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mmol/L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32" name="Forma 31"/>
              <p:cNvSpPr/>
              <p:nvPr/>
            </p:nvSpPr>
            <p:spPr>
              <a:xfrm>
                <a:off x="7360920" y="2194560"/>
                <a:ext cx="237744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Analitos en mayor cantidad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33" name="Forma 32"/>
              <p:cNvSpPr/>
              <p:nvPr/>
            </p:nvSpPr>
            <p:spPr>
              <a:xfrm>
                <a:off x="9738360" y="2194560"/>
                <a:ext cx="201168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Sodio, potasio</a:t>
                </a:r>
                <a:endParaRPr lang="es-AR" sz="1450" dirty="0">
                  <a:latin typeface="Calibri"/>
                </a:endParaRPr>
              </a:p>
            </p:txBody>
          </p:sp>
        </p:grpSp>
        <p:grpSp>
          <p:nvGrpSpPr>
            <p:cNvPr id="34" name="Tabla molar fila 2"/>
            <p:cNvGrpSpPr/>
            <p:nvPr/>
          </p:nvGrpSpPr>
          <p:grpSpPr>
            <a:xfrm>
              <a:off x="6172200" y="2697480"/>
              <a:ext cx="5577840" cy="569976"/>
              <a:chOff x="6172200" y="2697480"/>
              <a:chExt cx="5577840" cy="569976"/>
            </a:xfrm>
          </p:grpSpPr>
          <p:sp>
            <p:nvSpPr>
              <p:cNvPr id="35" name="Forma 34"/>
              <p:cNvSpPr/>
              <p:nvPr/>
            </p:nvSpPr>
            <p:spPr>
              <a:xfrm>
                <a:off x="6172200" y="2697480"/>
                <a:ext cx="1188720" cy="569976"/>
              </a:xfrm>
              <a:prstGeom prst="rect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µmol/L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36" name="Forma 35"/>
              <p:cNvSpPr/>
              <p:nvPr/>
            </p:nvSpPr>
            <p:spPr>
              <a:xfrm>
                <a:off x="7360920" y="2697480"/>
                <a:ext cx="2377440" cy="569976"/>
              </a:xfrm>
              <a:prstGeom prst="rect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Analitos en pequeña cantidad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37" name="Forma 36"/>
              <p:cNvSpPr/>
              <p:nvPr/>
            </p:nvSpPr>
            <p:spPr>
              <a:xfrm>
                <a:off x="9738360" y="2697480"/>
                <a:ext cx="2011680" cy="569976"/>
              </a:xfrm>
              <a:prstGeom prst="rect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Creatinina</a:t>
                </a:r>
                <a:endParaRPr lang="es-AR" sz="1450" dirty="0">
                  <a:latin typeface="Calibri"/>
                </a:endParaRPr>
              </a:p>
            </p:txBody>
          </p:sp>
        </p:grpSp>
        <p:grpSp>
          <p:nvGrpSpPr>
            <p:cNvPr id="38" name="Tabla molar fila 3"/>
            <p:cNvGrpSpPr/>
            <p:nvPr/>
          </p:nvGrpSpPr>
          <p:grpSpPr>
            <a:xfrm>
              <a:off x="6172200" y="3267456"/>
              <a:ext cx="5577840" cy="502920"/>
              <a:chOff x="6172200" y="3267456"/>
              <a:chExt cx="5577840" cy="502920"/>
            </a:xfrm>
          </p:grpSpPr>
          <p:sp>
            <p:nvSpPr>
              <p:cNvPr id="39" name="Forma 38"/>
              <p:cNvSpPr/>
              <p:nvPr/>
            </p:nvSpPr>
            <p:spPr>
              <a:xfrm>
                <a:off x="6172200" y="3267456"/>
                <a:ext cx="118872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nmol/L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40" name="Forma 39"/>
              <p:cNvSpPr/>
              <p:nvPr/>
            </p:nvSpPr>
            <p:spPr>
              <a:xfrm>
                <a:off x="7360920" y="3267456"/>
                <a:ext cx="237744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Cantidades muy pequeñas</a:t>
                </a:r>
                <a:endParaRPr lang="es-AR" sz="1450" dirty="0">
                  <a:latin typeface="Calibri"/>
                </a:endParaRPr>
              </a:p>
            </p:txBody>
          </p:sp>
          <p:sp>
            <p:nvSpPr>
              <p:cNvPr id="41" name="Forma 40"/>
              <p:cNvSpPr/>
              <p:nvPr/>
            </p:nvSpPr>
            <p:spPr>
              <a:xfrm>
                <a:off x="9738360" y="3267456"/>
                <a:ext cx="2011680" cy="502920"/>
              </a:xfrm>
              <a:prstGeom prst="rect">
                <a:avLst/>
              </a:prstGeom>
              <a:solidFill>
                <a:srgbClr val="FFF2CC"/>
              </a:solidFill>
              <a:ln w="15875" cap="rnd">
                <a:solidFill>
                  <a:srgbClr val="1E1E1E"/>
                </a:solidFill>
                <a:round/>
              </a:ln>
            </p:spPr>
            <p:txBody>
              <a:bodyPr wrap="square" lIns="82296" tIns="27432" rIns="82296" bIns="27432" anchor="ctr" rtlCol="0">
                <a:noAutofit/>
              </a:bodyPr>
              <a:lstStyle/>
              <a:p>
                <a:pPr algn="l">
                  <a:spcAft>
                    <a:spcPts val="100"/>
                  </a:spcAft>
                  <a:buNone/>
                </a:pPr>
                <a:r>
                  <a:rPr lang="es-AR" sz="1450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</a:t>
                </a:r>
                <a:endParaRPr lang="es-AR" sz="1450" dirty="0">
                  <a:latin typeface="Calibri"/>
                </a:endParaRPr>
              </a:p>
            </p:txBody>
          </p:sp>
        </p:grpSp>
      </p:grpSp>
      <p:sp>
        <p:nvSpPr>
          <p:cNvPr id="42" name="Mol"/>
          <p:cNvSpPr/>
          <p:nvPr/>
        </p:nvSpPr>
        <p:spPr>
          <a:xfrm>
            <a:off x="6172200" y="4206240"/>
            <a:ext cx="5577840" cy="9144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 mol =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6,02 × 10</a:t>
            </a:r>
            <a:r>
              <a:rPr lang="es-AR" sz="22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partículas</a:t>
            </a:r>
            <a:endParaRPr lang="es-AR" sz="2200" dirty="0">
              <a:latin typeface="Calibri"/>
            </a:endParaRPr>
          </a:p>
        </p:txBody>
      </p:sp>
      <p:grpSp>
        <p:nvGrpSpPr>
          <p:cNvPr id="43" name="Relación masa-mol"/>
          <p:cNvGrpSpPr/>
          <p:nvPr/>
        </p:nvGrpSpPr>
        <p:grpSpPr>
          <a:xfrm>
            <a:off x="365760" y="4206240"/>
            <a:ext cx="5577840" cy="2240280"/>
            <a:chOff x="365760" y="4206240"/>
            <a:chExt cx="5577840" cy="2240280"/>
          </a:xfrm>
        </p:grpSpPr>
        <p:sp>
          <p:nvSpPr>
            <p:cNvPr id="44" name="Forma 43"/>
            <p:cNvSpPr/>
            <p:nvPr/>
          </p:nvSpPr>
          <p:spPr>
            <a:xfrm>
              <a:off x="365760" y="4206240"/>
              <a:ext cx="5577840" cy="2240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de masa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expresa cuántos gramos (o sus fracciones) hay por volumen; una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molar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cuántas partículas (moles). La elección depende de la magnitud del analito y de la convención del laboratorio.</a:t>
              </a:r>
              <a:endParaRPr lang="es-AR" sz="1950" dirty="0">
                <a:latin typeface="Calibri"/>
              </a:endParaRPr>
            </a:p>
          </p:txBody>
        </p:sp>
      </p:grpSp>
      <p:grpSp>
        <p:nvGrpSpPr>
          <p:cNvPr id="45" name="Urea deco"/>
          <p:cNvGrpSpPr/>
          <p:nvPr/>
        </p:nvGrpSpPr>
        <p:grpSpPr>
          <a:xfrm>
            <a:off x="6859942" y="5352250"/>
            <a:ext cx="1093395" cy="867538"/>
            <a:chOff x="6859942" y="5352250"/>
            <a:chExt cx="1093395" cy="867538"/>
          </a:xfrm>
        </p:grpSpPr>
        <p:sp>
          <p:nvSpPr>
            <p:cNvPr id="46" name="Flecha 45_2"/>
            <p:cNvSpPr/>
            <p:nvPr/>
          </p:nvSpPr>
          <p:spPr>
            <a:xfrm>
              <a:off x="7406640" y="5459730"/>
              <a:ext cx="9144" cy="293370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59266" cap="rnd">
              <a:solidFill>
                <a:srgbClr val="B9B9B9"/>
              </a:solidFill>
              <a:round/>
            </a:ln>
          </p:spPr>
        </p:sp>
        <p:sp>
          <p:nvSpPr>
            <p:cNvPr id="47" name="Flecha 47_2"/>
            <p:cNvSpPr/>
            <p:nvPr/>
          </p:nvSpPr>
          <p:spPr>
            <a:xfrm>
              <a:off x="7406640" y="5459730"/>
              <a:ext cx="9144" cy="293370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33337" cap="rnd">
              <a:solidFill>
                <a:srgbClr val="FFFFFF"/>
              </a:solidFill>
              <a:round/>
            </a:ln>
          </p:spPr>
        </p:sp>
        <p:sp>
          <p:nvSpPr>
            <p:cNvPr id="48" name="Flecha 49_2"/>
            <p:cNvSpPr/>
            <p:nvPr/>
          </p:nvSpPr>
          <p:spPr>
            <a:xfrm>
              <a:off x="7406640" y="5753100"/>
              <a:ext cx="266700" cy="160020"/>
            </a:xfrm>
            <a:custGeom>
              <a:avLst/>
              <a:gdLst/>
              <a:ahLst/>
              <a:cxnLst/>
              <a:rect l="0" t="0" r="r" b="b"/>
              <a:pathLst>
                <a:path w="291" h="174" fill="none">
                  <a:moveTo>
                    <a:pt x="0" y="0"/>
                  </a:moveTo>
                  <a:lnTo>
                    <a:pt x="291" y="174"/>
                  </a:lnTo>
                </a:path>
              </a:pathLst>
            </a:custGeom>
            <a:noFill/>
            <a:ln w="59266" cap="rnd">
              <a:solidFill>
                <a:srgbClr val="B9B9B9"/>
              </a:solidFill>
              <a:round/>
            </a:ln>
          </p:spPr>
        </p:sp>
        <p:sp>
          <p:nvSpPr>
            <p:cNvPr id="49" name="Flecha 51_2"/>
            <p:cNvSpPr/>
            <p:nvPr/>
          </p:nvSpPr>
          <p:spPr>
            <a:xfrm>
              <a:off x="7406640" y="5753100"/>
              <a:ext cx="266700" cy="160020"/>
            </a:xfrm>
            <a:custGeom>
              <a:avLst/>
              <a:gdLst/>
              <a:ahLst/>
              <a:cxnLst/>
              <a:rect l="0" t="0" r="r" b="b"/>
              <a:pathLst>
                <a:path w="291" h="174" fill="none">
                  <a:moveTo>
                    <a:pt x="0" y="0"/>
                  </a:moveTo>
                  <a:lnTo>
                    <a:pt x="291" y="174"/>
                  </a:lnTo>
                </a:path>
              </a:pathLst>
            </a:custGeom>
            <a:noFill/>
            <a:ln w="33337" cap="rnd">
              <a:solidFill>
                <a:srgbClr val="FFFFFF"/>
              </a:solidFill>
              <a:round/>
            </a:ln>
          </p:spPr>
        </p:sp>
        <p:sp>
          <p:nvSpPr>
            <p:cNvPr id="50" name="Flecha 53_2"/>
            <p:cNvSpPr/>
            <p:nvPr/>
          </p:nvSpPr>
          <p:spPr>
            <a:xfrm>
              <a:off x="7139940" y="5753100"/>
              <a:ext cx="266700" cy="160020"/>
            </a:xfrm>
            <a:custGeom>
              <a:avLst/>
              <a:gdLst/>
              <a:ahLst/>
              <a:cxnLst/>
              <a:rect l="0" t="0" r="r" b="b"/>
              <a:pathLst>
                <a:path w="291" h="174" fill="none">
                  <a:moveTo>
                    <a:pt x="291" y="0"/>
                  </a:moveTo>
                  <a:lnTo>
                    <a:pt x="0" y="174"/>
                  </a:lnTo>
                </a:path>
              </a:pathLst>
            </a:custGeom>
            <a:noFill/>
            <a:ln w="59266" cap="rnd">
              <a:solidFill>
                <a:srgbClr val="B9B9B9"/>
              </a:solidFill>
              <a:round/>
            </a:ln>
          </p:spPr>
        </p:sp>
        <p:sp>
          <p:nvSpPr>
            <p:cNvPr id="51" name="Flecha 55_2"/>
            <p:cNvSpPr/>
            <p:nvPr/>
          </p:nvSpPr>
          <p:spPr>
            <a:xfrm>
              <a:off x="7139940" y="5753100"/>
              <a:ext cx="266700" cy="160020"/>
            </a:xfrm>
            <a:custGeom>
              <a:avLst/>
              <a:gdLst/>
              <a:ahLst/>
              <a:cxnLst/>
              <a:rect l="0" t="0" r="r" b="b"/>
              <a:pathLst>
                <a:path w="291" h="174" fill="none">
                  <a:moveTo>
                    <a:pt x="291" y="0"/>
                  </a:moveTo>
                  <a:lnTo>
                    <a:pt x="0" y="174"/>
                  </a:lnTo>
                </a:path>
              </a:pathLst>
            </a:custGeom>
            <a:noFill/>
            <a:ln w="33337" cap="rnd">
              <a:solidFill>
                <a:srgbClr val="FFFFFF"/>
              </a:solidFill>
              <a:round/>
            </a:ln>
          </p:spPr>
        </p:sp>
        <p:sp>
          <p:nvSpPr>
            <p:cNvPr id="52" name="Flecha 57_2"/>
            <p:cNvSpPr/>
            <p:nvPr/>
          </p:nvSpPr>
          <p:spPr>
            <a:xfrm>
              <a:off x="7673340" y="5806440"/>
              <a:ext cx="213360" cy="106680"/>
            </a:xfrm>
            <a:custGeom>
              <a:avLst/>
              <a:gdLst/>
              <a:ahLst/>
              <a:cxnLst/>
              <a:rect l="0" t="0" r="r" b="b"/>
              <a:pathLst>
                <a:path w="233" h="116" fill="none">
                  <a:moveTo>
                    <a:pt x="0" y="116"/>
                  </a:moveTo>
                  <a:lnTo>
                    <a:pt x="233" y="0"/>
                  </a:lnTo>
                </a:path>
              </a:pathLst>
            </a:custGeom>
            <a:noFill/>
            <a:ln w="59266" cap="rnd">
              <a:solidFill>
                <a:srgbClr val="B9B9B9"/>
              </a:solidFill>
              <a:round/>
            </a:ln>
          </p:spPr>
        </p:sp>
        <p:sp>
          <p:nvSpPr>
            <p:cNvPr id="53" name="Flecha 59_2"/>
            <p:cNvSpPr/>
            <p:nvPr/>
          </p:nvSpPr>
          <p:spPr>
            <a:xfrm>
              <a:off x="7673340" y="5806440"/>
              <a:ext cx="213360" cy="106680"/>
            </a:xfrm>
            <a:custGeom>
              <a:avLst/>
              <a:gdLst/>
              <a:ahLst/>
              <a:cxnLst/>
              <a:rect l="0" t="0" r="r" b="b"/>
              <a:pathLst>
                <a:path w="233" h="116" fill="none">
                  <a:moveTo>
                    <a:pt x="0" y="116"/>
                  </a:moveTo>
                  <a:lnTo>
                    <a:pt x="233" y="0"/>
                  </a:lnTo>
                </a:path>
              </a:pathLst>
            </a:custGeom>
            <a:noFill/>
            <a:ln w="33337" cap="rnd">
              <a:solidFill>
                <a:srgbClr val="FFFFFF"/>
              </a:solidFill>
              <a:round/>
            </a:ln>
          </p:spPr>
        </p:sp>
        <p:sp>
          <p:nvSpPr>
            <p:cNvPr id="54" name="Flecha 61_2"/>
            <p:cNvSpPr/>
            <p:nvPr/>
          </p:nvSpPr>
          <p:spPr>
            <a:xfrm>
              <a:off x="7673340" y="5913120"/>
              <a:ext cx="9144" cy="240030"/>
            </a:xfrm>
            <a:custGeom>
              <a:avLst/>
              <a:gdLst/>
              <a:ahLst/>
              <a:cxnLst/>
              <a:rect l="0" t="0" r="r" b="b"/>
              <a:pathLst>
                <a:path w="10" h="262" fill="none">
                  <a:moveTo>
                    <a:pt x="0" y="0"/>
                  </a:moveTo>
                  <a:lnTo>
                    <a:pt x="0" y="262"/>
                  </a:lnTo>
                </a:path>
              </a:pathLst>
            </a:custGeom>
            <a:noFill/>
            <a:ln w="59266" cap="rnd">
              <a:solidFill>
                <a:srgbClr val="B9B9B9"/>
              </a:solidFill>
              <a:round/>
            </a:ln>
          </p:spPr>
        </p:sp>
        <p:sp>
          <p:nvSpPr>
            <p:cNvPr id="55" name="Flecha 63_2"/>
            <p:cNvSpPr/>
            <p:nvPr/>
          </p:nvSpPr>
          <p:spPr>
            <a:xfrm>
              <a:off x="7673340" y="5913120"/>
              <a:ext cx="9144" cy="240030"/>
            </a:xfrm>
            <a:custGeom>
              <a:avLst/>
              <a:gdLst/>
              <a:ahLst/>
              <a:cxnLst/>
              <a:rect l="0" t="0" r="r" b="b"/>
              <a:pathLst>
                <a:path w="10" h="262" fill="none">
                  <a:moveTo>
                    <a:pt x="0" y="0"/>
                  </a:moveTo>
                  <a:lnTo>
                    <a:pt x="0" y="262"/>
                  </a:lnTo>
                </a:path>
              </a:pathLst>
            </a:custGeom>
            <a:noFill/>
            <a:ln w="33337" cap="rnd">
              <a:solidFill>
                <a:srgbClr val="FFFFFF"/>
              </a:solidFill>
              <a:round/>
            </a:ln>
          </p:spPr>
        </p:sp>
        <p:sp>
          <p:nvSpPr>
            <p:cNvPr id="56" name="Flecha 65_2"/>
            <p:cNvSpPr/>
            <p:nvPr/>
          </p:nvSpPr>
          <p:spPr>
            <a:xfrm>
              <a:off x="6926580" y="5806440"/>
              <a:ext cx="213360" cy="106680"/>
            </a:xfrm>
            <a:custGeom>
              <a:avLst/>
              <a:gdLst/>
              <a:ahLst/>
              <a:cxnLst/>
              <a:rect l="0" t="0" r="r" b="b"/>
              <a:pathLst>
                <a:path w="233" h="116" fill="none">
                  <a:moveTo>
                    <a:pt x="233" y="116"/>
                  </a:moveTo>
                  <a:lnTo>
                    <a:pt x="0" y="0"/>
                  </a:lnTo>
                </a:path>
              </a:pathLst>
            </a:custGeom>
            <a:noFill/>
            <a:ln w="59266" cap="rnd">
              <a:solidFill>
                <a:srgbClr val="B9B9B9"/>
              </a:solidFill>
              <a:round/>
            </a:ln>
          </p:spPr>
        </p:sp>
        <p:sp>
          <p:nvSpPr>
            <p:cNvPr id="57" name="Flecha 67_2"/>
            <p:cNvSpPr/>
            <p:nvPr/>
          </p:nvSpPr>
          <p:spPr>
            <a:xfrm>
              <a:off x="6926580" y="5806440"/>
              <a:ext cx="213360" cy="106680"/>
            </a:xfrm>
            <a:custGeom>
              <a:avLst/>
              <a:gdLst/>
              <a:ahLst/>
              <a:cxnLst/>
              <a:rect l="0" t="0" r="r" b="b"/>
              <a:pathLst>
                <a:path w="233" h="116" fill="none">
                  <a:moveTo>
                    <a:pt x="233" y="116"/>
                  </a:moveTo>
                  <a:lnTo>
                    <a:pt x="0" y="0"/>
                  </a:lnTo>
                </a:path>
              </a:pathLst>
            </a:custGeom>
            <a:noFill/>
            <a:ln w="33337" cap="rnd">
              <a:solidFill>
                <a:srgbClr val="FFFFFF"/>
              </a:solidFill>
              <a:round/>
            </a:ln>
          </p:spPr>
        </p:sp>
        <p:sp>
          <p:nvSpPr>
            <p:cNvPr id="58" name="Flecha 69_2"/>
            <p:cNvSpPr/>
            <p:nvPr/>
          </p:nvSpPr>
          <p:spPr>
            <a:xfrm>
              <a:off x="7139940" y="5913120"/>
              <a:ext cx="9144" cy="240030"/>
            </a:xfrm>
            <a:custGeom>
              <a:avLst/>
              <a:gdLst/>
              <a:ahLst/>
              <a:cxnLst/>
              <a:rect l="0" t="0" r="r" b="b"/>
              <a:pathLst>
                <a:path w="10" h="262" fill="none">
                  <a:moveTo>
                    <a:pt x="0" y="0"/>
                  </a:moveTo>
                  <a:lnTo>
                    <a:pt x="0" y="262"/>
                  </a:lnTo>
                </a:path>
              </a:pathLst>
            </a:custGeom>
            <a:noFill/>
            <a:ln w="59266" cap="rnd">
              <a:solidFill>
                <a:srgbClr val="B9B9B9"/>
              </a:solidFill>
              <a:round/>
            </a:ln>
          </p:spPr>
        </p:sp>
        <p:sp>
          <p:nvSpPr>
            <p:cNvPr id="59" name="Flecha 71_2"/>
            <p:cNvSpPr/>
            <p:nvPr/>
          </p:nvSpPr>
          <p:spPr>
            <a:xfrm>
              <a:off x="7139940" y="5913120"/>
              <a:ext cx="9144" cy="240030"/>
            </a:xfrm>
            <a:custGeom>
              <a:avLst/>
              <a:gdLst/>
              <a:ahLst/>
              <a:cxnLst/>
              <a:rect l="0" t="0" r="r" b="b"/>
              <a:pathLst>
                <a:path w="10" h="262" fill="none">
                  <a:moveTo>
                    <a:pt x="0" y="0"/>
                  </a:moveTo>
                  <a:lnTo>
                    <a:pt x="0" y="262"/>
                  </a:lnTo>
                </a:path>
              </a:pathLst>
            </a:custGeom>
            <a:noFill/>
            <a:ln w="33337" cap="rnd">
              <a:solidFill>
                <a:srgbClr val="FFFFFF"/>
              </a:solidFill>
              <a:round/>
            </a:ln>
          </p:spPr>
        </p:sp>
        <p:sp>
          <p:nvSpPr>
            <p:cNvPr id="60" name="Forma 73"/>
            <p:cNvSpPr/>
            <p:nvPr/>
          </p:nvSpPr>
          <p:spPr>
            <a:xfrm>
              <a:off x="7820062" y="5739802"/>
              <a:ext cx="133275" cy="1332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1" name="Forma 74"/>
            <p:cNvSpPr/>
            <p:nvPr/>
          </p:nvSpPr>
          <p:spPr>
            <a:xfrm>
              <a:off x="7606702" y="6086512"/>
              <a:ext cx="133275" cy="1332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2" name="Forma 75"/>
            <p:cNvSpPr/>
            <p:nvPr/>
          </p:nvSpPr>
          <p:spPr>
            <a:xfrm>
              <a:off x="6859942" y="5739802"/>
              <a:ext cx="133275" cy="1332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3" name="Forma 76"/>
            <p:cNvSpPr/>
            <p:nvPr/>
          </p:nvSpPr>
          <p:spPr>
            <a:xfrm>
              <a:off x="7073302" y="6086512"/>
              <a:ext cx="133275" cy="1332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4" name="Forma 77"/>
            <p:cNvSpPr/>
            <p:nvPr/>
          </p:nvSpPr>
          <p:spPr>
            <a:xfrm>
              <a:off x="7299160" y="5645620"/>
              <a:ext cx="214960" cy="2149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5" name="Forma 78"/>
            <p:cNvSpPr/>
            <p:nvPr/>
          </p:nvSpPr>
          <p:spPr>
            <a:xfrm>
              <a:off x="7299160" y="5352250"/>
              <a:ext cx="214960" cy="2149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6" name="Forma 79"/>
            <p:cNvSpPr/>
            <p:nvPr/>
          </p:nvSpPr>
          <p:spPr>
            <a:xfrm>
              <a:off x="7565860" y="5805640"/>
              <a:ext cx="214960" cy="2149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7" name="Forma 80"/>
            <p:cNvSpPr/>
            <p:nvPr/>
          </p:nvSpPr>
          <p:spPr>
            <a:xfrm>
              <a:off x="7032460" y="5805640"/>
              <a:ext cx="214960" cy="2149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grpSp>
        <p:nvGrpSpPr>
          <p:cNvPr id="68" name="Glucosa deco"/>
          <p:cNvGrpSpPr/>
          <p:nvPr/>
        </p:nvGrpSpPr>
        <p:grpSpPr>
          <a:xfrm>
            <a:off x="10007289" y="5386157"/>
            <a:ext cx="1259591" cy="840566"/>
            <a:chOff x="10007289" y="5386157"/>
            <a:chExt cx="1259591" cy="840566"/>
          </a:xfrm>
        </p:grpSpPr>
        <p:sp>
          <p:nvSpPr>
            <p:cNvPr id="69" name="Flecha 82_2"/>
            <p:cNvSpPr/>
            <p:nvPr/>
          </p:nvSpPr>
          <p:spPr>
            <a:xfrm>
              <a:off x="10458279" y="5816676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0" y="0"/>
                  </a:moveTo>
                  <a:lnTo>
                    <a:pt x="223" y="111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70" name="Flecha 84_2"/>
            <p:cNvSpPr/>
            <p:nvPr/>
          </p:nvSpPr>
          <p:spPr>
            <a:xfrm>
              <a:off x="10458279" y="5816676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0" y="0"/>
                  </a:moveTo>
                  <a:lnTo>
                    <a:pt x="223" y="111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71" name="Flecha 86_2"/>
            <p:cNvSpPr/>
            <p:nvPr/>
          </p:nvSpPr>
          <p:spPr>
            <a:xfrm>
              <a:off x="10662996" y="5816676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0" y="111"/>
                  </a:moveTo>
                  <a:lnTo>
                    <a:pt x="223" y="0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72" name="Flecha 88_2"/>
            <p:cNvSpPr/>
            <p:nvPr/>
          </p:nvSpPr>
          <p:spPr>
            <a:xfrm>
              <a:off x="10662996" y="5816676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0" y="111"/>
                  </a:moveTo>
                  <a:lnTo>
                    <a:pt x="223" y="0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73" name="Flecha 90_2"/>
            <p:cNvSpPr/>
            <p:nvPr/>
          </p:nvSpPr>
          <p:spPr>
            <a:xfrm>
              <a:off x="10867712" y="5591488"/>
              <a:ext cx="9144" cy="225188"/>
            </a:xfrm>
            <a:custGeom>
              <a:avLst/>
              <a:gdLst/>
              <a:ahLst/>
              <a:cxnLst/>
              <a:rect l="0" t="0" r="r" b="b"/>
              <a:pathLst>
                <a:path w="10" h="246" fill="none">
                  <a:moveTo>
                    <a:pt x="0" y="246"/>
                  </a:moveTo>
                  <a:lnTo>
                    <a:pt x="0" y="0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74" name="Flecha 92_2"/>
            <p:cNvSpPr/>
            <p:nvPr/>
          </p:nvSpPr>
          <p:spPr>
            <a:xfrm>
              <a:off x="10867712" y="5591488"/>
              <a:ext cx="9144" cy="225188"/>
            </a:xfrm>
            <a:custGeom>
              <a:avLst/>
              <a:gdLst/>
              <a:ahLst/>
              <a:cxnLst/>
              <a:rect l="0" t="0" r="r" b="b"/>
              <a:pathLst>
                <a:path w="10" h="246" fill="none">
                  <a:moveTo>
                    <a:pt x="0" y="246"/>
                  </a:moveTo>
                  <a:lnTo>
                    <a:pt x="0" y="0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75" name="Flecha 94_2"/>
            <p:cNvSpPr/>
            <p:nvPr/>
          </p:nvSpPr>
          <p:spPr>
            <a:xfrm>
              <a:off x="10662996" y="5489130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223" y="111"/>
                  </a:moveTo>
                  <a:lnTo>
                    <a:pt x="0" y="0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76" name="Flecha 96_2"/>
            <p:cNvSpPr/>
            <p:nvPr/>
          </p:nvSpPr>
          <p:spPr>
            <a:xfrm>
              <a:off x="10662996" y="5489130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223" y="111"/>
                  </a:moveTo>
                  <a:lnTo>
                    <a:pt x="0" y="0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77" name="Flecha 98_2"/>
            <p:cNvSpPr/>
            <p:nvPr/>
          </p:nvSpPr>
          <p:spPr>
            <a:xfrm>
              <a:off x="10458279" y="5489130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223" y="0"/>
                  </a:moveTo>
                  <a:lnTo>
                    <a:pt x="0" y="111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78" name="Flecha 100_2"/>
            <p:cNvSpPr/>
            <p:nvPr/>
          </p:nvSpPr>
          <p:spPr>
            <a:xfrm>
              <a:off x="10458279" y="5489130"/>
              <a:ext cx="204716" cy="102358"/>
            </a:xfrm>
            <a:custGeom>
              <a:avLst/>
              <a:gdLst/>
              <a:ahLst/>
              <a:cxnLst/>
              <a:rect l="0" t="0" r="r" b="b"/>
              <a:pathLst>
                <a:path w="223" h="111" fill="none">
                  <a:moveTo>
                    <a:pt x="223" y="0"/>
                  </a:moveTo>
                  <a:lnTo>
                    <a:pt x="0" y="111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79" name="Flecha 102_2"/>
            <p:cNvSpPr/>
            <p:nvPr/>
          </p:nvSpPr>
          <p:spPr>
            <a:xfrm>
              <a:off x="10458279" y="5591488"/>
              <a:ext cx="9144" cy="225188"/>
            </a:xfrm>
            <a:custGeom>
              <a:avLst/>
              <a:gdLst/>
              <a:ahLst/>
              <a:cxnLst/>
              <a:rect l="0" t="0" r="r" b="b"/>
              <a:pathLst>
                <a:path w="10" h="246" fill="none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80" name="Flecha 104_2"/>
            <p:cNvSpPr/>
            <p:nvPr/>
          </p:nvSpPr>
          <p:spPr>
            <a:xfrm>
              <a:off x="10458279" y="5591488"/>
              <a:ext cx="9144" cy="225188"/>
            </a:xfrm>
            <a:custGeom>
              <a:avLst/>
              <a:gdLst/>
              <a:ahLst/>
              <a:cxnLst/>
              <a:rect l="0" t="0" r="r" b="b"/>
              <a:pathLst>
                <a:path w="10" h="246" fill="none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81" name="Flecha 106_2"/>
            <p:cNvSpPr/>
            <p:nvPr/>
          </p:nvSpPr>
          <p:spPr>
            <a:xfrm>
              <a:off x="10274035" y="5816676"/>
              <a:ext cx="184245" cy="102358"/>
            </a:xfrm>
            <a:custGeom>
              <a:avLst/>
              <a:gdLst/>
              <a:ahLst/>
              <a:cxnLst/>
              <a:rect l="0" t="0" r="r" b="b"/>
              <a:pathLst>
                <a:path w="201" h="111" fill="none">
                  <a:moveTo>
                    <a:pt x="201" y="0"/>
                  </a:moveTo>
                  <a:lnTo>
                    <a:pt x="0" y="111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82" name="Flecha 108_2"/>
            <p:cNvSpPr/>
            <p:nvPr/>
          </p:nvSpPr>
          <p:spPr>
            <a:xfrm>
              <a:off x="10274035" y="5816676"/>
              <a:ext cx="184245" cy="102358"/>
            </a:xfrm>
            <a:custGeom>
              <a:avLst/>
              <a:gdLst/>
              <a:ahLst/>
              <a:cxnLst/>
              <a:rect l="0" t="0" r="r" b="b"/>
              <a:pathLst>
                <a:path w="201" h="111" fill="none">
                  <a:moveTo>
                    <a:pt x="201" y="0"/>
                  </a:moveTo>
                  <a:lnTo>
                    <a:pt x="0" y="111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83" name="Flecha 110_2"/>
            <p:cNvSpPr/>
            <p:nvPr/>
          </p:nvSpPr>
          <p:spPr>
            <a:xfrm>
              <a:off x="10662996" y="5919034"/>
              <a:ext cx="9144" cy="225188"/>
            </a:xfrm>
            <a:custGeom>
              <a:avLst/>
              <a:gdLst/>
              <a:ahLst/>
              <a:cxnLst/>
              <a:rect l="0" t="0" r="r" b="b"/>
              <a:pathLst>
                <a:path w="10" h="246" fill="none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84" name="Flecha 112_2"/>
            <p:cNvSpPr/>
            <p:nvPr/>
          </p:nvSpPr>
          <p:spPr>
            <a:xfrm>
              <a:off x="10662996" y="5919034"/>
              <a:ext cx="9144" cy="225188"/>
            </a:xfrm>
            <a:custGeom>
              <a:avLst/>
              <a:gdLst/>
              <a:ahLst/>
              <a:cxnLst/>
              <a:rect l="0" t="0" r="r" b="b"/>
              <a:pathLst>
                <a:path w="10" h="246" fill="none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85" name="Flecha 114_2"/>
            <p:cNvSpPr/>
            <p:nvPr/>
          </p:nvSpPr>
          <p:spPr>
            <a:xfrm>
              <a:off x="10867712" y="5816676"/>
              <a:ext cx="184245" cy="102358"/>
            </a:xfrm>
            <a:custGeom>
              <a:avLst/>
              <a:gdLst/>
              <a:ahLst/>
              <a:cxnLst/>
              <a:rect l="0" t="0" r="r" b="b"/>
              <a:pathLst>
                <a:path w="201" h="111" fill="none">
                  <a:moveTo>
                    <a:pt x="0" y="0"/>
                  </a:moveTo>
                  <a:lnTo>
                    <a:pt x="201" y="111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86" name="Flecha 116_2"/>
            <p:cNvSpPr/>
            <p:nvPr/>
          </p:nvSpPr>
          <p:spPr>
            <a:xfrm>
              <a:off x="10867712" y="5816676"/>
              <a:ext cx="184245" cy="102358"/>
            </a:xfrm>
            <a:custGeom>
              <a:avLst/>
              <a:gdLst/>
              <a:ahLst/>
              <a:cxnLst/>
              <a:rect l="0" t="0" r="r" b="b"/>
              <a:pathLst>
                <a:path w="201" h="111" fill="none">
                  <a:moveTo>
                    <a:pt x="0" y="0"/>
                  </a:moveTo>
                  <a:lnTo>
                    <a:pt x="201" y="111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87" name="Flecha 118_2"/>
            <p:cNvSpPr/>
            <p:nvPr/>
          </p:nvSpPr>
          <p:spPr>
            <a:xfrm>
              <a:off x="10274035" y="5468658"/>
              <a:ext cx="184245" cy="122830"/>
            </a:xfrm>
            <a:custGeom>
              <a:avLst/>
              <a:gdLst/>
              <a:ahLst/>
              <a:cxnLst/>
              <a:rect l="0" t="0" r="r" b="b"/>
              <a:pathLst>
                <a:path w="201" h="134" fill="none">
                  <a:moveTo>
                    <a:pt x="201" y="134"/>
                  </a:moveTo>
                  <a:lnTo>
                    <a:pt x="0" y="0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88" name="Flecha 120_2"/>
            <p:cNvSpPr/>
            <p:nvPr/>
          </p:nvSpPr>
          <p:spPr>
            <a:xfrm>
              <a:off x="10274035" y="5468658"/>
              <a:ext cx="184245" cy="122830"/>
            </a:xfrm>
            <a:custGeom>
              <a:avLst/>
              <a:gdLst/>
              <a:ahLst/>
              <a:cxnLst/>
              <a:rect l="0" t="0" r="r" b="b"/>
              <a:pathLst>
                <a:path w="201" h="134" fill="none">
                  <a:moveTo>
                    <a:pt x="201" y="134"/>
                  </a:moveTo>
                  <a:lnTo>
                    <a:pt x="0" y="0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89" name="Flecha 122_2"/>
            <p:cNvSpPr/>
            <p:nvPr/>
          </p:nvSpPr>
          <p:spPr>
            <a:xfrm>
              <a:off x="10089790" y="5468658"/>
              <a:ext cx="184245" cy="102358"/>
            </a:xfrm>
            <a:custGeom>
              <a:avLst/>
              <a:gdLst/>
              <a:ahLst/>
              <a:cxnLst/>
              <a:rect l="0" t="0" r="r" b="b"/>
              <a:pathLst>
                <a:path w="201" h="111" fill="none">
                  <a:moveTo>
                    <a:pt x="201" y="0"/>
                  </a:moveTo>
                  <a:lnTo>
                    <a:pt x="0" y="111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90" name="Flecha 124_2"/>
            <p:cNvSpPr/>
            <p:nvPr/>
          </p:nvSpPr>
          <p:spPr>
            <a:xfrm>
              <a:off x="10089790" y="5468658"/>
              <a:ext cx="184245" cy="102358"/>
            </a:xfrm>
            <a:custGeom>
              <a:avLst/>
              <a:gdLst/>
              <a:ahLst/>
              <a:cxnLst/>
              <a:rect l="0" t="0" r="r" b="b"/>
              <a:pathLst>
                <a:path w="201" h="111" fill="none">
                  <a:moveTo>
                    <a:pt x="201" y="0"/>
                  </a:moveTo>
                  <a:lnTo>
                    <a:pt x="0" y="111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91" name="Flecha 126_2"/>
            <p:cNvSpPr/>
            <p:nvPr/>
          </p:nvSpPr>
          <p:spPr>
            <a:xfrm>
              <a:off x="10110261" y="5837147"/>
              <a:ext cx="163773" cy="81887"/>
            </a:xfrm>
            <a:custGeom>
              <a:avLst/>
              <a:gdLst/>
              <a:ahLst/>
              <a:cxnLst/>
              <a:rect l="0" t="0" r="r" b="b"/>
              <a:pathLst>
                <a:path w="179" h="89" fill="none">
                  <a:moveTo>
                    <a:pt x="179" y="89"/>
                  </a:moveTo>
                  <a:lnTo>
                    <a:pt x="0" y="0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92" name="Flecha 128_2"/>
            <p:cNvSpPr/>
            <p:nvPr/>
          </p:nvSpPr>
          <p:spPr>
            <a:xfrm>
              <a:off x="10110261" y="5837147"/>
              <a:ext cx="163773" cy="81887"/>
            </a:xfrm>
            <a:custGeom>
              <a:avLst/>
              <a:gdLst/>
              <a:ahLst/>
              <a:cxnLst/>
              <a:rect l="0" t="0" r="r" b="b"/>
              <a:pathLst>
                <a:path w="179" h="89" fill="none">
                  <a:moveTo>
                    <a:pt x="179" y="89"/>
                  </a:moveTo>
                  <a:lnTo>
                    <a:pt x="0" y="0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93" name="Flecha 130_2"/>
            <p:cNvSpPr/>
            <p:nvPr/>
          </p:nvSpPr>
          <p:spPr>
            <a:xfrm>
              <a:off x="11051957" y="5837147"/>
              <a:ext cx="163773" cy="81887"/>
            </a:xfrm>
            <a:custGeom>
              <a:avLst/>
              <a:gdLst/>
              <a:ahLst/>
              <a:cxnLst/>
              <a:rect l="0" t="0" r="r" b="b"/>
              <a:pathLst>
                <a:path w="179" h="89" fill="none">
                  <a:moveTo>
                    <a:pt x="0" y="89"/>
                  </a:moveTo>
                  <a:lnTo>
                    <a:pt x="179" y="0"/>
                  </a:lnTo>
                </a:path>
              </a:pathLst>
            </a:custGeom>
            <a:noFill/>
            <a:ln w="45492" cap="rnd">
              <a:solidFill>
                <a:srgbClr val="B9B9B9"/>
              </a:solidFill>
              <a:round/>
            </a:ln>
          </p:spPr>
        </p:sp>
        <p:sp>
          <p:nvSpPr>
            <p:cNvPr id="94" name="Flecha 132_2"/>
            <p:cNvSpPr/>
            <p:nvPr/>
          </p:nvSpPr>
          <p:spPr>
            <a:xfrm>
              <a:off x="11051957" y="5837147"/>
              <a:ext cx="163773" cy="81887"/>
            </a:xfrm>
            <a:custGeom>
              <a:avLst/>
              <a:gdLst/>
              <a:ahLst/>
              <a:cxnLst/>
              <a:rect l="0" t="0" r="r" b="b"/>
              <a:pathLst>
                <a:path w="179" h="89" fill="none">
                  <a:moveTo>
                    <a:pt x="0" y="89"/>
                  </a:moveTo>
                  <a:lnTo>
                    <a:pt x="179" y="0"/>
                  </a:lnTo>
                </a:path>
              </a:pathLst>
            </a:custGeom>
            <a:noFill/>
            <a:ln w="25589" cap="rnd">
              <a:solidFill>
                <a:srgbClr val="FFFFFF"/>
              </a:solidFill>
              <a:round/>
            </a:ln>
          </p:spPr>
        </p:sp>
        <p:sp>
          <p:nvSpPr>
            <p:cNvPr id="95" name="Forma 134"/>
            <p:cNvSpPr/>
            <p:nvPr/>
          </p:nvSpPr>
          <p:spPr>
            <a:xfrm>
              <a:off x="10059111" y="5785997"/>
              <a:ext cx="102301" cy="1023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96" name="Forma 135"/>
            <p:cNvSpPr/>
            <p:nvPr/>
          </p:nvSpPr>
          <p:spPr>
            <a:xfrm>
              <a:off x="11164580" y="5785997"/>
              <a:ext cx="102301" cy="1023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97" name="Forma 136"/>
            <p:cNvSpPr/>
            <p:nvPr/>
          </p:nvSpPr>
          <p:spPr>
            <a:xfrm>
              <a:off x="10375779" y="5734175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98" name="Forma 137"/>
            <p:cNvSpPr/>
            <p:nvPr/>
          </p:nvSpPr>
          <p:spPr>
            <a:xfrm>
              <a:off x="10580495" y="5836533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99" name="Forma 138"/>
            <p:cNvSpPr/>
            <p:nvPr/>
          </p:nvSpPr>
          <p:spPr>
            <a:xfrm>
              <a:off x="10785212" y="5734175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0" name="Forma 139"/>
            <p:cNvSpPr/>
            <p:nvPr/>
          </p:nvSpPr>
          <p:spPr>
            <a:xfrm>
              <a:off x="10785212" y="5508987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1" name="Forma 140"/>
            <p:cNvSpPr/>
            <p:nvPr/>
          </p:nvSpPr>
          <p:spPr>
            <a:xfrm>
              <a:off x="10580495" y="5406629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2" name="Forma 141"/>
            <p:cNvSpPr/>
            <p:nvPr/>
          </p:nvSpPr>
          <p:spPr>
            <a:xfrm>
              <a:off x="10375779" y="5508987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3" name="Forma 142"/>
            <p:cNvSpPr/>
            <p:nvPr/>
          </p:nvSpPr>
          <p:spPr>
            <a:xfrm>
              <a:off x="10191534" y="5836533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4" name="Forma 143"/>
            <p:cNvSpPr/>
            <p:nvPr/>
          </p:nvSpPr>
          <p:spPr>
            <a:xfrm>
              <a:off x="10580495" y="6061721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5" name="Forma 144"/>
            <p:cNvSpPr/>
            <p:nvPr/>
          </p:nvSpPr>
          <p:spPr>
            <a:xfrm>
              <a:off x="10969456" y="5836533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6" name="Forma 145"/>
            <p:cNvSpPr/>
            <p:nvPr/>
          </p:nvSpPr>
          <p:spPr>
            <a:xfrm>
              <a:off x="10191534" y="5386157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107" name="Forma 146"/>
            <p:cNvSpPr/>
            <p:nvPr/>
          </p:nvSpPr>
          <p:spPr>
            <a:xfrm>
              <a:off x="10007289" y="5488515"/>
              <a:ext cx="165001" cy="16500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CONCENTRACIONES DE MASA Y CONCENTRACIONES MOLARES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10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sp>
        <p:nvSpPr>
          <p:cNvPr id="5" name="!!Enzima UI"/>
          <p:cNvSpPr/>
          <p:nvPr/>
        </p:nvSpPr>
        <p:spPr>
          <a:xfrm>
            <a:off x="2377440" y="1828800"/>
            <a:ext cx="2194560" cy="19202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11" y="500"/>
                </a:moveTo>
                <a:cubicBezTo>
                  <a:pt x="912" y="563"/>
                  <a:pt x="869" y="633"/>
                  <a:pt x="836" y="694"/>
                </a:cubicBezTo>
                <a:cubicBezTo>
                  <a:pt x="802" y="754"/>
                  <a:pt x="766" y="819"/>
                  <a:pt x="710" y="863"/>
                </a:cubicBezTo>
                <a:cubicBezTo>
                  <a:pt x="654" y="906"/>
                  <a:pt x="566" y="959"/>
                  <a:pt x="500" y="953"/>
                </a:cubicBezTo>
                <a:cubicBezTo>
                  <a:pt x="433" y="946"/>
                  <a:pt x="366" y="869"/>
                  <a:pt x="312" y="825"/>
                </a:cubicBezTo>
                <a:cubicBezTo>
                  <a:pt x="257" y="781"/>
                  <a:pt x="218" y="743"/>
                  <a:pt x="171" y="689"/>
                </a:cubicBezTo>
                <a:cubicBezTo>
                  <a:pt x="123" y="634"/>
                  <a:pt x="33" y="568"/>
                  <a:pt x="25" y="500"/>
                </a:cubicBezTo>
                <a:cubicBezTo>
                  <a:pt x="16" y="432"/>
                  <a:pt x="72" y="336"/>
                  <a:pt x="120" y="281"/>
                </a:cubicBezTo>
                <a:cubicBezTo>
                  <a:pt x="167" y="225"/>
                  <a:pt x="244" y="201"/>
                  <a:pt x="308" y="169"/>
                </a:cubicBezTo>
                <a:cubicBezTo>
                  <a:pt x="371" y="136"/>
                  <a:pt x="430" y="93"/>
                  <a:pt x="499" y="84"/>
                </a:cubicBezTo>
                <a:cubicBezTo>
                  <a:pt x="568" y="75"/>
                  <a:pt x="667" y="77"/>
                  <a:pt x="722" y="115"/>
                </a:cubicBezTo>
                <a:cubicBezTo>
                  <a:pt x="776" y="152"/>
                  <a:pt x="794" y="246"/>
                  <a:pt x="826" y="311"/>
                </a:cubicBezTo>
                <a:cubicBezTo>
                  <a:pt x="857" y="375"/>
                  <a:pt x="909" y="436"/>
                  <a:pt x="911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Enzima</a:t>
            </a:r>
            <a:endParaRPr lang="es-AR" sz="1800" dirty="0">
              <a:latin typeface="Calibri"/>
            </a:endParaRPr>
          </a:p>
        </p:txBody>
      </p:sp>
      <p:sp>
        <p:nvSpPr>
          <p:cNvPr id="6" name="!!Sustrato 0"/>
          <p:cNvSpPr/>
          <p:nvPr/>
        </p:nvSpPr>
        <p:spPr>
          <a:xfrm>
            <a:off x="457200" y="146304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CB83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582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es-AR" sz="1400" dirty="0">
              <a:latin typeface="Calibri"/>
            </a:endParaRPr>
          </a:p>
        </p:txBody>
      </p:sp>
      <p:sp>
        <p:nvSpPr>
          <p:cNvPr id="7" name="!!Sustrato 1"/>
          <p:cNvSpPr/>
          <p:nvPr/>
        </p:nvSpPr>
        <p:spPr>
          <a:xfrm>
            <a:off x="457200" y="219456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CB83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582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es-AR" sz="1400" dirty="0">
              <a:latin typeface="Calibri"/>
            </a:endParaRPr>
          </a:p>
        </p:txBody>
      </p:sp>
      <p:sp>
        <p:nvSpPr>
          <p:cNvPr id="8" name="!!Sustrato 2"/>
          <p:cNvSpPr/>
          <p:nvPr/>
        </p:nvSpPr>
        <p:spPr>
          <a:xfrm>
            <a:off x="457200" y="292608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CB83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582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es-AR" sz="1400" dirty="0">
              <a:latin typeface="Calibri"/>
            </a:endParaRPr>
          </a:p>
        </p:txBody>
      </p:sp>
      <p:sp>
        <p:nvSpPr>
          <p:cNvPr id="9" name="!!Sustrato 3"/>
          <p:cNvSpPr/>
          <p:nvPr/>
        </p:nvSpPr>
        <p:spPr>
          <a:xfrm>
            <a:off x="457200" y="365760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CB83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582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lang="es-AR" sz="1400" dirty="0">
              <a:latin typeface="Calibri"/>
            </a:endParaRPr>
          </a:p>
        </p:txBody>
      </p:sp>
      <p:sp>
        <p:nvSpPr>
          <p:cNvPr id="10" name="!!Producto 0"/>
          <p:cNvSpPr/>
          <p:nvPr/>
        </p:nvSpPr>
        <p:spPr>
          <a:xfrm>
            <a:off x="5760720" y="146304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E4B4"/>
              </a:gs>
              <a:gs pos="55000">
                <a:srgbClr val="58D68D"/>
              </a:gs>
              <a:gs pos="100000">
                <a:srgbClr val="46AB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C6B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s-AR" sz="1400" dirty="0">
              <a:latin typeface="Calibri"/>
            </a:endParaRPr>
          </a:p>
        </p:txBody>
      </p:sp>
      <p:sp>
        <p:nvSpPr>
          <p:cNvPr id="11" name="!!Producto 1"/>
          <p:cNvSpPr/>
          <p:nvPr/>
        </p:nvSpPr>
        <p:spPr>
          <a:xfrm>
            <a:off x="5760720" y="219456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E4B4"/>
              </a:gs>
              <a:gs pos="55000">
                <a:srgbClr val="58D68D"/>
              </a:gs>
              <a:gs pos="100000">
                <a:srgbClr val="46AB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C6B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s-AR" sz="1400" dirty="0">
              <a:latin typeface="Calibri"/>
            </a:endParaRPr>
          </a:p>
        </p:txBody>
      </p:sp>
      <p:sp>
        <p:nvSpPr>
          <p:cNvPr id="12" name="!!Producto 2"/>
          <p:cNvSpPr/>
          <p:nvPr/>
        </p:nvSpPr>
        <p:spPr>
          <a:xfrm>
            <a:off x="5760720" y="292608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E4B4"/>
              </a:gs>
              <a:gs pos="55000">
                <a:srgbClr val="58D68D"/>
              </a:gs>
              <a:gs pos="100000">
                <a:srgbClr val="46AB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C6B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s-AR" sz="1400" dirty="0">
              <a:latin typeface="Calibri"/>
            </a:endParaRPr>
          </a:p>
        </p:txBody>
      </p:sp>
      <p:sp>
        <p:nvSpPr>
          <p:cNvPr id="13" name="!!Producto 3"/>
          <p:cNvSpPr/>
          <p:nvPr/>
        </p:nvSpPr>
        <p:spPr>
          <a:xfrm>
            <a:off x="5760720" y="3657600"/>
            <a:ext cx="5029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E4B4"/>
              </a:gs>
              <a:gs pos="55000">
                <a:srgbClr val="58D68D"/>
              </a:gs>
              <a:gs pos="100000">
                <a:srgbClr val="46AB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C6B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s-AR" sz="1400" dirty="0">
              <a:latin typeface="Calibri"/>
            </a:endParaRPr>
          </a:p>
        </p:txBody>
      </p:sp>
      <p:grpSp>
        <p:nvGrpSpPr>
          <p:cNvPr id="14" name="Reloj 1 minuto"/>
          <p:cNvGrpSpPr/>
          <p:nvPr/>
        </p:nvGrpSpPr>
        <p:grpSpPr>
          <a:xfrm>
            <a:off x="6309360" y="4297680"/>
            <a:ext cx="1188720" cy="1188720"/>
            <a:chOff x="6309360" y="4297680"/>
            <a:chExt cx="1188720" cy="1188720"/>
          </a:xfrm>
        </p:grpSpPr>
        <p:sp>
          <p:nvSpPr>
            <p:cNvPr id="15" name="Forma 14"/>
            <p:cNvSpPr/>
            <p:nvPr/>
          </p:nvSpPr>
          <p:spPr>
            <a:xfrm>
              <a:off x="6309360" y="4297680"/>
              <a:ext cx="1188720" cy="118872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5000">
                  <a:srgbClr val="FFFFFF"/>
                </a:gs>
                <a:gs pos="100000">
                  <a:srgbClr val="EAEAEA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16" name="Flecha 15_2"/>
            <p:cNvSpPr/>
            <p:nvPr/>
          </p:nvSpPr>
          <p:spPr>
            <a:xfrm>
              <a:off x="6903720" y="4725619"/>
              <a:ext cx="288249" cy="166421"/>
            </a:xfrm>
            <a:custGeom>
              <a:avLst/>
              <a:gdLst/>
              <a:ahLst/>
              <a:cxnLst/>
              <a:rect l="0" t="0" r="r" b="b"/>
              <a:pathLst>
                <a:path w="315" h="182" fill="none">
                  <a:moveTo>
                    <a:pt x="0" y="182"/>
                  </a:moveTo>
                  <a:lnTo>
                    <a:pt x="315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17" name="Flecha 17_2"/>
            <p:cNvSpPr/>
            <p:nvPr/>
          </p:nvSpPr>
          <p:spPr>
            <a:xfrm>
              <a:off x="6903720" y="4440326"/>
              <a:ext cx="9144" cy="451714"/>
            </a:xfrm>
            <a:custGeom>
              <a:avLst/>
              <a:gdLst/>
              <a:ahLst/>
              <a:cxnLst/>
              <a:rect l="0" t="0" r="r" b="b"/>
              <a:pathLst>
                <a:path w="10" h="494" fill="none">
                  <a:moveTo>
                    <a:pt x="0" y="494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rgbClr val="1E1E1E"/>
              </a:solidFill>
              <a:round/>
            </a:ln>
          </p:spPr>
        </p:sp>
      </p:grpSp>
      <p:sp>
        <p:nvSpPr>
          <p:cNvPr id="18" name="Rótulo 1 minuto"/>
          <p:cNvSpPr/>
          <p:nvPr/>
        </p:nvSpPr>
        <p:spPr>
          <a:xfrm>
            <a:off x="6035040" y="5577840"/>
            <a:ext cx="1737360" cy="314325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minuto</a:t>
            </a:r>
            <a:endParaRPr lang="es-AR" sz="1500" dirty="0">
              <a:latin typeface="Calibri"/>
            </a:endParaRPr>
          </a:p>
        </p:txBody>
      </p:sp>
      <p:sp>
        <p:nvSpPr>
          <p:cNvPr id="19" name="Definición UI"/>
          <p:cNvSpPr/>
          <p:nvPr/>
        </p:nvSpPr>
        <p:spPr>
          <a:xfrm>
            <a:off x="365760" y="4206240"/>
            <a:ext cx="5394960" cy="22402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Las enzimas transforman sustrato en producto: lo que se mide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es una concentración sino una velocidad de reacción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0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 UI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= cantidad de enzima que cataliza la transformación de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 µmol de sustrato en 1 minuto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00" dirty="0">
              <a:latin typeface="Calibri"/>
            </a:endParaRPr>
          </a:p>
        </p:txBody>
      </p:sp>
      <p:grpSp>
        <p:nvGrpSpPr>
          <p:cNvPr id="20" name="Regla UI"/>
          <p:cNvGrpSpPr/>
          <p:nvPr/>
        </p:nvGrpSpPr>
        <p:grpSpPr>
          <a:xfrm>
            <a:off x="8549640" y="1097280"/>
            <a:ext cx="3383280" cy="2011680"/>
            <a:chOff x="8549640" y="1097280"/>
            <a:chExt cx="3383280" cy="2011680"/>
          </a:xfrm>
        </p:grpSpPr>
        <p:sp>
          <p:nvSpPr>
            <p:cNvPr id="21" name="Forma 22"/>
            <p:cNvSpPr/>
            <p:nvPr/>
          </p:nvSpPr>
          <p:spPr>
            <a:xfrm>
              <a:off x="8549640" y="1298448"/>
              <a:ext cx="3383280" cy="18105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enzimas se informan en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UI/L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(actividad catalítica por litro).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2" name="Forma 23"/>
            <p:cNvSpPr/>
            <p:nvPr/>
          </p:nvSpPr>
          <p:spPr>
            <a:xfrm>
              <a:off x="8677656" y="1097280"/>
              <a:ext cx="197962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REGLA DEL MATERIAL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3" name="Nota de rigor"/>
          <p:cNvGrpSpPr/>
          <p:nvPr/>
        </p:nvGrpSpPr>
        <p:grpSpPr>
          <a:xfrm>
            <a:off x="8549640" y="3383280"/>
            <a:ext cx="3383280" cy="3063240"/>
            <a:chOff x="8549640" y="3383280"/>
            <a:chExt cx="3383280" cy="3063240"/>
          </a:xfrm>
        </p:grpSpPr>
        <p:sp>
          <p:nvSpPr>
            <p:cNvPr id="24" name="Forma 25"/>
            <p:cNvSpPr/>
            <p:nvPr/>
          </p:nvSpPr>
          <p:spPr>
            <a:xfrm>
              <a:off x="8549640" y="3584448"/>
              <a:ext cx="3383280" cy="2862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UI/L identifica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actividad enzimática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pero el símbolo «UI» no es exclusivo de las enzimas: algunas hormonas y vitaminas se expresan en UI por convención biológica. En el SI la actividad se expresa en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katal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(mol/s).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25" name="Forma 26"/>
            <p:cNvSpPr/>
            <p:nvPr/>
          </p:nvSpPr>
          <p:spPr>
            <a:xfrm>
              <a:off x="8677656" y="3383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UNIDADES INTERNACIONALES: SE MIDE UNA VELOCIDAD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50 0.0480 E" pathEditMode="relative" ptsTypes="">
                                      <p:cBhvr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50" y="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50 0.0160 E" pathEditMode="relative" ptsTypes="">
                                      <p:cBhvr>
                                        <p:cTn id="2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50" y="7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400"/>
                            </p:stCondLst>
                            <p:childTnLst>
                              <p:par>
                                <p:cTn id="31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50 -0.0160 E" pathEditMode="relative" ptsTypes="">
                                      <p:cBhvr>
                                        <p:cTn id="3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50" y="-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4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50 -0.0480 E" pathEditMode="relative" ptsTypes="">
                                      <p:cBhvr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50" y="-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00"/>
                            </p:stCondLst>
                            <p:childTnLst>
                              <p:par>
                                <p:cTn id="3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7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!!Tríada"/>
          <p:cNvGrpSpPr/>
          <p:nvPr/>
        </p:nvGrpSpPr>
        <p:grpSpPr>
          <a:xfrm>
            <a:off x="274320" y="1188720"/>
            <a:ext cx="4023360" cy="4480560"/>
            <a:chOff x="274320" y="1188720"/>
            <a:chExt cx="4023360" cy="4480560"/>
          </a:xfrm>
        </p:grpSpPr>
        <p:sp>
          <p:nvSpPr>
            <p:cNvPr id="6" name="Forma 5"/>
            <p:cNvSpPr/>
            <p:nvPr/>
          </p:nvSpPr>
          <p:spPr>
            <a:xfrm>
              <a:off x="1371600" y="1188720"/>
              <a:ext cx="1737360" cy="1737360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73152" tIns="0" rIns="7315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ANALITO</a:t>
              </a:r>
              <a:endParaRPr lang="es-AR" sz="135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¿qué se mide?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74320" y="3931920"/>
              <a:ext cx="1737360" cy="1737360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A9AB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73152" tIns="0" rIns="7315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MAGNITUD</a:t>
              </a:r>
              <a:endParaRPr lang="es-AR" sz="135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¿qué propiedad?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2560320" y="3931920"/>
              <a:ext cx="1737360" cy="1737360"/>
            </a:xfrm>
            <a:prstGeom prst="ellipse">
              <a:avLst/>
            </a:prstGeom>
            <a:gradFill rotWithShape="1">
              <a:gsLst>
                <a:gs pos="0">
                  <a:srgbClr val="B4ECCC"/>
                </a:gs>
                <a:gs pos="55000">
                  <a:srgbClr val="82E0AA"/>
                </a:gs>
                <a:gs pos="100000">
                  <a:srgbClr val="68B388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73152" tIns="0" rIns="7315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UNIDAD</a:t>
              </a:r>
              <a:endParaRPr lang="es-AR" sz="135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¿en qué escala?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9" name="Flecha 8_2"/>
            <p:cNvSpPr/>
            <p:nvPr/>
          </p:nvSpPr>
          <p:spPr>
            <a:xfrm>
              <a:off x="1371600" y="2971800"/>
              <a:ext cx="457200" cy="914400"/>
            </a:xfrm>
            <a:custGeom>
              <a:avLst/>
              <a:gdLst/>
              <a:ahLst/>
              <a:cxnLst/>
              <a:rect l="0" t="0" r="r" b="b"/>
              <a:pathLst>
                <a:path w="500" h="1000" fill="none">
                  <a:moveTo>
                    <a:pt x="500" y="0"/>
                  </a:moveTo>
                  <a:lnTo>
                    <a:pt x="0" y="10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headEnd type="triangle" w="med" len="med"/>
              <a:tailEnd type="triangle" w="med" len="med"/>
            </a:ln>
          </p:spPr>
        </p:sp>
        <p:sp>
          <p:nvSpPr>
            <p:cNvPr id="10" name="Flecha 10_2"/>
            <p:cNvSpPr/>
            <p:nvPr/>
          </p:nvSpPr>
          <p:spPr>
            <a:xfrm>
              <a:off x="2743200" y="2971800"/>
              <a:ext cx="548640" cy="914400"/>
            </a:xfrm>
            <a:custGeom>
              <a:avLst/>
              <a:gdLst/>
              <a:ahLst/>
              <a:cxnLst/>
              <a:rect l="0" t="0" r="r" b="b"/>
              <a:pathLst>
                <a:path w="600" h="1000" fill="none">
                  <a:moveTo>
                    <a:pt x="0" y="0"/>
                  </a:moveTo>
                  <a:lnTo>
                    <a:pt x="600" y="10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headEnd type="triangle" w="med" len="med"/>
              <a:tailEnd type="triangle" w="med" len="med"/>
            </a:ln>
          </p:spPr>
        </p:sp>
        <p:sp>
          <p:nvSpPr>
            <p:cNvPr id="11" name="Flecha 12_2"/>
            <p:cNvSpPr/>
            <p:nvPr/>
          </p:nvSpPr>
          <p:spPr>
            <a:xfrm>
              <a:off x="2057400" y="4800600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500" h="10" fill="none">
                  <a:moveTo>
                    <a:pt x="0" y="0"/>
                  </a:moveTo>
                  <a:lnTo>
                    <a:pt x="50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headEnd type="triangle" w="med" len="med"/>
              <a:tailEnd type="triangle" w="med" len="med"/>
            </a:ln>
          </p:spPr>
        </p:sp>
      </p:grpSp>
      <p:grpSp>
        <p:nvGrpSpPr>
          <p:cNvPr id="12" name="Tabla tríada fila 0"/>
          <p:cNvGrpSpPr/>
          <p:nvPr/>
        </p:nvGrpSpPr>
        <p:grpSpPr>
          <a:xfrm>
            <a:off x="4663440" y="1097280"/>
            <a:ext cx="7223760" cy="566928"/>
            <a:chOff x="4663440" y="1097280"/>
            <a:chExt cx="7223760" cy="566928"/>
          </a:xfrm>
        </p:grpSpPr>
        <p:sp>
          <p:nvSpPr>
            <p:cNvPr id="13" name="Forma 15"/>
            <p:cNvSpPr/>
            <p:nvPr/>
          </p:nvSpPr>
          <p:spPr>
            <a:xfrm>
              <a:off x="4663440" y="1097280"/>
              <a:ext cx="23774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Analito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4" name="Forma 16"/>
            <p:cNvSpPr/>
            <p:nvPr/>
          </p:nvSpPr>
          <p:spPr>
            <a:xfrm>
              <a:off x="7040880" y="1097280"/>
              <a:ext cx="31089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Magnitud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5" name="Forma 17"/>
            <p:cNvSpPr/>
            <p:nvPr/>
          </p:nvSpPr>
          <p:spPr>
            <a:xfrm>
              <a:off x="10149840" y="1097280"/>
              <a:ext cx="17373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Unidad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6" name="Tabla tríada fila 1"/>
          <p:cNvGrpSpPr/>
          <p:nvPr/>
        </p:nvGrpSpPr>
        <p:grpSpPr>
          <a:xfrm>
            <a:off x="4663440" y="1664208"/>
            <a:ext cx="7223760" cy="566928"/>
            <a:chOff x="4663440" y="1664208"/>
            <a:chExt cx="7223760" cy="566928"/>
          </a:xfrm>
        </p:grpSpPr>
        <p:sp>
          <p:nvSpPr>
            <p:cNvPr id="17" name="Forma 19"/>
            <p:cNvSpPr/>
            <p:nvPr/>
          </p:nvSpPr>
          <p:spPr>
            <a:xfrm>
              <a:off x="4663440" y="1664208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8" name="Forma 20"/>
            <p:cNvSpPr/>
            <p:nvPr/>
          </p:nvSpPr>
          <p:spPr>
            <a:xfrm>
              <a:off x="7040880" y="1664208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de masa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9" name="Forma 21"/>
            <p:cNvSpPr/>
            <p:nvPr/>
          </p:nvSpPr>
          <p:spPr>
            <a:xfrm>
              <a:off x="10149840" y="1664208"/>
              <a:ext cx="17373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mg/dL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0" name="Tabla tríada fila 2"/>
          <p:cNvGrpSpPr/>
          <p:nvPr/>
        </p:nvGrpSpPr>
        <p:grpSpPr>
          <a:xfrm>
            <a:off x="4663440" y="2231136"/>
            <a:ext cx="7223760" cy="566928"/>
            <a:chOff x="4663440" y="2231136"/>
            <a:chExt cx="7223760" cy="566928"/>
          </a:xfrm>
        </p:grpSpPr>
        <p:sp>
          <p:nvSpPr>
            <p:cNvPr id="21" name="Forma 23"/>
            <p:cNvSpPr/>
            <p:nvPr/>
          </p:nvSpPr>
          <p:spPr>
            <a:xfrm>
              <a:off x="4663440" y="2231136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2" name="Forma 24"/>
            <p:cNvSpPr/>
            <p:nvPr/>
          </p:nvSpPr>
          <p:spPr>
            <a:xfrm>
              <a:off x="7040880" y="2231136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de masa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3" name="Forma 25"/>
            <p:cNvSpPr/>
            <p:nvPr/>
          </p:nvSpPr>
          <p:spPr>
            <a:xfrm>
              <a:off x="10149840" y="2231136"/>
              <a:ext cx="17373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g/dL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4" name="Tabla tríada fila 3"/>
          <p:cNvGrpSpPr/>
          <p:nvPr/>
        </p:nvGrpSpPr>
        <p:grpSpPr>
          <a:xfrm>
            <a:off x="4663440" y="2798064"/>
            <a:ext cx="7223760" cy="566928"/>
            <a:chOff x="4663440" y="2798064"/>
            <a:chExt cx="7223760" cy="566928"/>
          </a:xfrm>
        </p:grpSpPr>
        <p:sp>
          <p:nvSpPr>
            <p:cNvPr id="25" name="Forma 27"/>
            <p:cNvSpPr/>
            <p:nvPr/>
          </p:nvSpPr>
          <p:spPr>
            <a:xfrm>
              <a:off x="4663440" y="2798064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Sodio / potasio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6" name="Forma 28"/>
            <p:cNvSpPr/>
            <p:nvPr/>
          </p:nvSpPr>
          <p:spPr>
            <a:xfrm>
              <a:off x="7040880" y="2798064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molar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7" name="Forma 29"/>
            <p:cNvSpPr/>
            <p:nvPr/>
          </p:nvSpPr>
          <p:spPr>
            <a:xfrm>
              <a:off x="10149840" y="2798064"/>
              <a:ext cx="17373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mmol/L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8" name="Tabla tríada fila 4"/>
          <p:cNvGrpSpPr/>
          <p:nvPr/>
        </p:nvGrpSpPr>
        <p:grpSpPr>
          <a:xfrm>
            <a:off x="4663440" y="3364992"/>
            <a:ext cx="7223760" cy="566928"/>
            <a:chOff x="4663440" y="3364992"/>
            <a:chExt cx="7223760" cy="566928"/>
          </a:xfrm>
        </p:grpSpPr>
        <p:sp>
          <p:nvSpPr>
            <p:cNvPr id="29" name="Forma 31"/>
            <p:cNvSpPr/>
            <p:nvPr/>
          </p:nvSpPr>
          <p:spPr>
            <a:xfrm>
              <a:off x="4663440" y="3364992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Creatinina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0" name="Forma 32"/>
            <p:cNvSpPr/>
            <p:nvPr/>
          </p:nvSpPr>
          <p:spPr>
            <a:xfrm>
              <a:off x="7040880" y="3364992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molar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1" name="Forma 33"/>
            <p:cNvSpPr/>
            <p:nvPr/>
          </p:nvSpPr>
          <p:spPr>
            <a:xfrm>
              <a:off x="10149840" y="3364992"/>
              <a:ext cx="17373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µmol/L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32" name="Tabla tríada fila 5"/>
          <p:cNvGrpSpPr/>
          <p:nvPr/>
        </p:nvGrpSpPr>
        <p:grpSpPr>
          <a:xfrm>
            <a:off x="4663440" y="3931920"/>
            <a:ext cx="7223760" cy="566928"/>
            <a:chOff x="4663440" y="3931920"/>
            <a:chExt cx="7223760" cy="566928"/>
          </a:xfrm>
        </p:grpSpPr>
        <p:sp>
          <p:nvSpPr>
            <p:cNvPr id="33" name="Forma 35"/>
            <p:cNvSpPr/>
            <p:nvPr/>
          </p:nvSpPr>
          <p:spPr>
            <a:xfrm>
              <a:off x="4663440" y="3931920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GPT, CK, LDH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4" name="Forma 36"/>
            <p:cNvSpPr/>
            <p:nvPr/>
          </p:nvSpPr>
          <p:spPr>
            <a:xfrm>
              <a:off x="7040880" y="3931920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Actividad catalítica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5" name="Forma 37"/>
            <p:cNvSpPr/>
            <p:nvPr/>
          </p:nvSpPr>
          <p:spPr>
            <a:xfrm>
              <a:off x="10149840" y="3931920"/>
              <a:ext cx="17373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UI/L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36" name="Tabla tríada fila 6"/>
          <p:cNvGrpSpPr/>
          <p:nvPr/>
        </p:nvGrpSpPr>
        <p:grpSpPr>
          <a:xfrm>
            <a:off x="4663440" y="4498848"/>
            <a:ext cx="7223760" cy="566928"/>
            <a:chOff x="4663440" y="4498848"/>
            <a:chExt cx="7223760" cy="566928"/>
          </a:xfrm>
        </p:grpSpPr>
        <p:sp>
          <p:nvSpPr>
            <p:cNvPr id="37" name="Forma 39"/>
            <p:cNvSpPr/>
            <p:nvPr/>
          </p:nvSpPr>
          <p:spPr>
            <a:xfrm>
              <a:off x="4663440" y="4498848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Eritrocitos, plaquetas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8" name="Forma 40"/>
            <p:cNvSpPr/>
            <p:nvPr/>
          </p:nvSpPr>
          <p:spPr>
            <a:xfrm>
              <a:off x="7040880" y="4498848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Recuento celular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9" name="Forma 41"/>
            <p:cNvSpPr/>
            <p:nvPr/>
          </p:nvSpPr>
          <p:spPr>
            <a:xfrm>
              <a:off x="10149840" y="4498848"/>
              <a:ext cx="17373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mm</a:t>
              </a:r>
              <a:r>
                <a:rPr lang="es-AR" sz="16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40" name="Nota de rigor"/>
          <p:cNvGrpSpPr/>
          <p:nvPr/>
        </p:nvGrpSpPr>
        <p:grpSpPr>
          <a:xfrm>
            <a:off x="4663440" y="5202936"/>
            <a:ext cx="7223760" cy="1152144"/>
            <a:chOff x="4663440" y="5202936"/>
            <a:chExt cx="7223760" cy="1152144"/>
          </a:xfrm>
        </p:grpSpPr>
        <p:sp>
          <p:nvSpPr>
            <p:cNvPr id="41" name="Forma 43"/>
            <p:cNvSpPr/>
            <p:nvPr/>
          </p:nvSpPr>
          <p:spPr>
            <a:xfrm>
              <a:off x="4663440" y="5404104"/>
              <a:ext cx="7223760" cy="950976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Algunos analitos pueden informarse en más de una unidad (p. ej. masa o molar): la unidad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define por sí sola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 tipo de analito; siempre se lee junto con el nombre del analito.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2" name="Forma 44"/>
            <p:cNvSpPr/>
            <p:nvPr/>
          </p:nvSpPr>
          <p:spPr>
            <a:xfrm>
              <a:off x="4791456" y="5202936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ANALITO, MAGNITUD Y UNIDAD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!!Organismo"/>
          <p:cNvGrpSpPr/>
          <p:nvPr/>
        </p:nvGrpSpPr>
        <p:grpSpPr>
          <a:xfrm>
            <a:off x="4480560" y="960120"/>
            <a:ext cx="2743200" cy="5486400"/>
            <a:chOff x="4480560" y="960120"/>
            <a:chExt cx="2743200" cy="5486400"/>
          </a:xfrm>
        </p:grpSpPr>
        <p:sp>
          <p:nvSpPr>
            <p:cNvPr id="7" name="Forma 6"/>
            <p:cNvSpPr/>
            <p:nvPr/>
          </p:nvSpPr>
          <p:spPr>
            <a:xfrm>
              <a:off x="4480560" y="960120"/>
              <a:ext cx="2743200" cy="548640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4480560" y="960120"/>
              <a:ext cx="2743200" cy="548640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grpSp>
        <p:nvGrpSpPr>
          <p:cNvPr id="9" name="Líquido izq 0"/>
          <p:cNvGrpSpPr/>
          <p:nvPr/>
        </p:nvGrpSpPr>
        <p:grpSpPr>
          <a:xfrm>
            <a:off x="320040" y="1188720"/>
            <a:ext cx="5303520" cy="502920"/>
            <a:chOff x="320040" y="1188720"/>
            <a:chExt cx="5303520" cy="502920"/>
          </a:xfrm>
        </p:grpSpPr>
        <p:sp>
          <p:nvSpPr>
            <p:cNvPr id="10" name="Rótulo Líquido cefalorraquíde"/>
            <p:cNvSpPr/>
            <p:nvPr/>
          </p:nvSpPr>
          <p:spPr>
            <a:xfrm>
              <a:off x="320040" y="1188720"/>
              <a:ext cx="3840480" cy="50292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cefalorraquídeo (LCR)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1" name="Flecha 10_2"/>
            <p:cNvSpPr/>
            <p:nvPr/>
          </p:nvSpPr>
          <p:spPr>
            <a:xfrm>
              <a:off x="4206240" y="1435608"/>
              <a:ext cx="1417320" cy="27432"/>
            </a:xfrm>
            <a:custGeom>
              <a:avLst/>
              <a:gdLst/>
              <a:ahLst/>
              <a:cxnLst/>
              <a:rect l="0" t="0" r="r" b="b"/>
              <a:pathLst>
                <a:path w="1550" h="30" fill="none">
                  <a:moveTo>
                    <a:pt x="0" y="0"/>
                  </a:moveTo>
                  <a:lnTo>
                    <a:pt x="1550" y="3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12" name="Líquido izq 1"/>
          <p:cNvGrpSpPr/>
          <p:nvPr/>
        </p:nvGrpSpPr>
        <p:grpSpPr>
          <a:xfrm>
            <a:off x="320040" y="1874520"/>
            <a:ext cx="5303520" cy="502920"/>
            <a:chOff x="320040" y="1874520"/>
            <a:chExt cx="5303520" cy="502920"/>
          </a:xfrm>
        </p:grpSpPr>
        <p:sp>
          <p:nvSpPr>
            <p:cNvPr id="13" name="Rótulo Saliva · lágrimas · hu"/>
            <p:cNvSpPr/>
            <p:nvPr/>
          </p:nvSpPr>
          <p:spPr>
            <a:xfrm>
              <a:off x="320040" y="18745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Saliva · lágrimas · humor vítreo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4" name="Flecha 14_2"/>
            <p:cNvSpPr/>
            <p:nvPr/>
          </p:nvSpPr>
          <p:spPr>
            <a:xfrm>
              <a:off x="4206240" y="2029968"/>
              <a:ext cx="1417320" cy="91440"/>
            </a:xfrm>
            <a:custGeom>
              <a:avLst/>
              <a:gdLst/>
              <a:ahLst/>
              <a:cxnLst/>
              <a:rect l="0" t="0" r="r" b="b"/>
              <a:pathLst>
                <a:path w="1550" h="99" fill="none">
                  <a:moveTo>
                    <a:pt x="0" y="99"/>
                  </a:moveTo>
                  <a:lnTo>
                    <a:pt x="155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15" name="Líquido izq 2"/>
          <p:cNvGrpSpPr/>
          <p:nvPr/>
        </p:nvGrpSpPr>
        <p:grpSpPr>
          <a:xfrm>
            <a:off x="320040" y="2560320"/>
            <a:ext cx="5303520" cy="502920"/>
            <a:chOff x="320040" y="2560320"/>
            <a:chExt cx="5303520" cy="502920"/>
          </a:xfrm>
        </p:grpSpPr>
        <p:sp>
          <p:nvSpPr>
            <p:cNvPr id="16" name="Rótulo Líquido pleural (pulmo"/>
            <p:cNvSpPr/>
            <p:nvPr/>
          </p:nvSpPr>
          <p:spPr>
            <a:xfrm>
              <a:off x="320040" y="25603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pleural (pulmones)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7" name="Flecha 18_2"/>
            <p:cNvSpPr/>
            <p:nvPr/>
          </p:nvSpPr>
          <p:spPr>
            <a:xfrm>
              <a:off x="4206240" y="2596896"/>
              <a:ext cx="1417320" cy="210312"/>
            </a:xfrm>
            <a:custGeom>
              <a:avLst/>
              <a:gdLst/>
              <a:ahLst/>
              <a:cxnLst/>
              <a:rect l="0" t="0" r="r" b="b"/>
              <a:pathLst>
                <a:path w="1550" h="229" fill="none">
                  <a:moveTo>
                    <a:pt x="0" y="229"/>
                  </a:moveTo>
                  <a:lnTo>
                    <a:pt x="155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18" name="Líquido izq 3"/>
          <p:cNvGrpSpPr/>
          <p:nvPr/>
        </p:nvGrpSpPr>
        <p:grpSpPr>
          <a:xfrm>
            <a:off x="320040" y="3163824"/>
            <a:ext cx="5303520" cy="585216"/>
            <a:chOff x="320040" y="3163824"/>
            <a:chExt cx="5303520" cy="585216"/>
          </a:xfrm>
        </p:grpSpPr>
        <p:sp>
          <p:nvSpPr>
            <p:cNvPr id="19" name="Rótulo Líquido pericárdico (c"/>
            <p:cNvSpPr/>
            <p:nvPr/>
          </p:nvSpPr>
          <p:spPr>
            <a:xfrm>
              <a:off x="320040" y="32461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pericárdico (corazón)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0" name="Flecha 22_2"/>
            <p:cNvSpPr/>
            <p:nvPr/>
          </p:nvSpPr>
          <p:spPr>
            <a:xfrm>
              <a:off x="4206240" y="3163824"/>
              <a:ext cx="1417320" cy="329184"/>
            </a:xfrm>
            <a:custGeom>
              <a:avLst/>
              <a:gdLst/>
              <a:ahLst/>
              <a:cxnLst/>
              <a:rect l="0" t="0" r="r" b="b"/>
              <a:pathLst>
                <a:path w="1550" h="359" fill="none">
                  <a:moveTo>
                    <a:pt x="0" y="359"/>
                  </a:moveTo>
                  <a:lnTo>
                    <a:pt x="155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21" name="Líquido izq 4"/>
          <p:cNvGrpSpPr/>
          <p:nvPr/>
        </p:nvGrpSpPr>
        <p:grpSpPr>
          <a:xfrm>
            <a:off x="320040" y="3730752"/>
            <a:ext cx="5303520" cy="704088"/>
            <a:chOff x="320040" y="3730752"/>
            <a:chExt cx="5303520" cy="704088"/>
          </a:xfrm>
        </p:grpSpPr>
        <p:sp>
          <p:nvSpPr>
            <p:cNvPr id="22" name="Rótulo Líquido gástrico"/>
            <p:cNvSpPr/>
            <p:nvPr/>
          </p:nvSpPr>
          <p:spPr>
            <a:xfrm>
              <a:off x="320040" y="39319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gástrico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3" name="Flecha 26_2"/>
            <p:cNvSpPr/>
            <p:nvPr/>
          </p:nvSpPr>
          <p:spPr>
            <a:xfrm>
              <a:off x="4206240" y="3730752"/>
              <a:ext cx="1417320" cy="448056"/>
            </a:xfrm>
            <a:custGeom>
              <a:avLst/>
              <a:gdLst/>
              <a:ahLst/>
              <a:cxnLst/>
              <a:rect l="0" t="0" r="r" b="b"/>
              <a:pathLst>
                <a:path w="1550" h="490" fill="none">
                  <a:moveTo>
                    <a:pt x="0" y="490"/>
                  </a:moveTo>
                  <a:lnTo>
                    <a:pt x="155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24" name="Líquido izq 5"/>
          <p:cNvGrpSpPr/>
          <p:nvPr/>
        </p:nvGrpSpPr>
        <p:grpSpPr>
          <a:xfrm>
            <a:off x="320040" y="4297680"/>
            <a:ext cx="5303520" cy="822960"/>
            <a:chOff x="320040" y="4297680"/>
            <a:chExt cx="5303520" cy="822960"/>
          </a:xfrm>
        </p:grpSpPr>
        <p:sp>
          <p:nvSpPr>
            <p:cNvPr id="25" name="Rótulo Líquido ascítico (abdo"/>
            <p:cNvSpPr/>
            <p:nvPr/>
          </p:nvSpPr>
          <p:spPr>
            <a:xfrm>
              <a:off x="320040" y="46177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ascítico (abdomen)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6" name="Flecha 30_2"/>
            <p:cNvSpPr/>
            <p:nvPr/>
          </p:nvSpPr>
          <p:spPr>
            <a:xfrm>
              <a:off x="4206240" y="4297680"/>
              <a:ext cx="1417320" cy="566928"/>
            </a:xfrm>
            <a:custGeom>
              <a:avLst/>
              <a:gdLst/>
              <a:ahLst/>
              <a:cxnLst/>
              <a:rect l="0" t="0" r="r" b="b"/>
              <a:pathLst>
                <a:path w="1550" h="620" fill="none">
                  <a:moveTo>
                    <a:pt x="0" y="620"/>
                  </a:moveTo>
                  <a:lnTo>
                    <a:pt x="155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27" name="Líquido der 0"/>
          <p:cNvGrpSpPr/>
          <p:nvPr/>
        </p:nvGrpSpPr>
        <p:grpSpPr>
          <a:xfrm>
            <a:off x="6583680" y="1188720"/>
            <a:ext cx="5257800" cy="502920"/>
            <a:chOff x="6583680" y="1188720"/>
            <a:chExt cx="5257800" cy="502920"/>
          </a:xfrm>
        </p:grpSpPr>
        <p:sp>
          <p:nvSpPr>
            <p:cNvPr id="28" name="Rótulo Sangre (la más estudia"/>
            <p:cNvSpPr/>
            <p:nvPr/>
          </p:nvSpPr>
          <p:spPr>
            <a:xfrm>
              <a:off x="8001000" y="1188720"/>
              <a:ext cx="3840480" cy="50292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Sangre (la más estudiada)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9" name="Flecha 34_2"/>
            <p:cNvSpPr/>
            <p:nvPr/>
          </p:nvSpPr>
          <p:spPr>
            <a:xfrm>
              <a:off x="6583680" y="1435608"/>
              <a:ext cx="1371600" cy="27432"/>
            </a:xfrm>
            <a:custGeom>
              <a:avLst/>
              <a:gdLst/>
              <a:ahLst/>
              <a:cxnLst/>
              <a:rect l="0" t="0" r="r" b="b"/>
              <a:pathLst>
                <a:path w="1499" h="30" fill="none">
                  <a:moveTo>
                    <a:pt x="1499" y="0"/>
                  </a:moveTo>
                  <a:lnTo>
                    <a:pt x="0" y="3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30" name="Líquido der 1"/>
          <p:cNvGrpSpPr/>
          <p:nvPr/>
        </p:nvGrpSpPr>
        <p:grpSpPr>
          <a:xfrm>
            <a:off x="6583680" y="1874520"/>
            <a:ext cx="5257800" cy="502920"/>
            <a:chOff x="6583680" y="1874520"/>
            <a:chExt cx="5257800" cy="502920"/>
          </a:xfrm>
        </p:grpSpPr>
        <p:sp>
          <p:nvSpPr>
            <p:cNvPr id="31" name="Rótulo Orina"/>
            <p:cNvSpPr/>
            <p:nvPr/>
          </p:nvSpPr>
          <p:spPr>
            <a:xfrm>
              <a:off x="8001000" y="18745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Orina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2" name="Flecha 38_2"/>
            <p:cNvSpPr/>
            <p:nvPr/>
          </p:nvSpPr>
          <p:spPr>
            <a:xfrm>
              <a:off x="6583680" y="2029968"/>
              <a:ext cx="1371600" cy="91440"/>
            </a:xfrm>
            <a:custGeom>
              <a:avLst/>
              <a:gdLst/>
              <a:ahLst/>
              <a:cxnLst/>
              <a:rect l="0" t="0" r="r" b="b"/>
              <a:pathLst>
                <a:path w="1499" h="99" fill="none">
                  <a:moveTo>
                    <a:pt x="1499" y="99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33" name="Líquido der 2"/>
          <p:cNvGrpSpPr/>
          <p:nvPr/>
        </p:nvGrpSpPr>
        <p:grpSpPr>
          <a:xfrm>
            <a:off x="6583680" y="2560320"/>
            <a:ext cx="5257800" cy="502920"/>
            <a:chOff x="6583680" y="2560320"/>
            <a:chExt cx="5257800" cy="502920"/>
          </a:xfrm>
        </p:grpSpPr>
        <p:sp>
          <p:nvSpPr>
            <p:cNvPr id="34" name="Rótulo Líquido sinovial (arti"/>
            <p:cNvSpPr/>
            <p:nvPr/>
          </p:nvSpPr>
          <p:spPr>
            <a:xfrm>
              <a:off x="8001000" y="25603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sinovial (articulaciones)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5" name="Flecha 42_2"/>
            <p:cNvSpPr/>
            <p:nvPr/>
          </p:nvSpPr>
          <p:spPr>
            <a:xfrm>
              <a:off x="6583680" y="2596896"/>
              <a:ext cx="1371600" cy="210312"/>
            </a:xfrm>
            <a:custGeom>
              <a:avLst/>
              <a:gdLst/>
              <a:ahLst/>
              <a:cxnLst/>
              <a:rect l="0" t="0" r="r" b="b"/>
              <a:pathLst>
                <a:path w="1499" h="229" fill="none">
                  <a:moveTo>
                    <a:pt x="1499" y="229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36" name="Líquido der 3"/>
          <p:cNvGrpSpPr/>
          <p:nvPr/>
        </p:nvGrpSpPr>
        <p:grpSpPr>
          <a:xfrm>
            <a:off x="6583680" y="3163824"/>
            <a:ext cx="5257800" cy="585216"/>
            <a:chOff x="6583680" y="3163824"/>
            <a:chExt cx="5257800" cy="585216"/>
          </a:xfrm>
        </p:grpSpPr>
        <p:sp>
          <p:nvSpPr>
            <p:cNvPr id="37" name="Rótulo Líquido periprotésico"/>
            <p:cNvSpPr/>
            <p:nvPr/>
          </p:nvSpPr>
          <p:spPr>
            <a:xfrm>
              <a:off x="8001000" y="32461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periprotésico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8" name="Flecha 46_2"/>
            <p:cNvSpPr/>
            <p:nvPr/>
          </p:nvSpPr>
          <p:spPr>
            <a:xfrm>
              <a:off x="6583680" y="3163824"/>
              <a:ext cx="1371600" cy="329184"/>
            </a:xfrm>
            <a:custGeom>
              <a:avLst/>
              <a:gdLst/>
              <a:ahLst/>
              <a:cxnLst/>
              <a:rect l="0" t="0" r="r" b="b"/>
              <a:pathLst>
                <a:path w="1499" h="359" fill="none">
                  <a:moveTo>
                    <a:pt x="1499" y="359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39" name="Líquido der 4"/>
          <p:cNvGrpSpPr/>
          <p:nvPr/>
        </p:nvGrpSpPr>
        <p:grpSpPr>
          <a:xfrm>
            <a:off x="6583680" y="3730752"/>
            <a:ext cx="5257800" cy="704088"/>
            <a:chOff x="6583680" y="3730752"/>
            <a:chExt cx="5257800" cy="704088"/>
          </a:xfrm>
        </p:grpSpPr>
        <p:sp>
          <p:nvSpPr>
            <p:cNvPr id="40" name="Rótulo Sudor · semen · materi"/>
            <p:cNvSpPr/>
            <p:nvPr/>
          </p:nvSpPr>
          <p:spPr>
            <a:xfrm>
              <a:off x="8001000" y="39319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Sudor · semen · materia fecal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1" name="Flecha 50_2"/>
            <p:cNvSpPr/>
            <p:nvPr/>
          </p:nvSpPr>
          <p:spPr>
            <a:xfrm>
              <a:off x="6583680" y="3730752"/>
              <a:ext cx="1371600" cy="448056"/>
            </a:xfrm>
            <a:custGeom>
              <a:avLst/>
              <a:gdLst/>
              <a:ahLst/>
              <a:cxnLst/>
              <a:rect l="0" t="0" r="r" b="b"/>
              <a:pathLst>
                <a:path w="1499" h="490" fill="none">
                  <a:moveTo>
                    <a:pt x="1499" y="49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grpSp>
        <p:nvGrpSpPr>
          <p:cNvPr id="42" name="Líquido der 5"/>
          <p:cNvGrpSpPr/>
          <p:nvPr/>
        </p:nvGrpSpPr>
        <p:grpSpPr>
          <a:xfrm>
            <a:off x="6583680" y="4297680"/>
            <a:ext cx="5257800" cy="822960"/>
            <a:chOff x="6583680" y="4297680"/>
            <a:chExt cx="5257800" cy="822960"/>
          </a:xfrm>
        </p:grpSpPr>
        <p:sp>
          <p:nvSpPr>
            <p:cNvPr id="43" name="Rótulo Líquido amniótico"/>
            <p:cNvSpPr/>
            <p:nvPr/>
          </p:nvSpPr>
          <p:spPr>
            <a:xfrm>
              <a:off x="8001000" y="4617720"/>
              <a:ext cx="3840480" cy="502920"/>
            </a:xfrm>
            <a:prstGeom prst="rect">
              <a:avLst/>
            </a:prstGeom>
            <a:solidFill>
              <a:srgbClr val="FFFFF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Líquido amniótico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4" name="Flecha 54_2"/>
            <p:cNvSpPr/>
            <p:nvPr/>
          </p:nvSpPr>
          <p:spPr>
            <a:xfrm>
              <a:off x="6583680" y="4297680"/>
              <a:ext cx="1371600" cy="566928"/>
            </a:xfrm>
            <a:custGeom>
              <a:avLst/>
              <a:gdLst/>
              <a:ahLst/>
              <a:cxnLst/>
              <a:rect l="0" t="0" r="r" b="b"/>
              <a:pathLst>
                <a:path w="1499" h="620" fill="none">
                  <a:moveTo>
                    <a:pt x="1499" y="62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5D6D7E"/>
              </a:solidFill>
              <a:round/>
              <a:tailEnd type="triangle" w="med" len="med"/>
            </a:ln>
          </p:spPr>
        </p:sp>
      </p:grpSp>
      <p:sp>
        <p:nvSpPr>
          <p:cNvPr id="45" name="Nota líquidos"/>
          <p:cNvSpPr/>
          <p:nvPr/>
        </p:nvSpPr>
        <p:spPr>
          <a:xfrm>
            <a:off x="320040" y="5440680"/>
            <a:ext cx="11521440" cy="10058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Cada muestra tiene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su propia técnica de obtención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la sangre es el componente más estudiado en bioquímica clínica.</a:t>
            </a:r>
            <a:endParaRPr lang="es-AR" sz="20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LÍQUIDOS BIOLÓGICOS UTILIZADOS EN EL LABORATORIO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Brazo"/>
          <p:cNvGrpSpPr/>
          <p:nvPr/>
        </p:nvGrpSpPr>
        <p:grpSpPr>
          <a:xfrm>
            <a:off x="274320" y="1371600"/>
            <a:ext cx="6035040" cy="2534717"/>
            <a:chOff x="274320" y="1371600"/>
            <a:chExt cx="6035040" cy="2534717"/>
          </a:xfrm>
        </p:grpSpPr>
        <p:sp>
          <p:nvSpPr>
            <p:cNvPr id="6" name="Forma 5"/>
            <p:cNvSpPr/>
            <p:nvPr/>
          </p:nvSpPr>
          <p:spPr>
            <a:xfrm>
              <a:off x="274320" y="1371600"/>
              <a:ext cx="6035040" cy="253471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50"/>
                  </a:moveTo>
                  <a:cubicBezTo>
                    <a:pt x="30" y="192"/>
                    <a:pt x="238" y="202"/>
                    <a:pt x="300" y="200"/>
                  </a:cubicBezTo>
                  <a:cubicBezTo>
                    <a:pt x="362" y="198"/>
                    <a:pt x="560" y="220"/>
                    <a:pt x="620" y="230"/>
                  </a:cubicBezTo>
                  <a:cubicBezTo>
                    <a:pt x="680" y="240"/>
                    <a:pt x="862" y="281"/>
                    <a:pt x="900" y="300"/>
                  </a:cubicBezTo>
                  <a:cubicBezTo>
                    <a:pt x="938" y="319"/>
                    <a:pt x="992" y="380"/>
                    <a:pt x="1000" y="420"/>
                  </a:cubicBezTo>
                  <a:cubicBezTo>
                    <a:pt x="1008" y="460"/>
                    <a:pt x="992" y="662"/>
                    <a:pt x="980" y="700"/>
                  </a:cubicBezTo>
                  <a:cubicBezTo>
                    <a:pt x="968" y="738"/>
                    <a:pt x="918" y="793"/>
                    <a:pt x="880" y="800"/>
                  </a:cubicBezTo>
                  <a:cubicBezTo>
                    <a:pt x="842" y="807"/>
                    <a:pt x="658" y="770"/>
                    <a:pt x="600" y="770"/>
                  </a:cubicBezTo>
                  <a:cubicBezTo>
                    <a:pt x="542" y="770"/>
                    <a:pt x="360" y="799"/>
                    <a:pt x="300" y="800"/>
                  </a:cubicBezTo>
                  <a:cubicBezTo>
                    <a:pt x="240" y="801"/>
                    <a:pt x="30" y="835"/>
                    <a:pt x="0" y="780"/>
                  </a:cubicBezTo>
                  <a:cubicBezTo>
                    <a:pt x="-30" y="725"/>
                    <a:pt x="-30" y="308"/>
                    <a:pt x="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DDC5"/>
                </a:gs>
                <a:gs pos="55000">
                  <a:srgbClr val="F5CBA7"/>
                </a:gs>
                <a:gs pos="100000">
                  <a:srgbClr val="C8A688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A0522D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274320" y="1371600"/>
              <a:ext cx="6035040" cy="2534717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520"/>
                  </a:moveTo>
                  <a:cubicBezTo>
                    <a:pt x="300" y="470"/>
                    <a:pt x="520" y="560"/>
                    <a:pt x="760" y="520"/>
                  </a:cubicBezTo>
                  <a:cubicBezTo>
                    <a:pt x="860" y="505"/>
                    <a:pt x="930" y="520"/>
                    <a:pt x="990" y="560"/>
                  </a:cubicBezTo>
                </a:path>
              </a:pathLst>
            </a:custGeom>
            <a:noFill/>
            <a:ln w="57150" cap="rnd">
              <a:solidFill>
                <a:srgbClr val="5B7DB1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274320" y="1371600"/>
              <a:ext cx="6035040" cy="2534717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520"/>
                  </a:moveTo>
                  <a:cubicBezTo>
                    <a:pt x="300" y="470"/>
                    <a:pt x="520" y="560"/>
                    <a:pt x="760" y="520"/>
                  </a:cubicBezTo>
                  <a:cubicBezTo>
                    <a:pt x="860" y="505"/>
                    <a:pt x="930" y="520"/>
                    <a:pt x="990" y="560"/>
                  </a:cubicBezTo>
                </a:path>
              </a:pathLst>
            </a:custGeom>
            <a:noFill/>
            <a:ln w="25400" cap="rnd">
              <a:solidFill>
                <a:srgbClr val="85A5D6"/>
              </a:solidFill>
              <a:round/>
            </a:ln>
          </p:spPr>
        </p:sp>
      </p:grpSp>
      <p:grpSp>
        <p:nvGrpSpPr>
          <p:cNvPr id="9" name="!!Jeringa"/>
          <p:cNvGrpSpPr/>
          <p:nvPr/>
        </p:nvGrpSpPr>
        <p:grpSpPr>
          <a:xfrm>
            <a:off x="5486400" y="1869399"/>
            <a:ext cx="2926080" cy="836859"/>
            <a:chOff x="5486400" y="1869399"/>
            <a:chExt cx="2926080" cy="836859"/>
          </a:xfrm>
        </p:grpSpPr>
        <p:sp>
          <p:nvSpPr>
            <p:cNvPr id="10" name="Cilindro"/>
            <p:cNvSpPr/>
            <p:nvPr/>
          </p:nvSpPr>
          <p:spPr>
            <a:xfrm>
              <a:off x="5925312" y="1965960"/>
              <a:ext cx="1814170" cy="643738"/>
            </a:xfrm>
            <a:prstGeom prst="rect">
              <a:avLst/>
            </a:prstGeom>
            <a:solidFill>
              <a:srgbClr val="EAF2FA">
                <a:alpha val="60000"/>
              </a:srgbClr>
            </a:solidFill>
            <a:ln w="19050" cap="rnd">
              <a:solidFill>
                <a:srgbClr val="5D6D7E"/>
              </a:solidFill>
              <a:round/>
            </a:ln>
          </p:spPr>
        </p:sp>
        <p:sp>
          <p:nvSpPr>
            <p:cNvPr id="11" name="Sangre"/>
            <p:cNvSpPr/>
            <p:nvPr/>
          </p:nvSpPr>
          <p:spPr>
            <a:xfrm>
              <a:off x="6378854" y="2030334"/>
              <a:ext cx="1360627" cy="514990"/>
            </a:xfrm>
            <a:prstGeom prst="rect">
              <a:avLst/>
            </a:prstGeom>
            <a:gradFill rotWithShape="1">
              <a:gsLst>
                <a:gs pos="0">
                  <a:srgbClr val="C96761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32000" t="28000" r="68000" b="72000"/>
              </a:path>
            </a:gradFill>
            <a:ln>
              <a:noFill/>
            </a:ln>
          </p:spPr>
        </p:sp>
        <p:sp>
          <p:nvSpPr>
            <p:cNvPr id="12" name="Forma 11"/>
            <p:cNvSpPr/>
            <p:nvPr/>
          </p:nvSpPr>
          <p:spPr>
            <a:xfrm>
              <a:off x="5486400" y="1869399"/>
              <a:ext cx="117043" cy="836859"/>
            </a:xfrm>
            <a:prstGeom prst="rect">
              <a:avLst/>
            </a:prstGeom>
            <a:solidFill>
              <a:srgbClr val="7F8C8D"/>
            </a:solidFill>
            <a:ln w="12700" cap="rnd">
              <a:solidFill>
                <a:srgbClr val="34495E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5574182" y="2223455"/>
              <a:ext cx="380390" cy="128748"/>
            </a:xfrm>
            <a:prstGeom prst="rect">
              <a:avLst/>
            </a:prstGeom>
            <a:solidFill>
              <a:srgbClr val="BDC3C7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7739482" y="2159081"/>
              <a:ext cx="175565" cy="257495"/>
            </a:xfrm>
            <a:prstGeom prst="rect">
              <a:avLst/>
            </a:prstGeom>
            <a:solidFill>
              <a:srgbClr val="D5DBDB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15" name="Flecha 14_2"/>
            <p:cNvSpPr/>
            <p:nvPr/>
          </p:nvSpPr>
          <p:spPr>
            <a:xfrm>
              <a:off x="7915046" y="2287829"/>
              <a:ext cx="497434" cy="9144"/>
            </a:xfrm>
            <a:custGeom>
              <a:avLst/>
              <a:gdLst/>
              <a:ahLst/>
              <a:cxnLst/>
              <a:rect l="0" t="0" r="r" b="b"/>
              <a:pathLst>
                <a:path w="543" h="10" fill="none">
                  <a:moveTo>
                    <a:pt x="0" y="0"/>
                  </a:moveTo>
                  <a:lnTo>
                    <a:pt x="543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16" name="Flecha 16_2"/>
            <p:cNvSpPr/>
            <p:nvPr/>
          </p:nvSpPr>
          <p:spPr>
            <a:xfrm>
              <a:off x="6364224" y="1965960"/>
              <a:ext cx="9144" cy="193121"/>
            </a:xfrm>
            <a:custGeom>
              <a:avLst/>
              <a:gdLst/>
              <a:ahLst/>
              <a:cxnLst/>
              <a:rect l="0" t="0" r="r" b="b"/>
              <a:pathLst>
                <a:path w="10" h="211" fill="none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17" name="Flecha 18_2"/>
            <p:cNvSpPr/>
            <p:nvPr/>
          </p:nvSpPr>
          <p:spPr>
            <a:xfrm>
              <a:off x="6656832" y="1965960"/>
              <a:ext cx="9144" cy="193121"/>
            </a:xfrm>
            <a:custGeom>
              <a:avLst/>
              <a:gdLst/>
              <a:ahLst/>
              <a:cxnLst/>
              <a:rect l="0" t="0" r="r" b="b"/>
              <a:pathLst>
                <a:path w="10" h="211" fill="none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18" name="Flecha 20_2"/>
            <p:cNvSpPr/>
            <p:nvPr/>
          </p:nvSpPr>
          <p:spPr>
            <a:xfrm>
              <a:off x="6949440" y="1965960"/>
              <a:ext cx="9144" cy="193121"/>
            </a:xfrm>
            <a:custGeom>
              <a:avLst/>
              <a:gdLst/>
              <a:ahLst/>
              <a:cxnLst/>
              <a:rect l="0" t="0" r="r" b="b"/>
              <a:pathLst>
                <a:path w="10" h="211" fill="none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19" name="Flecha 22_2"/>
            <p:cNvSpPr/>
            <p:nvPr/>
          </p:nvSpPr>
          <p:spPr>
            <a:xfrm>
              <a:off x="7242048" y="1965960"/>
              <a:ext cx="9144" cy="193121"/>
            </a:xfrm>
            <a:custGeom>
              <a:avLst/>
              <a:gdLst/>
              <a:ahLst/>
              <a:cxnLst/>
              <a:rect l="0" t="0" r="r" b="b"/>
              <a:pathLst>
                <a:path w="10" h="211" fill="none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0" name="Flecha 24_2"/>
            <p:cNvSpPr/>
            <p:nvPr/>
          </p:nvSpPr>
          <p:spPr>
            <a:xfrm>
              <a:off x="7534656" y="1965960"/>
              <a:ext cx="9144" cy="193121"/>
            </a:xfrm>
            <a:custGeom>
              <a:avLst/>
              <a:gdLst/>
              <a:ahLst/>
              <a:cxnLst/>
              <a:rect l="0" t="0" r="r" b="b"/>
              <a:pathLst>
                <a:path w="10" h="211" fill="none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</p:grpSp>
      <p:grpSp>
        <p:nvGrpSpPr>
          <p:cNvPr id="21" name="Caja etapa 1"/>
          <p:cNvGrpSpPr/>
          <p:nvPr/>
        </p:nvGrpSpPr>
        <p:grpSpPr>
          <a:xfrm>
            <a:off x="8549640" y="1051560"/>
            <a:ext cx="3383280" cy="2377440"/>
            <a:chOff x="8549640" y="1051560"/>
            <a:chExt cx="3383280" cy="2377440"/>
          </a:xfrm>
        </p:grpSpPr>
        <p:sp>
          <p:nvSpPr>
            <p:cNvPr id="22" name="Forma 27"/>
            <p:cNvSpPr/>
            <p:nvPr/>
          </p:nvSpPr>
          <p:spPr>
            <a:xfrm>
              <a:off x="8549640" y="125272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muestra se obtiene en tubos que se procesan de forma distinta según se busque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o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3" name="Forma 28"/>
            <p:cNvSpPr/>
            <p:nvPr/>
          </p:nvSpPr>
          <p:spPr>
            <a:xfrm>
              <a:off x="8677656" y="1051560"/>
              <a:ext cx="183367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PUNTO DE PARTIDA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4" name="Caja concepto"/>
          <p:cNvSpPr/>
          <p:nvPr/>
        </p:nvSpPr>
        <p:spPr>
          <a:xfrm>
            <a:off x="8549640" y="3657600"/>
            <a:ext cx="3383280" cy="2788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Concepto clave para toda la carrera: conocer la diferencia entre suero y plasma y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saber cuándo usar cada uno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25" name="Hoja de ruta"/>
          <p:cNvSpPr/>
          <p:nvPr/>
        </p:nvSpPr>
        <p:spPr>
          <a:xfrm>
            <a:off x="365760" y="4617720"/>
            <a:ext cx="7680960" cy="182880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Secuencia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1 obtención → 2 tubos → 3 con anticoagulante → 4 sin anticoagulante → 5 centrifugación → 6 capas → 7 plasma → 8 suero → 9 comparación.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OBTENCIÓN DE LA MUESTRA DE SANGRE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4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Brazo"/>
          <p:cNvGrpSpPr/>
          <p:nvPr/>
        </p:nvGrpSpPr>
        <p:grpSpPr>
          <a:xfrm>
            <a:off x="-2011680" y="5120640"/>
            <a:ext cx="3291840" cy="1382573"/>
            <a:chOff x="-2011680" y="5120640"/>
            <a:chExt cx="3291840" cy="1382573"/>
          </a:xfrm>
        </p:grpSpPr>
        <p:sp>
          <p:nvSpPr>
            <p:cNvPr id="6" name="Forma 5"/>
            <p:cNvSpPr/>
            <p:nvPr/>
          </p:nvSpPr>
          <p:spPr>
            <a:xfrm>
              <a:off x="-2011680" y="5120640"/>
              <a:ext cx="3291840" cy="138257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50"/>
                  </a:moveTo>
                  <a:cubicBezTo>
                    <a:pt x="30" y="192"/>
                    <a:pt x="238" y="202"/>
                    <a:pt x="300" y="200"/>
                  </a:cubicBezTo>
                  <a:cubicBezTo>
                    <a:pt x="362" y="198"/>
                    <a:pt x="560" y="220"/>
                    <a:pt x="620" y="230"/>
                  </a:cubicBezTo>
                  <a:cubicBezTo>
                    <a:pt x="680" y="240"/>
                    <a:pt x="862" y="281"/>
                    <a:pt x="900" y="300"/>
                  </a:cubicBezTo>
                  <a:cubicBezTo>
                    <a:pt x="938" y="319"/>
                    <a:pt x="992" y="380"/>
                    <a:pt x="1000" y="420"/>
                  </a:cubicBezTo>
                  <a:cubicBezTo>
                    <a:pt x="1008" y="460"/>
                    <a:pt x="992" y="662"/>
                    <a:pt x="980" y="700"/>
                  </a:cubicBezTo>
                  <a:cubicBezTo>
                    <a:pt x="968" y="738"/>
                    <a:pt x="918" y="793"/>
                    <a:pt x="880" y="800"/>
                  </a:cubicBezTo>
                  <a:cubicBezTo>
                    <a:pt x="842" y="807"/>
                    <a:pt x="658" y="770"/>
                    <a:pt x="600" y="770"/>
                  </a:cubicBezTo>
                  <a:cubicBezTo>
                    <a:pt x="542" y="770"/>
                    <a:pt x="360" y="799"/>
                    <a:pt x="300" y="800"/>
                  </a:cubicBezTo>
                  <a:cubicBezTo>
                    <a:pt x="240" y="801"/>
                    <a:pt x="30" y="835"/>
                    <a:pt x="0" y="780"/>
                  </a:cubicBezTo>
                  <a:cubicBezTo>
                    <a:pt x="-30" y="725"/>
                    <a:pt x="-30" y="308"/>
                    <a:pt x="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DDC5"/>
                </a:gs>
                <a:gs pos="55000">
                  <a:srgbClr val="F5CBA7"/>
                </a:gs>
                <a:gs pos="100000">
                  <a:srgbClr val="C8A688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A0522D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-2011680" y="5120640"/>
              <a:ext cx="3291840" cy="1382573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520"/>
                  </a:moveTo>
                  <a:cubicBezTo>
                    <a:pt x="300" y="470"/>
                    <a:pt x="520" y="560"/>
                    <a:pt x="760" y="520"/>
                  </a:cubicBezTo>
                  <a:cubicBezTo>
                    <a:pt x="860" y="505"/>
                    <a:pt x="930" y="520"/>
                    <a:pt x="990" y="560"/>
                  </a:cubicBezTo>
                </a:path>
              </a:pathLst>
            </a:custGeom>
            <a:noFill/>
            <a:ln w="57150" cap="rnd">
              <a:solidFill>
                <a:srgbClr val="5B7DB1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-2011680" y="5120640"/>
              <a:ext cx="3291840" cy="1382573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520"/>
                  </a:moveTo>
                  <a:cubicBezTo>
                    <a:pt x="300" y="470"/>
                    <a:pt x="520" y="560"/>
                    <a:pt x="760" y="520"/>
                  </a:cubicBezTo>
                  <a:cubicBezTo>
                    <a:pt x="860" y="505"/>
                    <a:pt x="930" y="520"/>
                    <a:pt x="990" y="560"/>
                  </a:cubicBezTo>
                </a:path>
              </a:pathLst>
            </a:custGeom>
            <a:noFill/>
            <a:ln w="25400" cap="rnd">
              <a:solidFill>
                <a:srgbClr val="85A5D6"/>
              </a:solidFill>
              <a:round/>
            </a:ln>
          </p:spPr>
        </p:sp>
      </p:grpSp>
      <p:grpSp>
        <p:nvGrpSpPr>
          <p:cNvPr id="9" name="!!TuboA"/>
          <p:cNvGrpSpPr/>
          <p:nvPr/>
        </p:nvGrpSpPr>
        <p:grpSpPr>
          <a:xfrm>
            <a:off x="3851453" y="1828800"/>
            <a:ext cx="1166774" cy="3840480"/>
            <a:chOff x="3851453" y="1828800"/>
            <a:chExt cx="1166774" cy="3840480"/>
          </a:xfrm>
        </p:grpSpPr>
        <p:sp>
          <p:nvSpPr>
            <p:cNvPr id="10" name="Vidrio"/>
            <p:cNvSpPr/>
            <p:nvPr/>
          </p:nvSpPr>
          <p:spPr>
            <a:xfrm>
              <a:off x="393192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1" name="Tapón"/>
            <p:cNvSpPr/>
            <p:nvPr/>
          </p:nvSpPr>
          <p:spPr>
            <a:xfrm>
              <a:off x="385145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12" name="Brillo"/>
            <p:cNvSpPr/>
            <p:nvPr/>
          </p:nvSpPr>
          <p:spPr>
            <a:xfrm>
              <a:off x="407273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grpSp>
        <p:nvGrpSpPr>
          <p:cNvPr id="13" name="!!TuboB"/>
          <p:cNvGrpSpPr/>
          <p:nvPr/>
        </p:nvGrpSpPr>
        <p:grpSpPr>
          <a:xfrm>
            <a:off x="6503213" y="1828800"/>
            <a:ext cx="1166774" cy="3840480"/>
            <a:chOff x="6503213" y="1828800"/>
            <a:chExt cx="1166774" cy="3840480"/>
          </a:xfrm>
        </p:grpSpPr>
        <p:sp>
          <p:nvSpPr>
            <p:cNvPr id="14" name="Vidrio_2"/>
            <p:cNvSpPr/>
            <p:nvPr/>
          </p:nvSpPr>
          <p:spPr>
            <a:xfrm>
              <a:off x="658368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5" name="Tapón_2"/>
            <p:cNvSpPr/>
            <p:nvPr/>
          </p:nvSpPr>
          <p:spPr>
            <a:xfrm>
              <a:off x="650321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6" name="Brillo_2"/>
            <p:cNvSpPr/>
            <p:nvPr/>
          </p:nvSpPr>
          <p:spPr>
            <a:xfrm>
              <a:off x="672449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grpSp>
        <p:nvGrpSpPr>
          <p:cNvPr id="17" name="!!Jeringa"/>
          <p:cNvGrpSpPr/>
          <p:nvPr/>
        </p:nvGrpSpPr>
        <p:grpSpPr>
          <a:xfrm>
            <a:off x="822960" y="1110264"/>
            <a:ext cx="2377440" cy="679948"/>
            <a:chOff x="822960" y="1110264"/>
            <a:chExt cx="2377440" cy="679948"/>
          </a:xfrm>
        </p:grpSpPr>
        <p:sp>
          <p:nvSpPr>
            <p:cNvPr id="18" name="Cilindro"/>
            <p:cNvSpPr/>
            <p:nvPr/>
          </p:nvSpPr>
          <p:spPr>
            <a:xfrm>
              <a:off x="1179576" y="1188720"/>
              <a:ext cx="1474013" cy="523037"/>
            </a:xfrm>
            <a:prstGeom prst="rect">
              <a:avLst/>
            </a:prstGeom>
            <a:solidFill>
              <a:srgbClr val="EAF2FA">
                <a:alpha val="60000"/>
              </a:srgbClr>
            </a:solidFill>
            <a:ln w="19050" cap="rnd">
              <a:solidFill>
                <a:srgbClr val="5D6D7E"/>
              </a:solidFill>
              <a:round/>
            </a:ln>
          </p:spPr>
        </p:sp>
        <p:sp>
          <p:nvSpPr>
            <p:cNvPr id="19" name="Sangre"/>
            <p:cNvSpPr/>
            <p:nvPr/>
          </p:nvSpPr>
          <p:spPr>
            <a:xfrm>
              <a:off x="1548079" y="1241024"/>
              <a:ext cx="1105510" cy="418429"/>
            </a:xfrm>
            <a:prstGeom prst="rect">
              <a:avLst/>
            </a:prstGeom>
            <a:gradFill rotWithShape="1">
              <a:gsLst>
                <a:gs pos="0">
                  <a:srgbClr val="C96761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32000" t="28000" r="68000" b="72000"/>
              </a:path>
            </a:gradFill>
            <a:ln>
              <a:noFill/>
            </a:ln>
          </p:spPr>
        </p:sp>
        <p:sp>
          <p:nvSpPr>
            <p:cNvPr id="20" name="Forma 19"/>
            <p:cNvSpPr/>
            <p:nvPr/>
          </p:nvSpPr>
          <p:spPr>
            <a:xfrm>
              <a:off x="822960" y="1110264"/>
              <a:ext cx="95098" cy="679948"/>
            </a:xfrm>
            <a:prstGeom prst="rect">
              <a:avLst/>
            </a:prstGeom>
            <a:solidFill>
              <a:srgbClr val="7F8C8D"/>
            </a:solidFill>
            <a:ln w="12700" cap="rnd">
              <a:solidFill>
                <a:srgbClr val="34495E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894283" y="1397935"/>
              <a:ext cx="309067" cy="104607"/>
            </a:xfrm>
            <a:prstGeom prst="rect">
              <a:avLst/>
            </a:prstGeom>
            <a:solidFill>
              <a:srgbClr val="BDC3C7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2653589" y="1345631"/>
              <a:ext cx="142646" cy="209215"/>
            </a:xfrm>
            <a:prstGeom prst="rect">
              <a:avLst/>
            </a:prstGeom>
            <a:solidFill>
              <a:srgbClr val="D5DBDB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23" name="Flecha 22_2"/>
            <p:cNvSpPr/>
            <p:nvPr/>
          </p:nvSpPr>
          <p:spPr>
            <a:xfrm>
              <a:off x="2796235" y="1450238"/>
              <a:ext cx="404165" cy="9144"/>
            </a:xfrm>
            <a:custGeom>
              <a:avLst/>
              <a:gdLst/>
              <a:ahLst/>
              <a:cxnLst/>
              <a:rect l="0" t="0" r="r" b="b"/>
              <a:pathLst>
                <a:path w="442" h="10" fill="none">
                  <a:moveTo>
                    <a:pt x="0" y="0"/>
                  </a:moveTo>
                  <a:lnTo>
                    <a:pt x="442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4" name="Flecha 24_2"/>
            <p:cNvSpPr/>
            <p:nvPr/>
          </p:nvSpPr>
          <p:spPr>
            <a:xfrm>
              <a:off x="1536192" y="1188720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5" name="Flecha 26_2"/>
            <p:cNvSpPr/>
            <p:nvPr/>
          </p:nvSpPr>
          <p:spPr>
            <a:xfrm>
              <a:off x="1773936" y="1188720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6" name="Flecha 28_2"/>
            <p:cNvSpPr/>
            <p:nvPr/>
          </p:nvSpPr>
          <p:spPr>
            <a:xfrm>
              <a:off x="2011680" y="1188720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7" name="Flecha 30_2"/>
            <p:cNvSpPr/>
            <p:nvPr/>
          </p:nvSpPr>
          <p:spPr>
            <a:xfrm>
              <a:off x="2249424" y="1188720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8" name="Flecha 32_2"/>
            <p:cNvSpPr/>
            <p:nvPr/>
          </p:nvSpPr>
          <p:spPr>
            <a:xfrm>
              <a:off x="2487168" y="1188720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</p:grpSp>
      <p:sp>
        <p:nvSpPr>
          <p:cNvPr id="29" name="Rótulo tubo A"/>
          <p:cNvSpPr/>
          <p:nvPr/>
        </p:nvSpPr>
        <p:spPr>
          <a:xfrm>
            <a:off x="3337560" y="5852160"/>
            <a:ext cx="2240280" cy="314325"/>
          </a:xfrm>
          <a:prstGeom prst="rect">
            <a:avLst/>
          </a:prstGeom>
          <a:solidFill>
            <a:srgbClr val="8E44AD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 anticoagulante</a:t>
            </a:r>
            <a:endParaRPr lang="es-AR" sz="1500" dirty="0">
              <a:latin typeface="Calibri"/>
            </a:endParaRPr>
          </a:p>
        </p:txBody>
      </p:sp>
      <p:sp>
        <p:nvSpPr>
          <p:cNvPr id="30" name="Rótulo tubo B"/>
          <p:cNvSpPr/>
          <p:nvPr/>
        </p:nvSpPr>
        <p:spPr>
          <a:xfrm>
            <a:off x="5989320" y="5852160"/>
            <a:ext cx="2240280" cy="314325"/>
          </a:xfrm>
          <a:prstGeom prst="rect">
            <a:avLst/>
          </a:prstGeom>
          <a:solidFill>
            <a:srgbClr val="C0392B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SIN anticoagulante</a:t>
            </a:r>
            <a:endParaRPr lang="es-AR" sz="1500" dirty="0">
              <a:latin typeface="Calibri"/>
            </a:endParaRPr>
          </a:p>
        </p:txBody>
      </p:sp>
      <p:sp>
        <p:nvSpPr>
          <p:cNvPr id="31" name="!!Anticoagulante"/>
          <p:cNvSpPr/>
          <p:nvPr/>
        </p:nvSpPr>
        <p:spPr>
          <a:xfrm>
            <a:off x="5120640" y="2286000"/>
            <a:ext cx="141732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1CEE9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95A6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Anticoagulante</a:t>
            </a:r>
            <a:endParaRPr lang="es-AR" sz="1200" dirty="0">
              <a:latin typeface="Calibri"/>
            </a:endParaRPr>
          </a:p>
        </p:txBody>
      </p:sp>
      <p:grpSp>
        <p:nvGrpSpPr>
          <p:cNvPr id="32" name="Caja etapa 2"/>
          <p:cNvGrpSpPr/>
          <p:nvPr/>
        </p:nvGrpSpPr>
        <p:grpSpPr>
          <a:xfrm>
            <a:off x="8549640" y="1051560"/>
            <a:ext cx="3383280" cy="2743200"/>
            <a:chOff x="8549640" y="1051560"/>
            <a:chExt cx="3383280" cy="2743200"/>
          </a:xfrm>
        </p:grpSpPr>
        <p:sp>
          <p:nvSpPr>
            <p:cNvPr id="33" name="Forma 38"/>
            <p:cNvSpPr/>
            <p:nvPr/>
          </p:nvSpPr>
          <p:spPr>
            <a:xfrm>
              <a:off x="8549640" y="125272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Tubo con anticoagulante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destinado 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Tubo sin anticoagulante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destinado 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34" name="Forma 39"/>
            <p:cNvSpPr/>
            <p:nvPr/>
          </p:nvSpPr>
          <p:spPr>
            <a:xfrm>
              <a:off x="8677656" y="1051560"/>
              <a:ext cx="144762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DOS CAMINOS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DOS TUBOS: CON Y SIN ANTICOAGULANTE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TuboA"/>
          <p:cNvGrpSpPr/>
          <p:nvPr/>
        </p:nvGrpSpPr>
        <p:grpSpPr>
          <a:xfrm>
            <a:off x="3851453" y="1828800"/>
            <a:ext cx="1166774" cy="3840480"/>
            <a:chOff x="3851453" y="1828800"/>
            <a:chExt cx="1166774" cy="3840480"/>
          </a:xfrm>
        </p:grpSpPr>
        <p:sp>
          <p:nvSpPr>
            <p:cNvPr id="6" name="Vidrio"/>
            <p:cNvSpPr/>
            <p:nvPr/>
          </p:nvSpPr>
          <p:spPr>
            <a:xfrm>
              <a:off x="393192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Tapón"/>
            <p:cNvSpPr/>
            <p:nvPr/>
          </p:nvSpPr>
          <p:spPr>
            <a:xfrm>
              <a:off x="385145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8" name="Brillo"/>
            <p:cNvSpPr/>
            <p:nvPr/>
          </p:nvSpPr>
          <p:spPr>
            <a:xfrm>
              <a:off x="407273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9" name="!!SangreA"/>
          <p:cNvSpPr/>
          <p:nvPr/>
        </p:nvSpPr>
        <p:spPr>
          <a:xfrm>
            <a:off x="3982212" y="2947148"/>
            <a:ext cx="905256" cy="264532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grpSp>
        <p:nvGrpSpPr>
          <p:cNvPr id="10" name="!!TuboB"/>
          <p:cNvGrpSpPr/>
          <p:nvPr/>
        </p:nvGrpSpPr>
        <p:grpSpPr>
          <a:xfrm>
            <a:off x="6503213" y="1828800"/>
            <a:ext cx="1166774" cy="3840480"/>
            <a:chOff x="6503213" y="1828800"/>
            <a:chExt cx="1166774" cy="3840480"/>
          </a:xfrm>
        </p:grpSpPr>
        <p:sp>
          <p:nvSpPr>
            <p:cNvPr id="11" name="Vidrio_2"/>
            <p:cNvSpPr/>
            <p:nvPr/>
          </p:nvSpPr>
          <p:spPr>
            <a:xfrm>
              <a:off x="658368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2" name="Tapón_2"/>
            <p:cNvSpPr/>
            <p:nvPr/>
          </p:nvSpPr>
          <p:spPr>
            <a:xfrm>
              <a:off x="650321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3" name="Brillo_2"/>
            <p:cNvSpPr/>
            <p:nvPr/>
          </p:nvSpPr>
          <p:spPr>
            <a:xfrm>
              <a:off x="672449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grpSp>
        <p:nvGrpSpPr>
          <p:cNvPr id="14" name="!!Jeringa"/>
          <p:cNvGrpSpPr/>
          <p:nvPr/>
        </p:nvGrpSpPr>
        <p:grpSpPr>
          <a:xfrm>
            <a:off x="3246120" y="945672"/>
            <a:ext cx="2377440" cy="679948"/>
            <a:chOff x="3246120" y="945672"/>
            <a:chExt cx="2377440" cy="679948"/>
          </a:xfrm>
        </p:grpSpPr>
        <p:sp>
          <p:nvSpPr>
            <p:cNvPr id="15" name="Cilindro"/>
            <p:cNvSpPr/>
            <p:nvPr/>
          </p:nvSpPr>
          <p:spPr>
            <a:xfrm>
              <a:off x="3602736" y="1024128"/>
              <a:ext cx="1474013" cy="523037"/>
            </a:xfrm>
            <a:prstGeom prst="rect">
              <a:avLst/>
            </a:prstGeom>
            <a:solidFill>
              <a:srgbClr val="EAF2FA">
                <a:alpha val="60000"/>
              </a:srgbClr>
            </a:solidFill>
            <a:ln w="19050" cap="rnd">
              <a:solidFill>
                <a:srgbClr val="5D6D7E"/>
              </a:solidFill>
              <a:round/>
            </a:ln>
          </p:spPr>
        </p:sp>
        <p:sp>
          <p:nvSpPr>
            <p:cNvPr id="16" name="Sangre"/>
            <p:cNvSpPr/>
            <p:nvPr/>
          </p:nvSpPr>
          <p:spPr>
            <a:xfrm>
              <a:off x="3971239" y="1076432"/>
              <a:ext cx="1105510" cy="418429"/>
            </a:xfrm>
            <a:prstGeom prst="rect">
              <a:avLst/>
            </a:prstGeom>
            <a:gradFill rotWithShape="1">
              <a:gsLst>
                <a:gs pos="0">
                  <a:srgbClr val="C96761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32000" t="28000" r="68000" b="72000"/>
              </a:path>
            </a:gradFill>
            <a:ln>
              <a:noFill/>
            </a:ln>
          </p:spPr>
        </p:sp>
        <p:sp>
          <p:nvSpPr>
            <p:cNvPr id="17" name="Forma 16"/>
            <p:cNvSpPr/>
            <p:nvPr/>
          </p:nvSpPr>
          <p:spPr>
            <a:xfrm>
              <a:off x="3246120" y="945672"/>
              <a:ext cx="95098" cy="679948"/>
            </a:xfrm>
            <a:prstGeom prst="rect">
              <a:avLst/>
            </a:prstGeom>
            <a:solidFill>
              <a:srgbClr val="7F8C8D"/>
            </a:solidFill>
            <a:ln w="12700" cap="rnd">
              <a:solidFill>
                <a:srgbClr val="34495E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3317443" y="1233343"/>
              <a:ext cx="309067" cy="104607"/>
            </a:xfrm>
            <a:prstGeom prst="rect">
              <a:avLst/>
            </a:prstGeom>
            <a:solidFill>
              <a:srgbClr val="BDC3C7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5076749" y="1181039"/>
              <a:ext cx="142646" cy="209215"/>
            </a:xfrm>
            <a:prstGeom prst="rect">
              <a:avLst/>
            </a:prstGeom>
            <a:solidFill>
              <a:srgbClr val="D5DBDB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20" name="Flecha 19_2"/>
            <p:cNvSpPr/>
            <p:nvPr/>
          </p:nvSpPr>
          <p:spPr>
            <a:xfrm>
              <a:off x="5219395" y="1285646"/>
              <a:ext cx="404165" cy="9144"/>
            </a:xfrm>
            <a:custGeom>
              <a:avLst/>
              <a:gdLst/>
              <a:ahLst/>
              <a:cxnLst/>
              <a:rect l="0" t="0" r="r" b="b"/>
              <a:pathLst>
                <a:path w="442" h="10" fill="none">
                  <a:moveTo>
                    <a:pt x="0" y="0"/>
                  </a:moveTo>
                  <a:lnTo>
                    <a:pt x="442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1" name="Flecha 21_2"/>
            <p:cNvSpPr/>
            <p:nvPr/>
          </p:nvSpPr>
          <p:spPr>
            <a:xfrm>
              <a:off x="3959352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2" name="Flecha 23_2"/>
            <p:cNvSpPr/>
            <p:nvPr/>
          </p:nvSpPr>
          <p:spPr>
            <a:xfrm>
              <a:off x="4197096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3" name="Flecha 25_2"/>
            <p:cNvSpPr/>
            <p:nvPr/>
          </p:nvSpPr>
          <p:spPr>
            <a:xfrm>
              <a:off x="4434840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4" name="Flecha 27_2"/>
            <p:cNvSpPr/>
            <p:nvPr/>
          </p:nvSpPr>
          <p:spPr>
            <a:xfrm>
              <a:off x="4672584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5" name="Flecha 29_2"/>
            <p:cNvSpPr/>
            <p:nvPr/>
          </p:nvSpPr>
          <p:spPr>
            <a:xfrm>
              <a:off x="4910328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</p:grpSp>
      <p:sp>
        <p:nvSpPr>
          <p:cNvPr id="26" name="!!Anticoagulante"/>
          <p:cNvSpPr/>
          <p:nvPr/>
        </p:nvSpPr>
        <p:spPr>
          <a:xfrm>
            <a:off x="4297680" y="2651760"/>
            <a:ext cx="141732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1CEE9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95A6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Anticoagulante</a:t>
            </a:r>
            <a:endParaRPr lang="es-AR" sz="1200" dirty="0">
              <a:latin typeface="Calibri"/>
            </a:endParaRPr>
          </a:p>
        </p:txBody>
      </p:sp>
      <p:sp>
        <p:nvSpPr>
          <p:cNvPr id="27" name="Gota A"/>
          <p:cNvSpPr/>
          <p:nvPr/>
        </p:nvSpPr>
        <p:spPr>
          <a:xfrm rot="8100000">
            <a:off x="4343400" y="1691640"/>
            <a:ext cx="201168" cy="274320"/>
          </a:xfrm>
          <a:prstGeom prst="teardrop">
            <a:avLst/>
          </a:prstGeom>
          <a:solidFill>
            <a:srgbClr val="B3261E"/>
          </a:solidFill>
          <a:ln w="12700" cap="rnd">
            <a:solidFill>
              <a:srgbClr val="6E1A12"/>
            </a:solidFill>
            <a:round/>
          </a:ln>
        </p:spPr>
      </p:sp>
      <p:grpSp>
        <p:nvGrpSpPr>
          <p:cNvPr id="28" name="Caja etapa 3"/>
          <p:cNvGrpSpPr/>
          <p:nvPr/>
        </p:nvGrpSpPr>
        <p:grpSpPr>
          <a:xfrm>
            <a:off x="8549640" y="1051560"/>
            <a:ext cx="3383280" cy="2743200"/>
            <a:chOff x="8549640" y="1051560"/>
            <a:chExt cx="3383280" cy="2743200"/>
          </a:xfrm>
        </p:grpSpPr>
        <p:sp>
          <p:nvSpPr>
            <p:cNvPr id="29" name="Forma 34"/>
            <p:cNvSpPr/>
            <p:nvPr/>
          </p:nvSpPr>
          <p:spPr>
            <a:xfrm>
              <a:off x="8549640" y="125272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agrega un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anticoagulante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 la sangre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antes de centrifugar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muestra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permanece líquida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conserva los factores de coagulación.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30" name="Forma 35"/>
            <p:cNvSpPr/>
            <p:nvPr/>
          </p:nvSpPr>
          <p:spPr>
            <a:xfrm>
              <a:off x="8677656" y="1051560"/>
              <a:ext cx="161170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PLASMA: PASO 1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MUESTRA CON ANTICOAGULANTE: LA SANGRE NO COAGULA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133 E" pathEditMode="relative" ptsTypes="">
                                      <p:cBhvr>
                                        <p:cTn id="8" dur="7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9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TuboA"/>
          <p:cNvGrpSpPr/>
          <p:nvPr/>
        </p:nvGrpSpPr>
        <p:grpSpPr>
          <a:xfrm>
            <a:off x="3851453" y="1828800"/>
            <a:ext cx="1166774" cy="3840480"/>
            <a:chOff x="3851453" y="1828800"/>
            <a:chExt cx="1166774" cy="3840480"/>
          </a:xfrm>
        </p:grpSpPr>
        <p:sp>
          <p:nvSpPr>
            <p:cNvPr id="6" name="Vidrio"/>
            <p:cNvSpPr/>
            <p:nvPr/>
          </p:nvSpPr>
          <p:spPr>
            <a:xfrm>
              <a:off x="393192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Tapón"/>
            <p:cNvSpPr/>
            <p:nvPr/>
          </p:nvSpPr>
          <p:spPr>
            <a:xfrm>
              <a:off x="385145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8" name="Brillo"/>
            <p:cNvSpPr/>
            <p:nvPr/>
          </p:nvSpPr>
          <p:spPr>
            <a:xfrm>
              <a:off x="407273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9" name="!!SangreA"/>
          <p:cNvSpPr/>
          <p:nvPr/>
        </p:nvSpPr>
        <p:spPr>
          <a:xfrm>
            <a:off x="3982212" y="2947148"/>
            <a:ext cx="905256" cy="264532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grpSp>
        <p:nvGrpSpPr>
          <p:cNvPr id="10" name="!!TuboB"/>
          <p:cNvGrpSpPr/>
          <p:nvPr/>
        </p:nvGrpSpPr>
        <p:grpSpPr>
          <a:xfrm>
            <a:off x="6503213" y="1828800"/>
            <a:ext cx="1166774" cy="3840480"/>
            <a:chOff x="6503213" y="1828800"/>
            <a:chExt cx="1166774" cy="3840480"/>
          </a:xfrm>
        </p:grpSpPr>
        <p:sp>
          <p:nvSpPr>
            <p:cNvPr id="11" name="Vidrio_2"/>
            <p:cNvSpPr/>
            <p:nvPr/>
          </p:nvSpPr>
          <p:spPr>
            <a:xfrm>
              <a:off x="658368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2" name="Tapón_2"/>
            <p:cNvSpPr/>
            <p:nvPr/>
          </p:nvSpPr>
          <p:spPr>
            <a:xfrm>
              <a:off x="650321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3" name="Brillo_2"/>
            <p:cNvSpPr/>
            <p:nvPr/>
          </p:nvSpPr>
          <p:spPr>
            <a:xfrm>
              <a:off x="672449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14" name="!!SangreB"/>
          <p:cNvSpPr/>
          <p:nvPr/>
        </p:nvSpPr>
        <p:spPr>
          <a:xfrm>
            <a:off x="6633972" y="2947148"/>
            <a:ext cx="905256" cy="264532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B4544E"/>
              </a:gs>
              <a:gs pos="55000">
                <a:srgbClr val="9B1C14"/>
              </a:gs>
              <a:gs pos="100000">
                <a:srgbClr val="7C1610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64120D"/>
            </a:solidFill>
            <a:round/>
          </a:ln>
        </p:spPr>
      </p:sp>
      <p:sp>
        <p:nvSpPr>
          <p:cNvPr id="15" name="!!FibrinaB"/>
          <p:cNvSpPr/>
          <p:nvPr/>
        </p:nvSpPr>
        <p:spPr>
          <a:xfrm>
            <a:off x="6664147" y="2947148"/>
            <a:ext cx="844906" cy="2433697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" y="513"/>
                </a:moveTo>
                <a:cubicBezTo>
                  <a:pt x="300" y="573"/>
                  <a:pt x="600" y="877"/>
                  <a:pt x="940" y="936"/>
                </a:cubicBezTo>
              </a:path>
              <a:path w="1000" h="1000" fill="none">
                <a:moveTo>
                  <a:pt x="60" y="849"/>
                </a:moveTo>
                <a:cubicBezTo>
                  <a:pt x="300" y="462"/>
                  <a:pt x="600" y="520"/>
                  <a:pt x="940" y="526"/>
                </a:cubicBezTo>
              </a:path>
              <a:path w="1000" h="1000" fill="none">
                <a:moveTo>
                  <a:pt x="60" y="925"/>
                </a:moveTo>
                <a:cubicBezTo>
                  <a:pt x="300" y="194"/>
                  <a:pt x="600" y="189"/>
                  <a:pt x="940" y="651"/>
                </a:cubicBezTo>
              </a:path>
              <a:path w="1000" h="1000" fill="none">
                <a:moveTo>
                  <a:pt x="60" y="873"/>
                </a:moveTo>
                <a:cubicBezTo>
                  <a:pt x="300" y="487"/>
                  <a:pt x="600" y="644"/>
                  <a:pt x="940" y="574"/>
                </a:cubicBezTo>
              </a:path>
              <a:path w="1000" h="1000" fill="none">
                <a:moveTo>
                  <a:pt x="60" y="678"/>
                </a:moveTo>
                <a:cubicBezTo>
                  <a:pt x="300" y="190"/>
                  <a:pt x="600" y="96"/>
                  <a:pt x="940" y="862"/>
                </a:cubicBezTo>
              </a:path>
              <a:path w="1000" h="1000" fill="none">
                <a:moveTo>
                  <a:pt x="60" y="507"/>
                </a:moveTo>
                <a:cubicBezTo>
                  <a:pt x="300" y="145"/>
                  <a:pt x="600" y="92"/>
                  <a:pt x="940" y="360"/>
                </a:cubicBezTo>
              </a:path>
              <a:path w="1000" h="1000" fill="none">
                <a:moveTo>
                  <a:pt x="60" y="601"/>
                </a:moveTo>
                <a:cubicBezTo>
                  <a:pt x="300" y="911"/>
                  <a:pt x="600" y="710"/>
                  <a:pt x="940" y="879"/>
                </a:cubicBezTo>
              </a:path>
              <a:path w="1000" h="1000" fill="none">
                <a:moveTo>
                  <a:pt x="60" y="699"/>
                </a:moveTo>
                <a:cubicBezTo>
                  <a:pt x="300" y="609"/>
                  <a:pt x="600" y="405"/>
                  <a:pt x="940" y="92"/>
                </a:cubicBezTo>
              </a:path>
              <a:path w="1000" h="1000" fill="none">
                <a:moveTo>
                  <a:pt x="60" y="513"/>
                </a:moveTo>
                <a:cubicBezTo>
                  <a:pt x="300" y="756"/>
                  <a:pt x="600" y="630"/>
                  <a:pt x="940" y="719"/>
                </a:cubicBezTo>
              </a:path>
            </a:pathLst>
          </a:custGeom>
          <a:noFill/>
          <a:ln w="19050" cap="rnd">
            <a:solidFill>
              <a:srgbClr val="F9E79F"/>
            </a:solidFill>
            <a:round/>
          </a:ln>
        </p:spPr>
      </p:sp>
      <p:grpSp>
        <p:nvGrpSpPr>
          <p:cNvPr id="16" name="!!Jeringa"/>
          <p:cNvGrpSpPr/>
          <p:nvPr/>
        </p:nvGrpSpPr>
        <p:grpSpPr>
          <a:xfrm>
            <a:off x="5897880" y="945672"/>
            <a:ext cx="2377440" cy="679948"/>
            <a:chOff x="5897880" y="945672"/>
            <a:chExt cx="2377440" cy="679948"/>
          </a:xfrm>
        </p:grpSpPr>
        <p:sp>
          <p:nvSpPr>
            <p:cNvPr id="17" name="Cilindro"/>
            <p:cNvSpPr/>
            <p:nvPr/>
          </p:nvSpPr>
          <p:spPr>
            <a:xfrm>
              <a:off x="6254496" y="1024128"/>
              <a:ext cx="1474013" cy="523037"/>
            </a:xfrm>
            <a:prstGeom prst="rect">
              <a:avLst/>
            </a:prstGeom>
            <a:solidFill>
              <a:srgbClr val="EAF2FA">
                <a:alpha val="60000"/>
              </a:srgbClr>
            </a:solidFill>
            <a:ln w="19050" cap="rnd">
              <a:solidFill>
                <a:srgbClr val="5D6D7E"/>
              </a:solidFill>
              <a:round/>
            </a:ln>
          </p:spPr>
        </p:sp>
        <p:sp>
          <p:nvSpPr>
            <p:cNvPr id="18" name="Sangre"/>
            <p:cNvSpPr/>
            <p:nvPr/>
          </p:nvSpPr>
          <p:spPr>
            <a:xfrm>
              <a:off x="7286305" y="1076432"/>
              <a:ext cx="442204" cy="418429"/>
            </a:xfrm>
            <a:prstGeom prst="rect">
              <a:avLst/>
            </a:prstGeom>
            <a:gradFill rotWithShape="1">
              <a:gsLst>
                <a:gs pos="0">
                  <a:srgbClr val="C96761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32000" t="28000" r="68000" b="72000"/>
              </a:path>
            </a:gradFill>
            <a:ln>
              <a:noFill/>
            </a:ln>
          </p:spPr>
        </p:sp>
        <p:sp>
          <p:nvSpPr>
            <p:cNvPr id="19" name="Forma 18"/>
            <p:cNvSpPr/>
            <p:nvPr/>
          </p:nvSpPr>
          <p:spPr>
            <a:xfrm>
              <a:off x="5897880" y="945672"/>
              <a:ext cx="95098" cy="679948"/>
            </a:xfrm>
            <a:prstGeom prst="rect">
              <a:avLst/>
            </a:prstGeom>
            <a:solidFill>
              <a:srgbClr val="7F8C8D"/>
            </a:solidFill>
            <a:ln w="12700" cap="rnd">
              <a:solidFill>
                <a:srgbClr val="34495E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5969203" y="1233343"/>
              <a:ext cx="309067" cy="104607"/>
            </a:xfrm>
            <a:prstGeom prst="rect">
              <a:avLst/>
            </a:prstGeom>
            <a:solidFill>
              <a:srgbClr val="BDC3C7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7728509" y="1181039"/>
              <a:ext cx="142646" cy="209215"/>
            </a:xfrm>
            <a:prstGeom prst="rect">
              <a:avLst/>
            </a:prstGeom>
            <a:solidFill>
              <a:srgbClr val="D5DBDB"/>
            </a:solidFill>
            <a:ln w="9525" cap="rnd">
              <a:solidFill>
                <a:srgbClr val="34495E"/>
              </a:solidFill>
              <a:round/>
            </a:ln>
          </p:spPr>
        </p:sp>
        <p:sp>
          <p:nvSpPr>
            <p:cNvPr id="22" name="Flecha 21_2"/>
            <p:cNvSpPr/>
            <p:nvPr/>
          </p:nvSpPr>
          <p:spPr>
            <a:xfrm>
              <a:off x="7871155" y="1285646"/>
              <a:ext cx="404165" cy="9144"/>
            </a:xfrm>
            <a:custGeom>
              <a:avLst/>
              <a:gdLst/>
              <a:ahLst/>
              <a:cxnLst/>
              <a:rect l="0" t="0" r="r" b="b"/>
              <a:pathLst>
                <a:path w="442" h="10" fill="none">
                  <a:moveTo>
                    <a:pt x="0" y="0"/>
                  </a:moveTo>
                  <a:lnTo>
                    <a:pt x="442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3" name="Flecha 23_2"/>
            <p:cNvSpPr/>
            <p:nvPr/>
          </p:nvSpPr>
          <p:spPr>
            <a:xfrm>
              <a:off x="6611112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4" name="Flecha 25_2"/>
            <p:cNvSpPr/>
            <p:nvPr/>
          </p:nvSpPr>
          <p:spPr>
            <a:xfrm>
              <a:off x="6848856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5" name="Flecha 27_2"/>
            <p:cNvSpPr/>
            <p:nvPr/>
          </p:nvSpPr>
          <p:spPr>
            <a:xfrm>
              <a:off x="7086600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6" name="Flecha 29_2"/>
            <p:cNvSpPr/>
            <p:nvPr/>
          </p:nvSpPr>
          <p:spPr>
            <a:xfrm>
              <a:off x="7324344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  <p:sp>
          <p:nvSpPr>
            <p:cNvPr id="27" name="Flecha 31_2"/>
            <p:cNvSpPr/>
            <p:nvPr/>
          </p:nvSpPr>
          <p:spPr>
            <a:xfrm>
              <a:off x="7562088" y="1024128"/>
              <a:ext cx="9144" cy="156911"/>
            </a:xfrm>
            <a:custGeom>
              <a:avLst/>
              <a:gdLst/>
              <a:ahLst/>
              <a:cxnLst/>
              <a:rect l="0" t="0" r="r" b="b"/>
              <a:pathLst>
                <a:path w="10" h="171" fill="none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9525" cap="rnd">
              <a:solidFill>
                <a:srgbClr val="5D6D7E"/>
              </a:solidFill>
              <a:round/>
            </a:ln>
          </p:spPr>
        </p:sp>
      </p:grpSp>
      <p:sp>
        <p:nvSpPr>
          <p:cNvPr id="28" name="!!Anticoagulante"/>
          <p:cNvSpPr/>
          <p:nvPr/>
        </p:nvSpPr>
        <p:spPr>
          <a:xfrm>
            <a:off x="4297680" y="2651760"/>
            <a:ext cx="141732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1CEE9"/>
              </a:gs>
              <a:gs pos="55000">
                <a:srgbClr val="D2B4DE"/>
              </a:gs>
              <a:gs pos="100000">
                <a:srgbClr val="A890B1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95A6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Anticoagulante</a:t>
            </a:r>
            <a:endParaRPr lang="es-AR" sz="1200" dirty="0">
              <a:latin typeface="Calibri"/>
            </a:endParaRPr>
          </a:p>
        </p:txBody>
      </p:sp>
      <p:sp>
        <p:nvSpPr>
          <p:cNvPr id="29" name="Gota B"/>
          <p:cNvSpPr/>
          <p:nvPr/>
        </p:nvSpPr>
        <p:spPr>
          <a:xfrm rot="8100000">
            <a:off x="6995160" y="1691640"/>
            <a:ext cx="201168" cy="274320"/>
          </a:xfrm>
          <a:prstGeom prst="teardrop">
            <a:avLst/>
          </a:prstGeom>
          <a:solidFill>
            <a:srgbClr val="9B1C14"/>
          </a:solidFill>
          <a:ln w="12700" cap="rnd">
            <a:solidFill>
              <a:srgbClr val="6E1A12"/>
            </a:solidFill>
            <a:round/>
          </a:ln>
        </p:spPr>
      </p:sp>
      <p:sp>
        <p:nvSpPr>
          <p:cNvPr id="30" name="Rótulo fibrina"/>
          <p:cNvSpPr/>
          <p:nvPr/>
        </p:nvSpPr>
        <p:spPr>
          <a:xfrm>
            <a:off x="5989320" y="5852160"/>
            <a:ext cx="2240280" cy="272415"/>
          </a:xfrm>
          <a:prstGeom prst="rect">
            <a:avLst/>
          </a:prstGeom>
          <a:solidFill>
            <a:srgbClr val="FDE4E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fibrinógeno → fibrina</a:t>
            </a:r>
            <a:endParaRPr lang="es-AR" sz="1300" dirty="0">
              <a:latin typeface="Calibri"/>
            </a:endParaRPr>
          </a:p>
        </p:txBody>
      </p:sp>
      <p:grpSp>
        <p:nvGrpSpPr>
          <p:cNvPr id="31" name="Caja etapa 4"/>
          <p:cNvGrpSpPr/>
          <p:nvPr/>
        </p:nvGrpSpPr>
        <p:grpSpPr>
          <a:xfrm>
            <a:off x="8549640" y="1051560"/>
            <a:ext cx="3383280" cy="3108960"/>
            <a:chOff x="8549640" y="1051560"/>
            <a:chExt cx="3383280" cy="3108960"/>
          </a:xfrm>
        </p:grpSpPr>
        <p:sp>
          <p:nvSpPr>
            <p:cNvPr id="32" name="Forma 37"/>
            <p:cNvSpPr/>
            <p:nvPr/>
          </p:nvSpPr>
          <p:spPr>
            <a:xfrm>
              <a:off x="8549640" y="125272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anticoagulante la sangre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coagula espontáneamente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fibrinógeno forma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fibrina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los factores de coagulación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consumen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el coágulo.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33" name="Forma 38"/>
            <p:cNvSpPr/>
            <p:nvPr/>
          </p:nvSpPr>
          <p:spPr>
            <a:xfrm>
              <a:off x="8677656" y="1051560"/>
              <a:ext cx="148646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SUERO: PASO 1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MUESTRA SIN ANTICOAGULANTE: COAGULACIÓN ESPONTÁNEA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133 E" pathEditMode="relative" ptsTypes="">
                                      <p:cBhvr>
                                        <p:cTn id="8" dur="7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00"/>
                            </p:stCondLst>
                            <p:childTnLst>
                              <p:par>
                                <p:cTn id="1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4" grpId="0" animBg="1"/>
      <p:bldP spid="15" grpId="0" animBg="1"/>
      <p:bldP spid="30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Centrifuga"/>
          <p:cNvGrpSpPr/>
          <p:nvPr/>
        </p:nvGrpSpPr>
        <p:grpSpPr>
          <a:xfrm>
            <a:off x="3348533" y="1828800"/>
            <a:ext cx="3818534" cy="3851453"/>
            <a:chOff x="3348533" y="1828800"/>
            <a:chExt cx="3818534" cy="3851453"/>
          </a:xfrm>
        </p:grpSpPr>
        <p:sp>
          <p:nvSpPr>
            <p:cNvPr id="6" name="Forma 5"/>
            <p:cNvSpPr/>
            <p:nvPr/>
          </p:nvSpPr>
          <p:spPr>
            <a:xfrm>
              <a:off x="3348533" y="3639312"/>
              <a:ext cx="3818534" cy="2040941"/>
            </a:xfrm>
            <a:prstGeom prst="roundRect">
              <a:avLst>
                <a:gd name="adj" fmla="val 12000"/>
              </a:avLst>
            </a:prstGeom>
            <a:gradFill rotWithShape="1">
              <a:gsLst>
                <a:gs pos="0">
                  <a:srgbClr val="CFD8DC"/>
                </a:gs>
                <a:gs pos="55000">
                  <a:srgbClr val="B0BEC5"/>
                </a:gs>
                <a:gs pos="100000">
                  <a:srgbClr val="7B8589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3747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Rotor"/>
            <p:cNvSpPr/>
            <p:nvPr/>
          </p:nvSpPr>
          <p:spPr>
            <a:xfrm>
              <a:off x="3611880" y="1828800"/>
              <a:ext cx="3291840" cy="3291840"/>
            </a:xfrm>
            <a:prstGeom prst="ellipse">
              <a:avLst/>
            </a:prstGeom>
            <a:gradFill rotWithShape="1">
              <a:gsLst>
                <a:gs pos="0">
                  <a:srgbClr val="F1F3F5"/>
                </a:gs>
                <a:gs pos="55000">
                  <a:srgbClr val="ECEFF1"/>
                </a:gs>
                <a:gs pos="100000">
                  <a:srgbClr val="B1B3B4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3747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8" name="Forma 7"/>
            <p:cNvSpPr/>
            <p:nvPr/>
          </p:nvSpPr>
          <p:spPr>
            <a:xfrm>
              <a:off x="4862779" y="3079699"/>
              <a:ext cx="790042" cy="790042"/>
            </a:xfrm>
            <a:prstGeom prst="ellipse">
              <a:avLst/>
            </a:prstGeom>
            <a:gradFill rotWithShape="1">
              <a:gsLst>
                <a:gs pos="0">
                  <a:srgbClr val="A0B1B9"/>
                </a:gs>
                <a:gs pos="55000">
                  <a:srgbClr val="78909C"/>
                </a:gs>
                <a:gs pos="100000">
                  <a:srgbClr val="54646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63238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6080760" y="3244291"/>
              <a:ext cx="460858" cy="460858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5554066" y="4156553"/>
              <a:ext cx="460858" cy="460858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4500677" y="4156553"/>
              <a:ext cx="460858" cy="460858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3973982" y="3244291"/>
              <a:ext cx="460858" cy="460858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4500677" y="2332030"/>
              <a:ext cx="460858" cy="460858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5554066" y="2332030"/>
              <a:ext cx="460858" cy="460858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4434840" y="5120640"/>
              <a:ext cx="1645920" cy="329184"/>
            </a:xfrm>
            <a:prstGeom prst="roundRect">
              <a:avLst>
                <a:gd name="adj" fmla="val 50000"/>
              </a:avLst>
            </a:prstGeom>
            <a:solidFill>
              <a:srgbClr val="263238"/>
            </a:solidFill>
            <a:ln>
              <a:noFill/>
            </a:ln>
          </p:spPr>
        </p:sp>
      </p:grpSp>
      <p:grpSp>
        <p:nvGrpSpPr>
          <p:cNvPr id="16" name="!!TuboA"/>
          <p:cNvGrpSpPr/>
          <p:nvPr/>
        </p:nvGrpSpPr>
        <p:grpSpPr>
          <a:xfrm>
            <a:off x="4129796" y="2514600"/>
            <a:ext cx="445496" cy="1463040"/>
            <a:chOff x="4129796" y="2514600"/>
            <a:chExt cx="445496" cy="1463040"/>
          </a:xfrm>
        </p:grpSpPr>
        <p:sp>
          <p:nvSpPr>
            <p:cNvPr id="17" name="Vidrio"/>
            <p:cNvSpPr/>
            <p:nvPr/>
          </p:nvSpPr>
          <p:spPr>
            <a:xfrm>
              <a:off x="4160520" y="2660904"/>
              <a:ext cx="384048" cy="13167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8" name="Tapón"/>
            <p:cNvSpPr/>
            <p:nvPr/>
          </p:nvSpPr>
          <p:spPr>
            <a:xfrm>
              <a:off x="4129796" y="2514600"/>
              <a:ext cx="445496" cy="175565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19" name="Brillo"/>
            <p:cNvSpPr/>
            <p:nvPr/>
          </p:nvSpPr>
          <p:spPr>
            <a:xfrm>
              <a:off x="4214287" y="2748686"/>
              <a:ext cx="46086" cy="102412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0" name="!!SangreA"/>
          <p:cNvSpPr/>
          <p:nvPr/>
        </p:nvSpPr>
        <p:spPr>
          <a:xfrm>
            <a:off x="4179722" y="2940637"/>
            <a:ext cx="345643" cy="100774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grpSp>
        <p:nvGrpSpPr>
          <p:cNvPr id="21" name="!!TuboB"/>
          <p:cNvGrpSpPr/>
          <p:nvPr/>
        </p:nvGrpSpPr>
        <p:grpSpPr>
          <a:xfrm>
            <a:off x="5867156" y="2514600"/>
            <a:ext cx="445496" cy="1463040"/>
            <a:chOff x="5867156" y="2514600"/>
            <a:chExt cx="445496" cy="1463040"/>
          </a:xfrm>
        </p:grpSpPr>
        <p:sp>
          <p:nvSpPr>
            <p:cNvPr id="22" name="Vidrio_2"/>
            <p:cNvSpPr/>
            <p:nvPr/>
          </p:nvSpPr>
          <p:spPr>
            <a:xfrm>
              <a:off x="5897880" y="2660904"/>
              <a:ext cx="384048" cy="13167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3" name="Tapón_2"/>
            <p:cNvSpPr/>
            <p:nvPr/>
          </p:nvSpPr>
          <p:spPr>
            <a:xfrm>
              <a:off x="5867156" y="2514600"/>
              <a:ext cx="445496" cy="175565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24" name="Brillo_2"/>
            <p:cNvSpPr/>
            <p:nvPr/>
          </p:nvSpPr>
          <p:spPr>
            <a:xfrm>
              <a:off x="5951647" y="2748686"/>
              <a:ext cx="46086" cy="102412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5" name="!!SangreB"/>
          <p:cNvSpPr/>
          <p:nvPr/>
        </p:nvSpPr>
        <p:spPr>
          <a:xfrm>
            <a:off x="5917082" y="2940637"/>
            <a:ext cx="345643" cy="100774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B4544E"/>
              </a:gs>
              <a:gs pos="55000">
                <a:srgbClr val="9B1C14"/>
              </a:gs>
              <a:gs pos="100000">
                <a:srgbClr val="7C1610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64120D"/>
            </a:solidFill>
            <a:round/>
          </a:ln>
        </p:spPr>
      </p:sp>
      <p:sp>
        <p:nvSpPr>
          <p:cNvPr id="26" name="!!FibrinaB"/>
          <p:cNvSpPr/>
          <p:nvPr/>
        </p:nvSpPr>
        <p:spPr>
          <a:xfrm>
            <a:off x="5928604" y="2940637"/>
            <a:ext cx="322600" cy="927123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" y="513"/>
                </a:moveTo>
                <a:cubicBezTo>
                  <a:pt x="300" y="573"/>
                  <a:pt x="600" y="877"/>
                  <a:pt x="940" y="936"/>
                </a:cubicBezTo>
              </a:path>
              <a:path w="1000" h="1000" fill="none">
                <a:moveTo>
                  <a:pt x="60" y="849"/>
                </a:moveTo>
                <a:cubicBezTo>
                  <a:pt x="300" y="462"/>
                  <a:pt x="600" y="520"/>
                  <a:pt x="940" y="526"/>
                </a:cubicBezTo>
              </a:path>
              <a:path w="1000" h="1000" fill="none">
                <a:moveTo>
                  <a:pt x="60" y="925"/>
                </a:moveTo>
                <a:cubicBezTo>
                  <a:pt x="300" y="194"/>
                  <a:pt x="600" y="189"/>
                  <a:pt x="940" y="651"/>
                </a:cubicBezTo>
              </a:path>
              <a:path w="1000" h="1000" fill="none">
                <a:moveTo>
                  <a:pt x="60" y="873"/>
                </a:moveTo>
                <a:cubicBezTo>
                  <a:pt x="300" y="487"/>
                  <a:pt x="600" y="644"/>
                  <a:pt x="940" y="574"/>
                </a:cubicBezTo>
              </a:path>
              <a:path w="1000" h="1000" fill="none">
                <a:moveTo>
                  <a:pt x="60" y="678"/>
                </a:moveTo>
                <a:cubicBezTo>
                  <a:pt x="300" y="190"/>
                  <a:pt x="600" y="96"/>
                  <a:pt x="940" y="862"/>
                </a:cubicBezTo>
              </a:path>
              <a:path w="1000" h="1000" fill="none">
                <a:moveTo>
                  <a:pt x="60" y="507"/>
                </a:moveTo>
                <a:cubicBezTo>
                  <a:pt x="300" y="145"/>
                  <a:pt x="600" y="92"/>
                  <a:pt x="940" y="360"/>
                </a:cubicBezTo>
              </a:path>
              <a:path w="1000" h="1000" fill="none">
                <a:moveTo>
                  <a:pt x="60" y="601"/>
                </a:moveTo>
                <a:cubicBezTo>
                  <a:pt x="300" y="911"/>
                  <a:pt x="600" y="710"/>
                  <a:pt x="940" y="879"/>
                </a:cubicBezTo>
              </a:path>
              <a:path w="1000" h="1000" fill="none">
                <a:moveTo>
                  <a:pt x="60" y="699"/>
                </a:moveTo>
                <a:cubicBezTo>
                  <a:pt x="300" y="609"/>
                  <a:pt x="600" y="405"/>
                  <a:pt x="940" y="92"/>
                </a:cubicBezTo>
              </a:path>
              <a:path w="1000" h="1000" fill="none">
                <a:moveTo>
                  <a:pt x="60" y="513"/>
                </a:moveTo>
                <a:cubicBezTo>
                  <a:pt x="300" y="756"/>
                  <a:pt x="600" y="630"/>
                  <a:pt x="940" y="719"/>
                </a:cubicBezTo>
              </a:path>
            </a:pathLst>
          </a:custGeom>
          <a:noFill/>
          <a:ln w="19050" cap="rnd">
            <a:solidFill>
              <a:srgbClr val="F9E79F"/>
            </a:solidFill>
            <a:round/>
          </a:ln>
        </p:spPr>
      </p:sp>
      <p:sp>
        <p:nvSpPr>
          <p:cNvPr id="27" name="Giro rotor"/>
          <p:cNvSpPr/>
          <p:nvPr/>
        </p:nvSpPr>
        <p:spPr>
          <a:xfrm>
            <a:off x="7086600" y="1280160"/>
            <a:ext cx="914400" cy="914400"/>
          </a:xfrm>
          <a:prstGeom prst="circularArrow">
            <a:avLst>
              <a:gd name="adj1" fmla="val 9000"/>
              <a:gd name="adj2" fmla="val 1142319"/>
              <a:gd name="adj3" fmla="val 20457681"/>
              <a:gd name="adj4" fmla="val 10800000"/>
              <a:gd name="adj5" fmla="val 11000"/>
            </a:avLst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grpSp>
        <p:nvGrpSpPr>
          <p:cNvPr id="28" name="Caja etapa 5"/>
          <p:cNvGrpSpPr/>
          <p:nvPr/>
        </p:nvGrpSpPr>
        <p:grpSpPr>
          <a:xfrm>
            <a:off x="8549640" y="1051560"/>
            <a:ext cx="3383280" cy="2743200"/>
            <a:chOff x="8549640" y="1051560"/>
            <a:chExt cx="3383280" cy="2743200"/>
          </a:xfrm>
        </p:grpSpPr>
        <p:sp>
          <p:nvSpPr>
            <p:cNvPr id="29" name="Forma 28"/>
            <p:cNvSpPr/>
            <p:nvPr/>
          </p:nvSpPr>
          <p:spPr>
            <a:xfrm>
              <a:off x="8549640" y="125272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Ambos tubos se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centrifugan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fuerza centrífuga separa los componentes de la suspensión.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8677656" y="1051560"/>
              <a:ext cx="170634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CENTRIFUGACIÓN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CENTRIFUGACIÓN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Centrifuga"/>
          <p:cNvGrpSpPr/>
          <p:nvPr/>
        </p:nvGrpSpPr>
        <p:grpSpPr>
          <a:xfrm>
            <a:off x="256032" y="4663440"/>
            <a:ext cx="1591056" cy="1604772"/>
            <a:chOff x="256032" y="4663440"/>
            <a:chExt cx="1591056" cy="1604772"/>
          </a:xfrm>
        </p:grpSpPr>
        <p:sp>
          <p:nvSpPr>
            <p:cNvPr id="6" name="Forma 5"/>
            <p:cNvSpPr/>
            <p:nvPr/>
          </p:nvSpPr>
          <p:spPr>
            <a:xfrm>
              <a:off x="256032" y="5417820"/>
              <a:ext cx="1591056" cy="850392"/>
            </a:xfrm>
            <a:prstGeom prst="roundRect">
              <a:avLst>
                <a:gd name="adj" fmla="val 12000"/>
              </a:avLst>
            </a:prstGeom>
            <a:gradFill rotWithShape="1">
              <a:gsLst>
                <a:gs pos="0">
                  <a:srgbClr val="CFD8DC"/>
                </a:gs>
                <a:gs pos="55000">
                  <a:srgbClr val="B0BEC5"/>
                </a:gs>
                <a:gs pos="100000">
                  <a:srgbClr val="7B8589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3747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Rotor"/>
            <p:cNvSpPr/>
            <p:nvPr/>
          </p:nvSpPr>
          <p:spPr>
            <a:xfrm>
              <a:off x="365760" y="4663440"/>
              <a:ext cx="1371600" cy="1371600"/>
            </a:xfrm>
            <a:prstGeom prst="ellipse">
              <a:avLst/>
            </a:prstGeom>
            <a:gradFill rotWithShape="1">
              <a:gsLst>
                <a:gs pos="0">
                  <a:srgbClr val="F1F3F5"/>
                </a:gs>
                <a:gs pos="55000">
                  <a:srgbClr val="ECEFF1"/>
                </a:gs>
                <a:gs pos="100000">
                  <a:srgbClr val="B1B3B4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3747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8" name="Forma 7"/>
            <p:cNvSpPr/>
            <p:nvPr/>
          </p:nvSpPr>
          <p:spPr>
            <a:xfrm>
              <a:off x="886968" y="5184648"/>
              <a:ext cx="329184" cy="329184"/>
            </a:xfrm>
            <a:prstGeom prst="ellipse">
              <a:avLst/>
            </a:prstGeom>
            <a:gradFill rotWithShape="1">
              <a:gsLst>
                <a:gs pos="0">
                  <a:srgbClr val="A0B1B9"/>
                </a:gs>
                <a:gs pos="55000">
                  <a:srgbClr val="78909C"/>
                </a:gs>
                <a:gs pos="100000">
                  <a:srgbClr val="54646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63238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394460" y="5253228"/>
              <a:ext cx="192024" cy="192024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1175004" y="5633337"/>
              <a:ext cx="192024" cy="192024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736092" y="5633337"/>
              <a:ext cx="192024" cy="192024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516636" y="5253228"/>
              <a:ext cx="192024" cy="192024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736092" y="4873119"/>
              <a:ext cx="192024" cy="192024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1175004" y="4873119"/>
              <a:ext cx="192024" cy="192024"/>
            </a:xfrm>
            <a:prstGeom prst="ellipse">
              <a:avLst/>
            </a:prstGeom>
            <a:gradFill rotWithShape="1">
              <a:gsLst>
                <a:gs pos="0">
                  <a:srgbClr val="D2746A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708660" y="6035040"/>
              <a:ext cx="685800" cy="137160"/>
            </a:xfrm>
            <a:prstGeom prst="roundRect">
              <a:avLst>
                <a:gd name="adj" fmla="val 50000"/>
              </a:avLst>
            </a:prstGeom>
            <a:solidFill>
              <a:srgbClr val="263238"/>
            </a:solidFill>
            <a:ln>
              <a:noFill/>
            </a:ln>
          </p:spPr>
        </p:sp>
      </p:grpSp>
      <p:grpSp>
        <p:nvGrpSpPr>
          <p:cNvPr id="16" name="!!TuboA"/>
          <p:cNvGrpSpPr/>
          <p:nvPr/>
        </p:nvGrpSpPr>
        <p:grpSpPr>
          <a:xfrm>
            <a:off x="3851453" y="1828800"/>
            <a:ext cx="1166774" cy="3840480"/>
            <a:chOff x="3851453" y="1828800"/>
            <a:chExt cx="1166774" cy="3840480"/>
          </a:xfrm>
        </p:grpSpPr>
        <p:sp>
          <p:nvSpPr>
            <p:cNvPr id="17" name="Vidrio"/>
            <p:cNvSpPr/>
            <p:nvPr/>
          </p:nvSpPr>
          <p:spPr>
            <a:xfrm>
              <a:off x="393192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8" name="Tapón"/>
            <p:cNvSpPr/>
            <p:nvPr/>
          </p:nvSpPr>
          <p:spPr>
            <a:xfrm>
              <a:off x="385145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19" name="Brillo"/>
            <p:cNvSpPr/>
            <p:nvPr/>
          </p:nvSpPr>
          <p:spPr>
            <a:xfrm>
              <a:off x="407273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0" name="!!SangreA"/>
          <p:cNvSpPr/>
          <p:nvPr/>
        </p:nvSpPr>
        <p:spPr>
          <a:xfrm>
            <a:off x="3982212" y="4237549"/>
            <a:ext cx="905256" cy="135492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21" name="!!BuffyA"/>
          <p:cNvSpPr/>
          <p:nvPr/>
        </p:nvSpPr>
        <p:spPr>
          <a:xfrm>
            <a:off x="3982212" y="4076249"/>
            <a:ext cx="905256" cy="161300"/>
          </a:xfrm>
          <a:prstGeom prst="rect">
            <a:avLst/>
          </a:prstGeom>
          <a:gradFill rotWithShape="1">
            <a:gsLst>
              <a:gs pos="0">
                <a:srgbClr val="F5F6F6"/>
              </a:gs>
              <a:gs pos="100000">
                <a:srgbClr val="F2F3F4"/>
              </a:gs>
            </a:gsLst>
            <a:lin ang="5400000" scaled="0"/>
          </a:gradFill>
          <a:ln w="9525" cap="rnd">
            <a:solidFill>
              <a:srgbClr val="9D9D9E"/>
            </a:solidFill>
            <a:round/>
          </a:ln>
        </p:spPr>
      </p:sp>
      <p:sp>
        <p:nvSpPr>
          <p:cNvPr id="22" name="!!PlasmaA"/>
          <p:cNvSpPr/>
          <p:nvPr/>
        </p:nvSpPr>
        <p:spPr>
          <a:xfrm>
            <a:off x="3982212" y="2947148"/>
            <a:ext cx="905256" cy="1129101"/>
          </a:xfrm>
          <a:prstGeom prst="rect">
            <a:avLst/>
          </a:prstGeom>
          <a:gradFill rotWithShape="1">
            <a:gsLst>
              <a:gs pos="0">
                <a:srgbClr val="F9E493"/>
              </a:gs>
              <a:gs pos="100000">
                <a:srgbClr val="F7DC6F"/>
              </a:gs>
            </a:gsLst>
            <a:lin ang="5400000" scaled="0"/>
          </a:gradFill>
          <a:ln w="9525" cap="rnd">
            <a:solidFill>
              <a:srgbClr val="A08F48"/>
            </a:solidFill>
            <a:round/>
          </a:ln>
        </p:spPr>
      </p:sp>
      <p:grpSp>
        <p:nvGrpSpPr>
          <p:cNvPr id="23" name="!!TuboB"/>
          <p:cNvGrpSpPr/>
          <p:nvPr/>
        </p:nvGrpSpPr>
        <p:grpSpPr>
          <a:xfrm>
            <a:off x="6503213" y="1828800"/>
            <a:ext cx="1166774" cy="3840480"/>
            <a:chOff x="6503213" y="1828800"/>
            <a:chExt cx="1166774" cy="3840480"/>
          </a:xfrm>
        </p:grpSpPr>
        <p:sp>
          <p:nvSpPr>
            <p:cNvPr id="24" name="Vidrio_2"/>
            <p:cNvSpPr/>
            <p:nvPr/>
          </p:nvSpPr>
          <p:spPr>
            <a:xfrm>
              <a:off x="6583680" y="2212848"/>
              <a:ext cx="1005840" cy="34564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5" name="Tapón_2"/>
            <p:cNvSpPr/>
            <p:nvPr/>
          </p:nvSpPr>
          <p:spPr>
            <a:xfrm>
              <a:off x="6503213" y="1828800"/>
              <a:ext cx="1166774" cy="460858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26" name="Brillo_2"/>
            <p:cNvSpPr/>
            <p:nvPr/>
          </p:nvSpPr>
          <p:spPr>
            <a:xfrm>
              <a:off x="6724498" y="2443277"/>
              <a:ext cx="120701" cy="268833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7" name="!!SangreB"/>
          <p:cNvSpPr/>
          <p:nvPr/>
        </p:nvSpPr>
        <p:spPr>
          <a:xfrm>
            <a:off x="6633972" y="4173029"/>
            <a:ext cx="905256" cy="141944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9C514D"/>
              </a:gs>
              <a:gs pos="55000">
                <a:srgbClr val="7B1712"/>
              </a:gs>
              <a:gs pos="100000">
                <a:srgbClr val="62120E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4F0E0B"/>
            </a:solidFill>
            <a:round/>
          </a:ln>
        </p:spPr>
      </p:sp>
      <p:sp>
        <p:nvSpPr>
          <p:cNvPr id="28" name="!!SueroB"/>
          <p:cNvSpPr/>
          <p:nvPr/>
        </p:nvSpPr>
        <p:spPr>
          <a:xfrm>
            <a:off x="6633972" y="2947148"/>
            <a:ext cx="905256" cy="1225881"/>
          </a:xfrm>
          <a:prstGeom prst="rect">
            <a:avLst/>
          </a:prstGeom>
          <a:gradFill rotWithShape="1">
            <a:gsLst>
              <a:gs pos="0">
                <a:srgbClr val="FCF6DB"/>
              </a:gs>
              <a:gs pos="100000">
                <a:srgbClr val="FCF3CF"/>
              </a:gs>
            </a:gsLst>
            <a:lin ang="5400000" scaled="0"/>
          </a:gradFill>
          <a:ln w="9525" cap="rnd">
            <a:solidFill>
              <a:srgbClr val="A39D86"/>
            </a:solidFill>
            <a:round/>
          </a:ln>
        </p:spPr>
      </p:sp>
      <p:sp>
        <p:nvSpPr>
          <p:cNvPr id="29" name="!!FibrinaB"/>
          <p:cNvSpPr/>
          <p:nvPr/>
        </p:nvSpPr>
        <p:spPr>
          <a:xfrm>
            <a:off x="6664147" y="4173029"/>
            <a:ext cx="844906" cy="130588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" y="513"/>
                </a:moveTo>
                <a:cubicBezTo>
                  <a:pt x="300" y="573"/>
                  <a:pt x="600" y="877"/>
                  <a:pt x="940" y="936"/>
                </a:cubicBezTo>
              </a:path>
              <a:path w="1000" h="1000" fill="none">
                <a:moveTo>
                  <a:pt x="60" y="849"/>
                </a:moveTo>
                <a:cubicBezTo>
                  <a:pt x="300" y="462"/>
                  <a:pt x="600" y="520"/>
                  <a:pt x="940" y="526"/>
                </a:cubicBezTo>
              </a:path>
              <a:path w="1000" h="1000" fill="none">
                <a:moveTo>
                  <a:pt x="60" y="925"/>
                </a:moveTo>
                <a:cubicBezTo>
                  <a:pt x="300" y="194"/>
                  <a:pt x="600" y="189"/>
                  <a:pt x="940" y="651"/>
                </a:cubicBezTo>
              </a:path>
              <a:path w="1000" h="1000" fill="none">
                <a:moveTo>
                  <a:pt x="60" y="873"/>
                </a:moveTo>
                <a:cubicBezTo>
                  <a:pt x="300" y="487"/>
                  <a:pt x="600" y="644"/>
                  <a:pt x="940" y="574"/>
                </a:cubicBezTo>
              </a:path>
              <a:path w="1000" h="1000" fill="none">
                <a:moveTo>
                  <a:pt x="60" y="678"/>
                </a:moveTo>
                <a:cubicBezTo>
                  <a:pt x="300" y="190"/>
                  <a:pt x="600" y="96"/>
                  <a:pt x="940" y="862"/>
                </a:cubicBezTo>
              </a:path>
              <a:path w="1000" h="1000" fill="none">
                <a:moveTo>
                  <a:pt x="60" y="507"/>
                </a:moveTo>
                <a:cubicBezTo>
                  <a:pt x="300" y="145"/>
                  <a:pt x="600" y="92"/>
                  <a:pt x="940" y="360"/>
                </a:cubicBezTo>
              </a:path>
              <a:path w="1000" h="1000" fill="none">
                <a:moveTo>
                  <a:pt x="60" y="601"/>
                </a:moveTo>
                <a:cubicBezTo>
                  <a:pt x="300" y="911"/>
                  <a:pt x="600" y="710"/>
                  <a:pt x="940" y="879"/>
                </a:cubicBezTo>
              </a:path>
              <a:path w="1000" h="1000" fill="none">
                <a:moveTo>
                  <a:pt x="60" y="699"/>
                </a:moveTo>
                <a:cubicBezTo>
                  <a:pt x="300" y="609"/>
                  <a:pt x="600" y="405"/>
                  <a:pt x="940" y="92"/>
                </a:cubicBezTo>
              </a:path>
              <a:path w="1000" h="1000" fill="none">
                <a:moveTo>
                  <a:pt x="60" y="513"/>
                </a:moveTo>
                <a:cubicBezTo>
                  <a:pt x="300" y="756"/>
                  <a:pt x="600" y="630"/>
                  <a:pt x="940" y="719"/>
                </a:cubicBezTo>
              </a:path>
            </a:pathLst>
          </a:custGeom>
          <a:noFill/>
          <a:ln w="19050" cap="rnd">
            <a:solidFill>
              <a:srgbClr val="F9E79F"/>
            </a:solidFill>
            <a:round/>
          </a:ln>
        </p:spPr>
      </p:sp>
      <p:sp>
        <p:nvSpPr>
          <p:cNvPr id="30" name="Rótulo A6"/>
          <p:cNvSpPr/>
          <p:nvPr/>
        </p:nvSpPr>
        <p:spPr>
          <a:xfrm>
            <a:off x="3108960" y="5852160"/>
            <a:ext cx="2651760" cy="282892"/>
          </a:xfrm>
          <a:prstGeom prst="rect">
            <a:avLst/>
          </a:prstGeom>
          <a:solidFill>
            <a:srgbClr val="8E44AD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Tubo con anticoagulante</a:t>
            </a:r>
            <a:endParaRPr lang="es-AR" sz="1350" dirty="0">
              <a:latin typeface="Calibri"/>
            </a:endParaRPr>
          </a:p>
        </p:txBody>
      </p:sp>
      <p:sp>
        <p:nvSpPr>
          <p:cNvPr id="31" name="Rótulo B6"/>
          <p:cNvSpPr/>
          <p:nvPr/>
        </p:nvSpPr>
        <p:spPr>
          <a:xfrm>
            <a:off x="5760720" y="5852160"/>
            <a:ext cx="2651760" cy="282892"/>
          </a:xfrm>
          <a:prstGeom prst="rect">
            <a:avLst/>
          </a:prstGeom>
          <a:solidFill>
            <a:srgbClr val="C0392B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Tubo sin anticoagulante</a:t>
            </a:r>
            <a:endParaRPr lang="es-AR" sz="1350" dirty="0">
              <a:latin typeface="Calibri"/>
            </a:endParaRPr>
          </a:p>
        </p:txBody>
      </p:sp>
      <p:grpSp>
        <p:nvGrpSpPr>
          <p:cNvPr id="32" name="Caja etapa 6"/>
          <p:cNvGrpSpPr/>
          <p:nvPr/>
        </p:nvGrpSpPr>
        <p:grpSpPr>
          <a:xfrm>
            <a:off x="8549640" y="1051560"/>
            <a:ext cx="3383280" cy="2926080"/>
            <a:chOff x="8549640" y="1051560"/>
            <a:chExt cx="3383280" cy="2926080"/>
          </a:xfrm>
        </p:grpSpPr>
        <p:sp>
          <p:nvSpPr>
            <p:cNvPr id="33" name="Forma 32"/>
            <p:cNvSpPr/>
            <p:nvPr/>
          </p:nvSpPr>
          <p:spPr>
            <a:xfrm>
              <a:off x="8549640" y="125272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Tras la centrifugación cada tubo muestra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capas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lo que queda arriba es la fase líquida que se envía a analizar.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8677656" y="1051560"/>
              <a:ext cx="121544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SEPARACIÓN DE CAPAS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3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3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22" grpId="0" animBg="1"/>
      <p:bldP spid="28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TuboA"/>
          <p:cNvGrpSpPr/>
          <p:nvPr/>
        </p:nvGrpSpPr>
        <p:grpSpPr>
          <a:xfrm>
            <a:off x="1901952" y="1143000"/>
            <a:ext cx="1591056" cy="5120640"/>
            <a:chOff x="1901952" y="1143000"/>
            <a:chExt cx="1591056" cy="5120640"/>
          </a:xfrm>
        </p:grpSpPr>
        <p:sp>
          <p:nvSpPr>
            <p:cNvPr id="6" name="Vidrio"/>
            <p:cNvSpPr/>
            <p:nvPr/>
          </p:nvSpPr>
          <p:spPr>
            <a:xfrm>
              <a:off x="2011680" y="1655064"/>
              <a:ext cx="1371600" cy="46085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Tapón"/>
            <p:cNvSpPr/>
            <p:nvPr/>
          </p:nvSpPr>
          <p:spPr>
            <a:xfrm>
              <a:off x="1901952" y="1143000"/>
              <a:ext cx="1591056" cy="614477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8" name="Brillo"/>
            <p:cNvSpPr/>
            <p:nvPr/>
          </p:nvSpPr>
          <p:spPr>
            <a:xfrm>
              <a:off x="2203704" y="1962302"/>
              <a:ext cx="164592" cy="358444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9" name="!!SangreA"/>
          <p:cNvSpPr/>
          <p:nvPr/>
        </p:nvSpPr>
        <p:spPr>
          <a:xfrm>
            <a:off x="2080260" y="4354665"/>
            <a:ext cx="1234440" cy="180656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10" name="!!BuffyA"/>
          <p:cNvSpPr/>
          <p:nvPr/>
        </p:nvSpPr>
        <p:spPr>
          <a:xfrm>
            <a:off x="2080260" y="4139599"/>
            <a:ext cx="1234440" cy="215067"/>
          </a:xfrm>
          <a:prstGeom prst="rect">
            <a:avLst/>
          </a:prstGeom>
          <a:gradFill rotWithShape="1">
            <a:gsLst>
              <a:gs pos="0">
                <a:srgbClr val="F5F6F6"/>
              </a:gs>
              <a:gs pos="100000">
                <a:srgbClr val="F2F3F4"/>
              </a:gs>
            </a:gsLst>
            <a:lin ang="5400000" scaled="0"/>
          </a:gradFill>
          <a:ln w="9525" cap="rnd">
            <a:solidFill>
              <a:srgbClr val="9D9D9E"/>
            </a:solidFill>
            <a:round/>
          </a:ln>
        </p:spPr>
      </p:sp>
      <p:sp>
        <p:nvSpPr>
          <p:cNvPr id="11" name="!!PlasmaA"/>
          <p:cNvSpPr/>
          <p:nvPr/>
        </p:nvSpPr>
        <p:spPr>
          <a:xfrm>
            <a:off x="2080260" y="2634130"/>
            <a:ext cx="1234440" cy="1505468"/>
          </a:xfrm>
          <a:prstGeom prst="rect">
            <a:avLst/>
          </a:prstGeom>
          <a:gradFill rotWithShape="1">
            <a:gsLst>
              <a:gs pos="0">
                <a:srgbClr val="F9E493"/>
              </a:gs>
              <a:gs pos="100000">
                <a:srgbClr val="F7DC6F"/>
              </a:gs>
            </a:gsLst>
            <a:lin ang="5400000" scaled="0"/>
          </a:gradFill>
          <a:ln w="9525" cap="rnd">
            <a:solidFill>
              <a:srgbClr val="A08F48"/>
            </a:solidFill>
            <a:round/>
          </a:ln>
        </p:spPr>
      </p:sp>
      <p:grpSp>
        <p:nvGrpSpPr>
          <p:cNvPr id="12" name="!!TuboB"/>
          <p:cNvGrpSpPr/>
          <p:nvPr/>
        </p:nvGrpSpPr>
        <p:grpSpPr>
          <a:xfrm>
            <a:off x="371246" y="4297680"/>
            <a:ext cx="583387" cy="1920240"/>
            <a:chOff x="371246" y="4297680"/>
            <a:chExt cx="583387" cy="1920240"/>
          </a:xfrm>
        </p:grpSpPr>
        <p:sp>
          <p:nvSpPr>
            <p:cNvPr id="13" name="Vidrio_2"/>
            <p:cNvSpPr/>
            <p:nvPr/>
          </p:nvSpPr>
          <p:spPr>
            <a:xfrm>
              <a:off x="411480" y="4489704"/>
              <a:ext cx="502920" cy="172821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4" name="Tapón_2"/>
            <p:cNvSpPr/>
            <p:nvPr/>
          </p:nvSpPr>
          <p:spPr>
            <a:xfrm>
              <a:off x="371246" y="4297680"/>
              <a:ext cx="583387" cy="230429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5" name="Brillo_2"/>
            <p:cNvSpPr/>
            <p:nvPr/>
          </p:nvSpPr>
          <p:spPr>
            <a:xfrm>
              <a:off x="481889" y="4604918"/>
              <a:ext cx="60350" cy="134416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16" name="!!SangreB"/>
          <p:cNvSpPr/>
          <p:nvPr/>
        </p:nvSpPr>
        <p:spPr>
          <a:xfrm>
            <a:off x="436626" y="5469794"/>
            <a:ext cx="452628" cy="70972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9C514D"/>
              </a:gs>
              <a:gs pos="55000">
                <a:srgbClr val="7B1712"/>
              </a:gs>
              <a:gs pos="100000">
                <a:srgbClr val="62120E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4F0E0B"/>
            </a:solidFill>
            <a:round/>
          </a:ln>
        </p:spPr>
      </p:sp>
      <p:sp>
        <p:nvSpPr>
          <p:cNvPr id="17" name="!!SueroB"/>
          <p:cNvSpPr/>
          <p:nvPr/>
        </p:nvSpPr>
        <p:spPr>
          <a:xfrm>
            <a:off x="436626" y="4856854"/>
            <a:ext cx="452628" cy="612941"/>
          </a:xfrm>
          <a:prstGeom prst="rect">
            <a:avLst/>
          </a:prstGeom>
          <a:gradFill rotWithShape="1">
            <a:gsLst>
              <a:gs pos="0">
                <a:srgbClr val="FCF6DB"/>
              </a:gs>
              <a:gs pos="100000">
                <a:srgbClr val="FCF3CF"/>
              </a:gs>
            </a:gsLst>
            <a:lin ang="5400000" scaled="0"/>
          </a:gradFill>
          <a:ln w="9525" cap="rnd">
            <a:solidFill>
              <a:srgbClr val="A39D86"/>
            </a:solidFill>
            <a:round/>
          </a:ln>
        </p:spPr>
      </p:sp>
      <p:sp>
        <p:nvSpPr>
          <p:cNvPr id="18" name="!!FibrinaB"/>
          <p:cNvSpPr/>
          <p:nvPr/>
        </p:nvSpPr>
        <p:spPr>
          <a:xfrm>
            <a:off x="451714" y="5469794"/>
            <a:ext cx="422453" cy="652943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" y="513"/>
                </a:moveTo>
                <a:cubicBezTo>
                  <a:pt x="300" y="573"/>
                  <a:pt x="600" y="877"/>
                  <a:pt x="940" y="936"/>
                </a:cubicBezTo>
              </a:path>
              <a:path w="1000" h="1000" fill="none">
                <a:moveTo>
                  <a:pt x="60" y="849"/>
                </a:moveTo>
                <a:cubicBezTo>
                  <a:pt x="300" y="462"/>
                  <a:pt x="600" y="520"/>
                  <a:pt x="940" y="526"/>
                </a:cubicBezTo>
              </a:path>
              <a:path w="1000" h="1000" fill="none">
                <a:moveTo>
                  <a:pt x="60" y="925"/>
                </a:moveTo>
                <a:cubicBezTo>
                  <a:pt x="300" y="194"/>
                  <a:pt x="600" y="189"/>
                  <a:pt x="940" y="651"/>
                </a:cubicBezTo>
              </a:path>
              <a:path w="1000" h="1000" fill="none">
                <a:moveTo>
                  <a:pt x="60" y="873"/>
                </a:moveTo>
                <a:cubicBezTo>
                  <a:pt x="300" y="487"/>
                  <a:pt x="600" y="644"/>
                  <a:pt x="940" y="574"/>
                </a:cubicBezTo>
              </a:path>
              <a:path w="1000" h="1000" fill="none">
                <a:moveTo>
                  <a:pt x="60" y="678"/>
                </a:moveTo>
                <a:cubicBezTo>
                  <a:pt x="300" y="190"/>
                  <a:pt x="600" y="96"/>
                  <a:pt x="940" y="862"/>
                </a:cubicBezTo>
              </a:path>
              <a:path w="1000" h="1000" fill="none">
                <a:moveTo>
                  <a:pt x="60" y="507"/>
                </a:moveTo>
                <a:cubicBezTo>
                  <a:pt x="300" y="145"/>
                  <a:pt x="600" y="92"/>
                  <a:pt x="940" y="360"/>
                </a:cubicBezTo>
              </a:path>
              <a:path w="1000" h="1000" fill="none">
                <a:moveTo>
                  <a:pt x="60" y="601"/>
                </a:moveTo>
                <a:cubicBezTo>
                  <a:pt x="300" y="911"/>
                  <a:pt x="600" y="710"/>
                  <a:pt x="940" y="879"/>
                </a:cubicBezTo>
              </a:path>
              <a:path w="1000" h="1000" fill="none">
                <a:moveTo>
                  <a:pt x="60" y="699"/>
                </a:moveTo>
                <a:cubicBezTo>
                  <a:pt x="300" y="609"/>
                  <a:pt x="600" y="405"/>
                  <a:pt x="940" y="92"/>
                </a:cubicBezTo>
              </a:path>
              <a:path w="1000" h="1000" fill="none">
                <a:moveTo>
                  <a:pt x="60" y="513"/>
                </a:moveTo>
                <a:cubicBezTo>
                  <a:pt x="300" y="756"/>
                  <a:pt x="600" y="630"/>
                  <a:pt x="940" y="719"/>
                </a:cubicBezTo>
              </a:path>
            </a:pathLst>
          </a:custGeom>
          <a:noFill/>
          <a:ln w="19050" cap="rnd">
            <a:solidFill>
              <a:srgbClr val="F9E79F"/>
            </a:solidFill>
            <a:round/>
          </a:ln>
        </p:spPr>
      </p:sp>
      <p:grpSp>
        <p:nvGrpSpPr>
          <p:cNvPr id="19" name="Rótulo plasma"/>
          <p:cNvGrpSpPr/>
          <p:nvPr/>
        </p:nvGrpSpPr>
        <p:grpSpPr>
          <a:xfrm>
            <a:off x="3474720" y="2929664"/>
            <a:ext cx="4617720" cy="914400"/>
            <a:chOff x="3474720" y="2929664"/>
            <a:chExt cx="4617720" cy="914400"/>
          </a:xfrm>
        </p:grpSpPr>
        <p:sp>
          <p:nvSpPr>
            <p:cNvPr id="20" name="Flecha 19_2"/>
            <p:cNvSpPr/>
            <p:nvPr/>
          </p:nvSpPr>
          <p:spPr>
            <a:xfrm>
              <a:off x="3474720" y="3386864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499" h="10" fill="none">
                  <a:moveTo>
                    <a:pt x="0" y="0"/>
                  </a:moveTo>
                  <a:lnTo>
                    <a:pt x="499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1" name="Forma 21"/>
            <p:cNvSpPr/>
            <p:nvPr/>
          </p:nvSpPr>
          <p:spPr>
            <a:xfrm>
              <a:off x="3977640" y="2929664"/>
              <a:ext cx="4114800" cy="914400"/>
            </a:xfrm>
            <a:prstGeom prst="roundRect">
              <a:avLst>
                <a:gd name="adj" fmla="val 9000"/>
              </a:avLst>
            </a:prstGeom>
            <a:solidFill>
              <a:srgbClr val="F7DC6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5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(arriba): todos los componentes líquidos, </a:t>
              </a:r>
              <a:r>
                <a:rPr lang="es-AR" sz="15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incluidos los factores de coagulación</a:t>
              </a:r>
              <a:endParaRPr lang="es-AR" sz="1550" dirty="0">
                <a:latin typeface="Calibri"/>
              </a:endParaRPr>
            </a:p>
          </p:txBody>
        </p:sp>
      </p:grpSp>
      <p:grpSp>
        <p:nvGrpSpPr>
          <p:cNvPr id="22" name="Rótulo buffy"/>
          <p:cNvGrpSpPr/>
          <p:nvPr/>
        </p:nvGrpSpPr>
        <p:grpSpPr>
          <a:xfrm>
            <a:off x="3474720" y="3789932"/>
            <a:ext cx="4617720" cy="914400"/>
            <a:chOff x="3474720" y="3789932"/>
            <a:chExt cx="4617720" cy="914400"/>
          </a:xfrm>
        </p:grpSpPr>
        <p:sp>
          <p:nvSpPr>
            <p:cNvPr id="23" name="Flecha 23_2"/>
            <p:cNvSpPr/>
            <p:nvPr/>
          </p:nvSpPr>
          <p:spPr>
            <a:xfrm>
              <a:off x="3474720" y="4247132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499" h="10" fill="none">
                  <a:moveTo>
                    <a:pt x="0" y="0"/>
                  </a:moveTo>
                  <a:lnTo>
                    <a:pt x="499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4" name="Forma 25"/>
            <p:cNvSpPr/>
            <p:nvPr/>
          </p:nvSpPr>
          <p:spPr>
            <a:xfrm>
              <a:off x="3977640" y="3789932"/>
              <a:ext cx="4114800" cy="914400"/>
            </a:xfrm>
            <a:prstGeom prst="roundRect">
              <a:avLst>
                <a:gd name="adj" fmla="val 9000"/>
              </a:avLst>
            </a:prstGeom>
            <a:solidFill>
              <a:srgbClr val="F2F3F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Buffy coat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(medio): glóbulos blancos y plaquetas</a:t>
              </a:r>
              <a:endParaRPr lang="es-AR" sz="1950" dirty="0">
                <a:latin typeface="Calibri"/>
              </a:endParaRPr>
            </a:p>
          </p:txBody>
        </p:sp>
      </p:grpSp>
      <p:grpSp>
        <p:nvGrpSpPr>
          <p:cNvPr id="25" name="Rótulo GR"/>
          <p:cNvGrpSpPr/>
          <p:nvPr/>
        </p:nvGrpSpPr>
        <p:grpSpPr>
          <a:xfrm>
            <a:off x="3474720" y="4800746"/>
            <a:ext cx="4617720" cy="914400"/>
            <a:chOff x="3474720" y="4800746"/>
            <a:chExt cx="4617720" cy="914400"/>
          </a:xfrm>
        </p:grpSpPr>
        <p:sp>
          <p:nvSpPr>
            <p:cNvPr id="26" name="Flecha 27_2"/>
            <p:cNvSpPr/>
            <p:nvPr/>
          </p:nvSpPr>
          <p:spPr>
            <a:xfrm>
              <a:off x="3474720" y="5257946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499" h="10" fill="none">
                  <a:moveTo>
                    <a:pt x="0" y="0"/>
                  </a:moveTo>
                  <a:lnTo>
                    <a:pt x="499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7" name="Forma 29"/>
            <p:cNvSpPr/>
            <p:nvPr/>
          </p:nvSpPr>
          <p:spPr>
            <a:xfrm>
              <a:off x="3977640" y="4800746"/>
              <a:ext cx="4114800" cy="914400"/>
            </a:xfrm>
            <a:prstGeom prst="roundRect">
              <a:avLst>
                <a:gd name="adj" fmla="val 9000"/>
              </a:avLst>
            </a:prstGeom>
            <a:solidFill>
              <a:srgbClr val="F5B7B1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Glóbulos rojos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(abajo)</a:t>
              </a:r>
              <a:endParaRPr lang="es-AR" sz="1950" dirty="0">
                <a:latin typeface="Calibri"/>
              </a:endParaRPr>
            </a:p>
          </p:txBody>
        </p:sp>
      </p:grpSp>
      <p:grpSp>
        <p:nvGrpSpPr>
          <p:cNvPr id="28" name="Caja etapa 7"/>
          <p:cNvGrpSpPr/>
          <p:nvPr/>
        </p:nvGrpSpPr>
        <p:grpSpPr>
          <a:xfrm>
            <a:off x="8549640" y="1051560"/>
            <a:ext cx="3383280" cy="2468880"/>
            <a:chOff x="8549640" y="1051560"/>
            <a:chExt cx="3383280" cy="2468880"/>
          </a:xfrm>
        </p:grpSpPr>
        <p:sp>
          <p:nvSpPr>
            <p:cNvPr id="29" name="Forma 31"/>
            <p:cNvSpPr/>
            <p:nvPr/>
          </p:nvSpPr>
          <p:spPr>
            <a:xfrm>
              <a:off x="8549640" y="125272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= sangre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anticoagulante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centrifugada.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30" name="Forma 32"/>
            <p:cNvSpPr/>
            <p:nvPr/>
          </p:nvSpPr>
          <p:spPr>
            <a:xfrm>
              <a:off x="8677656" y="1051560"/>
              <a:ext cx="122569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OBTENCIÓN DE PLASMA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TuboA"/>
          <p:cNvGrpSpPr/>
          <p:nvPr/>
        </p:nvGrpSpPr>
        <p:grpSpPr>
          <a:xfrm>
            <a:off x="371246" y="4297680"/>
            <a:ext cx="583387" cy="1920240"/>
            <a:chOff x="371246" y="4297680"/>
            <a:chExt cx="583387" cy="1920240"/>
          </a:xfrm>
        </p:grpSpPr>
        <p:sp>
          <p:nvSpPr>
            <p:cNvPr id="6" name="Vidrio"/>
            <p:cNvSpPr/>
            <p:nvPr/>
          </p:nvSpPr>
          <p:spPr>
            <a:xfrm>
              <a:off x="411480" y="4489704"/>
              <a:ext cx="502920" cy="172821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Tapón"/>
            <p:cNvSpPr/>
            <p:nvPr/>
          </p:nvSpPr>
          <p:spPr>
            <a:xfrm>
              <a:off x="371246" y="4297680"/>
              <a:ext cx="583387" cy="230429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8" name="Brillo"/>
            <p:cNvSpPr/>
            <p:nvPr/>
          </p:nvSpPr>
          <p:spPr>
            <a:xfrm>
              <a:off x="481889" y="4604918"/>
              <a:ext cx="60350" cy="134416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9" name="!!SangreA"/>
          <p:cNvSpPr/>
          <p:nvPr/>
        </p:nvSpPr>
        <p:spPr>
          <a:xfrm>
            <a:off x="436626" y="5502055"/>
            <a:ext cx="452628" cy="67746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10" name="!!BuffyA"/>
          <p:cNvSpPr/>
          <p:nvPr/>
        </p:nvSpPr>
        <p:spPr>
          <a:xfrm>
            <a:off x="436626" y="5421404"/>
            <a:ext cx="452628" cy="80650"/>
          </a:xfrm>
          <a:prstGeom prst="rect">
            <a:avLst/>
          </a:prstGeom>
          <a:gradFill rotWithShape="1">
            <a:gsLst>
              <a:gs pos="0">
                <a:srgbClr val="F5F6F6"/>
              </a:gs>
              <a:gs pos="100000">
                <a:srgbClr val="F2F3F4"/>
              </a:gs>
            </a:gsLst>
            <a:lin ang="5400000" scaled="0"/>
          </a:gradFill>
          <a:ln w="9525" cap="rnd">
            <a:solidFill>
              <a:srgbClr val="9D9D9E"/>
            </a:solidFill>
            <a:round/>
          </a:ln>
        </p:spPr>
      </p:sp>
      <p:sp>
        <p:nvSpPr>
          <p:cNvPr id="11" name="!!PlasmaA"/>
          <p:cNvSpPr/>
          <p:nvPr/>
        </p:nvSpPr>
        <p:spPr>
          <a:xfrm>
            <a:off x="436626" y="4856854"/>
            <a:ext cx="452628" cy="564551"/>
          </a:xfrm>
          <a:prstGeom prst="rect">
            <a:avLst/>
          </a:prstGeom>
          <a:gradFill rotWithShape="1">
            <a:gsLst>
              <a:gs pos="0">
                <a:srgbClr val="F9E493"/>
              </a:gs>
              <a:gs pos="100000">
                <a:srgbClr val="F7DC6F"/>
              </a:gs>
            </a:gsLst>
            <a:lin ang="5400000" scaled="0"/>
          </a:gradFill>
          <a:ln w="9525" cap="rnd">
            <a:solidFill>
              <a:srgbClr val="A08F48"/>
            </a:solidFill>
            <a:round/>
          </a:ln>
        </p:spPr>
      </p:sp>
      <p:grpSp>
        <p:nvGrpSpPr>
          <p:cNvPr id="12" name="!!TuboB"/>
          <p:cNvGrpSpPr/>
          <p:nvPr/>
        </p:nvGrpSpPr>
        <p:grpSpPr>
          <a:xfrm>
            <a:off x="1901952" y="1143000"/>
            <a:ext cx="1591056" cy="5120640"/>
            <a:chOff x="1901952" y="1143000"/>
            <a:chExt cx="1591056" cy="5120640"/>
          </a:xfrm>
        </p:grpSpPr>
        <p:sp>
          <p:nvSpPr>
            <p:cNvPr id="13" name="Vidrio_2"/>
            <p:cNvSpPr/>
            <p:nvPr/>
          </p:nvSpPr>
          <p:spPr>
            <a:xfrm>
              <a:off x="2011680" y="1655064"/>
              <a:ext cx="1371600" cy="46085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4" name="Tapón_2"/>
            <p:cNvSpPr/>
            <p:nvPr/>
          </p:nvSpPr>
          <p:spPr>
            <a:xfrm>
              <a:off x="1901952" y="1143000"/>
              <a:ext cx="1591056" cy="614477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5" name="Brillo_2"/>
            <p:cNvSpPr/>
            <p:nvPr/>
          </p:nvSpPr>
          <p:spPr>
            <a:xfrm>
              <a:off x="2203704" y="1962302"/>
              <a:ext cx="164592" cy="358444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16" name="!!SangreB"/>
          <p:cNvSpPr/>
          <p:nvPr/>
        </p:nvSpPr>
        <p:spPr>
          <a:xfrm>
            <a:off x="2080260" y="4268639"/>
            <a:ext cx="1234440" cy="189258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9C514D"/>
              </a:gs>
              <a:gs pos="55000">
                <a:srgbClr val="7B1712"/>
              </a:gs>
              <a:gs pos="100000">
                <a:srgbClr val="62120E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4F0E0B"/>
            </a:solidFill>
            <a:round/>
          </a:ln>
        </p:spPr>
      </p:sp>
      <p:sp>
        <p:nvSpPr>
          <p:cNvPr id="17" name="!!SueroB"/>
          <p:cNvSpPr/>
          <p:nvPr/>
        </p:nvSpPr>
        <p:spPr>
          <a:xfrm>
            <a:off x="2080260" y="2634130"/>
            <a:ext cx="1234440" cy="1634508"/>
          </a:xfrm>
          <a:prstGeom prst="rect">
            <a:avLst/>
          </a:prstGeom>
          <a:gradFill rotWithShape="1">
            <a:gsLst>
              <a:gs pos="0">
                <a:srgbClr val="FCF6DB"/>
              </a:gs>
              <a:gs pos="100000">
                <a:srgbClr val="FCF3CF"/>
              </a:gs>
            </a:gsLst>
            <a:lin ang="5400000" scaled="0"/>
          </a:gradFill>
          <a:ln w="9525" cap="rnd">
            <a:solidFill>
              <a:srgbClr val="A39D86"/>
            </a:solidFill>
            <a:round/>
          </a:ln>
        </p:spPr>
      </p:sp>
      <p:sp>
        <p:nvSpPr>
          <p:cNvPr id="18" name="!!FibrinaB"/>
          <p:cNvSpPr/>
          <p:nvPr/>
        </p:nvSpPr>
        <p:spPr>
          <a:xfrm>
            <a:off x="2121408" y="4268639"/>
            <a:ext cx="1152144" cy="1741181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" y="513"/>
                </a:moveTo>
                <a:cubicBezTo>
                  <a:pt x="300" y="573"/>
                  <a:pt x="600" y="877"/>
                  <a:pt x="940" y="936"/>
                </a:cubicBezTo>
              </a:path>
              <a:path w="1000" h="1000" fill="none">
                <a:moveTo>
                  <a:pt x="60" y="849"/>
                </a:moveTo>
                <a:cubicBezTo>
                  <a:pt x="300" y="462"/>
                  <a:pt x="600" y="520"/>
                  <a:pt x="940" y="526"/>
                </a:cubicBezTo>
              </a:path>
              <a:path w="1000" h="1000" fill="none">
                <a:moveTo>
                  <a:pt x="60" y="925"/>
                </a:moveTo>
                <a:cubicBezTo>
                  <a:pt x="300" y="194"/>
                  <a:pt x="600" y="189"/>
                  <a:pt x="940" y="651"/>
                </a:cubicBezTo>
              </a:path>
              <a:path w="1000" h="1000" fill="none">
                <a:moveTo>
                  <a:pt x="60" y="873"/>
                </a:moveTo>
                <a:cubicBezTo>
                  <a:pt x="300" y="487"/>
                  <a:pt x="600" y="644"/>
                  <a:pt x="940" y="574"/>
                </a:cubicBezTo>
              </a:path>
              <a:path w="1000" h="1000" fill="none">
                <a:moveTo>
                  <a:pt x="60" y="678"/>
                </a:moveTo>
                <a:cubicBezTo>
                  <a:pt x="300" y="190"/>
                  <a:pt x="600" y="96"/>
                  <a:pt x="940" y="862"/>
                </a:cubicBezTo>
              </a:path>
              <a:path w="1000" h="1000" fill="none">
                <a:moveTo>
                  <a:pt x="60" y="507"/>
                </a:moveTo>
                <a:cubicBezTo>
                  <a:pt x="300" y="145"/>
                  <a:pt x="600" y="92"/>
                  <a:pt x="940" y="360"/>
                </a:cubicBezTo>
              </a:path>
              <a:path w="1000" h="1000" fill="none">
                <a:moveTo>
                  <a:pt x="60" y="601"/>
                </a:moveTo>
                <a:cubicBezTo>
                  <a:pt x="300" y="911"/>
                  <a:pt x="600" y="710"/>
                  <a:pt x="940" y="879"/>
                </a:cubicBezTo>
              </a:path>
              <a:path w="1000" h="1000" fill="none">
                <a:moveTo>
                  <a:pt x="60" y="699"/>
                </a:moveTo>
                <a:cubicBezTo>
                  <a:pt x="300" y="609"/>
                  <a:pt x="600" y="405"/>
                  <a:pt x="940" y="92"/>
                </a:cubicBezTo>
              </a:path>
              <a:path w="1000" h="1000" fill="none">
                <a:moveTo>
                  <a:pt x="60" y="513"/>
                </a:moveTo>
                <a:cubicBezTo>
                  <a:pt x="300" y="756"/>
                  <a:pt x="600" y="630"/>
                  <a:pt x="940" y="719"/>
                </a:cubicBezTo>
              </a:path>
            </a:pathLst>
          </a:custGeom>
          <a:noFill/>
          <a:ln w="19050" cap="rnd">
            <a:solidFill>
              <a:srgbClr val="F9E79F"/>
            </a:solidFill>
            <a:round/>
          </a:ln>
        </p:spPr>
      </p:sp>
      <p:grpSp>
        <p:nvGrpSpPr>
          <p:cNvPr id="19" name="Rótulo suero"/>
          <p:cNvGrpSpPr/>
          <p:nvPr/>
        </p:nvGrpSpPr>
        <p:grpSpPr>
          <a:xfrm>
            <a:off x="3474720" y="2902745"/>
            <a:ext cx="4617720" cy="1097280"/>
            <a:chOff x="3474720" y="2902745"/>
            <a:chExt cx="4617720" cy="1097280"/>
          </a:xfrm>
        </p:grpSpPr>
        <p:sp>
          <p:nvSpPr>
            <p:cNvPr id="20" name="Flecha 19_2"/>
            <p:cNvSpPr/>
            <p:nvPr/>
          </p:nvSpPr>
          <p:spPr>
            <a:xfrm>
              <a:off x="3474720" y="3451385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499" h="10" fill="none">
                  <a:moveTo>
                    <a:pt x="0" y="0"/>
                  </a:moveTo>
                  <a:lnTo>
                    <a:pt x="499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1" name="Forma 21"/>
            <p:cNvSpPr/>
            <p:nvPr/>
          </p:nvSpPr>
          <p:spPr>
            <a:xfrm>
              <a:off x="3977640" y="2902745"/>
              <a:ext cx="4114800" cy="1097280"/>
            </a:xfrm>
            <a:prstGeom prst="roundRect">
              <a:avLst>
                <a:gd name="adj" fmla="val 9000"/>
              </a:avLst>
            </a:prstGeom>
            <a:solidFill>
              <a:srgbClr val="FCF3C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(arriba): parte líquida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factores de coagulación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(fueron utilizados en la coagulación)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22" name="Rótulo coágulo"/>
          <p:cNvGrpSpPr/>
          <p:nvPr/>
        </p:nvGrpSpPr>
        <p:grpSpPr>
          <a:xfrm>
            <a:off x="3474720" y="4666293"/>
            <a:ext cx="4617720" cy="1097280"/>
            <a:chOff x="3474720" y="4666293"/>
            <a:chExt cx="4617720" cy="1097280"/>
          </a:xfrm>
        </p:grpSpPr>
        <p:sp>
          <p:nvSpPr>
            <p:cNvPr id="23" name="Flecha 23_2"/>
            <p:cNvSpPr/>
            <p:nvPr/>
          </p:nvSpPr>
          <p:spPr>
            <a:xfrm>
              <a:off x="3474720" y="5214933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499" h="10" fill="none">
                  <a:moveTo>
                    <a:pt x="0" y="0"/>
                  </a:moveTo>
                  <a:lnTo>
                    <a:pt x="499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4" name="Forma 25"/>
            <p:cNvSpPr/>
            <p:nvPr/>
          </p:nvSpPr>
          <p:spPr>
            <a:xfrm>
              <a:off x="3977640" y="4666293"/>
              <a:ext cx="4114800" cy="1097280"/>
            </a:xfrm>
            <a:prstGeom prst="roundRect">
              <a:avLst>
                <a:gd name="adj" fmla="val 9000"/>
              </a:avLst>
            </a:prstGeom>
            <a:solidFill>
              <a:srgbClr val="F5B7B1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Coágulo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(abajo): glóbulos rojos, blancos, plaquetas y factores de coagulación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atrapados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25" name="Caja etapa 8"/>
          <p:cNvGrpSpPr/>
          <p:nvPr/>
        </p:nvGrpSpPr>
        <p:grpSpPr>
          <a:xfrm>
            <a:off x="8549640" y="1051560"/>
            <a:ext cx="3383280" cy="2468880"/>
            <a:chOff x="8549640" y="1051560"/>
            <a:chExt cx="3383280" cy="2468880"/>
          </a:xfrm>
        </p:grpSpPr>
        <p:sp>
          <p:nvSpPr>
            <p:cNvPr id="26" name="Forma 27"/>
            <p:cNvSpPr/>
            <p:nvPr/>
          </p:nvSpPr>
          <p:spPr>
            <a:xfrm>
              <a:off x="8549640" y="125272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= sangre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anticoagulante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coagulada y centrifugada.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7" name="Forma 28"/>
            <p:cNvSpPr/>
            <p:nvPr/>
          </p:nvSpPr>
          <p:spPr>
            <a:xfrm>
              <a:off x="8677656" y="1051560"/>
              <a:ext cx="122569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OBTENCIÓN DE SUERO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TuboA"/>
          <p:cNvGrpSpPr/>
          <p:nvPr/>
        </p:nvGrpSpPr>
        <p:grpSpPr>
          <a:xfrm>
            <a:off x="1115568" y="1463040"/>
            <a:ext cx="1060704" cy="3657600"/>
            <a:chOff x="1115568" y="1463040"/>
            <a:chExt cx="1060704" cy="3657600"/>
          </a:xfrm>
        </p:grpSpPr>
        <p:sp>
          <p:nvSpPr>
            <p:cNvPr id="6" name="Vidrio"/>
            <p:cNvSpPr/>
            <p:nvPr/>
          </p:nvSpPr>
          <p:spPr>
            <a:xfrm>
              <a:off x="1188720" y="1828800"/>
              <a:ext cx="914400" cy="3291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Tapón"/>
            <p:cNvSpPr/>
            <p:nvPr/>
          </p:nvSpPr>
          <p:spPr>
            <a:xfrm>
              <a:off x="1115568" y="1463040"/>
              <a:ext cx="1060704" cy="438912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632F7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</p:sp>
        <p:sp>
          <p:nvSpPr>
            <p:cNvPr id="8" name="Brillo"/>
            <p:cNvSpPr/>
            <p:nvPr/>
          </p:nvSpPr>
          <p:spPr>
            <a:xfrm>
              <a:off x="1316736" y="2048256"/>
              <a:ext cx="109728" cy="25603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9" name="!!SangreA"/>
          <p:cNvSpPr/>
          <p:nvPr/>
        </p:nvSpPr>
        <p:spPr>
          <a:xfrm>
            <a:off x="1234440" y="3757087"/>
            <a:ext cx="822960" cy="129040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10" name="!!BuffyA"/>
          <p:cNvSpPr/>
          <p:nvPr/>
        </p:nvSpPr>
        <p:spPr>
          <a:xfrm>
            <a:off x="1234440" y="3603468"/>
            <a:ext cx="822960" cy="153619"/>
          </a:xfrm>
          <a:prstGeom prst="rect">
            <a:avLst/>
          </a:prstGeom>
          <a:gradFill rotWithShape="1">
            <a:gsLst>
              <a:gs pos="0">
                <a:srgbClr val="F5F6F6"/>
              </a:gs>
              <a:gs pos="100000">
                <a:srgbClr val="F2F3F4"/>
              </a:gs>
            </a:gsLst>
            <a:lin ang="5400000" scaled="0"/>
          </a:gradFill>
          <a:ln w="9525" cap="rnd">
            <a:solidFill>
              <a:srgbClr val="9D9D9E"/>
            </a:solidFill>
            <a:round/>
          </a:ln>
        </p:spPr>
      </p:sp>
      <p:sp>
        <p:nvSpPr>
          <p:cNvPr id="11" name="!!PlasmaA"/>
          <p:cNvSpPr/>
          <p:nvPr/>
        </p:nvSpPr>
        <p:spPr>
          <a:xfrm>
            <a:off x="1234440" y="2528133"/>
            <a:ext cx="822960" cy="1075334"/>
          </a:xfrm>
          <a:prstGeom prst="rect">
            <a:avLst/>
          </a:prstGeom>
          <a:gradFill rotWithShape="1">
            <a:gsLst>
              <a:gs pos="0">
                <a:srgbClr val="F9E493"/>
              </a:gs>
              <a:gs pos="100000">
                <a:srgbClr val="F7DC6F"/>
              </a:gs>
            </a:gsLst>
            <a:lin ang="5400000" scaled="0"/>
          </a:gradFill>
          <a:ln w="9525" cap="rnd">
            <a:solidFill>
              <a:srgbClr val="A08F48"/>
            </a:solidFill>
            <a:round/>
          </a:ln>
        </p:spPr>
      </p:sp>
      <p:grpSp>
        <p:nvGrpSpPr>
          <p:cNvPr id="12" name="!!TuboB"/>
          <p:cNvGrpSpPr/>
          <p:nvPr/>
        </p:nvGrpSpPr>
        <p:grpSpPr>
          <a:xfrm>
            <a:off x="4773168" y="1463040"/>
            <a:ext cx="1060704" cy="3657600"/>
            <a:chOff x="4773168" y="1463040"/>
            <a:chExt cx="1060704" cy="3657600"/>
          </a:xfrm>
        </p:grpSpPr>
        <p:sp>
          <p:nvSpPr>
            <p:cNvPr id="13" name="Vidrio_2"/>
            <p:cNvSpPr/>
            <p:nvPr/>
          </p:nvSpPr>
          <p:spPr>
            <a:xfrm>
              <a:off x="4846320" y="1828800"/>
              <a:ext cx="914400" cy="3291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4" name="Tapón_2"/>
            <p:cNvSpPr/>
            <p:nvPr/>
          </p:nvSpPr>
          <p:spPr>
            <a:xfrm>
              <a:off x="4773168" y="1463040"/>
              <a:ext cx="1060704" cy="438912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5" name="Brillo_2"/>
            <p:cNvSpPr/>
            <p:nvPr/>
          </p:nvSpPr>
          <p:spPr>
            <a:xfrm>
              <a:off x="4974336" y="2048256"/>
              <a:ext cx="109728" cy="25603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16" name="!!SangreB"/>
          <p:cNvSpPr/>
          <p:nvPr/>
        </p:nvSpPr>
        <p:spPr>
          <a:xfrm>
            <a:off x="4892040" y="3695639"/>
            <a:ext cx="822960" cy="135184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9C514D"/>
              </a:gs>
              <a:gs pos="55000">
                <a:srgbClr val="7B1712"/>
              </a:gs>
              <a:gs pos="100000">
                <a:srgbClr val="62120E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4F0E0B"/>
            </a:solidFill>
            <a:round/>
          </a:ln>
        </p:spPr>
      </p:sp>
      <p:sp>
        <p:nvSpPr>
          <p:cNvPr id="17" name="!!SueroB"/>
          <p:cNvSpPr/>
          <p:nvPr/>
        </p:nvSpPr>
        <p:spPr>
          <a:xfrm>
            <a:off x="4892040" y="2528133"/>
            <a:ext cx="822960" cy="1167506"/>
          </a:xfrm>
          <a:prstGeom prst="rect">
            <a:avLst/>
          </a:prstGeom>
          <a:gradFill rotWithShape="1">
            <a:gsLst>
              <a:gs pos="0">
                <a:srgbClr val="FCF6DB"/>
              </a:gs>
              <a:gs pos="100000">
                <a:srgbClr val="FCF3CF"/>
              </a:gs>
            </a:gsLst>
            <a:lin ang="5400000" scaled="0"/>
          </a:gradFill>
          <a:ln w="9525" cap="rnd">
            <a:solidFill>
              <a:srgbClr val="A39D86"/>
            </a:solidFill>
            <a:round/>
          </a:ln>
        </p:spPr>
      </p:sp>
      <p:sp>
        <p:nvSpPr>
          <p:cNvPr id="18" name="!!FibrinaB"/>
          <p:cNvSpPr/>
          <p:nvPr/>
        </p:nvSpPr>
        <p:spPr>
          <a:xfrm>
            <a:off x="4919472" y="3695639"/>
            <a:ext cx="768096" cy="1243701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60" y="513"/>
                </a:moveTo>
                <a:cubicBezTo>
                  <a:pt x="300" y="573"/>
                  <a:pt x="600" y="877"/>
                  <a:pt x="940" y="936"/>
                </a:cubicBezTo>
              </a:path>
              <a:path w="1000" h="1000" fill="none">
                <a:moveTo>
                  <a:pt x="60" y="849"/>
                </a:moveTo>
                <a:cubicBezTo>
                  <a:pt x="300" y="462"/>
                  <a:pt x="600" y="520"/>
                  <a:pt x="940" y="526"/>
                </a:cubicBezTo>
              </a:path>
              <a:path w="1000" h="1000" fill="none">
                <a:moveTo>
                  <a:pt x="60" y="925"/>
                </a:moveTo>
                <a:cubicBezTo>
                  <a:pt x="300" y="194"/>
                  <a:pt x="600" y="189"/>
                  <a:pt x="940" y="651"/>
                </a:cubicBezTo>
              </a:path>
              <a:path w="1000" h="1000" fill="none">
                <a:moveTo>
                  <a:pt x="60" y="873"/>
                </a:moveTo>
                <a:cubicBezTo>
                  <a:pt x="300" y="487"/>
                  <a:pt x="600" y="644"/>
                  <a:pt x="940" y="574"/>
                </a:cubicBezTo>
              </a:path>
              <a:path w="1000" h="1000" fill="none">
                <a:moveTo>
                  <a:pt x="60" y="678"/>
                </a:moveTo>
                <a:cubicBezTo>
                  <a:pt x="300" y="190"/>
                  <a:pt x="600" y="96"/>
                  <a:pt x="940" y="862"/>
                </a:cubicBezTo>
              </a:path>
              <a:path w="1000" h="1000" fill="none">
                <a:moveTo>
                  <a:pt x="60" y="507"/>
                </a:moveTo>
                <a:cubicBezTo>
                  <a:pt x="300" y="145"/>
                  <a:pt x="600" y="92"/>
                  <a:pt x="940" y="360"/>
                </a:cubicBezTo>
              </a:path>
              <a:path w="1000" h="1000" fill="none">
                <a:moveTo>
                  <a:pt x="60" y="601"/>
                </a:moveTo>
                <a:cubicBezTo>
                  <a:pt x="300" y="911"/>
                  <a:pt x="600" y="710"/>
                  <a:pt x="940" y="879"/>
                </a:cubicBezTo>
              </a:path>
              <a:path w="1000" h="1000" fill="none">
                <a:moveTo>
                  <a:pt x="60" y="699"/>
                </a:moveTo>
                <a:cubicBezTo>
                  <a:pt x="300" y="609"/>
                  <a:pt x="600" y="405"/>
                  <a:pt x="940" y="92"/>
                </a:cubicBezTo>
              </a:path>
              <a:path w="1000" h="1000" fill="none">
                <a:moveTo>
                  <a:pt x="60" y="513"/>
                </a:moveTo>
                <a:cubicBezTo>
                  <a:pt x="300" y="756"/>
                  <a:pt x="600" y="630"/>
                  <a:pt x="940" y="719"/>
                </a:cubicBezTo>
              </a:path>
            </a:pathLst>
          </a:custGeom>
          <a:noFill/>
          <a:ln w="19050" cap="rnd">
            <a:solidFill>
              <a:srgbClr val="F9E79F"/>
            </a:solidFill>
            <a:round/>
          </a:ln>
        </p:spPr>
      </p:sp>
      <p:sp>
        <p:nvSpPr>
          <p:cNvPr id="19" name="Rótulo plasma 9"/>
          <p:cNvSpPr/>
          <p:nvPr/>
        </p:nvSpPr>
        <p:spPr>
          <a:xfrm>
            <a:off x="777240" y="5257800"/>
            <a:ext cx="1737360" cy="335280"/>
          </a:xfrm>
          <a:prstGeom prst="rect">
            <a:avLst/>
          </a:prstGeom>
          <a:solidFill>
            <a:srgbClr val="8E44AD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PLASMA</a:t>
            </a:r>
            <a:endParaRPr lang="es-AR" sz="1600" dirty="0">
              <a:latin typeface="Calibri"/>
            </a:endParaRPr>
          </a:p>
        </p:txBody>
      </p:sp>
      <p:sp>
        <p:nvSpPr>
          <p:cNvPr id="20" name="Rótulo suero 9"/>
          <p:cNvSpPr/>
          <p:nvPr/>
        </p:nvSpPr>
        <p:spPr>
          <a:xfrm>
            <a:off x="4434840" y="5257800"/>
            <a:ext cx="1737360" cy="335280"/>
          </a:xfrm>
          <a:prstGeom prst="rect">
            <a:avLst/>
          </a:prstGeom>
          <a:solidFill>
            <a:srgbClr val="C0392B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SUERO</a:t>
            </a:r>
            <a:endParaRPr lang="es-AR" sz="1600" dirty="0">
              <a:latin typeface="Calibri"/>
            </a:endParaRPr>
          </a:p>
        </p:txBody>
      </p:sp>
      <p:grpSp>
        <p:nvGrpSpPr>
          <p:cNvPr id="21" name="Contenido plasma"/>
          <p:cNvGrpSpPr/>
          <p:nvPr/>
        </p:nvGrpSpPr>
        <p:grpSpPr>
          <a:xfrm>
            <a:off x="2240280" y="1828800"/>
            <a:ext cx="2286000" cy="912495"/>
            <a:chOff x="2240280" y="1828800"/>
            <a:chExt cx="2286000" cy="912495"/>
          </a:xfrm>
        </p:grpSpPr>
        <p:sp>
          <p:nvSpPr>
            <p:cNvPr id="22" name="Plasma comp 0"/>
            <p:cNvSpPr/>
            <p:nvPr/>
          </p:nvSpPr>
          <p:spPr>
            <a:xfrm>
              <a:off x="2240280" y="1828800"/>
              <a:ext cx="2286000" cy="272415"/>
            </a:xfrm>
            <a:prstGeom prst="rect">
              <a:avLst/>
            </a:prstGeom>
            <a:solidFill>
              <a:srgbClr val="EAF5E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Fibrinógeno: presente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3" name="Plasma comp 1"/>
            <p:cNvSpPr/>
            <p:nvPr/>
          </p:nvSpPr>
          <p:spPr>
            <a:xfrm>
              <a:off x="2240280" y="2468880"/>
              <a:ext cx="2286000" cy="272415"/>
            </a:xfrm>
            <a:prstGeom prst="rect">
              <a:avLst/>
            </a:prstGeom>
            <a:solidFill>
              <a:srgbClr val="EAF5E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Factores: presentes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4" name="Contenido suero"/>
          <p:cNvGrpSpPr/>
          <p:nvPr/>
        </p:nvGrpSpPr>
        <p:grpSpPr>
          <a:xfrm>
            <a:off x="5897880" y="1828800"/>
            <a:ext cx="2286000" cy="912495"/>
            <a:chOff x="5897880" y="1828800"/>
            <a:chExt cx="2286000" cy="912495"/>
          </a:xfrm>
        </p:grpSpPr>
        <p:sp>
          <p:nvSpPr>
            <p:cNvPr id="25" name="Suero comp 0"/>
            <p:cNvSpPr/>
            <p:nvPr/>
          </p:nvSpPr>
          <p:spPr>
            <a:xfrm>
              <a:off x="5897880" y="1828800"/>
              <a:ext cx="2286000" cy="272415"/>
            </a:xfrm>
            <a:prstGeom prst="rect">
              <a:avLst/>
            </a:prstGeom>
            <a:solidFill>
              <a:srgbClr val="FDE4E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Fibrinógeno: ausente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6" name="Suero comp 1"/>
            <p:cNvSpPr/>
            <p:nvPr/>
          </p:nvSpPr>
          <p:spPr>
            <a:xfrm>
              <a:off x="5897880" y="2468880"/>
              <a:ext cx="2286000" cy="272415"/>
            </a:xfrm>
            <a:prstGeom prst="rect">
              <a:avLst/>
            </a:prstGeom>
            <a:solidFill>
              <a:srgbClr val="FDE4E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Factores: ausentes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7" name="Caja etapa 9"/>
          <p:cNvGrpSpPr/>
          <p:nvPr/>
        </p:nvGrpSpPr>
        <p:grpSpPr>
          <a:xfrm>
            <a:off x="8549640" y="1051560"/>
            <a:ext cx="3383280" cy="3840480"/>
            <a:chOff x="8549640" y="1051560"/>
            <a:chExt cx="3383280" cy="3840480"/>
          </a:xfrm>
        </p:grpSpPr>
        <p:sp>
          <p:nvSpPr>
            <p:cNvPr id="28" name="Forma 27"/>
            <p:cNvSpPr/>
            <p:nvPr/>
          </p:nvSpPr>
          <p:spPr>
            <a:xfrm>
              <a:off x="8549640" y="1252728"/>
              <a:ext cx="3383280" cy="36393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diferencia esencial: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 conserva el fibrinógeno y los factores de coagulación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 no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porque se consumieron al formarse el coágulo.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8677656" y="1051560"/>
              <a:ext cx="176099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DIFERENCIA CLAVE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86384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SUERO Y PLASMA: COMPARACIÓN DE COMPONENTES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5" name="Tabla suero plasma fila 0"/>
          <p:cNvGrpSpPr/>
          <p:nvPr/>
        </p:nvGrpSpPr>
        <p:grpSpPr>
          <a:xfrm>
            <a:off x="411480" y="1188720"/>
            <a:ext cx="7863840" cy="731520"/>
            <a:chOff x="411480" y="1188720"/>
            <a:chExt cx="7863840" cy="731520"/>
          </a:xfrm>
        </p:grpSpPr>
        <p:sp>
          <p:nvSpPr>
            <p:cNvPr id="6" name="Forma 5"/>
            <p:cNvSpPr/>
            <p:nvPr/>
          </p:nvSpPr>
          <p:spPr>
            <a:xfrm>
              <a:off x="411480" y="1188720"/>
              <a:ext cx="2651760" cy="7315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Característica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063240" y="1188720"/>
              <a:ext cx="2606040" cy="7315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5669280" y="1188720"/>
              <a:ext cx="2606040" cy="7315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9" name="Tabla suero plasma fila 1"/>
          <p:cNvGrpSpPr/>
          <p:nvPr/>
        </p:nvGrpSpPr>
        <p:grpSpPr>
          <a:xfrm>
            <a:off x="411480" y="1920240"/>
            <a:ext cx="7863840" cy="731520"/>
            <a:chOff x="411480" y="1920240"/>
            <a:chExt cx="7863840" cy="731520"/>
          </a:xfrm>
        </p:grpSpPr>
        <p:sp>
          <p:nvSpPr>
            <p:cNvPr id="10" name="Forma 9"/>
            <p:cNvSpPr/>
            <p:nvPr/>
          </p:nvSpPr>
          <p:spPr>
            <a:xfrm>
              <a:off x="411480" y="1920240"/>
              <a:ext cx="2651760" cy="7315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Factores de coagulación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3063240" y="1920240"/>
              <a:ext cx="2606040" cy="73152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Ausentes (ya coaguló)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5669280" y="1920240"/>
              <a:ext cx="2606040" cy="731520"/>
            </a:xfrm>
            <a:prstGeom prst="rect">
              <a:avLst/>
            </a:prstGeom>
            <a:solidFill>
              <a:srgbClr val="EDE7F6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Presentes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3" name="Tabla suero plasma fila 2"/>
          <p:cNvGrpSpPr/>
          <p:nvPr/>
        </p:nvGrpSpPr>
        <p:grpSpPr>
          <a:xfrm>
            <a:off x="411480" y="2651760"/>
            <a:ext cx="7863840" cy="731520"/>
            <a:chOff x="411480" y="2651760"/>
            <a:chExt cx="7863840" cy="731520"/>
          </a:xfrm>
        </p:grpSpPr>
        <p:sp>
          <p:nvSpPr>
            <p:cNvPr id="14" name="Forma 13"/>
            <p:cNvSpPr/>
            <p:nvPr/>
          </p:nvSpPr>
          <p:spPr>
            <a:xfrm>
              <a:off x="411480" y="2651760"/>
              <a:ext cx="2651760" cy="7315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Fibrinógeno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3063240" y="2651760"/>
              <a:ext cx="2606040" cy="73152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Ausente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5669280" y="2651760"/>
              <a:ext cx="2606040" cy="731520"/>
            </a:xfrm>
            <a:prstGeom prst="rect">
              <a:avLst/>
            </a:prstGeom>
            <a:solidFill>
              <a:srgbClr val="EDE7F6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Presente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7" name="Tabla suero plasma fila 3"/>
          <p:cNvGrpSpPr/>
          <p:nvPr/>
        </p:nvGrpSpPr>
        <p:grpSpPr>
          <a:xfrm>
            <a:off x="411480" y="3383280"/>
            <a:ext cx="7863840" cy="731520"/>
            <a:chOff x="411480" y="3383280"/>
            <a:chExt cx="7863840" cy="731520"/>
          </a:xfrm>
        </p:grpSpPr>
        <p:sp>
          <p:nvSpPr>
            <p:cNvPr id="18" name="Forma 17"/>
            <p:cNvSpPr/>
            <p:nvPr/>
          </p:nvSpPr>
          <p:spPr>
            <a:xfrm>
              <a:off x="411480" y="3383280"/>
              <a:ext cx="2651760" cy="7315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Obtención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3063240" y="3383280"/>
              <a:ext cx="2606040" cy="73152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anticoagulante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5669280" y="3383280"/>
              <a:ext cx="2606040" cy="731520"/>
            </a:xfrm>
            <a:prstGeom prst="rect">
              <a:avLst/>
            </a:prstGeom>
            <a:solidFill>
              <a:srgbClr val="EDE7F6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anticoagulante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21" name="Tabla suero plasma fila 4"/>
          <p:cNvGrpSpPr/>
          <p:nvPr/>
        </p:nvGrpSpPr>
        <p:grpSpPr>
          <a:xfrm>
            <a:off x="411480" y="4114800"/>
            <a:ext cx="7863840" cy="731520"/>
            <a:chOff x="411480" y="4114800"/>
            <a:chExt cx="7863840" cy="731520"/>
          </a:xfrm>
        </p:grpSpPr>
        <p:sp>
          <p:nvSpPr>
            <p:cNvPr id="22" name="Forma 21"/>
            <p:cNvSpPr/>
            <p:nvPr/>
          </p:nvSpPr>
          <p:spPr>
            <a:xfrm>
              <a:off x="411480" y="4114800"/>
              <a:ext cx="2651760" cy="7315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Cantidad obtenida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3063240" y="4114800"/>
              <a:ext cx="2606040" cy="73152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Menor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669280" y="4114800"/>
              <a:ext cx="2606040" cy="731520"/>
            </a:xfrm>
            <a:prstGeom prst="rect">
              <a:avLst/>
            </a:prstGeom>
            <a:solidFill>
              <a:srgbClr val="EDE7F6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25" name="Tabla suero plasma fila 5"/>
          <p:cNvGrpSpPr/>
          <p:nvPr/>
        </p:nvGrpSpPr>
        <p:grpSpPr>
          <a:xfrm>
            <a:off x="411480" y="4846320"/>
            <a:ext cx="7863840" cy="731520"/>
            <a:chOff x="411480" y="4846320"/>
            <a:chExt cx="7863840" cy="731520"/>
          </a:xfrm>
        </p:grpSpPr>
        <p:sp>
          <p:nvSpPr>
            <p:cNvPr id="26" name="Forma 25"/>
            <p:cNvSpPr/>
            <p:nvPr/>
          </p:nvSpPr>
          <p:spPr>
            <a:xfrm>
              <a:off x="411480" y="4846320"/>
              <a:ext cx="2651760" cy="7315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Pureza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3063240" y="4846320"/>
              <a:ext cx="2606040" cy="73152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puro (sin alteraciones artificiales)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5669280" y="4846320"/>
              <a:ext cx="2606040" cy="731520"/>
            </a:xfrm>
            <a:prstGeom prst="rect">
              <a:avLst/>
            </a:prstGeom>
            <a:solidFill>
              <a:srgbClr val="EDE7F6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Alterado por el anticoagulante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29" name="Tubo plasma (tabla)"/>
          <p:cNvGrpSpPr/>
          <p:nvPr/>
        </p:nvGrpSpPr>
        <p:grpSpPr>
          <a:xfrm>
            <a:off x="8686800" y="1188720"/>
            <a:ext cx="1143000" cy="3493008"/>
            <a:chOff x="8686800" y="1188720"/>
            <a:chExt cx="1143000" cy="3493008"/>
          </a:xfrm>
        </p:grpSpPr>
        <p:grpSp>
          <p:nvGrpSpPr>
            <p:cNvPr id="30" name="Tubo plasma tp"/>
            <p:cNvGrpSpPr/>
            <p:nvPr/>
          </p:nvGrpSpPr>
          <p:grpSpPr>
            <a:xfrm>
              <a:off x="8807501" y="1188720"/>
              <a:ext cx="901598" cy="3108960"/>
              <a:chOff x="8807501" y="1188720"/>
              <a:chExt cx="901598" cy="3108960"/>
            </a:xfrm>
          </p:grpSpPr>
          <p:sp>
            <p:nvSpPr>
              <p:cNvPr id="31" name="Vidrio"/>
              <p:cNvSpPr/>
              <p:nvPr/>
            </p:nvSpPr>
            <p:spPr>
              <a:xfrm>
                <a:off x="8869680" y="1499616"/>
                <a:ext cx="777240" cy="279806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2" name="Tapón"/>
              <p:cNvSpPr/>
              <p:nvPr/>
            </p:nvSpPr>
            <p:spPr>
              <a:xfrm>
                <a:off x="8807501" y="1188720"/>
                <a:ext cx="901598" cy="373075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33" name="Brillo"/>
              <p:cNvSpPr/>
              <p:nvPr/>
            </p:nvSpPr>
            <p:spPr>
              <a:xfrm>
                <a:off x="8978494" y="1686154"/>
                <a:ext cx="93269" cy="217627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4" name="Rojos tp"/>
            <p:cNvSpPr/>
            <p:nvPr/>
          </p:nvSpPr>
          <p:spPr>
            <a:xfrm>
              <a:off x="8908542" y="3138660"/>
              <a:ext cx="699516" cy="109684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35" name="Buffy tp"/>
            <p:cNvSpPr/>
            <p:nvPr/>
          </p:nvSpPr>
          <p:spPr>
            <a:xfrm>
              <a:off x="8908542" y="3008083"/>
              <a:ext cx="699516" cy="130576"/>
            </a:xfrm>
            <a:prstGeom prst="rect">
              <a:avLst/>
            </a:prstGeom>
            <a:gradFill rotWithShape="1">
              <a:gsLst>
                <a:gs pos="0">
                  <a:srgbClr val="F5F6F6"/>
                </a:gs>
                <a:gs pos="100000">
                  <a:srgbClr val="F2F3F4"/>
                </a:gs>
              </a:gsLst>
              <a:lin ang="5400000" scaled="0"/>
            </a:gradFill>
            <a:ln w="9525" cap="rnd">
              <a:solidFill>
                <a:srgbClr val="9D9D9E"/>
              </a:solidFill>
              <a:round/>
            </a:ln>
          </p:spPr>
        </p:sp>
        <p:sp>
          <p:nvSpPr>
            <p:cNvPr id="36" name="Plasma tp"/>
            <p:cNvSpPr/>
            <p:nvPr/>
          </p:nvSpPr>
          <p:spPr>
            <a:xfrm>
              <a:off x="8908542" y="2094049"/>
              <a:ext cx="699516" cy="914034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sp>
          <p:nvSpPr>
            <p:cNvPr id="37" name="Rótulo Tubo plasma tp"/>
            <p:cNvSpPr txBox="1"/>
            <p:nvPr/>
          </p:nvSpPr>
          <p:spPr>
            <a:xfrm>
              <a:off x="8686800" y="4352544"/>
              <a:ext cx="11430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38" name="Tubo suero (tabla)"/>
          <p:cNvGrpSpPr/>
          <p:nvPr/>
        </p:nvGrpSpPr>
        <p:grpSpPr>
          <a:xfrm>
            <a:off x="10424160" y="1188720"/>
            <a:ext cx="1143000" cy="3493008"/>
            <a:chOff x="10424160" y="1188720"/>
            <a:chExt cx="1143000" cy="3493008"/>
          </a:xfrm>
        </p:grpSpPr>
        <p:grpSp>
          <p:nvGrpSpPr>
            <p:cNvPr id="39" name="Tubo suero tp"/>
            <p:cNvGrpSpPr/>
            <p:nvPr/>
          </p:nvGrpSpPr>
          <p:grpSpPr>
            <a:xfrm>
              <a:off x="10544861" y="1188720"/>
              <a:ext cx="901598" cy="3108960"/>
              <a:chOff x="10544861" y="1188720"/>
              <a:chExt cx="901598" cy="3108960"/>
            </a:xfrm>
          </p:grpSpPr>
          <p:sp>
            <p:nvSpPr>
              <p:cNvPr id="40" name="Vidrio_2"/>
              <p:cNvSpPr/>
              <p:nvPr/>
            </p:nvSpPr>
            <p:spPr>
              <a:xfrm>
                <a:off x="10607040" y="1499616"/>
                <a:ext cx="777240" cy="279806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1" name="Tapón_2"/>
              <p:cNvSpPr/>
              <p:nvPr/>
            </p:nvSpPr>
            <p:spPr>
              <a:xfrm>
                <a:off x="10544861" y="1188720"/>
                <a:ext cx="901598" cy="373075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42" name="Brillo_2"/>
              <p:cNvSpPr/>
              <p:nvPr/>
            </p:nvSpPr>
            <p:spPr>
              <a:xfrm>
                <a:off x="10715854" y="1686154"/>
                <a:ext cx="93269" cy="217627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43" name="Coágulo tp"/>
            <p:cNvSpPr/>
            <p:nvPr/>
          </p:nvSpPr>
          <p:spPr>
            <a:xfrm>
              <a:off x="10645902" y="3086429"/>
              <a:ext cx="699516" cy="114907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C514D"/>
                </a:gs>
                <a:gs pos="55000">
                  <a:srgbClr val="7B1712"/>
                </a:gs>
                <a:gs pos="100000">
                  <a:srgbClr val="62120E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4F0E0B"/>
              </a:solidFill>
              <a:round/>
            </a:ln>
          </p:spPr>
        </p:sp>
        <p:sp>
          <p:nvSpPr>
            <p:cNvPr id="44" name="Suero tp"/>
            <p:cNvSpPr/>
            <p:nvPr/>
          </p:nvSpPr>
          <p:spPr>
            <a:xfrm>
              <a:off x="10645902" y="2094049"/>
              <a:ext cx="699516" cy="992380"/>
            </a:xfrm>
            <a:prstGeom prst="rect">
              <a:avLst/>
            </a:prstGeom>
            <a:gradFill rotWithShape="1">
              <a:gsLst>
                <a:gs pos="0">
                  <a:srgbClr val="FCF6DB"/>
                </a:gs>
                <a:gs pos="100000">
                  <a:srgbClr val="FCF3CF"/>
                </a:gs>
              </a:gsLst>
              <a:lin ang="5400000" scaled="0"/>
            </a:gradFill>
            <a:ln w="9525" cap="rnd">
              <a:solidFill>
                <a:srgbClr val="A39D86"/>
              </a:solidFill>
              <a:round/>
            </a:ln>
          </p:spPr>
        </p:sp>
        <p:sp>
          <p:nvSpPr>
            <p:cNvPr id="45" name="Rótulo Tubo suero tp"/>
            <p:cNvSpPr txBox="1"/>
            <p:nvPr/>
          </p:nvSpPr>
          <p:spPr>
            <a:xfrm>
              <a:off x="10424160" y="4352544"/>
              <a:ext cx="11430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46" name="Lectura tabla"/>
          <p:cNvSpPr/>
          <p:nvPr/>
        </p:nvSpPr>
        <p:spPr>
          <a:xfrm>
            <a:off x="8549640" y="484632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Leé la tabla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 arriba hacia abajo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cada diferencia deriva de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haber coagulado o no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SUERO Y PLASMA: TABLA COMPARATIVA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6" name="Usos suero"/>
          <p:cNvGrpSpPr/>
          <p:nvPr/>
        </p:nvGrpSpPr>
        <p:grpSpPr>
          <a:xfrm>
            <a:off x="411480" y="1097280"/>
            <a:ext cx="5486400" cy="2377440"/>
            <a:chOff x="411480" y="1097280"/>
            <a:chExt cx="5486400" cy="2377440"/>
          </a:xfrm>
        </p:grpSpPr>
        <p:sp>
          <p:nvSpPr>
            <p:cNvPr id="7" name="Forma 6"/>
            <p:cNvSpPr/>
            <p:nvPr/>
          </p:nvSpPr>
          <p:spPr>
            <a:xfrm>
              <a:off x="411480" y="1298448"/>
              <a:ext cx="5486400" cy="217627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90500" indent="-19050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Hormonas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los anticoagulantes interfieren con la medición hormonal.</a:t>
              </a:r>
              <a:endParaRPr lang="es-AR" sz="2000" dirty="0">
                <a:latin typeface="Calibri"/>
              </a:endParaRPr>
            </a:p>
            <a:p>
              <a:pPr algn="l" marL="190500" indent="-19050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Pruebas serológicas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(antígenos y anticuerpos): el anticoagulante altera su morfología y las técnicas de detección.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539496" y="1097280"/>
              <a:ext cx="2066178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SUERO (OBLIGATORIO)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9" name="Usos plasma"/>
          <p:cNvGrpSpPr/>
          <p:nvPr/>
        </p:nvGrpSpPr>
        <p:grpSpPr>
          <a:xfrm>
            <a:off x="6263640" y="1097280"/>
            <a:ext cx="5486400" cy="2377440"/>
            <a:chOff x="6263640" y="1097280"/>
            <a:chExt cx="5486400" cy="2377440"/>
          </a:xfrm>
        </p:grpSpPr>
        <p:sp>
          <p:nvSpPr>
            <p:cNvPr id="10" name="Forma 9"/>
            <p:cNvSpPr/>
            <p:nvPr/>
          </p:nvSpPr>
          <p:spPr>
            <a:xfrm>
              <a:off x="6263640" y="1298448"/>
              <a:ext cx="5486400" cy="2176272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85737" indent="-1857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Coagulación y fibrinógeno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requieren factores intactos.</a:t>
              </a:r>
              <a:endParaRPr lang="es-AR" sz="1950" dirty="0">
                <a:latin typeface="Calibri"/>
              </a:endParaRPr>
            </a:p>
            <a:p>
              <a:pPr algn="l" marL="185737" indent="-1857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Hematología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(recuento de GR, GB y plaquetas).</a:t>
              </a:r>
              <a:endParaRPr lang="es-AR" sz="1950" dirty="0">
                <a:latin typeface="Calibri"/>
              </a:endParaRPr>
            </a:p>
            <a:p>
              <a:pPr algn="l" marL="185737" indent="-1857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mayoría de los analitos que no exigen suero.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6391656" y="1097280"/>
              <a:ext cx="966853" cy="384048"/>
            </a:xfrm>
            <a:prstGeom prst="rect">
              <a:avLst/>
            </a:prstGeom>
            <a:solidFill>
              <a:srgbClr val="8E44AD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PLASMA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2" name="Heparina sódica"/>
          <p:cNvGrpSpPr/>
          <p:nvPr/>
        </p:nvGrpSpPr>
        <p:grpSpPr>
          <a:xfrm>
            <a:off x="599846" y="3794760"/>
            <a:ext cx="5298034" cy="2606040"/>
            <a:chOff x="599846" y="3794760"/>
            <a:chExt cx="5298034" cy="2606040"/>
          </a:xfrm>
        </p:grpSpPr>
        <p:grpSp>
          <p:nvGrpSpPr>
            <p:cNvPr id="13" name="Tubo heparina"/>
            <p:cNvGrpSpPr/>
            <p:nvPr/>
          </p:nvGrpSpPr>
          <p:grpSpPr>
            <a:xfrm>
              <a:off x="599846" y="3794760"/>
              <a:ext cx="583387" cy="2103120"/>
              <a:chOff x="599846" y="3794760"/>
              <a:chExt cx="583387" cy="2103120"/>
            </a:xfrm>
          </p:grpSpPr>
          <p:sp>
            <p:nvSpPr>
              <p:cNvPr id="14" name="Vidrio"/>
              <p:cNvSpPr/>
              <p:nvPr/>
            </p:nvSpPr>
            <p:spPr>
              <a:xfrm>
                <a:off x="640080" y="4005072"/>
                <a:ext cx="502920" cy="189280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5" name="Tapón"/>
              <p:cNvSpPr/>
              <p:nvPr/>
            </p:nvSpPr>
            <p:spPr>
              <a:xfrm>
                <a:off x="599846" y="3794760"/>
                <a:ext cx="583387" cy="252374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72CA97"/>
                  </a:gs>
                  <a:gs pos="55000">
                    <a:srgbClr val="27AE60"/>
                  </a:gs>
                  <a:gs pos="100000">
                    <a:srgbClr val="1B7943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135730"/>
                </a:solidFill>
                <a:round/>
              </a:ln>
            </p:spPr>
          </p:sp>
          <p:sp>
            <p:nvSpPr>
              <p:cNvPr id="16" name="Brillo"/>
              <p:cNvSpPr/>
              <p:nvPr/>
            </p:nvSpPr>
            <p:spPr>
              <a:xfrm>
                <a:off x="710489" y="4131259"/>
                <a:ext cx="60350" cy="147218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17" name="R hep"/>
            <p:cNvSpPr/>
            <p:nvPr/>
          </p:nvSpPr>
          <p:spPr>
            <a:xfrm>
              <a:off x="665226" y="5113837"/>
              <a:ext cx="452628" cy="74198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18" name="P hep"/>
            <p:cNvSpPr/>
            <p:nvPr/>
          </p:nvSpPr>
          <p:spPr>
            <a:xfrm>
              <a:off x="665226" y="4495520"/>
              <a:ext cx="452628" cy="618317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1325880" y="4023360"/>
              <a:ext cx="347472" cy="347472"/>
            </a:xfrm>
            <a:prstGeom prst="ellipse">
              <a:avLst/>
            </a:prstGeom>
            <a:gradFill rotWithShape="1">
              <a:gsLst>
                <a:gs pos="0">
                  <a:srgbClr val="81B6D9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1709928" y="4023360"/>
              <a:ext cx="347472" cy="347472"/>
            </a:xfrm>
            <a:prstGeom prst="ellipse">
              <a:avLst/>
            </a:prstGeom>
            <a:gradFill rotWithShape="1">
              <a:gsLst>
                <a:gs pos="0">
                  <a:srgbClr val="81B6D9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0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2093976" y="4023360"/>
              <a:ext cx="347472" cy="347472"/>
            </a:xfrm>
            <a:prstGeom prst="ellipse">
              <a:avLst/>
            </a:prstGeom>
            <a:gradFill rotWithShape="1">
              <a:gsLst>
                <a:gs pos="0">
                  <a:srgbClr val="81B6D9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1325880" y="4434840"/>
              <a:ext cx="347472" cy="347472"/>
            </a:xfrm>
            <a:prstGeom prst="ellipse">
              <a:avLst/>
            </a:prstGeom>
            <a:gradFill rotWithShape="1">
              <a:gsLst>
                <a:gs pos="0">
                  <a:srgbClr val="81B6D9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1709928" y="4434840"/>
              <a:ext cx="347472" cy="347472"/>
            </a:xfrm>
            <a:prstGeom prst="ellipse">
              <a:avLst/>
            </a:prstGeom>
            <a:gradFill rotWithShape="1">
              <a:gsLst>
                <a:gs pos="0">
                  <a:srgbClr val="81B6D9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</a:t>
              </a:r>
              <a:r>
                <a:rPr lang="es-AR" sz="9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9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2651760" y="3794760"/>
              <a:ext cx="3246120" cy="26060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 el anticoagulante es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heparina de sodio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se puede medir sodio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propio anticoagulante aporta Na</a:t>
              </a:r>
              <a:r>
                <a:rPr lang="es-AR" sz="19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</p:grpSp>
      <p:grpSp>
        <p:nvGrpSpPr>
          <p:cNvPr id="25" name="EDTA"/>
          <p:cNvGrpSpPr/>
          <p:nvPr/>
        </p:nvGrpSpPr>
        <p:grpSpPr>
          <a:xfrm>
            <a:off x="6452006" y="3794760"/>
            <a:ext cx="5298034" cy="2606040"/>
            <a:chOff x="6452006" y="3794760"/>
            <a:chExt cx="5298034" cy="2606040"/>
          </a:xfrm>
        </p:grpSpPr>
        <p:grpSp>
          <p:nvGrpSpPr>
            <p:cNvPr id="26" name="Tubo EDTA"/>
            <p:cNvGrpSpPr/>
            <p:nvPr/>
          </p:nvGrpSpPr>
          <p:grpSpPr>
            <a:xfrm>
              <a:off x="6452006" y="3794760"/>
              <a:ext cx="583387" cy="2103120"/>
              <a:chOff x="6452006" y="3794760"/>
              <a:chExt cx="583387" cy="2103120"/>
            </a:xfrm>
          </p:grpSpPr>
          <p:sp>
            <p:nvSpPr>
              <p:cNvPr id="27" name="Vidrio_2"/>
              <p:cNvSpPr/>
              <p:nvPr/>
            </p:nvSpPr>
            <p:spPr>
              <a:xfrm>
                <a:off x="6492240" y="4005072"/>
                <a:ext cx="502920" cy="189280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8" name="Tapón_2"/>
              <p:cNvSpPr/>
              <p:nvPr/>
            </p:nvSpPr>
            <p:spPr>
              <a:xfrm>
                <a:off x="6452006" y="3794760"/>
                <a:ext cx="583387" cy="252374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29" name="Brillo_2"/>
              <p:cNvSpPr/>
              <p:nvPr/>
            </p:nvSpPr>
            <p:spPr>
              <a:xfrm>
                <a:off x="6562649" y="4131259"/>
                <a:ext cx="60350" cy="147218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0" name="R edta"/>
            <p:cNvSpPr/>
            <p:nvPr/>
          </p:nvSpPr>
          <p:spPr>
            <a:xfrm>
              <a:off x="6517386" y="5113837"/>
              <a:ext cx="452628" cy="74198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31" name="P edta"/>
            <p:cNvSpPr/>
            <p:nvPr/>
          </p:nvSpPr>
          <p:spPr>
            <a:xfrm>
              <a:off x="6517386" y="4495520"/>
              <a:ext cx="452628" cy="618317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>
              <a:off x="7178040" y="4069080"/>
              <a:ext cx="1005840" cy="1005840"/>
            </a:xfrm>
            <a:prstGeom prst="ellipse">
              <a:avLst/>
            </a:prstGeom>
            <a:solidFill>
              <a:srgbClr val="D2B4DE">
                <a:alpha val="70000"/>
              </a:srgbClr>
            </a:solidFill>
            <a:ln w="19050" cap="rnd">
              <a:solidFill>
                <a:srgbClr val="6C3483"/>
              </a:solidFill>
              <a:prstDash val="dash"/>
              <a:round/>
            </a:ln>
          </p:spPr>
          <p:txBody>
            <a:bodyPr wrap="square" lIns="0" tIns="73152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EDTA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7498080" y="4434840"/>
              <a:ext cx="384048" cy="384048"/>
            </a:xfrm>
            <a:prstGeom prst="ellipse">
              <a:avLst/>
            </a:prstGeom>
            <a:gradFill rotWithShape="1">
              <a:gsLst>
                <a:gs pos="0">
                  <a:srgbClr val="F0B17A"/>
                </a:gs>
                <a:gs pos="55000">
                  <a:srgbClr val="E67E22"/>
                </a:gs>
                <a:gs pos="100000">
                  <a:srgbClr val="B8641B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873600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9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</a:t>
              </a:r>
              <a:r>
                <a:rPr lang="es-AR" sz="9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endParaRPr lang="es-AR" sz="9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8503920" y="3794760"/>
              <a:ext cx="3246120" cy="26060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EDTA secuestra calcio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si se mide calcio en ese plasma, el resultado aparece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falsamente muy bajo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¿CUÁNDO USAR SUERO Y CUÁNDO PLASMA?</a:t>
            </a:r>
            <a:endParaRPr lang="es-AR" sz="21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5" name="Rótulo enfermos"/>
          <p:cNvSpPr txBox="1"/>
          <p:nvPr/>
        </p:nvSpPr>
        <p:spPr>
          <a:xfrm>
            <a:off x="320040" y="960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C00000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PERSONAS ENFERMAS</a:t>
            </a:r>
            <a:endParaRPr lang="es-AR" sz="1800" dirty="0">
              <a:latin typeface="Segoe Print"/>
            </a:endParaRPr>
          </a:p>
        </p:txBody>
      </p:sp>
      <p:grpSp>
        <p:nvGrpSpPr>
          <p:cNvPr id="6" name="Enfermo 1"/>
          <p:cNvGrpSpPr/>
          <p:nvPr/>
        </p:nvGrpSpPr>
        <p:grpSpPr>
          <a:xfrm>
            <a:off x="411480" y="1508760"/>
            <a:ext cx="608076" cy="868680"/>
            <a:chOff x="411480" y="1508760"/>
            <a:chExt cx="608076" cy="868680"/>
          </a:xfrm>
        </p:grpSpPr>
        <p:sp>
          <p:nvSpPr>
            <p:cNvPr id="7" name="Forma 6"/>
            <p:cNvSpPr/>
            <p:nvPr/>
          </p:nvSpPr>
          <p:spPr>
            <a:xfrm>
              <a:off x="567842" y="1508760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 rot="-5400000">
              <a:off x="411480" y="1838858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9" name="Enfermo 2"/>
          <p:cNvGrpSpPr/>
          <p:nvPr/>
        </p:nvGrpSpPr>
        <p:grpSpPr>
          <a:xfrm>
            <a:off x="1172718" y="1508760"/>
            <a:ext cx="608076" cy="868680"/>
            <a:chOff x="1172718" y="1508760"/>
            <a:chExt cx="608076" cy="868680"/>
          </a:xfrm>
        </p:grpSpPr>
        <p:sp>
          <p:nvSpPr>
            <p:cNvPr id="10" name="Forma 9"/>
            <p:cNvSpPr/>
            <p:nvPr/>
          </p:nvSpPr>
          <p:spPr>
            <a:xfrm>
              <a:off x="1329080" y="1508760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 rot="-5400000">
              <a:off x="1172718" y="1838858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2" name="Enfermo 3"/>
          <p:cNvGrpSpPr/>
          <p:nvPr/>
        </p:nvGrpSpPr>
        <p:grpSpPr>
          <a:xfrm>
            <a:off x="1933956" y="1508760"/>
            <a:ext cx="608076" cy="868680"/>
            <a:chOff x="1933956" y="1508760"/>
            <a:chExt cx="608076" cy="868680"/>
          </a:xfrm>
        </p:grpSpPr>
        <p:sp>
          <p:nvSpPr>
            <p:cNvPr id="13" name="Forma 12"/>
            <p:cNvSpPr/>
            <p:nvPr/>
          </p:nvSpPr>
          <p:spPr>
            <a:xfrm>
              <a:off x="2090318" y="1508760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 rot="-5400000">
              <a:off x="1933956" y="1838858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5" name="Enfermo 4"/>
          <p:cNvGrpSpPr/>
          <p:nvPr/>
        </p:nvGrpSpPr>
        <p:grpSpPr>
          <a:xfrm>
            <a:off x="2695194" y="1508760"/>
            <a:ext cx="608076" cy="868680"/>
            <a:chOff x="2695194" y="1508760"/>
            <a:chExt cx="608076" cy="868680"/>
          </a:xfrm>
        </p:grpSpPr>
        <p:sp>
          <p:nvSpPr>
            <p:cNvPr id="16" name="Forma 15"/>
            <p:cNvSpPr/>
            <p:nvPr/>
          </p:nvSpPr>
          <p:spPr>
            <a:xfrm>
              <a:off x="2851556" y="1508760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 rot="-5400000">
              <a:off x="2695194" y="1838858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8" name="Enfermo 5"/>
          <p:cNvGrpSpPr/>
          <p:nvPr/>
        </p:nvGrpSpPr>
        <p:grpSpPr>
          <a:xfrm>
            <a:off x="411480" y="2487168"/>
            <a:ext cx="608076" cy="868680"/>
            <a:chOff x="411480" y="2487168"/>
            <a:chExt cx="608076" cy="868680"/>
          </a:xfrm>
        </p:grpSpPr>
        <p:sp>
          <p:nvSpPr>
            <p:cNvPr id="19" name="Forma 18"/>
            <p:cNvSpPr/>
            <p:nvPr/>
          </p:nvSpPr>
          <p:spPr>
            <a:xfrm>
              <a:off x="567842" y="2487168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 rot="-5400000">
              <a:off x="411480" y="2817266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1" name="Enfermo 6"/>
          <p:cNvGrpSpPr/>
          <p:nvPr/>
        </p:nvGrpSpPr>
        <p:grpSpPr>
          <a:xfrm>
            <a:off x="1172718" y="2487168"/>
            <a:ext cx="608076" cy="868680"/>
            <a:chOff x="1172718" y="2487168"/>
            <a:chExt cx="608076" cy="868680"/>
          </a:xfrm>
        </p:grpSpPr>
        <p:sp>
          <p:nvSpPr>
            <p:cNvPr id="22" name="Forma 21"/>
            <p:cNvSpPr/>
            <p:nvPr/>
          </p:nvSpPr>
          <p:spPr>
            <a:xfrm>
              <a:off x="1329080" y="2487168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 rot="-5400000">
              <a:off x="1172718" y="2817266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4" name="Enfermo 7"/>
          <p:cNvGrpSpPr/>
          <p:nvPr/>
        </p:nvGrpSpPr>
        <p:grpSpPr>
          <a:xfrm>
            <a:off x="1933956" y="2487168"/>
            <a:ext cx="608076" cy="868680"/>
            <a:chOff x="1933956" y="2487168"/>
            <a:chExt cx="608076" cy="868680"/>
          </a:xfrm>
        </p:grpSpPr>
        <p:sp>
          <p:nvSpPr>
            <p:cNvPr id="25" name="Forma 24"/>
            <p:cNvSpPr/>
            <p:nvPr/>
          </p:nvSpPr>
          <p:spPr>
            <a:xfrm>
              <a:off x="2090318" y="2487168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 rot="-5400000">
              <a:off x="1933956" y="2817266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7" name="Enfermo 8"/>
          <p:cNvGrpSpPr/>
          <p:nvPr/>
        </p:nvGrpSpPr>
        <p:grpSpPr>
          <a:xfrm>
            <a:off x="2695194" y="2487168"/>
            <a:ext cx="608076" cy="868680"/>
            <a:chOff x="2695194" y="2487168"/>
            <a:chExt cx="608076" cy="868680"/>
          </a:xfrm>
        </p:grpSpPr>
        <p:sp>
          <p:nvSpPr>
            <p:cNvPr id="28" name="Forma 27"/>
            <p:cNvSpPr/>
            <p:nvPr/>
          </p:nvSpPr>
          <p:spPr>
            <a:xfrm>
              <a:off x="2851556" y="2487168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 rot="-5400000">
              <a:off x="2695194" y="2817266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0" name="Enfermo 9"/>
          <p:cNvGrpSpPr/>
          <p:nvPr/>
        </p:nvGrpSpPr>
        <p:grpSpPr>
          <a:xfrm>
            <a:off x="411480" y="3465576"/>
            <a:ext cx="608076" cy="868680"/>
            <a:chOff x="411480" y="3465576"/>
            <a:chExt cx="608076" cy="868680"/>
          </a:xfrm>
        </p:grpSpPr>
        <p:sp>
          <p:nvSpPr>
            <p:cNvPr id="31" name="Forma 30"/>
            <p:cNvSpPr/>
            <p:nvPr/>
          </p:nvSpPr>
          <p:spPr>
            <a:xfrm>
              <a:off x="567842" y="3465576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 rot="-5400000">
              <a:off x="411480" y="3795674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3" name="Enfermo 10"/>
          <p:cNvGrpSpPr/>
          <p:nvPr/>
        </p:nvGrpSpPr>
        <p:grpSpPr>
          <a:xfrm>
            <a:off x="1172718" y="3465576"/>
            <a:ext cx="608076" cy="868680"/>
            <a:chOff x="1172718" y="3465576"/>
            <a:chExt cx="608076" cy="868680"/>
          </a:xfrm>
        </p:grpSpPr>
        <p:sp>
          <p:nvSpPr>
            <p:cNvPr id="34" name="Forma 33"/>
            <p:cNvSpPr/>
            <p:nvPr/>
          </p:nvSpPr>
          <p:spPr>
            <a:xfrm>
              <a:off x="1329080" y="3465576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 rot="-5400000">
              <a:off x="1172718" y="3795674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6" name="Enfermo 11"/>
          <p:cNvGrpSpPr/>
          <p:nvPr/>
        </p:nvGrpSpPr>
        <p:grpSpPr>
          <a:xfrm>
            <a:off x="1933956" y="3465576"/>
            <a:ext cx="608076" cy="868680"/>
            <a:chOff x="1933956" y="3465576"/>
            <a:chExt cx="608076" cy="868680"/>
          </a:xfrm>
        </p:grpSpPr>
        <p:sp>
          <p:nvSpPr>
            <p:cNvPr id="37" name="Forma 36"/>
            <p:cNvSpPr/>
            <p:nvPr/>
          </p:nvSpPr>
          <p:spPr>
            <a:xfrm>
              <a:off x="2090318" y="3465576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8" name="Forma 37"/>
            <p:cNvSpPr/>
            <p:nvPr/>
          </p:nvSpPr>
          <p:spPr>
            <a:xfrm rot="-5400000">
              <a:off x="1933956" y="3795674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9" name="Enfermo 12"/>
          <p:cNvGrpSpPr/>
          <p:nvPr/>
        </p:nvGrpSpPr>
        <p:grpSpPr>
          <a:xfrm>
            <a:off x="2695194" y="3465576"/>
            <a:ext cx="608076" cy="868680"/>
            <a:chOff x="2695194" y="3465576"/>
            <a:chExt cx="608076" cy="868680"/>
          </a:xfrm>
        </p:grpSpPr>
        <p:sp>
          <p:nvSpPr>
            <p:cNvPr id="40" name="Forma 39"/>
            <p:cNvSpPr/>
            <p:nvPr/>
          </p:nvSpPr>
          <p:spPr>
            <a:xfrm>
              <a:off x="2851556" y="3465576"/>
              <a:ext cx="295351" cy="295351"/>
            </a:xfrm>
            <a:prstGeom prst="ellipse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41" name="Forma 40"/>
            <p:cNvSpPr/>
            <p:nvPr/>
          </p:nvSpPr>
          <p:spPr>
            <a:xfrm rot="-5400000">
              <a:off x="2695194" y="3795674"/>
              <a:ext cx="608076" cy="538582"/>
            </a:xfrm>
            <a:prstGeom prst="flowChartDelay">
              <a:avLst/>
            </a:prstGeom>
            <a:solidFill>
              <a:srgbClr val="E74C3C"/>
            </a:solidFill>
            <a:ln w="12700" cap="rnd">
              <a:solidFill>
                <a:srgbClr val="1E1E1E"/>
              </a:solidFill>
              <a:round/>
            </a:ln>
          </p:spPr>
        </p:sp>
      </p:grpSp>
      <p:sp>
        <p:nvSpPr>
          <p:cNvPr id="42" name="Test + 0"/>
          <p:cNvSpPr/>
          <p:nvPr/>
        </p:nvSpPr>
        <p:spPr>
          <a:xfrm>
            <a:off x="822960" y="1463040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43" name="Test + 1"/>
          <p:cNvSpPr/>
          <p:nvPr/>
        </p:nvSpPr>
        <p:spPr>
          <a:xfrm>
            <a:off x="1584198" y="1463040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44" name="Test + 2"/>
          <p:cNvSpPr/>
          <p:nvPr/>
        </p:nvSpPr>
        <p:spPr>
          <a:xfrm>
            <a:off x="2345436" y="1463040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45" name="Test + 3"/>
          <p:cNvSpPr/>
          <p:nvPr/>
        </p:nvSpPr>
        <p:spPr>
          <a:xfrm>
            <a:off x="3106674" y="1463040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46" name="Test + 4"/>
          <p:cNvSpPr/>
          <p:nvPr/>
        </p:nvSpPr>
        <p:spPr>
          <a:xfrm>
            <a:off x="822960" y="2441448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47" name="Test + 5"/>
          <p:cNvSpPr/>
          <p:nvPr/>
        </p:nvSpPr>
        <p:spPr>
          <a:xfrm>
            <a:off x="1584198" y="2441448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48" name="Test + 6"/>
          <p:cNvSpPr/>
          <p:nvPr/>
        </p:nvSpPr>
        <p:spPr>
          <a:xfrm>
            <a:off x="2345436" y="2441448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49" name="Test + 7"/>
          <p:cNvSpPr/>
          <p:nvPr/>
        </p:nvSpPr>
        <p:spPr>
          <a:xfrm>
            <a:off x="3106674" y="2441448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50" name="Test + 8"/>
          <p:cNvSpPr/>
          <p:nvPr/>
        </p:nvSpPr>
        <p:spPr>
          <a:xfrm>
            <a:off x="822960" y="3419856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51" name="Test + 9"/>
          <p:cNvSpPr/>
          <p:nvPr/>
        </p:nvSpPr>
        <p:spPr>
          <a:xfrm>
            <a:off x="1584198" y="3419856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52" name="Test + 10"/>
          <p:cNvSpPr/>
          <p:nvPr/>
        </p:nvSpPr>
        <p:spPr>
          <a:xfrm>
            <a:off x="2345436" y="3419856"/>
            <a:ext cx="329184" cy="329184"/>
          </a:xfrm>
          <a:prstGeom prst="ellipse">
            <a:avLst/>
          </a:prstGeom>
          <a:solidFill>
            <a:srgbClr val="1E8C3A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53" name="Falso negativo"/>
          <p:cNvSpPr/>
          <p:nvPr/>
        </p:nvSpPr>
        <p:spPr>
          <a:xfrm>
            <a:off x="3106674" y="3419856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54" name="Rótulo FN"/>
          <p:cNvSpPr/>
          <p:nvPr/>
        </p:nvSpPr>
        <p:spPr>
          <a:xfrm>
            <a:off x="1645920" y="4663440"/>
            <a:ext cx="1274695" cy="272415"/>
          </a:xfrm>
          <a:prstGeom prst="rect">
            <a:avLst/>
          </a:prstGeom>
          <a:solidFill>
            <a:srgbClr val="7F8C8D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falso negativo</a:t>
            </a:r>
            <a:endParaRPr lang="es-AR" sz="1300" dirty="0">
              <a:latin typeface="Calibri"/>
            </a:endParaRPr>
          </a:p>
        </p:txBody>
      </p:sp>
      <p:sp>
        <p:nvSpPr>
          <p:cNvPr id="55" name="Definición S"/>
          <p:cNvSpPr/>
          <p:nvPr/>
        </p:nvSpPr>
        <p:spPr>
          <a:xfrm>
            <a:off x="4572000" y="1051560"/>
            <a:ext cx="7315200" cy="1371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Capacidad de un método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detectar correctamente a los individuos que realmente tienen la enfermedad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si el paciente está enfermo, la prueba debe dar positivo.</a:t>
            </a:r>
            <a:endParaRPr lang="es-AR" sz="2050" dirty="0">
              <a:latin typeface="Calibri"/>
            </a:endParaRPr>
          </a:p>
        </p:txBody>
      </p:sp>
      <p:sp>
        <p:nvSpPr>
          <p:cNvPr id="56" name="Fórmula S"/>
          <p:cNvSpPr/>
          <p:nvPr/>
        </p:nvSpPr>
        <p:spPr>
          <a:xfrm>
            <a:off x="4572000" y="2651760"/>
            <a:ext cx="731520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Sensibilidad = VP / (VP + FN)</a:t>
            </a:r>
            <a:endParaRPr lang="es-AR" sz="2400" dirty="0">
              <a:latin typeface="Calibri"/>
            </a:endParaRPr>
          </a:p>
        </p:txBody>
      </p:sp>
      <p:sp>
        <p:nvSpPr>
          <p:cNvPr id="57" name="FN"/>
          <p:cNvSpPr/>
          <p:nvPr/>
        </p:nvSpPr>
        <p:spPr>
          <a:xfrm>
            <a:off x="4572000" y="4023360"/>
            <a:ext cx="3566160" cy="242316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Falso negativo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paciente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enfermo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cuya prueba dio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negativo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Una prueba muy sensible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minimiza los falsos negativos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58" name="Uso S"/>
          <p:cNvGrpSpPr/>
          <p:nvPr/>
        </p:nvGrpSpPr>
        <p:grpSpPr>
          <a:xfrm>
            <a:off x="8321040" y="4023360"/>
            <a:ext cx="3566160" cy="2423160"/>
            <a:chOff x="8321040" y="4023360"/>
            <a:chExt cx="3566160" cy="2423160"/>
          </a:xfrm>
        </p:grpSpPr>
        <p:sp>
          <p:nvSpPr>
            <p:cNvPr id="59" name="Forma 58"/>
            <p:cNvSpPr/>
            <p:nvPr/>
          </p:nvSpPr>
          <p:spPr>
            <a:xfrm>
              <a:off x="8321040" y="4224528"/>
              <a:ext cx="3566160" cy="222199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necesita en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screening (tamizaje)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si da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negativo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hay seguridad de que no tiene la enfermedad;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positivo requiere confirmación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60" name="Forma 59"/>
            <p:cNvSpPr/>
            <p:nvPr/>
          </p:nvSpPr>
          <p:spPr>
            <a:xfrm>
              <a:off x="8449056" y="4023360"/>
              <a:ext cx="64725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SENSIBILIDAD: DETECTAR A QUIEN ESTÁ ENFERMO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6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6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2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4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2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7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EAF5EA"/>
          </a:solidFill>
          <a:ln>
            <a:noFill/>
          </a:ln>
        </p:spPr>
      </p:sp>
      <p:sp>
        <p:nvSpPr>
          <p:cNvPr id="5" name="Rótulo sanos"/>
          <p:cNvSpPr txBox="1"/>
          <p:nvPr/>
        </p:nvSpPr>
        <p:spPr>
          <a:xfrm>
            <a:off x="320040" y="960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4E7A30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PERSONAS SANAS</a:t>
            </a:r>
            <a:endParaRPr lang="es-AR" sz="1800" dirty="0">
              <a:latin typeface="Segoe Print"/>
            </a:endParaRPr>
          </a:p>
        </p:txBody>
      </p:sp>
      <p:grpSp>
        <p:nvGrpSpPr>
          <p:cNvPr id="6" name="Sano 1"/>
          <p:cNvGrpSpPr/>
          <p:nvPr/>
        </p:nvGrpSpPr>
        <p:grpSpPr>
          <a:xfrm>
            <a:off x="411480" y="1508760"/>
            <a:ext cx="608076" cy="868680"/>
            <a:chOff x="411480" y="1508760"/>
            <a:chExt cx="608076" cy="868680"/>
          </a:xfrm>
        </p:grpSpPr>
        <p:sp>
          <p:nvSpPr>
            <p:cNvPr id="7" name="Forma 6"/>
            <p:cNvSpPr/>
            <p:nvPr/>
          </p:nvSpPr>
          <p:spPr>
            <a:xfrm>
              <a:off x="567842" y="1508760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 rot="-5400000">
              <a:off x="411480" y="1838858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9" name="Sano 2"/>
          <p:cNvGrpSpPr/>
          <p:nvPr/>
        </p:nvGrpSpPr>
        <p:grpSpPr>
          <a:xfrm>
            <a:off x="1172718" y="1508760"/>
            <a:ext cx="608076" cy="868680"/>
            <a:chOff x="1172718" y="1508760"/>
            <a:chExt cx="608076" cy="868680"/>
          </a:xfrm>
        </p:grpSpPr>
        <p:sp>
          <p:nvSpPr>
            <p:cNvPr id="10" name="Forma 9"/>
            <p:cNvSpPr/>
            <p:nvPr/>
          </p:nvSpPr>
          <p:spPr>
            <a:xfrm>
              <a:off x="1329080" y="1508760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 rot="-5400000">
              <a:off x="1172718" y="1838858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2" name="Sano 3"/>
          <p:cNvGrpSpPr/>
          <p:nvPr/>
        </p:nvGrpSpPr>
        <p:grpSpPr>
          <a:xfrm>
            <a:off x="1933956" y="1508760"/>
            <a:ext cx="608076" cy="868680"/>
            <a:chOff x="1933956" y="1508760"/>
            <a:chExt cx="608076" cy="868680"/>
          </a:xfrm>
        </p:grpSpPr>
        <p:sp>
          <p:nvSpPr>
            <p:cNvPr id="13" name="Forma 12"/>
            <p:cNvSpPr/>
            <p:nvPr/>
          </p:nvSpPr>
          <p:spPr>
            <a:xfrm>
              <a:off x="2090318" y="1508760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 rot="-5400000">
              <a:off x="1933956" y="1838858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5" name="Sano 4"/>
          <p:cNvGrpSpPr/>
          <p:nvPr/>
        </p:nvGrpSpPr>
        <p:grpSpPr>
          <a:xfrm>
            <a:off x="2695194" y="1508760"/>
            <a:ext cx="608076" cy="868680"/>
            <a:chOff x="2695194" y="1508760"/>
            <a:chExt cx="608076" cy="868680"/>
          </a:xfrm>
        </p:grpSpPr>
        <p:sp>
          <p:nvSpPr>
            <p:cNvPr id="16" name="Forma 15"/>
            <p:cNvSpPr/>
            <p:nvPr/>
          </p:nvSpPr>
          <p:spPr>
            <a:xfrm>
              <a:off x="2851556" y="1508760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 rot="-5400000">
              <a:off x="2695194" y="1838858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8" name="Sano 5"/>
          <p:cNvGrpSpPr/>
          <p:nvPr/>
        </p:nvGrpSpPr>
        <p:grpSpPr>
          <a:xfrm>
            <a:off x="411480" y="2487168"/>
            <a:ext cx="608076" cy="868680"/>
            <a:chOff x="411480" y="2487168"/>
            <a:chExt cx="608076" cy="868680"/>
          </a:xfrm>
        </p:grpSpPr>
        <p:sp>
          <p:nvSpPr>
            <p:cNvPr id="19" name="Forma 18"/>
            <p:cNvSpPr/>
            <p:nvPr/>
          </p:nvSpPr>
          <p:spPr>
            <a:xfrm>
              <a:off x="567842" y="2487168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 rot="-5400000">
              <a:off x="411480" y="2817266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1" name="Sano 6"/>
          <p:cNvGrpSpPr/>
          <p:nvPr/>
        </p:nvGrpSpPr>
        <p:grpSpPr>
          <a:xfrm>
            <a:off x="1172718" y="2487168"/>
            <a:ext cx="608076" cy="868680"/>
            <a:chOff x="1172718" y="2487168"/>
            <a:chExt cx="608076" cy="868680"/>
          </a:xfrm>
        </p:grpSpPr>
        <p:sp>
          <p:nvSpPr>
            <p:cNvPr id="22" name="Forma 21"/>
            <p:cNvSpPr/>
            <p:nvPr/>
          </p:nvSpPr>
          <p:spPr>
            <a:xfrm>
              <a:off x="1329080" y="2487168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 rot="-5400000">
              <a:off x="1172718" y="2817266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4" name="Sano 7"/>
          <p:cNvGrpSpPr/>
          <p:nvPr/>
        </p:nvGrpSpPr>
        <p:grpSpPr>
          <a:xfrm>
            <a:off x="1933956" y="2487168"/>
            <a:ext cx="608076" cy="868680"/>
            <a:chOff x="1933956" y="2487168"/>
            <a:chExt cx="608076" cy="868680"/>
          </a:xfrm>
        </p:grpSpPr>
        <p:sp>
          <p:nvSpPr>
            <p:cNvPr id="25" name="Forma 24"/>
            <p:cNvSpPr/>
            <p:nvPr/>
          </p:nvSpPr>
          <p:spPr>
            <a:xfrm>
              <a:off x="2090318" y="2487168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 rot="-5400000">
              <a:off x="1933956" y="2817266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7" name="Sano 8"/>
          <p:cNvGrpSpPr/>
          <p:nvPr/>
        </p:nvGrpSpPr>
        <p:grpSpPr>
          <a:xfrm>
            <a:off x="2695194" y="2487168"/>
            <a:ext cx="608076" cy="868680"/>
            <a:chOff x="2695194" y="2487168"/>
            <a:chExt cx="608076" cy="868680"/>
          </a:xfrm>
        </p:grpSpPr>
        <p:sp>
          <p:nvSpPr>
            <p:cNvPr id="28" name="Forma 27"/>
            <p:cNvSpPr/>
            <p:nvPr/>
          </p:nvSpPr>
          <p:spPr>
            <a:xfrm>
              <a:off x="2851556" y="2487168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 rot="-5400000">
              <a:off x="2695194" y="2817266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0" name="Sano 9"/>
          <p:cNvGrpSpPr/>
          <p:nvPr/>
        </p:nvGrpSpPr>
        <p:grpSpPr>
          <a:xfrm>
            <a:off x="411480" y="3465576"/>
            <a:ext cx="608076" cy="868680"/>
            <a:chOff x="411480" y="3465576"/>
            <a:chExt cx="608076" cy="868680"/>
          </a:xfrm>
        </p:grpSpPr>
        <p:sp>
          <p:nvSpPr>
            <p:cNvPr id="31" name="Forma 30"/>
            <p:cNvSpPr/>
            <p:nvPr/>
          </p:nvSpPr>
          <p:spPr>
            <a:xfrm>
              <a:off x="567842" y="3465576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 rot="-5400000">
              <a:off x="411480" y="3795674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3" name="Sano 10"/>
          <p:cNvGrpSpPr/>
          <p:nvPr/>
        </p:nvGrpSpPr>
        <p:grpSpPr>
          <a:xfrm>
            <a:off x="1172718" y="3465576"/>
            <a:ext cx="608076" cy="868680"/>
            <a:chOff x="1172718" y="3465576"/>
            <a:chExt cx="608076" cy="868680"/>
          </a:xfrm>
        </p:grpSpPr>
        <p:sp>
          <p:nvSpPr>
            <p:cNvPr id="34" name="Forma 33"/>
            <p:cNvSpPr/>
            <p:nvPr/>
          </p:nvSpPr>
          <p:spPr>
            <a:xfrm>
              <a:off x="1329080" y="3465576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 rot="-5400000">
              <a:off x="1172718" y="3795674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6" name="Sano 11"/>
          <p:cNvGrpSpPr/>
          <p:nvPr/>
        </p:nvGrpSpPr>
        <p:grpSpPr>
          <a:xfrm>
            <a:off x="1933956" y="3465576"/>
            <a:ext cx="608076" cy="868680"/>
            <a:chOff x="1933956" y="3465576"/>
            <a:chExt cx="608076" cy="868680"/>
          </a:xfrm>
        </p:grpSpPr>
        <p:sp>
          <p:nvSpPr>
            <p:cNvPr id="37" name="Forma 36"/>
            <p:cNvSpPr/>
            <p:nvPr/>
          </p:nvSpPr>
          <p:spPr>
            <a:xfrm>
              <a:off x="2090318" y="3465576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8" name="Forma 37"/>
            <p:cNvSpPr/>
            <p:nvPr/>
          </p:nvSpPr>
          <p:spPr>
            <a:xfrm rot="-5400000">
              <a:off x="1933956" y="3795674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9" name="Sano 12"/>
          <p:cNvGrpSpPr/>
          <p:nvPr/>
        </p:nvGrpSpPr>
        <p:grpSpPr>
          <a:xfrm>
            <a:off x="2695194" y="3465576"/>
            <a:ext cx="608076" cy="868680"/>
            <a:chOff x="2695194" y="3465576"/>
            <a:chExt cx="608076" cy="868680"/>
          </a:xfrm>
        </p:grpSpPr>
        <p:sp>
          <p:nvSpPr>
            <p:cNvPr id="40" name="Forma 39"/>
            <p:cNvSpPr/>
            <p:nvPr/>
          </p:nvSpPr>
          <p:spPr>
            <a:xfrm>
              <a:off x="2851556" y="3465576"/>
              <a:ext cx="295351" cy="295351"/>
            </a:xfrm>
            <a:prstGeom prst="ellipse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41" name="Forma 40"/>
            <p:cNvSpPr/>
            <p:nvPr/>
          </p:nvSpPr>
          <p:spPr>
            <a:xfrm rot="-5400000">
              <a:off x="2695194" y="3795674"/>
              <a:ext cx="608076" cy="538582"/>
            </a:xfrm>
            <a:prstGeom prst="flowChartDelay">
              <a:avLst/>
            </a:prstGeom>
            <a:solidFill>
              <a:srgbClr val="58D68D"/>
            </a:solidFill>
            <a:ln w="12700" cap="rnd">
              <a:solidFill>
                <a:srgbClr val="1E1E1E"/>
              </a:solidFill>
              <a:round/>
            </a:ln>
          </p:spPr>
        </p:sp>
      </p:grpSp>
      <p:sp>
        <p:nvSpPr>
          <p:cNvPr id="42" name="Test − 0"/>
          <p:cNvSpPr/>
          <p:nvPr/>
        </p:nvSpPr>
        <p:spPr>
          <a:xfrm>
            <a:off x="822960" y="1463040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43" name="Test − 1"/>
          <p:cNvSpPr/>
          <p:nvPr/>
        </p:nvSpPr>
        <p:spPr>
          <a:xfrm>
            <a:off x="1584198" y="1463040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44" name="Test − 2"/>
          <p:cNvSpPr/>
          <p:nvPr/>
        </p:nvSpPr>
        <p:spPr>
          <a:xfrm>
            <a:off x="2345436" y="1463040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45" name="Test − 3"/>
          <p:cNvSpPr/>
          <p:nvPr/>
        </p:nvSpPr>
        <p:spPr>
          <a:xfrm>
            <a:off x="3106674" y="1463040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46" name="Test − 4"/>
          <p:cNvSpPr/>
          <p:nvPr/>
        </p:nvSpPr>
        <p:spPr>
          <a:xfrm>
            <a:off x="822960" y="2441448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47" name="Test − 5"/>
          <p:cNvSpPr/>
          <p:nvPr/>
        </p:nvSpPr>
        <p:spPr>
          <a:xfrm>
            <a:off x="1584198" y="2441448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48" name="Test − 6"/>
          <p:cNvSpPr/>
          <p:nvPr/>
        </p:nvSpPr>
        <p:spPr>
          <a:xfrm>
            <a:off x="2345436" y="2441448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49" name="Test − 7"/>
          <p:cNvSpPr/>
          <p:nvPr/>
        </p:nvSpPr>
        <p:spPr>
          <a:xfrm>
            <a:off x="3106674" y="2441448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50" name="Test − 8"/>
          <p:cNvSpPr/>
          <p:nvPr/>
        </p:nvSpPr>
        <p:spPr>
          <a:xfrm>
            <a:off x="822960" y="3419856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51" name="Test − 9"/>
          <p:cNvSpPr/>
          <p:nvPr/>
        </p:nvSpPr>
        <p:spPr>
          <a:xfrm>
            <a:off x="1584198" y="3419856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52" name="Test − 10"/>
          <p:cNvSpPr/>
          <p:nvPr/>
        </p:nvSpPr>
        <p:spPr>
          <a:xfrm>
            <a:off x="2345436" y="3419856"/>
            <a:ext cx="329184" cy="329184"/>
          </a:xfrm>
          <a:prstGeom prst="ellipse">
            <a:avLst/>
          </a:prstGeom>
          <a:solidFill>
            <a:srgbClr val="7F8C8D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sp>
        <p:nvSpPr>
          <p:cNvPr id="53" name="Falso positivo"/>
          <p:cNvSpPr/>
          <p:nvPr/>
        </p:nvSpPr>
        <p:spPr>
          <a:xfrm>
            <a:off x="3106674" y="3419856"/>
            <a:ext cx="329184" cy="329184"/>
          </a:xfrm>
          <a:prstGeom prst="ellipse">
            <a:avLst/>
          </a:prstGeom>
          <a:solidFill>
            <a:srgbClr val="C00000"/>
          </a:solidFill>
          <a:ln w="12700" cap="rnd">
            <a:solidFill>
              <a:srgbClr val="FFFFF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54" name="Rótulo FP"/>
          <p:cNvSpPr/>
          <p:nvPr/>
        </p:nvSpPr>
        <p:spPr>
          <a:xfrm>
            <a:off x="1645920" y="4663440"/>
            <a:ext cx="1229148" cy="27241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falso positivo</a:t>
            </a:r>
            <a:endParaRPr lang="es-AR" sz="1300" dirty="0">
              <a:latin typeface="Calibri"/>
            </a:endParaRPr>
          </a:p>
        </p:txBody>
      </p:sp>
      <p:sp>
        <p:nvSpPr>
          <p:cNvPr id="55" name="Definición E"/>
          <p:cNvSpPr/>
          <p:nvPr/>
        </p:nvSpPr>
        <p:spPr>
          <a:xfrm>
            <a:off x="4572000" y="1051560"/>
            <a:ext cx="7315200" cy="1371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Capacidad de un método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identificar correctamente a los individuos que NO tienen la enfermedad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si el paciente está sano, la prueba debe dar negativo.</a:t>
            </a:r>
            <a:endParaRPr lang="es-AR" sz="2050" dirty="0">
              <a:latin typeface="Calibri"/>
            </a:endParaRPr>
          </a:p>
        </p:txBody>
      </p:sp>
      <p:sp>
        <p:nvSpPr>
          <p:cNvPr id="56" name="Fórmula E"/>
          <p:cNvSpPr/>
          <p:nvPr/>
        </p:nvSpPr>
        <p:spPr>
          <a:xfrm>
            <a:off x="4572000" y="2651760"/>
            <a:ext cx="731520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Especificidad = VN / (VN + FP)</a:t>
            </a:r>
            <a:endParaRPr lang="es-AR" sz="2400" dirty="0">
              <a:latin typeface="Calibri"/>
            </a:endParaRPr>
          </a:p>
        </p:txBody>
      </p:sp>
      <p:sp>
        <p:nvSpPr>
          <p:cNvPr id="57" name="FP"/>
          <p:cNvSpPr/>
          <p:nvPr/>
        </p:nvSpPr>
        <p:spPr>
          <a:xfrm>
            <a:off x="4572000" y="4023360"/>
            <a:ext cx="3566160" cy="242316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Falso positivo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paciente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sano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cuya prueba dio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positivo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Una prueba muy específica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minimiza los falsos positivos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58" name="Uso E"/>
          <p:cNvGrpSpPr/>
          <p:nvPr/>
        </p:nvGrpSpPr>
        <p:grpSpPr>
          <a:xfrm>
            <a:off x="8321040" y="4023360"/>
            <a:ext cx="3566160" cy="2423160"/>
            <a:chOff x="8321040" y="4023360"/>
            <a:chExt cx="3566160" cy="2423160"/>
          </a:xfrm>
        </p:grpSpPr>
        <p:sp>
          <p:nvSpPr>
            <p:cNvPr id="59" name="Forma 58"/>
            <p:cNvSpPr/>
            <p:nvPr/>
          </p:nvSpPr>
          <p:spPr>
            <a:xfrm>
              <a:off x="8321040" y="4224528"/>
              <a:ext cx="3566160" cy="2221992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necesita en las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pruebas confirmatorias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tras un screening positivo, asegura que el resultado sea verdadero.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60" name="Forma 59"/>
            <p:cNvSpPr/>
            <p:nvPr/>
          </p:nvSpPr>
          <p:spPr>
            <a:xfrm>
              <a:off x="8449056" y="4023360"/>
              <a:ext cx="64725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ESPECIFICIDAD: RECONOCER A QUIEN ESTÁ SANO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6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39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6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8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2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2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4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2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200"/>
                            </p:stCondLst>
                            <p:childTnLst>
                              <p:par>
                                <p:cTn id="1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7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grpSp>
        <p:nvGrpSpPr>
          <p:cNvPr id="5" name="Encabezados"/>
          <p:cNvGrpSpPr/>
          <p:nvPr/>
        </p:nvGrpSpPr>
        <p:grpSpPr>
          <a:xfrm>
            <a:off x="457200" y="1234440"/>
            <a:ext cx="6949440" cy="2971800"/>
            <a:chOff x="457200" y="1234440"/>
            <a:chExt cx="6949440" cy="2971800"/>
          </a:xfrm>
        </p:grpSpPr>
        <p:sp>
          <p:nvSpPr>
            <p:cNvPr id="6" name="Rótulo ENFERMO"/>
            <p:cNvSpPr/>
            <p:nvPr/>
          </p:nvSpPr>
          <p:spPr>
            <a:xfrm>
              <a:off x="2377440" y="1234440"/>
              <a:ext cx="2514600" cy="502920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ENFERMO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7" name="Rótulo SANO"/>
            <p:cNvSpPr/>
            <p:nvPr/>
          </p:nvSpPr>
          <p:spPr>
            <a:xfrm>
              <a:off x="4892040" y="1234440"/>
              <a:ext cx="2514600" cy="502920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SANO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8" name="Rótulo Prueba +"/>
            <p:cNvSpPr/>
            <p:nvPr/>
          </p:nvSpPr>
          <p:spPr>
            <a:xfrm>
              <a:off x="457200" y="2286000"/>
              <a:ext cx="1828800" cy="50292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Prueba +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9" name="Rótulo Prueba −"/>
            <p:cNvSpPr/>
            <p:nvPr/>
          </p:nvSpPr>
          <p:spPr>
            <a:xfrm>
              <a:off x="457200" y="3703320"/>
              <a:ext cx="1828800" cy="50292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Prueba −</a:t>
              </a:r>
              <a:endParaRPr lang="es-AR" sz="1600" dirty="0">
                <a:latin typeface="Calibri"/>
              </a:endParaRPr>
            </a:p>
          </p:txBody>
        </p:sp>
      </p:grpSp>
      <p:sp>
        <p:nvSpPr>
          <p:cNvPr id="10" name="Celda VP"/>
          <p:cNvSpPr/>
          <p:nvPr/>
        </p:nvSpPr>
        <p:spPr>
          <a:xfrm>
            <a:off x="2377440" y="1828800"/>
            <a:ext cx="2514600" cy="1417320"/>
          </a:xfrm>
          <a:prstGeom prst="rect">
            <a:avLst/>
          </a:prstGeom>
          <a:solidFill>
            <a:srgbClr val="F5B7B1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VP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verdadero positivo</a:t>
            </a:r>
            <a:endParaRPr lang="es-AR" sz="2200" dirty="0">
              <a:latin typeface="Calibri"/>
            </a:endParaRPr>
          </a:p>
        </p:txBody>
      </p:sp>
      <p:sp>
        <p:nvSpPr>
          <p:cNvPr id="11" name="Celda FP"/>
          <p:cNvSpPr/>
          <p:nvPr/>
        </p:nvSpPr>
        <p:spPr>
          <a:xfrm>
            <a:off x="4892040" y="1828800"/>
            <a:ext cx="2514600" cy="1417320"/>
          </a:xfrm>
          <a:prstGeom prst="rect">
            <a:avLst/>
          </a:prstGeom>
          <a:solidFill>
            <a:srgbClr val="FADBD8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FP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falso positivo</a:t>
            </a:r>
            <a:endParaRPr lang="es-AR" sz="2200" dirty="0">
              <a:latin typeface="Calibri"/>
            </a:endParaRPr>
          </a:p>
        </p:txBody>
      </p:sp>
      <p:sp>
        <p:nvSpPr>
          <p:cNvPr id="12" name="Celda FN"/>
          <p:cNvSpPr/>
          <p:nvPr/>
        </p:nvSpPr>
        <p:spPr>
          <a:xfrm>
            <a:off x="2377440" y="3246120"/>
            <a:ext cx="2514600" cy="1417320"/>
          </a:xfrm>
          <a:prstGeom prst="rect">
            <a:avLst/>
          </a:prstGeom>
          <a:solidFill>
            <a:srgbClr val="D5DBDB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FN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falso negativo</a:t>
            </a:r>
            <a:endParaRPr lang="es-AR" sz="2200" dirty="0">
              <a:latin typeface="Calibri"/>
            </a:endParaRPr>
          </a:p>
        </p:txBody>
      </p:sp>
      <p:sp>
        <p:nvSpPr>
          <p:cNvPr id="13" name="Celda VN"/>
          <p:cNvSpPr/>
          <p:nvPr/>
        </p:nvSpPr>
        <p:spPr>
          <a:xfrm>
            <a:off x="4892040" y="3246120"/>
            <a:ext cx="2514600" cy="1417320"/>
          </a:xfrm>
          <a:prstGeom prst="rect">
            <a:avLst/>
          </a:prstGeom>
          <a:solidFill>
            <a:srgbClr val="D5F5E3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VN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verdadero negativo</a:t>
            </a:r>
            <a:endParaRPr lang="es-AR" sz="2200" dirty="0">
              <a:latin typeface="Calibri"/>
            </a:endParaRPr>
          </a:p>
        </p:txBody>
      </p:sp>
      <p:sp>
        <p:nvSpPr>
          <p:cNvPr id="14" name="Marco sensibilidad"/>
          <p:cNvSpPr/>
          <p:nvPr/>
        </p:nvSpPr>
        <p:spPr>
          <a:xfrm>
            <a:off x="2322576" y="1773936"/>
            <a:ext cx="2624328" cy="2944368"/>
          </a:xfrm>
          <a:prstGeom prst="rect">
            <a:avLst/>
          </a:prstGeom>
          <a:noFill/>
          <a:ln w="57150" cap="rnd">
            <a:solidFill>
              <a:srgbClr val="C00000"/>
            </a:solidFill>
            <a:round/>
          </a:ln>
        </p:spPr>
      </p:sp>
      <p:sp>
        <p:nvSpPr>
          <p:cNvPr id="15" name="Marco especificidad"/>
          <p:cNvSpPr/>
          <p:nvPr/>
        </p:nvSpPr>
        <p:spPr>
          <a:xfrm>
            <a:off x="4837176" y="1773936"/>
            <a:ext cx="2624328" cy="2944368"/>
          </a:xfrm>
          <a:prstGeom prst="rect">
            <a:avLst/>
          </a:prstGeom>
          <a:noFill/>
          <a:ln w="57150" cap="rnd">
            <a:solidFill>
              <a:srgbClr val="4E7A30"/>
            </a:solidFill>
            <a:round/>
          </a:ln>
        </p:spPr>
      </p:sp>
      <p:sp>
        <p:nvSpPr>
          <p:cNvPr id="16" name="Marco VPP"/>
          <p:cNvSpPr/>
          <p:nvPr/>
        </p:nvSpPr>
        <p:spPr>
          <a:xfrm>
            <a:off x="2322576" y="1773936"/>
            <a:ext cx="5138928" cy="1527048"/>
          </a:xfrm>
          <a:prstGeom prst="rect">
            <a:avLst/>
          </a:prstGeom>
          <a:noFill/>
          <a:ln w="57150" cap="rnd">
            <a:solidFill>
              <a:srgbClr val="0070C0"/>
            </a:solidFill>
            <a:prstDash val="dash"/>
            <a:round/>
          </a:ln>
        </p:spPr>
      </p:sp>
      <p:sp>
        <p:nvSpPr>
          <p:cNvPr id="17" name="Marco VPN"/>
          <p:cNvSpPr/>
          <p:nvPr/>
        </p:nvSpPr>
        <p:spPr>
          <a:xfrm>
            <a:off x="2322576" y="3191256"/>
            <a:ext cx="5138928" cy="1527048"/>
          </a:xfrm>
          <a:prstGeom prst="rect">
            <a:avLst/>
          </a:prstGeom>
          <a:noFill/>
          <a:ln w="57150" cap="rnd">
            <a:solidFill>
              <a:srgbClr val="0070C0"/>
            </a:solidFill>
            <a:prstDash val="dash"/>
            <a:round/>
          </a:ln>
        </p:spPr>
      </p:sp>
      <p:sp>
        <p:nvSpPr>
          <p:cNvPr id="18" name="Fórmula S tabla"/>
          <p:cNvSpPr/>
          <p:nvPr/>
        </p:nvSpPr>
        <p:spPr>
          <a:xfrm>
            <a:off x="365760" y="4937760"/>
            <a:ext cx="3840480" cy="685800"/>
          </a:xfrm>
          <a:prstGeom prst="roundRect">
            <a:avLst>
              <a:gd name="adj" fmla="val 9000"/>
            </a:avLst>
          </a:prstGeom>
          <a:solidFill>
            <a:srgbClr val="F5B7B1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Sensibilidad = VP / (VP + FN)</a:t>
            </a:r>
            <a:endParaRPr lang="es-AR" sz="2050" dirty="0">
              <a:latin typeface="Calibri"/>
            </a:endParaRPr>
          </a:p>
        </p:txBody>
      </p:sp>
      <p:sp>
        <p:nvSpPr>
          <p:cNvPr id="19" name="Fórmula E tabla"/>
          <p:cNvSpPr/>
          <p:nvPr/>
        </p:nvSpPr>
        <p:spPr>
          <a:xfrm>
            <a:off x="4343400" y="4937760"/>
            <a:ext cx="3794760" cy="685800"/>
          </a:xfrm>
          <a:prstGeom prst="roundRect">
            <a:avLst>
              <a:gd name="adj" fmla="val 9000"/>
            </a:avLst>
          </a:prstGeom>
          <a:solidFill>
            <a:srgbClr val="D5F5E3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Especificidad = VN / (VN + FP)</a:t>
            </a:r>
            <a:endParaRPr lang="es-AR" sz="2050" dirty="0">
              <a:latin typeface="Calibri"/>
            </a:endParaRPr>
          </a:p>
        </p:txBody>
      </p:sp>
      <p:sp>
        <p:nvSpPr>
          <p:cNvPr id="20" name="Fórmula VPP"/>
          <p:cNvSpPr/>
          <p:nvPr/>
        </p:nvSpPr>
        <p:spPr>
          <a:xfrm>
            <a:off x="365760" y="5760720"/>
            <a:ext cx="3840480" cy="68580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VPP = VP / (VP + FP)</a:t>
            </a:r>
            <a:endParaRPr lang="es-AR" sz="2050" dirty="0">
              <a:latin typeface="Calibri"/>
            </a:endParaRPr>
          </a:p>
        </p:txBody>
      </p:sp>
      <p:sp>
        <p:nvSpPr>
          <p:cNvPr id="21" name="Fórmula VPN"/>
          <p:cNvSpPr/>
          <p:nvPr/>
        </p:nvSpPr>
        <p:spPr>
          <a:xfrm>
            <a:off x="4343400" y="5760720"/>
            <a:ext cx="3794760" cy="68580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VPN = VN / (VN + FN)</a:t>
            </a:r>
            <a:endParaRPr lang="es-AR" sz="2050" dirty="0">
              <a:latin typeface="Calibri"/>
            </a:endParaRPr>
          </a:p>
        </p:txBody>
      </p:sp>
      <p:grpSp>
        <p:nvGrpSpPr>
          <p:cNvPr id="22" name="Lectura columnas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3" name="Forma 22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Columnas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(estado real): sensibilidad y especificidad evalúan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desempeño de la prueba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8677656" y="1097280"/>
              <a:ext cx="179049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LECTURA VERTICAL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5" name="Lectura filas"/>
          <p:cNvGrpSpPr/>
          <p:nvPr/>
        </p:nvGrpSpPr>
        <p:grpSpPr>
          <a:xfrm>
            <a:off x="8549640" y="4069080"/>
            <a:ext cx="3383280" cy="2377440"/>
            <a:chOff x="8549640" y="4069080"/>
            <a:chExt cx="3383280" cy="2377440"/>
          </a:xfrm>
        </p:grpSpPr>
        <p:sp>
          <p:nvSpPr>
            <p:cNvPr id="26" name="Forma 25"/>
            <p:cNvSpPr/>
            <p:nvPr/>
          </p:nvSpPr>
          <p:spPr>
            <a:xfrm>
              <a:off x="8549640" y="42702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Filas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(resultado): los valores predictivos informan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probabilidad real de enfermedad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según el resultado obtenido.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8677656" y="4069080"/>
              <a:ext cx="205711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LECTURA HORIZONTAL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TABLA DE CONTINGENCIA 2 × 2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00"/>
                            </p:stCondLst>
                            <p:childTnLst>
                              <p:par>
                                <p:cTn id="4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00"/>
                            </p:stCondLst>
                            <p:childTnLst>
                              <p:par>
                                <p:cTn id="5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00"/>
                            </p:stCondLst>
                            <p:childTnLst>
                              <p:par>
                                <p:cTn id="7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600"/>
                            </p:stCondLst>
                            <p:childTnLst>
                              <p:par>
                                <p:cTn id="8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15" grpId="0" animBg="1"/>
      <p:bldP spid="19" grpId="0" animBg="1"/>
      <p:bldP spid="16" grpId="0" animBg="1"/>
      <p:bldP spid="20" grpId="0" animBg="1"/>
      <p:bldP spid="17" grpId="0" animBg="1"/>
      <p:bldP spid="21" grpId="0" animBg="1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EAF5EA"/>
          </a:solidFill>
          <a:ln>
            <a:noFill/>
          </a:ln>
        </p:spPr>
      </p:sp>
      <p:grpSp>
        <p:nvGrpSpPr>
          <p:cNvPr id="6" name="!!Embudo diagnóstico"/>
          <p:cNvGrpSpPr/>
          <p:nvPr/>
        </p:nvGrpSpPr>
        <p:grpSpPr>
          <a:xfrm>
            <a:off x="3291840" y="1097280"/>
            <a:ext cx="5577840" cy="2743200"/>
            <a:chOff x="3291840" y="1097280"/>
            <a:chExt cx="5577840" cy="2743200"/>
          </a:xfrm>
        </p:grpSpPr>
        <p:sp>
          <p:nvSpPr>
            <p:cNvPr id="7" name="Forma 6"/>
            <p:cNvSpPr/>
            <p:nvPr/>
          </p:nvSpPr>
          <p:spPr>
            <a:xfrm>
              <a:off x="3291840" y="1097280"/>
              <a:ext cx="5577840" cy="27432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650" y="1000"/>
                  </a:lnTo>
                  <a:lnTo>
                    <a:pt x="350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D8E6F2"/>
                </a:gs>
                <a:gs pos="100000">
                  <a:srgbClr val="86AADA"/>
                </a:gs>
              </a:gsLst>
              <a:lin ang="5400000" scaled="0"/>
            </a:gradFill>
            <a:ln w="25400" cap="rnd">
              <a:solidFill>
                <a:srgbClr val="1E1E1E"/>
              </a:solidFill>
              <a:round/>
            </a:ln>
          </p:spPr>
        </p:sp>
      </p:grpSp>
      <p:grpSp>
        <p:nvGrpSpPr>
          <p:cNvPr id="8" name="Población 1"/>
          <p:cNvGrpSpPr/>
          <p:nvPr/>
        </p:nvGrpSpPr>
        <p:grpSpPr>
          <a:xfrm>
            <a:off x="3566160" y="1234440"/>
            <a:ext cx="352044" cy="502920"/>
            <a:chOff x="3566160" y="1234440"/>
            <a:chExt cx="352044" cy="502920"/>
          </a:xfrm>
        </p:grpSpPr>
        <p:sp>
          <p:nvSpPr>
            <p:cNvPr id="9" name="Forma 8"/>
            <p:cNvSpPr/>
            <p:nvPr/>
          </p:nvSpPr>
          <p:spPr>
            <a:xfrm>
              <a:off x="365668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 rot="-5400000">
              <a:off x="356616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1" name="Población 2"/>
          <p:cNvGrpSpPr/>
          <p:nvPr/>
        </p:nvGrpSpPr>
        <p:grpSpPr>
          <a:xfrm>
            <a:off x="3943350" y="1234440"/>
            <a:ext cx="352044" cy="502920"/>
            <a:chOff x="3943350" y="1234440"/>
            <a:chExt cx="352044" cy="502920"/>
          </a:xfrm>
        </p:grpSpPr>
        <p:sp>
          <p:nvSpPr>
            <p:cNvPr id="12" name="Forma 11"/>
            <p:cNvSpPr/>
            <p:nvPr/>
          </p:nvSpPr>
          <p:spPr>
            <a:xfrm>
              <a:off x="403387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 rot="-5400000">
              <a:off x="394335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4" name="Población 3"/>
          <p:cNvGrpSpPr/>
          <p:nvPr/>
        </p:nvGrpSpPr>
        <p:grpSpPr>
          <a:xfrm>
            <a:off x="4320540" y="1234440"/>
            <a:ext cx="352044" cy="502920"/>
            <a:chOff x="4320540" y="1234440"/>
            <a:chExt cx="352044" cy="502920"/>
          </a:xfrm>
        </p:grpSpPr>
        <p:sp>
          <p:nvSpPr>
            <p:cNvPr id="15" name="Forma 14"/>
            <p:cNvSpPr/>
            <p:nvPr/>
          </p:nvSpPr>
          <p:spPr>
            <a:xfrm>
              <a:off x="441106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 rot="-5400000">
              <a:off x="432054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7" name="Población 4"/>
          <p:cNvGrpSpPr/>
          <p:nvPr/>
        </p:nvGrpSpPr>
        <p:grpSpPr>
          <a:xfrm>
            <a:off x="4697730" y="1234440"/>
            <a:ext cx="352044" cy="502920"/>
            <a:chOff x="4697730" y="1234440"/>
            <a:chExt cx="352044" cy="502920"/>
          </a:xfrm>
        </p:grpSpPr>
        <p:sp>
          <p:nvSpPr>
            <p:cNvPr id="18" name="Forma 17"/>
            <p:cNvSpPr/>
            <p:nvPr/>
          </p:nvSpPr>
          <p:spPr>
            <a:xfrm>
              <a:off x="478825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 rot="-5400000">
              <a:off x="469773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0" name="Población 5"/>
          <p:cNvGrpSpPr/>
          <p:nvPr/>
        </p:nvGrpSpPr>
        <p:grpSpPr>
          <a:xfrm>
            <a:off x="5074920" y="1234440"/>
            <a:ext cx="352044" cy="502920"/>
            <a:chOff x="5074920" y="1234440"/>
            <a:chExt cx="352044" cy="502920"/>
          </a:xfrm>
        </p:grpSpPr>
        <p:sp>
          <p:nvSpPr>
            <p:cNvPr id="21" name="Forma 20"/>
            <p:cNvSpPr/>
            <p:nvPr/>
          </p:nvSpPr>
          <p:spPr>
            <a:xfrm>
              <a:off x="516544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 rot="-5400000">
              <a:off x="507492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3" name="Población 6"/>
          <p:cNvGrpSpPr/>
          <p:nvPr/>
        </p:nvGrpSpPr>
        <p:grpSpPr>
          <a:xfrm>
            <a:off x="5452110" y="1234440"/>
            <a:ext cx="352044" cy="502920"/>
            <a:chOff x="5452110" y="1234440"/>
            <a:chExt cx="352044" cy="502920"/>
          </a:xfrm>
        </p:grpSpPr>
        <p:sp>
          <p:nvSpPr>
            <p:cNvPr id="24" name="Forma 23"/>
            <p:cNvSpPr/>
            <p:nvPr/>
          </p:nvSpPr>
          <p:spPr>
            <a:xfrm>
              <a:off x="554263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 rot="-5400000">
              <a:off x="545211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6" name="Población 7"/>
          <p:cNvGrpSpPr/>
          <p:nvPr/>
        </p:nvGrpSpPr>
        <p:grpSpPr>
          <a:xfrm>
            <a:off x="5829300" y="1234440"/>
            <a:ext cx="352044" cy="502920"/>
            <a:chOff x="5829300" y="1234440"/>
            <a:chExt cx="352044" cy="502920"/>
          </a:xfrm>
        </p:grpSpPr>
        <p:sp>
          <p:nvSpPr>
            <p:cNvPr id="27" name="Forma 26"/>
            <p:cNvSpPr/>
            <p:nvPr/>
          </p:nvSpPr>
          <p:spPr>
            <a:xfrm>
              <a:off x="591982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 rot="-5400000">
              <a:off x="582930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9" name="Población 8"/>
          <p:cNvGrpSpPr/>
          <p:nvPr/>
        </p:nvGrpSpPr>
        <p:grpSpPr>
          <a:xfrm>
            <a:off x="6206490" y="1234440"/>
            <a:ext cx="352044" cy="502920"/>
            <a:chOff x="6206490" y="1234440"/>
            <a:chExt cx="352044" cy="502920"/>
          </a:xfrm>
        </p:grpSpPr>
        <p:sp>
          <p:nvSpPr>
            <p:cNvPr id="30" name="Forma 29"/>
            <p:cNvSpPr/>
            <p:nvPr/>
          </p:nvSpPr>
          <p:spPr>
            <a:xfrm>
              <a:off x="629701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 rot="-5400000">
              <a:off x="620649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2" name="Población 9"/>
          <p:cNvGrpSpPr/>
          <p:nvPr/>
        </p:nvGrpSpPr>
        <p:grpSpPr>
          <a:xfrm>
            <a:off x="6583680" y="1234440"/>
            <a:ext cx="352044" cy="502920"/>
            <a:chOff x="6583680" y="1234440"/>
            <a:chExt cx="352044" cy="502920"/>
          </a:xfrm>
        </p:grpSpPr>
        <p:sp>
          <p:nvSpPr>
            <p:cNvPr id="33" name="Forma 32"/>
            <p:cNvSpPr/>
            <p:nvPr/>
          </p:nvSpPr>
          <p:spPr>
            <a:xfrm>
              <a:off x="667420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 rot="-5400000">
              <a:off x="658368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5" name="Población 10"/>
          <p:cNvGrpSpPr/>
          <p:nvPr/>
        </p:nvGrpSpPr>
        <p:grpSpPr>
          <a:xfrm>
            <a:off x="6960870" y="1234440"/>
            <a:ext cx="352044" cy="502920"/>
            <a:chOff x="6960870" y="1234440"/>
            <a:chExt cx="352044" cy="502920"/>
          </a:xfrm>
        </p:grpSpPr>
        <p:sp>
          <p:nvSpPr>
            <p:cNvPr id="36" name="Forma 35"/>
            <p:cNvSpPr/>
            <p:nvPr/>
          </p:nvSpPr>
          <p:spPr>
            <a:xfrm>
              <a:off x="705139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7" name="Forma 36"/>
            <p:cNvSpPr/>
            <p:nvPr/>
          </p:nvSpPr>
          <p:spPr>
            <a:xfrm rot="-5400000">
              <a:off x="696087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38" name="Población 11"/>
          <p:cNvGrpSpPr/>
          <p:nvPr/>
        </p:nvGrpSpPr>
        <p:grpSpPr>
          <a:xfrm>
            <a:off x="7338060" y="1234440"/>
            <a:ext cx="352044" cy="502920"/>
            <a:chOff x="7338060" y="1234440"/>
            <a:chExt cx="352044" cy="502920"/>
          </a:xfrm>
        </p:grpSpPr>
        <p:sp>
          <p:nvSpPr>
            <p:cNvPr id="39" name="Forma 38"/>
            <p:cNvSpPr/>
            <p:nvPr/>
          </p:nvSpPr>
          <p:spPr>
            <a:xfrm>
              <a:off x="742858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40" name="Forma 39"/>
            <p:cNvSpPr/>
            <p:nvPr/>
          </p:nvSpPr>
          <p:spPr>
            <a:xfrm rot="-5400000">
              <a:off x="733806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41" name="Población 12"/>
          <p:cNvGrpSpPr/>
          <p:nvPr/>
        </p:nvGrpSpPr>
        <p:grpSpPr>
          <a:xfrm>
            <a:off x="7715250" y="1234440"/>
            <a:ext cx="352044" cy="502920"/>
            <a:chOff x="7715250" y="1234440"/>
            <a:chExt cx="352044" cy="502920"/>
          </a:xfrm>
        </p:grpSpPr>
        <p:sp>
          <p:nvSpPr>
            <p:cNvPr id="42" name="Forma 41"/>
            <p:cNvSpPr/>
            <p:nvPr/>
          </p:nvSpPr>
          <p:spPr>
            <a:xfrm>
              <a:off x="780577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43" name="Forma 42"/>
            <p:cNvSpPr/>
            <p:nvPr/>
          </p:nvSpPr>
          <p:spPr>
            <a:xfrm rot="-5400000">
              <a:off x="771525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44" name="Población 13"/>
          <p:cNvGrpSpPr/>
          <p:nvPr/>
        </p:nvGrpSpPr>
        <p:grpSpPr>
          <a:xfrm>
            <a:off x="8092440" y="1234440"/>
            <a:ext cx="352044" cy="502920"/>
            <a:chOff x="8092440" y="1234440"/>
            <a:chExt cx="352044" cy="502920"/>
          </a:xfrm>
        </p:grpSpPr>
        <p:sp>
          <p:nvSpPr>
            <p:cNvPr id="45" name="Forma 44"/>
            <p:cNvSpPr/>
            <p:nvPr/>
          </p:nvSpPr>
          <p:spPr>
            <a:xfrm>
              <a:off x="818296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46" name="Forma 45"/>
            <p:cNvSpPr/>
            <p:nvPr/>
          </p:nvSpPr>
          <p:spPr>
            <a:xfrm rot="-5400000">
              <a:off x="809244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47" name="Población 14"/>
          <p:cNvGrpSpPr/>
          <p:nvPr/>
        </p:nvGrpSpPr>
        <p:grpSpPr>
          <a:xfrm>
            <a:off x="8469630" y="1234440"/>
            <a:ext cx="352044" cy="502920"/>
            <a:chOff x="8469630" y="1234440"/>
            <a:chExt cx="352044" cy="502920"/>
          </a:xfrm>
        </p:grpSpPr>
        <p:sp>
          <p:nvSpPr>
            <p:cNvPr id="48" name="Forma 47"/>
            <p:cNvSpPr/>
            <p:nvPr/>
          </p:nvSpPr>
          <p:spPr>
            <a:xfrm>
              <a:off x="8560156" y="1234440"/>
              <a:ext cx="170993" cy="170993"/>
            </a:xfrm>
            <a:prstGeom prst="ellipse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49" name="Forma 48"/>
            <p:cNvSpPr/>
            <p:nvPr/>
          </p:nvSpPr>
          <p:spPr>
            <a:xfrm rot="-5400000">
              <a:off x="8469630" y="1425550"/>
              <a:ext cx="352044" cy="311810"/>
            </a:xfrm>
            <a:prstGeom prst="flowChartDelay">
              <a:avLst/>
            </a:prstGeom>
            <a:solidFill>
              <a:srgbClr val="AEB6BF"/>
            </a:solidFill>
            <a:ln w="12700" cap="rnd">
              <a:solidFill>
                <a:srgbClr val="1E1E1E"/>
              </a:solidFill>
              <a:round/>
            </a:ln>
          </p:spPr>
        </p:sp>
      </p:grpSp>
      <p:sp>
        <p:nvSpPr>
          <p:cNvPr id="50" name="Rótulo screening"/>
          <p:cNvSpPr/>
          <p:nvPr/>
        </p:nvSpPr>
        <p:spPr>
          <a:xfrm>
            <a:off x="365760" y="1097280"/>
            <a:ext cx="2743200" cy="23774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Screening</a:t>
            </a:r>
            <a:endParaRPr lang="es-AR" sz="19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Alta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sensibilidad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garantiza que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negativo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sea verdaderamente negativo.</a:t>
            </a:r>
            <a:endParaRPr lang="es-AR" sz="1950" dirty="0">
              <a:latin typeface="Calibri"/>
            </a:endParaRPr>
          </a:p>
        </p:txBody>
      </p:sp>
      <p:sp>
        <p:nvSpPr>
          <p:cNvPr id="51" name="Positivos screening"/>
          <p:cNvSpPr/>
          <p:nvPr/>
        </p:nvSpPr>
        <p:spPr>
          <a:xfrm>
            <a:off x="5074920" y="4069080"/>
            <a:ext cx="2011680" cy="8229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Positivos</a:t>
            </a:r>
            <a:endParaRPr lang="es-AR" sz="2050" dirty="0">
              <a:latin typeface="Calibri"/>
            </a:endParaRPr>
          </a:p>
        </p:txBody>
      </p:sp>
      <p:sp>
        <p:nvSpPr>
          <p:cNvPr id="52" name="Rótulo confirmatoria"/>
          <p:cNvSpPr/>
          <p:nvPr/>
        </p:nvSpPr>
        <p:spPr>
          <a:xfrm>
            <a:off x="9052560" y="1097280"/>
            <a:ext cx="2743200" cy="23774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Confirmatoria</a:t>
            </a:r>
            <a:endParaRPr lang="es-AR" sz="19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Alta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especificidad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garantiza que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positivo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sea verdaderamente positivo.</a:t>
            </a:r>
            <a:endParaRPr lang="es-AR" sz="1950" dirty="0">
              <a:latin typeface="Calibri"/>
            </a:endParaRPr>
          </a:p>
        </p:txBody>
      </p:sp>
      <p:grpSp>
        <p:nvGrpSpPr>
          <p:cNvPr id="53" name="Tabla S vs E fila 0"/>
          <p:cNvGrpSpPr/>
          <p:nvPr/>
        </p:nvGrpSpPr>
        <p:grpSpPr>
          <a:xfrm>
            <a:off x="365760" y="4983480"/>
            <a:ext cx="11430000" cy="347472"/>
            <a:chOff x="365760" y="4983480"/>
            <a:chExt cx="11430000" cy="347472"/>
          </a:xfrm>
        </p:grpSpPr>
        <p:sp>
          <p:nvSpPr>
            <p:cNvPr id="54" name="Forma 53"/>
            <p:cNvSpPr/>
            <p:nvPr/>
          </p:nvSpPr>
          <p:spPr>
            <a:xfrm>
              <a:off x="365760" y="4983480"/>
              <a:ext cx="1554480" cy="347472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endParaRPr lang="es-AR" sz="1350" dirty="0">
                <a:latin typeface="Calibri"/>
              </a:endParaRPr>
            </a:p>
          </p:txBody>
        </p:sp>
        <p:sp>
          <p:nvSpPr>
            <p:cNvPr id="55" name="Forma 54"/>
            <p:cNvSpPr/>
            <p:nvPr/>
          </p:nvSpPr>
          <p:spPr>
            <a:xfrm>
              <a:off x="1920240" y="4983480"/>
              <a:ext cx="4937760" cy="347472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Alta sensibilidad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56" name="Forma 55"/>
            <p:cNvSpPr/>
            <p:nvPr/>
          </p:nvSpPr>
          <p:spPr>
            <a:xfrm>
              <a:off x="6858000" y="4983480"/>
              <a:ext cx="4937760" cy="347472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Alta especificidad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57" name="Tabla S vs E fila 1"/>
          <p:cNvGrpSpPr/>
          <p:nvPr/>
        </p:nvGrpSpPr>
        <p:grpSpPr>
          <a:xfrm>
            <a:off x="365760" y="5330952"/>
            <a:ext cx="11430000" cy="347472"/>
            <a:chOff x="365760" y="5330952"/>
            <a:chExt cx="11430000" cy="347472"/>
          </a:xfrm>
        </p:grpSpPr>
        <p:sp>
          <p:nvSpPr>
            <p:cNvPr id="58" name="Forma 57"/>
            <p:cNvSpPr/>
            <p:nvPr/>
          </p:nvSpPr>
          <p:spPr>
            <a:xfrm>
              <a:off x="365760" y="5330952"/>
              <a:ext cx="1554480" cy="34747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Uso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1920240" y="5330952"/>
              <a:ext cx="4937760" cy="34747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Screening / tamizaje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0" name="Forma 59"/>
            <p:cNvSpPr/>
            <p:nvPr/>
          </p:nvSpPr>
          <p:spPr>
            <a:xfrm>
              <a:off x="6858000" y="5330952"/>
              <a:ext cx="4937760" cy="34747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Prueba confirmatoria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61" name="Tabla S vs E fila 2"/>
          <p:cNvGrpSpPr/>
          <p:nvPr/>
        </p:nvGrpSpPr>
        <p:grpSpPr>
          <a:xfrm>
            <a:off x="365760" y="5678424"/>
            <a:ext cx="11430000" cy="347472"/>
            <a:chOff x="365760" y="5678424"/>
            <a:chExt cx="11430000" cy="347472"/>
          </a:xfrm>
        </p:grpSpPr>
        <p:sp>
          <p:nvSpPr>
            <p:cNvPr id="62" name="Forma 61"/>
            <p:cNvSpPr/>
            <p:nvPr/>
          </p:nvSpPr>
          <p:spPr>
            <a:xfrm>
              <a:off x="365760" y="5678424"/>
              <a:ext cx="1554480" cy="34747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Minimiza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3" name="Forma 62"/>
            <p:cNvSpPr/>
            <p:nvPr/>
          </p:nvSpPr>
          <p:spPr>
            <a:xfrm>
              <a:off x="1920240" y="5678424"/>
              <a:ext cx="4937760" cy="34747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Falsos negativos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4" name="Forma 63"/>
            <p:cNvSpPr/>
            <p:nvPr/>
          </p:nvSpPr>
          <p:spPr>
            <a:xfrm>
              <a:off x="6858000" y="5678424"/>
              <a:ext cx="4937760" cy="34747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Falsos positivos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65" name="Tabla S vs E fila 3"/>
          <p:cNvGrpSpPr/>
          <p:nvPr/>
        </p:nvGrpSpPr>
        <p:grpSpPr>
          <a:xfrm>
            <a:off x="365760" y="6025896"/>
            <a:ext cx="11430000" cy="539496"/>
            <a:chOff x="365760" y="6025896"/>
            <a:chExt cx="11430000" cy="539496"/>
          </a:xfrm>
        </p:grpSpPr>
        <p:sp>
          <p:nvSpPr>
            <p:cNvPr id="66" name="Forma 65"/>
            <p:cNvSpPr/>
            <p:nvPr/>
          </p:nvSpPr>
          <p:spPr>
            <a:xfrm>
              <a:off x="365760" y="6025896"/>
              <a:ext cx="155448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7" name="Forma 66"/>
            <p:cNvSpPr/>
            <p:nvPr/>
          </p:nvSpPr>
          <p:spPr>
            <a:xfrm>
              <a:off x="1920240" y="6025896"/>
              <a:ext cx="493776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Test rápido de VIH, test de embarazo, tamizaje neonatal, troponina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8" name="Forma 67"/>
            <p:cNvSpPr/>
            <p:nvPr/>
          </p:nvSpPr>
          <p:spPr>
            <a:xfrm>
              <a:off x="6858000" y="6025896"/>
              <a:ext cx="493776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Western Blot VIH, PCR para patógeno específico</a:t>
              </a:r>
              <a:endParaRPr lang="es-AR" sz="135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SCREENING FRENTE A PRUEBA CONFIRMATORIA</a:t>
            </a:r>
            <a:endParaRPr lang="es-AR" sz="2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6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!!Cinta métrica"/>
          <p:cNvGrpSpPr/>
          <p:nvPr/>
        </p:nvGrpSpPr>
        <p:grpSpPr>
          <a:xfrm>
            <a:off x="457200" y="1463040"/>
            <a:ext cx="4581144" cy="548640"/>
            <a:chOff x="457200" y="1463040"/>
            <a:chExt cx="4581144" cy="548640"/>
          </a:xfrm>
        </p:grpSpPr>
        <p:sp>
          <p:nvSpPr>
            <p:cNvPr id="6" name="Forma 5"/>
            <p:cNvSpPr/>
            <p:nvPr/>
          </p:nvSpPr>
          <p:spPr>
            <a:xfrm>
              <a:off x="457200" y="1463040"/>
              <a:ext cx="4572000" cy="548640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7" name="Flecha 6_2"/>
            <p:cNvSpPr/>
            <p:nvPr/>
          </p:nvSpPr>
          <p:spPr>
            <a:xfrm>
              <a:off x="457200" y="146304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8" name="Flecha 8_2"/>
            <p:cNvSpPr/>
            <p:nvPr/>
          </p:nvSpPr>
          <p:spPr>
            <a:xfrm>
              <a:off x="6858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9" name="Flecha 10_2"/>
            <p:cNvSpPr/>
            <p:nvPr/>
          </p:nvSpPr>
          <p:spPr>
            <a:xfrm>
              <a:off x="9144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0" name="Flecha 12_2"/>
            <p:cNvSpPr/>
            <p:nvPr/>
          </p:nvSpPr>
          <p:spPr>
            <a:xfrm>
              <a:off x="11430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1" name="Flecha 14_2"/>
            <p:cNvSpPr/>
            <p:nvPr/>
          </p:nvSpPr>
          <p:spPr>
            <a:xfrm>
              <a:off x="13716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2" name="Flecha 16_2"/>
            <p:cNvSpPr/>
            <p:nvPr/>
          </p:nvSpPr>
          <p:spPr>
            <a:xfrm>
              <a:off x="1600200" y="146304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3" name="Flecha 18_2"/>
            <p:cNvSpPr/>
            <p:nvPr/>
          </p:nvSpPr>
          <p:spPr>
            <a:xfrm>
              <a:off x="18288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4" name="Flecha 20_2"/>
            <p:cNvSpPr/>
            <p:nvPr/>
          </p:nvSpPr>
          <p:spPr>
            <a:xfrm>
              <a:off x="20574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5" name="Flecha 22_2"/>
            <p:cNvSpPr/>
            <p:nvPr/>
          </p:nvSpPr>
          <p:spPr>
            <a:xfrm>
              <a:off x="22860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6" name="Flecha 24_2"/>
            <p:cNvSpPr/>
            <p:nvPr/>
          </p:nvSpPr>
          <p:spPr>
            <a:xfrm>
              <a:off x="25146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7" name="Flecha 26_2"/>
            <p:cNvSpPr/>
            <p:nvPr/>
          </p:nvSpPr>
          <p:spPr>
            <a:xfrm>
              <a:off x="2743200" y="146304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8" name="Flecha 28_2"/>
            <p:cNvSpPr/>
            <p:nvPr/>
          </p:nvSpPr>
          <p:spPr>
            <a:xfrm>
              <a:off x="29718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9" name="Flecha 30_2"/>
            <p:cNvSpPr/>
            <p:nvPr/>
          </p:nvSpPr>
          <p:spPr>
            <a:xfrm>
              <a:off x="32004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0" name="Flecha 32_2"/>
            <p:cNvSpPr/>
            <p:nvPr/>
          </p:nvSpPr>
          <p:spPr>
            <a:xfrm>
              <a:off x="34290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1" name="Flecha 34_2"/>
            <p:cNvSpPr/>
            <p:nvPr/>
          </p:nvSpPr>
          <p:spPr>
            <a:xfrm>
              <a:off x="36576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2" name="Flecha 36_2"/>
            <p:cNvSpPr/>
            <p:nvPr/>
          </p:nvSpPr>
          <p:spPr>
            <a:xfrm>
              <a:off x="3886200" y="146304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3" name="Flecha 38_2"/>
            <p:cNvSpPr/>
            <p:nvPr/>
          </p:nvSpPr>
          <p:spPr>
            <a:xfrm>
              <a:off x="41148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4" name="Flecha 40_2"/>
            <p:cNvSpPr/>
            <p:nvPr/>
          </p:nvSpPr>
          <p:spPr>
            <a:xfrm>
              <a:off x="43434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5" name="Flecha 42_2"/>
            <p:cNvSpPr/>
            <p:nvPr/>
          </p:nvSpPr>
          <p:spPr>
            <a:xfrm>
              <a:off x="45720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6" name="Flecha 44_2"/>
            <p:cNvSpPr/>
            <p:nvPr/>
          </p:nvSpPr>
          <p:spPr>
            <a:xfrm>
              <a:off x="4800600" y="1463040"/>
              <a:ext cx="9144" cy="146304"/>
            </a:xfrm>
            <a:custGeom>
              <a:avLst/>
              <a:gdLst/>
              <a:ahLst/>
              <a:cxnLst/>
              <a:rect l="0" t="0" r="r" b="b"/>
              <a:pathLst>
                <a:path w="10" h="159" fill="none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7" name="Flecha 46_2"/>
            <p:cNvSpPr/>
            <p:nvPr/>
          </p:nvSpPr>
          <p:spPr>
            <a:xfrm>
              <a:off x="5029200" y="146304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28" name="!!Calibre"/>
          <p:cNvGrpSpPr/>
          <p:nvPr/>
        </p:nvGrpSpPr>
        <p:grpSpPr>
          <a:xfrm>
            <a:off x="457200" y="2788920"/>
            <a:ext cx="4572000" cy="1188720"/>
            <a:chOff x="457200" y="2788920"/>
            <a:chExt cx="4572000" cy="1188720"/>
          </a:xfrm>
        </p:grpSpPr>
        <p:sp>
          <p:nvSpPr>
            <p:cNvPr id="29" name="Forma 49"/>
            <p:cNvSpPr/>
            <p:nvPr/>
          </p:nvSpPr>
          <p:spPr>
            <a:xfrm>
              <a:off x="457200" y="2788920"/>
              <a:ext cx="4572000" cy="384048"/>
            </a:xfrm>
            <a:prstGeom prst="rect">
              <a:avLst/>
            </a:prstGeom>
            <a:gradFill rotWithShape="1">
              <a:gsLst>
                <a:gs pos="0">
                  <a:srgbClr val="D5DBDB"/>
                </a:gs>
                <a:gs pos="100000">
                  <a:srgbClr val="909497"/>
                </a:gs>
              </a:gsLst>
              <a:lin ang="5400000" scaled="0"/>
            </a:gra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30" name="Forma 50"/>
            <p:cNvSpPr/>
            <p:nvPr/>
          </p:nvSpPr>
          <p:spPr>
            <a:xfrm>
              <a:off x="457200" y="2788920"/>
              <a:ext cx="384048" cy="1188720"/>
            </a:xfrm>
            <a:prstGeom prst="rect">
              <a:avLst/>
            </a:prstGeom>
            <a:gradFill rotWithShape="1">
              <a:gsLst>
                <a:gs pos="0">
                  <a:srgbClr val="D5DBDB"/>
                </a:gs>
                <a:gs pos="100000">
                  <a:srgbClr val="909497"/>
                </a:gs>
              </a:gsLst>
              <a:lin ang="0" scaled="0"/>
            </a:gra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31" name="Forma 51"/>
            <p:cNvSpPr/>
            <p:nvPr/>
          </p:nvSpPr>
          <p:spPr>
            <a:xfrm>
              <a:off x="2011680" y="2788920"/>
              <a:ext cx="384048" cy="1188720"/>
            </a:xfrm>
            <a:prstGeom prst="rect">
              <a:avLst/>
            </a:prstGeom>
            <a:gradFill rotWithShape="1">
              <a:gsLst>
                <a:gs pos="0">
                  <a:srgbClr val="D5DBDB"/>
                </a:gs>
                <a:gs pos="100000">
                  <a:srgbClr val="909497"/>
                </a:gs>
              </a:gsLst>
              <a:lin ang="0" scaled="0"/>
            </a:gra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32" name="Flecha 52_2"/>
            <p:cNvSpPr/>
            <p:nvPr/>
          </p:nvSpPr>
          <p:spPr>
            <a:xfrm>
              <a:off x="86868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33" name="Flecha 54_2"/>
            <p:cNvSpPr/>
            <p:nvPr/>
          </p:nvSpPr>
          <p:spPr>
            <a:xfrm>
              <a:off x="94183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34" name="Flecha 56_2"/>
            <p:cNvSpPr/>
            <p:nvPr/>
          </p:nvSpPr>
          <p:spPr>
            <a:xfrm>
              <a:off x="101498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35" name="Flecha 58_2"/>
            <p:cNvSpPr/>
            <p:nvPr/>
          </p:nvSpPr>
          <p:spPr>
            <a:xfrm>
              <a:off x="108813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36" name="Flecha 60_2"/>
            <p:cNvSpPr/>
            <p:nvPr/>
          </p:nvSpPr>
          <p:spPr>
            <a:xfrm>
              <a:off x="116128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37" name="Flecha 62_2"/>
            <p:cNvSpPr/>
            <p:nvPr/>
          </p:nvSpPr>
          <p:spPr>
            <a:xfrm>
              <a:off x="123444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38" name="Flecha 64_2"/>
            <p:cNvSpPr/>
            <p:nvPr/>
          </p:nvSpPr>
          <p:spPr>
            <a:xfrm>
              <a:off x="130759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39" name="Flecha 66_2"/>
            <p:cNvSpPr/>
            <p:nvPr/>
          </p:nvSpPr>
          <p:spPr>
            <a:xfrm>
              <a:off x="138074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0" name="Flecha 68_2"/>
            <p:cNvSpPr/>
            <p:nvPr/>
          </p:nvSpPr>
          <p:spPr>
            <a:xfrm>
              <a:off x="145389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1" name="Flecha 70_2"/>
            <p:cNvSpPr/>
            <p:nvPr/>
          </p:nvSpPr>
          <p:spPr>
            <a:xfrm>
              <a:off x="152704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2" name="Flecha 72_2"/>
            <p:cNvSpPr/>
            <p:nvPr/>
          </p:nvSpPr>
          <p:spPr>
            <a:xfrm>
              <a:off x="160020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3" name="Flecha 74_2"/>
            <p:cNvSpPr/>
            <p:nvPr/>
          </p:nvSpPr>
          <p:spPr>
            <a:xfrm>
              <a:off x="167335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4" name="Flecha 76_2"/>
            <p:cNvSpPr/>
            <p:nvPr/>
          </p:nvSpPr>
          <p:spPr>
            <a:xfrm>
              <a:off x="174650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5" name="Flecha 78_2"/>
            <p:cNvSpPr/>
            <p:nvPr/>
          </p:nvSpPr>
          <p:spPr>
            <a:xfrm>
              <a:off x="181965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6" name="Flecha 80_2"/>
            <p:cNvSpPr/>
            <p:nvPr/>
          </p:nvSpPr>
          <p:spPr>
            <a:xfrm>
              <a:off x="189280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7" name="Flecha 82_2"/>
            <p:cNvSpPr/>
            <p:nvPr/>
          </p:nvSpPr>
          <p:spPr>
            <a:xfrm>
              <a:off x="196596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8" name="Flecha 84_2"/>
            <p:cNvSpPr/>
            <p:nvPr/>
          </p:nvSpPr>
          <p:spPr>
            <a:xfrm>
              <a:off x="203911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49" name="Flecha 86_2"/>
            <p:cNvSpPr/>
            <p:nvPr/>
          </p:nvSpPr>
          <p:spPr>
            <a:xfrm>
              <a:off x="211226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0" name="Flecha 88_2"/>
            <p:cNvSpPr/>
            <p:nvPr/>
          </p:nvSpPr>
          <p:spPr>
            <a:xfrm>
              <a:off x="218541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1" name="Flecha 90_2"/>
            <p:cNvSpPr/>
            <p:nvPr/>
          </p:nvSpPr>
          <p:spPr>
            <a:xfrm>
              <a:off x="225856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2" name="Flecha 92_2"/>
            <p:cNvSpPr/>
            <p:nvPr/>
          </p:nvSpPr>
          <p:spPr>
            <a:xfrm>
              <a:off x="233172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3" name="Flecha 94_2"/>
            <p:cNvSpPr/>
            <p:nvPr/>
          </p:nvSpPr>
          <p:spPr>
            <a:xfrm>
              <a:off x="240487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4" name="Flecha 96_2"/>
            <p:cNvSpPr/>
            <p:nvPr/>
          </p:nvSpPr>
          <p:spPr>
            <a:xfrm>
              <a:off x="247802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5" name="Flecha 98_2"/>
            <p:cNvSpPr/>
            <p:nvPr/>
          </p:nvSpPr>
          <p:spPr>
            <a:xfrm>
              <a:off x="255117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6" name="Flecha 100_2"/>
            <p:cNvSpPr/>
            <p:nvPr/>
          </p:nvSpPr>
          <p:spPr>
            <a:xfrm>
              <a:off x="262432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7" name="Flecha 102_2"/>
            <p:cNvSpPr/>
            <p:nvPr/>
          </p:nvSpPr>
          <p:spPr>
            <a:xfrm>
              <a:off x="269748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8" name="Flecha 104_2"/>
            <p:cNvSpPr/>
            <p:nvPr/>
          </p:nvSpPr>
          <p:spPr>
            <a:xfrm>
              <a:off x="277063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59" name="Flecha 106_2"/>
            <p:cNvSpPr/>
            <p:nvPr/>
          </p:nvSpPr>
          <p:spPr>
            <a:xfrm>
              <a:off x="284378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0" name="Flecha 108_2"/>
            <p:cNvSpPr/>
            <p:nvPr/>
          </p:nvSpPr>
          <p:spPr>
            <a:xfrm>
              <a:off x="291693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1" name="Flecha 110_2"/>
            <p:cNvSpPr/>
            <p:nvPr/>
          </p:nvSpPr>
          <p:spPr>
            <a:xfrm>
              <a:off x="299008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2" name="Flecha 112_2"/>
            <p:cNvSpPr/>
            <p:nvPr/>
          </p:nvSpPr>
          <p:spPr>
            <a:xfrm>
              <a:off x="306324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3" name="Flecha 114_2"/>
            <p:cNvSpPr/>
            <p:nvPr/>
          </p:nvSpPr>
          <p:spPr>
            <a:xfrm>
              <a:off x="313639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4" name="Flecha 116_2"/>
            <p:cNvSpPr/>
            <p:nvPr/>
          </p:nvSpPr>
          <p:spPr>
            <a:xfrm>
              <a:off x="320954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5" name="Flecha 118_2"/>
            <p:cNvSpPr/>
            <p:nvPr/>
          </p:nvSpPr>
          <p:spPr>
            <a:xfrm>
              <a:off x="328269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6" name="Flecha 120_2"/>
            <p:cNvSpPr/>
            <p:nvPr/>
          </p:nvSpPr>
          <p:spPr>
            <a:xfrm>
              <a:off x="335584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7" name="Flecha 122_2"/>
            <p:cNvSpPr/>
            <p:nvPr/>
          </p:nvSpPr>
          <p:spPr>
            <a:xfrm>
              <a:off x="342900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8" name="Flecha 124_2"/>
            <p:cNvSpPr/>
            <p:nvPr/>
          </p:nvSpPr>
          <p:spPr>
            <a:xfrm>
              <a:off x="350215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69" name="Flecha 126_2"/>
            <p:cNvSpPr/>
            <p:nvPr/>
          </p:nvSpPr>
          <p:spPr>
            <a:xfrm>
              <a:off x="357530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0" name="Flecha 128_2"/>
            <p:cNvSpPr/>
            <p:nvPr/>
          </p:nvSpPr>
          <p:spPr>
            <a:xfrm>
              <a:off x="364845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1" name="Flecha 130_2"/>
            <p:cNvSpPr/>
            <p:nvPr/>
          </p:nvSpPr>
          <p:spPr>
            <a:xfrm>
              <a:off x="372160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2" name="Flecha 132_2"/>
            <p:cNvSpPr/>
            <p:nvPr/>
          </p:nvSpPr>
          <p:spPr>
            <a:xfrm>
              <a:off x="379476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3" name="Flecha 134_2"/>
            <p:cNvSpPr/>
            <p:nvPr/>
          </p:nvSpPr>
          <p:spPr>
            <a:xfrm>
              <a:off x="386791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4" name="Flecha 136_2"/>
            <p:cNvSpPr/>
            <p:nvPr/>
          </p:nvSpPr>
          <p:spPr>
            <a:xfrm>
              <a:off x="394106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5" name="Flecha 138_2"/>
            <p:cNvSpPr/>
            <p:nvPr/>
          </p:nvSpPr>
          <p:spPr>
            <a:xfrm>
              <a:off x="401421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6" name="Flecha 140_2"/>
            <p:cNvSpPr/>
            <p:nvPr/>
          </p:nvSpPr>
          <p:spPr>
            <a:xfrm>
              <a:off x="408736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7" name="Flecha 142_2"/>
            <p:cNvSpPr/>
            <p:nvPr/>
          </p:nvSpPr>
          <p:spPr>
            <a:xfrm>
              <a:off x="416052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8" name="Flecha 144_2"/>
            <p:cNvSpPr/>
            <p:nvPr/>
          </p:nvSpPr>
          <p:spPr>
            <a:xfrm>
              <a:off x="4233672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79" name="Flecha 146_2"/>
            <p:cNvSpPr/>
            <p:nvPr/>
          </p:nvSpPr>
          <p:spPr>
            <a:xfrm>
              <a:off x="4306824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80" name="Flecha 148_2"/>
            <p:cNvSpPr/>
            <p:nvPr/>
          </p:nvSpPr>
          <p:spPr>
            <a:xfrm>
              <a:off x="4379976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81" name="Flecha 150_2"/>
            <p:cNvSpPr/>
            <p:nvPr/>
          </p:nvSpPr>
          <p:spPr>
            <a:xfrm>
              <a:off x="4453128" y="2788920"/>
              <a:ext cx="9144" cy="82296"/>
            </a:xfrm>
            <a:custGeom>
              <a:avLst/>
              <a:gdLst/>
              <a:ahLst/>
              <a:cxnLst/>
              <a:rect l="0" t="0" r="r" b="b"/>
              <a:pathLst>
                <a:path w="10" h="89" fill="none">
                  <a:moveTo>
                    <a:pt x="0" y="0"/>
                  </a:moveTo>
                  <a:lnTo>
                    <a:pt x="0" y="89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  <p:sp>
          <p:nvSpPr>
            <p:cNvPr id="82" name="Flecha 152_2"/>
            <p:cNvSpPr/>
            <p:nvPr/>
          </p:nvSpPr>
          <p:spPr>
            <a:xfrm>
              <a:off x="4526280" y="2788920"/>
              <a:ext cx="9144" cy="164592"/>
            </a:xfrm>
            <a:custGeom>
              <a:avLst/>
              <a:gdLst/>
              <a:ahLst/>
              <a:cxnLst/>
              <a:rect l="0" t="0" r="r" b="b"/>
              <a:pathLst>
                <a:path w="10" h="180" fill="none">
                  <a:moveTo>
                    <a:pt x="0" y="0"/>
                  </a:moveTo>
                  <a:lnTo>
                    <a:pt x="0" y="180"/>
                  </a:lnTo>
                </a:path>
              </a:pathLst>
            </a:custGeom>
            <a:noFill/>
            <a:ln w="7620" cap="rnd">
              <a:solidFill>
                <a:srgbClr val="1E1E1E"/>
              </a:solidFill>
              <a:round/>
            </a:ln>
          </p:spPr>
        </p:sp>
      </p:grpSp>
      <p:sp>
        <p:nvSpPr>
          <p:cNvPr id="83" name="Cinta texto"/>
          <p:cNvSpPr/>
          <p:nvPr/>
        </p:nvSpPr>
        <p:spPr>
          <a:xfrm>
            <a:off x="5303520" y="1234440"/>
            <a:ext cx="2743200" cy="10972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cinta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detecta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diferencias de micras.</a:t>
            </a:r>
            <a:endParaRPr lang="es-AR" sz="1800" dirty="0">
              <a:latin typeface="Calibri"/>
            </a:endParaRPr>
          </a:p>
        </p:txBody>
      </p:sp>
      <p:sp>
        <p:nvSpPr>
          <p:cNvPr id="84" name="Calibre texto"/>
          <p:cNvSpPr/>
          <p:nvPr/>
        </p:nvSpPr>
        <p:spPr>
          <a:xfrm>
            <a:off x="5303520" y="2606040"/>
            <a:ext cx="2743200" cy="109728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calibre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sí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es más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sensible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00" dirty="0">
              <a:latin typeface="Calibri"/>
            </a:endParaRPr>
          </a:p>
        </p:txBody>
      </p:sp>
      <p:sp>
        <p:nvSpPr>
          <p:cNvPr id="85" name="S analítica"/>
          <p:cNvSpPr/>
          <p:nvPr/>
        </p:nvSpPr>
        <p:spPr>
          <a:xfrm>
            <a:off x="457200" y="4343400"/>
            <a:ext cx="7589520" cy="9601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Sensibilidad analítica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capacidad del método de detectar la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mínima variación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un analito.</a:t>
            </a:r>
            <a:endParaRPr lang="es-AR" sz="2050" dirty="0">
              <a:latin typeface="Calibri"/>
            </a:endParaRPr>
          </a:p>
        </p:txBody>
      </p:sp>
      <p:sp>
        <p:nvSpPr>
          <p:cNvPr id="86" name="E analítica"/>
          <p:cNvSpPr/>
          <p:nvPr/>
        </p:nvSpPr>
        <p:spPr>
          <a:xfrm>
            <a:off x="457200" y="5486400"/>
            <a:ext cx="7589520" cy="96012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Especificidad analítica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capacidad del método de medir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solo el analito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para el que fue diseñado, sin medir sustancias similares.</a:t>
            </a:r>
            <a:endParaRPr lang="es-AR" sz="2050" dirty="0">
              <a:latin typeface="Calibri"/>
            </a:endParaRPr>
          </a:p>
        </p:txBody>
      </p:sp>
      <p:grpSp>
        <p:nvGrpSpPr>
          <p:cNvPr id="87" name="Llave y cerradura"/>
          <p:cNvGrpSpPr/>
          <p:nvPr/>
        </p:nvGrpSpPr>
        <p:grpSpPr>
          <a:xfrm>
            <a:off x="8778240" y="1280160"/>
            <a:ext cx="2971800" cy="2121408"/>
            <a:chOff x="8778240" y="1280160"/>
            <a:chExt cx="2971800" cy="2121408"/>
          </a:xfrm>
        </p:grpSpPr>
        <p:sp>
          <p:nvSpPr>
            <p:cNvPr id="88" name="Método forma"/>
            <p:cNvSpPr/>
            <p:nvPr/>
          </p:nvSpPr>
          <p:spPr>
            <a:xfrm>
              <a:off x="8778240" y="1280160"/>
              <a:ext cx="1828800" cy="15544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910" y="568"/>
                    <a:pt x="915" y="658"/>
                    <a:pt x="885" y="722"/>
                  </a:cubicBezTo>
                  <a:cubicBezTo>
                    <a:pt x="854" y="785"/>
                    <a:pt x="783" y="852"/>
                    <a:pt x="719" y="880"/>
                  </a:cubicBezTo>
                  <a:cubicBezTo>
                    <a:pt x="654" y="907"/>
                    <a:pt x="571" y="889"/>
                    <a:pt x="500" y="886"/>
                  </a:cubicBezTo>
                  <a:cubicBezTo>
                    <a:pt x="428" y="882"/>
                    <a:pt x="355" y="888"/>
                    <a:pt x="291" y="861"/>
                  </a:cubicBezTo>
                  <a:cubicBezTo>
                    <a:pt x="226" y="833"/>
                    <a:pt x="148" y="783"/>
                    <a:pt x="112" y="723"/>
                  </a:cubicBezTo>
                  <a:cubicBezTo>
                    <a:pt x="75" y="662"/>
                    <a:pt x="70" y="574"/>
                    <a:pt x="70" y="500"/>
                  </a:cubicBezTo>
                  <a:cubicBezTo>
                    <a:pt x="69" y="425"/>
                    <a:pt x="75" y="339"/>
                    <a:pt x="110" y="275"/>
                  </a:cubicBezTo>
                  <a:cubicBezTo>
                    <a:pt x="144" y="210"/>
                    <a:pt x="212" y="140"/>
                    <a:pt x="277" y="115"/>
                  </a:cubicBezTo>
                  <a:cubicBezTo>
                    <a:pt x="341" y="89"/>
                    <a:pt x="424" y="122"/>
                    <a:pt x="499" y="122"/>
                  </a:cubicBezTo>
                  <a:cubicBezTo>
                    <a:pt x="573" y="121"/>
                    <a:pt x="669" y="80"/>
                    <a:pt x="723" y="112"/>
                  </a:cubicBezTo>
                  <a:cubicBezTo>
                    <a:pt x="776" y="144"/>
                    <a:pt x="791" y="249"/>
                    <a:pt x="821" y="314"/>
                  </a:cubicBezTo>
                  <a:cubicBezTo>
                    <a:pt x="850" y="378"/>
                    <a:pt x="889" y="432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BDCF2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26074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Método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9" name="Analito ok"/>
            <p:cNvSpPr/>
            <p:nvPr/>
          </p:nvSpPr>
          <p:spPr>
            <a:xfrm>
              <a:off x="10607040" y="1737360"/>
              <a:ext cx="11430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CB83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Analito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0" name="Analito similar"/>
            <p:cNvSpPr/>
            <p:nvPr/>
          </p:nvSpPr>
          <p:spPr>
            <a:xfrm>
              <a:off x="10607040" y="3017520"/>
              <a:ext cx="11430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3E7E7"/>
                </a:gs>
                <a:gs pos="55000">
                  <a:srgbClr val="D5DBDB"/>
                </a:gs>
                <a:gs pos="100000">
                  <a:srgbClr val="AAAFAF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A6D6D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Similar</a:t>
              </a:r>
              <a:endParaRPr lang="es-AR" sz="1400" dirty="0">
                <a:latin typeface="Calibri"/>
              </a:endParaRPr>
            </a:p>
          </p:txBody>
        </p:sp>
        <p:grpSp>
          <p:nvGrpSpPr>
            <p:cNvPr id="91" name="No se mide"/>
            <p:cNvGrpSpPr/>
            <p:nvPr/>
          </p:nvGrpSpPr>
          <p:grpSpPr>
            <a:xfrm>
              <a:off x="10010235" y="2837778"/>
              <a:ext cx="551085" cy="362622"/>
              <a:chOff x="10010235" y="2837778"/>
              <a:chExt cx="551085" cy="362622"/>
            </a:xfrm>
          </p:grpSpPr>
          <p:sp>
            <p:nvSpPr>
              <p:cNvPr id="92" name="Flecha 163_2"/>
              <p:cNvSpPr/>
              <p:nvPr/>
            </p:nvSpPr>
            <p:spPr>
              <a:xfrm>
                <a:off x="10058400" y="2926080"/>
                <a:ext cx="502920" cy="274320"/>
              </a:xfrm>
              <a:custGeom>
                <a:avLst/>
                <a:gdLst/>
                <a:ahLst/>
                <a:cxnLst/>
                <a:rect l="0" t="0" r="r" b="b"/>
                <a:pathLst>
                  <a:path w="550" h="299" fill="none">
                    <a:moveTo>
                      <a:pt x="550" y="299"/>
                    </a:moveTo>
                    <a:lnTo>
                      <a:pt x="0" y="0"/>
                    </a:lnTo>
                  </a:path>
                </a:pathLst>
              </a:custGeom>
              <a:noFill/>
              <a:ln w="31750" cap="rnd">
                <a:solidFill>
                  <a:srgbClr val="C00000"/>
                </a:solidFill>
                <a:round/>
              </a:ln>
            </p:spPr>
          </p:sp>
          <p:sp>
            <p:nvSpPr>
              <p:cNvPr id="93" name="Flecha 165_2"/>
              <p:cNvSpPr/>
              <p:nvPr/>
            </p:nvSpPr>
            <p:spPr>
              <a:xfrm>
                <a:off x="10010235" y="2837778"/>
                <a:ext cx="96330" cy="176604"/>
              </a:xfrm>
              <a:custGeom>
                <a:avLst/>
                <a:gdLst/>
                <a:ahLst/>
                <a:cxnLst/>
                <a:rect l="0" t="0" r="r" b="b"/>
                <a:pathLst>
                  <a:path w="105" h="193" fill="none">
                    <a:moveTo>
                      <a:pt x="0" y="193"/>
                    </a:moveTo>
                    <a:lnTo>
                      <a:pt x="105" y="0"/>
                    </a:lnTo>
                  </a:path>
                </a:pathLst>
              </a:custGeom>
              <a:noFill/>
              <a:ln w="50800" cap="rnd">
                <a:solidFill>
                  <a:srgbClr val="C00000"/>
                </a:solidFill>
                <a:round/>
              </a:ln>
            </p:spPr>
          </p:sp>
        </p:grpSp>
      </p:grpSp>
      <p:sp>
        <p:nvSpPr>
          <p:cNvPr id="94" name="Diferencia acepciones"/>
          <p:cNvSpPr/>
          <p:nvPr/>
        </p:nvSpPr>
        <p:spPr>
          <a:xfrm>
            <a:off x="8549640" y="406908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Estas acepciones describen al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método analítico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las de las diapositivas previas describen el desempeño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diagnóstico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la prueba.</a:t>
            </a:r>
            <a:endParaRPr lang="es-AR" sz="18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SEGUNDA ACEPCIÓN: SENSIBILIDAD Y ESPECIFICIDAD ANALÍTICAS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9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  <p:bldP spid="86" grpId="0" animBg="1"/>
      <p:bldP spid="94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VPP"/>
          <p:cNvGrpSpPr/>
          <p:nvPr/>
        </p:nvGrpSpPr>
        <p:grpSpPr>
          <a:xfrm>
            <a:off x="365760" y="1097280"/>
            <a:ext cx="3749040" cy="2286000"/>
            <a:chOff x="365760" y="1097280"/>
            <a:chExt cx="3749040" cy="2286000"/>
          </a:xfrm>
        </p:grpSpPr>
        <p:sp>
          <p:nvSpPr>
            <p:cNvPr id="6" name="Forma 5"/>
            <p:cNvSpPr/>
            <p:nvPr/>
          </p:nvSpPr>
          <p:spPr>
            <a:xfrm>
              <a:off x="365760" y="1298448"/>
              <a:ext cx="3749040" cy="20848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Probabilidad de que un individuo con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resultado positivo realmente tenga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 enfermedad.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493776" y="1097280"/>
              <a:ext cx="620018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VPP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8" name="Fórmula VPP2"/>
          <p:cNvSpPr/>
          <p:nvPr/>
        </p:nvSpPr>
        <p:spPr>
          <a:xfrm>
            <a:off x="365760" y="3520440"/>
            <a:ext cx="374904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VPP = VP / (VP + FP)</a:t>
            </a:r>
            <a:endParaRPr lang="es-AR" sz="2200" dirty="0">
              <a:latin typeface="Calibri"/>
            </a:endParaRPr>
          </a:p>
        </p:txBody>
      </p:sp>
      <p:grpSp>
        <p:nvGrpSpPr>
          <p:cNvPr id="9" name="VPN"/>
          <p:cNvGrpSpPr/>
          <p:nvPr/>
        </p:nvGrpSpPr>
        <p:grpSpPr>
          <a:xfrm>
            <a:off x="365760" y="4526280"/>
            <a:ext cx="3749040" cy="1920240"/>
            <a:chOff x="365760" y="4526280"/>
            <a:chExt cx="3749040" cy="1920240"/>
          </a:xfrm>
        </p:grpSpPr>
        <p:sp>
          <p:nvSpPr>
            <p:cNvPr id="10" name="Forma 9"/>
            <p:cNvSpPr/>
            <p:nvPr/>
          </p:nvSpPr>
          <p:spPr>
            <a:xfrm>
              <a:off x="365760" y="4727448"/>
              <a:ext cx="3749040" cy="171907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Probabilidad de que un individuo con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resultado negativo realmente NO tenga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 enfermedad.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493776" y="4526280"/>
              <a:ext cx="643625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VPN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2" name="Fórmula VPN2"/>
          <p:cNvSpPr/>
          <p:nvPr/>
        </p:nvSpPr>
        <p:spPr>
          <a:xfrm>
            <a:off x="4480560" y="4526280"/>
            <a:ext cx="365760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VPN = VN / (VN + FN)</a:t>
            </a:r>
            <a:endParaRPr lang="es-AR" sz="2200" dirty="0">
              <a:latin typeface="Calibri"/>
            </a:endParaRPr>
          </a:p>
        </p:txBody>
      </p:sp>
      <p:sp>
        <p:nvSpPr>
          <p:cNvPr id="13" name="Diferencia VP"/>
          <p:cNvSpPr/>
          <p:nvPr/>
        </p:nvSpPr>
        <p:spPr>
          <a:xfrm>
            <a:off x="4480560" y="1097280"/>
            <a:ext cx="3657600" cy="32004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Sensibilidad y especificidad evalúan el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desempeño de la prueba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los valores predictivos responden la pregunta del paciente: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«con este resultado, ¿qué probabilidad tengo?»</a:t>
            </a:r>
            <a:endParaRPr lang="es-AR" sz="2050" dirty="0">
              <a:latin typeface="Calibri"/>
            </a:endParaRPr>
          </a:p>
        </p:txBody>
      </p:sp>
      <p:grpSp>
        <p:nvGrpSpPr>
          <p:cNvPr id="14" name="Rigor VP"/>
          <p:cNvGrpSpPr/>
          <p:nvPr/>
        </p:nvGrpSpPr>
        <p:grpSpPr>
          <a:xfrm>
            <a:off x="8458200" y="1097280"/>
            <a:ext cx="3474720" cy="5349240"/>
            <a:chOff x="8458200" y="1097280"/>
            <a:chExt cx="3474720" cy="5349240"/>
          </a:xfrm>
        </p:grpSpPr>
        <p:sp>
          <p:nvSpPr>
            <p:cNvPr id="15" name="Forma 14"/>
            <p:cNvSpPr/>
            <p:nvPr/>
          </p:nvSpPr>
          <p:spPr>
            <a:xfrm>
              <a:off x="8458200" y="1298448"/>
              <a:ext cx="347472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Relación correcta con el desempeño de la prueba:</a:t>
              </a:r>
              <a:endParaRPr lang="es-AR" sz="1850" dirty="0">
                <a:latin typeface="Calibri"/>
              </a:endParaRPr>
            </a:p>
            <a:p>
              <a:pPr algn="l" marL="176212" indent="-176212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especificidad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menos FP →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VPP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  <a:p>
              <a:pPr algn="l" marL="176212" indent="-176212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sensibilidad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menos FN →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VPN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  <a:p>
              <a:pPr algn="l" marL="176212" indent="-176212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Ambos valores dependen además de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prevalencia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enfermedad en la población estudiada.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858621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Deco VP"/>
          <p:cNvGrpSpPr/>
          <p:nvPr/>
        </p:nvGrpSpPr>
        <p:grpSpPr>
          <a:xfrm>
            <a:off x="5194012" y="5569591"/>
            <a:ext cx="891187" cy="807367"/>
            <a:chOff x="5194012" y="5569591"/>
            <a:chExt cx="891187" cy="807367"/>
          </a:xfrm>
        </p:grpSpPr>
        <p:sp>
          <p:nvSpPr>
            <p:cNvPr id="18" name="Flecha 17_2"/>
            <p:cNvSpPr/>
            <p:nvPr/>
          </p:nvSpPr>
          <p:spPr>
            <a:xfrm>
              <a:off x="5602605" y="5863590"/>
              <a:ext cx="209550" cy="104775"/>
            </a:xfrm>
            <a:custGeom>
              <a:avLst/>
              <a:gdLst/>
              <a:ahLst/>
              <a:cxnLst/>
              <a:rect l="0" t="0" r="r" b="b"/>
              <a:pathLst>
                <a:path w="229" h="114" fill="none">
                  <a:moveTo>
                    <a:pt x="0" y="114"/>
                  </a:moveTo>
                  <a:lnTo>
                    <a:pt x="229" y="0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19" name="Flecha 19_2"/>
            <p:cNvSpPr/>
            <p:nvPr/>
          </p:nvSpPr>
          <p:spPr>
            <a:xfrm>
              <a:off x="5602605" y="5863590"/>
              <a:ext cx="209550" cy="104775"/>
            </a:xfrm>
            <a:custGeom>
              <a:avLst/>
              <a:gdLst/>
              <a:ahLst/>
              <a:cxnLst/>
              <a:rect l="0" t="0" r="r" b="b"/>
              <a:pathLst>
                <a:path w="229" h="114" fill="none">
                  <a:moveTo>
                    <a:pt x="0" y="114"/>
                  </a:moveTo>
                  <a:lnTo>
                    <a:pt x="229" y="0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20" name="Flecha 21_2"/>
            <p:cNvSpPr/>
            <p:nvPr/>
          </p:nvSpPr>
          <p:spPr>
            <a:xfrm>
              <a:off x="5812155" y="5863590"/>
              <a:ext cx="188595" cy="83820"/>
            </a:xfrm>
            <a:custGeom>
              <a:avLst/>
              <a:gdLst/>
              <a:ahLst/>
              <a:cxnLst/>
              <a:rect l="0" t="0" r="r" b="b"/>
              <a:pathLst>
                <a:path w="206" h="91" fill="none">
                  <a:moveTo>
                    <a:pt x="0" y="0"/>
                  </a:moveTo>
                  <a:lnTo>
                    <a:pt x="206" y="91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21" name="Flecha 23_2"/>
            <p:cNvSpPr/>
            <p:nvPr/>
          </p:nvSpPr>
          <p:spPr>
            <a:xfrm>
              <a:off x="5812155" y="5863590"/>
              <a:ext cx="188595" cy="83820"/>
            </a:xfrm>
            <a:custGeom>
              <a:avLst/>
              <a:gdLst/>
              <a:ahLst/>
              <a:cxnLst/>
              <a:rect l="0" t="0" r="r" b="b"/>
              <a:pathLst>
                <a:path w="206" h="91" fill="none">
                  <a:moveTo>
                    <a:pt x="0" y="0"/>
                  </a:moveTo>
                  <a:lnTo>
                    <a:pt x="206" y="91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22" name="Flecha 25_2"/>
            <p:cNvSpPr/>
            <p:nvPr/>
          </p:nvSpPr>
          <p:spPr>
            <a:xfrm>
              <a:off x="5812155" y="5654040"/>
              <a:ext cx="20955" cy="209550"/>
            </a:xfrm>
            <a:custGeom>
              <a:avLst/>
              <a:gdLst/>
              <a:ahLst/>
              <a:cxnLst/>
              <a:rect l="0" t="0" r="r" b="b"/>
              <a:pathLst>
                <a:path w="22" h="229" fill="none">
                  <a:moveTo>
                    <a:pt x="0" y="229"/>
                  </a:moveTo>
                  <a:lnTo>
                    <a:pt x="22" y="0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23" name="Flecha 27_2"/>
            <p:cNvSpPr/>
            <p:nvPr/>
          </p:nvSpPr>
          <p:spPr>
            <a:xfrm>
              <a:off x="5812155" y="5654040"/>
              <a:ext cx="20955" cy="209550"/>
            </a:xfrm>
            <a:custGeom>
              <a:avLst/>
              <a:gdLst/>
              <a:ahLst/>
              <a:cxnLst/>
              <a:rect l="0" t="0" r="r" b="b"/>
              <a:pathLst>
                <a:path w="22" h="229" fill="none">
                  <a:moveTo>
                    <a:pt x="0" y="229"/>
                  </a:moveTo>
                  <a:lnTo>
                    <a:pt x="22" y="0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24" name="Flecha 29_2"/>
            <p:cNvSpPr/>
            <p:nvPr/>
          </p:nvSpPr>
          <p:spPr>
            <a:xfrm>
              <a:off x="5414010" y="5842635"/>
              <a:ext cx="188595" cy="125730"/>
            </a:xfrm>
            <a:custGeom>
              <a:avLst/>
              <a:gdLst/>
              <a:ahLst/>
              <a:cxnLst/>
              <a:rect l="0" t="0" r="r" b="b"/>
              <a:pathLst>
                <a:path w="206" h="137" fill="none">
                  <a:moveTo>
                    <a:pt x="206" y="137"/>
                  </a:moveTo>
                  <a:lnTo>
                    <a:pt x="0" y="0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25" name="Flecha 31_2"/>
            <p:cNvSpPr/>
            <p:nvPr/>
          </p:nvSpPr>
          <p:spPr>
            <a:xfrm>
              <a:off x="5414010" y="5842635"/>
              <a:ext cx="188595" cy="125730"/>
            </a:xfrm>
            <a:custGeom>
              <a:avLst/>
              <a:gdLst/>
              <a:ahLst/>
              <a:cxnLst/>
              <a:rect l="0" t="0" r="r" b="b"/>
              <a:pathLst>
                <a:path w="206" h="137" fill="none">
                  <a:moveTo>
                    <a:pt x="206" y="137"/>
                  </a:moveTo>
                  <a:lnTo>
                    <a:pt x="0" y="0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26" name="Flecha 33_2"/>
            <p:cNvSpPr/>
            <p:nvPr/>
          </p:nvSpPr>
          <p:spPr>
            <a:xfrm>
              <a:off x="5246370" y="5842635"/>
              <a:ext cx="167640" cy="83820"/>
            </a:xfrm>
            <a:custGeom>
              <a:avLst/>
              <a:gdLst/>
              <a:ahLst/>
              <a:cxnLst/>
              <a:rect l="0" t="0" r="r" b="b"/>
              <a:pathLst>
                <a:path w="183" h="91" fill="none">
                  <a:moveTo>
                    <a:pt x="183" y="0"/>
                  </a:moveTo>
                  <a:lnTo>
                    <a:pt x="0" y="91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27" name="Flecha 35_2"/>
            <p:cNvSpPr/>
            <p:nvPr/>
          </p:nvSpPr>
          <p:spPr>
            <a:xfrm>
              <a:off x="5246370" y="5842635"/>
              <a:ext cx="167640" cy="83820"/>
            </a:xfrm>
            <a:custGeom>
              <a:avLst/>
              <a:gdLst/>
              <a:ahLst/>
              <a:cxnLst/>
              <a:rect l="0" t="0" r="r" b="b"/>
              <a:pathLst>
                <a:path w="183" h="91" fill="none">
                  <a:moveTo>
                    <a:pt x="183" y="0"/>
                  </a:moveTo>
                  <a:lnTo>
                    <a:pt x="0" y="91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28" name="Flecha 37_2"/>
            <p:cNvSpPr/>
            <p:nvPr/>
          </p:nvSpPr>
          <p:spPr>
            <a:xfrm>
              <a:off x="5393055" y="5654040"/>
              <a:ext cx="20955" cy="188595"/>
            </a:xfrm>
            <a:custGeom>
              <a:avLst/>
              <a:gdLst/>
              <a:ahLst/>
              <a:cxnLst/>
              <a:rect l="0" t="0" r="r" b="b"/>
              <a:pathLst>
                <a:path w="22" h="206" fill="none">
                  <a:moveTo>
                    <a:pt x="22" y="206"/>
                  </a:moveTo>
                  <a:lnTo>
                    <a:pt x="0" y="0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29" name="Flecha 39_2"/>
            <p:cNvSpPr/>
            <p:nvPr/>
          </p:nvSpPr>
          <p:spPr>
            <a:xfrm>
              <a:off x="5393055" y="5654040"/>
              <a:ext cx="20955" cy="188595"/>
            </a:xfrm>
            <a:custGeom>
              <a:avLst/>
              <a:gdLst/>
              <a:ahLst/>
              <a:cxnLst/>
              <a:rect l="0" t="0" r="r" b="b"/>
              <a:pathLst>
                <a:path w="22" h="206" fill="none">
                  <a:moveTo>
                    <a:pt x="22" y="206"/>
                  </a:moveTo>
                  <a:lnTo>
                    <a:pt x="0" y="0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30" name="Flecha 41_2"/>
            <p:cNvSpPr/>
            <p:nvPr/>
          </p:nvSpPr>
          <p:spPr>
            <a:xfrm>
              <a:off x="5602605" y="5968365"/>
              <a:ext cx="9144" cy="230505"/>
            </a:xfrm>
            <a:custGeom>
              <a:avLst/>
              <a:gdLst/>
              <a:ahLst/>
              <a:cxnLst/>
              <a:rect l="0" t="0" r="r" b="b"/>
              <a:pathLst>
                <a:path w="10" h="252" fill="none">
                  <a:moveTo>
                    <a:pt x="0" y="0"/>
                  </a:moveTo>
                  <a:lnTo>
                    <a:pt x="0" y="252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31" name="Flecha 43_2"/>
            <p:cNvSpPr/>
            <p:nvPr/>
          </p:nvSpPr>
          <p:spPr>
            <a:xfrm>
              <a:off x="5602605" y="5968365"/>
              <a:ext cx="9144" cy="230505"/>
            </a:xfrm>
            <a:custGeom>
              <a:avLst/>
              <a:gdLst/>
              <a:ahLst/>
              <a:cxnLst/>
              <a:rect l="0" t="0" r="r" b="b"/>
              <a:pathLst>
                <a:path w="10" h="252" fill="none">
                  <a:moveTo>
                    <a:pt x="0" y="0"/>
                  </a:moveTo>
                  <a:lnTo>
                    <a:pt x="0" y="252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32" name="Flecha 45_2"/>
            <p:cNvSpPr/>
            <p:nvPr/>
          </p:nvSpPr>
          <p:spPr>
            <a:xfrm>
              <a:off x="5602605" y="6198870"/>
              <a:ext cx="146685" cy="125730"/>
            </a:xfrm>
            <a:custGeom>
              <a:avLst/>
              <a:gdLst/>
              <a:ahLst/>
              <a:cxnLst/>
              <a:rect l="0" t="0" r="r" b="b"/>
              <a:pathLst>
                <a:path w="160" h="137" fill="none">
                  <a:moveTo>
                    <a:pt x="0" y="0"/>
                  </a:moveTo>
                  <a:lnTo>
                    <a:pt x="160" y="137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33" name="Flecha 47_2"/>
            <p:cNvSpPr/>
            <p:nvPr/>
          </p:nvSpPr>
          <p:spPr>
            <a:xfrm>
              <a:off x="5602605" y="6198870"/>
              <a:ext cx="146685" cy="125730"/>
            </a:xfrm>
            <a:custGeom>
              <a:avLst/>
              <a:gdLst/>
              <a:ahLst/>
              <a:cxnLst/>
              <a:rect l="0" t="0" r="r" b="b"/>
              <a:pathLst>
                <a:path w="160" h="137" fill="none">
                  <a:moveTo>
                    <a:pt x="0" y="0"/>
                  </a:moveTo>
                  <a:lnTo>
                    <a:pt x="160" y="137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34" name="Flecha 49_2"/>
            <p:cNvSpPr/>
            <p:nvPr/>
          </p:nvSpPr>
          <p:spPr>
            <a:xfrm>
              <a:off x="5455920" y="6198870"/>
              <a:ext cx="146685" cy="125730"/>
            </a:xfrm>
            <a:custGeom>
              <a:avLst/>
              <a:gdLst/>
              <a:ahLst/>
              <a:cxnLst/>
              <a:rect l="0" t="0" r="r" b="b"/>
              <a:pathLst>
                <a:path w="160" h="137" fill="none">
                  <a:moveTo>
                    <a:pt x="160" y="0"/>
                  </a:moveTo>
                  <a:lnTo>
                    <a:pt x="0" y="137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35" name="Flecha 51_2"/>
            <p:cNvSpPr/>
            <p:nvPr/>
          </p:nvSpPr>
          <p:spPr>
            <a:xfrm>
              <a:off x="5455920" y="6198870"/>
              <a:ext cx="146685" cy="125730"/>
            </a:xfrm>
            <a:custGeom>
              <a:avLst/>
              <a:gdLst/>
              <a:ahLst/>
              <a:cxnLst/>
              <a:rect l="0" t="0" r="r" b="b"/>
              <a:pathLst>
                <a:path w="160" h="137" fill="none">
                  <a:moveTo>
                    <a:pt x="160" y="0"/>
                  </a:moveTo>
                  <a:lnTo>
                    <a:pt x="0" y="137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36" name="Flecha 53_2"/>
            <p:cNvSpPr/>
            <p:nvPr/>
          </p:nvSpPr>
          <p:spPr>
            <a:xfrm>
              <a:off x="5497830" y="5968365"/>
              <a:ext cx="104775" cy="73342"/>
            </a:xfrm>
            <a:custGeom>
              <a:avLst/>
              <a:gdLst/>
              <a:ahLst/>
              <a:cxnLst/>
              <a:rect l="0" t="0" r="r" b="b"/>
              <a:pathLst>
                <a:path w="114" h="80" fill="none">
                  <a:moveTo>
                    <a:pt x="114" y="0"/>
                  </a:moveTo>
                  <a:lnTo>
                    <a:pt x="0" y="80"/>
                  </a:lnTo>
                </a:path>
              </a:pathLst>
            </a:custGeom>
            <a:noFill/>
            <a:ln w="46566" cap="rnd">
              <a:solidFill>
                <a:srgbClr val="B9B9B9"/>
              </a:solidFill>
              <a:round/>
            </a:ln>
          </p:spPr>
        </p:sp>
        <p:sp>
          <p:nvSpPr>
            <p:cNvPr id="37" name="Flecha 55_2"/>
            <p:cNvSpPr/>
            <p:nvPr/>
          </p:nvSpPr>
          <p:spPr>
            <a:xfrm>
              <a:off x="5497830" y="5968365"/>
              <a:ext cx="104775" cy="73342"/>
            </a:xfrm>
            <a:custGeom>
              <a:avLst/>
              <a:gdLst/>
              <a:ahLst/>
              <a:cxnLst/>
              <a:rect l="0" t="0" r="r" b="b"/>
              <a:pathLst>
                <a:path w="114" h="80" fill="none">
                  <a:moveTo>
                    <a:pt x="114" y="0"/>
                  </a:moveTo>
                  <a:lnTo>
                    <a:pt x="0" y="80"/>
                  </a:lnTo>
                </a:path>
              </a:pathLst>
            </a:custGeom>
            <a:noFill/>
            <a:ln w="26193" cap="rnd">
              <a:solidFill>
                <a:srgbClr val="FFFFFF"/>
              </a:solidFill>
              <a:round/>
            </a:ln>
          </p:spPr>
        </p:sp>
        <p:sp>
          <p:nvSpPr>
            <p:cNvPr id="38" name="Forma 57"/>
            <p:cNvSpPr/>
            <p:nvPr/>
          </p:nvSpPr>
          <p:spPr>
            <a:xfrm>
              <a:off x="5194012" y="5874097"/>
              <a:ext cx="104716" cy="10471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9" name="Forma 58"/>
            <p:cNvSpPr/>
            <p:nvPr/>
          </p:nvSpPr>
          <p:spPr>
            <a:xfrm>
              <a:off x="5340697" y="5601682"/>
              <a:ext cx="104716" cy="10471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0" name="Forma 59"/>
            <p:cNvSpPr/>
            <p:nvPr/>
          </p:nvSpPr>
          <p:spPr>
            <a:xfrm>
              <a:off x="5696932" y="6272242"/>
              <a:ext cx="104716" cy="10471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1" name="Forma 60"/>
            <p:cNvSpPr/>
            <p:nvPr/>
          </p:nvSpPr>
          <p:spPr>
            <a:xfrm>
              <a:off x="5403562" y="6272242"/>
              <a:ext cx="104716" cy="10471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2" name="Forma 61"/>
            <p:cNvSpPr/>
            <p:nvPr/>
          </p:nvSpPr>
          <p:spPr>
            <a:xfrm>
              <a:off x="5445472" y="5989349"/>
              <a:ext cx="104716" cy="10471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3" name="Forma 62"/>
            <p:cNvSpPr/>
            <p:nvPr/>
          </p:nvSpPr>
          <p:spPr>
            <a:xfrm>
              <a:off x="5518156" y="5883916"/>
              <a:ext cx="168897" cy="16889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4" name="Forma 63"/>
            <p:cNvSpPr/>
            <p:nvPr/>
          </p:nvSpPr>
          <p:spPr>
            <a:xfrm>
              <a:off x="5727706" y="5779141"/>
              <a:ext cx="168897" cy="16889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5" name="Forma 64"/>
            <p:cNvSpPr/>
            <p:nvPr/>
          </p:nvSpPr>
          <p:spPr>
            <a:xfrm>
              <a:off x="5916301" y="5862961"/>
              <a:ext cx="168897" cy="16889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6" name="Forma 65"/>
            <p:cNvSpPr/>
            <p:nvPr/>
          </p:nvSpPr>
          <p:spPr>
            <a:xfrm>
              <a:off x="5748661" y="5569591"/>
              <a:ext cx="168897" cy="16889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7" name="Forma 66"/>
            <p:cNvSpPr/>
            <p:nvPr/>
          </p:nvSpPr>
          <p:spPr>
            <a:xfrm>
              <a:off x="5329561" y="5758186"/>
              <a:ext cx="168897" cy="16889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67"/>
            <p:cNvSpPr/>
            <p:nvPr/>
          </p:nvSpPr>
          <p:spPr>
            <a:xfrm>
              <a:off x="5518156" y="6114421"/>
              <a:ext cx="168897" cy="16889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VALORES PREDICTIVOS POSITIVO Y NEGATIVO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Diana 1"/>
          <p:cNvGrpSpPr/>
          <p:nvPr/>
        </p:nvGrpSpPr>
        <p:grpSpPr>
          <a:xfrm>
            <a:off x="411480" y="1097280"/>
            <a:ext cx="2697480" cy="3931920"/>
            <a:chOff x="411480" y="1097280"/>
            <a:chExt cx="2697480" cy="3931920"/>
          </a:xfrm>
        </p:grpSpPr>
        <p:sp>
          <p:nvSpPr>
            <p:cNvPr id="7" name="Forma 6"/>
            <p:cNvSpPr/>
            <p:nvPr/>
          </p:nvSpPr>
          <p:spPr>
            <a:xfrm>
              <a:off x="411480" y="1097280"/>
              <a:ext cx="2697480" cy="393192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8" name="Blanco 1"/>
            <p:cNvGrpSpPr/>
            <p:nvPr/>
          </p:nvGrpSpPr>
          <p:grpSpPr>
            <a:xfrm>
              <a:off x="685800" y="1280160"/>
              <a:ext cx="2148840" cy="2148840"/>
              <a:chOff x="685800" y="1280160"/>
              <a:chExt cx="2148840" cy="2148840"/>
            </a:xfrm>
          </p:grpSpPr>
          <p:sp>
            <p:nvSpPr>
              <p:cNvPr id="9" name="Forma 8"/>
              <p:cNvSpPr/>
              <p:nvPr/>
            </p:nvSpPr>
            <p:spPr>
              <a:xfrm>
                <a:off x="685800" y="1280160"/>
                <a:ext cx="2148840" cy="2148840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10" name="Forma 9"/>
              <p:cNvSpPr/>
              <p:nvPr/>
            </p:nvSpPr>
            <p:spPr>
              <a:xfrm>
                <a:off x="900684" y="1495044"/>
                <a:ext cx="1719072" cy="1719072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11" name="Forma 10"/>
              <p:cNvSpPr/>
              <p:nvPr/>
            </p:nvSpPr>
            <p:spPr>
              <a:xfrm>
                <a:off x="1115568" y="1709928"/>
                <a:ext cx="1289304" cy="1289304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12" name="Forma 11"/>
              <p:cNvSpPr/>
              <p:nvPr/>
            </p:nvSpPr>
            <p:spPr>
              <a:xfrm>
                <a:off x="1330452" y="1924812"/>
                <a:ext cx="859536" cy="859536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13" name="Forma 12"/>
              <p:cNvSpPr/>
              <p:nvPr/>
            </p:nvSpPr>
            <p:spPr>
              <a:xfrm>
                <a:off x="1545336" y="2139696"/>
                <a:ext cx="429768" cy="429768"/>
              </a:xfrm>
              <a:prstGeom prst="ellipse">
                <a:avLst/>
              </a:prstGeom>
              <a:solidFill>
                <a:srgbClr val="C00000"/>
              </a:solidFill>
              <a:ln w="15875" cap="rnd">
                <a:solidFill>
                  <a:srgbClr val="1E1E1E"/>
                </a:solidFill>
                <a:round/>
              </a:ln>
            </p:spPr>
          </p:sp>
        </p:grpSp>
        <p:sp>
          <p:nvSpPr>
            <p:cNvPr id="14" name="Impacto 1"/>
            <p:cNvSpPr/>
            <p:nvPr/>
          </p:nvSpPr>
          <p:spPr>
            <a:xfrm>
              <a:off x="1719301" y="2259940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15" name="Impacto 2"/>
            <p:cNvSpPr/>
            <p:nvPr/>
          </p:nvSpPr>
          <p:spPr>
            <a:xfrm>
              <a:off x="1654835" y="2313661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16" name="Impacto 3"/>
            <p:cNvSpPr/>
            <p:nvPr/>
          </p:nvSpPr>
          <p:spPr>
            <a:xfrm>
              <a:off x="1708556" y="2324405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17" name="Impacto 4"/>
            <p:cNvSpPr/>
            <p:nvPr/>
          </p:nvSpPr>
          <p:spPr>
            <a:xfrm>
              <a:off x="1665580" y="2249195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18" name="Forma 17"/>
            <p:cNvSpPr txBox="1"/>
            <p:nvPr/>
          </p:nvSpPr>
          <p:spPr>
            <a:xfrm>
              <a:off x="502920" y="3611880"/>
              <a:ext cx="2514600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 precisión</a:t>
              </a:r>
              <a:endParaRPr lang="es-AR" sz="17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 exactitud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9" name="Diana 2"/>
          <p:cNvGrpSpPr/>
          <p:nvPr/>
        </p:nvGrpSpPr>
        <p:grpSpPr>
          <a:xfrm>
            <a:off x="3291840" y="1097280"/>
            <a:ext cx="2697480" cy="3931920"/>
            <a:chOff x="3291840" y="1097280"/>
            <a:chExt cx="2697480" cy="3931920"/>
          </a:xfrm>
        </p:grpSpPr>
        <p:sp>
          <p:nvSpPr>
            <p:cNvPr id="20" name="Forma 19"/>
            <p:cNvSpPr/>
            <p:nvPr/>
          </p:nvSpPr>
          <p:spPr>
            <a:xfrm>
              <a:off x="3291840" y="1097280"/>
              <a:ext cx="2697480" cy="39319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21" name="Blanco 2"/>
            <p:cNvGrpSpPr/>
            <p:nvPr/>
          </p:nvGrpSpPr>
          <p:grpSpPr>
            <a:xfrm>
              <a:off x="3566160" y="1280160"/>
              <a:ext cx="2148840" cy="2148840"/>
              <a:chOff x="3566160" y="1280160"/>
              <a:chExt cx="2148840" cy="2148840"/>
            </a:xfrm>
          </p:grpSpPr>
          <p:sp>
            <p:nvSpPr>
              <p:cNvPr id="22" name="Forma 21"/>
              <p:cNvSpPr/>
              <p:nvPr/>
            </p:nvSpPr>
            <p:spPr>
              <a:xfrm>
                <a:off x="3566160" y="1280160"/>
                <a:ext cx="2148840" cy="2148840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23" name="Forma 22"/>
              <p:cNvSpPr/>
              <p:nvPr/>
            </p:nvSpPr>
            <p:spPr>
              <a:xfrm>
                <a:off x="3781044" y="1495044"/>
                <a:ext cx="1719072" cy="1719072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24" name="Forma 23"/>
              <p:cNvSpPr/>
              <p:nvPr/>
            </p:nvSpPr>
            <p:spPr>
              <a:xfrm>
                <a:off x="3995928" y="1709928"/>
                <a:ext cx="1289304" cy="1289304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25" name="Forma 24"/>
              <p:cNvSpPr/>
              <p:nvPr/>
            </p:nvSpPr>
            <p:spPr>
              <a:xfrm>
                <a:off x="4210812" y="1924812"/>
                <a:ext cx="859536" cy="859536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26" name="Forma 25"/>
              <p:cNvSpPr/>
              <p:nvPr/>
            </p:nvSpPr>
            <p:spPr>
              <a:xfrm>
                <a:off x="4425696" y="2139696"/>
                <a:ext cx="429768" cy="429768"/>
              </a:xfrm>
              <a:prstGeom prst="ellipse">
                <a:avLst/>
              </a:prstGeom>
              <a:solidFill>
                <a:srgbClr val="C00000"/>
              </a:solidFill>
              <a:ln w="15875" cap="rnd">
                <a:solidFill>
                  <a:srgbClr val="1E1E1E"/>
                </a:solidFill>
                <a:round/>
              </a:ln>
            </p:spPr>
          </p:sp>
        </p:grpSp>
        <p:sp>
          <p:nvSpPr>
            <p:cNvPr id="27" name="Impacto 1_2"/>
            <p:cNvSpPr/>
            <p:nvPr/>
          </p:nvSpPr>
          <p:spPr>
            <a:xfrm>
              <a:off x="5083150" y="1830172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28" name="Impacto 2_2"/>
            <p:cNvSpPr/>
            <p:nvPr/>
          </p:nvSpPr>
          <p:spPr>
            <a:xfrm>
              <a:off x="5136871" y="1873148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29" name="Impacto 3_2"/>
            <p:cNvSpPr/>
            <p:nvPr/>
          </p:nvSpPr>
          <p:spPr>
            <a:xfrm>
              <a:off x="5050917" y="1894637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30" name="Impacto 4_2"/>
            <p:cNvSpPr/>
            <p:nvPr/>
          </p:nvSpPr>
          <p:spPr>
            <a:xfrm>
              <a:off x="5104638" y="1787195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31" name="Forma 30"/>
            <p:cNvSpPr txBox="1"/>
            <p:nvPr/>
          </p:nvSpPr>
          <p:spPr>
            <a:xfrm>
              <a:off x="3383280" y="3611880"/>
              <a:ext cx="2514600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 precisión</a:t>
              </a:r>
              <a:endParaRPr lang="es-AR" sz="17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 exactitud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32" name="Diana 3"/>
          <p:cNvGrpSpPr/>
          <p:nvPr/>
        </p:nvGrpSpPr>
        <p:grpSpPr>
          <a:xfrm>
            <a:off x="6172200" y="1097280"/>
            <a:ext cx="2697480" cy="3931920"/>
            <a:chOff x="6172200" y="1097280"/>
            <a:chExt cx="2697480" cy="3931920"/>
          </a:xfrm>
        </p:grpSpPr>
        <p:sp>
          <p:nvSpPr>
            <p:cNvPr id="33" name="Forma 32"/>
            <p:cNvSpPr/>
            <p:nvPr/>
          </p:nvSpPr>
          <p:spPr>
            <a:xfrm>
              <a:off x="6172200" y="1097280"/>
              <a:ext cx="2697480" cy="393192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34" name="Blanco 3"/>
            <p:cNvGrpSpPr/>
            <p:nvPr/>
          </p:nvGrpSpPr>
          <p:grpSpPr>
            <a:xfrm>
              <a:off x="6446520" y="1280160"/>
              <a:ext cx="2148840" cy="2148840"/>
              <a:chOff x="6446520" y="1280160"/>
              <a:chExt cx="2148840" cy="2148840"/>
            </a:xfrm>
          </p:grpSpPr>
          <p:sp>
            <p:nvSpPr>
              <p:cNvPr id="35" name="Forma 34"/>
              <p:cNvSpPr/>
              <p:nvPr/>
            </p:nvSpPr>
            <p:spPr>
              <a:xfrm>
                <a:off x="6446520" y="1280160"/>
                <a:ext cx="2148840" cy="2148840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6661404" y="1495044"/>
                <a:ext cx="1719072" cy="1719072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37" name="Forma 36"/>
              <p:cNvSpPr/>
              <p:nvPr/>
            </p:nvSpPr>
            <p:spPr>
              <a:xfrm>
                <a:off x="6876288" y="1709928"/>
                <a:ext cx="1289304" cy="1289304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38" name="Forma 37"/>
              <p:cNvSpPr/>
              <p:nvPr/>
            </p:nvSpPr>
            <p:spPr>
              <a:xfrm>
                <a:off x="7091172" y="1924812"/>
                <a:ext cx="859536" cy="859536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7306056" y="2139696"/>
                <a:ext cx="429768" cy="429768"/>
              </a:xfrm>
              <a:prstGeom prst="ellipse">
                <a:avLst/>
              </a:prstGeom>
              <a:solidFill>
                <a:srgbClr val="C00000"/>
              </a:solidFill>
              <a:ln w="15875" cap="rnd">
                <a:solidFill>
                  <a:srgbClr val="1E1E1E"/>
                </a:solidFill>
                <a:round/>
              </a:ln>
            </p:spPr>
          </p:sp>
        </p:grpSp>
        <p:sp>
          <p:nvSpPr>
            <p:cNvPr id="40" name="Impacto 1_3"/>
            <p:cNvSpPr/>
            <p:nvPr/>
          </p:nvSpPr>
          <p:spPr>
            <a:xfrm>
              <a:off x="7823835" y="2388870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41" name="Impacto 2_3"/>
            <p:cNvSpPr/>
            <p:nvPr/>
          </p:nvSpPr>
          <p:spPr>
            <a:xfrm>
              <a:off x="7125462" y="2550033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42" name="Impacto 3_3"/>
            <p:cNvSpPr/>
            <p:nvPr/>
          </p:nvSpPr>
          <p:spPr>
            <a:xfrm>
              <a:off x="7501509" y="1851660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43" name="Impacto 4_3"/>
            <p:cNvSpPr/>
            <p:nvPr/>
          </p:nvSpPr>
          <p:spPr>
            <a:xfrm>
              <a:off x="7286625" y="2227707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44" name="Forma 43"/>
            <p:cNvSpPr txBox="1"/>
            <p:nvPr/>
          </p:nvSpPr>
          <p:spPr>
            <a:xfrm>
              <a:off x="6263640" y="3611880"/>
              <a:ext cx="2514600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 precisión</a:t>
              </a:r>
              <a:endParaRPr lang="es-AR" sz="17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 exactitud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45" name="Diana 4"/>
          <p:cNvGrpSpPr/>
          <p:nvPr/>
        </p:nvGrpSpPr>
        <p:grpSpPr>
          <a:xfrm>
            <a:off x="9052560" y="1097280"/>
            <a:ext cx="2697480" cy="3931920"/>
            <a:chOff x="9052560" y="1097280"/>
            <a:chExt cx="2697480" cy="3931920"/>
          </a:xfrm>
        </p:grpSpPr>
        <p:sp>
          <p:nvSpPr>
            <p:cNvPr id="46" name="Forma 45"/>
            <p:cNvSpPr/>
            <p:nvPr/>
          </p:nvSpPr>
          <p:spPr>
            <a:xfrm>
              <a:off x="9052560" y="1097280"/>
              <a:ext cx="2697480" cy="393192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47" name="Blanco 4"/>
            <p:cNvGrpSpPr/>
            <p:nvPr/>
          </p:nvGrpSpPr>
          <p:grpSpPr>
            <a:xfrm>
              <a:off x="9326880" y="1280160"/>
              <a:ext cx="2148840" cy="2148840"/>
              <a:chOff x="9326880" y="1280160"/>
              <a:chExt cx="2148840" cy="2148840"/>
            </a:xfrm>
          </p:grpSpPr>
          <p:sp>
            <p:nvSpPr>
              <p:cNvPr id="48" name="Forma 47"/>
              <p:cNvSpPr/>
              <p:nvPr/>
            </p:nvSpPr>
            <p:spPr>
              <a:xfrm>
                <a:off x="9326880" y="1280160"/>
                <a:ext cx="2148840" cy="2148840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49" name="Forma 48"/>
              <p:cNvSpPr/>
              <p:nvPr/>
            </p:nvSpPr>
            <p:spPr>
              <a:xfrm>
                <a:off x="9541764" y="1495044"/>
                <a:ext cx="1719072" cy="1719072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50" name="Forma 49"/>
              <p:cNvSpPr/>
              <p:nvPr/>
            </p:nvSpPr>
            <p:spPr>
              <a:xfrm>
                <a:off x="9756648" y="1709928"/>
                <a:ext cx="1289304" cy="1289304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>
                <a:off x="9971532" y="1924812"/>
                <a:ext cx="859536" cy="859536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>
                <a:off x="10186416" y="2139696"/>
                <a:ext cx="429768" cy="429768"/>
              </a:xfrm>
              <a:prstGeom prst="ellipse">
                <a:avLst/>
              </a:prstGeom>
              <a:solidFill>
                <a:srgbClr val="C00000"/>
              </a:solidFill>
              <a:ln w="15875" cap="rnd">
                <a:solidFill>
                  <a:srgbClr val="1E1E1E"/>
                </a:solidFill>
                <a:round/>
              </a:ln>
            </p:spPr>
          </p:sp>
        </p:grpSp>
        <p:sp>
          <p:nvSpPr>
            <p:cNvPr id="53" name="Impacto 1_4"/>
            <p:cNvSpPr/>
            <p:nvPr/>
          </p:nvSpPr>
          <p:spPr>
            <a:xfrm>
              <a:off x="10919079" y="2603754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54" name="Impacto 2_4"/>
            <p:cNvSpPr/>
            <p:nvPr/>
          </p:nvSpPr>
          <p:spPr>
            <a:xfrm>
              <a:off x="10113264" y="2947568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55" name="Impacto 3_4"/>
            <p:cNvSpPr/>
            <p:nvPr/>
          </p:nvSpPr>
          <p:spPr>
            <a:xfrm>
              <a:off x="10994288" y="2120265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56" name="Impacto 4_4"/>
            <p:cNvSpPr/>
            <p:nvPr/>
          </p:nvSpPr>
          <p:spPr>
            <a:xfrm>
              <a:off x="10543032" y="3033522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57" name="Forma 56"/>
            <p:cNvSpPr txBox="1"/>
            <p:nvPr/>
          </p:nvSpPr>
          <p:spPr>
            <a:xfrm>
              <a:off x="9144000" y="3611880"/>
              <a:ext cx="2514600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 precisión</a:t>
              </a:r>
              <a:endParaRPr lang="es-AR" sz="17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 exactitud</a:t>
              </a:r>
              <a:endParaRPr lang="es-AR" sz="1700" dirty="0">
                <a:latin typeface="Calibri"/>
              </a:endParaRPr>
            </a:p>
          </p:txBody>
        </p:sp>
      </p:grpSp>
      <p:sp>
        <p:nvSpPr>
          <p:cNvPr id="58" name="Def precisión"/>
          <p:cNvSpPr/>
          <p:nvPr/>
        </p:nvSpPr>
        <p:spPr>
          <a:xfrm>
            <a:off x="411480" y="5257800"/>
            <a:ext cx="5623560" cy="11887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Precisión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menor variabilidad entre resultados repetidos de la misma muestra (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reproducibilidad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): impactos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agrupados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59" name="Def exactitud"/>
          <p:cNvSpPr/>
          <p:nvPr/>
        </p:nvSpPr>
        <p:spPr>
          <a:xfrm>
            <a:off x="6172200" y="5257800"/>
            <a:ext cx="5577840" cy="118872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Exactitud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cercanía entre el valor medido y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valor real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analito: impactos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el centro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PRECISIÓN Y EXACTITUD: CUATRO COMBINACIONES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6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grpSp>
        <p:nvGrpSpPr>
          <p:cNvPr id="5" name="Ejes precisión"/>
          <p:cNvGrpSpPr/>
          <p:nvPr/>
        </p:nvGrpSpPr>
        <p:grpSpPr>
          <a:xfrm>
            <a:off x="685800" y="1005840"/>
            <a:ext cx="7086600" cy="3941064"/>
            <a:chOff x="685800" y="1005840"/>
            <a:chExt cx="7086600" cy="3941064"/>
          </a:xfrm>
        </p:grpSpPr>
        <p:sp>
          <p:nvSpPr>
            <p:cNvPr id="6" name="Flecha 5_2"/>
            <p:cNvSpPr/>
            <p:nvPr/>
          </p:nvSpPr>
          <p:spPr>
            <a:xfrm>
              <a:off x="731520" y="1371600"/>
              <a:ext cx="9144" cy="3200400"/>
            </a:xfrm>
            <a:custGeom>
              <a:avLst/>
              <a:gdLst/>
              <a:ahLst/>
              <a:cxnLst/>
              <a:rect l="0" t="0" r="r" b="b"/>
              <a:pathLst>
                <a:path w="10" h="3500" fill="none">
                  <a:moveTo>
                    <a:pt x="0" y="35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731520" y="4572000"/>
              <a:ext cx="7040880" cy="9144"/>
            </a:xfrm>
            <a:custGeom>
              <a:avLst/>
              <a:gdLst/>
              <a:ahLst/>
              <a:cxnLst/>
              <a:rect l="0" t="0" r="r" b="b"/>
              <a:pathLst>
                <a:path w="7700" h="10" fill="none">
                  <a:moveTo>
                    <a:pt x="0" y="0"/>
                  </a:moveTo>
                  <a:lnTo>
                    <a:pt x="770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4937760" y="462686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mediciones repetidas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685800" y="100584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glucemia (mg/dL)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Valor real 80"/>
          <p:cNvSpPr/>
          <p:nvPr/>
        </p:nvSpPr>
        <p:spPr>
          <a:xfrm>
            <a:off x="731520" y="3108960"/>
            <a:ext cx="6949440" cy="9144"/>
          </a:xfrm>
          <a:custGeom>
            <a:avLst/>
            <a:gdLst/>
            <a:ahLst/>
            <a:cxnLst/>
            <a:rect l="0" t="0" r="r" b="b"/>
            <a:pathLst>
              <a:path w="7600" h="10" fill="none">
                <a:moveTo>
                  <a:pt x="0" y="0"/>
                </a:moveTo>
                <a:lnTo>
                  <a:pt x="7600" y="0"/>
                </a:lnTo>
              </a:path>
            </a:pathLst>
          </a:custGeom>
          <a:noFill/>
          <a:ln w="31750" cap="rnd">
            <a:solidFill>
              <a:srgbClr val="4E7A30"/>
            </a:solidFill>
            <a:prstDash val="dash"/>
            <a:round/>
          </a:ln>
        </p:spPr>
      </p:sp>
      <p:sp>
        <p:nvSpPr>
          <p:cNvPr id="11" name="Rótulo valor real"/>
          <p:cNvSpPr/>
          <p:nvPr/>
        </p:nvSpPr>
        <p:spPr>
          <a:xfrm>
            <a:off x="6309360" y="2651760"/>
            <a:ext cx="1213812" cy="272415"/>
          </a:xfrm>
          <a:prstGeom prst="rect">
            <a:avLst/>
          </a:prstGeom>
          <a:solidFill>
            <a:srgbClr val="4E7A3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 real: 80</a:t>
            </a:r>
            <a:endParaRPr lang="es-AR" sz="1300" dirty="0">
              <a:latin typeface="Calibri"/>
            </a:endParaRPr>
          </a:p>
        </p:txBody>
      </p:sp>
      <p:grpSp>
        <p:nvGrpSpPr>
          <p:cNvPr id="12" name="Medición 1"/>
          <p:cNvGrpSpPr/>
          <p:nvPr/>
        </p:nvGrpSpPr>
        <p:grpSpPr>
          <a:xfrm>
            <a:off x="1005840" y="2560320"/>
            <a:ext cx="914400" cy="704088"/>
            <a:chOff x="1005840" y="2560320"/>
            <a:chExt cx="914400" cy="704088"/>
          </a:xfrm>
        </p:grpSpPr>
        <p:sp>
          <p:nvSpPr>
            <p:cNvPr id="13" name="Forma 14"/>
            <p:cNvSpPr/>
            <p:nvPr/>
          </p:nvSpPr>
          <p:spPr>
            <a:xfrm>
              <a:off x="1307592" y="2953512"/>
              <a:ext cx="310896" cy="310896"/>
            </a:xfrm>
            <a:prstGeom prst="ellipse">
              <a:avLst/>
            </a:prstGeom>
            <a:solidFill>
              <a:srgbClr val="C00000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4" name="Forma 15"/>
            <p:cNvSpPr txBox="1"/>
            <p:nvPr/>
          </p:nvSpPr>
          <p:spPr>
            <a:xfrm>
              <a:off x="1005840" y="256032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80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5" name="Medición 2"/>
          <p:cNvGrpSpPr/>
          <p:nvPr/>
        </p:nvGrpSpPr>
        <p:grpSpPr>
          <a:xfrm>
            <a:off x="2606040" y="1280160"/>
            <a:ext cx="914400" cy="704088"/>
            <a:chOff x="2606040" y="1280160"/>
            <a:chExt cx="914400" cy="704088"/>
          </a:xfrm>
        </p:grpSpPr>
        <p:sp>
          <p:nvSpPr>
            <p:cNvPr id="16" name="Forma 17"/>
            <p:cNvSpPr/>
            <p:nvPr/>
          </p:nvSpPr>
          <p:spPr>
            <a:xfrm>
              <a:off x="2907792" y="1673352"/>
              <a:ext cx="310896" cy="310896"/>
            </a:xfrm>
            <a:prstGeom prst="ellipse">
              <a:avLst/>
            </a:prstGeom>
            <a:solidFill>
              <a:srgbClr val="C00000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7" name="Forma 18"/>
            <p:cNvSpPr txBox="1"/>
            <p:nvPr/>
          </p:nvSpPr>
          <p:spPr>
            <a:xfrm>
              <a:off x="2606040" y="128016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8" name="Medición 3"/>
          <p:cNvGrpSpPr/>
          <p:nvPr/>
        </p:nvGrpSpPr>
        <p:grpSpPr>
          <a:xfrm>
            <a:off x="4206240" y="2743200"/>
            <a:ext cx="914400" cy="704088"/>
            <a:chOff x="4206240" y="2743200"/>
            <a:chExt cx="914400" cy="704088"/>
          </a:xfrm>
        </p:grpSpPr>
        <p:sp>
          <p:nvSpPr>
            <p:cNvPr id="19" name="Forma 20"/>
            <p:cNvSpPr/>
            <p:nvPr/>
          </p:nvSpPr>
          <p:spPr>
            <a:xfrm>
              <a:off x="4507992" y="3136392"/>
              <a:ext cx="310896" cy="310896"/>
            </a:xfrm>
            <a:prstGeom prst="ellipse">
              <a:avLst/>
            </a:prstGeom>
            <a:solidFill>
              <a:srgbClr val="C00000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0" name="Forma 21"/>
            <p:cNvSpPr txBox="1"/>
            <p:nvPr/>
          </p:nvSpPr>
          <p:spPr>
            <a:xfrm>
              <a:off x="4206240" y="274320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70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1" name="Medición 4"/>
          <p:cNvGrpSpPr/>
          <p:nvPr/>
        </p:nvGrpSpPr>
        <p:grpSpPr>
          <a:xfrm>
            <a:off x="5806440" y="1828800"/>
            <a:ext cx="914400" cy="704088"/>
            <a:chOff x="5806440" y="1828800"/>
            <a:chExt cx="914400" cy="704088"/>
          </a:xfrm>
        </p:grpSpPr>
        <p:sp>
          <p:nvSpPr>
            <p:cNvPr id="22" name="Forma 23"/>
            <p:cNvSpPr/>
            <p:nvPr/>
          </p:nvSpPr>
          <p:spPr>
            <a:xfrm>
              <a:off x="6108192" y="2221992"/>
              <a:ext cx="310896" cy="310896"/>
            </a:xfrm>
            <a:prstGeom prst="ellipse">
              <a:avLst/>
            </a:prstGeom>
            <a:solidFill>
              <a:srgbClr val="C00000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3" name="Forma 24"/>
            <p:cNvSpPr txBox="1"/>
            <p:nvPr/>
          </p:nvSpPr>
          <p:spPr>
            <a:xfrm>
              <a:off x="5806440" y="1828800"/>
              <a:ext cx="9144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120</a:t>
              </a:r>
              <a:endParaRPr lang="es-AR" sz="1600" dirty="0">
                <a:latin typeface="Calibri"/>
              </a:endParaRPr>
            </a:p>
          </p:txBody>
        </p:sp>
      </p:grpSp>
      <p:sp>
        <p:nvSpPr>
          <p:cNvPr id="24" name="Ejemplo imprecisión"/>
          <p:cNvSpPr/>
          <p:nvPr/>
        </p:nvSpPr>
        <p:spPr>
          <a:xfrm>
            <a:off x="548640" y="4892040"/>
            <a:ext cx="7315200" cy="15544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Una muestra de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80 mg/dL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que al repetirse da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80, 150, 70 y 120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método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impreciso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no válido para el seguimiento. La precisión se prioriza en el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seguimiento de patologías crónicas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(diabetes, hipertensión).</a:t>
            </a:r>
            <a:endParaRPr lang="es-AR" sz="1850" dirty="0">
              <a:latin typeface="Calibri"/>
            </a:endParaRPr>
          </a:p>
        </p:txBody>
      </p:sp>
      <p:grpSp>
        <p:nvGrpSpPr>
          <p:cNvPr id="25" name="Control exactitud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6" name="Forma 27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Cada mañana,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antes de analizar pacientes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se procesa un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 control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concentración conocida. Si el resultado no coincide (margen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±2 DE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), el método se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calibra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7" name="Forma 28"/>
            <p:cNvSpPr/>
            <p:nvPr/>
          </p:nvSpPr>
          <p:spPr>
            <a:xfrm>
              <a:off x="8677656" y="1097280"/>
              <a:ext cx="223040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CONTROL DE EXACTITUD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8" name="Suero control"/>
          <p:cNvGrpSpPr/>
          <p:nvPr/>
        </p:nvGrpSpPr>
        <p:grpSpPr>
          <a:xfrm>
            <a:off x="9293962" y="4434840"/>
            <a:ext cx="477317" cy="1554480"/>
            <a:chOff x="9293962" y="4434840"/>
            <a:chExt cx="477317" cy="1554480"/>
          </a:xfrm>
        </p:grpSpPr>
        <p:grpSp>
          <p:nvGrpSpPr>
            <p:cNvPr id="29" name="Tubo control"/>
            <p:cNvGrpSpPr/>
            <p:nvPr/>
          </p:nvGrpSpPr>
          <p:grpSpPr>
            <a:xfrm>
              <a:off x="9293962" y="4434840"/>
              <a:ext cx="477317" cy="1554480"/>
              <a:chOff x="9293962" y="4434840"/>
              <a:chExt cx="477317" cy="1554480"/>
            </a:xfrm>
          </p:grpSpPr>
          <p:sp>
            <p:nvSpPr>
              <p:cNvPr id="30" name="Vidrio"/>
              <p:cNvSpPr/>
              <p:nvPr/>
            </p:nvSpPr>
            <p:spPr>
              <a:xfrm>
                <a:off x="9326880" y="4590288"/>
                <a:ext cx="411480" cy="139903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1" name="Tapón"/>
              <p:cNvSpPr/>
              <p:nvPr/>
            </p:nvSpPr>
            <p:spPr>
              <a:xfrm>
                <a:off x="9293962" y="4434840"/>
                <a:ext cx="477317" cy="186538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77B0D6"/>
                  </a:gs>
                  <a:gs pos="55000">
                    <a:srgbClr val="2E86C1"/>
                  </a:gs>
                  <a:gs pos="100000">
                    <a:srgbClr val="205D87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174360"/>
                </a:solidFill>
                <a:round/>
              </a:ln>
            </p:spPr>
          </p:sp>
          <p:sp>
            <p:nvSpPr>
              <p:cNvPr id="32" name="Brillo"/>
              <p:cNvSpPr/>
              <p:nvPr/>
            </p:nvSpPr>
            <p:spPr>
              <a:xfrm>
                <a:off x="9384487" y="4683557"/>
                <a:ext cx="49378" cy="108813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3" name="Control líquido"/>
            <p:cNvSpPr/>
            <p:nvPr/>
          </p:nvSpPr>
          <p:spPr>
            <a:xfrm>
              <a:off x="9347454" y="5174772"/>
              <a:ext cx="370332" cy="78345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9E493"/>
                </a:gs>
                <a:gs pos="55000">
                  <a:srgbClr val="F7DC6F"/>
                </a:gs>
                <a:gs pos="100000">
                  <a:srgbClr val="C5B05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A08F48"/>
              </a:solidFill>
              <a:round/>
            </a:ln>
          </p:spPr>
        </p:sp>
      </p:grpSp>
      <p:sp>
        <p:nvSpPr>
          <p:cNvPr id="34" name="Rótulo control"/>
          <p:cNvSpPr/>
          <p:nvPr/>
        </p:nvSpPr>
        <p:spPr>
          <a:xfrm>
            <a:off x="9875520" y="5029200"/>
            <a:ext cx="1227356" cy="272415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suero control</a:t>
            </a:r>
            <a:endParaRPr lang="es-AR" sz="13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PRECISIÓN EN EL SEGUIMIENTO, EXACTITUD CON SUERO CONTROL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4" grpId="0" animBg="1"/>
      <p:bldP spid="34" grpId="0" animBg="1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Diagnóstico"/>
          <p:cNvGrpSpPr/>
          <p:nvPr/>
        </p:nvGrpSpPr>
        <p:grpSpPr>
          <a:xfrm>
            <a:off x="365760" y="1097280"/>
            <a:ext cx="3749040" cy="3108960"/>
            <a:chOff x="365760" y="1097280"/>
            <a:chExt cx="3749040" cy="3108960"/>
          </a:xfrm>
        </p:grpSpPr>
        <p:sp>
          <p:nvSpPr>
            <p:cNvPr id="6" name="Forma 5"/>
            <p:cNvSpPr/>
            <p:nvPr/>
          </p:nvSpPr>
          <p:spPr>
            <a:xfrm>
              <a:off x="365760" y="1298448"/>
              <a:ext cx="3749040" cy="29077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análisis bioquímico,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combinado con la clínica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permite determinar que el paciente tiene una patología específica.</a:t>
              </a:r>
              <a:endParaRPr lang="es-AR" sz="16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Ejemplos del material: β-hCG (embarazo), PCR para COVID-19, Western Blot VIH, glucemia en ayunas ≥ 126 mg/dL en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dos ocasiones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493776" y="1097280"/>
              <a:ext cx="140970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DIAGNÓSTICO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8" name="Pronóstico"/>
          <p:cNvGrpSpPr/>
          <p:nvPr/>
        </p:nvGrpSpPr>
        <p:grpSpPr>
          <a:xfrm>
            <a:off x="365760" y="4434840"/>
            <a:ext cx="3749040" cy="2011680"/>
            <a:chOff x="365760" y="4434840"/>
            <a:chExt cx="3749040" cy="2011680"/>
          </a:xfrm>
        </p:grpSpPr>
        <p:sp>
          <p:nvSpPr>
            <p:cNvPr id="9" name="Forma 8"/>
            <p:cNvSpPr/>
            <p:nvPr/>
          </p:nvSpPr>
          <p:spPr>
            <a:xfrm>
              <a:off x="365760" y="4636008"/>
              <a:ext cx="3749040" cy="18105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Predicción de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evolución, duración y desenlace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probable; p. ej., marcadores tumorales que indican remisión o no.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93776" y="4434840"/>
              <a:ext cx="134133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PRONÓSTICO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1" name="HbA1c"/>
          <p:cNvGrpSpPr/>
          <p:nvPr/>
        </p:nvGrpSpPr>
        <p:grpSpPr>
          <a:xfrm>
            <a:off x="4389120" y="1225912"/>
            <a:ext cx="2212848" cy="1955585"/>
            <a:chOff x="4389120" y="1225912"/>
            <a:chExt cx="2212848" cy="1955585"/>
          </a:xfrm>
        </p:grpSpPr>
        <p:sp>
          <p:nvSpPr>
            <p:cNvPr id="12" name="GR glicado"/>
            <p:cNvSpPr/>
            <p:nvPr/>
          </p:nvSpPr>
          <p:spPr>
            <a:xfrm>
              <a:off x="4572000" y="1280160"/>
              <a:ext cx="1828800" cy="182880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6309360" y="2057400"/>
              <a:ext cx="292608" cy="29260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5829300" y="2888888"/>
              <a:ext cx="292608" cy="29260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4869180" y="2888888"/>
              <a:ext cx="292608" cy="29260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4389120" y="2057400"/>
              <a:ext cx="292608" cy="29260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4869180" y="1225912"/>
              <a:ext cx="292608" cy="29260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5829300" y="1225912"/>
              <a:ext cx="292608" cy="29260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</p:grpSp>
      <p:grpSp>
        <p:nvGrpSpPr>
          <p:cNvPr id="19" name="Seguimiento"/>
          <p:cNvGrpSpPr/>
          <p:nvPr/>
        </p:nvGrpSpPr>
        <p:grpSpPr>
          <a:xfrm>
            <a:off x="6858000" y="1097280"/>
            <a:ext cx="5074920" cy="2651760"/>
            <a:chOff x="6858000" y="1097280"/>
            <a:chExt cx="5074920" cy="2651760"/>
          </a:xfrm>
        </p:grpSpPr>
        <p:sp>
          <p:nvSpPr>
            <p:cNvPr id="20" name="Forma 19"/>
            <p:cNvSpPr/>
            <p:nvPr/>
          </p:nvSpPr>
          <p:spPr>
            <a:xfrm>
              <a:off x="6858000" y="1298448"/>
              <a:ext cx="5074920" cy="245059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Monitoreo de la evolución y del tratamiento. En el paciente diabético se mide la glucemia y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HbA1c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que refleja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glucemia promedio de los últimos 3 meses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(la glucosa en exceso se une a la hemoglobina).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6986016" y="1097280"/>
              <a:ext cx="141872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SEGUIMIENTO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2" name="Advertencia único análisis"/>
          <p:cNvSpPr/>
          <p:nvPr/>
        </p:nvSpPr>
        <p:spPr>
          <a:xfrm>
            <a:off x="4480560" y="3977640"/>
            <a:ext cx="7452360" cy="10515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la mayoría de los casos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es posible diagnosticar con un único análisis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historia clínica, examen físico, laboratorio, imágenes y evolución.</a:t>
            </a:r>
            <a:endParaRPr lang="es-AR" sz="1800" dirty="0">
              <a:latin typeface="Calibri"/>
            </a:endParaRPr>
          </a:p>
        </p:txBody>
      </p:sp>
      <p:grpSp>
        <p:nvGrpSpPr>
          <p:cNvPr id="23" name="Rigor troponina"/>
          <p:cNvGrpSpPr/>
          <p:nvPr/>
        </p:nvGrpSpPr>
        <p:grpSpPr>
          <a:xfrm>
            <a:off x="4480560" y="5212080"/>
            <a:ext cx="7452360" cy="1234440"/>
            <a:chOff x="4480560" y="5212080"/>
            <a:chExt cx="7452360" cy="1234440"/>
          </a:xfrm>
        </p:grpSpPr>
        <p:sp>
          <p:nvSpPr>
            <p:cNvPr id="24" name="Forma 23"/>
            <p:cNvSpPr/>
            <p:nvPr/>
          </p:nvSpPr>
          <p:spPr>
            <a:xfrm>
              <a:off x="4480560" y="5413248"/>
              <a:ext cx="7452360" cy="10332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material menciona la troponina elevada como diagnóstica de IAM: el diagnóstico exige además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ascenso y/o descenso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troponina con contexto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clínico o ECG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isquemia (Unidad IV).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4608576" y="52120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DIAGNÓSTICO, PRONÓSTICO Y SEGUIMIENTO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5" name="Ejes gauss"/>
          <p:cNvGrpSpPr/>
          <p:nvPr/>
        </p:nvGrpSpPr>
        <p:grpSpPr>
          <a:xfrm>
            <a:off x="502920" y="822960"/>
            <a:ext cx="7452360" cy="4855464"/>
            <a:chOff x="502920" y="822960"/>
            <a:chExt cx="7452360" cy="4855464"/>
          </a:xfrm>
        </p:grpSpPr>
        <p:sp>
          <p:nvSpPr>
            <p:cNvPr id="6" name="Flecha 5_2"/>
            <p:cNvSpPr/>
            <p:nvPr/>
          </p:nvSpPr>
          <p:spPr>
            <a:xfrm>
              <a:off x="548640" y="1188720"/>
              <a:ext cx="9144" cy="4114800"/>
            </a:xfrm>
            <a:custGeom>
              <a:avLst/>
              <a:gdLst/>
              <a:ahLst/>
              <a:cxnLst/>
              <a:rect l="0" t="0" r="r" b="b"/>
              <a:pathLst>
                <a:path w="10" h="4500" fill="none">
                  <a:moveTo>
                    <a:pt x="0" y="45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548640" y="5303520"/>
              <a:ext cx="7406640" cy="9144"/>
            </a:xfrm>
            <a:custGeom>
              <a:avLst/>
              <a:gdLst/>
              <a:ahLst/>
              <a:cxnLst/>
              <a:rect l="0" t="0" r="r" b="b"/>
              <a:pathLst>
                <a:path w="8100" h="10" fill="none">
                  <a:moveTo>
                    <a:pt x="0" y="0"/>
                  </a:moveTo>
                  <a:lnTo>
                    <a:pt x="810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5120640" y="535838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del analito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502920" y="82296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n.º de individuos sanos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!!Curva gaussiana"/>
          <p:cNvSpPr/>
          <p:nvPr/>
        </p:nvSpPr>
        <p:spPr>
          <a:xfrm>
            <a:off x="548640" y="1280160"/>
            <a:ext cx="7315200" cy="402336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3"/>
                </a:moveTo>
                <a:cubicBezTo>
                  <a:pt x="3" y="952"/>
                  <a:pt x="17" y="950"/>
                  <a:pt x="25" y="949"/>
                </a:cubicBezTo>
                <a:cubicBezTo>
                  <a:pt x="32" y="947"/>
                  <a:pt x="42" y="944"/>
                  <a:pt x="50" y="942"/>
                </a:cubicBezTo>
                <a:cubicBezTo>
                  <a:pt x="57" y="939"/>
                  <a:pt x="67" y="936"/>
                  <a:pt x="75" y="933"/>
                </a:cubicBezTo>
                <a:cubicBezTo>
                  <a:pt x="82" y="929"/>
                  <a:pt x="92" y="924"/>
                  <a:pt x="100" y="920"/>
                </a:cubicBezTo>
                <a:cubicBezTo>
                  <a:pt x="107" y="915"/>
                  <a:pt x="117" y="908"/>
                  <a:pt x="125" y="902"/>
                </a:cubicBezTo>
                <a:cubicBezTo>
                  <a:pt x="132" y="895"/>
                  <a:pt x="142" y="885"/>
                  <a:pt x="150" y="877"/>
                </a:cubicBezTo>
                <a:cubicBezTo>
                  <a:pt x="157" y="868"/>
                  <a:pt x="167" y="855"/>
                  <a:pt x="175" y="845"/>
                </a:cubicBezTo>
                <a:cubicBezTo>
                  <a:pt x="182" y="834"/>
                  <a:pt x="192" y="817"/>
                  <a:pt x="200" y="804"/>
                </a:cubicBezTo>
                <a:cubicBezTo>
                  <a:pt x="207" y="790"/>
                  <a:pt x="217" y="770"/>
                  <a:pt x="225" y="754"/>
                </a:cubicBezTo>
                <a:cubicBezTo>
                  <a:pt x="232" y="737"/>
                  <a:pt x="242" y="713"/>
                  <a:pt x="250" y="694"/>
                </a:cubicBezTo>
                <a:cubicBezTo>
                  <a:pt x="257" y="674"/>
                  <a:pt x="267" y="647"/>
                  <a:pt x="275" y="625"/>
                </a:cubicBezTo>
                <a:cubicBezTo>
                  <a:pt x="282" y="602"/>
                  <a:pt x="292" y="571"/>
                  <a:pt x="300" y="547"/>
                </a:cubicBezTo>
                <a:cubicBezTo>
                  <a:pt x="307" y="523"/>
                  <a:pt x="317" y="490"/>
                  <a:pt x="325" y="465"/>
                </a:cubicBezTo>
                <a:cubicBezTo>
                  <a:pt x="332" y="439"/>
                  <a:pt x="342" y="405"/>
                  <a:pt x="350" y="380"/>
                </a:cubicBezTo>
                <a:cubicBezTo>
                  <a:pt x="357" y="354"/>
                  <a:pt x="367" y="320"/>
                  <a:pt x="375" y="296"/>
                </a:cubicBezTo>
                <a:cubicBezTo>
                  <a:pt x="382" y="271"/>
                  <a:pt x="392" y="240"/>
                  <a:pt x="400" y="219"/>
                </a:cubicBezTo>
                <a:cubicBezTo>
                  <a:pt x="407" y="197"/>
                  <a:pt x="417" y="170"/>
                  <a:pt x="425" y="153"/>
                </a:cubicBezTo>
                <a:cubicBezTo>
                  <a:pt x="432" y="135"/>
                  <a:pt x="442" y="114"/>
                  <a:pt x="450" y="102"/>
                </a:cubicBezTo>
                <a:cubicBezTo>
                  <a:pt x="457" y="89"/>
                  <a:pt x="467" y="76"/>
                  <a:pt x="475" y="70"/>
                </a:cubicBezTo>
                <a:cubicBezTo>
                  <a:pt x="482" y="63"/>
                  <a:pt x="492" y="60"/>
                  <a:pt x="500" y="60"/>
                </a:cubicBezTo>
                <a:cubicBezTo>
                  <a:pt x="507" y="60"/>
                  <a:pt x="517" y="63"/>
                  <a:pt x="525" y="70"/>
                </a:cubicBezTo>
                <a:cubicBezTo>
                  <a:pt x="532" y="76"/>
                  <a:pt x="542" y="89"/>
                  <a:pt x="550" y="102"/>
                </a:cubicBezTo>
                <a:cubicBezTo>
                  <a:pt x="557" y="114"/>
                  <a:pt x="567" y="135"/>
                  <a:pt x="575" y="153"/>
                </a:cubicBezTo>
                <a:cubicBezTo>
                  <a:pt x="582" y="170"/>
                  <a:pt x="592" y="197"/>
                  <a:pt x="600" y="219"/>
                </a:cubicBezTo>
                <a:cubicBezTo>
                  <a:pt x="607" y="240"/>
                  <a:pt x="617" y="271"/>
                  <a:pt x="625" y="296"/>
                </a:cubicBezTo>
                <a:cubicBezTo>
                  <a:pt x="632" y="320"/>
                  <a:pt x="642" y="354"/>
                  <a:pt x="650" y="380"/>
                </a:cubicBezTo>
                <a:cubicBezTo>
                  <a:pt x="657" y="405"/>
                  <a:pt x="667" y="439"/>
                  <a:pt x="675" y="465"/>
                </a:cubicBezTo>
                <a:cubicBezTo>
                  <a:pt x="682" y="490"/>
                  <a:pt x="692" y="523"/>
                  <a:pt x="700" y="547"/>
                </a:cubicBezTo>
                <a:cubicBezTo>
                  <a:pt x="707" y="571"/>
                  <a:pt x="717" y="602"/>
                  <a:pt x="725" y="625"/>
                </a:cubicBezTo>
                <a:cubicBezTo>
                  <a:pt x="732" y="647"/>
                  <a:pt x="742" y="674"/>
                  <a:pt x="750" y="694"/>
                </a:cubicBezTo>
                <a:cubicBezTo>
                  <a:pt x="757" y="713"/>
                  <a:pt x="767" y="737"/>
                  <a:pt x="775" y="754"/>
                </a:cubicBezTo>
                <a:cubicBezTo>
                  <a:pt x="782" y="770"/>
                  <a:pt x="792" y="790"/>
                  <a:pt x="800" y="804"/>
                </a:cubicBezTo>
                <a:cubicBezTo>
                  <a:pt x="807" y="817"/>
                  <a:pt x="817" y="834"/>
                  <a:pt x="825" y="845"/>
                </a:cubicBezTo>
                <a:cubicBezTo>
                  <a:pt x="832" y="855"/>
                  <a:pt x="842" y="868"/>
                  <a:pt x="850" y="877"/>
                </a:cubicBezTo>
                <a:cubicBezTo>
                  <a:pt x="857" y="885"/>
                  <a:pt x="867" y="895"/>
                  <a:pt x="875" y="902"/>
                </a:cubicBezTo>
                <a:cubicBezTo>
                  <a:pt x="882" y="908"/>
                  <a:pt x="892" y="915"/>
                  <a:pt x="900" y="920"/>
                </a:cubicBezTo>
                <a:cubicBezTo>
                  <a:pt x="907" y="924"/>
                  <a:pt x="917" y="929"/>
                  <a:pt x="925" y="933"/>
                </a:cubicBezTo>
                <a:cubicBezTo>
                  <a:pt x="932" y="936"/>
                  <a:pt x="942" y="939"/>
                  <a:pt x="950" y="942"/>
                </a:cubicBezTo>
                <a:cubicBezTo>
                  <a:pt x="957" y="944"/>
                  <a:pt x="967" y="947"/>
                  <a:pt x="975" y="949"/>
                </a:cubicBezTo>
                <a:cubicBezTo>
                  <a:pt x="982" y="950"/>
                  <a:pt x="996" y="952"/>
                  <a:pt x="1000" y="953"/>
                </a:cubicBezTo>
              </a:path>
            </a:pathLst>
          </a:custGeom>
          <a:noFill/>
          <a:ln w="57150" cap="rnd">
            <a:solidFill>
              <a:srgbClr val="1F3864"/>
            </a:solidFill>
            <a:round/>
          </a:ln>
        </p:spPr>
      </p:sp>
      <p:sp>
        <p:nvSpPr>
          <p:cNvPr id="11" name="Área ±2 DE"/>
          <p:cNvSpPr/>
          <p:nvPr/>
        </p:nvSpPr>
        <p:spPr>
          <a:xfrm>
            <a:off x="1865376" y="1280160"/>
            <a:ext cx="4681728" cy="4023360"/>
          </a:xfrm>
          <a:custGeom>
            <a:avLst/>
            <a:gdLst/>
            <a:ahLst/>
            <a:cxnLst/>
            <a:rect l="0" t="0" r="r" b="b"/>
            <a:pathLst>
              <a:path w="1000" h="1000" stroke="0">
                <a:moveTo>
                  <a:pt x="31" y="804"/>
                </a:moveTo>
                <a:cubicBezTo>
                  <a:pt x="36" y="796"/>
                  <a:pt x="58" y="770"/>
                  <a:pt x="70" y="754"/>
                </a:cubicBezTo>
                <a:cubicBezTo>
                  <a:pt x="81" y="737"/>
                  <a:pt x="97" y="713"/>
                  <a:pt x="109" y="694"/>
                </a:cubicBezTo>
                <a:cubicBezTo>
                  <a:pt x="120" y="674"/>
                  <a:pt x="136" y="647"/>
                  <a:pt x="148" y="625"/>
                </a:cubicBezTo>
                <a:cubicBezTo>
                  <a:pt x="159" y="602"/>
                  <a:pt x="175" y="571"/>
                  <a:pt x="187" y="547"/>
                </a:cubicBezTo>
                <a:cubicBezTo>
                  <a:pt x="198" y="523"/>
                  <a:pt x="214" y="490"/>
                  <a:pt x="226" y="465"/>
                </a:cubicBezTo>
                <a:cubicBezTo>
                  <a:pt x="237" y="439"/>
                  <a:pt x="253" y="405"/>
                  <a:pt x="265" y="380"/>
                </a:cubicBezTo>
                <a:cubicBezTo>
                  <a:pt x="276" y="354"/>
                  <a:pt x="292" y="320"/>
                  <a:pt x="304" y="296"/>
                </a:cubicBezTo>
                <a:cubicBezTo>
                  <a:pt x="315" y="271"/>
                  <a:pt x="331" y="240"/>
                  <a:pt x="343" y="219"/>
                </a:cubicBezTo>
                <a:cubicBezTo>
                  <a:pt x="354" y="197"/>
                  <a:pt x="370" y="170"/>
                  <a:pt x="382" y="153"/>
                </a:cubicBezTo>
                <a:cubicBezTo>
                  <a:pt x="393" y="135"/>
                  <a:pt x="409" y="114"/>
                  <a:pt x="421" y="102"/>
                </a:cubicBezTo>
                <a:cubicBezTo>
                  <a:pt x="432" y="89"/>
                  <a:pt x="448" y="76"/>
                  <a:pt x="460" y="70"/>
                </a:cubicBezTo>
                <a:cubicBezTo>
                  <a:pt x="471" y="63"/>
                  <a:pt x="488" y="60"/>
                  <a:pt x="500" y="60"/>
                </a:cubicBezTo>
                <a:cubicBezTo>
                  <a:pt x="511" y="60"/>
                  <a:pt x="527" y="63"/>
                  <a:pt x="539" y="70"/>
                </a:cubicBezTo>
                <a:cubicBezTo>
                  <a:pt x="550" y="76"/>
                  <a:pt x="566" y="89"/>
                  <a:pt x="578" y="102"/>
                </a:cubicBezTo>
                <a:cubicBezTo>
                  <a:pt x="589" y="114"/>
                  <a:pt x="605" y="135"/>
                  <a:pt x="617" y="153"/>
                </a:cubicBezTo>
                <a:cubicBezTo>
                  <a:pt x="628" y="170"/>
                  <a:pt x="644" y="197"/>
                  <a:pt x="656" y="219"/>
                </a:cubicBezTo>
                <a:cubicBezTo>
                  <a:pt x="667" y="240"/>
                  <a:pt x="683" y="271"/>
                  <a:pt x="695" y="296"/>
                </a:cubicBezTo>
                <a:cubicBezTo>
                  <a:pt x="706" y="320"/>
                  <a:pt x="722" y="354"/>
                  <a:pt x="734" y="380"/>
                </a:cubicBezTo>
                <a:cubicBezTo>
                  <a:pt x="745" y="405"/>
                  <a:pt x="761" y="439"/>
                  <a:pt x="773" y="465"/>
                </a:cubicBezTo>
                <a:cubicBezTo>
                  <a:pt x="784" y="490"/>
                  <a:pt x="800" y="523"/>
                  <a:pt x="812" y="547"/>
                </a:cubicBezTo>
                <a:cubicBezTo>
                  <a:pt x="823" y="571"/>
                  <a:pt x="839" y="602"/>
                  <a:pt x="851" y="625"/>
                </a:cubicBezTo>
                <a:cubicBezTo>
                  <a:pt x="862" y="647"/>
                  <a:pt x="878" y="674"/>
                  <a:pt x="890" y="694"/>
                </a:cubicBezTo>
                <a:cubicBezTo>
                  <a:pt x="901" y="713"/>
                  <a:pt x="917" y="737"/>
                  <a:pt x="929" y="754"/>
                </a:cubicBezTo>
                <a:cubicBezTo>
                  <a:pt x="940" y="770"/>
                  <a:pt x="962" y="796"/>
                  <a:pt x="968" y="804"/>
                </a:cubicBezTo>
                <a:lnTo>
                  <a:pt x="968" y="1000"/>
                </a:lnTo>
                <a:lnTo>
                  <a:pt x="31" y="1000"/>
                </a:lnTo>
                <a:close/>
              </a:path>
              <a:path w="1000" h="1000" fill="none">
                <a:moveTo>
                  <a:pt x="31" y="804"/>
                </a:moveTo>
                <a:cubicBezTo>
                  <a:pt x="36" y="796"/>
                  <a:pt x="58" y="770"/>
                  <a:pt x="70" y="754"/>
                </a:cubicBezTo>
                <a:cubicBezTo>
                  <a:pt x="81" y="737"/>
                  <a:pt x="97" y="713"/>
                  <a:pt x="109" y="694"/>
                </a:cubicBezTo>
                <a:cubicBezTo>
                  <a:pt x="120" y="674"/>
                  <a:pt x="136" y="647"/>
                  <a:pt x="148" y="625"/>
                </a:cubicBezTo>
                <a:cubicBezTo>
                  <a:pt x="159" y="602"/>
                  <a:pt x="175" y="571"/>
                  <a:pt x="187" y="547"/>
                </a:cubicBezTo>
                <a:cubicBezTo>
                  <a:pt x="198" y="523"/>
                  <a:pt x="214" y="490"/>
                  <a:pt x="226" y="465"/>
                </a:cubicBezTo>
                <a:cubicBezTo>
                  <a:pt x="237" y="439"/>
                  <a:pt x="253" y="405"/>
                  <a:pt x="265" y="380"/>
                </a:cubicBezTo>
                <a:cubicBezTo>
                  <a:pt x="276" y="354"/>
                  <a:pt x="292" y="320"/>
                  <a:pt x="304" y="296"/>
                </a:cubicBezTo>
                <a:cubicBezTo>
                  <a:pt x="315" y="271"/>
                  <a:pt x="331" y="240"/>
                  <a:pt x="343" y="219"/>
                </a:cubicBezTo>
                <a:cubicBezTo>
                  <a:pt x="354" y="197"/>
                  <a:pt x="370" y="170"/>
                  <a:pt x="382" y="153"/>
                </a:cubicBezTo>
                <a:cubicBezTo>
                  <a:pt x="393" y="135"/>
                  <a:pt x="409" y="114"/>
                  <a:pt x="421" y="102"/>
                </a:cubicBezTo>
                <a:cubicBezTo>
                  <a:pt x="432" y="89"/>
                  <a:pt x="448" y="76"/>
                  <a:pt x="460" y="70"/>
                </a:cubicBezTo>
                <a:cubicBezTo>
                  <a:pt x="471" y="63"/>
                  <a:pt x="488" y="60"/>
                  <a:pt x="500" y="60"/>
                </a:cubicBezTo>
                <a:cubicBezTo>
                  <a:pt x="511" y="60"/>
                  <a:pt x="527" y="63"/>
                  <a:pt x="539" y="70"/>
                </a:cubicBezTo>
                <a:cubicBezTo>
                  <a:pt x="550" y="76"/>
                  <a:pt x="566" y="89"/>
                  <a:pt x="578" y="102"/>
                </a:cubicBezTo>
                <a:cubicBezTo>
                  <a:pt x="589" y="114"/>
                  <a:pt x="605" y="135"/>
                  <a:pt x="617" y="153"/>
                </a:cubicBezTo>
                <a:cubicBezTo>
                  <a:pt x="628" y="170"/>
                  <a:pt x="644" y="197"/>
                  <a:pt x="656" y="219"/>
                </a:cubicBezTo>
                <a:cubicBezTo>
                  <a:pt x="667" y="240"/>
                  <a:pt x="683" y="271"/>
                  <a:pt x="695" y="296"/>
                </a:cubicBezTo>
                <a:cubicBezTo>
                  <a:pt x="706" y="320"/>
                  <a:pt x="722" y="354"/>
                  <a:pt x="734" y="380"/>
                </a:cubicBezTo>
                <a:cubicBezTo>
                  <a:pt x="745" y="405"/>
                  <a:pt x="761" y="439"/>
                  <a:pt x="773" y="465"/>
                </a:cubicBezTo>
                <a:cubicBezTo>
                  <a:pt x="784" y="490"/>
                  <a:pt x="800" y="523"/>
                  <a:pt x="812" y="547"/>
                </a:cubicBezTo>
                <a:cubicBezTo>
                  <a:pt x="823" y="571"/>
                  <a:pt x="839" y="602"/>
                  <a:pt x="851" y="625"/>
                </a:cubicBezTo>
                <a:cubicBezTo>
                  <a:pt x="862" y="647"/>
                  <a:pt x="878" y="674"/>
                  <a:pt x="890" y="694"/>
                </a:cubicBezTo>
                <a:cubicBezTo>
                  <a:pt x="901" y="713"/>
                  <a:pt x="917" y="737"/>
                  <a:pt x="929" y="754"/>
                </a:cubicBezTo>
                <a:cubicBezTo>
                  <a:pt x="940" y="770"/>
                  <a:pt x="962" y="796"/>
                  <a:pt x="968" y="804"/>
                </a:cubicBezTo>
              </a:path>
            </a:pathLst>
          </a:custGeom>
          <a:solidFill>
            <a:srgbClr val="58D68D">
              <a:alpha val="55000"/>
            </a:srgbClr>
          </a:solidFill>
          <a:ln w="6350" cap="rnd">
            <a:solidFill>
              <a:srgbClr val="1F3864"/>
            </a:solidFill>
            <a:round/>
          </a:ln>
        </p:spPr>
      </p:sp>
      <p:sp>
        <p:nvSpPr>
          <p:cNvPr id="12" name="Media"/>
          <p:cNvSpPr/>
          <p:nvPr/>
        </p:nvSpPr>
        <p:spPr>
          <a:xfrm>
            <a:off x="4206240" y="1325880"/>
            <a:ext cx="9144" cy="3977640"/>
          </a:xfrm>
          <a:custGeom>
            <a:avLst/>
            <a:gdLst/>
            <a:ahLst/>
            <a:cxnLst/>
            <a:rect l="0" t="0" r="r" b="b"/>
            <a:pathLst>
              <a:path w="10" h="4350" fill="none">
                <a:moveTo>
                  <a:pt x="0" y="4350"/>
                </a:moveTo>
                <a:lnTo>
                  <a:pt x="0" y="0"/>
                </a:lnTo>
              </a:path>
            </a:pathLst>
          </a:custGeom>
          <a:noFill/>
          <a:ln w="31750" cap="rnd">
            <a:solidFill>
              <a:srgbClr val="C00000"/>
            </a:solidFill>
            <a:prstDash val="dash"/>
            <a:round/>
          </a:ln>
        </p:spPr>
      </p:sp>
      <p:sp>
        <p:nvSpPr>
          <p:cNvPr id="13" name="Rótulo media"/>
          <p:cNvSpPr/>
          <p:nvPr/>
        </p:nvSpPr>
        <p:spPr>
          <a:xfrm>
            <a:off x="3749040" y="960120"/>
            <a:ext cx="914400" cy="27241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lang="es-AR" sz="1300" dirty="0">
              <a:latin typeface="Calibri"/>
            </a:endParaRPr>
          </a:p>
        </p:txBody>
      </p:sp>
      <p:sp>
        <p:nvSpPr>
          <p:cNvPr id="14" name="Límite inferior"/>
          <p:cNvSpPr/>
          <p:nvPr/>
        </p:nvSpPr>
        <p:spPr>
          <a:xfrm>
            <a:off x="1865376" y="4023360"/>
            <a:ext cx="9144" cy="1325880"/>
          </a:xfrm>
          <a:custGeom>
            <a:avLst/>
            <a:gdLst/>
            <a:ahLst/>
            <a:cxnLst/>
            <a:rect l="0" t="0" r="r" b="b"/>
            <a:pathLst>
              <a:path w="10" h="1450" fill="none">
                <a:moveTo>
                  <a:pt x="0" y="1450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1E1E1E"/>
            </a:solidFill>
            <a:round/>
          </a:ln>
        </p:spPr>
      </p:sp>
      <p:sp>
        <p:nvSpPr>
          <p:cNvPr id="15" name="Límite superior"/>
          <p:cNvSpPr/>
          <p:nvPr/>
        </p:nvSpPr>
        <p:spPr>
          <a:xfrm>
            <a:off x="6547104" y="4023360"/>
            <a:ext cx="9144" cy="1325880"/>
          </a:xfrm>
          <a:custGeom>
            <a:avLst/>
            <a:gdLst/>
            <a:ahLst/>
            <a:cxnLst/>
            <a:rect l="0" t="0" r="r" b="b"/>
            <a:pathLst>
              <a:path w="10" h="1450" fill="none">
                <a:moveTo>
                  <a:pt x="0" y="1450"/>
                </a:move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1E1E1E"/>
            </a:solidFill>
            <a:round/>
          </a:ln>
        </p:spPr>
      </p:sp>
      <p:sp>
        <p:nvSpPr>
          <p:cNvPr id="16" name="Rótulo −2DE"/>
          <p:cNvSpPr/>
          <p:nvPr/>
        </p:nvSpPr>
        <p:spPr>
          <a:xfrm>
            <a:off x="1179576" y="5577840"/>
            <a:ext cx="1371600" cy="261937"/>
          </a:xfrm>
          <a:prstGeom prst="rect">
            <a:avLst/>
          </a:prstGeom>
          <a:solidFill>
            <a:srgbClr val="FFFFFF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−2 DE (p 2,5)</a:t>
            </a:r>
            <a:endParaRPr lang="es-AR" sz="1250" dirty="0">
              <a:latin typeface="Calibri"/>
            </a:endParaRPr>
          </a:p>
        </p:txBody>
      </p:sp>
      <p:sp>
        <p:nvSpPr>
          <p:cNvPr id="17" name="Rótulo +2DE"/>
          <p:cNvSpPr/>
          <p:nvPr/>
        </p:nvSpPr>
        <p:spPr>
          <a:xfrm>
            <a:off x="5861304" y="5577840"/>
            <a:ext cx="1371600" cy="261937"/>
          </a:xfrm>
          <a:prstGeom prst="rect">
            <a:avLst/>
          </a:prstGeom>
          <a:solidFill>
            <a:srgbClr val="FFFFFF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+2 DE (p 97,5)</a:t>
            </a:r>
            <a:endParaRPr lang="es-AR" sz="1250" dirty="0">
              <a:latin typeface="Calibri"/>
            </a:endParaRPr>
          </a:p>
        </p:txBody>
      </p:sp>
      <p:sp>
        <p:nvSpPr>
          <p:cNvPr id="18" name="95 por ciento"/>
          <p:cNvSpPr txBox="1"/>
          <p:nvPr/>
        </p:nvSpPr>
        <p:spPr>
          <a:xfrm>
            <a:off x="3108960" y="3493008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4E7A30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Calibri"/>
                <a:ea typeface="Calibri"/>
                <a:cs typeface="Calibri"/>
                <a:sym typeface="Calibri"/>
              </a:rPr>
              <a:t>95 %</a:t>
            </a:r>
            <a:endParaRPr lang="es-AR" sz="3000" dirty="0">
              <a:latin typeface="Calibri"/>
            </a:endParaRPr>
          </a:p>
        </p:txBody>
      </p:sp>
      <p:sp>
        <p:nvSpPr>
          <p:cNvPr id="19" name="Cola inferior"/>
          <p:cNvSpPr txBox="1"/>
          <p:nvPr/>
        </p:nvSpPr>
        <p:spPr>
          <a:xfrm>
            <a:off x="731520" y="45262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2,5 %</a:t>
            </a:r>
            <a:endParaRPr lang="es-AR" sz="1500" dirty="0">
              <a:latin typeface="Calibri"/>
            </a:endParaRPr>
          </a:p>
        </p:txBody>
      </p:sp>
      <p:sp>
        <p:nvSpPr>
          <p:cNvPr id="20" name="Cola superior"/>
          <p:cNvSpPr txBox="1"/>
          <p:nvPr/>
        </p:nvSpPr>
        <p:spPr>
          <a:xfrm>
            <a:off x="6492240" y="45262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2,5 %</a:t>
            </a:r>
            <a:endParaRPr lang="es-AR" sz="1500" dirty="0">
              <a:latin typeface="Calibri"/>
            </a:endParaRPr>
          </a:p>
        </p:txBody>
      </p:sp>
      <p:grpSp>
        <p:nvGrpSpPr>
          <p:cNvPr id="21" name="Def intervalo"/>
          <p:cNvGrpSpPr/>
          <p:nvPr/>
        </p:nvGrpSpPr>
        <p:grpSpPr>
          <a:xfrm>
            <a:off x="8549640" y="1097280"/>
            <a:ext cx="3383280" cy="2651760"/>
            <a:chOff x="8549640" y="1097280"/>
            <a:chExt cx="3383280" cy="2651760"/>
          </a:xfrm>
        </p:grpSpPr>
        <p:sp>
          <p:nvSpPr>
            <p:cNvPr id="22" name="Forma 23"/>
            <p:cNvSpPr/>
            <p:nvPr/>
          </p:nvSpPr>
          <p:spPr>
            <a:xfrm>
              <a:off x="8549640" y="1298448"/>
              <a:ext cx="3383280" cy="24505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Rangos de concentración establecidos en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individuos sanos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Se toman los valores dentro de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±2 desvíos estándar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media: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95 %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población sana.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3" name="Forma 24"/>
            <p:cNvSpPr/>
            <p:nvPr/>
          </p:nvSpPr>
          <p:spPr>
            <a:xfrm>
              <a:off x="8677656" y="1097280"/>
              <a:ext cx="122569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Cinco por ciento"/>
          <p:cNvGrpSpPr/>
          <p:nvPr/>
        </p:nvGrpSpPr>
        <p:grpSpPr>
          <a:xfrm>
            <a:off x="8549640" y="3977640"/>
            <a:ext cx="3383280" cy="2468880"/>
            <a:chOff x="8549640" y="3977640"/>
            <a:chExt cx="3383280" cy="2468880"/>
          </a:xfrm>
        </p:grpSpPr>
        <p:sp>
          <p:nvSpPr>
            <p:cNvPr id="25" name="Forma 26"/>
            <p:cNvSpPr/>
            <p:nvPr/>
          </p:nvSpPr>
          <p:spPr>
            <a:xfrm>
              <a:off x="8549640" y="417880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El </a:t>
              </a:r>
              <a:r>
                <a:rPr lang="es-AR" sz="18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5 % restante</a:t>
              </a:r>
              <a:r>
                <a:rPr lang="es-AR" sz="18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de la población sana puede quedar </a:t>
              </a:r>
              <a:r>
                <a:rPr lang="es-AR" sz="18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fuera del intervalo sin estar enfermo</a:t>
              </a:r>
              <a:r>
                <a:rPr lang="es-AR" sz="18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 «Valores normales» es un término en desuso.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6" name="Forma 27"/>
            <p:cNvSpPr/>
            <p:nvPr/>
          </p:nvSpPr>
          <p:spPr>
            <a:xfrm>
              <a:off x="8677656" y="3977640"/>
              <a:ext cx="1113726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ATENCIÓN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INTERVALO DE REFERENCIA: LA CAMPANA DE LA POBLACIÓN SANA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1" grpId="0" animBg="1"/>
      <p:bldP spid="18" grpId="0" animBg="1"/>
      <p:bldP spid="19" grpId="0" animBg="1"/>
      <p:bldP spid="20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6" name="Paso IR 1"/>
          <p:cNvGrpSpPr/>
          <p:nvPr/>
        </p:nvGrpSpPr>
        <p:grpSpPr>
          <a:xfrm>
            <a:off x="3246120" y="1097280"/>
            <a:ext cx="5943600" cy="822960"/>
            <a:chOff x="3246120" y="1097280"/>
            <a:chExt cx="5943600" cy="822960"/>
          </a:xfrm>
        </p:grpSpPr>
        <p:sp>
          <p:nvSpPr>
            <p:cNvPr id="7" name="Número 1"/>
            <p:cNvSpPr/>
            <p:nvPr/>
          </p:nvSpPr>
          <p:spPr>
            <a:xfrm>
              <a:off x="3246120" y="128016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794760" y="1097280"/>
              <a:ext cx="5394960" cy="8229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Seleccionar una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muestra representativa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individuos sanos con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criterios de exclusión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rigurosos (no fumadores, sin enfermedades, sin embarazo).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9" name="Paso IR 2"/>
          <p:cNvGrpSpPr/>
          <p:nvPr/>
        </p:nvGrpSpPr>
        <p:grpSpPr>
          <a:xfrm>
            <a:off x="3246120" y="2029968"/>
            <a:ext cx="5943600" cy="822960"/>
            <a:chOff x="3246120" y="2029968"/>
            <a:chExt cx="5943600" cy="822960"/>
          </a:xfrm>
        </p:grpSpPr>
        <p:sp>
          <p:nvSpPr>
            <p:cNvPr id="10" name="Número 2"/>
            <p:cNvSpPr/>
            <p:nvPr/>
          </p:nvSpPr>
          <p:spPr>
            <a:xfrm>
              <a:off x="3246120" y="2212848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3794760" y="2029968"/>
              <a:ext cx="5394960" cy="8229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Medir la variable bioquímica en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todos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esos individuos.</a:t>
              </a:r>
              <a:endParaRPr lang="es-AR" sz="1850" dirty="0">
                <a:latin typeface="Calibri"/>
              </a:endParaRPr>
            </a:p>
          </p:txBody>
        </p:sp>
      </p:grpSp>
      <p:grpSp>
        <p:nvGrpSpPr>
          <p:cNvPr id="12" name="Paso IR 3"/>
          <p:cNvGrpSpPr/>
          <p:nvPr/>
        </p:nvGrpSpPr>
        <p:grpSpPr>
          <a:xfrm>
            <a:off x="3246120" y="2962656"/>
            <a:ext cx="5943600" cy="822960"/>
            <a:chOff x="3246120" y="2962656"/>
            <a:chExt cx="5943600" cy="822960"/>
          </a:xfrm>
        </p:grpSpPr>
        <p:sp>
          <p:nvSpPr>
            <p:cNvPr id="13" name="Número 3"/>
            <p:cNvSpPr/>
            <p:nvPr/>
          </p:nvSpPr>
          <p:spPr>
            <a:xfrm>
              <a:off x="3246120" y="3145536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3794760" y="2962656"/>
              <a:ext cx="5394960" cy="8229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datos se distribuyen según una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curva gaussiana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alrededor de la media.</a:t>
              </a:r>
              <a:endParaRPr lang="es-AR" sz="1850" dirty="0">
                <a:latin typeface="Calibri"/>
              </a:endParaRPr>
            </a:p>
          </p:txBody>
        </p:sp>
      </p:grpSp>
      <p:grpSp>
        <p:nvGrpSpPr>
          <p:cNvPr id="15" name="Paso IR 4"/>
          <p:cNvGrpSpPr/>
          <p:nvPr/>
        </p:nvGrpSpPr>
        <p:grpSpPr>
          <a:xfrm>
            <a:off x="3246120" y="3895344"/>
            <a:ext cx="5943600" cy="822960"/>
            <a:chOff x="3246120" y="3895344"/>
            <a:chExt cx="5943600" cy="822960"/>
          </a:xfrm>
        </p:grpSpPr>
        <p:sp>
          <p:nvSpPr>
            <p:cNvPr id="16" name="Número 4"/>
            <p:cNvSpPr/>
            <p:nvPr/>
          </p:nvSpPr>
          <p:spPr>
            <a:xfrm>
              <a:off x="3246120" y="4078224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3794760" y="3895344"/>
              <a:ext cx="5394960" cy="8229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Tomar los valores dentro de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±2 DE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media (95 % de los sanos).</a:t>
              </a:r>
              <a:endParaRPr lang="es-AR" sz="1850" dirty="0">
                <a:latin typeface="Calibri"/>
              </a:endParaRPr>
            </a:p>
          </p:txBody>
        </p:sp>
      </p:grpSp>
      <p:grpSp>
        <p:nvGrpSpPr>
          <p:cNvPr id="18" name="Paso IR 5"/>
          <p:cNvGrpSpPr/>
          <p:nvPr/>
        </p:nvGrpSpPr>
        <p:grpSpPr>
          <a:xfrm>
            <a:off x="3246120" y="4828032"/>
            <a:ext cx="5943600" cy="822960"/>
            <a:chOff x="3246120" y="4828032"/>
            <a:chExt cx="5943600" cy="822960"/>
          </a:xfrm>
        </p:grpSpPr>
        <p:sp>
          <p:nvSpPr>
            <p:cNvPr id="19" name="Número 5"/>
            <p:cNvSpPr/>
            <p:nvPr/>
          </p:nvSpPr>
          <p:spPr>
            <a:xfrm>
              <a:off x="3246120" y="5010912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3794760" y="4828032"/>
              <a:ext cx="5394960" cy="8229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intervalo abarca los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percentiles 2,5 a 97,5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distribución.</a:t>
              </a:r>
              <a:endParaRPr lang="es-AR" sz="1850" dirty="0">
                <a:latin typeface="Calibri"/>
              </a:endParaRPr>
            </a:p>
          </p:txBody>
        </p:sp>
      </p:grpSp>
      <p:grpSp>
        <p:nvGrpSpPr>
          <p:cNvPr id="21" name="!!Población y muestra"/>
          <p:cNvGrpSpPr/>
          <p:nvPr/>
        </p:nvGrpSpPr>
        <p:grpSpPr>
          <a:xfrm>
            <a:off x="274320" y="1280160"/>
            <a:ext cx="2560320" cy="2560320"/>
            <a:chOff x="274320" y="1280160"/>
            <a:chExt cx="2560320" cy="2560320"/>
          </a:xfrm>
        </p:grpSpPr>
        <p:sp>
          <p:nvSpPr>
            <p:cNvPr id="22" name="Forma 21"/>
            <p:cNvSpPr/>
            <p:nvPr/>
          </p:nvSpPr>
          <p:spPr>
            <a:xfrm>
              <a:off x="274320" y="1280160"/>
              <a:ext cx="2560320" cy="2560320"/>
            </a:xfrm>
            <a:prstGeom prst="ellipse">
              <a:avLst/>
            </a:prstGeom>
            <a:solidFill>
              <a:srgbClr val="AEB6BF">
                <a:alpha val="40000"/>
              </a:srgbClr>
            </a:solidFill>
            <a:ln w="19050" cap="rnd">
              <a:solidFill>
                <a:srgbClr val="1E1E1E"/>
              </a:solidFill>
              <a:prstDash val="dash"/>
              <a:round/>
            </a:ln>
          </p:spPr>
        </p:sp>
        <p:grpSp>
          <p:nvGrpSpPr>
            <p:cNvPr id="23" name="p0"/>
            <p:cNvGrpSpPr/>
            <p:nvPr/>
          </p:nvGrpSpPr>
          <p:grpSpPr>
            <a:xfrm>
              <a:off x="502920" y="1508760"/>
              <a:ext cx="320040" cy="457200"/>
              <a:chOff x="502920" y="1508760"/>
              <a:chExt cx="320040" cy="457200"/>
            </a:xfrm>
          </p:grpSpPr>
          <p:sp>
            <p:nvSpPr>
              <p:cNvPr id="24" name="Forma 23"/>
              <p:cNvSpPr/>
              <p:nvPr/>
            </p:nvSpPr>
            <p:spPr>
              <a:xfrm>
                <a:off x="585216" y="1508760"/>
                <a:ext cx="155448" cy="155448"/>
              </a:xfrm>
              <a:prstGeom prst="ellipse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25" name="Forma 24"/>
              <p:cNvSpPr/>
              <p:nvPr/>
            </p:nvSpPr>
            <p:spPr>
              <a:xfrm rot="-5400000">
                <a:off x="502920" y="1682496"/>
                <a:ext cx="320040" cy="283464"/>
              </a:xfrm>
              <a:prstGeom prst="flowChartDelay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26" name="p1"/>
            <p:cNvGrpSpPr/>
            <p:nvPr/>
          </p:nvGrpSpPr>
          <p:grpSpPr>
            <a:xfrm>
              <a:off x="1051560" y="1508760"/>
              <a:ext cx="320040" cy="457200"/>
              <a:chOff x="1051560" y="1508760"/>
              <a:chExt cx="320040" cy="457200"/>
            </a:xfrm>
          </p:grpSpPr>
          <p:sp>
            <p:nvSpPr>
              <p:cNvPr id="27" name="Forma 26"/>
              <p:cNvSpPr/>
              <p:nvPr/>
            </p:nvSpPr>
            <p:spPr>
              <a:xfrm>
                <a:off x="1133856" y="150876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28" name="Forma 27"/>
              <p:cNvSpPr/>
              <p:nvPr/>
            </p:nvSpPr>
            <p:spPr>
              <a:xfrm rot="-5400000">
                <a:off x="1051560" y="168249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29" name="p2"/>
            <p:cNvGrpSpPr/>
            <p:nvPr/>
          </p:nvGrpSpPr>
          <p:grpSpPr>
            <a:xfrm>
              <a:off x="1600200" y="1508760"/>
              <a:ext cx="320040" cy="457200"/>
              <a:chOff x="1600200" y="1508760"/>
              <a:chExt cx="320040" cy="457200"/>
            </a:xfrm>
          </p:grpSpPr>
          <p:sp>
            <p:nvSpPr>
              <p:cNvPr id="30" name="Forma 29"/>
              <p:cNvSpPr/>
              <p:nvPr/>
            </p:nvSpPr>
            <p:spPr>
              <a:xfrm>
                <a:off x="1682496" y="150876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 rot="-5400000">
                <a:off x="1600200" y="168249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32" name="p3"/>
            <p:cNvGrpSpPr/>
            <p:nvPr/>
          </p:nvGrpSpPr>
          <p:grpSpPr>
            <a:xfrm>
              <a:off x="2148840" y="1508760"/>
              <a:ext cx="320040" cy="457200"/>
              <a:chOff x="2148840" y="1508760"/>
              <a:chExt cx="320040" cy="457200"/>
            </a:xfrm>
          </p:grpSpPr>
          <p:sp>
            <p:nvSpPr>
              <p:cNvPr id="33" name="Forma 32"/>
              <p:cNvSpPr/>
              <p:nvPr/>
            </p:nvSpPr>
            <p:spPr>
              <a:xfrm>
                <a:off x="2231136" y="1508760"/>
                <a:ext cx="155448" cy="155448"/>
              </a:xfrm>
              <a:prstGeom prst="ellipse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34" name="Forma 33"/>
              <p:cNvSpPr/>
              <p:nvPr/>
            </p:nvSpPr>
            <p:spPr>
              <a:xfrm rot="-5400000">
                <a:off x="2148840" y="1682496"/>
                <a:ext cx="320040" cy="283464"/>
              </a:xfrm>
              <a:prstGeom prst="flowChartDelay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35" name="p4"/>
            <p:cNvGrpSpPr/>
            <p:nvPr/>
          </p:nvGrpSpPr>
          <p:grpSpPr>
            <a:xfrm>
              <a:off x="502920" y="2057400"/>
              <a:ext cx="320040" cy="457200"/>
              <a:chOff x="502920" y="2057400"/>
              <a:chExt cx="320040" cy="457200"/>
            </a:xfrm>
          </p:grpSpPr>
          <p:sp>
            <p:nvSpPr>
              <p:cNvPr id="36" name="Forma 35"/>
              <p:cNvSpPr/>
              <p:nvPr/>
            </p:nvSpPr>
            <p:spPr>
              <a:xfrm>
                <a:off x="585216" y="205740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37" name="Forma 36"/>
              <p:cNvSpPr/>
              <p:nvPr/>
            </p:nvSpPr>
            <p:spPr>
              <a:xfrm rot="-5400000">
                <a:off x="502920" y="223113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38" name="p5"/>
            <p:cNvGrpSpPr/>
            <p:nvPr/>
          </p:nvGrpSpPr>
          <p:grpSpPr>
            <a:xfrm>
              <a:off x="1051560" y="2057400"/>
              <a:ext cx="320040" cy="457200"/>
              <a:chOff x="1051560" y="2057400"/>
              <a:chExt cx="320040" cy="457200"/>
            </a:xfrm>
          </p:grpSpPr>
          <p:sp>
            <p:nvSpPr>
              <p:cNvPr id="39" name="Forma 38"/>
              <p:cNvSpPr/>
              <p:nvPr/>
            </p:nvSpPr>
            <p:spPr>
              <a:xfrm>
                <a:off x="1133856" y="205740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40" name="Forma 39"/>
              <p:cNvSpPr/>
              <p:nvPr/>
            </p:nvSpPr>
            <p:spPr>
              <a:xfrm rot="-5400000">
                <a:off x="1051560" y="223113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41" name="p6"/>
            <p:cNvGrpSpPr/>
            <p:nvPr/>
          </p:nvGrpSpPr>
          <p:grpSpPr>
            <a:xfrm>
              <a:off x="1600200" y="2057400"/>
              <a:ext cx="320040" cy="457200"/>
              <a:chOff x="1600200" y="2057400"/>
              <a:chExt cx="320040" cy="457200"/>
            </a:xfrm>
          </p:grpSpPr>
          <p:sp>
            <p:nvSpPr>
              <p:cNvPr id="42" name="Forma 41"/>
              <p:cNvSpPr/>
              <p:nvPr/>
            </p:nvSpPr>
            <p:spPr>
              <a:xfrm>
                <a:off x="1682496" y="2057400"/>
                <a:ext cx="155448" cy="155448"/>
              </a:xfrm>
              <a:prstGeom prst="ellipse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 rot="-5400000">
                <a:off x="1600200" y="2231136"/>
                <a:ext cx="320040" cy="283464"/>
              </a:xfrm>
              <a:prstGeom prst="flowChartDelay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44" name="p7"/>
            <p:cNvGrpSpPr/>
            <p:nvPr/>
          </p:nvGrpSpPr>
          <p:grpSpPr>
            <a:xfrm>
              <a:off x="2148840" y="2057400"/>
              <a:ext cx="320040" cy="457200"/>
              <a:chOff x="2148840" y="2057400"/>
              <a:chExt cx="320040" cy="457200"/>
            </a:xfrm>
          </p:grpSpPr>
          <p:sp>
            <p:nvSpPr>
              <p:cNvPr id="45" name="Forma 44"/>
              <p:cNvSpPr/>
              <p:nvPr/>
            </p:nvSpPr>
            <p:spPr>
              <a:xfrm>
                <a:off x="2231136" y="205740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46" name="Forma 45"/>
              <p:cNvSpPr/>
              <p:nvPr/>
            </p:nvSpPr>
            <p:spPr>
              <a:xfrm rot="-5400000">
                <a:off x="2148840" y="223113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47" name="p8"/>
            <p:cNvGrpSpPr/>
            <p:nvPr/>
          </p:nvGrpSpPr>
          <p:grpSpPr>
            <a:xfrm>
              <a:off x="502920" y="2606040"/>
              <a:ext cx="320040" cy="457200"/>
              <a:chOff x="502920" y="2606040"/>
              <a:chExt cx="320040" cy="457200"/>
            </a:xfrm>
          </p:grpSpPr>
          <p:sp>
            <p:nvSpPr>
              <p:cNvPr id="48" name="Forma 47"/>
              <p:cNvSpPr/>
              <p:nvPr/>
            </p:nvSpPr>
            <p:spPr>
              <a:xfrm>
                <a:off x="585216" y="260604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49" name="Forma 48"/>
              <p:cNvSpPr/>
              <p:nvPr/>
            </p:nvSpPr>
            <p:spPr>
              <a:xfrm rot="-5400000">
                <a:off x="502920" y="277977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50" name="p9"/>
            <p:cNvGrpSpPr/>
            <p:nvPr/>
          </p:nvGrpSpPr>
          <p:grpSpPr>
            <a:xfrm>
              <a:off x="1051560" y="2606040"/>
              <a:ext cx="320040" cy="457200"/>
              <a:chOff x="1051560" y="2606040"/>
              <a:chExt cx="320040" cy="457200"/>
            </a:xfrm>
          </p:grpSpPr>
          <p:sp>
            <p:nvSpPr>
              <p:cNvPr id="51" name="Forma 50"/>
              <p:cNvSpPr/>
              <p:nvPr/>
            </p:nvSpPr>
            <p:spPr>
              <a:xfrm>
                <a:off x="1133856" y="2606040"/>
                <a:ext cx="155448" cy="155448"/>
              </a:xfrm>
              <a:prstGeom prst="ellipse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 rot="-5400000">
                <a:off x="1051560" y="2779776"/>
                <a:ext cx="320040" cy="283464"/>
              </a:xfrm>
              <a:prstGeom prst="flowChartDelay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53" name="p10"/>
            <p:cNvGrpSpPr/>
            <p:nvPr/>
          </p:nvGrpSpPr>
          <p:grpSpPr>
            <a:xfrm>
              <a:off x="1600200" y="2606040"/>
              <a:ext cx="320040" cy="457200"/>
              <a:chOff x="1600200" y="2606040"/>
              <a:chExt cx="320040" cy="457200"/>
            </a:xfrm>
          </p:grpSpPr>
          <p:sp>
            <p:nvSpPr>
              <p:cNvPr id="54" name="Forma 53"/>
              <p:cNvSpPr/>
              <p:nvPr/>
            </p:nvSpPr>
            <p:spPr>
              <a:xfrm>
                <a:off x="1682496" y="260604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55" name="Forma 54"/>
              <p:cNvSpPr/>
              <p:nvPr/>
            </p:nvSpPr>
            <p:spPr>
              <a:xfrm rot="-5400000">
                <a:off x="1600200" y="277977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56" name="p11"/>
            <p:cNvGrpSpPr/>
            <p:nvPr/>
          </p:nvGrpSpPr>
          <p:grpSpPr>
            <a:xfrm>
              <a:off x="2148840" y="2606040"/>
              <a:ext cx="320040" cy="457200"/>
              <a:chOff x="2148840" y="2606040"/>
              <a:chExt cx="320040" cy="457200"/>
            </a:xfrm>
          </p:grpSpPr>
          <p:sp>
            <p:nvSpPr>
              <p:cNvPr id="57" name="Forma 56"/>
              <p:cNvSpPr/>
              <p:nvPr/>
            </p:nvSpPr>
            <p:spPr>
              <a:xfrm>
                <a:off x="2231136" y="260604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58" name="Forma 57"/>
              <p:cNvSpPr/>
              <p:nvPr/>
            </p:nvSpPr>
            <p:spPr>
              <a:xfrm rot="-5400000">
                <a:off x="2148840" y="277977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59" name="p12"/>
            <p:cNvGrpSpPr/>
            <p:nvPr/>
          </p:nvGrpSpPr>
          <p:grpSpPr>
            <a:xfrm>
              <a:off x="502920" y="3154680"/>
              <a:ext cx="320040" cy="457200"/>
              <a:chOff x="502920" y="3154680"/>
              <a:chExt cx="320040" cy="457200"/>
            </a:xfrm>
          </p:grpSpPr>
          <p:sp>
            <p:nvSpPr>
              <p:cNvPr id="60" name="Forma 59"/>
              <p:cNvSpPr/>
              <p:nvPr/>
            </p:nvSpPr>
            <p:spPr>
              <a:xfrm>
                <a:off x="585216" y="3154680"/>
                <a:ext cx="155448" cy="155448"/>
              </a:xfrm>
              <a:prstGeom prst="ellipse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61" name="Forma 60"/>
              <p:cNvSpPr/>
              <p:nvPr/>
            </p:nvSpPr>
            <p:spPr>
              <a:xfrm rot="-5400000">
                <a:off x="502920" y="3328416"/>
                <a:ext cx="320040" cy="283464"/>
              </a:xfrm>
              <a:prstGeom prst="flowChartDelay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62" name="p13"/>
            <p:cNvGrpSpPr/>
            <p:nvPr/>
          </p:nvGrpSpPr>
          <p:grpSpPr>
            <a:xfrm>
              <a:off x="1051560" y="3154680"/>
              <a:ext cx="320040" cy="457200"/>
              <a:chOff x="1051560" y="3154680"/>
              <a:chExt cx="320040" cy="457200"/>
            </a:xfrm>
          </p:grpSpPr>
          <p:sp>
            <p:nvSpPr>
              <p:cNvPr id="63" name="Forma 62"/>
              <p:cNvSpPr/>
              <p:nvPr/>
            </p:nvSpPr>
            <p:spPr>
              <a:xfrm>
                <a:off x="1133856" y="315468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64" name="Forma 63"/>
              <p:cNvSpPr/>
              <p:nvPr/>
            </p:nvSpPr>
            <p:spPr>
              <a:xfrm rot="-5400000">
                <a:off x="1051560" y="332841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65" name="p14"/>
            <p:cNvGrpSpPr/>
            <p:nvPr/>
          </p:nvGrpSpPr>
          <p:grpSpPr>
            <a:xfrm>
              <a:off x="1600200" y="3154680"/>
              <a:ext cx="320040" cy="457200"/>
              <a:chOff x="1600200" y="3154680"/>
              <a:chExt cx="320040" cy="457200"/>
            </a:xfrm>
          </p:grpSpPr>
          <p:sp>
            <p:nvSpPr>
              <p:cNvPr id="66" name="Forma 65"/>
              <p:cNvSpPr/>
              <p:nvPr/>
            </p:nvSpPr>
            <p:spPr>
              <a:xfrm>
                <a:off x="1682496" y="3154680"/>
                <a:ext cx="155448" cy="155448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67" name="Forma 66"/>
              <p:cNvSpPr/>
              <p:nvPr/>
            </p:nvSpPr>
            <p:spPr>
              <a:xfrm rot="-5400000">
                <a:off x="1600200" y="3328416"/>
                <a:ext cx="320040" cy="283464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68" name="p15"/>
            <p:cNvGrpSpPr/>
            <p:nvPr/>
          </p:nvGrpSpPr>
          <p:grpSpPr>
            <a:xfrm>
              <a:off x="2148840" y="3154680"/>
              <a:ext cx="320040" cy="457200"/>
              <a:chOff x="2148840" y="3154680"/>
              <a:chExt cx="320040" cy="457200"/>
            </a:xfrm>
          </p:grpSpPr>
          <p:sp>
            <p:nvSpPr>
              <p:cNvPr id="69" name="Forma 68"/>
              <p:cNvSpPr/>
              <p:nvPr/>
            </p:nvSpPr>
            <p:spPr>
              <a:xfrm>
                <a:off x="2231136" y="3154680"/>
                <a:ext cx="155448" cy="155448"/>
              </a:xfrm>
              <a:prstGeom prst="ellipse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70" name="Forma 69"/>
              <p:cNvSpPr/>
              <p:nvPr/>
            </p:nvSpPr>
            <p:spPr>
              <a:xfrm rot="-5400000">
                <a:off x="2148840" y="3328416"/>
                <a:ext cx="320040" cy="283464"/>
              </a:xfrm>
              <a:prstGeom prst="flowChartDelay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</p:grpSp>
      <p:sp>
        <p:nvSpPr>
          <p:cNvPr id="71" name="Población vs muestra"/>
          <p:cNvSpPr/>
          <p:nvPr/>
        </p:nvSpPr>
        <p:spPr>
          <a:xfrm>
            <a:off x="274320" y="4023360"/>
            <a:ext cx="2606040" cy="2423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Población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total de individuos de una zona.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Muestra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subconjunto representativo, calculado estadísticamente para poder extrapolar.</a:t>
            </a:r>
            <a:endParaRPr lang="es-AR" sz="1750" dirty="0">
              <a:latin typeface="Calibri"/>
            </a:endParaRPr>
          </a:p>
        </p:txBody>
      </p:sp>
      <p:grpSp>
        <p:nvGrpSpPr>
          <p:cNvPr id="72" name="Mini campana"/>
          <p:cNvGrpSpPr/>
          <p:nvPr/>
        </p:nvGrpSpPr>
        <p:grpSpPr>
          <a:xfrm>
            <a:off x="9555480" y="1371600"/>
            <a:ext cx="2377440" cy="1645920"/>
            <a:chOff x="9555480" y="1371600"/>
            <a:chExt cx="2377440" cy="1645920"/>
          </a:xfrm>
        </p:grpSpPr>
        <p:sp>
          <p:nvSpPr>
            <p:cNvPr id="73" name="Campana mini"/>
            <p:cNvSpPr/>
            <p:nvPr/>
          </p:nvSpPr>
          <p:spPr>
            <a:xfrm>
              <a:off x="9555480" y="1371600"/>
              <a:ext cx="2377440" cy="16459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0" y="948"/>
                  </a:moveTo>
                  <a:cubicBezTo>
                    <a:pt x="3" y="947"/>
                    <a:pt x="17" y="944"/>
                    <a:pt x="25" y="942"/>
                  </a:cubicBezTo>
                  <a:cubicBezTo>
                    <a:pt x="32" y="939"/>
                    <a:pt x="42" y="936"/>
                    <a:pt x="50" y="933"/>
                  </a:cubicBezTo>
                  <a:cubicBezTo>
                    <a:pt x="57" y="929"/>
                    <a:pt x="67" y="925"/>
                    <a:pt x="75" y="921"/>
                  </a:cubicBezTo>
                  <a:cubicBezTo>
                    <a:pt x="82" y="916"/>
                    <a:pt x="92" y="909"/>
                    <a:pt x="100" y="904"/>
                  </a:cubicBezTo>
                  <a:cubicBezTo>
                    <a:pt x="107" y="898"/>
                    <a:pt x="117" y="889"/>
                    <a:pt x="125" y="882"/>
                  </a:cubicBezTo>
                  <a:cubicBezTo>
                    <a:pt x="132" y="874"/>
                    <a:pt x="142" y="863"/>
                    <a:pt x="150" y="854"/>
                  </a:cubicBezTo>
                  <a:cubicBezTo>
                    <a:pt x="157" y="844"/>
                    <a:pt x="167" y="830"/>
                    <a:pt x="175" y="818"/>
                  </a:cubicBezTo>
                  <a:cubicBezTo>
                    <a:pt x="182" y="806"/>
                    <a:pt x="192" y="788"/>
                    <a:pt x="200" y="774"/>
                  </a:cubicBezTo>
                  <a:cubicBezTo>
                    <a:pt x="207" y="759"/>
                    <a:pt x="217" y="738"/>
                    <a:pt x="225" y="722"/>
                  </a:cubicBezTo>
                  <a:cubicBezTo>
                    <a:pt x="232" y="705"/>
                    <a:pt x="242" y="680"/>
                    <a:pt x="250" y="661"/>
                  </a:cubicBezTo>
                  <a:cubicBezTo>
                    <a:pt x="257" y="641"/>
                    <a:pt x="267" y="614"/>
                    <a:pt x="275" y="593"/>
                  </a:cubicBezTo>
                  <a:cubicBezTo>
                    <a:pt x="282" y="571"/>
                    <a:pt x="292" y="541"/>
                    <a:pt x="300" y="519"/>
                  </a:cubicBezTo>
                  <a:cubicBezTo>
                    <a:pt x="307" y="496"/>
                    <a:pt x="317" y="464"/>
                    <a:pt x="325" y="441"/>
                  </a:cubicBezTo>
                  <a:cubicBezTo>
                    <a:pt x="332" y="417"/>
                    <a:pt x="342" y="385"/>
                    <a:pt x="350" y="363"/>
                  </a:cubicBezTo>
                  <a:cubicBezTo>
                    <a:pt x="357" y="340"/>
                    <a:pt x="367" y="309"/>
                    <a:pt x="375" y="288"/>
                  </a:cubicBezTo>
                  <a:cubicBezTo>
                    <a:pt x="382" y="266"/>
                    <a:pt x="392" y="238"/>
                    <a:pt x="400" y="219"/>
                  </a:cubicBezTo>
                  <a:cubicBezTo>
                    <a:pt x="407" y="199"/>
                    <a:pt x="417" y="176"/>
                    <a:pt x="425" y="161"/>
                  </a:cubicBezTo>
                  <a:cubicBezTo>
                    <a:pt x="432" y="145"/>
                    <a:pt x="442" y="127"/>
                    <a:pt x="450" y="117"/>
                  </a:cubicBezTo>
                  <a:cubicBezTo>
                    <a:pt x="457" y="106"/>
                    <a:pt x="467" y="94"/>
                    <a:pt x="475" y="89"/>
                  </a:cubicBezTo>
                  <a:cubicBezTo>
                    <a:pt x="482" y="83"/>
                    <a:pt x="492" y="80"/>
                    <a:pt x="500" y="80"/>
                  </a:cubicBezTo>
                  <a:cubicBezTo>
                    <a:pt x="507" y="80"/>
                    <a:pt x="517" y="83"/>
                    <a:pt x="525" y="89"/>
                  </a:cubicBezTo>
                  <a:cubicBezTo>
                    <a:pt x="532" y="94"/>
                    <a:pt x="542" y="106"/>
                    <a:pt x="550" y="117"/>
                  </a:cubicBezTo>
                  <a:cubicBezTo>
                    <a:pt x="557" y="127"/>
                    <a:pt x="567" y="145"/>
                    <a:pt x="575" y="161"/>
                  </a:cubicBezTo>
                  <a:cubicBezTo>
                    <a:pt x="582" y="176"/>
                    <a:pt x="592" y="199"/>
                    <a:pt x="600" y="219"/>
                  </a:cubicBezTo>
                  <a:cubicBezTo>
                    <a:pt x="607" y="238"/>
                    <a:pt x="617" y="266"/>
                    <a:pt x="625" y="288"/>
                  </a:cubicBezTo>
                  <a:cubicBezTo>
                    <a:pt x="632" y="309"/>
                    <a:pt x="642" y="340"/>
                    <a:pt x="650" y="363"/>
                  </a:cubicBezTo>
                  <a:cubicBezTo>
                    <a:pt x="657" y="385"/>
                    <a:pt x="667" y="417"/>
                    <a:pt x="675" y="441"/>
                  </a:cubicBezTo>
                  <a:cubicBezTo>
                    <a:pt x="682" y="464"/>
                    <a:pt x="692" y="496"/>
                    <a:pt x="700" y="519"/>
                  </a:cubicBezTo>
                  <a:cubicBezTo>
                    <a:pt x="707" y="541"/>
                    <a:pt x="717" y="571"/>
                    <a:pt x="725" y="593"/>
                  </a:cubicBezTo>
                  <a:cubicBezTo>
                    <a:pt x="732" y="614"/>
                    <a:pt x="742" y="641"/>
                    <a:pt x="750" y="661"/>
                  </a:cubicBezTo>
                  <a:cubicBezTo>
                    <a:pt x="757" y="680"/>
                    <a:pt x="767" y="705"/>
                    <a:pt x="775" y="722"/>
                  </a:cubicBezTo>
                  <a:cubicBezTo>
                    <a:pt x="782" y="738"/>
                    <a:pt x="792" y="759"/>
                    <a:pt x="800" y="774"/>
                  </a:cubicBezTo>
                  <a:cubicBezTo>
                    <a:pt x="807" y="788"/>
                    <a:pt x="817" y="806"/>
                    <a:pt x="825" y="818"/>
                  </a:cubicBezTo>
                  <a:cubicBezTo>
                    <a:pt x="832" y="830"/>
                    <a:pt x="842" y="844"/>
                    <a:pt x="850" y="854"/>
                  </a:cubicBezTo>
                  <a:cubicBezTo>
                    <a:pt x="857" y="863"/>
                    <a:pt x="867" y="874"/>
                    <a:pt x="875" y="882"/>
                  </a:cubicBezTo>
                  <a:cubicBezTo>
                    <a:pt x="882" y="889"/>
                    <a:pt x="892" y="898"/>
                    <a:pt x="900" y="904"/>
                  </a:cubicBezTo>
                  <a:cubicBezTo>
                    <a:pt x="907" y="909"/>
                    <a:pt x="917" y="916"/>
                    <a:pt x="925" y="921"/>
                  </a:cubicBezTo>
                  <a:cubicBezTo>
                    <a:pt x="932" y="925"/>
                    <a:pt x="942" y="929"/>
                    <a:pt x="950" y="933"/>
                  </a:cubicBezTo>
                  <a:cubicBezTo>
                    <a:pt x="957" y="936"/>
                    <a:pt x="967" y="939"/>
                    <a:pt x="975" y="942"/>
                  </a:cubicBezTo>
                  <a:cubicBezTo>
                    <a:pt x="982" y="944"/>
                    <a:pt x="996" y="947"/>
                    <a:pt x="1000" y="948"/>
                  </a:cubicBezTo>
                </a:path>
              </a:pathLst>
            </a:custGeom>
            <a:noFill/>
            <a:ln w="44450" cap="rnd">
              <a:solidFill>
                <a:srgbClr val="1F3864"/>
              </a:solidFill>
              <a:round/>
            </a:ln>
          </p:spPr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CÓMO SE ESTABLECE UN INTERVALO DE REFERENCIA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7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Tabla factores fila 0"/>
          <p:cNvGrpSpPr/>
          <p:nvPr/>
        </p:nvGrpSpPr>
        <p:grpSpPr>
          <a:xfrm>
            <a:off x="365760" y="1097280"/>
            <a:ext cx="7863840" cy="502920"/>
            <a:chOff x="365760" y="1097280"/>
            <a:chExt cx="7863840" cy="50292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169164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Factor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057400" y="1097280"/>
              <a:ext cx="265176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Variable afectada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4709160" y="1097280"/>
              <a:ext cx="352044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Explicación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9" name="Tabla factores fila 1"/>
          <p:cNvGrpSpPr/>
          <p:nvPr/>
        </p:nvGrpSpPr>
        <p:grpSpPr>
          <a:xfrm>
            <a:off x="365760" y="1600200"/>
            <a:ext cx="7863840" cy="539496"/>
            <a:chOff x="365760" y="1600200"/>
            <a:chExt cx="7863840" cy="539496"/>
          </a:xfrm>
        </p:grpSpPr>
        <p:sp>
          <p:nvSpPr>
            <p:cNvPr id="10" name="Forma 9"/>
            <p:cNvSpPr/>
            <p:nvPr/>
          </p:nvSpPr>
          <p:spPr>
            <a:xfrm>
              <a:off x="365760" y="1600200"/>
              <a:ext cx="16916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Edad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2057400" y="1600200"/>
              <a:ext cx="265176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Hb, fosfatasa alcalina, creatinina, bilirrubina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4709160" y="1600200"/>
              <a:ext cx="35204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Cambian desde el nacimiento hasta la adultez.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3" name="Tabla factores fila 2"/>
          <p:cNvGrpSpPr/>
          <p:nvPr/>
        </p:nvGrpSpPr>
        <p:grpSpPr>
          <a:xfrm>
            <a:off x="365760" y="2139696"/>
            <a:ext cx="7863840" cy="539496"/>
            <a:chOff x="365760" y="2139696"/>
            <a:chExt cx="7863840" cy="539496"/>
          </a:xfrm>
        </p:grpSpPr>
        <p:sp>
          <p:nvSpPr>
            <p:cNvPr id="14" name="Forma 13"/>
            <p:cNvSpPr/>
            <p:nvPr/>
          </p:nvSpPr>
          <p:spPr>
            <a:xfrm>
              <a:off x="365760" y="2139696"/>
              <a:ext cx="169164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Sexo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2057400" y="2139696"/>
              <a:ext cx="265176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Hb, creatinina, ácido úrico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4709160" y="2139696"/>
              <a:ext cx="352044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hormonas sexuales influyen en la masa muscular y la producción de GR.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7" name="Tabla factores fila 3"/>
          <p:cNvGrpSpPr/>
          <p:nvPr/>
        </p:nvGrpSpPr>
        <p:grpSpPr>
          <a:xfrm>
            <a:off x="365760" y="2679192"/>
            <a:ext cx="7863840" cy="539496"/>
            <a:chOff x="365760" y="2679192"/>
            <a:chExt cx="7863840" cy="539496"/>
          </a:xfrm>
        </p:grpSpPr>
        <p:sp>
          <p:nvSpPr>
            <p:cNvPr id="18" name="Forma 17"/>
            <p:cNvSpPr/>
            <p:nvPr/>
          </p:nvSpPr>
          <p:spPr>
            <a:xfrm>
              <a:off x="365760" y="2679192"/>
              <a:ext cx="16916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Embarazo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2057400" y="2679192"/>
              <a:ext cx="265176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Hb, glucosa, fosfatasa alcalina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4709160" y="2679192"/>
              <a:ext cx="35204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Dilución por mayor volumen plasmático; resistencia fisiológica a la insulina.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1" name="Tabla factores fila 4"/>
          <p:cNvGrpSpPr/>
          <p:nvPr/>
        </p:nvGrpSpPr>
        <p:grpSpPr>
          <a:xfrm>
            <a:off x="365760" y="3218688"/>
            <a:ext cx="7863840" cy="539496"/>
            <a:chOff x="365760" y="3218688"/>
            <a:chExt cx="7863840" cy="539496"/>
          </a:xfrm>
        </p:grpSpPr>
        <p:sp>
          <p:nvSpPr>
            <p:cNvPr id="22" name="Forma 21"/>
            <p:cNvSpPr/>
            <p:nvPr/>
          </p:nvSpPr>
          <p:spPr>
            <a:xfrm>
              <a:off x="365760" y="3218688"/>
              <a:ext cx="169164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Ritmo circadiano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2057400" y="3218688"/>
              <a:ext cx="265176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Cortisol, hormonas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4709160" y="3218688"/>
              <a:ext cx="352044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Cortisol más alto a la mañana: análisis estandarizados en ayunas a la mañana.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5" name="Tabla factores fila 5"/>
          <p:cNvGrpSpPr/>
          <p:nvPr/>
        </p:nvGrpSpPr>
        <p:grpSpPr>
          <a:xfrm>
            <a:off x="365760" y="3758184"/>
            <a:ext cx="7863840" cy="539496"/>
            <a:chOff x="365760" y="3758184"/>
            <a:chExt cx="7863840" cy="539496"/>
          </a:xfrm>
        </p:grpSpPr>
        <p:sp>
          <p:nvSpPr>
            <p:cNvPr id="26" name="Forma 25"/>
            <p:cNvSpPr/>
            <p:nvPr/>
          </p:nvSpPr>
          <p:spPr>
            <a:xfrm>
              <a:off x="365760" y="3758184"/>
              <a:ext cx="16916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Actividad física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2057400" y="3758184"/>
              <a:ext cx="265176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CK, mioglobina, hematuria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4709160" y="3758184"/>
              <a:ext cx="35204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ejercicio intenso eleva la CK y puede producir hematuria no patológica.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9" name="Tabla factores fila 6"/>
          <p:cNvGrpSpPr/>
          <p:nvPr/>
        </p:nvGrpSpPr>
        <p:grpSpPr>
          <a:xfrm>
            <a:off x="365760" y="4297680"/>
            <a:ext cx="7863840" cy="539496"/>
            <a:chOff x="365760" y="4297680"/>
            <a:chExt cx="7863840" cy="539496"/>
          </a:xfrm>
        </p:grpSpPr>
        <p:sp>
          <p:nvSpPr>
            <p:cNvPr id="30" name="Forma 29"/>
            <p:cNvSpPr/>
            <p:nvPr/>
          </p:nvSpPr>
          <p:spPr>
            <a:xfrm>
              <a:off x="365760" y="4297680"/>
              <a:ext cx="169164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Altitud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2057400" y="4297680"/>
              <a:ext cx="265176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Hb, hematocrito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4709160" y="4297680"/>
              <a:ext cx="352044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Menor presión de O</a:t>
              </a:r>
              <a:r>
                <a:rPr lang="es-AR" sz="13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más hemoglobina (compensación).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3" name="Tabla factores fila 7"/>
          <p:cNvGrpSpPr/>
          <p:nvPr/>
        </p:nvGrpSpPr>
        <p:grpSpPr>
          <a:xfrm>
            <a:off x="365760" y="4837176"/>
            <a:ext cx="7863840" cy="539496"/>
            <a:chOff x="365760" y="4837176"/>
            <a:chExt cx="7863840" cy="539496"/>
          </a:xfrm>
        </p:grpSpPr>
        <p:sp>
          <p:nvSpPr>
            <p:cNvPr id="34" name="Forma 33"/>
            <p:cNvSpPr/>
            <p:nvPr/>
          </p:nvSpPr>
          <p:spPr>
            <a:xfrm>
              <a:off x="365760" y="4837176"/>
              <a:ext cx="16916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Dieta y ayuno prolongado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2057400" y="4837176"/>
              <a:ext cx="265176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Cuerpos cetónicos en orina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6" name="Forma 35"/>
            <p:cNvSpPr/>
            <p:nvPr/>
          </p:nvSpPr>
          <p:spPr>
            <a:xfrm>
              <a:off x="4709160" y="4837176"/>
              <a:ext cx="3520440" cy="53949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 ayuno &gt; 12 h puede elevarlos sin diabetes.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7" name="Íconos factores"/>
          <p:cNvGrpSpPr/>
          <p:nvPr/>
        </p:nvGrpSpPr>
        <p:grpSpPr>
          <a:xfrm>
            <a:off x="8778240" y="1005840"/>
            <a:ext cx="2651760" cy="2377440"/>
            <a:chOff x="8778240" y="1005840"/>
            <a:chExt cx="2651760" cy="2377440"/>
          </a:xfrm>
        </p:grpSpPr>
        <p:grpSp>
          <p:nvGrpSpPr>
            <p:cNvPr id="38" name="Reloj circadiano"/>
            <p:cNvGrpSpPr/>
            <p:nvPr/>
          </p:nvGrpSpPr>
          <p:grpSpPr>
            <a:xfrm>
              <a:off x="8778240" y="1188720"/>
              <a:ext cx="1097280" cy="1097280"/>
              <a:chOff x="8778240" y="1188720"/>
              <a:chExt cx="1097280" cy="1097280"/>
            </a:xfrm>
          </p:grpSpPr>
          <p:sp>
            <p:nvSpPr>
              <p:cNvPr id="39" name="Forma 38"/>
              <p:cNvSpPr/>
              <p:nvPr/>
            </p:nvSpPr>
            <p:spPr>
              <a:xfrm>
                <a:off x="8778240" y="1188720"/>
                <a:ext cx="1097280" cy="109728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5000">
                    <a:srgbClr val="FFFFFF"/>
                  </a:gs>
                  <a:gs pos="100000">
                    <a:srgbClr val="EAEAEA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1E1E1E"/>
                </a:solidFill>
                <a:round/>
              </a:ln>
            </p:spPr>
          </p:sp>
          <p:sp>
            <p:nvSpPr>
              <p:cNvPr id="40" name="Flecha 39_2"/>
              <p:cNvSpPr/>
              <p:nvPr/>
            </p:nvSpPr>
            <p:spPr>
              <a:xfrm>
                <a:off x="9173261" y="1737360"/>
                <a:ext cx="153619" cy="266076"/>
              </a:xfrm>
              <a:custGeom>
                <a:avLst/>
                <a:gdLst/>
                <a:ahLst/>
                <a:cxnLst/>
                <a:rect l="0" t="0" r="r" b="b"/>
                <a:pathLst>
                  <a:path w="167" h="290" fill="none">
                    <a:moveTo>
                      <a:pt x="167" y="0"/>
                    </a:moveTo>
                    <a:lnTo>
                      <a:pt x="0" y="290"/>
                    </a:lnTo>
                  </a:path>
                </a:pathLst>
              </a:custGeom>
              <a:noFill/>
              <a:ln w="31750" cap="rnd">
                <a:solidFill>
                  <a:srgbClr val="1E1E1E"/>
                </a:solidFill>
                <a:round/>
              </a:ln>
            </p:spPr>
          </p:sp>
          <p:sp>
            <p:nvSpPr>
              <p:cNvPr id="41" name="Flecha 41_2"/>
              <p:cNvSpPr/>
              <p:nvPr/>
            </p:nvSpPr>
            <p:spPr>
              <a:xfrm>
                <a:off x="9326880" y="1320394"/>
                <a:ext cx="9144" cy="41696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55" fill="none">
                    <a:moveTo>
                      <a:pt x="0" y="455"/>
                    </a:moveTo>
                    <a:lnTo>
                      <a:pt x="0" y="0"/>
                    </a:lnTo>
                  </a:path>
                </a:pathLst>
              </a:custGeom>
              <a:noFill/>
              <a:ln w="22225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42" name="Silueta factores"/>
            <p:cNvGrpSpPr/>
            <p:nvPr/>
          </p:nvGrpSpPr>
          <p:grpSpPr>
            <a:xfrm>
              <a:off x="10241280" y="1005840"/>
              <a:ext cx="1188720" cy="2377440"/>
              <a:chOff x="10241280" y="1005840"/>
              <a:chExt cx="1188720" cy="2377440"/>
            </a:xfrm>
          </p:grpSpPr>
          <p:sp>
            <p:nvSpPr>
              <p:cNvPr id="43" name="Forma 44"/>
              <p:cNvSpPr/>
              <p:nvPr/>
            </p:nvSpPr>
            <p:spPr>
              <a:xfrm>
                <a:off x="10241280" y="1005840"/>
                <a:ext cx="1188720" cy="2377440"/>
              </a:xfrm>
              <a:custGeom>
                <a:avLst/>
                <a:gdLst/>
                <a:ahLst/>
                <a:cxnLst/>
                <a:rect l="0" t="0" r="r" b="b"/>
                <a:pathLst>
                  <a:path w="500" h="1000">
                    <a:moveTo>
                      <a:pt x="225" y="150"/>
                    </a:moveTo>
                    <a:cubicBezTo>
                      <a:pt x="229" y="148"/>
                      <a:pt x="270" y="148"/>
                      <a:pt x="275" y="150"/>
                    </a:cubicBezTo>
                    <a:cubicBezTo>
                      <a:pt x="279" y="151"/>
                      <a:pt x="282" y="167"/>
                      <a:pt x="290" y="170"/>
                    </a:cubicBezTo>
                    <a:cubicBezTo>
                      <a:pt x="297" y="173"/>
                      <a:pt x="361" y="185"/>
                      <a:pt x="370" y="190"/>
                    </a:cubicBezTo>
                    <a:cubicBezTo>
                      <a:pt x="378" y="194"/>
                      <a:pt x="401" y="219"/>
                      <a:pt x="405" y="230"/>
                    </a:cubicBezTo>
                    <a:cubicBezTo>
                      <a:pt x="408" y="240"/>
                      <a:pt x="417" y="313"/>
                      <a:pt x="420" y="330"/>
                    </a:cubicBezTo>
                    <a:cubicBezTo>
                      <a:pt x="422" y="346"/>
                      <a:pt x="430" y="434"/>
                      <a:pt x="432" y="450"/>
                    </a:cubicBezTo>
                    <a:cubicBezTo>
                      <a:pt x="433" y="465"/>
                      <a:pt x="441" y="532"/>
                      <a:pt x="440" y="540"/>
                    </a:cubicBezTo>
                    <a:cubicBezTo>
                      <a:pt x="438" y="547"/>
                      <a:pt x="415" y="554"/>
                      <a:pt x="412" y="548"/>
                    </a:cubicBezTo>
                    <a:cubicBezTo>
                      <a:pt x="408" y="541"/>
                      <a:pt x="397" y="470"/>
                      <a:pt x="395" y="455"/>
                    </a:cubicBezTo>
                    <a:cubicBezTo>
                      <a:pt x="392" y="439"/>
                      <a:pt x="380" y="349"/>
                      <a:pt x="378" y="340"/>
                    </a:cubicBezTo>
                    <a:cubicBezTo>
                      <a:pt x="375" y="330"/>
                      <a:pt x="366" y="320"/>
                      <a:pt x="365" y="330"/>
                    </a:cubicBezTo>
                    <a:cubicBezTo>
                      <a:pt x="363" y="339"/>
                      <a:pt x="361" y="453"/>
                      <a:pt x="360" y="470"/>
                    </a:cubicBezTo>
                    <a:cubicBezTo>
                      <a:pt x="358" y="486"/>
                      <a:pt x="350" y="527"/>
                      <a:pt x="350" y="545"/>
                    </a:cubicBezTo>
                    <a:cubicBezTo>
                      <a:pt x="349" y="562"/>
                      <a:pt x="355" y="676"/>
                      <a:pt x="355" y="700"/>
                    </a:cubicBezTo>
                    <a:cubicBezTo>
                      <a:pt x="354" y="723"/>
                      <a:pt x="343" y="840"/>
                      <a:pt x="342" y="860"/>
                    </a:cubicBezTo>
                    <a:cubicBezTo>
                      <a:pt x="340" y="879"/>
                      <a:pt x="343" y="951"/>
                      <a:pt x="340" y="960"/>
                    </a:cubicBezTo>
                    <a:cubicBezTo>
                      <a:pt x="336" y="968"/>
                      <a:pt x="296" y="979"/>
                      <a:pt x="292" y="972"/>
                    </a:cubicBezTo>
                    <a:cubicBezTo>
                      <a:pt x="287" y="964"/>
                      <a:pt x="283" y="881"/>
                      <a:pt x="282" y="860"/>
                    </a:cubicBezTo>
                    <a:cubicBezTo>
                      <a:pt x="280" y="838"/>
                      <a:pt x="272" y="709"/>
                      <a:pt x="270" y="690"/>
                    </a:cubicBezTo>
                    <a:cubicBezTo>
                      <a:pt x="267" y="670"/>
                      <a:pt x="253" y="600"/>
                      <a:pt x="250" y="600"/>
                    </a:cubicBezTo>
                    <a:cubicBezTo>
                      <a:pt x="247" y="600"/>
                      <a:pt x="232" y="670"/>
                      <a:pt x="230" y="690"/>
                    </a:cubicBezTo>
                    <a:cubicBezTo>
                      <a:pt x="227" y="709"/>
                      <a:pt x="219" y="838"/>
                      <a:pt x="218" y="860"/>
                    </a:cubicBezTo>
                    <a:cubicBezTo>
                      <a:pt x="216" y="881"/>
                      <a:pt x="212" y="964"/>
                      <a:pt x="208" y="972"/>
                    </a:cubicBezTo>
                    <a:cubicBezTo>
                      <a:pt x="203" y="979"/>
                      <a:pt x="163" y="968"/>
                      <a:pt x="160" y="960"/>
                    </a:cubicBezTo>
                    <a:cubicBezTo>
                      <a:pt x="156" y="951"/>
                      <a:pt x="159" y="879"/>
                      <a:pt x="158" y="860"/>
                    </a:cubicBezTo>
                    <a:cubicBezTo>
                      <a:pt x="156" y="840"/>
                      <a:pt x="145" y="723"/>
                      <a:pt x="145" y="700"/>
                    </a:cubicBezTo>
                    <a:cubicBezTo>
                      <a:pt x="144" y="676"/>
                      <a:pt x="150" y="562"/>
                      <a:pt x="150" y="545"/>
                    </a:cubicBezTo>
                    <a:cubicBezTo>
                      <a:pt x="149" y="527"/>
                      <a:pt x="141" y="486"/>
                      <a:pt x="140" y="470"/>
                    </a:cubicBezTo>
                    <a:cubicBezTo>
                      <a:pt x="138" y="453"/>
                      <a:pt x="136" y="339"/>
                      <a:pt x="135" y="330"/>
                    </a:cubicBezTo>
                    <a:cubicBezTo>
                      <a:pt x="133" y="320"/>
                      <a:pt x="124" y="330"/>
                      <a:pt x="122" y="340"/>
                    </a:cubicBezTo>
                    <a:cubicBezTo>
                      <a:pt x="119" y="349"/>
                      <a:pt x="107" y="439"/>
                      <a:pt x="105" y="455"/>
                    </a:cubicBezTo>
                    <a:cubicBezTo>
                      <a:pt x="102" y="470"/>
                      <a:pt x="91" y="541"/>
                      <a:pt x="88" y="548"/>
                    </a:cubicBezTo>
                    <a:cubicBezTo>
                      <a:pt x="84" y="554"/>
                      <a:pt x="61" y="547"/>
                      <a:pt x="60" y="540"/>
                    </a:cubicBezTo>
                    <a:cubicBezTo>
                      <a:pt x="58" y="532"/>
                      <a:pt x="66" y="465"/>
                      <a:pt x="68" y="450"/>
                    </a:cubicBezTo>
                    <a:cubicBezTo>
                      <a:pt x="69" y="434"/>
                      <a:pt x="77" y="346"/>
                      <a:pt x="80" y="330"/>
                    </a:cubicBezTo>
                    <a:cubicBezTo>
                      <a:pt x="82" y="313"/>
                      <a:pt x="91" y="240"/>
                      <a:pt x="95" y="230"/>
                    </a:cubicBezTo>
                    <a:cubicBezTo>
                      <a:pt x="98" y="219"/>
                      <a:pt x="121" y="194"/>
                      <a:pt x="130" y="190"/>
                    </a:cubicBezTo>
                    <a:cubicBezTo>
                      <a:pt x="138" y="185"/>
                      <a:pt x="202" y="173"/>
                      <a:pt x="210" y="170"/>
                    </a:cubicBezTo>
                    <a:cubicBezTo>
                      <a:pt x="217" y="167"/>
                      <a:pt x="220" y="151"/>
                      <a:pt x="225" y="150"/>
                    </a:cubicBezTo>
                    <a:close/>
                  </a:path>
                </a:pathLst>
              </a:custGeom>
              <a:solidFill>
                <a:srgbClr val="F8D5C2">
                  <a:alpha val="70000"/>
                </a:srgbClr>
              </a:solidFill>
              <a:ln w="22225" cap="rnd">
                <a:solidFill>
                  <a:srgbClr val="A0522D"/>
                </a:solidFill>
                <a:round/>
              </a:ln>
            </p:spPr>
          </p:sp>
          <p:sp>
            <p:nvSpPr>
              <p:cNvPr id="44" name="Forma 45"/>
              <p:cNvSpPr/>
              <p:nvPr/>
            </p:nvSpPr>
            <p:spPr>
              <a:xfrm>
                <a:off x="10241280" y="1005840"/>
                <a:ext cx="1188720" cy="2377440"/>
              </a:xfrm>
              <a:custGeom>
                <a:avLst/>
                <a:gdLst/>
                <a:ahLst/>
                <a:cxnLst/>
                <a:rect l="0" t="0" r="r" b="b"/>
                <a:pathLst>
                  <a:path w="500" h="1000">
                    <a:moveTo>
                      <a:pt x="312" y="85"/>
                    </a:moveTo>
                    <a:cubicBezTo>
                      <a:pt x="312" y="123"/>
                      <a:pt x="284" y="155"/>
                      <a:pt x="250" y="155"/>
                    </a:cubicBezTo>
                    <a:cubicBezTo>
                      <a:pt x="215" y="155"/>
                      <a:pt x="188" y="123"/>
                      <a:pt x="188" y="85"/>
                    </a:cubicBezTo>
                    <a:cubicBezTo>
                      <a:pt x="188" y="46"/>
                      <a:pt x="215" y="15"/>
                      <a:pt x="250" y="15"/>
                    </a:cubicBezTo>
                    <a:cubicBezTo>
                      <a:pt x="284" y="15"/>
                      <a:pt x="312" y="46"/>
                      <a:pt x="312" y="85"/>
                    </a:cubicBezTo>
                    <a:close/>
                  </a:path>
                </a:pathLst>
              </a:custGeom>
              <a:solidFill>
                <a:srgbClr val="F8D5C2">
                  <a:alpha val="70000"/>
                </a:srgbClr>
              </a:solidFill>
              <a:ln w="22225" cap="rnd">
                <a:solidFill>
                  <a:srgbClr val="A0522D"/>
                </a:solidFill>
                <a:round/>
              </a:ln>
            </p:spPr>
          </p:sp>
        </p:grpSp>
      </p:grpSp>
      <p:sp>
        <p:nvSpPr>
          <p:cNvPr id="45" name="No universales"/>
          <p:cNvSpPr/>
          <p:nvPr/>
        </p:nvSpPr>
        <p:spPr>
          <a:xfrm>
            <a:off x="8549640" y="3611880"/>
            <a:ext cx="3383280" cy="28346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valores de referencia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son universales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antes de rotular un resultado como patológico hay que conocer quién es el paciente y cómo se tomó la muestra.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FACTORES QUE MODIFICAN LOS VALORES DE REFERENCIA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!!Escala de referencia"/>
          <p:cNvGrpSpPr/>
          <p:nvPr/>
        </p:nvGrpSpPr>
        <p:grpSpPr>
          <a:xfrm>
            <a:off x="548640" y="2194560"/>
            <a:ext cx="10058400" cy="822960"/>
            <a:chOff x="548640" y="2194560"/>
            <a:chExt cx="10058400" cy="822960"/>
          </a:xfrm>
        </p:grpSpPr>
        <p:sp>
          <p:nvSpPr>
            <p:cNvPr id="6" name="Forma 5"/>
            <p:cNvSpPr/>
            <p:nvPr/>
          </p:nvSpPr>
          <p:spPr>
            <a:xfrm>
              <a:off x="548640" y="2194560"/>
              <a:ext cx="2743200" cy="822960"/>
            </a:xfrm>
            <a:prstGeom prst="rect">
              <a:avLst/>
            </a:prstGeom>
            <a:solidFill>
              <a:srgbClr val="D8E6F2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HIPO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291840" y="2194560"/>
              <a:ext cx="4572000" cy="822960"/>
            </a:xfrm>
            <a:prstGeom prst="rect">
              <a:avLst/>
            </a:prstGeom>
            <a:solidFill>
              <a:srgbClr val="D5F5E3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Intervalo de referencia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7863840" y="2194560"/>
              <a:ext cx="2743200" cy="822960"/>
            </a:xfrm>
            <a:prstGeom prst="rect">
              <a:avLst/>
            </a:prstGeom>
            <a:solidFill>
              <a:srgbClr val="FDE4E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HIPER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9" name="Marcador dentro"/>
          <p:cNvGrpSpPr/>
          <p:nvPr/>
        </p:nvGrpSpPr>
        <p:grpSpPr>
          <a:xfrm>
            <a:off x="5394960" y="1417320"/>
            <a:ext cx="365760" cy="685800"/>
            <a:chOff x="5394960" y="1417320"/>
            <a:chExt cx="365760" cy="685800"/>
          </a:xfrm>
        </p:grpSpPr>
        <p:sp>
          <p:nvSpPr>
            <p:cNvPr id="10" name="Forma 9"/>
            <p:cNvSpPr/>
            <p:nvPr/>
          </p:nvSpPr>
          <p:spPr>
            <a:xfrm>
              <a:off x="5394960" y="1417320"/>
              <a:ext cx="365760" cy="685800"/>
            </a:xfrm>
            <a:prstGeom prst="downArrow">
              <a:avLst/>
            </a:prstGeom>
            <a:solidFill>
              <a:srgbClr val="4E7A30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1" name="Marcador hiper"/>
          <p:cNvGrpSpPr/>
          <p:nvPr/>
        </p:nvGrpSpPr>
        <p:grpSpPr>
          <a:xfrm>
            <a:off x="9144000" y="1417320"/>
            <a:ext cx="365760" cy="685800"/>
            <a:chOff x="9144000" y="1417320"/>
            <a:chExt cx="365760" cy="685800"/>
          </a:xfrm>
        </p:grpSpPr>
        <p:sp>
          <p:nvSpPr>
            <p:cNvPr id="12" name="Forma 11"/>
            <p:cNvSpPr/>
            <p:nvPr/>
          </p:nvSpPr>
          <p:spPr>
            <a:xfrm>
              <a:off x="9144000" y="1417320"/>
              <a:ext cx="365760" cy="685800"/>
            </a:xfrm>
            <a:prstGeom prst="downArrow">
              <a:avLst/>
            </a:prstGeom>
            <a:solidFill>
              <a:srgbClr val="C00000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3" name="Marcador hipo"/>
          <p:cNvGrpSpPr/>
          <p:nvPr/>
        </p:nvGrpSpPr>
        <p:grpSpPr>
          <a:xfrm>
            <a:off x="1737360" y="1417320"/>
            <a:ext cx="365760" cy="685800"/>
            <a:chOff x="1737360" y="1417320"/>
            <a:chExt cx="365760" cy="685800"/>
          </a:xfrm>
        </p:grpSpPr>
        <p:sp>
          <p:nvSpPr>
            <p:cNvPr id="14" name="Forma 13"/>
            <p:cNvSpPr/>
            <p:nvPr/>
          </p:nvSpPr>
          <p:spPr>
            <a:xfrm>
              <a:off x="1737360" y="1417320"/>
              <a:ext cx="365760" cy="685800"/>
            </a:xfrm>
            <a:prstGeom prst="downArrow">
              <a:avLst/>
            </a:prstGeom>
            <a:solidFill>
              <a:srgbClr val="0070C0"/>
            </a:solidFill>
            <a:ln w="12700" cap="rnd">
              <a:solidFill>
                <a:srgbClr val="1E1E1E"/>
              </a:solidFill>
              <a:round/>
            </a:ln>
          </p:spPr>
        </p:sp>
      </p:grpSp>
      <p:sp>
        <p:nvSpPr>
          <p:cNvPr id="15" name="Dentro"/>
          <p:cNvSpPr/>
          <p:nvPr/>
        </p:nvSpPr>
        <p:spPr>
          <a:xfrm>
            <a:off x="3291840" y="3291840"/>
            <a:ext cx="4572000" cy="1097280"/>
          </a:xfrm>
          <a:prstGeom prst="roundRect">
            <a:avLst>
              <a:gd name="adj" fmla="val 9000"/>
            </a:avLst>
          </a:prstGeom>
          <a:solidFill>
            <a:srgbClr val="D5F5E3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Dentro del rango →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probablemente sano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para esa variable.</a:t>
            </a:r>
            <a:endParaRPr lang="es-AR" sz="1950" dirty="0">
              <a:latin typeface="Calibri"/>
            </a:endParaRPr>
          </a:p>
        </p:txBody>
      </p:sp>
      <p:sp>
        <p:nvSpPr>
          <p:cNvPr id="16" name="Hiper"/>
          <p:cNvSpPr/>
          <p:nvPr/>
        </p:nvSpPr>
        <p:spPr>
          <a:xfrm>
            <a:off x="7863840" y="3291840"/>
            <a:ext cx="4023360" cy="141732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Por encima →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hiper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p. ej., hiperglucemia si glucosa en ayunas &gt; 100 mg/dL.</a:t>
            </a:r>
            <a:endParaRPr lang="es-AR" sz="1950" dirty="0">
              <a:latin typeface="Calibri"/>
            </a:endParaRPr>
          </a:p>
        </p:txBody>
      </p:sp>
      <p:sp>
        <p:nvSpPr>
          <p:cNvPr id="17" name="Hipo"/>
          <p:cNvSpPr/>
          <p:nvPr/>
        </p:nvSpPr>
        <p:spPr>
          <a:xfrm>
            <a:off x="365760" y="3291840"/>
            <a:ext cx="2743200" cy="178308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Por debajo →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p. ej., anemia si Hb &lt; 12 g/dL en mujeres.</a:t>
            </a:r>
            <a:endParaRPr lang="es-AR" sz="1950" dirty="0">
              <a:latin typeface="Calibri"/>
            </a:endParaRPr>
          </a:p>
        </p:txBody>
      </p:sp>
      <p:grpSp>
        <p:nvGrpSpPr>
          <p:cNvPr id="18" name="Perla"/>
          <p:cNvGrpSpPr/>
          <p:nvPr/>
        </p:nvGrpSpPr>
        <p:grpSpPr>
          <a:xfrm>
            <a:off x="365760" y="5257800"/>
            <a:ext cx="11521440" cy="1188720"/>
            <a:chOff x="365760" y="5257800"/>
            <a:chExt cx="11521440" cy="1188720"/>
          </a:xfrm>
        </p:grpSpPr>
        <p:sp>
          <p:nvSpPr>
            <p:cNvPr id="19" name="Forma 18"/>
            <p:cNvSpPr/>
            <p:nvPr/>
          </p:nvSpPr>
          <p:spPr>
            <a:xfrm>
              <a:off x="365760" y="5458968"/>
              <a:ext cx="11521440" cy="98755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Antes de interpretar: </a:t>
              </a:r>
              <a:r>
                <a:rPr lang="es-AR" sz="2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edad, sexo, estado fisiológico, condiciones de la toma de muestra</a:t>
              </a: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y toda la variabilidad biológica.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493776" y="5257800"/>
              <a:ext cx="2057656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SIEMPRE CONSIDERAR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INTERPRETACIÓN DE UN RESULTADO FUERA DE RANGO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2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grpSp>
        <p:nvGrpSpPr>
          <p:cNvPr id="5" name="Ejes carta"/>
          <p:cNvGrpSpPr/>
          <p:nvPr/>
        </p:nvGrpSpPr>
        <p:grpSpPr>
          <a:xfrm>
            <a:off x="685800" y="914400"/>
            <a:ext cx="7269480" cy="4398264"/>
            <a:chOff x="685800" y="914400"/>
            <a:chExt cx="7269480" cy="4398264"/>
          </a:xfrm>
        </p:grpSpPr>
        <p:sp>
          <p:nvSpPr>
            <p:cNvPr id="6" name="Flecha 5_2"/>
            <p:cNvSpPr/>
            <p:nvPr/>
          </p:nvSpPr>
          <p:spPr>
            <a:xfrm>
              <a:off x="731520" y="1280160"/>
              <a:ext cx="9144" cy="3657600"/>
            </a:xfrm>
            <a:custGeom>
              <a:avLst/>
              <a:gdLst/>
              <a:ahLst/>
              <a:cxnLst/>
              <a:rect l="0" t="0" r="r" b="b"/>
              <a:pathLst>
                <a:path w="10" h="4000" fill="none">
                  <a:moveTo>
                    <a:pt x="0" y="40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731520" y="4937760"/>
              <a:ext cx="7223760" cy="9144"/>
            </a:xfrm>
            <a:custGeom>
              <a:avLst/>
              <a:gdLst/>
              <a:ahLst/>
              <a:cxnLst/>
              <a:rect l="0" t="0" r="r" b="b"/>
              <a:pathLst>
                <a:path w="7899" h="10" fill="none">
                  <a:moveTo>
                    <a:pt x="0" y="0"/>
                  </a:moveTo>
                  <a:lnTo>
                    <a:pt x="78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5120640" y="499262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días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685800" y="91440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resultado del suero control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0" name="Límites ±2 DE"/>
          <p:cNvGrpSpPr/>
          <p:nvPr/>
        </p:nvGrpSpPr>
        <p:grpSpPr>
          <a:xfrm>
            <a:off x="731520" y="1858061"/>
            <a:ext cx="7955280" cy="2593238"/>
            <a:chOff x="731520" y="1858061"/>
            <a:chExt cx="7955280" cy="2593238"/>
          </a:xfrm>
        </p:grpSpPr>
        <p:sp>
          <p:nvSpPr>
            <p:cNvPr id="11" name="Flecha 12_2"/>
            <p:cNvSpPr/>
            <p:nvPr/>
          </p:nvSpPr>
          <p:spPr>
            <a:xfrm>
              <a:off x="731520" y="3154680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800" h="10" fill="none">
                  <a:moveTo>
                    <a:pt x="0" y="0"/>
                  </a:moveTo>
                  <a:lnTo>
                    <a:pt x="7800" y="0"/>
                  </a:lnTo>
                </a:path>
              </a:pathLst>
            </a:custGeom>
            <a:noFill/>
            <a:ln w="25400" cap="rnd">
              <a:solidFill>
                <a:srgbClr val="4E7A30"/>
              </a:solidFill>
              <a:round/>
            </a:ln>
          </p:spPr>
        </p:sp>
        <p:sp>
          <p:nvSpPr>
            <p:cNvPr id="12" name="Forma 14"/>
            <p:cNvSpPr txBox="1"/>
            <p:nvPr/>
          </p:nvSpPr>
          <p:spPr>
            <a:xfrm>
              <a:off x="7909560" y="2999232"/>
              <a:ext cx="77724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media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3" name="Flecha 15_2"/>
            <p:cNvSpPr/>
            <p:nvPr/>
          </p:nvSpPr>
          <p:spPr>
            <a:xfrm>
              <a:off x="731520" y="2013509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800" h="10" fill="none">
                  <a:moveTo>
                    <a:pt x="0" y="0"/>
                  </a:moveTo>
                  <a:lnTo>
                    <a:pt x="7800" y="0"/>
                  </a:lnTo>
                </a:path>
              </a:pathLst>
            </a:custGeom>
            <a:noFill/>
            <a:ln w="25400" cap="rnd">
              <a:solidFill>
                <a:srgbClr val="C00000"/>
              </a:solidFill>
              <a:prstDash val="dash"/>
              <a:round/>
            </a:ln>
          </p:spPr>
        </p:sp>
        <p:sp>
          <p:nvSpPr>
            <p:cNvPr id="14" name="Forma 17"/>
            <p:cNvSpPr txBox="1"/>
            <p:nvPr/>
          </p:nvSpPr>
          <p:spPr>
            <a:xfrm>
              <a:off x="7909560" y="1858061"/>
              <a:ext cx="77724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+2 DE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5" name="Flecha 18_2"/>
            <p:cNvSpPr/>
            <p:nvPr/>
          </p:nvSpPr>
          <p:spPr>
            <a:xfrm>
              <a:off x="731520" y="4295851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800" h="10" fill="none">
                  <a:moveTo>
                    <a:pt x="0" y="0"/>
                  </a:moveTo>
                  <a:lnTo>
                    <a:pt x="7800" y="0"/>
                  </a:lnTo>
                </a:path>
              </a:pathLst>
            </a:custGeom>
            <a:noFill/>
            <a:ln w="25400" cap="rnd">
              <a:solidFill>
                <a:srgbClr val="C00000"/>
              </a:solidFill>
              <a:prstDash val="dash"/>
              <a:round/>
            </a:ln>
          </p:spPr>
        </p:sp>
        <p:sp>
          <p:nvSpPr>
            <p:cNvPr id="16" name="Forma 20"/>
            <p:cNvSpPr txBox="1"/>
            <p:nvPr/>
          </p:nvSpPr>
          <p:spPr>
            <a:xfrm>
              <a:off x="7909560" y="4140403"/>
              <a:ext cx="77724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−2 DE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7" name="Flecha 21_2"/>
            <p:cNvSpPr/>
            <p:nvPr/>
          </p:nvSpPr>
          <p:spPr>
            <a:xfrm>
              <a:off x="731520" y="2584094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800" h="10" fill="none">
                  <a:moveTo>
                    <a:pt x="0" y="0"/>
                  </a:moveTo>
                  <a:lnTo>
                    <a:pt x="7800" y="0"/>
                  </a:lnTo>
                </a:path>
              </a:pathLst>
            </a:custGeom>
            <a:noFill/>
            <a:ln w="25400" cap="rnd">
              <a:solidFill>
                <a:srgbClr val="F39C12"/>
              </a:solidFill>
              <a:prstDash val="sysDot"/>
              <a:round/>
            </a:ln>
          </p:spPr>
        </p:sp>
        <p:sp>
          <p:nvSpPr>
            <p:cNvPr id="18" name="Forma 23"/>
            <p:cNvSpPr txBox="1"/>
            <p:nvPr/>
          </p:nvSpPr>
          <p:spPr>
            <a:xfrm>
              <a:off x="7909560" y="2428646"/>
              <a:ext cx="77724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39C12"/>
                  </a:solidFill>
                  <a:latin typeface="Calibri"/>
                  <a:ea typeface="Calibri"/>
                  <a:cs typeface="Calibri"/>
                  <a:sym typeface="Calibri"/>
                </a:rPr>
                <a:t>+1 DE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9" name="Flecha 24_2"/>
            <p:cNvSpPr/>
            <p:nvPr/>
          </p:nvSpPr>
          <p:spPr>
            <a:xfrm>
              <a:off x="731520" y="3725266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800" h="10" fill="none">
                  <a:moveTo>
                    <a:pt x="0" y="0"/>
                  </a:moveTo>
                  <a:lnTo>
                    <a:pt x="7800" y="0"/>
                  </a:lnTo>
                </a:path>
              </a:pathLst>
            </a:custGeom>
            <a:noFill/>
            <a:ln w="25400" cap="rnd">
              <a:solidFill>
                <a:srgbClr val="F39C12"/>
              </a:solidFill>
              <a:prstDash val="sysDot"/>
              <a:round/>
            </a:ln>
          </p:spPr>
        </p:sp>
        <p:sp>
          <p:nvSpPr>
            <p:cNvPr id="20" name="Forma 26"/>
            <p:cNvSpPr txBox="1"/>
            <p:nvPr/>
          </p:nvSpPr>
          <p:spPr>
            <a:xfrm>
              <a:off x="7909560" y="3569818"/>
              <a:ext cx="77724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39C12"/>
                  </a:solidFill>
                  <a:latin typeface="Calibri"/>
                  <a:ea typeface="Calibri"/>
                  <a:cs typeface="Calibri"/>
                  <a:sym typeface="Calibri"/>
                </a:rPr>
                <a:t>−1 DE</a:t>
              </a:r>
              <a:endParaRPr lang="es-AR" sz="1200" dirty="0">
                <a:latin typeface="Calibri"/>
              </a:endParaRPr>
            </a:p>
          </p:txBody>
        </p:sp>
      </p:grpSp>
      <p:sp>
        <p:nvSpPr>
          <p:cNvPr id="21" name="Control día 1"/>
          <p:cNvSpPr/>
          <p:nvPr/>
        </p:nvSpPr>
        <p:spPr>
          <a:xfrm>
            <a:off x="978408" y="3107131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2" name="Control día 2"/>
          <p:cNvSpPr/>
          <p:nvPr/>
        </p:nvSpPr>
        <p:spPr>
          <a:xfrm>
            <a:off x="1664208" y="2857500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3" name="Control día 3"/>
          <p:cNvSpPr/>
          <p:nvPr/>
        </p:nvSpPr>
        <p:spPr>
          <a:xfrm>
            <a:off x="2350008" y="3392424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4" name="Control día 4"/>
          <p:cNvSpPr/>
          <p:nvPr/>
        </p:nvSpPr>
        <p:spPr>
          <a:xfrm>
            <a:off x="3035808" y="2679192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5" name="Control día 5"/>
          <p:cNvSpPr/>
          <p:nvPr/>
        </p:nvSpPr>
        <p:spPr>
          <a:xfrm>
            <a:off x="3721608" y="3214116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6" name="Control día 6"/>
          <p:cNvSpPr/>
          <p:nvPr/>
        </p:nvSpPr>
        <p:spPr>
          <a:xfrm>
            <a:off x="4407408" y="2928823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7" name="Control día 7"/>
          <p:cNvSpPr/>
          <p:nvPr/>
        </p:nvSpPr>
        <p:spPr>
          <a:xfrm>
            <a:off x="5093208" y="3463747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8" name="Control día 8"/>
          <p:cNvSpPr/>
          <p:nvPr/>
        </p:nvSpPr>
        <p:spPr>
          <a:xfrm>
            <a:off x="5779008" y="2536546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9" name="Control día 9"/>
          <p:cNvSpPr/>
          <p:nvPr/>
        </p:nvSpPr>
        <p:spPr>
          <a:xfrm>
            <a:off x="6464808" y="3035808"/>
            <a:ext cx="237744" cy="237744"/>
          </a:xfrm>
          <a:prstGeom prst="ellipse">
            <a:avLst/>
          </a:prstGeom>
          <a:solidFill>
            <a:srgbClr val="1F3864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30" name="Control día 10"/>
          <p:cNvSpPr/>
          <p:nvPr/>
        </p:nvSpPr>
        <p:spPr>
          <a:xfrm>
            <a:off x="7150608" y="1609344"/>
            <a:ext cx="237744" cy="237744"/>
          </a:xfrm>
          <a:prstGeom prst="ellipse">
            <a:avLst/>
          </a:prstGeom>
          <a:solidFill>
            <a:srgbClr val="C00000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31" name="Trazo carta"/>
          <p:cNvSpPr/>
          <p:nvPr/>
        </p:nvSpPr>
        <p:spPr>
          <a:xfrm>
            <a:off x="1097280" y="1728216"/>
            <a:ext cx="6172200" cy="1854403"/>
          </a:xfrm>
          <a:custGeom>
            <a:avLst/>
            <a:gdLst/>
            <a:ahLst/>
            <a:cxnLst/>
            <a:rect l="0" t="0" r="r" b="b"/>
            <a:pathLst>
              <a:path w="6750" h="2028" fill="none">
                <a:moveTo>
                  <a:pt x="0" y="1638"/>
                </a:moveTo>
                <a:lnTo>
                  <a:pt x="750" y="1364"/>
                </a:lnTo>
                <a:lnTo>
                  <a:pt x="1500" y="1949"/>
                </a:lnTo>
                <a:lnTo>
                  <a:pt x="2250" y="1170"/>
                </a:lnTo>
                <a:lnTo>
                  <a:pt x="3000" y="1755"/>
                </a:lnTo>
                <a:lnTo>
                  <a:pt x="3750" y="1443"/>
                </a:lnTo>
                <a:lnTo>
                  <a:pt x="4500" y="2028"/>
                </a:lnTo>
                <a:lnTo>
                  <a:pt x="5250" y="1013"/>
                </a:lnTo>
                <a:lnTo>
                  <a:pt x="6000" y="1560"/>
                </a:lnTo>
                <a:lnTo>
                  <a:pt x="6750" y="0"/>
                </a:lnTo>
              </a:path>
            </a:pathLst>
          </a:custGeom>
          <a:noFill/>
          <a:ln w="15875" cap="rnd">
            <a:solidFill>
              <a:srgbClr val="5D6D7E"/>
            </a:solidFill>
            <a:round/>
          </a:ln>
        </p:spPr>
      </p:sp>
      <p:sp>
        <p:nvSpPr>
          <p:cNvPr id="32" name="Fuera de límites"/>
          <p:cNvSpPr/>
          <p:nvPr/>
        </p:nvSpPr>
        <p:spPr>
          <a:xfrm>
            <a:off x="5806440" y="1042416"/>
            <a:ext cx="1394648" cy="27241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fuera de límites</a:t>
            </a:r>
            <a:endParaRPr lang="es-AR" sz="1300" dirty="0">
              <a:latin typeface="Calibri"/>
            </a:endParaRPr>
          </a:p>
        </p:txBody>
      </p:sp>
      <p:grpSp>
        <p:nvGrpSpPr>
          <p:cNvPr id="33" name="Decisión diaria"/>
          <p:cNvGrpSpPr/>
          <p:nvPr/>
        </p:nvGrpSpPr>
        <p:grpSpPr>
          <a:xfrm>
            <a:off x="457200" y="5212080"/>
            <a:ext cx="7498080" cy="1234440"/>
            <a:chOff x="457200" y="5212080"/>
            <a:chExt cx="7498080" cy="1234440"/>
          </a:xfrm>
        </p:grpSpPr>
        <p:sp>
          <p:nvSpPr>
            <p:cNvPr id="34" name="Forma 40"/>
            <p:cNvSpPr/>
            <p:nvPr/>
          </p:nvSpPr>
          <p:spPr>
            <a:xfrm>
              <a:off x="457200" y="5257800"/>
              <a:ext cx="2377440" cy="11887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 control (p. ej., 90 mg/dL de glucosa)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35" name="Flecha 41_2"/>
            <p:cNvSpPr/>
            <p:nvPr/>
          </p:nvSpPr>
          <p:spPr>
            <a:xfrm>
              <a:off x="2880360" y="5852160"/>
              <a:ext cx="411480" cy="9144"/>
            </a:xfrm>
            <a:custGeom>
              <a:avLst/>
              <a:gdLst/>
              <a:ahLst/>
              <a:cxnLst/>
              <a:rect l="0" t="0" r="r" b="b"/>
              <a:pathLst>
                <a:path w="450" h="10" fill="none">
                  <a:moveTo>
                    <a:pt x="0" y="0"/>
                  </a:moveTo>
                  <a:lnTo>
                    <a:pt x="45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36" name="Forma 43"/>
            <p:cNvSpPr/>
            <p:nvPr/>
          </p:nvSpPr>
          <p:spPr>
            <a:xfrm>
              <a:off x="3337560" y="5257800"/>
              <a:ext cx="2194560" cy="1188720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¿Dentro de ±2 DE?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7" name="Flecha 44_2"/>
            <p:cNvSpPr/>
            <p:nvPr/>
          </p:nvSpPr>
          <p:spPr>
            <a:xfrm>
              <a:off x="5577840" y="5440680"/>
              <a:ext cx="411480" cy="137160"/>
            </a:xfrm>
            <a:custGeom>
              <a:avLst/>
              <a:gdLst/>
              <a:ahLst/>
              <a:cxnLst/>
              <a:rect l="0" t="0" r="r" b="b"/>
              <a:pathLst>
                <a:path w="450" h="149" fill="none">
                  <a:moveTo>
                    <a:pt x="0" y="149"/>
                  </a:moveTo>
                  <a:lnTo>
                    <a:pt x="450" y="0"/>
                  </a:lnTo>
                </a:path>
              </a:pathLst>
            </a:custGeom>
            <a:noFill/>
            <a:ln w="31750" cap="rnd">
              <a:solidFill>
                <a:srgbClr val="1E8C3A"/>
              </a:solidFill>
              <a:round/>
              <a:tailEnd type="triangle" w="med" len="med"/>
            </a:ln>
          </p:spPr>
        </p:sp>
        <p:sp>
          <p:nvSpPr>
            <p:cNvPr id="38" name="Flecha 46_2"/>
            <p:cNvSpPr/>
            <p:nvPr/>
          </p:nvSpPr>
          <p:spPr>
            <a:xfrm>
              <a:off x="5577840" y="6126480"/>
              <a:ext cx="411480" cy="137160"/>
            </a:xfrm>
            <a:custGeom>
              <a:avLst/>
              <a:gdLst/>
              <a:ahLst/>
              <a:cxnLst/>
              <a:rect l="0" t="0" r="r" b="b"/>
              <a:pathLst>
                <a:path w="450" h="149" fill="none">
                  <a:moveTo>
                    <a:pt x="0" y="0"/>
                  </a:moveTo>
                  <a:lnTo>
                    <a:pt x="450" y="149"/>
                  </a:lnTo>
                </a:path>
              </a:pathLst>
            </a:custGeom>
            <a:noFill/>
            <a:ln w="31750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39" name="Rótulo Sí → pacientes"/>
            <p:cNvSpPr/>
            <p:nvPr/>
          </p:nvSpPr>
          <p:spPr>
            <a:xfrm>
              <a:off x="6035040" y="5212080"/>
              <a:ext cx="1920240" cy="272415"/>
            </a:xfrm>
            <a:prstGeom prst="rect">
              <a:avLst/>
            </a:prstGeom>
            <a:solidFill>
              <a:srgbClr val="D5F5E3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 → pacientes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0" name="Rótulo No → calibrar"/>
            <p:cNvSpPr/>
            <p:nvPr/>
          </p:nvSpPr>
          <p:spPr>
            <a:xfrm>
              <a:off x="6035040" y="6035040"/>
              <a:ext cx="1920240" cy="272415"/>
            </a:xfrm>
            <a:prstGeom prst="rect">
              <a:avLst/>
            </a:prstGeom>
            <a:solidFill>
              <a:srgbClr val="FDE4E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→ calibrar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41" name="Qué es CCI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42" name="Forma 51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 realiza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propio laboratorio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sobre sus métodos. Los resultados diarios del control se registran en una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carta control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3" name="Forma 52"/>
            <p:cNvSpPr/>
            <p:nvPr/>
          </p:nvSpPr>
          <p:spPr>
            <a:xfrm>
              <a:off x="8677656" y="1097280"/>
              <a:ext cx="87163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QUÉ ES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4" name="Objetivo CCI"/>
          <p:cNvGrpSpPr/>
          <p:nvPr/>
        </p:nvGrpSpPr>
        <p:grpSpPr>
          <a:xfrm>
            <a:off x="8549640" y="4069080"/>
            <a:ext cx="3383280" cy="2377440"/>
            <a:chOff x="8549640" y="4069080"/>
            <a:chExt cx="3383280" cy="2377440"/>
          </a:xfrm>
        </p:grpSpPr>
        <p:sp>
          <p:nvSpPr>
            <p:cNvPr id="45" name="Forma 54"/>
            <p:cNvSpPr/>
            <p:nvPr/>
          </p:nvSpPr>
          <p:spPr>
            <a:xfrm>
              <a:off x="8549640" y="42702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Objetivo: verificar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precisión y estabilidad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método, detectar errores y asegurar que el sistema funciona correctamente.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6" name="Forma 55"/>
            <p:cNvSpPr/>
            <p:nvPr/>
          </p:nvSpPr>
          <p:spPr>
            <a:xfrm>
              <a:off x="8677656" y="4069080"/>
              <a:ext cx="1069866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OBJETIVO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CONTROL DE CALIDAD INTERNO: LA CARTA CONTROL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5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5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30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0" grpId="0" animBg="1"/>
      <p:bldP spid="32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6" name="Error Reactivos"/>
          <p:cNvSpPr/>
          <p:nvPr/>
        </p:nvSpPr>
        <p:spPr>
          <a:xfrm>
            <a:off x="320040" y="1097280"/>
            <a:ext cx="25146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Reactivos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vencidos o contaminados</a:t>
            </a:r>
            <a:endParaRPr lang="es-AR" sz="1750" dirty="0">
              <a:latin typeface="Calibri"/>
            </a:endParaRPr>
          </a:p>
        </p:txBody>
      </p:sp>
      <p:sp>
        <p:nvSpPr>
          <p:cNvPr id="7" name="Error Equipo"/>
          <p:cNvSpPr/>
          <p:nvPr/>
        </p:nvSpPr>
        <p:spPr>
          <a:xfrm>
            <a:off x="320040" y="2286000"/>
            <a:ext cx="25146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lámpara, detector, espectrofotómetro, láser</a:t>
            </a:r>
            <a:endParaRPr lang="es-AR" sz="1650" dirty="0">
              <a:latin typeface="Calibri"/>
            </a:endParaRPr>
          </a:p>
        </p:txBody>
      </p:sp>
      <p:sp>
        <p:nvSpPr>
          <p:cNvPr id="8" name="Error Procedimiento"/>
          <p:cNvSpPr/>
          <p:nvPr/>
        </p:nvSpPr>
        <p:spPr>
          <a:xfrm>
            <a:off x="320040" y="3474720"/>
            <a:ext cx="25146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Procedimiento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error en el proceso analítico</a:t>
            </a:r>
            <a:endParaRPr lang="es-AR" sz="1750" dirty="0">
              <a:latin typeface="Calibri"/>
            </a:endParaRPr>
          </a:p>
        </p:txBody>
      </p:sp>
      <p:grpSp>
        <p:nvGrpSpPr>
          <p:cNvPr id="9" name="Circuito CCE"/>
          <p:cNvGrpSpPr/>
          <p:nvPr/>
        </p:nvGrpSpPr>
        <p:grpSpPr>
          <a:xfrm>
            <a:off x="3291840" y="1097280"/>
            <a:ext cx="5852160" cy="2926080"/>
            <a:chOff x="3291840" y="1097280"/>
            <a:chExt cx="5852160" cy="2926080"/>
          </a:xfrm>
        </p:grpSpPr>
        <p:sp>
          <p:nvSpPr>
            <p:cNvPr id="10" name="Forma 9"/>
            <p:cNvSpPr/>
            <p:nvPr/>
          </p:nvSpPr>
          <p:spPr>
            <a:xfrm>
              <a:off x="3291840" y="1097280"/>
              <a:ext cx="2651760" cy="1188720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Organismo externo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envía muestras de concentración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desconocida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1" name="Flecha 10_2"/>
            <p:cNvSpPr/>
            <p:nvPr/>
          </p:nvSpPr>
          <p:spPr>
            <a:xfrm>
              <a:off x="5989320" y="1691640"/>
              <a:ext cx="594360" cy="9144"/>
            </a:xfrm>
            <a:custGeom>
              <a:avLst/>
              <a:gdLst/>
              <a:ahLst/>
              <a:cxnLst/>
              <a:rect l="0" t="0" r="r" b="b"/>
              <a:pathLst>
                <a:path w="650" h="10" fill="none">
                  <a:moveTo>
                    <a:pt x="0" y="0"/>
                  </a:moveTo>
                  <a:lnTo>
                    <a:pt x="65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2" name="Forma 12"/>
            <p:cNvSpPr/>
            <p:nvPr/>
          </p:nvSpPr>
          <p:spPr>
            <a:xfrm>
              <a:off x="6629400" y="1097280"/>
              <a:ext cx="2514600" cy="11887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laboratorio las procesa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como pacientes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3" name="Flecha 13_2"/>
            <p:cNvSpPr/>
            <p:nvPr/>
          </p:nvSpPr>
          <p:spPr>
            <a:xfrm>
              <a:off x="7863840" y="2331720"/>
              <a:ext cx="9144" cy="457200"/>
            </a:xfrm>
            <a:custGeom>
              <a:avLst/>
              <a:gdLst/>
              <a:ahLst/>
              <a:cxnLst/>
              <a:rect l="0" t="0" r="r" b="b"/>
              <a:pathLst>
                <a:path w="10" h="500" fill="none">
                  <a:moveTo>
                    <a:pt x="0" y="0"/>
                  </a:moveTo>
                  <a:lnTo>
                    <a:pt x="0" y="5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4" name="Forma 15"/>
            <p:cNvSpPr/>
            <p:nvPr/>
          </p:nvSpPr>
          <p:spPr>
            <a:xfrm>
              <a:off x="6629400" y="2834640"/>
              <a:ext cx="2514600" cy="11887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Devuelve los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resultados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5" name="Flecha 16_2"/>
            <p:cNvSpPr/>
            <p:nvPr/>
          </p:nvSpPr>
          <p:spPr>
            <a:xfrm>
              <a:off x="5989320" y="3429000"/>
              <a:ext cx="594360" cy="9144"/>
            </a:xfrm>
            <a:custGeom>
              <a:avLst/>
              <a:gdLst/>
              <a:ahLst/>
              <a:cxnLst/>
              <a:rect l="0" t="0" r="r" b="b"/>
              <a:pathLst>
                <a:path w="650" h="10" fill="none">
                  <a:moveTo>
                    <a:pt x="650" y="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6" name="Forma 18"/>
            <p:cNvSpPr/>
            <p:nvPr/>
          </p:nvSpPr>
          <p:spPr>
            <a:xfrm>
              <a:off x="3291840" y="2834640"/>
              <a:ext cx="2651760" cy="1188720"/>
            </a:xfrm>
            <a:prstGeom prst="roundRect">
              <a:avLst>
                <a:gd name="adj" fmla="val 9000"/>
              </a:avLst>
            </a:prstGeom>
            <a:solidFill>
              <a:srgbClr val="D5F5E3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comparan con los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valores reales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desempeño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17" name="Objetivo CCE"/>
          <p:cNvSpPr/>
          <p:nvPr/>
        </p:nvSpPr>
        <p:spPr>
          <a:xfrm>
            <a:off x="3291840" y="4251960"/>
            <a:ext cx="58521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5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Objetivo del CCE: </a:t>
            </a:r>
            <a:r>
              <a:rPr lang="es-AR" sz="15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comparar el desempeño</a:t>
            </a:r>
            <a:r>
              <a:rPr lang="es-AR" sz="15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con otros laboratorios y garantizar estándares nacionales e internacionales.</a:t>
            </a:r>
            <a:endParaRPr lang="es-AR" sz="1550" dirty="0">
              <a:latin typeface="Calibri"/>
            </a:endParaRPr>
          </a:p>
        </p:txBody>
      </p:sp>
      <p:sp>
        <p:nvSpPr>
          <p:cNvPr id="18" name="Importancia CC"/>
          <p:cNvSpPr/>
          <p:nvPr/>
        </p:nvSpPr>
        <p:spPr>
          <a:xfrm>
            <a:off x="320040" y="5349240"/>
            <a:ext cx="8823960" cy="109728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Importancia: </a:t>
            </a:r>
            <a:r>
              <a:rPr lang="es-AR" sz="1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confiabilidad</a:t>
            </a:r>
            <a:r>
              <a:rPr lang="es-AR" sz="19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los resultados, </a:t>
            </a:r>
            <a:r>
              <a:rPr lang="es-AR" sz="1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 del paciente</a:t>
            </a:r>
            <a:r>
              <a:rPr lang="es-AR" sz="19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comparación entre laboratorios y </a:t>
            </a:r>
            <a:r>
              <a:rPr lang="es-AR" sz="19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respaldo legal y profesional</a:t>
            </a:r>
            <a:r>
              <a:rPr lang="es-AR" sz="19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19" name="Mundo de laboratorios"/>
          <p:cNvGrpSpPr/>
          <p:nvPr/>
        </p:nvGrpSpPr>
        <p:grpSpPr>
          <a:xfrm>
            <a:off x="9577791" y="1508760"/>
            <a:ext cx="2076785" cy="2743200"/>
            <a:chOff x="9577791" y="1508760"/>
            <a:chExt cx="2076785" cy="2743200"/>
          </a:xfrm>
        </p:grpSpPr>
        <p:grpSp>
          <p:nvGrpSpPr>
            <p:cNvPr id="20" name="Tubo red 0"/>
            <p:cNvGrpSpPr/>
            <p:nvPr/>
          </p:nvGrpSpPr>
          <p:grpSpPr>
            <a:xfrm>
              <a:off x="11315151" y="2377440"/>
              <a:ext cx="339425" cy="1005840"/>
              <a:chOff x="11315151" y="2377440"/>
              <a:chExt cx="339425" cy="1005840"/>
            </a:xfrm>
          </p:grpSpPr>
          <p:sp>
            <p:nvSpPr>
              <p:cNvPr id="21" name="Vidrio"/>
              <p:cNvSpPr/>
              <p:nvPr/>
            </p:nvSpPr>
            <p:spPr>
              <a:xfrm>
                <a:off x="11338560" y="2478024"/>
                <a:ext cx="292608" cy="90525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2" name="Tapón"/>
              <p:cNvSpPr/>
              <p:nvPr/>
            </p:nvSpPr>
            <p:spPr>
              <a:xfrm>
                <a:off x="11315151" y="2377440"/>
                <a:ext cx="339425" cy="120701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23" name="Brillo"/>
              <p:cNvSpPr/>
              <p:nvPr/>
            </p:nvSpPr>
            <p:spPr>
              <a:xfrm>
                <a:off x="11379525" y="2538374"/>
                <a:ext cx="35113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24" name="r0"/>
            <p:cNvSpPr/>
            <p:nvPr/>
          </p:nvSpPr>
          <p:spPr>
            <a:xfrm>
              <a:off x="11353190" y="2940710"/>
              <a:ext cx="263347" cy="42245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25" name="p0"/>
            <p:cNvSpPr/>
            <p:nvPr/>
          </p:nvSpPr>
          <p:spPr>
            <a:xfrm>
              <a:off x="11353190" y="2687239"/>
              <a:ext cx="263347" cy="253472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grpSp>
          <p:nvGrpSpPr>
            <p:cNvPr id="26" name="Tubo red 1"/>
            <p:cNvGrpSpPr/>
            <p:nvPr/>
          </p:nvGrpSpPr>
          <p:grpSpPr>
            <a:xfrm>
              <a:off x="10446471" y="3246120"/>
              <a:ext cx="339425" cy="1005840"/>
              <a:chOff x="10446471" y="3246120"/>
              <a:chExt cx="339425" cy="1005840"/>
            </a:xfrm>
          </p:grpSpPr>
          <p:sp>
            <p:nvSpPr>
              <p:cNvPr id="27" name="Vidrio_2"/>
              <p:cNvSpPr/>
              <p:nvPr/>
            </p:nvSpPr>
            <p:spPr>
              <a:xfrm>
                <a:off x="10469880" y="3346704"/>
                <a:ext cx="292608" cy="90525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8" name="Tapón_2"/>
              <p:cNvSpPr/>
              <p:nvPr/>
            </p:nvSpPr>
            <p:spPr>
              <a:xfrm>
                <a:off x="10446471" y="3246120"/>
                <a:ext cx="339425" cy="120701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29" name="Brillo_2"/>
              <p:cNvSpPr/>
              <p:nvPr/>
            </p:nvSpPr>
            <p:spPr>
              <a:xfrm>
                <a:off x="10510845" y="3407054"/>
                <a:ext cx="35113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0" name="r1"/>
            <p:cNvSpPr/>
            <p:nvPr/>
          </p:nvSpPr>
          <p:spPr>
            <a:xfrm>
              <a:off x="10484510" y="3809390"/>
              <a:ext cx="263347" cy="42245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31" name="p1"/>
            <p:cNvSpPr/>
            <p:nvPr/>
          </p:nvSpPr>
          <p:spPr>
            <a:xfrm>
              <a:off x="10484510" y="3555919"/>
              <a:ext cx="263347" cy="253472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grpSp>
          <p:nvGrpSpPr>
            <p:cNvPr id="32" name="Tubo red 2"/>
            <p:cNvGrpSpPr/>
            <p:nvPr/>
          </p:nvGrpSpPr>
          <p:grpSpPr>
            <a:xfrm>
              <a:off x="9577791" y="2377440"/>
              <a:ext cx="339425" cy="1005840"/>
              <a:chOff x="9577791" y="2377440"/>
              <a:chExt cx="339425" cy="1005840"/>
            </a:xfrm>
          </p:grpSpPr>
          <p:sp>
            <p:nvSpPr>
              <p:cNvPr id="33" name="Vidrio_3"/>
              <p:cNvSpPr/>
              <p:nvPr/>
            </p:nvSpPr>
            <p:spPr>
              <a:xfrm>
                <a:off x="9601200" y="2478024"/>
                <a:ext cx="292608" cy="90525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4" name="Tapón_3"/>
              <p:cNvSpPr/>
              <p:nvPr/>
            </p:nvSpPr>
            <p:spPr>
              <a:xfrm>
                <a:off x="9577791" y="2377440"/>
                <a:ext cx="339425" cy="120701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35" name="Brillo_3"/>
              <p:cNvSpPr/>
              <p:nvPr/>
            </p:nvSpPr>
            <p:spPr>
              <a:xfrm>
                <a:off x="9642165" y="2538374"/>
                <a:ext cx="35113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6" name="r2"/>
            <p:cNvSpPr/>
            <p:nvPr/>
          </p:nvSpPr>
          <p:spPr>
            <a:xfrm>
              <a:off x="9615830" y="2940710"/>
              <a:ext cx="263347" cy="42245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37" name="p2"/>
            <p:cNvSpPr/>
            <p:nvPr/>
          </p:nvSpPr>
          <p:spPr>
            <a:xfrm>
              <a:off x="9615830" y="2687239"/>
              <a:ext cx="263347" cy="253472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grpSp>
          <p:nvGrpSpPr>
            <p:cNvPr id="38" name="Tubo red 3"/>
            <p:cNvGrpSpPr/>
            <p:nvPr/>
          </p:nvGrpSpPr>
          <p:grpSpPr>
            <a:xfrm>
              <a:off x="10446471" y="1508760"/>
              <a:ext cx="339425" cy="1005840"/>
              <a:chOff x="10446471" y="1508760"/>
              <a:chExt cx="339425" cy="1005840"/>
            </a:xfrm>
          </p:grpSpPr>
          <p:sp>
            <p:nvSpPr>
              <p:cNvPr id="39" name="Vidrio_4"/>
              <p:cNvSpPr/>
              <p:nvPr/>
            </p:nvSpPr>
            <p:spPr>
              <a:xfrm>
                <a:off x="10469880" y="1609344"/>
                <a:ext cx="292608" cy="90525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0" name="Tapón_4"/>
              <p:cNvSpPr/>
              <p:nvPr/>
            </p:nvSpPr>
            <p:spPr>
              <a:xfrm>
                <a:off x="10446471" y="1508760"/>
                <a:ext cx="339425" cy="120701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D67E75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601C15"/>
                </a:solidFill>
                <a:round/>
              </a:ln>
            </p:spPr>
          </p:sp>
          <p:sp>
            <p:nvSpPr>
              <p:cNvPr id="41" name="Brillo_4"/>
              <p:cNvSpPr/>
              <p:nvPr/>
            </p:nvSpPr>
            <p:spPr>
              <a:xfrm>
                <a:off x="10510845" y="1669694"/>
                <a:ext cx="35113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42" name="r3"/>
            <p:cNvSpPr/>
            <p:nvPr/>
          </p:nvSpPr>
          <p:spPr>
            <a:xfrm>
              <a:off x="10484510" y="2072030"/>
              <a:ext cx="263347" cy="42245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43" name="p3"/>
            <p:cNvSpPr/>
            <p:nvPr/>
          </p:nvSpPr>
          <p:spPr>
            <a:xfrm>
              <a:off x="10484510" y="1818559"/>
              <a:ext cx="263347" cy="253472"/>
            </a:xfrm>
            <a:prstGeom prst="rect">
              <a:avLst/>
            </a:prstGeom>
            <a:gradFill rotWithShape="1">
              <a:gsLst>
                <a:gs pos="0">
                  <a:srgbClr val="FAEDB7"/>
                </a:gs>
                <a:gs pos="100000">
                  <a:srgbClr val="F9E79F"/>
                </a:gs>
              </a:gsLst>
              <a:lin ang="5400000" scaled="0"/>
            </a:gradFill>
            <a:ln w="9525" cap="rnd">
              <a:solidFill>
                <a:srgbClr val="A19667"/>
              </a:solidFill>
              <a:round/>
            </a:ln>
          </p:spPr>
        </p:sp>
        <p:sp>
          <p:nvSpPr>
            <p:cNvPr id="44" name="Forma 46"/>
            <p:cNvSpPr/>
            <p:nvPr/>
          </p:nvSpPr>
          <p:spPr>
            <a:xfrm>
              <a:off x="10378440" y="2514600"/>
              <a:ext cx="685800" cy="685800"/>
            </a:xfrm>
            <a:prstGeom prst="ellipse">
              <a:avLst/>
            </a:prstGeom>
            <a:gradFill rotWithShape="1">
              <a:gsLst>
                <a:gs pos="0">
                  <a:srgbClr val="627392"/>
                </a:gs>
                <a:gs pos="55000">
                  <a:srgbClr val="1F3864"/>
                </a:gs>
                <a:gs pos="100000">
                  <a:srgbClr val="152746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CCE</a:t>
              </a:r>
              <a:endParaRPr lang="es-AR" sz="12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CAUSAS DE ERROR Y CONTROL DE CALIDAD EXTERNO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4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7" grpId="0" animBg="1"/>
      <p:bldP spid="18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Tabla anexo fila 0"/>
          <p:cNvGrpSpPr/>
          <p:nvPr/>
        </p:nvGrpSpPr>
        <p:grpSpPr>
          <a:xfrm>
            <a:off x="411480" y="1097280"/>
            <a:ext cx="8138160" cy="548640"/>
            <a:chOff x="411480" y="1097280"/>
            <a:chExt cx="8138160" cy="548640"/>
          </a:xfrm>
        </p:grpSpPr>
        <p:sp>
          <p:nvSpPr>
            <p:cNvPr id="6" name="Forma 5"/>
            <p:cNvSpPr/>
            <p:nvPr/>
          </p:nvSpPr>
          <p:spPr>
            <a:xfrm>
              <a:off x="411480" y="1097280"/>
              <a:ext cx="338328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794760" y="1097280"/>
              <a:ext cx="265176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de referencia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6446520" y="1097280"/>
              <a:ext cx="210312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Unidad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9" name="Tabla anexo fila 1"/>
          <p:cNvGrpSpPr/>
          <p:nvPr/>
        </p:nvGrpSpPr>
        <p:grpSpPr>
          <a:xfrm>
            <a:off x="411480" y="1645920"/>
            <a:ext cx="8138160" cy="548640"/>
            <a:chOff x="411480" y="1645920"/>
            <a:chExt cx="8138160" cy="548640"/>
          </a:xfrm>
        </p:grpSpPr>
        <p:sp>
          <p:nvSpPr>
            <p:cNvPr id="10" name="Forma 9"/>
            <p:cNvSpPr/>
            <p:nvPr/>
          </p:nvSpPr>
          <p:spPr>
            <a:xfrm>
              <a:off x="411480" y="1645920"/>
              <a:ext cx="338328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Glucemia en ayunas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3794760" y="1645920"/>
              <a:ext cx="26517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70 – 100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6446520" y="1645920"/>
              <a:ext cx="210312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mg/dL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3" name="Tabla anexo fila 2"/>
          <p:cNvGrpSpPr/>
          <p:nvPr/>
        </p:nvGrpSpPr>
        <p:grpSpPr>
          <a:xfrm>
            <a:off x="411480" y="2194560"/>
            <a:ext cx="8138160" cy="548640"/>
            <a:chOff x="411480" y="2194560"/>
            <a:chExt cx="8138160" cy="548640"/>
          </a:xfrm>
        </p:grpSpPr>
        <p:sp>
          <p:nvSpPr>
            <p:cNvPr id="14" name="Forma 13"/>
            <p:cNvSpPr/>
            <p:nvPr/>
          </p:nvSpPr>
          <p:spPr>
            <a:xfrm>
              <a:off x="411480" y="2194560"/>
              <a:ext cx="338328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Glucemia alterada en ayunas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3794760" y="2194560"/>
              <a:ext cx="26517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100 – 125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6446520" y="2194560"/>
              <a:ext cx="210312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mg/dL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7" name="Tabla anexo fila 3"/>
          <p:cNvGrpSpPr/>
          <p:nvPr/>
        </p:nvGrpSpPr>
        <p:grpSpPr>
          <a:xfrm>
            <a:off x="411480" y="2743200"/>
            <a:ext cx="8138160" cy="548640"/>
            <a:chOff x="411480" y="2743200"/>
            <a:chExt cx="8138160" cy="548640"/>
          </a:xfrm>
        </p:grpSpPr>
        <p:sp>
          <p:nvSpPr>
            <p:cNvPr id="18" name="Forma 17"/>
            <p:cNvSpPr/>
            <p:nvPr/>
          </p:nvSpPr>
          <p:spPr>
            <a:xfrm>
              <a:off x="411480" y="2743200"/>
              <a:ext cx="338328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Diabetes (diagnóstico)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3794760" y="2743200"/>
              <a:ext cx="26517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≥ 126 (en 2 ocasiones)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6446520" y="2743200"/>
              <a:ext cx="210312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mg/dL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1" name="Tabla anexo fila 4"/>
          <p:cNvGrpSpPr/>
          <p:nvPr/>
        </p:nvGrpSpPr>
        <p:grpSpPr>
          <a:xfrm>
            <a:off x="411480" y="3291840"/>
            <a:ext cx="8138160" cy="548640"/>
            <a:chOff x="411480" y="3291840"/>
            <a:chExt cx="8138160" cy="548640"/>
          </a:xfrm>
        </p:grpSpPr>
        <p:sp>
          <p:nvSpPr>
            <p:cNvPr id="22" name="Forma 21"/>
            <p:cNvSpPr/>
            <p:nvPr/>
          </p:nvSpPr>
          <p:spPr>
            <a:xfrm>
              <a:off x="411480" y="3291840"/>
              <a:ext cx="338328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 (varón adulto)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3794760" y="3291840"/>
              <a:ext cx="26517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13 – 17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6446520" y="3291840"/>
              <a:ext cx="210312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g/dL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5" name="Tabla anexo fila 5"/>
          <p:cNvGrpSpPr/>
          <p:nvPr/>
        </p:nvGrpSpPr>
        <p:grpSpPr>
          <a:xfrm>
            <a:off x="411480" y="3840480"/>
            <a:ext cx="8138160" cy="548640"/>
            <a:chOff x="411480" y="3840480"/>
            <a:chExt cx="8138160" cy="548640"/>
          </a:xfrm>
        </p:grpSpPr>
        <p:sp>
          <p:nvSpPr>
            <p:cNvPr id="26" name="Forma 25"/>
            <p:cNvSpPr/>
            <p:nvPr/>
          </p:nvSpPr>
          <p:spPr>
            <a:xfrm>
              <a:off x="411480" y="3840480"/>
              <a:ext cx="338328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 (mujer adulta)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3794760" y="3840480"/>
              <a:ext cx="26517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 – 16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6446520" y="3840480"/>
              <a:ext cx="210312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g/dL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9" name="Tabla anexo fila 6"/>
          <p:cNvGrpSpPr/>
          <p:nvPr/>
        </p:nvGrpSpPr>
        <p:grpSpPr>
          <a:xfrm>
            <a:off x="411480" y="4389120"/>
            <a:ext cx="8138160" cy="548640"/>
            <a:chOff x="411480" y="4389120"/>
            <a:chExt cx="8138160" cy="548640"/>
          </a:xfrm>
        </p:grpSpPr>
        <p:sp>
          <p:nvSpPr>
            <p:cNvPr id="30" name="Forma 29"/>
            <p:cNvSpPr/>
            <p:nvPr/>
          </p:nvSpPr>
          <p:spPr>
            <a:xfrm>
              <a:off x="411480" y="4389120"/>
              <a:ext cx="338328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Glóbulos rojos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3794760" y="4389120"/>
              <a:ext cx="26517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4,5 – 6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6446520" y="4389120"/>
              <a:ext cx="210312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millones por mm</a:t>
              </a:r>
              <a:r>
                <a:rPr lang="es-AR" sz="16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33" name="Tabla anexo fila 7"/>
          <p:cNvGrpSpPr/>
          <p:nvPr/>
        </p:nvGrpSpPr>
        <p:grpSpPr>
          <a:xfrm>
            <a:off x="411480" y="4937760"/>
            <a:ext cx="8138160" cy="548640"/>
            <a:chOff x="411480" y="4937760"/>
            <a:chExt cx="8138160" cy="548640"/>
          </a:xfrm>
        </p:grpSpPr>
        <p:sp>
          <p:nvSpPr>
            <p:cNvPr id="34" name="Forma 33"/>
            <p:cNvSpPr/>
            <p:nvPr/>
          </p:nvSpPr>
          <p:spPr>
            <a:xfrm>
              <a:off x="411480" y="4937760"/>
              <a:ext cx="338328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Leucocitos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3794760" y="4937760"/>
              <a:ext cx="26517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4.000 – 11.000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6" name="Forma 35"/>
            <p:cNvSpPr/>
            <p:nvPr/>
          </p:nvSpPr>
          <p:spPr>
            <a:xfrm>
              <a:off x="6446520" y="4937760"/>
              <a:ext cx="210312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mm</a:t>
              </a:r>
              <a:r>
                <a:rPr lang="es-AR" sz="16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37" name="Tabla anexo fila 8"/>
          <p:cNvGrpSpPr/>
          <p:nvPr/>
        </p:nvGrpSpPr>
        <p:grpSpPr>
          <a:xfrm>
            <a:off x="411480" y="5486400"/>
            <a:ext cx="8138160" cy="548640"/>
            <a:chOff x="411480" y="5486400"/>
            <a:chExt cx="8138160" cy="548640"/>
          </a:xfrm>
        </p:grpSpPr>
        <p:sp>
          <p:nvSpPr>
            <p:cNvPr id="38" name="Forma 37"/>
            <p:cNvSpPr/>
            <p:nvPr/>
          </p:nvSpPr>
          <p:spPr>
            <a:xfrm>
              <a:off x="411480" y="5486400"/>
              <a:ext cx="338328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Plaquetas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3794760" y="5486400"/>
              <a:ext cx="26517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150.000 – 400.000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40" name="Forma 39"/>
            <p:cNvSpPr/>
            <p:nvPr/>
          </p:nvSpPr>
          <p:spPr>
            <a:xfrm>
              <a:off x="6446520" y="5486400"/>
              <a:ext cx="210312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mm</a:t>
              </a:r>
              <a:r>
                <a:rPr lang="es-AR" sz="16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41" name="Deco anexo"/>
          <p:cNvGrpSpPr/>
          <p:nvPr/>
        </p:nvGrpSpPr>
        <p:grpSpPr>
          <a:xfrm>
            <a:off x="9008669" y="1188720"/>
            <a:ext cx="2604211" cy="3648702"/>
            <a:chOff x="9008669" y="1188720"/>
            <a:chExt cx="2604211" cy="3648702"/>
          </a:xfrm>
        </p:grpSpPr>
        <p:grpSp>
          <p:nvGrpSpPr>
            <p:cNvPr id="42" name="Tubo anexo"/>
            <p:cNvGrpSpPr/>
            <p:nvPr/>
          </p:nvGrpSpPr>
          <p:grpSpPr>
            <a:xfrm>
              <a:off x="9008669" y="1188720"/>
              <a:ext cx="636422" cy="2194560"/>
              <a:chOff x="9008669" y="1188720"/>
              <a:chExt cx="636422" cy="2194560"/>
            </a:xfrm>
          </p:grpSpPr>
          <p:sp>
            <p:nvSpPr>
              <p:cNvPr id="43" name="Vidrio"/>
              <p:cNvSpPr/>
              <p:nvPr/>
            </p:nvSpPr>
            <p:spPr>
              <a:xfrm>
                <a:off x="9052560" y="1408176"/>
                <a:ext cx="548640" cy="197510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4" name="Tapón"/>
              <p:cNvSpPr/>
              <p:nvPr/>
            </p:nvSpPr>
            <p:spPr>
              <a:xfrm>
                <a:off x="9008669" y="1188720"/>
                <a:ext cx="636422" cy="263347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45" name="Brillo"/>
              <p:cNvSpPr/>
              <p:nvPr/>
            </p:nvSpPr>
            <p:spPr>
              <a:xfrm>
                <a:off x="9129370" y="1539850"/>
                <a:ext cx="65837" cy="15361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46" name="ra"/>
            <p:cNvSpPr/>
            <p:nvPr/>
          </p:nvSpPr>
          <p:spPr>
            <a:xfrm>
              <a:off x="9079992" y="2565148"/>
              <a:ext cx="493776" cy="77424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47" name="ba"/>
            <p:cNvSpPr/>
            <p:nvPr/>
          </p:nvSpPr>
          <p:spPr>
            <a:xfrm>
              <a:off x="9079992" y="2472977"/>
              <a:ext cx="493776" cy="92172"/>
            </a:xfrm>
            <a:prstGeom prst="rect">
              <a:avLst/>
            </a:prstGeom>
            <a:gradFill rotWithShape="1">
              <a:gsLst>
                <a:gs pos="0">
                  <a:srgbClr val="F5F6F6"/>
                </a:gs>
                <a:gs pos="100000">
                  <a:srgbClr val="F2F3F4"/>
                </a:gs>
              </a:gsLst>
              <a:lin ang="5400000" scaled="0"/>
            </a:gradFill>
            <a:ln w="9525" cap="rnd">
              <a:solidFill>
                <a:srgbClr val="9D9D9E"/>
              </a:solidFill>
              <a:round/>
            </a:ln>
          </p:spPr>
        </p:sp>
        <p:sp>
          <p:nvSpPr>
            <p:cNvPr id="48" name="pa"/>
            <p:cNvSpPr/>
            <p:nvPr/>
          </p:nvSpPr>
          <p:spPr>
            <a:xfrm>
              <a:off x="9079992" y="1827776"/>
              <a:ext cx="493776" cy="645201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sp>
          <p:nvSpPr>
            <p:cNvPr id="49" name="GR anexo"/>
            <p:cNvSpPr/>
            <p:nvPr/>
          </p:nvSpPr>
          <p:spPr>
            <a:xfrm>
              <a:off x="9966960" y="1371600"/>
              <a:ext cx="1188720" cy="11887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50" name="Lc anexo"/>
            <p:cNvGrpSpPr/>
            <p:nvPr/>
          </p:nvGrpSpPr>
          <p:grpSpPr>
            <a:xfrm>
              <a:off x="10607040" y="2560320"/>
              <a:ext cx="1005840" cy="1005840"/>
              <a:chOff x="10607040" y="2560320"/>
              <a:chExt cx="1005840" cy="1005840"/>
            </a:xfrm>
          </p:grpSpPr>
          <p:sp>
            <p:nvSpPr>
              <p:cNvPr id="51" name="Forma 50"/>
              <p:cNvSpPr/>
              <p:nvPr/>
            </p:nvSpPr>
            <p:spPr>
              <a:xfrm>
                <a:off x="10607040" y="2560320"/>
                <a:ext cx="1005840" cy="1005840"/>
              </a:xfrm>
              <a:prstGeom prst="ellipse">
                <a:avLst/>
              </a:prstGeom>
              <a:gradFill rotWithShape="1">
                <a:gsLst>
                  <a:gs pos="0">
                    <a:srgbClr val="EEF7FD"/>
                  </a:gs>
                  <a:gs pos="55000">
                    <a:srgbClr val="E3F2FD"/>
                  </a:gs>
                  <a:gs pos="100000">
                    <a:srgbClr val="C7D4DE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52" name="Forma 51"/>
              <p:cNvSpPr/>
              <p:nvPr/>
            </p:nvSpPr>
            <p:spPr>
              <a:xfrm>
                <a:off x="10747858" y="2701138"/>
                <a:ext cx="724205" cy="724205"/>
              </a:xfrm>
              <a:prstGeom prst="ellipse">
                <a:avLst/>
              </a:prstGeom>
              <a:gradFill rotWithShape="1">
                <a:gsLst>
                  <a:gs pos="0">
                    <a:srgbClr val="7E57C2"/>
                  </a:gs>
                  <a:gs pos="100000">
                    <a:srgbClr val="311B92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1A0F4F"/>
                </a:solidFill>
                <a:round/>
              </a:ln>
            </p:spPr>
          </p:sp>
        </p:grpSp>
        <p:sp>
          <p:nvSpPr>
            <p:cNvPr id="53" name="Pl anexo"/>
            <p:cNvSpPr/>
            <p:nvPr/>
          </p:nvSpPr>
          <p:spPr>
            <a:xfrm>
              <a:off x="9784080" y="2926080"/>
              <a:ext cx="548640" cy="340157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grpSp>
          <p:nvGrpSpPr>
            <p:cNvPr id="54" name="Glc anexo"/>
            <p:cNvGrpSpPr/>
            <p:nvPr/>
          </p:nvGrpSpPr>
          <p:grpSpPr>
            <a:xfrm>
              <a:off x="9278458" y="3940818"/>
              <a:ext cx="1343564" cy="896603"/>
              <a:chOff x="9278458" y="3940818"/>
              <a:chExt cx="1343564" cy="896603"/>
            </a:xfrm>
          </p:grpSpPr>
          <p:sp>
            <p:nvSpPr>
              <p:cNvPr id="55" name="Flecha 54_2"/>
              <p:cNvSpPr/>
              <p:nvPr/>
            </p:nvSpPr>
            <p:spPr>
              <a:xfrm>
                <a:off x="9759514" y="4400038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0" y="0"/>
                    </a:moveTo>
                    <a:lnTo>
                      <a:pt x="238" y="119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56" name="Flecha 56_2"/>
              <p:cNvSpPr/>
              <p:nvPr/>
            </p:nvSpPr>
            <p:spPr>
              <a:xfrm>
                <a:off x="9759514" y="4400038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0" y="0"/>
                    </a:moveTo>
                    <a:lnTo>
                      <a:pt x="238" y="119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57" name="Flecha 58_2"/>
              <p:cNvSpPr/>
              <p:nvPr/>
            </p:nvSpPr>
            <p:spPr>
              <a:xfrm>
                <a:off x="9977878" y="4400038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0" y="119"/>
                    </a:moveTo>
                    <a:lnTo>
                      <a:pt x="238" y="0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58" name="Flecha 60_2"/>
              <p:cNvSpPr/>
              <p:nvPr/>
            </p:nvSpPr>
            <p:spPr>
              <a:xfrm>
                <a:off x="9977878" y="4400038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0" y="119"/>
                    </a:moveTo>
                    <a:lnTo>
                      <a:pt x="238" y="0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59" name="Flecha 62_2"/>
              <p:cNvSpPr/>
              <p:nvPr/>
            </p:nvSpPr>
            <p:spPr>
              <a:xfrm>
                <a:off x="10196242" y="4159838"/>
                <a:ext cx="9144" cy="240201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2" fill="none">
                    <a:moveTo>
                      <a:pt x="0" y="262"/>
                    </a:moveTo>
                    <a:lnTo>
                      <a:pt x="0" y="0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60" name="Flecha 64_2"/>
              <p:cNvSpPr/>
              <p:nvPr/>
            </p:nvSpPr>
            <p:spPr>
              <a:xfrm>
                <a:off x="10196242" y="4159838"/>
                <a:ext cx="9144" cy="240201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2" fill="none">
                    <a:moveTo>
                      <a:pt x="0" y="262"/>
                    </a:moveTo>
                    <a:lnTo>
                      <a:pt x="0" y="0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61" name="Flecha 66_2"/>
              <p:cNvSpPr/>
              <p:nvPr/>
            </p:nvSpPr>
            <p:spPr>
              <a:xfrm>
                <a:off x="9977878" y="4050656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238" y="119"/>
                    </a:moveTo>
                    <a:lnTo>
                      <a:pt x="0" y="0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62" name="Flecha 68_2"/>
              <p:cNvSpPr/>
              <p:nvPr/>
            </p:nvSpPr>
            <p:spPr>
              <a:xfrm>
                <a:off x="9977878" y="4050656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238" y="119"/>
                    </a:moveTo>
                    <a:lnTo>
                      <a:pt x="0" y="0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63" name="Flecha 70_2"/>
              <p:cNvSpPr/>
              <p:nvPr/>
            </p:nvSpPr>
            <p:spPr>
              <a:xfrm>
                <a:off x="9759514" y="4050656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238" y="0"/>
                    </a:moveTo>
                    <a:lnTo>
                      <a:pt x="0" y="119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64" name="Flecha 72_2"/>
              <p:cNvSpPr/>
              <p:nvPr/>
            </p:nvSpPr>
            <p:spPr>
              <a:xfrm>
                <a:off x="9759514" y="4050656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238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65" name="Flecha 74_2"/>
              <p:cNvSpPr/>
              <p:nvPr/>
            </p:nvSpPr>
            <p:spPr>
              <a:xfrm>
                <a:off x="9759514" y="4159838"/>
                <a:ext cx="9144" cy="240201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2" fill="none">
                    <a:moveTo>
                      <a:pt x="0" y="0"/>
                    </a:moveTo>
                    <a:lnTo>
                      <a:pt x="0" y="262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66" name="Flecha 76_2"/>
              <p:cNvSpPr/>
              <p:nvPr/>
            </p:nvSpPr>
            <p:spPr>
              <a:xfrm>
                <a:off x="9759514" y="4159838"/>
                <a:ext cx="9144" cy="240201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2" fill="none">
                    <a:moveTo>
                      <a:pt x="0" y="0"/>
                    </a:moveTo>
                    <a:lnTo>
                      <a:pt x="0" y="262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67" name="Flecha 78_2"/>
              <p:cNvSpPr/>
              <p:nvPr/>
            </p:nvSpPr>
            <p:spPr>
              <a:xfrm>
                <a:off x="9562986" y="4400038"/>
                <a:ext cx="196528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19" fill="none">
                    <a:moveTo>
                      <a:pt x="214" y="0"/>
                    </a:moveTo>
                    <a:lnTo>
                      <a:pt x="0" y="119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68" name="Flecha 80_2"/>
              <p:cNvSpPr/>
              <p:nvPr/>
            </p:nvSpPr>
            <p:spPr>
              <a:xfrm>
                <a:off x="9562986" y="4400038"/>
                <a:ext cx="196528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19" fill="none">
                    <a:moveTo>
                      <a:pt x="214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69" name="Flecha 82_2"/>
              <p:cNvSpPr/>
              <p:nvPr/>
            </p:nvSpPr>
            <p:spPr>
              <a:xfrm>
                <a:off x="9977878" y="4509220"/>
                <a:ext cx="9144" cy="240201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2" fill="none">
                    <a:moveTo>
                      <a:pt x="0" y="0"/>
                    </a:moveTo>
                    <a:lnTo>
                      <a:pt x="0" y="262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70" name="Flecha 84_2"/>
              <p:cNvSpPr/>
              <p:nvPr/>
            </p:nvSpPr>
            <p:spPr>
              <a:xfrm>
                <a:off x="9977878" y="4509220"/>
                <a:ext cx="9144" cy="240201"/>
              </a:xfrm>
              <a:custGeom>
                <a:avLst/>
                <a:gdLst/>
                <a:ahLst/>
                <a:cxnLst/>
                <a:rect l="0" t="0" r="r" b="b"/>
                <a:pathLst>
                  <a:path w="10" h="262" fill="none">
                    <a:moveTo>
                      <a:pt x="0" y="0"/>
                    </a:moveTo>
                    <a:lnTo>
                      <a:pt x="0" y="262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71" name="Flecha 86_2"/>
              <p:cNvSpPr/>
              <p:nvPr/>
            </p:nvSpPr>
            <p:spPr>
              <a:xfrm>
                <a:off x="10196242" y="4400038"/>
                <a:ext cx="196528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19" fill="none">
                    <a:moveTo>
                      <a:pt x="0" y="0"/>
                    </a:moveTo>
                    <a:lnTo>
                      <a:pt x="214" y="119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72" name="Flecha 88_2"/>
              <p:cNvSpPr/>
              <p:nvPr/>
            </p:nvSpPr>
            <p:spPr>
              <a:xfrm>
                <a:off x="10196242" y="4400038"/>
                <a:ext cx="196528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19" fill="none">
                    <a:moveTo>
                      <a:pt x="0" y="0"/>
                    </a:moveTo>
                    <a:lnTo>
                      <a:pt x="214" y="119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73" name="Flecha 90_2"/>
              <p:cNvSpPr/>
              <p:nvPr/>
            </p:nvSpPr>
            <p:spPr>
              <a:xfrm>
                <a:off x="9562986" y="4028819"/>
                <a:ext cx="196528" cy="131019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43" fill="none">
                    <a:moveTo>
                      <a:pt x="214" y="143"/>
                    </a:moveTo>
                    <a:lnTo>
                      <a:pt x="0" y="0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74" name="Flecha 92_2"/>
              <p:cNvSpPr/>
              <p:nvPr/>
            </p:nvSpPr>
            <p:spPr>
              <a:xfrm>
                <a:off x="9562986" y="4028819"/>
                <a:ext cx="196528" cy="131019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43" fill="none">
                    <a:moveTo>
                      <a:pt x="214" y="143"/>
                    </a:moveTo>
                    <a:lnTo>
                      <a:pt x="0" y="0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75" name="Flecha 94_2"/>
              <p:cNvSpPr/>
              <p:nvPr/>
            </p:nvSpPr>
            <p:spPr>
              <a:xfrm>
                <a:off x="9366459" y="4028819"/>
                <a:ext cx="196528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19" fill="none">
                    <a:moveTo>
                      <a:pt x="214" y="0"/>
                    </a:moveTo>
                    <a:lnTo>
                      <a:pt x="0" y="119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76" name="Flecha 96_2"/>
              <p:cNvSpPr/>
              <p:nvPr/>
            </p:nvSpPr>
            <p:spPr>
              <a:xfrm>
                <a:off x="9366459" y="4028819"/>
                <a:ext cx="196528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14" h="119" fill="none">
                    <a:moveTo>
                      <a:pt x="214" y="0"/>
                    </a:moveTo>
                    <a:lnTo>
                      <a:pt x="0" y="119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77" name="Flecha 98_2"/>
              <p:cNvSpPr/>
              <p:nvPr/>
            </p:nvSpPr>
            <p:spPr>
              <a:xfrm>
                <a:off x="9388295" y="4421875"/>
                <a:ext cx="174691" cy="87346"/>
              </a:xfrm>
              <a:custGeom>
                <a:avLst/>
                <a:gdLst/>
                <a:ahLst/>
                <a:cxnLst/>
                <a:rect l="0" t="0" r="r" b="b"/>
                <a:pathLst>
                  <a:path w="191" h="95" fill="none">
                    <a:moveTo>
                      <a:pt x="191" y="95"/>
                    </a:moveTo>
                    <a:lnTo>
                      <a:pt x="0" y="0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78" name="Flecha 100_2"/>
              <p:cNvSpPr/>
              <p:nvPr/>
            </p:nvSpPr>
            <p:spPr>
              <a:xfrm>
                <a:off x="9388295" y="4421875"/>
                <a:ext cx="174691" cy="87346"/>
              </a:xfrm>
              <a:custGeom>
                <a:avLst/>
                <a:gdLst/>
                <a:ahLst/>
                <a:cxnLst/>
                <a:rect l="0" t="0" r="r" b="b"/>
                <a:pathLst>
                  <a:path w="191" h="95" fill="none">
                    <a:moveTo>
                      <a:pt x="191" y="95"/>
                    </a:moveTo>
                    <a:lnTo>
                      <a:pt x="0" y="0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79" name="Flecha 102_2"/>
              <p:cNvSpPr/>
              <p:nvPr/>
            </p:nvSpPr>
            <p:spPr>
              <a:xfrm>
                <a:off x="10392770" y="4421875"/>
                <a:ext cx="174691" cy="87346"/>
              </a:xfrm>
              <a:custGeom>
                <a:avLst/>
                <a:gdLst/>
                <a:ahLst/>
                <a:cxnLst/>
                <a:rect l="0" t="0" r="r" b="b"/>
                <a:pathLst>
                  <a:path w="191" h="95" fill="none">
                    <a:moveTo>
                      <a:pt x="0" y="95"/>
                    </a:moveTo>
                    <a:lnTo>
                      <a:pt x="191" y="0"/>
                    </a:lnTo>
                  </a:path>
                </a:pathLst>
              </a:custGeom>
              <a:noFill/>
              <a:ln w="48525" cap="rnd">
                <a:solidFill>
                  <a:srgbClr val="B9B9B9"/>
                </a:solidFill>
                <a:round/>
              </a:ln>
            </p:spPr>
          </p:sp>
          <p:sp>
            <p:nvSpPr>
              <p:cNvPr id="80" name="Flecha 104_2"/>
              <p:cNvSpPr/>
              <p:nvPr/>
            </p:nvSpPr>
            <p:spPr>
              <a:xfrm>
                <a:off x="10392770" y="4421875"/>
                <a:ext cx="174691" cy="87346"/>
              </a:xfrm>
              <a:custGeom>
                <a:avLst/>
                <a:gdLst/>
                <a:ahLst/>
                <a:cxnLst/>
                <a:rect l="0" t="0" r="r" b="b"/>
                <a:pathLst>
                  <a:path w="191" h="95" fill="none">
                    <a:moveTo>
                      <a:pt x="0" y="95"/>
                    </a:moveTo>
                    <a:lnTo>
                      <a:pt x="191" y="0"/>
                    </a:lnTo>
                  </a:path>
                </a:pathLst>
              </a:custGeom>
              <a:noFill/>
              <a:ln w="27295" cap="rnd">
                <a:solidFill>
                  <a:srgbClr val="FFFFFF"/>
                </a:solidFill>
                <a:round/>
              </a:ln>
            </p:spPr>
          </p:sp>
          <p:sp>
            <p:nvSpPr>
              <p:cNvPr id="81" name="Forma 106"/>
              <p:cNvSpPr/>
              <p:nvPr/>
            </p:nvSpPr>
            <p:spPr>
              <a:xfrm>
                <a:off x="9333734" y="4367314"/>
                <a:ext cx="109121" cy="10912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2" name="Forma 107"/>
              <p:cNvSpPr/>
              <p:nvPr/>
            </p:nvSpPr>
            <p:spPr>
              <a:xfrm>
                <a:off x="10512901" y="4367314"/>
                <a:ext cx="109121" cy="10912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3" name="Forma 108"/>
              <p:cNvSpPr/>
              <p:nvPr/>
            </p:nvSpPr>
            <p:spPr>
              <a:xfrm>
                <a:off x="9671513" y="4312037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4" name="Forma 109"/>
              <p:cNvSpPr/>
              <p:nvPr/>
            </p:nvSpPr>
            <p:spPr>
              <a:xfrm>
                <a:off x="9889877" y="4421220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5" name="Forma 110"/>
              <p:cNvSpPr/>
              <p:nvPr/>
            </p:nvSpPr>
            <p:spPr>
              <a:xfrm>
                <a:off x="10108242" y="4312037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6" name="Forma 111"/>
              <p:cNvSpPr/>
              <p:nvPr/>
            </p:nvSpPr>
            <p:spPr>
              <a:xfrm>
                <a:off x="10108242" y="4071837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7" name="Forma 112"/>
              <p:cNvSpPr/>
              <p:nvPr/>
            </p:nvSpPr>
            <p:spPr>
              <a:xfrm>
                <a:off x="9889877" y="3962655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8" name="Forma 113"/>
              <p:cNvSpPr/>
              <p:nvPr/>
            </p:nvSpPr>
            <p:spPr>
              <a:xfrm>
                <a:off x="9671513" y="4071837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9" name="Forma 114"/>
              <p:cNvSpPr/>
              <p:nvPr/>
            </p:nvSpPr>
            <p:spPr>
              <a:xfrm>
                <a:off x="9474986" y="4421220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0" name="Forma 115"/>
              <p:cNvSpPr/>
              <p:nvPr/>
            </p:nvSpPr>
            <p:spPr>
              <a:xfrm>
                <a:off x="9889877" y="4661420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1" name="Forma 116"/>
              <p:cNvSpPr/>
              <p:nvPr/>
            </p:nvSpPr>
            <p:spPr>
              <a:xfrm>
                <a:off x="10304769" y="4421220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2" name="Forma 117"/>
              <p:cNvSpPr/>
              <p:nvPr/>
            </p:nvSpPr>
            <p:spPr>
              <a:xfrm>
                <a:off x="9474986" y="3940818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3" name="Forma 118"/>
              <p:cNvSpPr/>
              <p:nvPr/>
            </p:nvSpPr>
            <p:spPr>
              <a:xfrm>
                <a:off x="9278458" y="4050000"/>
                <a:ext cx="176002" cy="176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</p:grpSp>
      <p:sp>
        <p:nvSpPr>
          <p:cNvPr id="94" name="Nota anexo"/>
          <p:cNvSpPr/>
          <p:nvPr/>
        </p:nvSpPr>
        <p:spPr>
          <a:xfrm>
            <a:off x="8549640" y="5257800"/>
            <a:ext cx="3383280" cy="11887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Todos se leen con 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variabilidad biológica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 mente.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VALORES DE REFERENCIA FRECUENTES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9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6" name="Integración A 1"/>
          <p:cNvGrpSpPr/>
          <p:nvPr/>
        </p:nvGrpSpPr>
        <p:grpSpPr>
          <a:xfrm>
            <a:off x="365760" y="1097280"/>
            <a:ext cx="2313432" cy="2926080"/>
            <a:chOff x="365760" y="1097280"/>
            <a:chExt cx="2313432" cy="2926080"/>
          </a:xfrm>
        </p:grpSpPr>
        <p:sp>
          <p:nvSpPr>
            <p:cNvPr id="7" name="Número 1"/>
            <p:cNvSpPr/>
            <p:nvPr/>
          </p:nvSpPr>
          <p:spPr>
            <a:xfrm>
              <a:off x="1234440" y="109728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65760" y="1645920"/>
              <a:ext cx="2103120" cy="237744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Variable bioquímica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Unidad + valor de referencia + significado clínico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9" name="Flecha 8_2"/>
            <p:cNvSpPr/>
            <p:nvPr/>
          </p:nvSpPr>
          <p:spPr>
            <a:xfrm>
              <a:off x="2487168" y="2834640"/>
              <a:ext cx="192024" cy="9144"/>
            </a:xfrm>
            <a:custGeom>
              <a:avLst/>
              <a:gdLst/>
              <a:ahLst/>
              <a:cxnLst/>
              <a:rect l="0" t="0" r="r" b="b"/>
              <a:pathLst>
                <a:path w="209" h="10" fill="none">
                  <a:moveTo>
                    <a:pt x="0" y="0"/>
                  </a:moveTo>
                  <a:lnTo>
                    <a:pt x="20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0" name="Integración A 2"/>
          <p:cNvGrpSpPr/>
          <p:nvPr/>
        </p:nvGrpSpPr>
        <p:grpSpPr>
          <a:xfrm>
            <a:off x="2697480" y="1097280"/>
            <a:ext cx="2313432" cy="2926080"/>
            <a:chOff x="2697480" y="1097280"/>
            <a:chExt cx="2313432" cy="2926080"/>
          </a:xfrm>
        </p:grpSpPr>
        <p:sp>
          <p:nvSpPr>
            <p:cNvPr id="11" name="Número 2"/>
            <p:cNvSpPr/>
            <p:nvPr/>
          </p:nvSpPr>
          <p:spPr>
            <a:xfrm>
              <a:off x="3566160" y="109728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Forma 12"/>
            <p:cNvSpPr/>
            <p:nvPr/>
          </p:nvSpPr>
          <p:spPr>
            <a:xfrm>
              <a:off x="2697480" y="1645920"/>
              <a:ext cx="2103120" cy="2377440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Muestra correcta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Suero o plasma según el analito; cuidado con el anticoagulante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3" name="Flecha 13_2"/>
            <p:cNvSpPr/>
            <p:nvPr/>
          </p:nvSpPr>
          <p:spPr>
            <a:xfrm>
              <a:off x="4818888" y="2834640"/>
              <a:ext cx="192024" cy="9144"/>
            </a:xfrm>
            <a:custGeom>
              <a:avLst/>
              <a:gdLst/>
              <a:ahLst/>
              <a:cxnLst/>
              <a:rect l="0" t="0" r="r" b="b"/>
              <a:pathLst>
                <a:path w="209" h="10" fill="none">
                  <a:moveTo>
                    <a:pt x="0" y="0"/>
                  </a:moveTo>
                  <a:lnTo>
                    <a:pt x="20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4" name="Integración A 3"/>
          <p:cNvGrpSpPr/>
          <p:nvPr/>
        </p:nvGrpSpPr>
        <p:grpSpPr>
          <a:xfrm>
            <a:off x="5029200" y="1097280"/>
            <a:ext cx="2313432" cy="2926080"/>
            <a:chOff x="5029200" y="1097280"/>
            <a:chExt cx="2313432" cy="2926080"/>
          </a:xfrm>
        </p:grpSpPr>
        <p:sp>
          <p:nvSpPr>
            <p:cNvPr id="15" name="Número 3"/>
            <p:cNvSpPr/>
            <p:nvPr/>
          </p:nvSpPr>
          <p:spPr>
            <a:xfrm>
              <a:off x="5897880" y="109728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7"/>
            <p:cNvSpPr/>
            <p:nvPr/>
          </p:nvSpPr>
          <p:spPr>
            <a:xfrm>
              <a:off x="5029200" y="1645920"/>
              <a:ext cx="2103120" cy="237744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Medición confiable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Precisión, exactitud, control interno y externo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7" name="Flecha 18_2"/>
            <p:cNvSpPr/>
            <p:nvPr/>
          </p:nvSpPr>
          <p:spPr>
            <a:xfrm>
              <a:off x="7150608" y="2834640"/>
              <a:ext cx="192024" cy="9144"/>
            </a:xfrm>
            <a:custGeom>
              <a:avLst/>
              <a:gdLst/>
              <a:ahLst/>
              <a:cxnLst/>
              <a:rect l="0" t="0" r="r" b="b"/>
              <a:pathLst>
                <a:path w="209" h="10" fill="none">
                  <a:moveTo>
                    <a:pt x="0" y="0"/>
                  </a:moveTo>
                  <a:lnTo>
                    <a:pt x="20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8" name="Integración A 4"/>
          <p:cNvGrpSpPr/>
          <p:nvPr/>
        </p:nvGrpSpPr>
        <p:grpSpPr>
          <a:xfrm>
            <a:off x="7360920" y="1097280"/>
            <a:ext cx="2313432" cy="2926080"/>
            <a:chOff x="7360920" y="1097280"/>
            <a:chExt cx="2313432" cy="2926080"/>
          </a:xfrm>
        </p:grpSpPr>
        <p:sp>
          <p:nvSpPr>
            <p:cNvPr id="19" name="Número 4"/>
            <p:cNvSpPr/>
            <p:nvPr/>
          </p:nvSpPr>
          <p:spPr>
            <a:xfrm>
              <a:off x="8229600" y="109728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orma 22"/>
            <p:cNvSpPr/>
            <p:nvPr/>
          </p:nvSpPr>
          <p:spPr>
            <a:xfrm>
              <a:off x="7360920" y="1645920"/>
              <a:ext cx="2103120" cy="237744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Desempeño de la prueba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Sensibilidad, especificidad, VPP y VPN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1" name="Flecha 23_2"/>
            <p:cNvSpPr/>
            <p:nvPr/>
          </p:nvSpPr>
          <p:spPr>
            <a:xfrm>
              <a:off x="9482328" y="2834640"/>
              <a:ext cx="192024" cy="9144"/>
            </a:xfrm>
            <a:custGeom>
              <a:avLst/>
              <a:gdLst/>
              <a:ahLst/>
              <a:cxnLst/>
              <a:rect l="0" t="0" r="r" b="b"/>
              <a:pathLst>
                <a:path w="209" h="10" fill="none">
                  <a:moveTo>
                    <a:pt x="0" y="0"/>
                  </a:moveTo>
                  <a:lnTo>
                    <a:pt x="20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22" name="Integración A 5"/>
          <p:cNvGrpSpPr/>
          <p:nvPr/>
        </p:nvGrpSpPr>
        <p:grpSpPr>
          <a:xfrm>
            <a:off x="9692640" y="1097280"/>
            <a:ext cx="2103120" cy="2926080"/>
            <a:chOff x="9692640" y="1097280"/>
            <a:chExt cx="2103120" cy="2926080"/>
          </a:xfrm>
        </p:grpSpPr>
        <p:sp>
          <p:nvSpPr>
            <p:cNvPr id="23" name="Número 5"/>
            <p:cNvSpPr/>
            <p:nvPr/>
          </p:nvSpPr>
          <p:spPr>
            <a:xfrm>
              <a:off x="10561320" y="1097280"/>
              <a:ext cx="420624" cy="420624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4" name="Forma 27"/>
            <p:cNvSpPr/>
            <p:nvPr/>
          </p:nvSpPr>
          <p:spPr>
            <a:xfrm>
              <a:off x="9692640" y="1645920"/>
              <a:ext cx="2103120" cy="2377440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Intervalo de referencia + factores biológicos + clínica</a:t>
              </a:r>
              <a:endParaRPr lang="es-AR" sz="1950" dirty="0">
                <a:latin typeface="Calibri"/>
              </a:endParaRPr>
            </a:p>
          </p:txBody>
        </p:sp>
      </p:grpSp>
      <p:grpSp>
        <p:nvGrpSpPr>
          <p:cNvPr id="25" name="Ilustración integración A"/>
          <p:cNvGrpSpPr/>
          <p:nvPr/>
        </p:nvGrpSpPr>
        <p:grpSpPr>
          <a:xfrm>
            <a:off x="603504" y="4343400"/>
            <a:ext cx="6894576" cy="1920240"/>
            <a:chOff x="603504" y="4343400"/>
            <a:chExt cx="6894576" cy="1920240"/>
          </a:xfrm>
        </p:grpSpPr>
        <p:grpSp>
          <p:nvGrpSpPr>
            <p:cNvPr id="26" name="Tubo int"/>
            <p:cNvGrpSpPr/>
            <p:nvPr/>
          </p:nvGrpSpPr>
          <p:grpSpPr>
            <a:xfrm>
              <a:off x="603504" y="4343400"/>
              <a:ext cx="530352" cy="1920240"/>
              <a:chOff x="603504" y="4343400"/>
              <a:chExt cx="530352" cy="1920240"/>
            </a:xfrm>
          </p:grpSpPr>
          <p:sp>
            <p:nvSpPr>
              <p:cNvPr id="27" name="Vidrio"/>
              <p:cNvSpPr/>
              <p:nvPr/>
            </p:nvSpPr>
            <p:spPr>
              <a:xfrm>
                <a:off x="640080" y="4535424"/>
                <a:ext cx="457200" cy="172821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8" name="Tapón"/>
              <p:cNvSpPr/>
              <p:nvPr/>
            </p:nvSpPr>
            <p:spPr>
              <a:xfrm>
                <a:off x="603504" y="4343400"/>
                <a:ext cx="530352" cy="230429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29" name="Brillo"/>
              <p:cNvSpPr/>
              <p:nvPr/>
            </p:nvSpPr>
            <p:spPr>
              <a:xfrm>
                <a:off x="704088" y="4650638"/>
                <a:ext cx="54864" cy="134416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30" name="ri"/>
            <p:cNvSpPr/>
            <p:nvPr/>
          </p:nvSpPr>
          <p:spPr>
            <a:xfrm>
              <a:off x="662940" y="5547775"/>
              <a:ext cx="411480" cy="67746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31" name="bi"/>
            <p:cNvSpPr/>
            <p:nvPr/>
          </p:nvSpPr>
          <p:spPr>
            <a:xfrm>
              <a:off x="662940" y="5467124"/>
              <a:ext cx="411480" cy="80650"/>
            </a:xfrm>
            <a:prstGeom prst="rect">
              <a:avLst/>
            </a:prstGeom>
            <a:gradFill rotWithShape="1">
              <a:gsLst>
                <a:gs pos="0">
                  <a:srgbClr val="F5F6F6"/>
                </a:gs>
                <a:gs pos="100000">
                  <a:srgbClr val="F2F3F4"/>
                </a:gs>
              </a:gsLst>
              <a:lin ang="5400000" scaled="0"/>
            </a:gradFill>
            <a:ln w="9525" cap="rnd">
              <a:solidFill>
                <a:srgbClr val="9D9D9E"/>
              </a:solidFill>
              <a:round/>
            </a:ln>
          </p:spPr>
        </p:sp>
        <p:sp>
          <p:nvSpPr>
            <p:cNvPr id="32" name="pi"/>
            <p:cNvSpPr/>
            <p:nvPr/>
          </p:nvSpPr>
          <p:spPr>
            <a:xfrm>
              <a:off x="662940" y="4902574"/>
              <a:ext cx="411480" cy="564551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grpSp>
          <p:nvGrpSpPr>
            <p:cNvPr id="33" name="Centrífuga int"/>
            <p:cNvGrpSpPr/>
            <p:nvPr/>
          </p:nvGrpSpPr>
          <p:grpSpPr>
            <a:xfrm>
              <a:off x="1353312" y="4480560"/>
              <a:ext cx="1591056" cy="1604772"/>
              <a:chOff x="1353312" y="4480560"/>
              <a:chExt cx="1591056" cy="1604772"/>
            </a:xfrm>
          </p:grpSpPr>
          <p:sp>
            <p:nvSpPr>
              <p:cNvPr id="34" name="Forma 37"/>
              <p:cNvSpPr/>
              <p:nvPr/>
            </p:nvSpPr>
            <p:spPr>
              <a:xfrm>
                <a:off x="1353312" y="5234940"/>
                <a:ext cx="1591056" cy="850392"/>
              </a:xfrm>
              <a:prstGeom prst="roundRect">
                <a:avLst>
                  <a:gd name="adj" fmla="val 12000"/>
                </a:avLst>
              </a:prstGeom>
              <a:gradFill rotWithShape="1">
                <a:gsLst>
                  <a:gs pos="0">
                    <a:srgbClr val="CFD8DC"/>
                  </a:gs>
                  <a:gs pos="55000">
                    <a:srgbClr val="B0BEC5"/>
                  </a:gs>
                  <a:gs pos="100000">
                    <a:srgbClr val="7B8589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37474F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5" name="Rotor"/>
              <p:cNvSpPr/>
              <p:nvPr/>
            </p:nvSpPr>
            <p:spPr>
              <a:xfrm>
                <a:off x="1463040" y="4480560"/>
                <a:ext cx="1371600" cy="1371600"/>
              </a:xfrm>
              <a:prstGeom prst="ellipse">
                <a:avLst/>
              </a:prstGeom>
              <a:gradFill rotWithShape="1">
                <a:gsLst>
                  <a:gs pos="0">
                    <a:srgbClr val="F1F3F5"/>
                  </a:gs>
                  <a:gs pos="55000">
                    <a:srgbClr val="ECEFF1"/>
                  </a:gs>
                  <a:gs pos="100000">
                    <a:srgbClr val="B1B3B4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37474F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6" name="Forma 39"/>
              <p:cNvSpPr/>
              <p:nvPr/>
            </p:nvSpPr>
            <p:spPr>
              <a:xfrm>
                <a:off x="1984248" y="5001768"/>
                <a:ext cx="329184" cy="329184"/>
              </a:xfrm>
              <a:prstGeom prst="ellipse">
                <a:avLst/>
              </a:prstGeom>
              <a:gradFill rotWithShape="1">
                <a:gsLst>
                  <a:gs pos="0">
                    <a:srgbClr val="A0B1B9"/>
                  </a:gs>
                  <a:gs pos="55000">
                    <a:srgbClr val="78909C"/>
                  </a:gs>
                  <a:gs pos="100000">
                    <a:srgbClr val="54646D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263238"/>
                </a:solidFill>
                <a:round/>
              </a:ln>
            </p:spPr>
          </p:sp>
          <p:sp>
            <p:nvSpPr>
              <p:cNvPr id="37" name="Forma 40"/>
              <p:cNvSpPr/>
              <p:nvPr/>
            </p:nvSpPr>
            <p:spPr>
              <a:xfrm>
                <a:off x="2491740" y="5070348"/>
                <a:ext cx="192024" cy="192024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38" name="Forma 41"/>
              <p:cNvSpPr/>
              <p:nvPr/>
            </p:nvSpPr>
            <p:spPr>
              <a:xfrm>
                <a:off x="2272284" y="5450457"/>
                <a:ext cx="192024" cy="192024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39" name="Forma 42"/>
              <p:cNvSpPr/>
              <p:nvPr/>
            </p:nvSpPr>
            <p:spPr>
              <a:xfrm>
                <a:off x="1833372" y="5450457"/>
                <a:ext cx="192024" cy="192024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40" name="Forma 43"/>
              <p:cNvSpPr/>
              <p:nvPr/>
            </p:nvSpPr>
            <p:spPr>
              <a:xfrm>
                <a:off x="1613916" y="5070348"/>
                <a:ext cx="192024" cy="192024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41" name="Forma 44"/>
              <p:cNvSpPr/>
              <p:nvPr/>
            </p:nvSpPr>
            <p:spPr>
              <a:xfrm>
                <a:off x="1833372" y="4690239"/>
                <a:ext cx="192024" cy="192024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42" name="Forma 45"/>
              <p:cNvSpPr/>
              <p:nvPr/>
            </p:nvSpPr>
            <p:spPr>
              <a:xfrm>
                <a:off x="2272284" y="4690239"/>
                <a:ext cx="192024" cy="192024"/>
              </a:xfrm>
              <a:prstGeom prst="ellipse">
                <a:avLst/>
              </a:prstGeom>
              <a:gradFill rotWithShape="1">
                <a:gsLst>
                  <a:gs pos="0">
                    <a:srgbClr val="D2746A"/>
                  </a:gs>
                  <a:gs pos="55000">
                    <a:srgbClr val="C0392B"/>
                  </a:gs>
                  <a:gs pos="100000">
                    <a:srgbClr val="86271E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641E16"/>
                </a:solidFill>
                <a:round/>
              </a:ln>
            </p:spPr>
          </p:sp>
          <p:sp>
            <p:nvSpPr>
              <p:cNvPr id="43" name="Forma 46"/>
              <p:cNvSpPr/>
              <p:nvPr/>
            </p:nvSpPr>
            <p:spPr>
              <a:xfrm>
                <a:off x="1805940" y="5852160"/>
                <a:ext cx="685800" cy="137160"/>
              </a:xfrm>
              <a:prstGeom prst="roundRect">
                <a:avLst>
                  <a:gd name="adj" fmla="val 50000"/>
                </a:avLst>
              </a:prstGeom>
              <a:solidFill>
                <a:srgbClr val="263238"/>
              </a:solidFill>
              <a:ln>
                <a:noFill/>
              </a:ln>
            </p:spPr>
          </p:sp>
        </p:grpSp>
        <p:grpSp>
          <p:nvGrpSpPr>
            <p:cNvPr id="44" name="Diana int"/>
            <p:cNvGrpSpPr/>
            <p:nvPr/>
          </p:nvGrpSpPr>
          <p:grpSpPr>
            <a:xfrm>
              <a:off x="3291840" y="4434840"/>
              <a:ext cx="1554480" cy="1554480"/>
              <a:chOff x="3291840" y="4434840"/>
              <a:chExt cx="1554480" cy="1554480"/>
            </a:xfrm>
          </p:grpSpPr>
          <p:sp>
            <p:nvSpPr>
              <p:cNvPr id="45" name="Forma 48"/>
              <p:cNvSpPr/>
              <p:nvPr/>
            </p:nvSpPr>
            <p:spPr>
              <a:xfrm>
                <a:off x="3291840" y="4434840"/>
                <a:ext cx="1554480" cy="1554480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46" name="Forma 49"/>
              <p:cNvSpPr/>
              <p:nvPr/>
            </p:nvSpPr>
            <p:spPr>
              <a:xfrm>
                <a:off x="3447288" y="4590288"/>
                <a:ext cx="1243584" cy="1243584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47" name="Forma 50"/>
              <p:cNvSpPr/>
              <p:nvPr/>
            </p:nvSpPr>
            <p:spPr>
              <a:xfrm>
                <a:off x="3602736" y="4745736"/>
                <a:ext cx="932688" cy="932688"/>
              </a:xfrm>
              <a:prstGeom prst="ellipse">
                <a:avLst/>
              </a:prstGeom>
              <a:solidFill>
                <a:srgbClr val="FFFFFF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48" name="Forma 51"/>
              <p:cNvSpPr/>
              <p:nvPr/>
            </p:nvSpPr>
            <p:spPr>
              <a:xfrm>
                <a:off x="3758184" y="4901184"/>
                <a:ext cx="621792" cy="621792"/>
              </a:xfrm>
              <a:prstGeom prst="ellipse">
                <a:avLst/>
              </a:prstGeom>
              <a:solidFill>
                <a:srgbClr val="D6EAF8"/>
              </a:solidFill>
              <a:ln w="15875" cap="rnd">
                <a:solidFill>
                  <a:srgbClr val="1E1E1E"/>
                </a:solidFill>
                <a:round/>
              </a:ln>
            </p:spPr>
          </p:sp>
          <p:sp>
            <p:nvSpPr>
              <p:cNvPr id="49" name="Forma 52"/>
              <p:cNvSpPr/>
              <p:nvPr/>
            </p:nvSpPr>
            <p:spPr>
              <a:xfrm>
                <a:off x="3913632" y="5056632"/>
                <a:ext cx="310896" cy="310896"/>
              </a:xfrm>
              <a:prstGeom prst="ellipse">
                <a:avLst/>
              </a:prstGeom>
              <a:solidFill>
                <a:srgbClr val="C00000"/>
              </a:solidFill>
              <a:ln w="15875" cap="rnd">
                <a:solidFill>
                  <a:srgbClr val="1E1E1E"/>
                </a:solidFill>
                <a:round/>
              </a:ln>
            </p:spPr>
          </p:sp>
        </p:grpSp>
        <p:sp>
          <p:nvSpPr>
            <p:cNvPr id="50" name="Impacto 1"/>
            <p:cNvSpPr/>
            <p:nvPr/>
          </p:nvSpPr>
          <p:spPr>
            <a:xfrm>
              <a:off x="4019245" y="5123383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51" name="Impacto 2"/>
            <p:cNvSpPr/>
            <p:nvPr/>
          </p:nvSpPr>
          <p:spPr>
            <a:xfrm>
              <a:off x="3972611" y="5162245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52" name="Impacto 3"/>
            <p:cNvSpPr/>
            <p:nvPr/>
          </p:nvSpPr>
          <p:spPr>
            <a:xfrm>
              <a:off x="4011473" y="5170018"/>
              <a:ext cx="146304" cy="146304"/>
            </a:xfrm>
            <a:prstGeom prst="ellipse">
              <a:avLst/>
            </a:prstGeom>
            <a:solidFill>
              <a:srgbClr val="1E1E1E"/>
            </a:solidFill>
            <a:ln w="12700" cap="rnd">
              <a:solidFill>
                <a:srgbClr val="FFFFFF"/>
              </a:solidFill>
              <a:round/>
            </a:ln>
          </p:spPr>
        </p:sp>
        <p:sp>
          <p:nvSpPr>
            <p:cNvPr id="53" name="Campana int"/>
            <p:cNvSpPr/>
            <p:nvPr/>
          </p:nvSpPr>
          <p:spPr>
            <a:xfrm>
              <a:off x="5120640" y="4480560"/>
              <a:ext cx="2377440" cy="155448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0" y="953"/>
                  </a:moveTo>
                  <a:cubicBezTo>
                    <a:pt x="3" y="952"/>
                    <a:pt x="17" y="950"/>
                    <a:pt x="25" y="949"/>
                  </a:cubicBezTo>
                  <a:cubicBezTo>
                    <a:pt x="32" y="947"/>
                    <a:pt x="42" y="945"/>
                    <a:pt x="50" y="943"/>
                  </a:cubicBezTo>
                  <a:cubicBezTo>
                    <a:pt x="57" y="940"/>
                    <a:pt x="67" y="937"/>
                    <a:pt x="75" y="934"/>
                  </a:cubicBezTo>
                  <a:cubicBezTo>
                    <a:pt x="82" y="930"/>
                    <a:pt x="92" y="925"/>
                    <a:pt x="100" y="921"/>
                  </a:cubicBezTo>
                  <a:cubicBezTo>
                    <a:pt x="107" y="916"/>
                    <a:pt x="117" y="909"/>
                    <a:pt x="125" y="903"/>
                  </a:cubicBezTo>
                  <a:cubicBezTo>
                    <a:pt x="132" y="896"/>
                    <a:pt x="142" y="887"/>
                    <a:pt x="150" y="879"/>
                  </a:cubicBezTo>
                  <a:cubicBezTo>
                    <a:pt x="157" y="870"/>
                    <a:pt x="167" y="858"/>
                    <a:pt x="175" y="848"/>
                  </a:cubicBezTo>
                  <a:cubicBezTo>
                    <a:pt x="182" y="837"/>
                    <a:pt x="192" y="821"/>
                    <a:pt x="200" y="808"/>
                  </a:cubicBezTo>
                  <a:cubicBezTo>
                    <a:pt x="207" y="794"/>
                    <a:pt x="217" y="775"/>
                    <a:pt x="225" y="759"/>
                  </a:cubicBezTo>
                  <a:cubicBezTo>
                    <a:pt x="232" y="742"/>
                    <a:pt x="242" y="719"/>
                    <a:pt x="250" y="700"/>
                  </a:cubicBezTo>
                  <a:cubicBezTo>
                    <a:pt x="257" y="680"/>
                    <a:pt x="267" y="653"/>
                    <a:pt x="275" y="632"/>
                  </a:cubicBezTo>
                  <a:cubicBezTo>
                    <a:pt x="282" y="610"/>
                    <a:pt x="292" y="580"/>
                    <a:pt x="300" y="557"/>
                  </a:cubicBezTo>
                  <a:cubicBezTo>
                    <a:pt x="307" y="533"/>
                    <a:pt x="317" y="500"/>
                    <a:pt x="325" y="476"/>
                  </a:cubicBezTo>
                  <a:cubicBezTo>
                    <a:pt x="332" y="451"/>
                    <a:pt x="342" y="416"/>
                    <a:pt x="350" y="392"/>
                  </a:cubicBezTo>
                  <a:cubicBezTo>
                    <a:pt x="357" y="367"/>
                    <a:pt x="367" y="334"/>
                    <a:pt x="375" y="311"/>
                  </a:cubicBezTo>
                  <a:cubicBezTo>
                    <a:pt x="382" y="287"/>
                    <a:pt x="392" y="257"/>
                    <a:pt x="400" y="236"/>
                  </a:cubicBezTo>
                  <a:cubicBezTo>
                    <a:pt x="407" y="215"/>
                    <a:pt x="417" y="188"/>
                    <a:pt x="425" y="171"/>
                  </a:cubicBezTo>
                  <a:cubicBezTo>
                    <a:pt x="432" y="153"/>
                    <a:pt x="442" y="133"/>
                    <a:pt x="450" y="121"/>
                  </a:cubicBezTo>
                  <a:cubicBezTo>
                    <a:pt x="457" y="108"/>
                    <a:pt x="467" y="96"/>
                    <a:pt x="475" y="90"/>
                  </a:cubicBezTo>
                  <a:cubicBezTo>
                    <a:pt x="482" y="83"/>
                    <a:pt x="492" y="80"/>
                    <a:pt x="500" y="80"/>
                  </a:cubicBezTo>
                  <a:cubicBezTo>
                    <a:pt x="507" y="80"/>
                    <a:pt x="517" y="83"/>
                    <a:pt x="525" y="90"/>
                  </a:cubicBezTo>
                  <a:cubicBezTo>
                    <a:pt x="532" y="96"/>
                    <a:pt x="542" y="108"/>
                    <a:pt x="550" y="121"/>
                  </a:cubicBezTo>
                  <a:cubicBezTo>
                    <a:pt x="557" y="133"/>
                    <a:pt x="567" y="153"/>
                    <a:pt x="575" y="171"/>
                  </a:cubicBezTo>
                  <a:cubicBezTo>
                    <a:pt x="582" y="188"/>
                    <a:pt x="592" y="215"/>
                    <a:pt x="600" y="236"/>
                  </a:cubicBezTo>
                  <a:cubicBezTo>
                    <a:pt x="607" y="257"/>
                    <a:pt x="617" y="287"/>
                    <a:pt x="625" y="311"/>
                  </a:cubicBezTo>
                  <a:cubicBezTo>
                    <a:pt x="632" y="334"/>
                    <a:pt x="642" y="367"/>
                    <a:pt x="650" y="392"/>
                  </a:cubicBezTo>
                  <a:cubicBezTo>
                    <a:pt x="657" y="416"/>
                    <a:pt x="667" y="451"/>
                    <a:pt x="675" y="476"/>
                  </a:cubicBezTo>
                  <a:cubicBezTo>
                    <a:pt x="682" y="500"/>
                    <a:pt x="692" y="533"/>
                    <a:pt x="700" y="557"/>
                  </a:cubicBezTo>
                  <a:cubicBezTo>
                    <a:pt x="707" y="580"/>
                    <a:pt x="717" y="610"/>
                    <a:pt x="725" y="632"/>
                  </a:cubicBezTo>
                  <a:cubicBezTo>
                    <a:pt x="732" y="653"/>
                    <a:pt x="742" y="680"/>
                    <a:pt x="750" y="700"/>
                  </a:cubicBezTo>
                  <a:cubicBezTo>
                    <a:pt x="757" y="719"/>
                    <a:pt x="767" y="742"/>
                    <a:pt x="775" y="759"/>
                  </a:cubicBezTo>
                  <a:cubicBezTo>
                    <a:pt x="782" y="775"/>
                    <a:pt x="792" y="794"/>
                    <a:pt x="800" y="808"/>
                  </a:cubicBezTo>
                  <a:cubicBezTo>
                    <a:pt x="807" y="821"/>
                    <a:pt x="817" y="837"/>
                    <a:pt x="825" y="848"/>
                  </a:cubicBezTo>
                  <a:cubicBezTo>
                    <a:pt x="832" y="858"/>
                    <a:pt x="842" y="870"/>
                    <a:pt x="850" y="879"/>
                  </a:cubicBezTo>
                  <a:cubicBezTo>
                    <a:pt x="857" y="887"/>
                    <a:pt x="867" y="896"/>
                    <a:pt x="875" y="903"/>
                  </a:cubicBezTo>
                  <a:cubicBezTo>
                    <a:pt x="882" y="909"/>
                    <a:pt x="892" y="916"/>
                    <a:pt x="900" y="921"/>
                  </a:cubicBezTo>
                  <a:cubicBezTo>
                    <a:pt x="907" y="925"/>
                    <a:pt x="917" y="930"/>
                    <a:pt x="925" y="934"/>
                  </a:cubicBezTo>
                  <a:cubicBezTo>
                    <a:pt x="932" y="937"/>
                    <a:pt x="942" y="940"/>
                    <a:pt x="950" y="943"/>
                  </a:cubicBezTo>
                  <a:cubicBezTo>
                    <a:pt x="957" y="945"/>
                    <a:pt x="967" y="947"/>
                    <a:pt x="975" y="949"/>
                  </a:cubicBezTo>
                  <a:cubicBezTo>
                    <a:pt x="982" y="950"/>
                    <a:pt x="996" y="952"/>
                    <a:pt x="1000" y="953"/>
                  </a:cubicBezTo>
                </a:path>
              </a:pathLst>
            </a:custGeom>
            <a:noFill/>
            <a:ln w="44450" cap="rnd">
              <a:solidFill>
                <a:srgbClr val="1F3864"/>
              </a:solidFill>
              <a:round/>
            </a:ln>
          </p:spPr>
        </p:sp>
      </p:grpSp>
      <p:sp>
        <p:nvSpPr>
          <p:cNvPr id="54" name="Síntesis integración A"/>
          <p:cNvSpPr/>
          <p:nvPr/>
        </p:nvSpPr>
        <p:spPr>
          <a:xfrm>
            <a:off x="7772400" y="4343400"/>
            <a:ext cx="4023360" cy="210312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dato de laboratorio solo es útil si cada eslabón es correcto: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muestra, método, desempeño e interpretación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 contexto.</a:t>
            </a:r>
            <a:endParaRPr lang="es-AR" sz="20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INTEGRACIÓN A: DE LA VARIABLE A LA INTERPRETACIÓN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814449" y="182880"/>
            <a:ext cx="2102927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 · LABORATORIO</a:t>
            </a:r>
            <a:endParaRPr lang="es-AR" sz="1250" dirty="0">
              <a:latin typeface="Calibri"/>
            </a:endParaRPr>
          </a:p>
        </p:txBody>
      </p:sp>
      <p:sp>
        <p:nvSpPr>
          <p:cNvPr id="5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4" name="Unidad"/>
          <p:cNvSpPr/>
          <p:nvPr/>
        </p:nvSpPr>
        <p:spPr>
          <a:xfrm>
            <a:off x="457200" y="411480"/>
            <a:ext cx="1389334" cy="41910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</a:t>
            </a:r>
            <a:endParaRPr lang="es-AR" sz="2000" dirty="0">
              <a:latin typeface="Calibri"/>
            </a:endParaRPr>
          </a:p>
        </p:txBody>
      </p:sp>
      <p:sp>
        <p:nvSpPr>
          <p:cNvPr id="5" name="Título unidad"/>
          <p:cNvSpPr txBox="1"/>
          <p:nvPr/>
        </p:nvSpPr>
        <p:spPr>
          <a:xfrm>
            <a:off x="365760" y="96012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"/>
              </a:lnSpc>
              <a:spcAft>
                <a:spcPts val="300"/>
              </a:spcAft>
              <a:buNone/>
            </a:pPr>
            <a:r>
              <a:rPr lang="es-AR" sz="3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TERMODINÁMICA, REACCIONES REDOX Y METABOLISMO INTERMEDIO</a:t>
            </a:r>
            <a:endParaRPr lang="es-AR" sz="3400" dirty="0">
              <a:latin typeface="Segoe Print"/>
            </a:endParaRPr>
          </a:p>
        </p:txBody>
      </p:sp>
      <p:sp>
        <p:nvSpPr>
          <p:cNvPr id="6" name="Subtítulo unidad"/>
          <p:cNvSpPr txBox="1"/>
          <p:nvPr/>
        </p:nvSpPr>
        <p:spPr>
          <a:xfrm>
            <a:off x="411480" y="33832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Cómo se transfiere la energía y cómo el piruvato se convierte en acetil-CoA</a:t>
            </a:r>
            <a:endParaRPr lang="es-AR" sz="1800" dirty="0">
              <a:latin typeface="Calibri"/>
            </a:endParaRPr>
          </a:p>
        </p:txBody>
      </p:sp>
      <p:grpSp>
        <p:nvGrpSpPr>
          <p:cNvPr id="7" name="Temario"/>
          <p:cNvGrpSpPr/>
          <p:nvPr/>
        </p:nvGrpSpPr>
        <p:grpSpPr>
          <a:xfrm>
            <a:off x="411480" y="4023360"/>
            <a:ext cx="5486400" cy="2514600"/>
            <a:chOff x="411480" y="4023360"/>
            <a:chExt cx="5486400" cy="2514600"/>
          </a:xfrm>
        </p:grpSpPr>
        <p:sp>
          <p:nvSpPr>
            <p:cNvPr id="8" name="Forma 7"/>
            <p:cNvSpPr/>
            <p:nvPr/>
          </p:nvSpPr>
          <p:spPr>
            <a:xfrm>
              <a:off x="41148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Entalpía, entropía y ΔG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Reacciones acopladas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Sistemas termodinámicos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Óxido-reducción y potencial redox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17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FAD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320040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Catabolismo y anabolismo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Regulación metabólica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Acetil-CoA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PDH y su regulación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0" name="Arte unidad II"/>
          <p:cNvGrpSpPr/>
          <p:nvPr/>
        </p:nvGrpSpPr>
        <p:grpSpPr>
          <a:xfrm>
            <a:off x="6309360" y="457200"/>
            <a:ext cx="5577840" cy="5330079"/>
            <a:chOff x="6309360" y="457200"/>
            <a:chExt cx="5577840" cy="5330079"/>
          </a:xfrm>
        </p:grpSpPr>
        <p:grpSp>
          <p:nvGrpSpPr>
            <p:cNvPr id="11" name="Mitocondria div"/>
            <p:cNvGrpSpPr/>
            <p:nvPr/>
          </p:nvGrpSpPr>
          <p:grpSpPr>
            <a:xfrm>
              <a:off x="6309360" y="457200"/>
              <a:ext cx="5577840" cy="3108960"/>
              <a:chOff x="6309360" y="457200"/>
              <a:chExt cx="5577840" cy="3108960"/>
            </a:xfrm>
          </p:grpSpPr>
          <p:sp>
            <p:nvSpPr>
              <p:cNvPr id="12" name="Membrana externa"/>
              <p:cNvSpPr/>
              <p:nvPr/>
            </p:nvSpPr>
            <p:spPr>
              <a:xfrm>
                <a:off x="6309360" y="457200"/>
                <a:ext cx="5577840" cy="310896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AD7A0"/>
                  </a:gs>
                  <a:gs pos="100000">
                    <a:srgbClr val="EB984E"/>
                  </a:gs>
                </a:gsLst>
                <a:path path="circle">
                  <a:fillToRect l="50000" t="50000" r="50000" b="50000"/>
                </a:path>
              </a:gradFill>
              <a:ln w="38100" cap="rnd">
                <a:solidFill>
                  <a:srgbClr val="784212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3" name="Membrana interna (matriz)"/>
              <p:cNvSpPr/>
              <p:nvPr/>
            </p:nvSpPr>
            <p:spPr>
              <a:xfrm>
                <a:off x="6526987" y="674827"/>
                <a:ext cx="5142586" cy="26737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EF5E7"/>
                  </a:gs>
                  <a:gs pos="100000">
                    <a:srgbClr val="FAD7A0"/>
                  </a:gs>
                </a:gsLst>
                <a:path path="circle">
                  <a:fillToRect l="50000" t="50000" r="50000" b="50000"/>
                </a:path>
              </a:gradFill>
              <a:ln w="44450" cap="rnd">
                <a:solidFill>
                  <a:srgbClr val="A04000"/>
                </a:solidFill>
                <a:round/>
              </a:ln>
            </p:spPr>
          </p:sp>
          <p:sp>
            <p:nvSpPr>
              <p:cNvPr id="14" name="Crestas"/>
              <p:cNvSpPr/>
              <p:nvPr/>
            </p:nvSpPr>
            <p:spPr>
              <a:xfrm>
                <a:off x="6526987" y="674827"/>
                <a:ext cx="5142586" cy="26737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70"/>
                    </a:moveTo>
                    <a:lnTo>
                      <a:pt x="90" y="330"/>
                    </a:lnTo>
                    <a:cubicBezTo>
                      <a:pt x="90" y="380"/>
                      <a:pt x="150" y="380"/>
                      <a:pt x="150" y="330"/>
                    </a:cubicBezTo>
                    <a:lnTo>
                      <a:pt x="150" y="70"/>
                    </a:lnTo>
                  </a:path>
                  <a:path w="1000" h="1000" fill="none">
                    <a:moveTo>
                      <a:pt x="216" y="930"/>
                    </a:moveTo>
                    <a:lnTo>
                      <a:pt x="216" y="670"/>
                    </a:lnTo>
                    <a:cubicBezTo>
                      <a:pt x="216" y="620"/>
                      <a:pt x="276" y="620"/>
                      <a:pt x="276" y="670"/>
                    </a:cubicBezTo>
                    <a:lnTo>
                      <a:pt x="276" y="930"/>
                    </a:lnTo>
                  </a:path>
                  <a:path w="1000" h="1000" fill="none">
                    <a:moveTo>
                      <a:pt x="343" y="70"/>
                    </a:moveTo>
                    <a:lnTo>
                      <a:pt x="343" y="330"/>
                    </a:lnTo>
                    <a:cubicBezTo>
                      <a:pt x="343" y="380"/>
                      <a:pt x="403" y="380"/>
                      <a:pt x="403" y="330"/>
                    </a:cubicBezTo>
                    <a:lnTo>
                      <a:pt x="403" y="70"/>
                    </a:lnTo>
                  </a:path>
                  <a:path w="1000" h="1000" fill="none">
                    <a:moveTo>
                      <a:pt x="470" y="930"/>
                    </a:moveTo>
                    <a:lnTo>
                      <a:pt x="470" y="670"/>
                    </a:lnTo>
                    <a:cubicBezTo>
                      <a:pt x="470" y="620"/>
                      <a:pt x="530" y="620"/>
                      <a:pt x="530" y="670"/>
                    </a:cubicBezTo>
                    <a:lnTo>
                      <a:pt x="530" y="930"/>
                    </a:lnTo>
                  </a:path>
                  <a:path w="1000" h="1000" fill="none">
                    <a:moveTo>
                      <a:pt x="596" y="70"/>
                    </a:moveTo>
                    <a:lnTo>
                      <a:pt x="596" y="330"/>
                    </a:lnTo>
                    <a:cubicBezTo>
                      <a:pt x="596" y="380"/>
                      <a:pt x="656" y="380"/>
                      <a:pt x="656" y="330"/>
                    </a:cubicBezTo>
                    <a:lnTo>
                      <a:pt x="656" y="70"/>
                    </a:lnTo>
                  </a:path>
                  <a:path w="1000" h="1000" fill="none">
                    <a:moveTo>
                      <a:pt x="723" y="930"/>
                    </a:moveTo>
                    <a:lnTo>
                      <a:pt x="723" y="670"/>
                    </a:lnTo>
                    <a:cubicBezTo>
                      <a:pt x="723" y="620"/>
                      <a:pt x="783" y="620"/>
                      <a:pt x="783" y="670"/>
                    </a:cubicBezTo>
                    <a:lnTo>
                      <a:pt x="783" y="930"/>
                    </a:lnTo>
                  </a:path>
                  <a:path w="1000" h="1000" fill="none">
                    <a:moveTo>
                      <a:pt x="850" y="70"/>
                    </a:moveTo>
                    <a:lnTo>
                      <a:pt x="850" y="330"/>
                    </a:lnTo>
                    <a:cubicBezTo>
                      <a:pt x="850" y="380"/>
                      <a:pt x="910" y="380"/>
                      <a:pt x="910" y="330"/>
                    </a:cubicBezTo>
                    <a:lnTo>
                      <a:pt x="910" y="70"/>
                    </a:lnTo>
                  </a:path>
                </a:pathLst>
              </a:custGeom>
              <a:noFill/>
              <a:ln w="38100" cap="rnd">
                <a:solidFill>
                  <a:srgbClr val="A04000"/>
                </a:solidFill>
                <a:round/>
              </a:ln>
            </p:spPr>
          </p:sp>
        </p:grpSp>
        <p:sp>
          <p:nvSpPr>
            <p:cNvPr id="15" name="E1 div"/>
            <p:cNvSpPr/>
            <p:nvPr/>
          </p:nvSpPr>
          <p:spPr>
            <a:xfrm>
              <a:off x="7589520" y="1280160"/>
              <a:ext cx="109728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E2 div"/>
            <p:cNvSpPr/>
            <p:nvPr/>
          </p:nvSpPr>
          <p:spPr>
            <a:xfrm>
              <a:off x="8595360" y="1737360"/>
              <a:ext cx="1188720" cy="10972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910" y="568"/>
                    <a:pt x="915" y="658"/>
                    <a:pt x="885" y="722"/>
                  </a:cubicBezTo>
                  <a:cubicBezTo>
                    <a:pt x="854" y="785"/>
                    <a:pt x="783" y="852"/>
                    <a:pt x="719" y="880"/>
                  </a:cubicBezTo>
                  <a:cubicBezTo>
                    <a:pt x="654" y="907"/>
                    <a:pt x="571" y="889"/>
                    <a:pt x="500" y="886"/>
                  </a:cubicBezTo>
                  <a:cubicBezTo>
                    <a:pt x="428" y="882"/>
                    <a:pt x="355" y="888"/>
                    <a:pt x="291" y="861"/>
                  </a:cubicBezTo>
                  <a:cubicBezTo>
                    <a:pt x="226" y="833"/>
                    <a:pt x="148" y="783"/>
                    <a:pt x="112" y="723"/>
                  </a:cubicBezTo>
                  <a:cubicBezTo>
                    <a:pt x="75" y="662"/>
                    <a:pt x="70" y="574"/>
                    <a:pt x="70" y="500"/>
                  </a:cubicBezTo>
                  <a:cubicBezTo>
                    <a:pt x="69" y="425"/>
                    <a:pt x="75" y="339"/>
                    <a:pt x="110" y="275"/>
                  </a:cubicBezTo>
                  <a:cubicBezTo>
                    <a:pt x="144" y="210"/>
                    <a:pt x="212" y="140"/>
                    <a:pt x="277" y="115"/>
                  </a:cubicBezTo>
                  <a:cubicBezTo>
                    <a:pt x="341" y="89"/>
                    <a:pt x="424" y="122"/>
                    <a:pt x="499" y="122"/>
                  </a:cubicBezTo>
                  <a:cubicBezTo>
                    <a:pt x="573" y="121"/>
                    <a:pt x="669" y="80"/>
                    <a:pt x="723" y="112"/>
                  </a:cubicBezTo>
                  <a:cubicBezTo>
                    <a:pt x="776" y="144"/>
                    <a:pt x="791" y="249"/>
                    <a:pt x="821" y="314"/>
                  </a:cubicBezTo>
                  <a:cubicBezTo>
                    <a:pt x="850" y="378"/>
                    <a:pt x="889" y="432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EDD0"/>
                </a:gs>
                <a:gs pos="55000">
                  <a:srgbClr val="82E0AA"/>
                </a:gs>
                <a:gs pos="100000">
                  <a:srgbClr val="61A87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17055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7" name="E3 div"/>
            <p:cNvSpPr/>
            <p:nvPr/>
          </p:nvSpPr>
          <p:spPr>
            <a:xfrm>
              <a:off x="9692640" y="1280160"/>
              <a:ext cx="109728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49" y="500"/>
                  </a:moveTo>
                  <a:cubicBezTo>
                    <a:pt x="938" y="573"/>
                    <a:pt x="884" y="634"/>
                    <a:pt x="848" y="701"/>
                  </a:cubicBezTo>
                  <a:cubicBezTo>
                    <a:pt x="811" y="767"/>
                    <a:pt x="790" y="865"/>
                    <a:pt x="732" y="901"/>
                  </a:cubicBezTo>
                  <a:cubicBezTo>
                    <a:pt x="674" y="936"/>
                    <a:pt x="578" y="914"/>
                    <a:pt x="500" y="915"/>
                  </a:cubicBezTo>
                  <a:cubicBezTo>
                    <a:pt x="422" y="916"/>
                    <a:pt x="330" y="938"/>
                    <a:pt x="264" y="907"/>
                  </a:cubicBezTo>
                  <a:cubicBezTo>
                    <a:pt x="197" y="876"/>
                    <a:pt x="143" y="796"/>
                    <a:pt x="103" y="729"/>
                  </a:cubicBezTo>
                  <a:cubicBezTo>
                    <a:pt x="62" y="661"/>
                    <a:pt x="23" y="576"/>
                    <a:pt x="23" y="500"/>
                  </a:cubicBezTo>
                  <a:cubicBezTo>
                    <a:pt x="22" y="423"/>
                    <a:pt x="56" y="333"/>
                    <a:pt x="98" y="268"/>
                  </a:cubicBezTo>
                  <a:cubicBezTo>
                    <a:pt x="139" y="202"/>
                    <a:pt x="206" y="141"/>
                    <a:pt x="273" y="107"/>
                  </a:cubicBezTo>
                  <a:cubicBezTo>
                    <a:pt x="339" y="72"/>
                    <a:pt x="430" y="51"/>
                    <a:pt x="499" y="63"/>
                  </a:cubicBezTo>
                  <a:cubicBezTo>
                    <a:pt x="567" y="74"/>
                    <a:pt x="617" y="143"/>
                    <a:pt x="686" y="176"/>
                  </a:cubicBezTo>
                  <a:cubicBezTo>
                    <a:pt x="755" y="209"/>
                    <a:pt x="869" y="207"/>
                    <a:pt x="913" y="261"/>
                  </a:cubicBezTo>
                  <a:cubicBezTo>
                    <a:pt x="956" y="315"/>
                    <a:pt x="959" y="426"/>
                    <a:pt x="949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BDCF2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26074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endParaRPr lang="es-AR" sz="1400" dirty="0">
                <a:latin typeface="Calibri"/>
              </a:endParaRPr>
            </a:p>
          </p:txBody>
        </p:sp>
        <p:grpSp>
          <p:nvGrpSpPr>
            <p:cNvPr id="18" name="Piruvato div"/>
            <p:cNvGrpSpPr/>
            <p:nvPr/>
          </p:nvGrpSpPr>
          <p:grpSpPr>
            <a:xfrm>
              <a:off x="6589990" y="4271121"/>
              <a:ext cx="2081805" cy="1516158"/>
              <a:chOff x="6589990" y="4271121"/>
              <a:chExt cx="2081805" cy="1516158"/>
            </a:xfrm>
          </p:grpSpPr>
          <p:sp>
            <p:nvSpPr>
              <p:cNvPr id="19" name="Flecha 18_2"/>
              <p:cNvSpPr/>
              <p:nvPr/>
            </p:nvSpPr>
            <p:spPr>
              <a:xfrm>
                <a:off x="7589520" y="5083233"/>
                <a:ext cx="567344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620" h="10" fill="none">
                    <a:moveTo>
                      <a:pt x="0" y="0"/>
                    </a:moveTo>
                    <a:lnTo>
                      <a:pt x="620" y="0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20" name="Flecha 20_2"/>
              <p:cNvSpPr/>
              <p:nvPr/>
            </p:nvSpPr>
            <p:spPr>
              <a:xfrm>
                <a:off x="7589520" y="5083233"/>
                <a:ext cx="567344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620" h="10" fill="none">
                    <a:moveTo>
                      <a:pt x="0" y="0"/>
                    </a:moveTo>
                    <a:lnTo>
                      <a:pt x="620" y="0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21" name="Flecha 22_2"/>
              <p:cNvSpPr/>
              <p:nvPr/>
            </p:nvSpPr>
            <p:spPr>
              <a:xfrm>
                <a:off x="7022176" y="5083233"/>
                <a:ext cx="567344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620" h="10" fill="none">
                    <a:moveTo>
                      <a:pt x="620" y="0"/>
                    </a:moveTo>
                    <a:lnTo>
                      <a:pt x="0" y="0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22" name="Flecha 24_2"/>
              <p:cNvSpPr/>
              <p:nvPr/>
            </p:nvSpPr>
            <p:spPr>
              <a:xfrm>
                <a:off x="7022176" y="5083233"/>
                <a:ext cx="567344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620" h="10" fill="none">
                    <a:moveTo>
                      <a:pt x="620" y="0"/>
                    </a:moveTo>
                    <a:lnTo>
                      <a:pt x="0" y="0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23" name="Flecha 26_2"/>
              <p:cNvSpPr/>
              <p:nvPr/>
            </p:nvSpPr>
            <p:spPr>
              <a:xfrm>
                <a:off x="7589520" y="4488873"/>
                <a:ext cx="9144" cy="594360"/>
              </a:xfrm>
              <a:custGeom>
                <a:avLst/>
                <a:gdLst/>
                <a:ahLst/>
                <a:cxnLst/>
                <a:rect l="0" t="0" r="r" b="b"/>
                <a:pathLst>
                  <a:path w="10" h="650" fill="none">
                    <a:moveTo>
                      <a:pt x="0" y="650"/>
                    </a:moveTo>
                    <a:lnTo>
                      <a:pt x="0" y="0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24" name="Flecha 28_2"/>
              <p:cNvSpPr/>
              <p:nvPr/>
            </p:nvSpPr>
            <p:spPr>
              <a:xfrm>
                <a:off x="7589520" y="4488873"/>
                <a:ext cx="9144" cy="594360"/>
              </a:xfrm>
              <a:custGeom>
                <a:avLst/>
                <a:gdLst/>
                <a:ahLst/>
                <a:cxnLst/>
                <a:rect l="0" t="0" r="r" b="b"/>
                <a:pathLst>
                  <a:path w="10" h="650" fill="none">
                    <a:moveTo>
                      <a:pt x="0" y="650"/>
                    </a:moveTo>
                    <a:lnTo>
                      <a:pt x="0" y="0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25" name="Flecha 30_2"/>
              <p:cNvSpPr/>
              <p:nvPr/>
            </p:nvSpPr>
            <p:spPr>
              <a:xfrm>
                <a:off x="8156864" y="4596938"/>
                <a:ext cx="297180" cy="486295"/>
              </a:xfrm>
              <a:custGeom>
                <a:avLst/>
                <a:gdLst/>
                <a:ahLst/>
                <a:cxnLst/>
                <a:rect l="0" t="0" r="r" b="b"/>
                <a:pathLst>
                  <a:path w="324" h="531" fill="none">
                    <a:moveTo>
                      <a:pt x="0" y="531"/>
                    </a:moveTo>
                    <a:lnTo>
                      <a:pt x="324" y="0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26" name="Flecha 32_2"/>
              <p:cNvSpPr/>
              <p:nvPr/>
            </p:nvSpPr>
            <p:spPr>
              <a:xfrm>
                <a:off x="8156864" y="4596938"/>
                <a:ext cx="297180" cy="486295"/>
              </a:xfrm>
              <a:custGeom>
                <a:avLst/>
                <a:gdLst/>
                <a:ahLst/>
                <a:cxnLst/>
                <a:rect l="0" t="0" r="r" b="b"/>
                <a:pathLst>
                  <a:path w="324" h="531" fill="none">
                    <a:moveTo>
                      <a:pt x="0" y="531"/>
                    </a:moveTo>
                    <a:lnTo>
                      <a:pt x="324" y="0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27" name="Flecha 34_2"/>
              <p:cNvSpPr/>
              <p:nvPr/>
            </p:nvSpPr>
            <p:spPr>
              <a:xfrm>
                <a:off x="8156864" y="5083233"/>
                <a:ext cx="297180" cy="486295"/>
              </a:xfrm>
              <a:custGeom>
                <a:avLst/>
                <a:gdLst/>
                <a:ahLst/>
                <a:cxnLst/>
                <a:rect l="0" t="0" r="r" b="b"/>
                <a:pathLst>
                  <a:path w="324" h="531" fill="none">
                    <a:moveTo>
                      <a:pt x="0" y="0"/>
                    </a:moveTo>
                    <a:lnTo>
                      <a:pt x="324" y="531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28" name="Flecha 36_2"/>
              <p:cNvSpPr/>
              <p:nvPr/>
            </p:nvSpPr>
            <p:spPr>
              <a:xfrm>
                <a:off x="8156864" y="5083233"/>
                <a:ext cx="297180" cy="486295"/>
              </a:xfrm>
              <a:custGeom>
                <a:avLst/>
                <a:gdLst/>
                <a:ahLst/>
                <a:cxnLst/>
                <a:rect l="0" t="0" r="r" b="b"/>
                <a:pathLst>
                  <a:path w="324" h="531" fill="none">
                    <a:moveTo>
                      <a:pt x="0" y="0"/>
                    </a:moveTo>
                    <a:lnTo>
                      <a:pt x="324" y="531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29" name="Flecha 38_2"/>
              <p:cNvSpPr/>
              <p:nvPr/>
            </p:nvSpPr>
            <p:spPr>
              <a:xfrm>
                <a:off x="6724996" y="5083233"/>
                <a:ext cx="297180" cy="432262"/>
              </a:xfrm>
              <a:custGeom>
                <a:avLst/>
                <a:gdLst/>
                <a:ahLst/>
                <a:cxnLst/>
                <a:rect l="0" t="0" r="r" b="b"/>
                <a:pathLst>
                  <a:path w="325" h="472" fill="none">
                    <a:moveTo>
                      <a:pt x="325" y="0"/>
                    </a:moveTo>
                    <a:lnTo>
                      <a:pt x="0" y="472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30" name="Flecha 40_2"/>
              <p:cNvSpPr/>
              <p:nvPr/>
            </p:nvSpPr>
            <p:spPr>
              <a:xfrm>
                <a:off x="6724996" y="5083233"/>
                <a:ext cx="297180" cy="432262"/>
              </a:xfrm>
              <a:custGeom>
                <a:avLst/>
                <a:gdLst/>
                <a:ahLst/>
                <a:cxnLst/>
                <a:rect l="0" t="0" r="r" b="b"/>
                <a:pathLst>
                  <a:path w="325" h="472" fill="none">
                    <a:moveTo>
                      <a:pt x="325" y="0"/>
                    </a:moveTo>
                    <a:lnTo>
                      <a:pt x="0" y="472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31" name="Flecha 42_2"/>
              <p:cNvSpPr/>
              <p:nvPr/>
            </p:nvSpPr>
            <p:spPr>
              <a:xfrm>
                <a:off x="6724996" y="4650971"/>
                <a:ext cx="297180" cy="432262"/>
              </a:xfrm>
              <a:custGeom>
                <a:avLst/>
                <a:gdLst/>
                <a:ahLst/>
                <a:cxnLst/>
                <a:rect l="0" t="0" r="r" b="b"/>
                <a:pathLst>
                  <a:path w="325" h="472" fill="none">
                    <a:moveTo>
                      <a:pt x="325" y="472"/>
                    </a:moveTo>
                    <a:lnTo>
                      <a:pt x="0" y="0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32" name="Flecha 44_2"/>
              <p:cNvSpPr/>
              <p:nvPr/>
            </p:nvSpPr>
            <p:spPr>
              <a:xfrm>
                <a:off x="6724996" y="4650971"/>
                <a:ext cx="297180" cy="432262"/>
              </a:xfrm>
              <a:custGeom>
                <a:avLst/>
                <a:gdLst/>
                <a:ahLst/>
                <a:cxnLst/>
                <a:rect l="0" t="0" r="r" b="b"/>
                <a:pathLst>
                  <a:path w="325" h="472" fill="none">
                    <a:moveTo>
                      <a:pt x="325" y="472"/>
                    </a:moveTo>
                    <a:lnTo>
                      <a:pt x="0" y="0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33" name="Flecha 46_2"/>
              <p:cNvSpPr/>
              <p:nvPr/>
            </p:nvSpPr>
            <p:spPr>
              <a:xfrm>
                <a:off x="6779029" y="5083233"/>
                <a:ext cx="243147" cy="27016"/>
              </a:xfrm>
              <a:custGeom>
                <a:avLst/>
                <a:gdLst/>
                <a:ahLst/>
                <a:cxnLst/>
                <a:rect l="0" t="0" r="r" b="b"/>
                <a:pathLst>
                  <a:path w="265" h="29" fill="none">
                    <a:moveTo>
                      <a:pt x="265" y="0"/>
                    </a:moveTo>
                    <a:lnTo>
                      <a:pt x="0" y="29"/>
                    </a:lnTo>
                  </a:path>
                </a:pathLst>
              </a:custGeom>
              <a:noFill/>
              <a:ln w="120072" cap="rnd">
                <a:solidFill>
                  <a:srgbClr val="B9B9B9"/>
                </a:solidFill>
                <a:round/>
              </a:ln>
            </p:spPr>
          </p:sp>
          <p:sp>
            <p:nvSpPr>
              <p:cNvPr id="34" name="Flecha 48_2"/>
              <p:cNvSpPr/>
              <p:nvPr/>
            </p:nvSpPr>
            <p:spPr>
              <a:xfrm>
                <a:off x="6779029" y="5083233"/>
                <a:ext cx="243147" cy="27016"/>
              </a:xfrm>
              <a:custGeom>
                <a:avLst/>
                <a:gdLst/>
                <a:ahLst/>
                <a:cxnLst/>
                <a:rect l="0" t="0" r="r" b="b"/>
                <a:pathLst>
                  <a:path w="265" h="29" fill="none">
                    <a:moveTo>
                      <a:pt x="265" y="0"/>
                    </a:moveTo>
                    <a:lnTo>
                      <a:pt x="0" y="29"/>
                    </a:lnTo>
                  </a:path>
                </a:pathLst>
              </a:custGeom>
              <a:noFill/>
              <a:ln w="67540" cap="rnd">
                <a:solidFill>
                  <a:srgbClr val="FFFFFF"/>
                </a:solidFill>
                <a:round/>
              </a:ln>
            </p:spPr>
          </p:sp>
          <p:sp>
            <p:nvSpPr>
              <p:cNvPr id="35" name="Forma 50"/>
              <p:cNvSpPr/>
              <p:nvPr/>
            </p:nvSpPr>
            <p:spPr>
              <a:xfrm>
                <a:off x="6589990" y="5380488"/>
                <a:ext cx="270012" cy="27001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6" name="Forma 51"/>
              <p:cNvSpPr/>
              <p:nvPr/>
            </p:nvSpPr>
            <p:spPr>
              <a:xfrm>
                <a:off x="6589990" y="4515965"/>
                <a:ext cx="270012" cy="27001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7" name="Forma 52"/>
              <p:cNvSpPr/>
              <p:nvPr/>
            </p:nvSpPr>
            <p:spPr>
              <a:xfrm>
                <a:off x="6644023" y="4975243"/>
                <a:ext cx="270012" cy="27001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8" name="Forma 53"/>
              <p:cNvSpPr/>
              <p:nvPr/>
            </p:nvSpPr>
            <p:spPr>
              <a:xfrm>
                <a:off x="7371768" y="4865481"/>
                <a:ext cx="435504" cy="4355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9" name="Forma 54"/>
              <p:cNvSpPr/>
              <p:nvPr/>
            </p:nvSpPr>
            <p:spPr>
              <a:xfrm>
                <a:off x="7939112" y="4865481"/>
                <a:ext cx="435504" cy="4355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0" name="Forma 55"/>
              <p:cNvSpPr/>
              <p:nvPr/>
            </p:nvSpPr>
            <p:spPr>
              <a:xfrm>
                <a:off x="6804424" y="4865481"/>
                <a:ext cx="435504" cy="4355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1" name="Forma 56"/>
              <p:cNvSpPr/>
              <p:nvPr/>
            </p:nvSpPr>
            <p:spPr>
              <a:xfrm>
                <a:off x="7371768" y="4271121"/>
                <a:ext cx="435504" cy="4355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2" name="Forma 57"/>
              <p:cNvSpPr/>
              <p:nvPr/>
            </p:nvSpPr>
            <p:spPr>
              <a:xfrm>
                <a:off x="8236292" y="4379186"/>
                <a:ext cx="435504" cy="4355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43" name="Forma 58"/>
              <p:cNvSpPr/>
              <p:nvPr/>
            </p:nvSpPr>
            <p:spPr>
              <a:xfrm>
                <a:off x="8236292" y="5351775"/>
                <a:ext cx="435504" cy="43550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  <p:grpSp>
          <p:nvGrpSpPr>
            <p:cNvPr id="44" name="ATP div"/>
            <p:cNvGrpSpPr/>
            <p:nvPr/>
          </p:nvGrpSpPr>
          <p:grpSpPr>
            <a:xfrm>
              <a:off x="9213653" y="4578864"/>
              <a:ext cx="2512454" cy="992112"/>
              <a:chOff x="9213653" y="4578864"/>
              <a:chExt cx="2512454" cy="992112"/>
            </a:xfrm>
          </p:grpSpPr>
          <p:sp>
            <p:nvSpPr>
              <p:cNvPr id="45" name="Flecha 60_2"/>
              <p:cNvSpPr/>
              <p:nvPr/>
            </p:nvSpPr>
            <p:spPr>
              <a:xfrm>
                <a:off x="10381488" y="5074920"/>
                <a:ext cx="424282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464" h="10" fill="none">
                    <a:moveTo>
                      <a:pt x="0" y="0"/>
                    </a:moveTo>
                    <a:lnTo>
                      <a:pt x="464" y="0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46" name="Flecha 62_2"/>
              <p:cNvSpPr/>
              <p:nvPr/>
            </p:nvSpPr>
            <p:spPr>
              <a:xfrm>
                <a:off x="10381488" y="5074920"/>
                <a:ext cx="424282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464" h="10" fill="none">
                    <a:moveTo>
                      <a:pt x="0" y="0"/>
                    </a:moveTo>
                    <a:lnTo>
                      <a:pt x="464" y="0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47" name="Flecha 64_2"/>
              <p:cNvSpPr/>
              <p:nvPr/>
            </p:nvSpPr>
            <p:spPr>
              <a:xfrm>
                <a:off x="10805770" y="5074920"/>
                <a:ext cx="424282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464" h="10" fill="none">
                    <a:moveTo>
                      <a:pt x="0" y="0"/>
                    </a:moveTo>
                    <a:lnTo>
                      <a:pt x="464" y="0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48" name="Flecha 66_2"/>
              <p:cNvSpPr/>
              <p:nvPr/>
            </p:nvSpPr>
            <p:spPr>
              <a:xfrm>
                <a:off x="10805770" y="5074920"/>
                <a:ext cx="424282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464" h="10" fill="none">
                    <a:moveTo>
                      <a:pt x="0" y="0"/>
                    </a:moveTo>
                    <a:lnTo>
                      <a:pt x="464" y="0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49" name="Flecha 68_2"/>
              <p:cNvSpPr/>
              <p:nvPr/>
            </p:nvSpPr>
            <p:spPr>
              <a:xfrm>
                <a:off x="10381488" y="4721352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386"/>
                    </a:moveTo>
                    <a:lnTo>
                      <a:pt x="0" y="0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50" name="Flecha 70_2"/>
              <p:cNvSpPr/>
              <p:nvPr/>
            </p:nvSpPr>
            <p:spPr>
              <a:xfrm>
                <a:off x="10381488" y="4721352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386"/>
                    </a:moveTo>
                    <a:lnTo>
                      <a:pt x="0" y="0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51" name="Flecha 72_2"/>
              <p:cNvSpPr/>
              <p:nvPr/>
            </p:nvSpPr>
            <p:spPr>
              <a:xfrm>
                <a:off x="10805770" y="4721352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386"/>
                    </a:moveTo>
                    <a:lnTo>
                      <a:pt x="0" y="0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52" name="Flecha 74_2"/>
              <p:cNvSpPr/>
              <p:nvPr/>
            </p:nvSpPr>
            <p:spPr>
              <a:xfrm>
                <a:off x="10805770" y="4721352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386"/>
                    </a:moveTo>
                    <a:lnTo>
                      <a:pt x="0" y="0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53" name="Flecha 76_2"/>
              <p:cNvSpPr/>
              <p:nvPr/>
            </p:nvSpPr>
            <p:spPr>
              <a:xfrm>
                <a:off x="11230051" y="4721352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386"/>
                    </a:moveTo>
                    <a:lnTo>
                      <a:pt x="0" y="0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54" name="Flecha 78_2"/>
              <p:cNvSpPr/>
              <p:nvPr/>
            </p:nvSpPr>
            <p:spPr>
              <a:xfrm>
                <a:off x="11230051" y="4721352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386"/>
                    </a:moveTo>
                    <a:lnTo>
                      <a:pt x="0" y="0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55" name="Flecha 80_2"/>
              <p:cNvSpPr/>
              <p:nvPr/>
            </p:nvSpPr>
            <p:spPr>
              <a:xfrm>
                <a:off x="10381488" y="5074920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0"/>
                    </a:moveTo>
                    <a:lnTo>
                      <a:pt x="0" y="386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56" name="Flecha 82_2"/>
              <p:cNvSpPr/>
              <p:nvPr/>
            </p:nvSpPr>
            <p:spPr>
              <a:xfrm>
                <a:off x="10381488" y="5074920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0"/>
                    </a:moveTo>
                    <a:lnTo>
                      <a:pt x="0" y="386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57" name="Flecha 84_2"/>
              <p:cNvSpPr/>
              <p:nvPr/>
            </p:nvSpPr>
            <p:spPr>
              <a:xfrm>
                <a:off x="10805770" y="5074920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0"/>
                    </a:moveTo>
                    <a:lnTo>
                      <a:pt x="0" y="386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58" name="Flecha 86_2"/>
              <p:cNvSpPr/>
              <p:nvPr/>
            </p:nvSpPr>
            <p:spPr>
              <a:xfrm>
                <a:off x="10805770" y="5074920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0"/>
                    </a:moveTo>
                    <a:lnTo>
                      <a:pt x="0" y="386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59" name="Flecha 88_2"/>
              <p:cNvSpPr/>
              <p:nvPr/>
            </p:nvSpPr>
            <p:spPr>
              <a:xfrm>
                <a:off x="11230051" y="5074920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0"/>
                    </a:moveTo>
                    <a:lnTo>
                      <a:pt x="0" y="386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60" name="Flecha 90_2"/>
              <p:cNvSpPr/>
              <p:nvPr/>
            </p:nvSpPr>
            <p:spPr>
              <a:xfrm>
                <a:off x="11230051" y="5074920"/>
                <a:ext cx="9144" cy="3535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6" fill="none">
                    <a:moveTo>
                      <a:pt x="0" y="0"/>
                    </a:moveTo>
                    <a:lnTo>
                      <a:pt x="0" y="386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61" name="Flecha 92_2"/>
              <p:cNvSpPr/>
              <p:nvPr/>
            </p:nvSpPr>
            <p:spPr>
              <a:xfrm>
                <a:off x="11230051" y="5074920"/>
                <a:ext cx="353568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386" h="10" fill="none">
                    <a:moveTo>
                      <a:pt x="0" y="0"/>
                    </a:moveTo>
                    <a:lnTo>
                      <a:pt x="386" y="0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62" name="Flecha 94_2"/>
              <p:cNvSpPr/>
              <p:nvPr/>
            </p:nvSpPr>
            <p:spPr>
              <a:xfrm>
                <a:off x="11230051" y="5074920"/>
                <a:ext cx="353568" cy="9144"/>
              </a:xfrm>
              <a:custGeom>
                <a:avLst/>
                <a:gdLst/>
                <a:ahLst/>
                <a:cxnLst/>
                <a:rect l="0" t="0" r="r" b="b"/>
                <a:pathLst>
                  <a:path w="386" h="10" fill="none">
                    <a:moveTo>
                      <a:pt x="0" y="0"/>
                    </a:moveTo>
                    <a:lnTo>
                      <a:pt x="386" y="0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63" name="Flecha 96_2"/>
              <p:cNvSpPr/>
              <p:nvPr/>
            </p:nvSpPr>
            <p:spPr>
              <a:xfrm>
                <a:off x="9957206" y="5074920"/>
                <a:ext cx="424282" cy="70714"/>
              </a:xfrm>
              <a:custGeom>
                <a:avLst/>
                <a:gdLst/>
                <a:ahLst/>
                <a:cxnLst/>
                <a:rect l="0" t="0" r="r" b="b"/>
                <a:pathLst>
                  <a:path w="464" h="77" fill="none">
                    <a:moveTo>
                      <a:pt x="464" y="0"/>
                    </a:moveTo>
                    <a:lnTo>
                      <a:pt x="0" y="77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64" name="Flecha 98_2"/>
              <p:cNvSpPr/>
              <p:nvPr/>
            </p:nvSpPr>
            <p:spPr>
              <a:xfrm>
                <a:off x="9957206" y="5074920"/>
                <a:ext cx="424282" cy="70714"/>
              </a:xfrm>
              <a:custGeom>
                <a:avLst/>
                <a:gdLst/>
                <a:ahLst/>
                <a:cxnLst/>
                <a:rect l="0" t="0" r="r" b="b"/>
                <a:pathLst>
                  <a:path w="464" h="77" fill="none">
                    <a:moveTo>
                      <a:pt x="464" y="0"/>
                    </a:moveTo>
                    <a:lnTo>
                      <a:pt x="0" y="77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65" name="Flecha 100_2"/>
              <p:cNvSpPr/>
              <p:nvPr/>
            </p:nvSpPr>
            <p:spPr>
              <a:xfrm>
                <a:off x="9638995" y="4898136"/>
                <a:ext cx="318211" cy="247498"/>
              </a:xfrm>
              <a:custGeom>
                <a:avLst/>
                <a:gdLst/>
                <a:ahLst/>
                <a:cxnLst/>
                <a:rect l="0" t="0" r="r" b="b"/>
                <a:pathLst>
                  <a:path w="347" h="270" fill="none">
                    <a:moveTo>
                      <a:pt x="347" y="270"/>
                    </a:moveTo>
                    <a:lnTo>
                      <a:pt x="0" y="0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66" name="Flecha 102_2"/>
              <p:cNvSpPr/>
              <p:nvPr/>
            </p:nvSpPr>
            <p:spPr>
              <a:xfrm>
                <a:off x="9638995" y="4898136"/>
                <a:ext cx="318211" cy="247498"/>
              </a:xfrm>
              <a:custGeom>
                <a:avLst/>
                <a:gdLst/>
                <a:ahLst/>
                <a:cxnLst/>
                <a:rect l="0" t="0" r="r" b="b"/>
                <a:pathLst>
                  <a:path w="347" h="270" fill="none">
                    <a:moveTo>
                      <a:pt x="347" y="270"/>
                    </a:moveTo>
                    <a:lnTo>
                      <a:pt x="0" y="0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67" name="Flecha 104_2"/>
              <p:cNvSpPr/>
              <p:nvPr/>
            </p:nvSpPr>
            <p:spPr>
              <a:xfrm>
                <a:off x="9356141" y="4898136"/>
                <a:ext cx="282854" cy="212141"/>
              </a:xfrm>
              <a:custGeom>
                <a:avLst/>
                <a:gdLst/>
                <a:ahLst/>
                <a:cxnLst/>
                <a:rect l="0" t="0" r="r" b="b"/>
                <a:pathLst>
                  <a:path w="309" h="232" fill="none">
                    <a:moveTo>
                      <a:pt x="309" y="0"/>
                    </a:moveTo>
                    <a:lnTo>
                      <a:pt x="0" y="232"/>
                    </a:lnTo>
                  </a:path>
                </a:pathLst>
              </a:custGeom>
              <a:noFill/>
              <a:ln w="78570" cap="rnd">
                <a:solidFill>
                  <a:srgbClr val="B9B9B9"/>
                </a:solidFill>
                <a:round/>
              </a:ln>
            </p:spPr>
          </p:sp>
          <p:sp>
            <p:nvSpPr>
              <p:cNvPr id="68" name="Flecha 106_2"/>
              <p:cNvSpPr/>
              <p:nvPr/>
            </p:nvSpPr>
            <p:spPr>
              <a:xfrm>
                <a:off x="9356141" y="4898136"/>
                <a:ext cx="282854" cy="212141"/>
              </a:xfrm>
              <a:custGeom>
                <a:avLst/>
                <a:gdLst/>
                <a:ahLst/>
                <a:cxnLst/>
                <a:rect l="0" t="0" r="r" b="b"/>
                <a:pathLst>
                  <a:path w="309" h="232" fill="none">
                    <a:moveTo>
                      <a:pt x="309" y="0"/>
                    </a:moveTo>
                    <a:lnTo>
                      <a:pt x="0" y="232"/>
                    </a:lnTo>
                  </a:path>
                </a:pathLst>
              </a:custGeom>
              <a:noFill/>
              <a:ln w="44196" cap="rnd">
                <a:solidFill>
                  <a:srgbClr val="FFFFFF"/>
                </a:solidFill>
                <a:round/>
              </a:ln>
            </p:spPr>
          </p:sp>
          <p:sp>
            <p:nvSpPr>
              <p:cNvPr id="69" name="Forma 108"/>
              <p:cNvSpPr/>
              <p:nvPr/>
            </p:nvSpPr>
            <p:spPr>
              <a:xfrm>
                <a:off x="10239000" y="4578864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0" name="Forma 109"/>
              <p:cNvSpPr/>
              <p:nvPr/>
            </p:nvSpPr>
            <p:spPr>
              <a:xfrm>
                <a:off x="10663282" y="4578864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1" name="Forma 110"/>
              <p:cNvSpPr/>
              <p:nvPr/>
            </p:nvSpPr>
            <p:spPr>
              <a:xfrm>
                <a:off x="11087563" y="4578864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2" name="Forma 111"/>
              <p:cNvSpPr/>
              <p:nvPr/>
            </p:nvSpPr>
            <p:spPr>
              <a:xfrm>
                <a:off x="10239000" y="5286000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3" name="Forma 112"/>
              <p:cNvSpPr/>
              <p:nvPr/>
            </p:nvSpPr>
            <p:spPr>
              <a:xfrm>
                <a:off x="10663282" y="5286000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4" name="Forma 113"/>
              <p:cNvSpPr/>
              <p:nvPr/>
            </p:nvSpPr>
            <p:spPr>
              <a:xfrm>
                <a:off x="11087563" y="5286000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5" name="Forma 114"/>
              <p:cNvSpPr/>
              <p:nvPr/>
            </p:nvSpPr>
            <p:spPr>
              <a:xfrm>
                <a:off x="11441131" y="4932432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6" name="Forma 115"/>
              <p:cNvSpPr/>
              <p:nvPr/>
            </p:nvSpPr>
            <p:spPr>
              <a:xfrm>
                <a:off x="9814718" y="5003146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7" name="Forma 116"/>
              <p:cNvSpPr/>
              <p:nvPr/>
            </p:nvSpPr>
            <p:spPr>
              <a:xfrm>
                <a:off x="9496507" y="4755648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8" name="Forma 117"/>
              <p:cNvSpPr/>
              <p:nvPr/>
            </p:nvSpPr>
            <p:spPr>
              <a:xfrm>
                <a:off x="9213653" y="4967789"/>
                <a:ext cx="284976" cy="28497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CA8F3"/>
                  </a:gs>
                  <a:gs pos="75000">
                    <a:srgbClr val="7C8CF0"/>
                  </a:gs>
                  <a:gs pos="100000">
                    <a:srgbClr val="5662A8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79" name="Forma 118"/>
              <p:cNvSpPr/>
              <p:nvPr/>
            </p:nvSpPr>
            <p:spPr>
              <a:xfrm>
                <a:off x="10224751" y="4918183"/>
                <a:ext cx="313473" cy="3134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B44D"/>
                  </a:gs>
                  <a:gs pos="75000">
                    <a:srgbClr val="F39C12"/>
                  </a:gs>
                  <a:gs pos="100000">
                    <a:srgbClr val="AA6D0C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0" name="Forma 119"/>
              <p:cNvSpPr/>
              <p:nvPr/>
            </p:nvSpPr>
            <p:spPr>
              <a:xfrm>
                <a:off x="10649033" y="4918183"/>
                <a:ext cx="313473" cy="3134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B44D"/>
                  </a:gs>
                  <a:gs pos="75000">
                    <a:srgbClr val="F39C12"/>
                  </a:gs>
                  <a:gs pos="100000">
                    <a:srgbClr val="AA6D0C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1" name="Forma 120"/>
              <p:cNvSpPr/>
              <p:nvPr/>
            </p:nvSpPr>
            <p:spPr>
              <a:xfrm>
                <a:off x="11073315" y="4918183"/>
                <a:ext cx="313473" cy="31347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B44D"/>
                  </a:gs>
                  <a:gs pos="75000">
                    <a:srgbClr val="F39C12"/>
                  </a:gs>
                  <a:gs pos="100000">
                    <a:srgbClr val="AA6D0C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</p:grpSp>
      <p:sp>
        <p:nvSpPr>
          <p:cNvPr id="8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Tabla variables fila 0"/>
          <p:cNvGrpSpPr/>
          <p:nvPr/>
        </p:nvGrpSpPr>
        <p:grpSpPr>
          <a:xfrm>
            <a:off x="365760" y="1143000"/>
            <a:ext cx="7863840" cy="914400"/>
            <a:chOff x="365760" y="1143000"/>
            <a:chExt cx="7863840" cy="914400"/>
          </a:xfrm>
        </p:grpSpPr>
        <p:sp>
          <p:nvSpPr>
            <p:cNvPr id="6" name="Forma 5"/>
            <p:cNvSpPr/>
            <p:nvPr/>
          </p:nvSpPr>
          <p:spPr>
            <a:xfrm>
              <a:off x="365760" y="1143000"/>
              <a:ext cx="2011680" cy="9144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377440" y="1143000"/>
              <a:ext cx="3108960" cy="9144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¿Qué mide?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5486400" y="1143000"/>
              <a:ext cx="2743200" cy="9144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¿Predice la espontaneidad?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9" name="Tabla variables fila 1"/>
          <p:cNvGrpSpPr/>
          <p:nvPr/>
        </p:nvGrpSpPr>
        <p:grpSpPr>
          <a:xfrm>
            <a:off x="365760" y="2057400"/>
            <a:ext cx="7863840" cy="914400"/>
            <a:chOff x="365760" y="2057400"/>
            <a:chExt cx="7863840" cy="914400"/>
          </a:xfrm>
        </p:grpSpPr>
        <p:sp>
          <p:nvSpPr>
            <p:cNvPr id="10" name="Forma 9"/>
            <p:cNvSpPr/>
            <p:nvPr/>
          </p:nvSpPr>
          <p:spPr>
            <a:xfrm>
              <a:off x="365760" y="2057400"/>
              <a:ext cx="2011680" cy="9144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Entalpía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(ΔH)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2377440" y="2057400"/>
              <a:ext cx="3108960" cy="9144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Calor liberado (exotérmica, ΔH &lt; 0) o absorbido (endotérmica, ΔH &gt; 0).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5486400" y="2057400"/>
              <a:ext cx="2743200" cy="9144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Insuficiente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hay reacciones endotérmicas espontáneas.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3" name="Tabla variables fila 2"/>
          <p:cNvGrpSpPr/>
          <p:nvPr/>
        </p:nvGrpSpPr>
        <p:grpSpPr>
          <a:xfrm>
            <a:off x="365760" y="2971800"/>
            <a:ext cx="7863840" cy="1042416"/>
            <a:chOff x="365760" y="2971800"/>
            <a:chExt cx="7863840" cy="1042416"/>
          </a:xfrm>
        </p:grpSpPr>
        <p:sp>
          <p:nvSpPr>
            <p:cNvPr id="14" name="Forma 13"/>
            <p:cNvSpPr/>
            <p:nvPr/>
          </p:nvSpPr>
          <p:spPr>
            <a:xfrm>
              <a:off x="365760" y="2971800"/>
              <a:ext cx="2011680" cy="104241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Entropía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(ΔS)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2377440" y="2971800"/>
              <a:ext cx="3108960" cy="104241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Grado de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aleatoriedad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sistema; el ΔS del universo tiende a aumentar.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5486400" y="2971800"/>
              <a:ext cx="2743200" cy="104241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Insuficiente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como variable aislada en un sistema delimitado: no considera los alrededores.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7" name="Tabla variables fila 3"/>
          <p:cNvGrpSpPr/>
          <p:nvPr/>
        </p:nvGrpSpPr>
        <p:grpSpPr>
          <a:xfrm>
            <a:off x="365760" y="4014216"/>
            <a:ext cx="7863840" cy="914400"/>
            <a:chOff x="365760" y="4014216"/>
            <a:chExt cx="7863840" cy="914400"/>
          </a:xfrm>
        </p:grpSpPr>
        <p:sp>
          <p:nvSpPr>
            <p:cNvPr id="18" name="Forma 17"/>
            <p:cNvSpPr/>
            <p:nvPr/>
          </p:nvSpPr>
          <p:spPr>
            <a:xfrm>
              <a:off x="365760" y="4014216"/>
              <a:ext cx="2011680" cy="9144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Energía libre de Gibbs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(ΔG)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2377440" y="4014216"/>
              <a:ext cx="3108960" cy="9144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Trabajo que puede realizarse durante la reacción; combina ΔH y ΔS.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5486400" y="4014216"/>
              <a:ext cx="2743200" cy="9144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es el indicador de la espontaneidad.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1" name="Íconos variables"/>
          <p:cNvGrpSpPr/>
          <p:nvPr/>
        </p:nvGrpSpPr>
        <p:grpSpPr>
          <a:xfrm>
            <a:off x="8778240" y="1143000"/>
            <a:ext cx="2873988" cy="1069848"/>
            <a:chOff x="8778240" y="1143000"/>
            <a:chExt cx="2873988" cy="1069848"/>
          </a:xfrm>
        </p:grpSpPr>
        <p:sp>
          <p:nvSpPr>
            <p:cNvPr id="22" name="Ícono calor"/>
            <p:cNvSpPr/>
            <p:nvPr/>
          </p:nvSpPr>
          <p:spPr>
            <a:xfrm>
              <a:off x="8778240" y="1143000"/>
              <a:ext cx="822960" cy="106984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555" y="-36"/>
                    <a:pt x="683" y="191"/>
                    <a:pt x="750" y="300"/>
                  </a:cubicBezTo>
                  <a:cubicBezTo>
                    <a:pt x="816" y="408"/>
                    <a:pt x="908" y="536"/>
                    <a:pt x="900" y="650"/>
                  </a:cubicBezTo>
                  <a:cubicBezTo>
                    <a:pt x="891" y="763"/>
                    <a:pt x="800" y="925"/>
                    <a:pt x="700" y="980"/>
                  </a:cubicBezTo>
                  <a:cubicBezTo>
                    <a:pt x="600" y="1035"/>
                    <a:pt x="400" y="1035"/>
                    <a:pt x="300" y="980"/>
                  </a:cubicBezTo>
                  <a:cubicBezTo>
                    <a:pt x="200" y="925"/>
                    <a:pt x="100" y="743"/>
                    <a:pt x="100" y="650"/>
                  </a:cubicBezTo>
                  <a:cubicBezTo>
                    <a:pt x="100" y="556"/>
                    <a:pt x="246" y="441"/>
                    <a:pt x="300" y="420"/>
                  </a:cubicBezTo>
                  <a:cubicBezTo>
                    <a:pt x="353" y="398"/>
                    <a:pt x="386" y="590"/>
                    <a:pt x="420" y="520"/>
                  </a:cubicBezTo>
                  <a:cubicBezTo>
                    <a:pt x="453" y="450"/>
                    <a:pt x="445" y="36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066"/>
                </a:gs>
                <a:gs pos="60000">
                  <a:srgbClr val="F39C12"/>
                </a:gs>
                <a:gs pos="100000">
                  <a:srgbClr val="E74C3C"/>
                </a:gs>
              </a:gsLst>
              <a:lin ang="16200000" scaled="0"/>
            </a:gradFill>
            <a:ln w="15875" cap="rnd">
              <a:solidFill>
                <a:srgbClr val="A04000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10315112" y="1686363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10508219" y="1740944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10882414" y="1248640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9986225" y="1954502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10346405" y="1402992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11423628" y="1618729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>
              <a:off x="11190737" y="1624297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10901942" y="1326444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10895787" y="1982461"/>
              <a:ext cx="228600" cy="228600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1B4F72"/>
              </a:solidFill>
              <a:round/>
            </a:ln>
          </p:spPr>
        </p:sp>
      </p:grpSp>
      <p:grpSp>
        <p:nvGrpSpPr>
          <p:cNvPr id="32" name="Idea termo"/>
          <p:cNvGrpSpPr/>
          <p:nvPr/>
        </p:nvGrpSpPr>
        <p:grpSpPr>
          <a:xfrm>
            <a:off x="8549640" y="2606040"/>
            <a:ext cx="3383280" cy="3840480"/>
            <a:chOff x="8549640" y="2606040"/>
            <a:chExt cx="3383280" cy="3840480"/>
          </a:xfrm>
        </p:grpSpPr>
        <p:sp>
          <p:nvSpPr>
            <p:cNvPr id="33" name="Forma 32"/>
            <p:cNvSpPr/>
            <p:nvPr/>
          </p:nvSpPr>
          <p:spPr>
            <a:xfrm>
              <a:off x="8549640" y="2807208"/>
              <a:ext cx="3383280" cy="36393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termodinámica estudia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cuándo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una reacción química ocurre de forma espontánea. Se propusieron tres variables, cada una superando a la anterior: la respuesta final es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8677656" y="2606040"/>
              <a:ext cx="680276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IDEA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¿CUÁNDO OCURRE UNA REACCIÓN ESPONTÁNEAMENTE?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Exotérmica ejes"/>
          <p:cNvGrpSpPr/>
          <p:nvPr/>
        </p:nvGrpSpPr>
        <p:grpSpPr>
          <a:xfrm>
            <a:off x="502920" y="1005840"/>
            <a:ext cx="5257800" cy="3941064"/>
            <a:chOff x="502920" y="1005840"/>
            <a:chExt cx="5257800" cy="3941064"/>
          </a:xfrm>
        </p:grpSpPr>
        <p:sp>
          <p:nvSpPr>
            <p:cNvPr id="7" name="Flecha 6_2"/>
            <p:cNvSpPr/>
            <p:nvPr/>
          </p:nvSpPr>
          <p:spPr>
            <a:xfrm>
              <a:off x="548640" y="1371600"/>
              <a:ext cx="9144" cy="3200400"/>
            </a:xfrm>
            <a:custGeom>
              <a:avLst/>
              <a:gdLst/>
              <a:ahLst/>
              <a:cxnLst/>
              <a:rect l="0" t="0" r="r" b="b"/>
              <a:pathLst>
                <a:path w="10" h="3500" fill="none">
                  <a:moveTo>
                    <a:pt x="0" y="35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lecha 8_2"/>
            <p:cNvSpPr/>
            <p:nvPr/>
          </p:nvSpPr>
          <p:spPr>
            <a:xfrm>
              <a:off x="548640" y="4572000"/>
              <a:ext cx="5212080" cy="9144"/>
            </a:xfrm>
            <a:custGeom>
              <a:avLst/>
              <a:gdLst/>
              <a:ahLst/>
              <a:cxnLst/>
              <a:rect l="0" t="0" r="r" b="b"/>
              <a:pathLst>
                <a:path w="5699" h="10" fill="none">
                  <a:moveTo>
                    <a:pt x="0" y="0"/>
                  </a:moveTo>
                  <a:lnTo>
                    <a:pt x="56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9" name="Forma 10"/>
            <p:cNvSpPr txBox="1"/>
            <p:nvPr/>
          </p:nvSpPr>
          <p:spPr>
            <a:xfrm>
              <a:off x="2926080" y="462686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avance de la reacción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0" name="Forma 11"/>
            <p:cNvSpPr txBox="1"/>
            <p:nvPr/>
          </p:nvSpPr>
          <p:spPr>
            <a:xfrm>
              <a:off x="502920" y="100584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1" name="Exotérmica nivel inicial"/>
          <p:cNvSpPr/>
          <p:nvPr/>
        </p:nvSpPr>
        <p:spPr>
          <a:xfrm>
            <a:off x="777240" y="2203704"/>
            <a:ext cx="1433779" cy="73152"/>
          </a:xfrm>
          <a:prstGeom prst="rect">
            <a:avLst/>
          </a:prstGeom>
          <a:solidFill>
            <a:srgbClr val="F5B041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12" name="Exotérmica rótulo inicial"/>
          <p:cNvSpPr txBox="1"/>
          <p:nvPr/>
        </p:nvSpPr>
        <p:spPr>
          <a:xfrm>
            <a:off x="777240" y="1801368"/>
            <a:ext cx="14337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Reactivos</a:t>
            </a:r>
            <a:endParaRPr lang="es-AR" sz="1400" dirty="0">
              <a:latin typeface="Calibri"/>
            </a:endParaRPr>
          </a:p>
        </p:txBody>
      </p:sp>
      <p:sp>
        <p:nvSpPr>
          <p:cNvPr id="13" name="Exotérmica nivel final"/>
          <p:cNvSpPr/>
          <p:nvPr/>
        </p:nvSpPr>
        <p:spPr>
          <a:xfrm>
            <a:off x="4030675" y="3602736"/>
            <a:ext cx="1433779" cy="73152"/>
          </a:xfrm>
          <a:prstGeom prst="rect">
            <a:avLst/>
          </a:prstGeom>
          <a:solidFill>
            <a:srgbClr val="E74C3C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14" name="Exotérmica rótulo final"/>
          <p:cNvSpPr txBox="1"/>
          <p:nvPr/>
        </p:nvSpPr>
        <p:spPr>
          <a:xfrm>
            <a:off x="4030675" y="3200400"/>
            <a:ext cx="14337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lang="es-AR" sz="1400" dirty="0">
              <a:latin typeface="Calibri"/>
            </a:endParaRPr>
          </a:p>
        </p:txBody>
      </p:sp>
      <p:sp>
        <p:nvSpPr>
          <p:cNvPr id="15" name="Exotérmica transformación"/>
          <p:cNvSpPr/>
          <p:nvPr/>
        </p:nvSpPr>
        <p:spPr>
          <a:xfrm>
            <a:off x="1494130" y="1463040"/>
            <a:ext cx="3482035" cy="310896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250"/>
                </a:moveTo>
                <a:cubicBezTo>
                  <a:pt x="45" y="250"/>
                  <a:pt x="225" y="250"/>
                  <a:pt x="300" y="250"/>
                </a:cubicBezTo>
                <a:cubicBezTo>
                  <a:pt x="375" y="250"/>
                  <a:pt x="440" y="182"/>
                  <a:pt x="500" y="250"/>
                </a:cubicBezTo>
                <a:cubicBezTo>
                  <a:pt x="560" y="317"/>
                  <a:pt x="625" y="632"/>
                  <a:pt x="700" y="700"/>
                </a:cubicBezTo>
                <a:cubicBezTo>
                  <a:pt x="775" y="767"/>
                  <a:pt x="955" y="700"/>
                  <a:pt x="1000" y="700"/>
                </a:cubicBezTo>
              </a:path>
            </a:pathLst>
          </a:custGeom>
          <a:noFill/>
          <a:ln w="38100" cap="rnd">
            <a:solidFill>
              <a:srgbClr val="1E1E1E"/>
            </a:solidFill>
            <a:prstDash val="dash"/>
            <a:round/>
          </a:ln>
        </p:spPr>
      </p:sp>
      <p:sp>
        <p:nvSpPr>
          <p:cNvPr id="16" name="Exotérmica ΔG"/>
          <p:cNvSpPr/>
          <p:nvPr/>
        </p:nvSpPr>
        <p:spPr>
          <a:xfrm>
            <a:off x="3723437" y="2240280"/>
            <a:ext cx="9144" cy="1399032"/>
          </a:xfrm>
          <a:custGeom>
            <a:avLst/>
            <a:gdLst/>
            <a:ahLst/>
            <a:cxnLst/>
            <a:rect l="0" t="0" r="r" b="b"/>
            <a:pathLst>
              <a:path w="10" h="1529" fill="none">
                <a:moveTo>
                  <a:pt x="0" y="0"/>
                </a:moveTo>
                <a:lnTo>
                  <a:pt x="0" y="1529"/>
                </a:lnTo>
              </a:path>
            </a:pathLst>
          </a:custGeom>
          <a:noFill/>
          <a:ln w="50800" cap="rnd">
            <a:solidFill>
              <a:srgbClr val="4E7A30"/>
            </a:solidFill>
            <a:round/>
            <a:tailEnd type="triangle" w="med" len="med"/>
          </a:ln>
        </p:spPr>
      </p:sp>
      <p:sp>
        <p:nvSpPr>
          <p:cNvPr id="17" name="Calor liberado"/>
          <p:cNvSpPr/>
          <p:nvPr/>
        </p:nvSpPr>
        <p:spPr>
          <a:xfrm>
            <a:off x="3749040" y="1828800"/>
            <a:ext cx="594360" cy="77266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0"/>
                </a:moveTo>
                <a:cubicBezTo>
                  <a:pt x="555" y="-36"/>
                  <a:pt x="683" y="191"/>
                  <a:pt x="750" y="300"/>
                </a:cubicBezTo>
                <a:cubicBezTo>
                  <a:pt x="816" y="408"/>
                  <a:pt x="908" y="536"/>
                  <a:pt x="900" y="650"/>
                </a:cubicBezTo>
                <a:cubicBezTo>
                  <a:pt x="891" y="763"/>
                  <a:pt x="800" y="925"/>
                  <a:pt x="700" y="980"/>
                </a:cubicBezTo>
                <a:cubicBezTo>
                  <a:pt x="600" y="1035"/>
                  <a:pt x="400" y="1035"/>
                  <a:pt x="300" y="980"/>
                </a:cubicBezTo>
                <a:cubicBezTo>
                  <a:pt x="200" y="925"/>
                  <a:pt x="100" y="743"/>
                  <a:pt x="100" y="650"/>
                </a:cubicBezTo>
                <a:cubicBezTo>
                  <a:pt x="100" y="556"/>
                  <a:pt x="246" y="441"/>
                  <a:pt x="300" y="420"/>
                </a:cubicBezTo>
                <a:cubicBezTo>
                  <a:pt x="353" y="398"/>
                  <a:pt x="386" y="590"/>
                  <a:pt x="420" y="520"/>
                </a:cubicBezTo>
                <a:cubicBezTo>
                  <a:pt x="453" y="450"/>
                  <a:pt x="445" y="36"/>
                  <a:pt x="500" y="0"/>
                </a:cubicBezTo>
                <a:close/>
              </a:path>
            </a:pathLst>
          </a:custGeom>
          <a:gradFill rotWithShape="1">
            <a:gsLst>
              <a:gs pos="0">
                <a:srgbClr val="FFE066"/>
              </a:gs>
              <a:gs pos="60000">
                <a:srgbClr val="F39C12"/>
              </a:gs>
              <a:gs pos="100000">
                <a:srgbClr val="E74C3C"/>
              </a:gs>
            </a:gsLst>
            <a:lin ang="16200000" scaled="0"/>
          </a:gradFill>
          <a:ln w="15875" cap="rnd">
            <a:solidFill>
              <a:srgbClr val="A04000"/>
            </a:solidFill>
            <a:round/>
          </a:ln>
        </p:spPr>
      </p:sp>
      <p:sp>
        <p:nvSpPr>
          <p:cNvPr id="18" name="Exotérmica texto"/>
          <p:cNvSpPr/>
          <p:nvPr/>
        </p:nvSpPr>
        <p:spPr>
          <a:xfrm>
            <a:off x="365760" y="4892040"/>
            <a:ext cx="5394960" cy="1554480"/>
          </a:xfrm>
          <a:prstGeom prst="roundRect">
            <a:avLst>
              <a:gd name="adj" fmla="val 9000"/>
            </a:avLst>
          </a:prstGeom>
          <a:solidFill>
            <a:srgbClr val="FCE4D6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Exotérmica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ΔH &lt; 0, la reacción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libera calor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200" dirty="0">
              <a:latin typeface="Calibri"/>
            </a:endParaRPr>
          </a:p>
        </p:txBody>
      </p:sp>
      <p:grpSp>
        <p:nvGrpSpPr>
          <p:cNvPr id="19" name="Endotérmica ejes"/>
          <p:cNvGrpSpPr/>
          <p:nvPr/>
        </p:nvGrpSpPr>
        <p:grpSpPr>
          <a:xfrm>
            <a:off x="6355080" y="1005840"/>
            <a:ext cx="5257800" cy="3941064"/>
            <a:chOff x="6355080" y="1005840"/>
            <a:chExt cx="5257800" cy="3941064"/>
          </a:xfrm>
        </p:grpSpPr>
        <p:sp>
          <p:nvSpPr>
            <p:cNvPr id="20" name="Flecha 21_2"/>
            <p:cNvSpPr/>
            <p:nvPr/>
          </p:nvSpPr>
          <p:spPr>
            <a:xfrm>
              <a:off x="6400800" y="1371600"/>
              <a:ext cx="9144" cy="3200400"/>
            </a:xfrm>
            <a:custGeom>
              <a:avLst/>
              <a:gdLst/>
              <a:ahLst/>
              <a:cxnLst/>
              <a:rect l="0" t="0" r="r" b="b"/>
              <a:pathLst>
                <a:path w="10" h="3500" fill="none">
                  <a:moveTo>
                    <a:pt x="0" y="35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1" name="Flecha 23_2"/>
            <p:cNvSpPr/>
            <p:nvPr/>
          </p:nvSpPr>
          <p:spPr>
            <a:xfrm>
              <a:off x="6400800" y="4572000"/>
              <a:ext cx="5212080" cy="9144"/>
            </a:xfrm>
            <a:custGeom>
              <a:avLst/>
              <a:gdLst/>
              <a:ahLst/>
              <a:cxnLst/>
              <a:rect l="0" t="0" r="r" b="b"/>
              <a:pathLst>
                <a:path w="5699" h="10" fill="none">
                  <a:moveTo>
                    <a:pt x="0" y="0"/>
                  </a:moveTo>
                  <a:lnTo>
                    <a:pt x="56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2" name="Forma 25"/>
            <p:cNvSpPr txBox="1"/>
            <p:nvPr/>
          </p:nvSpPr>
          <p:spPr>
            <a:xfrm>
              <a:off x="8778240" y="462686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avance de la reacción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3" name="Forma 26"/>
            <p:cNvSpPr txBox="1"/>
            <p:nvPr/>
          </p:nvSpPr>
          <p:spPr>
            <a:xfrm>
              <a:off x="6355080" y="100584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4" name="Endotérmica nivel inicial"/>
          <p:cNvSpPr/>
          <p:nvPr/>
        </p:nvSpPr>
        <p:spPr>
          <a:xfrm>
            <a:off x="6629400" y="3602736"/>
            <a:ext cx="1433779" cy="73152"/>
          </a:xfrm>
          <a:prstGeom prst="rect">
            <a:avLst/>
          </a:prstGeom>
          <a:solidFill>
            <a:srgbClr val="85C1E9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5" name="Endotérmica rótulo inicial"/>
          <p:cNvSpPr txBox="1"/>
          <p:nvPr/>
        </p:nvSpPr>
        <p:spPr>
          <a:xfrm>
            <a:off x="6629400" y="3200400"/>
            <a:ext cx="14337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Reactivos</a:t>
            </a:r>
            <a:endParaRPr lang="es-AR" sz="1400" dirty="0">
              <a:latin typeface="Calibri"/>
            </a:endParaRPr>
          </a:p>
        </p:txBody>
      </p:sp>
      <p:sp>
        <p:nvSpPr>
          <p:cNvPr id="26" name="Endotérmica nivel final"/>
          <p:cNvSpPr/>
          <p:nvPr/>
        </p:nvSpPr>
        <p:spPr>
          <a:xfrm>
            <a:off x="9882835" y="2203704"/>
            <a:ext cx="1433779" cy="73152"/>
          </a:xfrm>
          <a:prstGeom prst="rect">
            <a:avLst/>
          </a:prstGeom>
          <a:solidFill>
            <a:srgbClr val="5DADE2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27" name="Endotérmica rótulo final"/>
          <p:cNvSpPr txBox="1"/>
          <p:nvPr/>
        </p:nvSpPr>
        <p:spPr>
          <a:xfrm>
            <a:off x="9882835" y="1801368"/>
            <a:ext cx="143377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lang="es-AR" sz="1400" dirty="0">
              <a:latin typeface="Calibri"/>
            </a:endParaRPr>
          </a:p>
        </p:txBody>
      </p:sp>
      <p:sp>
        <p:nvSpPr>
          <p:cNvPr id="28" name="Endotérmica transformación"/>
          <p:cNvSpPr/>
          <p:nvPr/>
        </p:nvSpPr>
        <p:spPr>
          <a:xfrm>
            <a:off x="7346290" y="1463040"/>
            <a:ext cx="3482035" cy="310896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700"/>
                </a:moveTo>
                <a:cubicBezTo>
                  <a:pt x="45" y="700"/>
                  <a:pt x="225" y="767"/>
                  <a:pt x="300" y="700"/>
                </a:cubicBezTo>
                <a:cubicBezTo>
                  <a:pt x="375" y="632"/>
                  <a:pt x="440" y="317"/>
                  <a:pt x="500" y="250"/>
                </a:cubicBezTo>
                <a:cubicBezTo>
                  <a:pt x="560" y="182"/>
                  <a:pt x="625" y="250"/>
                  <a:pt x="700" y="250"/>
                </a:cubicBezTo>
                <a:cubicBezTo>
                  <a:pt x="775" y="250"/>
                  <a:pt x="955" y="250"/>
                  <a:pt x="1000" y="250"/>
                </a:cubicBezTo>
              </a:path>
            </a:pathLst>
          </a:custGeom>
          <a:noFill/>
          <a:ln w="38100" cap="rnd">
            <a:solidFill>
              <a:srgbClr val="1E1E1E"/>
            </a:solidFill>
            <a:prstDash val="dash"/>
            <a:round/>
          </a:ln>
        </p:spPr>
      </p:sp>
      <p:sp>
        <p:nvSpPr>
          <p:cNvPr id="29" name="Endotérmica ΔG"/>
          <p:cNvSpPr/>
          <p:nvPr/>
        </p:nvSpPr>
        <p:spPr>
          <a:xfrm>
            <a:off x="9575597" y="2240280"/>
            <a:ext cx="9144" cy="1399032"/>
          </a:xfrm>
          <a:custGeom>
            <a:avLst/>
            <a:gdLst/>
            <a:ahLst/>
            <a:cxnLst/>
            <a:rect l="0" t="0" r="r" b="b"/>
            <a:pathLst>
              <a:path w="10" h="1529" fill="none">
                <a:moveTo>
                  <a:pt x="0" y="1529"/>
                </a:move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C00000"/>
            </a:solidFill>
            <a:round/>
            <a:tailEnd type="triangle" w="med" len="med"/>
          </a:ln>
        </p:spPr>
      </p:sp>
      <p:sp>
        <p:nvSpPr>
          <p:cNvPr id="30" name="Calor absorbido"/>
          <p:cNvSpPr/>
          <p:nvPr/>
        </p:nvSpPr>
        <p:spPr>
          <a:xfrm>
            <a:off x="8778240" y="3291840"/>
            <a:ext cx="594360" cy="77266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0"/>
                </a:moveTo>
                <a:cubicBezTo>
                  <a:pt x="555" y="-36"/>
                  <a:pt x="683" y="191"/>
                  <a:pt x="750" y="300"/>
                </a:cubicBezTo>
                <a:cubicBezTo>
                  <a:pt x="816" y="408"/>
                  <a:pt x="908" y="536"/>
                  <a:pt x="900" y="650"/>
                </a:cubicBezTo>
                <a:cubicBezTo>
                  <a:pt x="891" y="763"/>
                  <a:pt x="800" y="925"/>
                  <a:pt x="700" y="980"/>
                </a:cubicBezTo>
                <a:cubicBezTo>
                  <a:pt x="600" y="1035"/>
                  <a:pt x="400" y="1035"/>
                  <a:pt x="300" y="980"/>
                </a:cubicBezTo>
                <a:cubicBezTo>
                  <a:pt x="200" y="925"/>
                  <a:pt x="100" y="743"/>
                  <a:pt x="100" y="650"/>
                </a:cubicBezTo>
                <a:cubicBezTo>
                  <a:pt x="100" y="556"/>
                  <a:pt x="246" y="441"/>
                  <a:pt x="300" y="420"/>
                </a:cubicBezTo>
                <a:cubicBezTo>
                  <a:pt x="353" y="398"/>
                  <a:pt x="386" y="590"/>
                  <a:pt x="420" y="520"/>
                </a:cubicBezTo>
                <a:cubicBezTo>
                  <a:pt x="453" y="450"/>
                  <a:pt x="445" y="36"/>
                  <a:pt x="500" y="0"/>
                </a:cubicBezTo>
                <a:close/>
              </a:path>
            </a:pathLst>
          </a:custGeom>
          <a:gradFill rotWithShape="1">
            <a:gsLst>
              <a:gs pos="0">
                <a:srgbClr val="FFE066"/>
              </a:gs>
              <a:gs pos="60000">
                <a:srgbClr val="F39C12"/>
              </a:gs>
              <a:gs pos="100000">
                <a:srgbClr val="E74C3C"/>
              </a:gs>
            </a:gsLst>
            <a:lin ang="16200000" scaled="0"/>
          </a:gradFill>
          <a:ln w="15875" cap="rnd">
            <a:solidFill>
              <a:srgbClr val="A04000"/>
            </a:solidFill>
            <a:round/>
          </a:ln>
        </p:spPr>
      </p:sp>
      <p:sp>
        <p:nvSpPr>
          <p:cNvPr id="31" name="Endotérmica texto"/>
          <p:cNvSpPr/>
          <p:nvPr/>
        </p:nvSpPr>
        <p:spPr>
          <a:xfrm>
            <a:off x="6400800" y="4892040"/>
            <a:ext cx="5394960" cy="155448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Endotérmica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ΔH &gt; 0, la reacción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absorbe calor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Se expresa en kcal/mol o kJ/mol.</a:t>
            </a:r>
            <a:endParaRPr lang="es-AR" sz="22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ENTALPÍA: CALOR LIBERADO O ABSORBIDO</a:t>
            </a:r>
            <a:endParaRPr lang="es-AR" sz="22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"/>
                            </p:stCondLst>
                            <p:childTnLst>
                              <p:par>
                                <p:cTn id="34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5 -0.0800 E" pathEditMode="relative" ptsTypes="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5" y="-4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6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25 -0.1200 E" pathEditMode="relative" ptsTypes="">
                                      <p:cBhvr>
                                        <p:cTn id="7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" y="-6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4" grpId="0" animBg="1"/>
      <p:bldP spid="25" grpId="0" animBg="1"/>
      <p:bldP spid="28" grpId="0" animBg="1"/>
      <p:bldP spid="26" grpId="0" animBg="1"/>
      <p:bldP spid="27" grpId="0" animBg="1"/>
      <p:bldP spid="30" grpId="0" animBg="1"/>
      <p:bldP spid="29" grpId="0" animBg="1"/>
      <p:bldP spid="31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5" name="!!Sistema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FFF">
              <a:alpha val="60000"/>
            </a:srgbClr>
          </a:solidFill>
          <a:ln w="25400" cap="rnd">
            <a:solidFill>
              <a:srgbClr val="1E1E1E"/>
            </a:solidFill>
            <a:round/>
          </a:ln>
        </p:spPr>
      </p:sp>
      <p:sp>
        <p:nvSpPr>
          <p:cNvPr id="6" name="!!Partícula 0"/>
          <p:cNvSpPr/>
          <p:nvPr/>
        </p:nvSpPr>
        <p:spPr>
          <a:xfrm>
            <a:off x="731520" y="160020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7" name="!!Partícula 1"/>
          <p:cNvSpPr/>
          <p:nvPr/>
        </p:nvSpPr>
        <p:spPr>
          <a:xfrm>
            <a:off x="1143000" y="160020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8" name="!!Partícula 2"/>
          <p:cNvSpPr/>
          <p:nvPr/>
        </p:nvSpPr>
        <p:spPr>
          <a:xfrm>
            <a:off x="1554480" y="160020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9" name="!!Partícula 3"/>
          <p:cNvSpPr/>
          <p:nvPr/>
        </p:nvSpPr>
        <p:spPr>
          <a:xfrm>
            <a:off x="1965960" y="160020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0" name="!!Partícula 4"/>
          <p:cNvSpPr/>
          <p:nvPr/>
        </p:nvSpPr>
        <p:spPr>
          <a:xfrm>
            <a:off x="731520" y="201168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1" name="!!Partícula 5"/>
          <p:cNvSpPr/>
          <p:nvPr/>
        </p:nvSpPr>
        <p:spPr>
          <a:xfrm>
            <a:off x="1143000" y="201168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2" name="!!Partícula 6"/>
          <p:cNvSpPr/>
          <p:nvPr/>
        </p:nvSpPr>
        <p:spPr>
          <a:xfrm>
            <a:off x="1554480" y="201168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3" name="!!Partícula 7"/>
          <p:cNvSpPr/>
          <p:nvPr/>
        </p:nvSpPr>
        <p:spPr>
          <a:xfrm>
            <a:off x="1965960" y="201168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4" name="!!Partícula 8"/>
          <p:cNvSpPr/>
          <p:nvPr/>
        </p:nvSpPr>
        <p:spPr>
          <a:xfrm>
            <a:off x="731520" y="242316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5" name="!!Partícula 9"/>
          <p:cNvSpPr/>
          <p:nvPr/>
        </p:nvSpPr>
        <p:spPr>
          <a:xfrm>
            <a:off x="1143000" y="242316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6" name="!!Partícula 10"/>
          <p:cNvSpPr/>
          <p:nvPr/>
        </p:nvSpPr>
        <p:spPr>
          <a:xfrm>
            <a:off x="1554480" y="242316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7" name="!!Partícula 11"/>
          <p:cNvSpPr/>
          <p:nvPr/>
        </p:nvSpPr>
        <p:spPr>
          <a:xfrm>
            <a:off x="1965960" y="242316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8" name="!!Partícula 12"/>
          <p:cNvSpPr/>
          <p:nvPr/>
        </p:nvSpPr>
        <p:spPr>
          <a:xfrm>
            <a:off x="731520" y="283464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19" name="!!Partícula 13"/>
          <p:cNvSpPr/>
          <p:nvPr/>
        </p:nvSpPr>
        <p:spPr>
          <a:xfrm>
            <a:off x="1143000" y="283464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20" name="!!Partícula 14"/>
          <p:cNvSpPr/>
          <p:nvPr/>
        </p:nvSpPr>
        <p:spPr>
          <a:xfrm>
            <a:off x="1554480" y="283464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21" name="!!Partícula 15"/>
          <p:cNvSpPr/>
          <p:nvPr/>
        </p:nvSpPr>
        <p:spPr>
          <a:xfrm>
            <a:off x="1965960" y="2834640"/>
            <a:ext cx="292608" cy="292608"/>
          </a:xfrm>
          <a:prstGeom prst="ellipse">
            <a:avLst/>
          </a:prstGeom>
          <a:gradFill rotWithShape="1">
            <a:gsLst>
              <a:gs pos="0">
                <a:srgbClr val="9DCDED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1B4F72"/>
            </a:solidFill>
            <a:round/>
          </a:ln>
        </p:spPr>
      </p:sp>
      <p:sp>
        <p:nvSpPr>
          <p:cNvPr id="22" name="Rótulo orden"/>
          <p:cNvSpPr/>
          <p:nvPr/>
        </p:nvSpPr>
        <p:spPr>
          <a:xfrm>
            <a:off x="640080" y="4754880"/>
            <a:ext cx="1951717" cy="293370"/>
          </a:xfrm>
          <a:prstGeom prst="rect">
            <a:avLst/>
          </a:prstGeom>
          <a:solidFill>
            <a:srgbClr val="D8E6F2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Orden (baja entropía)</a:t>
            </a:r>
            <a:endParaRPr lang="es-AR" sz="1400" dirty="0">
              <a:latin typeface="Calibri"/>
            </a:endParaRPr>
          </a:p>
        </p:txBody>
      </p:sp>
      <p:sp>
        <p:nvSpPr>
          <p:cNvPr id="23" name="Rótulo desorden"/>
          <p:cNvSpPr/>
          <p:nvPr/>
        </p:nvSpPr>
        <p:spPr>
          <a:xfrm>
            <a:off x="2651760" y="4754880"/>
            <a:ext cx="2172891" cy="293370"/>
          </a:xfrm>
          <a:prstGeom prst="rect">
            <a:avLst/>
          </a:prstGeom>
          <a:solidFill>
            <a:srgbClr val="FDE4E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Desorden (alta entropía)</a:t>
            </a:r>
            <a:endParaRPr lang="es-AR" sz="1400" dirty="0">
              <a:latin typeface="Calibri"/>
            </a:endParaRPr>
          </a:p>
        </p:txBody>
      </p:sp>
      <p:sp>
        <p:nvSpPr>
          <p:cNvPr id="24" name="Def entropía"/>
          <p:cNvSpPr/>
          <p:nvPr/>
        </p:nvSpPr>
        <p:spPr>
          <a:xfrm>
            <a:off x="4846320" y="1097280"/>
            <a:ext cx="7040880" cy="15544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ΔS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mide el grado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aleatoriedad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sistema. A mayor temperatura, mayor movimiento de partículas y mayor aleatoriedad.</a:t>
            </a:r>
            <a:endParaRPr lang="es-AR" sz="2050" dirty="0">
              <a:latin typeface="Calibri"/>
            </a:endParaRPr>
          </a:p>
        </p:txBody>
      </p:sp>
      <p:sp>
        <p:nvSpPr>
          <p:cNvPr id="25" name="Tendencia entropía"/>
          <p:cNvSpPr/>
          <p:nvPr/>
        </p:nvSpPr>
        <p:spPr>
          <a:xfrm>
            <a:off x="4846320" y="2880360"/>
            <a:ext cx="704088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Cuando el sistema pasa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del orden al desorden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tiende a ser espontáneo; el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ΔS del universo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tiende siempre a aumentar.</a:t>
            </a:r>
            <a:endParaRPr lang="es-AR" sz="2050" dirty="0">
              <a:latin typeface="Calibri"/>
            </a:endParaRPr>
          </a:p>
        </p:txBody>
      </p:sp>
      <p:grpSp>
        <p:nvGrpSpPr>
          <p:cNvPr id="26" name="Limitación entropía"/>
          <p:cNvGrpSpPr/>
          <p:nvPr/>
        </p:nvGrpSpPr>
        <p:grpSpPr>
          <a:xfrm>
            <a:off x="4846320" y="4480560"/>
            <a:ext cx="7040880" cy="1463040"/>
            <a:chOff x="4846320" y="4480560"/>
            <a:chExt cx="7040880" cy="1463040"/>
          </a:xfrm>
        </p:grpSpPr>
        <p:sp>
          <p:nvSpPr>
            <p:cNvPr id="27" name="Forma 26"/>
            <p:cNvSpPr/>
            <p:nvPr/>
          </p:nvSpPr>
          <p:spPr>
            <a:xfrm>
              <a:off x="4846320" y="4681728"/>
              <a:ext cx="7040880" cy="126187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Como variable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aislada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no alcanza para expresar la espontaneidad de una reacción biológica dentro de un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sistema delimitado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no considera los alrededores.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4974336" y="4480560"/>
              <a:ext cx="1239075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LIMITACIÓN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5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ENTROPÍA: DEL ORDEN AL DESORDEN</a:t>
            </a:r>
            <a:endParaRPr lang="es-AR" sz="25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16 0.3326 E" pathEditMode="relative" ptsTypes="">
                                      <p:cBhvr>
                                        <p:cTn id="6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80" y="16629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 0.2365 E" pathEditMode="relative" ptsTypes="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" y="11823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03 0.0657 E" pathEditMode="relative" ptsTypes="">
                                      <p:cBhvr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5" y="3285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36 0.0515 E" pathEditMode="relative" ptsTypes="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0" y="2575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32 0.0847 E" pathEditMode="relative" ptsTypes="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1" y="4237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69 0.0981 E" pathEditMode="relative" ptsTypes="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45" y="4906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18 0.2234 E" pathEditMode="relative" ptsTypes="">
                                      <p:cBhvr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" y="1116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33 0.0008 E" pathEditMode="relative" ptsTypes="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5" y="38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59 -0.0471 E" pathEditMode="relative" ptsTypes="">
                                      <p:cBhvr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7" y="-2353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91 0.1901 E" pathEditMode="relative" ptsTypes="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3" y="9505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4 -0.1042 E" pathEditMode="relative" ptsTypes="">
                                      <p:cBhvr>
                                        <p:cTn id="8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9" y="-5210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42 0.2235 E" pathEditMode="relative" ptsTypes="">
                                      <p:cBhvr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9" y="11176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34 0.0249 E" pathEditMode="relative" ptsTypes="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9" y="1243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38 0.0400 E" pathEditMode="relative" ptsTypes="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90" y="2002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34 0.0514 E" pathEditMode="relative" ptsTypes="">
                                      <p:cBhvr>
                                        <p:cTn id="9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9" y="2570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1 0.0359 E" pathEditMode="relative" ptsTypes="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" y="17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3" grpId="0" animBg="1"/>
      <p:bldP spid="25" grpId="0" animBg="1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Fórmula Gibbs"/>
          <p:cNvGrpSpPr/>
          <p:nvPr/>
        </p:nvGrpSpPr>
        <p:grpSpPr>
          <a:xfrm>
            <a:off x="548640" y="1280160"/>
            <a:ext cx="7315200" cy="1463040"/>
            <a:chOff x="548640" y="1280160"/>
            <a:chExt cx="7315200" cy="1463040"/>
          </a:xfrm>
        </p:grpSpPr>
        <p:sp>
          <p:nvSpPr>
            <p:cNvPr id="6" name="Forma 5"/>
            <p:cNvSpPr/>
            <p:nvPr/>
          </p:nvSpPr>
          <p:spPr>
            <a:xfrm>
              <a:off x="548640" y="1280160"/>
              <a:ext cx="7315200" cy="1463040"/>
            </a:xfrm>
            <a:prstGeom prst="roundRect">
              <a:avLst>
                <a:gd name="adj" fmla="val 12000"/>
              </a:avLst>
            </a:prstGeom>
            <a:solidFill>
              <a:srgbClr val="FFCC4A"/>
            </a:solidFill>
            <a:ln w="31750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91440" tIns="0" rIns="9144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5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= ΔH − T·ΔS</a:t>
              </a:r>
              <a:endParaRPr lang="es-AR" sz="5000" dirty="0">
                <a:latin typeface="Calibri"/>
              </a:endParaRPr>
            </a:p>
          </p:txBody>
        </p:sp>
      </p:grpSp>
      <p:sp>
        <p:nvSpPr>
          <p:cNvPr id="7" name="Término ΔH"/>
          <p:cNvSpPr/>
          <p:nvPr/>
        </p:nvSpPr>
        <p:spPr>
          <a:xfrm>
            <a:off x="548640" y="3017520"/>
            <a:ext cx="2286000" cy="1737360"/>
          </a:xfrm>
          <a:prstGeom prst="roundRect">
            <a:avLst>
              <a:gd name="adj" fmla="val 9000"/>
            </a:avLst>
          </a:prstGeom>
          <a:solidFill>
            <a:srgbClr val="FCE4D6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ΔH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entalpía (calor)</a:t>
            </a:r>
            <a:endParaRPr lang="es-AR" sz="2200" dirty="0">
              <a:latin typeface="Calibri"/>
            </a:endParaRPr>
          </a:p>
        </p:txBody>
      </p:sp>
      <p:sp>
        <p:nvSpPr>
          <p:cNvPr id="8" name="Término T"/>
          <p:cNvSpPr/>
          <p:nvPr/>
        </p:nvSpPr>
        <p:spPr>
          <a:xfrm>
            <a:off x="3063240" y="3017520"/>
            <a:ext cx="2286000" cy="173736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temperatura absoluta</a:t>
            </a:r>
            <a:endParaRPr lang="es-AR" sz="2200" dirty="0">
              <a:latin typeface="Calibri"/>
            </a:endParaRPr>
          </a:p>
        </p:txBody>
      </p:sp>
      <p:sp>
        <p:nvSpPr>
          <p:cNvPr id="9" name="Término ΔS"/>
          <p:cNvSpPr/>
          <p:nvPr/>
        </p:nvSpPr>
        <p:spPr>
          <a:xfrm>
            <a:off x="5577840" y="3017520"/>
            <a:ext cx="2286000" cy="173736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ΔS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entropía (aleatoriedad)</a:t>
            </a:r>
            <a:endParaRPr lang="es-AR" sz="2200" dirty="0">
              <a:latin typeface="Calibri"/>
            </a:endParaRPr>
          </a:p>
        </p:txBody>
      </p:sp>
      <p:grpSp>
        <p:nvGrpSpPr>
          <p:cNvPr id="10" name="Flechas términos"/>
          <p:cNvGrpSpPr/>
          <p:nvPr/>
        </p:nvGrpSpPr>
        <p:grpSpPr>
          <a:xfrm>
            <a:off x="1691640" y="2743200"/>
            <a:ext cx="5038344" cy="228600"/>
            <a:chOff x="1691640" y="2743200"/>
            <a:chExt cx="5038344" cy="228600"/>
          </a:xfrm>
        </p:grpSpPr>
        <p:sp>
          <p:nvSpPr>
            <p:cNvPr id="11" name="Flecha 10_2"/>
            <p:cNvSpPr/>
            <p:nvPr/>
          </p:nvSpPr>
          <p:spPr>
            <a:xfrm>
              <a:off x="1691640" y="2743200"/>
              <a:ext cx="9144" cy="228600"/>
            </a:xfrm>
            <a:custGeom>
              <a:avLst/>
              <a:gdLst/>
              <a:ahLst/>
              <a:cxnLst/>
              <a:rect l="0" t="0" r="r" b="b"/>
              <a:pathLst>
                <a:path w="10" h="250" fill="none">
                  <a:moveTo>
                    <a:pt x="0" y="25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2" name="Flecha 12_2"/>
            <p:cNvSpPr/>
            <p:nvPr/>
          </p:nvSpPr>
          <p:spPr>
            <a:xfrm>
              <a:off x="4206240" y="2743200"/>
              <a:ext cx="9144" cy="228600"/>
            </a:xfrm>
            <a:custGeom>
              <a:avLst/>
              <a:gdLst/>
              <a:ahLst/>
              <a:cxnLst/>
              <a:rect l="0" t="0" r="r" b="b"/>
              <a:pathLst>
                <a:path w="10" h="250" fill="none">
                  <a:moveTo>
                    <a:pt x="0" y="25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3" name="Flecha 14_2"/>
            <p:cNvSpPr/>
            <p:nvPr/>
          </p:nvSpPr>
          <p:spPr>
            <a:xfrm>
              <a:off x="6720840" y="2743200"/>
              <a:ext cx="9144" cy="228600"/>
            </a:xfrm>
            <a:custGeom>
              <a:avLst/>
              <a:gdLst/>
              <a:ahLst/>
              <a:cxnLst/>
              <a:rect l="0" t="0" r="r" b="b"/>
              <a:pathLst>
                <a:path w="10" h="250" fill="none">
                  <a:moveTo>
                    <a:pt x="0" y="25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sp>
        <p:nvSpPr>
          <p:cNvPr id="14" name="Uso ΔG"/>
          <p:cNvSpPr/>
          <p:nvPr/>
        </p:nvSpPr>
        <p:spPr>
          <a:xfrm>
            <a:off x="548640" y="5029200"/>
            <a:ext cx="731520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variación de energía libre permite evaluar la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favorabilidad termodinámica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una reacción 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temperatura y presión constantes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grpSp>
        <p:nvGrpSpPr>
          <p:cNvPr id="15" name="Vocabulario Gibbs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6" name="Forma 18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Exergónica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libera energía libre (ΔG &lt; 0).</a:t>
              </a:r>
              <a:endParaRPr lang="es-AR" sz="20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Endergónica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consume energía libre (ΔG &gt; 0).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7" name="Forma 19"/>
            <p:cNvSpPr/>
            <p:nvPr/>
          </p:nvSpPr>
          <p:spPr>
            <a:xfrm>
              <a:off x="8677656" y="1097280"/>
              <a:ext cx="145553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VOCABULARIO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8" name="ATP deco"/>
          <p:cNvGrpSpPr/>
          <p:nvPr/>
        </p:nvGrpSpPr>
        <p:grpSpPr>
          <a:xfrm>
            <a:off x="9023567" y="4858780"/>
            <a:ext cx="2252545" cy="889480"/>
            <a:chOff x="9023567" y="4858780"/>
            <a:chExt cx="2252545" cy="889480"/>
          </a:xfrm>
        </p:grpSpPr>
        <p:sp>
          <p:nvSpPr>
            <p:cNvPr id="19" name="Flecha 21_2"/>
            <p:cNvSpPr/>
            <p:nvPr/>
          </p:nvSpPr>
          <p:spPr>
            <a:xfrm>
              <a:off x="10070592" y="5303520"/>
              <a:ext cx="380390" cy="9144"/>
            </a:xfrm>
            <a:custGeom>
              <a:avLst/>
              <a:gdLst/>
              <a:ahLst/>
              <a:cxnLst/>
              <a:rect l="0" t="0" r="r" b="b"/>
              <a:pathLst>
                <a:path w="416" h="10" fill="none">
                  <a:moveTo>
                    <a:pt x="0" y="0"/>
                  </a:moveTo>
                  <a:lnTo>
                    <a:pt x="416" y="0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20" name="Flecha 23_2"/>
            <p:cNvSpPr/>
            <p:nvPr/>
          </p:nvSpPr>
          <p:spPr>
            <a:xfrm>
              <a:off x="10070592" y="5303520"/>
              <a:ext cx="380390" cy="9144"/>
            </a:xfrm>
            <a:custGeom>
              <a:avLst/>
              <a:gdLst/>
              <a:ahLst/>
              <a:cxnLst/>
              <a:rect l="0" t="0" r="r" b="b"/>
              <a:pathLst>
                <a:path w="416" h="10" fill="none">
                  <a:moveTo>
                    <a:pt x="0" y="0"/>
                  </a:moveTo>
                  <a:lnTo>
                    <a:pt x="416" y="0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21" name="Flecha 25_2"/>
            <p:cNvSpPr/>
            <p:nvPr/>
          </p:nvSpPr>
          <p:spPr>
            <a:xfrm>
              <a:off x="10450982" y="5303520"/>
              <a:ext cx="380390" cy="9144"/>
            </a:xfrm>
            <a:custGeom>
              <a:avLst/>
              <a:gdLst/>
              <a:ahLst/>
              <a:cxnLst/>
              <a:rect l="0" t="0" r="r" b="b"/>
              <a:pathLst>
                <a:path w="416" h="10" fill="none">
                  <a:moveTo>
                    <a:pt x="0" y="0"/>
                  </a:moveTo>
                  <a:lnTo>
                    <a:pt x="416" y="0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22" name="Flecha 27_2"/>
            <p:cNvSpPr/>
            <p:nvPr/>
          </p:nvSpPr>
          <p:spPr>
            <a:xfrm>
              <a:off x="10450982" y="5303520"/>
              <a:ext cx="380390" cy="9144"/>
            </a:xfrm>
            <a:custGeom>
              <a:avLst/>
              <a:gdLst/>
              <a:ahLst/>
              <a:cxnLst/>
              <a:rect l="0" t="0" r="r" b="b"/>
              <a:pathLst>
                <a:path w="416" h="10" fill="none">
                  <a:moveTo>
                    <a:pt x="0" y="0"/>
                  </a:moveTo>
                  <a:lnTo>
                    <a:pt x="416" y="0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23" name="Flecha 29_2"/>
            <p:cNvSpPr/>
            <p:nvPr/>
          </p:nvSpPr>
          <p:spPr>
            <a:xfrm>
              <a:off x="10070592" y="4986528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346"/>
                  </a:moveTo>
                  <a:lnTo>
                    <a:pt x="0" y="0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24" name="Flecha 31_2"/>
            <p:cNvSpPr/>
            <p:nvPr/>
          </p:nvSpPr>
          <p:spPr>
            <a:xfrm>
              <a:off x="10070592" y="4986528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346"/>
                  </a:moveTo>
                  <a:lnTo>
                    <a:pt x="0" y="0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25" name="Flecha 33_2"/>
            <p:cNvSpPr/>
            <p:nvPr/>
          </p:nvSpPr>
          <p:spPr>
            <a:xfrm>
              <a:off x="10450982" y="4986528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346"/>
                  </a:moveTo>
                  <a:lnTo>
                    <a:pt x="0" y="0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26" name="Flecha 35_2"/>
            <p:cNvSpPr/>
            <p:nvPr/>
          </p:nvSpPr>
          <p:spPr>
            <a:xfrm>
              <a:off x="10450982" y="4986528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346"/>
                  </a:moveTo>
                  <a:lnTo>
                    <a:pt x="0" y="0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27" name="Flecha 37_2"/>
            <p:cNvSpPr/>
            <p:nvPr/>
          </p:nvSpPr>
          <p:spPr>
            <a:xfrm>
              <a:off x="10831373" y="4986528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346"/>
                  </a:moveTo>
                  <a:lnTo>
                    <a:pt x="0" y="0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28" name="Flecha 39_2"/>
            <p:cNvSpPr/>
            <p:nvPr/>
          </p:nvSpPr>
          <p:spPr>
            <a:xfrm>
              <a:off x="10831373" y="4986528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346"/>
                  </a:moveTo>
                  <a:lnTo>
                    <a:pt x="0" y="0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29" name="Flecha 41_2"/>
            <p:cNvSpPr/>
            <p:nvPr/>
          </p:nvSpPr>
          <p:spPr>
            <a:xfrm>
              <a:off x="10070592" y="5303520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0"/>
                  </a:moveTo>
                  <a:lnTo>
                    <a:pt x="0" y="346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30" name="Flecha 43_2"/>
            <p:cNvSpPr/>
            <p:nvPr/>
          </p:nvSpPr>
          <p:spPr>
            <a:xfrm>
              <a:off x="10070592" y="5303520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0"/>
                  </a:moveTo>
                  <a:lnTo>
                    <a:pt x="0" y="346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31" name="Flecha 45_2"/>
            <p:cNvSpPr/>
            <p:nvPr/>
          </p:nvSpPr>
          <p:spPr>
            <a:xfrm>
              <a:off x="10450982" y="5303520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0"/>
                  </a:moveTo>
                  <a:lnTo>
                    <a:pt x="0" y="346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32" name="Flecha 47_2"/>
            <p:cNvSpPr/>
            <p:nvPr/>
          </p:nvSpPr>
          <p:spPr>
            <a:xfrm>
              <a:off x="10450982" y="5303520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0"/>
                  </a:moveTo>
                  <a:lnTo>
                    <a:pt x="0" y="346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33" name="Flecha 49_2"/>
            <p:cNvSpPr/>
            <p:nvPr/>
          </p:nvSpPr>
          <p:spPr>
            <a:xfrm>
              <a:off x="10831373" y="5303520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0"/>
                  </a:moveTo>
                  <a:lnTo>
                    <a:pt x="0" y="346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34" name="Flecha 51_2"/>
            <p:cNvSpPr/>
            <p:nvPr/>
          </p:nvSpPr>
          <p:spPr>
            <a:xfrm>
              <a:off x="10831373" y="5303520"/>
              <a:ext cx="9144" cy="316992"/>
            </a:xfrm>
            <a:custGeom>
              <a:avLst/>
              <a:gdLst/>
              <a:ahLst/>
              <a:cxnLst/>
              <a:rect l="0" t="0" r="r" b="b"/>
              <a:pathLst>
                <a:path w="10" h="346" fill="none">
                  <a:moveTo>
                    <a:pt x="0" y="0"/>
                  </a:moveTo>
                  <a:lnTo>
                    <a:pt x="0" y="346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35" name="Flecha 53_2"/>
            <p:cNvSpPr/>
            <p:nvPr/>
          </p:nvSpPr>
          <p:spPr>
            <a:xfrm>
              <a:off x="10831373" y="5303520"/>
              <a:ext cx="316992" cy="9144"/>
            </a:xfrm>
            <a:custGeom>
              <a:avLst/>
              <a:gdLst/>
              <a:ahLst/>
              <a:cxnLst/>
              <a:rect l="0" t="0" r="r" b="b"/>
              <a:pathLst>
                <a:path w="346" h="10" fill="none">
                  <a:moveTo>
                    <a:pt x="0" y="0"/>
                  </a:moveTo>
                  <a:lnTo>
                    <a:pt x="346" y="0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36" name="Flecha 55_2"/>
            <p:cNvSpPr/>
            <p:nvPr/>
          </p:nvSpPr>
          <p:spPr>
            <a:xfrm>
              <a:off x="10831373" y="5303520"/>
              <a:ext cx="316992" cy="9144"/>
            </a:xfrm>
            <a:custGeom>
              <a:avLst/>
              <a:gdLst/>
              <a:ahLst/>
              <a:cxnLst/>
              <a:rect l="0" t="0" r="r" b="b"/>
              <a:pathLst>
                <a:path w="346" h="10" fill="none">
                  <a:moveTo>
                    <a:pt x="0" y="0"/>
                  </a:moveTo>
                  <a:lnTo>
                    <a:pt x="346" y="0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37" name="Flecha 57_2"/>
            <p:cNvSpPr/>
            <p:nvPr/>
          </p:nvSpPr>
          <p:spPr>
            <a:xfrm>
              <a:off x="9690202" y="5303520"/>
              <a:ext cx="380390" cy="63398"/>
            </a:xfrm>
            <a:custGeom>
              <a:avLst/>
              <a:gdLst/>
              <a:ahLst/>
              <a:cxnLst/>
              <a:rect l="0" t="0" r="r" b="b"/>
              <a:pathLst>
                <a:path w="416" h="69" fill="none">
                  <a:moveTo>
                    <a:pt x="416" y="0"/>
                  </a:moveTo>
                  <a:lnTo>
                    <a:pt x="0" y="69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38" name="Flecha 59_2"/>
            <p:cNvSpPr/>
            <p:nvPr/>
          </p:nvSpPr>
          <p:spPr>
            <a:xfrm>
              <a:off x="9690202" y="5303520"/>
              <a:ext cx="380390" cy="63398"/>
            </a:xfrm>
            <a:custGeom>
              <a:avLst/>
              <a:gdLst/>
              <a:ahLst/>
              <a:cxnLst/>
              <a:rect l="0" t="0" r="r" b="b"/>
              <a:pathLst>
                <a:path w="416" h="69" fill="none">
                  <a:moveTo>
                    <a:pt x="416" y="0"/>
                  </a:moveTo>
                  <a:lnTo>
                    <a:pt x="0" y="69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39" name="Flecha 61_2"/>
            <p:cNvSpPr/>
            <p:nvPr/>
          </p:nvSpPr>
          <p:spPr>
            <a:xfrm>
              <a:off x="9404909" y="5145024"/>
              <a:ext cx="285293" cy="221894"/>
            </a:xfrm>
            <a:custGeom>
              <a:avLst/>
              <a:gdLst/>
              <a:ahLst/>
              <a:cxnLst/>
              <a:rect l="0" t="0" r="r" b="b"/>
              <a:pathLst>
                <a:path w="311" h="242" fill="none">
                  <a:moveTo>
                    <a:pt x="311" y="242"/>
                  </a:moveTo>
                  <a:lnTo>
                    <a:pt x="0" y="0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40" name="Flecha 63_2"/>
            <p:cNvSpPr/>
            <p:nvPr/>
          </p:nvSpPr>
          <p:spPr>
            <a:xfrm>
              <a:off x="9404909" y="5145024"/>
              <a:ext cx="285293" cy="221894"/>
            </a:xfrm>
            <a:custGeom>
              <a:avLst/>
              <a:gdLst/>
              <a:ahLst/>
              <a:cxnLst/>
              <a:rect l="0" t="0" r="r" b="b"/>
              <a:pathLst>
                <a:path w="311" h="242" fill="none">
                  <a:moveTo>
                    <a:pt x="311" y="242"/>
                  </a:moveTo>
                  <a:lnTo>
                    <a:pt x="0" y="0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41" name="Flecha 65_2"/>
            <p:cNvSpPr/>
            <p:nvPr/>
          </p:nvSpPr>
          <p:spPr>
            <a:xfrm>
              <a:off x="9151315" y="5145024"/>
              <a:ext cx="253594" cy="190195"/>
            </a:xfrm>
            <a:custGeom>
              <a:avLst/>
              <a:gdLst/>
              <a:ahLst/>
              <a:cxnLst/>
              <a:rect l="0" t="0" r="r" b="b"/>
              <a:pathLst>
                <a:path w="277" h="207" fill="none">
                  <a:moveTo>
                    <a:pt x="277" y="0"/>
                  </a:moveTo>
                  <a:lnTo>
                    <a:pt x="0" y="207"/>
                  </a:lnTo>
                </a:path>
              </a:pathLst>
            </a:custGeom>
            <a:noFill/>
            <a:ln w="70442" cap="rnd">
              <a:solidFill>
                <a:srgbClr val="B9B9B9"/>
              </a:solidFill>
              <a:round/>
            </a:ln>
          </p:spPr>
        </p:sp>
        <p:sp>
          <p:nvSpPr>
            <p:cNvPr id="42" name="Flecha 67_2"/>
            <p:cNvSpPr/>
            <p:nvPr/>
          </p:nvSpPr>
          <p:spPr>
            <a:xfrm>
              <a:off x="9151315" y="5145024"/>
              <a:ext cx="253594" cy="190195"/>
            </a:xfrm>
            <a:custGeom>
              <a:avLst/>
              <a:gdLst/>
              <a:ahLst/>
              <a:cxnLst/>
              <a:rect l="0" t="0" r="r" b="b"/>
              <a:pathLst>
                <a:path w="277" h="207" fill="none">
                  <a:moveTo>
                    <a:pt x="277" y="0"/>
                  </a:moveTo>
                  <a:lnTo>
                    <a:pt x="0" y="207"/>
                  </a:lnTo>
                </a:path>
              </a:pathLst>
            </a:custGeom>
            <a:noFill/>
            <a:ln w="39624" cap="rnd">
              <a:solidFill>
                <a:srgbClr val="FFFFFF"/>
              </a:solidFill>
              <a:round/>
            </a:ln>
          </p:spPr>
        </p:sp>
        <p:sp>
          <p:nvSpPr>
            <p:cNvPr id="43" name="Forma 69"/>
            <p:cNvSpPr/>
            <p:nvPr/>
          </p:nvSpPr>
          <p:spPr>
            <a:xfrm>
              <a:off x="9942844" y="4858780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4" name="Forma 70"/>
            <p:cNvSpPr/>
            <p:nvPr/>
          </p:nvSpPr>
          <p:spPr>
            <a:xfrm>
              <a:off x="10323235" y="4858780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5" name="Forma 71"/>
            <p:cNvSpPr/>
            <p:nvPr/>
          </p:nvSpPr>
          <p:spPr>
            <a:xfrm>
              <a:off x="10703625" y="4858780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6" name="Forma 72"/>
            <p:cNvSpPr/>
            <p:nvPr/>
          </p:nvSpPr>
          <p:spPr>
            <a:xfrm>
              <a:off x="9942844" y="5492764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7" name="Forma 73"/>
            <p:cNvSpPr/>
            <p:nvPr/>
          </p:nvSpPr>
          <p:spPr>
            <a:xfrm>
              <a:off x="10323235" y="5492764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74"/>
            <p:cNvSpPr/>
            <p:nvPr/>
          </p:nvSpPr>
          <p:spPr>
            <a:xfrm>
              <a:off x="10703625" y="5492764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9" name="Forma 75"/>
            <p:cNvSpPr/>
            <p:nvPr/>
          </p:nvSpPr>
          <p:spPr>
            <a:xfrm>
              <a:off x="11020617" y="5175772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0" name="Forma 76"/>
            <p:cNvSpPr/>
            <p:nvPr/>
          </p:nvSpPr>
          <p:spPr>
            <a:xfrm>
              <a:off x="9562454" y="5239171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1" name="Forma 77"/>
            <p:cNvSpPr/>
            <p:nvPr/>
          </p:nvSpPr>
          <p:spPr>
            <a:xfrm>
              <a:off x="9277161" y="5017276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2" name="Forma 78"/>
            <p:cNvSpPr/>
            <p:nvPr/>
          </p:nvSpPr>
          <p:spPr>
            <a:xfrm>
              <a:off x="9023567" y="5207471"/>
              <a:ext cx="255496" cy="25549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3" name="Forma 79"/>
            <p:cNvSpPr/>
            <p:nvPr/>
          </p:nvSpPr>
          <p:spPr>
            <a:xfrm>
              <a:off x="9930069" y="5162997"/>
              <a:ext cx="281045" cy="28104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B44D"/>
                </a:gs>
                <a:gs pos="75000">
                  <a:srgbClr val="F39C12"/>
                </a:gs>
                <a:gs pos="100000">
                  <a:srgbClr val="AA6D0C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4" name="Forma 80"/>
            <p:cNvSpPr/>
            <p:nvPr/>
          </p:nvSpPr>
          <p:spPr>
            <a:xfrm>
              <a:off x="10310460" y="5162997"/>
              <a:ext cx="281045" cy="28104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B44D"/>
                </a:gs>
                <a:gs pos="75000">
                  <a:srgbClr val="F39C12"/>
                </a:gs>
                <a:gs pos="100000">
                  <a:srgbClr val="AA6D0C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5" name="Forma 81"/>
            <p:cNvSpPr/>
            <p:nvPr/>
          </p:nvSpPr>
          <p:spPr>
            <a:xfrm>
              <a:off x="10690850" y="5162997"/>
              <a:ext cx="281045" cy="28104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B44D"/>
                </a:gs>
                <a:gs pos="75000">
                  <a:srgbClr val="F39C12"/>
                </a:gs>
                <a:gs pos="100000">
                  <a:srgbClr val="AA6D0C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ENERGÍA LIBRE DE GIBBS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5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4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6" name="Panel ΔG &lt; 0"/>
          <p:cNvGrpSpPr/>
          <p:nvPr/>
        </p:nvGrpSpPr>
        <p:grpSpPr>
          <a:xfrm>
            <a:off x="411480" y="1097280"/>
            <a:ext cx="3611880" cy="4480560"/>
            <a:chOff x="411480" y="1097280"/>
            <a:chExt cx="3611880" cy="4480560"/>
          </a:xfrm>
        </p:grpSpPr>
        <p:sp>
          <p:nvSpPr>
            <p:cNvPr id="7" name="Forma 6"/>
            <p:cNvSpPr/>
            <p:nvPr/>
          </p:nvSpPr>
          <p:spPr>
            <a:xfrm>
              <a:off x="411480" y="1097280"/>
              <a:ext cx="3611880" cy="44805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 txBox="1"/>
            <p:nvPr/>
          </p:nvSpPr>
          <p:spPr>
            <a:xfrm>
              <a:off x="594360" y="1234440"/>
              <a:ext cx="324612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4E7A30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ΔG &lt; 0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685800" y="2194560"/>
              <a:ext cx="3063240" cy="14630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A9CF86"/>
                </a:gs>
                <a:gs pos="100000">
                  <a:srgbClr val="6CA848"/>
                </a:gs>
              </a:gsLst>
              <a:lin ang="540000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0" name="Forma 9"/>
            <p:cNvSpPr txBox="1"/>
            <p:nvPr/>
          </p:nvSpPr>
          <p:spPr>
            <a:xfrm>
              <a:off x="640080" y="3840480"/>
              <a:ext cx="3154680" cy="1645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Espontánea (exergónica)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libera energía; los productos son más estables que los reactivos.</a:t>
              </a:r>
              <a:endParaRPr lang="es-AR" sz="1650" dirty="0">
                <a:latin typeface="Calibri"/>
              </a:endParaRPr>
            </a:p>
          </p:txBody>
        </p:sp>
      </p:grpSp>
      <p:grpSp>
        <p:nvGrpSpPr>
          <p:cNvPr id="11" name="Panel ΔG &gt; 0"/>
          <p:cNvGrpSpPr/>
          <p:nvPr/>
        </p:nvGrpSpPr>
        <p:grpSpPr>
          <a:xfrm>
            <a:off x="4251960" y="1097280"/>
            <a:ext cx="3611880" cy="4480560"/>
            <a:chOff x="4251960" y="1097280"/>
            <a:chExt cx="3611880" cy="4480560"/>
          </a:xfrm>
        </p:grpSpPr>
        <p:sp>
          <p:nvSpPr>
            <p:cNvPr id="12" name="Forma 11"/>
            <p:cNvSpPr/>
            <p:nvPr/>
          </p:nvSpPr>
          <p:spPr>
            <a:xfrm>
              <a:off x="4251960" y="1097280"/>
              <a:ext cx="3611880" cy="44805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3" name="Forma 12"/>
            <p:cNvSpPr txBox="1"/>
            <p:nvPr/>
          </p:nvSpPr>
          <p:spPr>
            <a:xfrm>
              <a:off x="4434840" y="1234440"/>
              <a:ext cx="324612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C00000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ΔG &gt; 0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4526280" y="2194560"/>
              <a:ext cx="3063240" cy="14630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000" y="0"/>
                  </a:move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F5B7B1"/>
                </a:gs>
                <a:gs pos="100000">
                  <a:srgbClr val="E74C3C"/>
                </a:gs>
              </a:gsLst>
              <a:lin ang="540000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5" name="Forma 14"/>
            <p:cNvSpPr txBox="1"/>
            <p:nvPr/>
          </p:nvSpPr>
          <p:spPr>
            <a:xfrm>
              <a:off x="4480560" y="3840480"/>
              <a:ext cx="3154680" cy="1645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espontánea (endergónica)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necesita energía del exterior; los productos tienen más energía.</a:t>
              </a:r>
              <a:endParaRPr lang="es-AR" sz="1650" dirty="0">
                <a:latin typeface="Calibri"/>
              </a:endParaRPr>
            </a:p>
          </p:txBody>
        </p:sp>
      </p:grpSp>
      <p:grpSp>
        <p:nvGrpSpPr>
          <p:cNvPr id="16" name="Panel ΔG = 0"/>
          <p:cNvGrpSpPr/>
          <p:nvPr/>
        </p:nvGrpSpPr>
        <p:grpSpPr>
          <a:xfrm>
            <a:off x="8092440" y="1097280"/>
            <a:ext cx="3611880" cy="4480560"/>
            <a:chOff x="8092440" y="1097280"/>
            <a:chExt cx="3611880" cy="4480560"/>
          </a:xfrm>
        </p:grpSpPr>
        <p:sp>
          <p:nvSpPr>
            <p:cNvPr id="17" name="Forma 16"/>
            <p:cNvSpPr/>
            <p:nvPr/>
          </p:nvSpPr>
          <p:spPr>
            <a:xfrm>
              <a:off x="8092440" y="1097280"/>
              <a:ext cx="3611880" cy="448056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8" name="Forma 17"/>
            <p:cNvSpPr txBox="1"/>
            <p:nvPr/>
          </p:nvSpPr>
          <p:spPr>
            <a:xfrm>
              <a:off x="8275320" y="1234440"/>
              <a:ext cx="324612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3000" b="1" dirty="0">
                  <a:solidFill>
                    <a:srgbClr val="1F3864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ΔG = 0</a:t>
              </a:r>
              <a:endParaRPr lang="es-AR" sz="3000" dirty="0">
                <a:latin typeface="Segoe Print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366760" y="3291840"/>
              <a:ext cx="3063240" cy="365760"/>
            </a:xfrm>
            <a:prstGeom prst="rect">
              <a:avLst/>
            </a:prstGeom>
            <a:gradFill rotWithShape="1">
              <a:gsLst>
                <a:gs pos="0">
                  <a:srgbClr val="D8E6F2"/>
                </a:gs>
                <a:gs pos="100000">
                  <a:srgbClr val="86AADA"/>
                </a:gs>
              </a:gsLst>
              <a:lin ang="540000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9646920" y="2377440"/>
              <a:ext cx="502920" cy="914400"/>
            </a:xfrm>
            <a:prstGeom prst="triangle">
              <a:avLst/>
            </a:prstGeom>
            <a:solidFill>
              <a:srgbClr val="1F3864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8915400" y="2240280"/>
              <a:ext cx="1965960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22" name="Forma 21"/>
            <p:cNvSpPr txBox="1"/>
            <p:nvPr/>
          </p:nvSpPr>
          <p:spPr>
            <a:xfrm>
              <a:off x="8321040" y="3840480"/>
              <a:ext cx="3154680" cy="1645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Equilibrio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no hay transformación neta.</a:t>
              </a:r>
              <a:endParaRPr lang="es-AR" sz="1650" dirty="0">
                <a:latin typeface="Calibri"/>
              </a:endParaRPr>
            </a:p>
          </p:txBody>
        </p:sp>
      </p:grpSp>
      <p:sp>
        <p:nvSpPr>
          <p:cNvPr id="23" name="Bola cuesta abajo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gradFill rotWithShape="1">
            <a:gsLst>
              <a:gs pos="0">
                <a:srgbClr val="F7C370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24" name="Bola cuesta arriba"/>
          <p:cNvSpPr/>
          <p:nvPr/>
        </p:nvSpPr>
        <p:spPr>
          <a:xfrm>
            <a:off x="4297680" y="3200400"/>
            <a:ext cx="502920" cy="502920"/>
          </a:xfrm>
          <a:prstGeom prst="ellipse">
            <a:avLst/>
          </a:prstGeom>
          <a:gradFill rotWithShape="1">
            <a:gsLst>
              <a:gs pos="0">
                <a:srgbClr val="F7C370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1E1E"/>
            </a:solidFill>
            <a:round/>
          </a:ln>
        </p:spPr>
      </p:sp>
      <p:grpSp>
        <p:nvGrpSpPr>
          <p:cNvPr id="25" name="Perla"/>
          <p:cNvGrpSpPr/>
          <p:nvPr/>
        </p:nvGrpSpPr>
        <p:grpSpPr>
          <a:xfrm>
            <a:off x="411480" y="5760720"/>
            <a:ext cx="11338560" cy="731520"/>
            <a:chOff x="411480" y="5760720"/>
            <a:chExt cx="11338560" cy="731520"/>
          </a:xfrm>
        </p:grpSpPr>
        <p:sp>
          <p:nvSpPr>
            <p:cNvPr id="26" name="Forma 25"/>
            <p:cNvSpPr/>
            <p:nvPr/>
          </p:nvSpPr>
          <p:spPr>
            <a:xfrm>
              <a:off x="411480" y="5961888"/>
              <a:ext cx="11338560" cy="53035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2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Corolario: si una reacción es espontánea en un sentido (ΔG &lt; 0), la </a:t>
              </a:r>
              <a:r>
                <a:rPr lang="es-AR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inversa</a:t>
              </a:r>
              <a:r>
                <a:rPr lang="es-AR" sz="12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es no espontánea (mismo valor, signo opuesto).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539496" y="5760720"/>
              <a:ext cx="1237303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COROLARIO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 REGLA DEL ΔG</a:t>
            </a:r>
            <a:endParaRPr lang="es-AR" sz="3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75 0.1933 E" pathEditMode="relative" ptsTypes="">
                                      <p:cBhvr>
                                        <p:cTn id="12" dur="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9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50 -0.0480 L 0.0675 -0.0667 L 0.0900 -0.1000 E" pathEditMode="relative" ptsTypes="">
                                      <p:cBhvr>
                                        <p:cTn id="24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0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1000 E" pathEditMode="relative" ptsTypes="">
                                      <p:cBhvr>
                                        <p:cTn id="27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0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!!Ejes G"/>
          <p:cNvGrpSpPr/>
          <p:nvPr/>
        </p:nvGrpSpPr>
        <p:grpSpPr>
          <a:xfrm>
            <a:off x="594360" y="914400"/>
            <a:ext cx="7360920" cy="5129784"/>
            <a:chOff x="594360" y="914400"/>
            <a:chExt cx="7360920" cy="5129784"/>
          </a:xfrm>
        </p:grpSpPr>
        <p:sp>
          <p:nvSpPr>
            <p:cNvPr id="6" name="Flecha 5_2"/>
            <p:cNvSpPr/>
            <p:nvPr/>
          </p:nvSpPr>
          <p:spPr>
            <a:xfrm>
              <a:off x="640080" y="1280160"/>
              <a:ext cx="9144" cy="4389120"/>
            </a:xfrm>
            <a:custGeom>
              <a:avLst/>
              <a:gdLst/>
              <a:ahLst/>
              <a:cxnLst/>
              <a:rect l="0" t="0" r="r" b="b"/>
              <a:pathLst>
                <a:path w="10" h="4800" fill="none">
                  <a:moveTo>
                    <a:pt x="0" y="48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640080" y="5669280"/>
              <a:ext cx="7315200" cy="9144"/>
            </a:xfrm>
            <a:custGeom>
              <a:avLst/>
              <a:gdLst/>
              <a:ahLst/>
              <a:cxnLst/>
              <a:rect l="0" t="0" r="r" b="b"/>
              <a:pathLst>
                <a:path w="7999" h="10" fill="none">
                  <a:moveTo>
                    <a:pt x="0" y="0"/>
                  </a:moveTo>
                  <a:lnTo>
                    <a:pt x="79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5120640" y="572414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avance de la reacción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594360" y="91440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energía libre (G)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Nivel reactivos A"/>
          <p:cNvSpPr/>
          <p:nvPr/>
        </p:nvSpPr>
        <p:spPr>
          <a:xfrm>
            <a:off x="914400" y="2615184"/>
            <a:ext cx="1737360" cy="91440"/>
          </a:xfrm>
          <a:prstGeom prst="rect">
            <a:avLst/>
          </a:prstGeom>
          <a:solidFill>
            <a:srgbClr val="5DADE2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11" name="Rótulo reactivos A"/>
          <p:cNvSpPr txBox="1"/>
          <p:nvPr/>
        </p:nvSpPr>
        <p:spPr>
          <a:xfrm>
            <a:off x="914400" y="220370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Reactivos</a:t>
            </a:r>
            <a:endParaRPr lang="es-AR" sz="1500" dirty="0">
              <a:latin typeface="Calibri"/>
            </a:endParaRPr>
          </a:p>
        </p:txBody>
      </p:sp>
      <p:sp>
        <p:nvSpPr>
          <p:cNvPr id="12" name="Transformación A"/>
          <p:cNvSpPr/>
          <p:nvPr/>
        </p:nvSpPr>
        <p:spPr>
          <a:xfrm>
            <a:off x="2651760" y="1371600"/>
            <a:ext cx="3108960" cy="429768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300"/>
                </a:moveTo>
                <a:cubicBezTo>
                  <a:pt x="45" y="303"/>
                  <a:pt x="210" y="275"/>
                  <a:pt x="300" y="320"/>
                </a:cubicBezTo>
                <a:cubicBezTo>
                  <a:pt x="390" y="365"/>
                  <a:pt x="495" y="535"/>
                  <a:pt x="600" y="600"/>
                </a:cubicBezTo>
                <a:cubicBezTo>
                  <a:pt x="705" y="664"/>
                  <a:pt x="940" y="727"/>
                  <a:pt x="1000" y="750"/>
                </a:cubicBezTo>
              </a:path>
            </a:pathLst>
          </a:custGeom>
          <a:noFill/>
          <a:ln w="38100" cap="rnd">
            <a:solidFill>
              <a:srgbClr val="1E1E1E"/>
            </a:solidFill>
            <a:prstDash val="dash"/>
            <a:round/>
          </a:ln>
        </p:spPr>
      </p:sp>
      <p:sp>
        <p:nvSpPr>
          <p:cNvPr id="13" name="Nivel productos A"/>
          <p:cNvSpPr/>
          <p:nvPr/>
        </p:nvSpPr>
        <p:spPr>
          <a:xfrm>
            <a:off x="5760720" y="4549140"/>
            <a:ext cx="1737360" cy="91440"/>
          </a:xfrm>
          <a:prstGeom prst="rect">
            <a:avLst/>
          </a:prstGeom>
          <a:solidFill>
            <a:srgbClr val="F5B041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14" name="Rótulo productos A"/>
          <p:cNvSpPr txBox="1"/>
          <p:nvPr/>
        </p:nvSpPr>
        <p:spPr>
          <a:xfrm>
            <a:off x="5760720" y="46863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lang="es-AR" sz="1500" dirty="0">
              <a:latin typeface="Calibri"/>
            </a:endParaRPr>
          </a:p>
        </p:txBody>
      </p:sp>
      <p:sp>
        <p:nvSpPr>
          <p:cNvPr id="15" name="Flecha ΔG A"/>
          <p:cNvSpPr/>
          <p:nvPr/>
        </p:nvSpPr>
        <p:spPr>
          <a:xfrm>
            <a:off x="6629400" y="2660904"/>
            <a:ext cx="9144" cy="1860804"/>
          </a:xfrm>
          <a:custGeom>
            <a:avLst/>
            <a:gdLst/>
            <a:ahLst/>
            <a:cxnLst/>
            <a:rect l="0" t="0" r="r" b="b"/>
            <a:pathLst>
              <a:path w="10" h="2035" fill="none">
                <a:moveTo>
                  <a:pt x="0" y="0"/>
                </a:moveTo>
                <a:lnTo>
                  <a:pt x="0" y="2035"/>
                </a:lnTo>
              </a:path>
            </a:pathLst>
          </a:custGeom>
          <a:noFill/>
          <a:ln w="63500" cap="rnd">
            <a:solidFill>
              <a:srgbClr val="4E7A30"/>
            </a:solidFill>
            <a:round/>
            <a:tailEnd type="triangle" w="med" len="med"/>
          </a:ln>
        </p:spPr>
      </p:sp>
      <p:sp>
        <p:nvSpPr>
          <p:cNvPr id="16" name="Rótulo ΔG A"/>
          <p:cNvSpPr/>
          <p:nvPr/>
        </p:nvSpPr>
        <p:spPr>
          <a:xfrm>
            <a:off x="6812280" y="3399282"/>
            <a:ext cx="915650" cy="377190"/>
          </a:xfrm>
          <a:prstGeom prst="rect">
            <a:avLst/>
          </a:prstGeom>
          <a:solidFill>
            <a:srgbClr val="4E7A3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ΔG &lt; 0</a:t>
            </a:r>
            <a:endParaRPr lang="es-AR" sz="1800" dirty="0">
              <a:latin typeface="Calibri"/>
            </a:endParaRPr>
          </a:p>
        </p:txBody>
      </p:sp>
      <p:sp>
        <p:nvSpPr>
          <p:cNvPr id="17" name="Nivel reactivos B"/>
          <p:cNvSpPr/>
          <p:nvPr/>
        </p:nvSpPr>
        <p:spPr>
          <a:xfrm>
            <a:off x="914400" y="4549140"/>
            <a:ext cx="1737360" cy="91440"/>
          </a:xfrm>
          <a:prstGeom prst="rect">
            <a:avLst/>
          </a:prstGeom>
          <a:solidFill>
            <a:srgbClr val="85C1E9"/>
          </a:solidFill>
          <a:ln w="12700" cap="rnd">
            <a:solidFill>
              <a:srgbClr val="C00000"/>
            </a:solidFill>
            <a:prstDash val="dash"/>
            <a:round/>
          </a:ln>
        </p:spPr>
      </p:sp>
      <p:sp>
        <p:nvSpPr>
          <p:cNvPr id="18" name="Nivel productos B"/>
          <p:cNvSpPr/>
          <p:nvPr/>
        </p:nvSpPr>
        <p:spPr>
          <a:xfrm>
            <a:off x="5760720" y="1841602"/>
            <a:ext cx="1737360" cy="91440"/>
          </a:xfrm>
          <a:prstGeom prst="rect">
            <a:avLst/>
          </a:prstGeom>
          <a:solidFill>
            <a:srgbClr val="F1948A"/>
          </a:solidFill>
          <a:ln w="12700" cap="rnd">
            <a:solidFill>
              <a:srgbClr val="C00000"/>
            </a:solidFill>
            <a:prstDash val="dash"/>
            <a:round/>
          </a:ln>
        </p:spPr>
      </p:sp>
      <p:sp>
        <p:nvSpPr>
          <p:cNvPr id="19" name="Flecha ΔG B"/>
          <p:cNvSpPr/>
          <p:nvPr/>
        </p:nvSpPr>
        <p:spPr>
          <a:xfrm>
            <a:off x="3566160" y="1887322"/>
            <a:ext cx="9144" cy="2707538"/>
          </a:xfrm>
          <a:custGeom>
            <a:avLst/>
            <a:gdLst/>
            <a:ahLst/>
            <a:cxnLst/>
            <a:rect l="0" t="0" r="r" b="b"/>
            <a:pathLst>
              <a:path w="10" h="2961" fill="none">
                <a:moveTo>
                  <a:pt x="0" y="2961"/>
                </a:moveTo>
                <a:lnTo>
                  <a:pt x="0" y="0"/>
                </a:lnTo>
              </a:path>
            </a:pathLst>
          </a:custGeom>
          <a:noFill/>
          <a:ln w="63500" cap="rnd">
            <a:solidFill>
              <a:srgbClr val="C00000"/>
            </a:solidFill>
            <a:round/>
            <a:tailEnd type="triangle" w="med" len="med"/>
          </a:ln>
        </p:spPr>
      </p:sp>
      <p:sp>
        <p:nvSpPr>
          <p:cNvPr id="20" name="Rótulo ΔG B"/>
          <p:cNvSpPr/>
          <p:nvPr/>
        </p:nvSpPr>
        <p:spPr>
          <a:xfrm>
            <a:off x="3749040" y="2660904"/>
            <a:ext cx="915650" cy="377190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ΔG &gt; 0</a:t>
            </a:r>
            <a:endParaRPr lang="es-AR" sz="1800" dirty="0">
              <a:latin typeface="Calibri"/>
            </a:endParaRPr>
          </a:p>
        </p:txBody>
      </p:sp>
      <p:grpSp>
        <p:nvGrpSpPr>
          <p:cNvPr id="21" name="Interp A"/>
          <p:cNvGrpSpPr/>
          <p:nvPr/>
        </p:nvGrpSpPr>
        <p:grpSpPr>
          <a:xfrm>
            <a:off x="8549640" y="1097280"/>
            <a:ext cx="3383280" cy="2377440"/>
            <a:chOff x="8549640" y="1097280"/>
            <a:chExt cx="3383280" cy="2377440"/>
          </a:xfrm>
        </p:grpSpPr>
        <p:sp>
          <p:nvSpPr>
            <p:cNvPr id="22" name="Forma 23"/>
            <p:cNvSpPr/>
            <p:nvPr/>
          </p:nvSpPr>
          <p:spPr>
            <a:xfrm>
              <a:off x="8549640" y="12984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Exergónica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los productos tienen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menos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energía; la diferencia se libera. Como un objeto que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rueda cuesta abajo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orma 24"/>
            <p:cNvSpPr/>
            <p:nvPr/>
          </p:nvSpPr>
          <p:spPr>
            <a:xfrm>
              <a:off x="8677656" y="1097280"/>
              <a:ext cx="166329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SIGNO NEGATIVO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Interp B"/>
          <p:cNvGrpSpPr/>
          <p:nvPr/>
        </p:nvGrpSpPr>
        <p:grpSpPr>
          <a:xfrm>
            <a:off x="8549640" y="3703320"/>
            <a:ext cx="3383280" cy="2743200"/>
            <a:chOff x="8549640" y="3703320"/>
            <a:chExt cx="3383280" cy="2743200"/>
          </a:xfrm>
        </p:grpSpPr>
        <p:sp>
          <p:nvSpPr>
            <p:cNvPr id="25" name="Forma 26"/>
            <p:cNvSpPr/>
            <p:nvPr/>
          </p:nvSpPr>
          <p:spPr>
            <a:xfrm>
              <a:off x="8549640" y="390448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Endergónica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los productos tienen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energía; el exterior debe aportarla. Como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empujar un objeto cuesta arriba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6" name="Forma 27"/>
            <p:cNvSpPr/>
            <p:nvPr/>
          </p:nvSpPr>
          <p:spPr>
            <a:xfrm>
              <a:off x="8677656" y="3703320"/>
              <a:ext cx="1511421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COMPARACIÓN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GRÁFICO DE ENERGÍA LIBRE: EXERGÓNICA FRENTE A ENDERGÓNICA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sp>
        <p:nvSpPr>
          <p:cNvPr id="5" name="Calor"/>
          <p:cNvSpPr/>
          <p:nvPr/>
        </p:nvSpPr>
        <p:spPr>
          <a:xfrm>
            <a:off x="411480" y="1188720"/>
            <a:ext cx="3657600" cy="2377440"/>
          </a:xfrm>
          <a:prstGeom prst="roundRect">
            <a:avLst>
              <a:gd name="adj" fmla="val 9000"/>
            </a:avLst>
          </a:prstGeom>
          <a:solidFill>
            <a:srgbClr val="FCE4D6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Exotérmica / endotérmica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refieren al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calor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(ΔH).</a:t>
            </a:r>
            <a:endParaRPr lang="es-AR" sz="2200" dirty="0">
              <a:latin typeface="Calibri"/>
            </a:endParaRPr>
          </a:p>
        </p:txBody>
      </p:sp>
      <p:sp>
        <p:nvSpPr>
          <p:cNvPr id="6" name="Llama"/>
          <p:cNvSpPr/>
          <p:nvPr/>
        </p:nvSpPr>
        <p:spPr>
          <a:xfrm>
            <a:off x="1783080" y="3931920"/>
            <a:ext cx="914400" cy="11887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0"/>
                </a:moveTo>
                <a:cubicBezTo>
                  <a:pt x="555" y="-36"/>
                  <a:pt x="683" y="191"/>
                  <a:pt x="750" y="300"/>
                </a:cubicBezTo>
                <a:cubicBezTo>
                  <a:pt x="816" y="408"/>
                  <a:pt x="908" y="536"/>
                  <a:pt x="900" y="650"/>
                </a:cubicBezTo>
                <a:cubicBezTo>
                  <a:pt x="891" y="763"/>
                  <a:pt x="800" y="925"/>
                  <a:pt x="700" y="980"/>
                </a:cubicBezTo>
                <a:cubicBezTo>
                  <a:pt x="600" y="1035"/>
                  <a:pt x="400" y="1035"/>
                  <a:pt x="300" y="980"/>
                </a:cubicBezTo>
                <a:cubicBezTo>
                  <a:pt x="200" y="925"/>
                  <a:pt x="100" y="743"/>
                  <a:pt x="100" y="650"/>
                </a:cubicBezTo>
                <a:cubicBezTo>
                  <a:pt x="100" y="556"/>
                  <a:pt x="246" y="441"/>
                  <a:pt x="300" y="420"/>
                </a:cubicBezTo>
                <a:cubicBezTo>
                  <a:pt x="353" y="398"/>
                  <a:pt x="386" y="590"/>
                  <a:pt x="420" y="520"/>
                </a:cubicBezTo>
                <a:cubicBezTo>
                  <a:pt x="453" y="450"/>
                  <a:pt x="445" y="36"/>
                  <a:pt x="500" y="0"/>
                </a:cubicBezTo>
                <a:close/>
              </a:path>
            </a:pathLst>
          </a:custGeom>
          <a:gradFill rotWithShape="1">
            <a:gsLst>
              <a:gs pos="0">
                <a:srgbClr val="FFE066"/>
              </a:gs>
              <a:gs pos="60000">
                <a:srgbClr val="F39C12"/>
              </a:gs>
              <a:gs pos="100000">
                <a:srgbClr val="E74C3C"/>
              </a:gs>
            </a:gsLst>
            <a:lin ang="16200000" scaled="0"/>
          </a:gradFill>
          <a:ln w="15875" cap="rnd">
            <a:solidFill>
              <a:srgbClr val="A04000"/>
            </a:solidFill>
            <a:round/>
          </a:ln>
        </p:spPr>
      </p:sp>
      <p:sp>
        <p:nvSpPr>
          <p:cNvPr id="7" name="Trabajo"/>
          <p:cNvSpPr/>
          <p:nvPr/>
        </p:nvSpPr>
        <p:spPr>
          <a:xfrm>
            <a:off x="4480560" y="1188720"/>
            <a:ext cx="3657600" cy="23774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Exergónica / endergónica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refieren a la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energía libre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(ΔG): el trabajo disponible.</a:t>
            </a:r>
            <a:endParaRPr lang="es-AR" sz="2200" dirty="0">
              <a:latin typeface="Calibri"/>
            </a:endParaRPr>
          </a:p>
        </p:txBody>
      </p:sp>
      <p:grpSp>
        <p:nvGrpSpPr>
          <p:cNvPr id="8" name="Balanza"/>
          <p:cNvGrpSpPr/>
          <p:nvPr/>
        </p:nvGrpSpPr>
        <p:grpSpPr>
          <a:xfrm>
            <a:off x="4663440" y="4206240"/>
            <a:ext cx="3291840" cy="1554480"/>
            <a:chOff x="4663440" y="4206240"/>
            <a:chExt cx="3291840" cy="1554480"/>
          </a:xfrm>
        </p:grpSpPr>
        <p:sp>
          <p:nvSpPr>
            <p:cNvPr id="9" name="Forma 8"/>
            <p:cNvSpPr/>
            <p:nvPr/>
          </p:nvSpPr>
          <p:spPr>
            <a:xfrm>
              <a:off x="6035040" y="4937760"/>
              <a:ext cx="548640" cy="822960"/>
            </a:xfrm>
            <a:prstGeom prst="triangle">
              <a:avLst/>
            </a:prstGeom>
            <a:solidFill>
              <a:srgbClr val="1F3864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4846320" y="4800600"/>
              <a:ext cx="2926080" cy="118872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11" name="Forma 10"/>
            <p:cNvSpPr/>
            <p:nvPr/>
          </p:nvSpPr>
          <p:spPr>
            <a:xfrm>
              <a:off x="4663440" y="4206240"/>
              <a:ext cx="822960" cy="566928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7132320" y="4206240"/>
              <a:ext cx="822960" cy="566928"/>
            </a:xfrm>
            <a:prstGeom prst="ellipse">
              <a:avLst/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TΔS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13" name="Combinación"/>
          <p:cNvSpPr/>
          <p:nvPr/>
        </p:nvSpPr>
        <p:spPr>
          <a:xfrm>
            <a:off x="8503920" y="1188720"/>
            <a:ext cx="3429000" cy="27432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ΔG combina ambos términos: una reacción puede absorber calor y aun así ser espontánea si el término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T·ΔS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compensa.</a:t>
            </a:r>
            <a:endParaRPr lang="es-AR" sz="2000" dirty="0">
              <a:latin typeface="Calibri"/>
            </a:endParaRPr>
          </a:p>
        </p:txBody>
      </p:sp>
      <p:grpSp>
        <p:nvGrpSpPr>
          <p:cNvPr id="14" name="Glucosa deco 2"/>
          <p:cNvGrpSpPr/>
          <p:nvPr/>
        </p:nvGrpSpPr>
        <p:grpSpPr>
          <a:xfrm>
            <a:off x="9117087" y="4631068"/>
            <a:ext cx="2015346" cy="1344905"/>
            <a:chOff x="9117087" y="4631068"/>
            <a:chExt cx="2015346" cy="1344905"/>
          </a:xfrm>
        </p:grpSpPr>
        <p:sp>
          <p:nvSpPr>
            <p:cNvPr id="15" name="Flecha 14_2"/>
            <p:cNvSpPr/>
            <p:nvPr/>
          </p:nvSpPr>
          <p:spPr>
            <a:xfrm>
              <a:off x="9838671" y="5319897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0" y="0"/>
                  </a:moveTo>
                  <a:lnTo>
                    <a:pt x="358" y="179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16" name="Flecha 16_2"/>
            <p:cNvSpPr/>
            <p:nvPr/>
          </p:nvSpPr>
          <p:spPr>
            <a:xfrm>
              <a:off x="9838671" y="5319897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0" y="0"/>
                  </a:moveTo>
                  <a:lnTo>
                    <a:pt x="358" y="179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17" name="Flecha 18_2"/>
            <p:cNvSpPr/>
            <p:nvPr/>
          </p:nvSpPr>
          <p:spPr>
            <a:xfrm>
              <a:off x="10166217" y="5319897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0" y="179"/>
                  </a:moveTo>
                  <a:lnTo>
                    <a:pt x="358" y="0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18" name="Flecha 20_2"/>
            <p:cNvSpPr/>
            <p:nvPr/>
          </p:nvSpPr>
          <p:spPr>
            <a:xfrm>
              <a:off x="10166217" y="5319897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0" y="179"/>
                  </a:moveTo>
                  <a:lnTo>
                    <a:pt x="358" y="0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19" name="Flecha 22_2"/>
            <p:cNvSpPr/>
            <p:nvPr/>
          </p:nvSpPr>
          <p:spPr>
            <a:xfrm>
              <a:off x="10493764" y="4959596"/>
              <a:ext cx="9144" cy="360301"/>
            </a:xfrm>
            <a:custGeom>
              <a:avLst/>
              <a:gdLst/>
              <a:ahLst/>
              <a:cxnLst/>
              <a:rect l="0" t="0" r="r" b="b"/>
              <a:pathLst>
                <a:path w="10" h="394" fill="none">
                  <a:moveTo>
                    <a:pt x="0" y="394"/>
                  </a:moveTo>
                  <a:lnTo>
                    <a:pt x="0" y="0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20" name="Flecha 24_2"/>
            <p:cNvSpPr/>
            <p:nvPr/>
          </p:nvSpPr>
          <p:spPr>
            <a:xfrm>
              <a:off x="10493764" y="4959596"/>
              <a:ext cx="9144" cy="360301"/>
            </a:xfrm>
            <a:custGeom>
              <a:avLst/>
              <a:gdLst/>
              <a:ahLst/>
              <a:cxnLst/>
              <a:rect l="0" t="0" r="r" b="b"/>
              <a:pathLst>
                <a:path w="10" h="394" fill="none">
                  <a:moveTo>
                    <a:pt x="0" y="394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21" name="Flecha 26_2"/>
            <p:cNvSpPr/>
            <p:nvPr/>
          </p:nvSpPr>
          <p:spPr>
            <a:xfrm>
              <a:off x="10166217" y="4795823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358" y="179"/>
                  </a:moveTo>
                  <a:lnTo>
                    <a:pt x="0" y="0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22" name="Flecha 28_2"/>
            <p:cNvSpPr/>
            <p:nvPr/>
          </p:nvSpPr>
          <p:spPr>
            <a:xfrm>
              <a:off x="10166217" y="4795823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358" y="179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23" name="Flecha 30_2"/>
            <p:cNvSpPr/>
            <p:nvPr/>
          </p:nvSpPr>
          <p:spPr>
            <a:xfrm>
              <a:off x="9838671" y="4795823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358" y="0"/>
                  </a:moveTo>
                  <a:lnTo>
                    <a:pt x="0" y="179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24" name="Flecha 32_2"/>
            <p:cNvSpPr/>
            <p:nvPr/>
          </p:nvSpPr>
          <p:spPr>
            <a:xfrm>
              <a:off x="9838671" y="4795823"/>
              <a:ext cx="327546" cy="163773"/>
            </a:xfrm>
            <a:custGeom>
              <a:avLst/>
              <a:gdLst/>
              <a:ahLst/>
              <a:cxnLst/>
              <a:rect l="0" t="0" r="r" b="b"/>
              <a:pathLst>
                <a:path w="358" h="179" fill="none">
                  <a:moveTo>
                    <a:pt x="358" y="0"/>
                  </a:moveTo>
                  <a:lnTo>
                    <a:pt x="0" y="179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25" name="Flecha 34_2"/>
            <p:cNvSpPr/>
            <p:nvPr/>
          </p:nvSpPr>
          <p:spPr>
            <a:xfrm>
              <a:off x="9838671" y="4959596"/>
              <a:ext cx="9144" cy="360301"/>
            </a:xfrm>
            <a:custGeom>
              <a:avLst/>
              <a:gdLst/>
              <a:ahLst/>
              <a:cxnLst/>
              <a:rect l="0" t="0" r="r" b="b"/>
              <a:pathLst>
                <a:path w="10" h="394" fill="none">
                  <a:moveTo>
                    <a:pt x="0" y="0"/>
                  </a:moveTo>
                  <a:lnTo>
                    <a:pt x="0" y="394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26" name="Flecha 36_2"/>
            <p:cNvSpPr/>
            <p:nvPr/>
          </p:nvSpPr>
          <p:spPr>
            <a:xfrm>
              <a:off x="9838671" y="4959596"/>
              <a:ext cx="9144" cy="360301"/>
            </a:xfrm>
            <a:custGeom>
              <a:avLst/>
              <a:gdLst/>
              <a:ahLst/>
              <a:cxnLst/>
              <a:rect l="0" t="0" r="r" b="b"/>
              <a:pathLst>
                <a:path w="10" h="394" fill="none">
                  <a:moveTo>
                    <a:pt x="0" y="0"/>
                  </a:moveTo>
                  <a:lnTo>
                    <a:pt x="0" y="394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27" name="Flecha 38_2"/>
            <p:cNvSpPr/>
            <p:nvPr/>
          </p:nvSpPr>
          <p:spPr>
            <a:xfrm>
              <a:off x="9543879" y="5319897"/>
              <a:ext cx="294792" cy="163773"/>
            </a:xfrm>
            <a:custGeom>
              <a:avLst/>
              <a:gdLst/>
              <a:ahLst/>
              <a:cxnLst/>
              <a:rect l="0" t="0" r="r" b="b"/>
              <a:pathLst>
                <a:path w="322" h="179" fill="none">
                  <a:moveTo>
                    <a:pt x="322" y="0"/>
                  </a:moveTo>
                  <a:lnTo>
                    <a:pt x="0" y="179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28" name="Flecha 40_2"/>
            <p:cNvSpPr/>
            <p:nvPr/>
          </p:nvSpPr>
          <p:spPr>
            <a:xfrm>
              <a:off x="9543879" y="5319897"/>
              <a:ext cx="294792" cy="163773"/>
            </a:xfrm>
            <a:custGeom>
              <a:avLst/>
              <a:gdLst/>
              <a:ahLst/>
              <a:cxnLst/>
              <a:rect l="0" t="0" r="r" b="b"/>
              <a:pathLst>
                <a:path w="322" h="179" fill="none">
                  <a:moveTo>
                    <a:pt x="322" y="0"/>
                  </a:moveTo>
                  <a:lnTo>
                    <a:pt x="0" y="179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29" name="Flecha 42_2"/>
            <p:cNvSpPr/>
            <p:nvPr/>
          </p:nvSpPr>
          <p:spPr>
            <a:xfrm>
              <a:off x="10166217" y="5483670"/>
              <a:ext cx="9144" cy="360301"/>
            </a:xfrm>
            <a:custGeom>
              <a:avLst/>
              <a:gdLst/>
              <a:ahLst/>
              <a:cxnLst/>
              <a:rect l="0" t="0" r="r" b="b"/>
              <a:pathLst>
                <a:path w="10" h="394" fill="none">
                  <a:moveTo>
                    <a:pt x="0" y="0"/>
                  </a:moveTo>
                  <a:lnTo>
                    <a:pt x="0" y="394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30" name="Flecha 44_2"/>
            <p:cNvSpPr/>
            <p:nvPr/>
          </p:nvSpPr>
          <p:spPr>
            <a:xfrm>
              <a:off x="10166217" y="5483670"/>
              <a:ext cx="9144" cy="360301"/>
            </a:xfrm>
            <a:custGeom>
              <a:avLst/>
              <a:gdLst/>
              <a:ahLst/>
              <a:cxnLst/>
              <a:rect l="0" t="0" r="r" b="b"/>
              <a:pathLst>
                <a:path w="10" h="394" fill="none">
                  <a:moveTo>
                    <a:pt x="0" y="0"/>
                  </a:moveTo>
                  <a:lnTo>
                    <a:pt x="0" y="394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31" name="Flecha 46_2"/>
            <p:cNvSpPr/>
            <p:nvPr/>
          </p:nvSpPr>
          <p:spPr>
            <a:xfrm>
              <a:off x="10493764" y="5319897"/>
              <a:ext cx="294792" cy="163773"/>
            </a:xfrm>
            <a:custGeom>
              <a:avLst/>
              <a:gdLst/>
              <a:ahLst/>
              <a:cxnLst/>
              <a:rect l="0" t="0" r="r" b="b"/>
              <a:pathLst>
                <a:path w="322" h="179" fill="none">
                  <a:moveTo>
                    <a:pt x="0" y="0"/>
                  </a:moveTo>
                  <a:lnTo>
                    <a:pt x="322" y="179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32" name="Flecha 48_2"/>
            <p:cNvSpPr/>
            <p:nvPr/>
          </p:nvSpPr>
          <p:spPr>
            <a:xfrm>
              <a:off x="10493764" y="5319897"/>
              <a:ext cx="294792" cy="163773"/>
            </a:xfrm>
            <a:custGeom>
              <a:avLst/>
              <a:gdLst/>
              <a:ahLst/>
              <a:cxnLst/>
              <a:rect l="0" t="0" r="r" b="b"/>
              <a:pathLst>
                <a:path w="322" h="179" fill="none">
                  <a:moveTo>
                    <a:pt x="0" y="0"/>
                  </a:moveTo>
                  <a:lnTo>
                    <a:pt x="322" y="179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33" name="Flecha 50_2"/>
            <p:cNvSpPr/>
            <p:nvPr/>
          </p:nvSpPr>
          <p:spPr>
            <a:xfrm>
              <a:off x="9543879" y="4763069"/>
              <a:ext cx="294792" cy="196528"/>
            </a:xfrm>
            <a:custGeom>
              <a:avLst/>
              <a:gdLst/>
              <a:ahLst/>
              <a:cxnLst/>
              <a:rect l="0" t="0" r="r" b="b"/>
              <a:pathLst>
                <a:path w="322" h="214" fill="none">
                  <a:moveTo>
                    <a:pt x="322" y="214"/>
                  </a:moveTo>
                  <a:lnTo>
                    <a:pt x="0" y="0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34" name="Flecha 52_2"/>
            <p:cNvSpPr/>
            <p:nvPr/>
          </p:nvSpPr>
          <p:spPr>
            <a:xfrm>
              <a:off x="9543879" y="4763069"/>
              <a:ext cx="294792" cy="196528"/>
            </a:xfrm>
            <a:custGeom>
              <a:avLst/>
              <a:gdLst/>
              <a:ahLst/>
              <a:cxnLst/>
              <a:rect l="0" t="0" r="r" b="b"/>
              <a:pathLst>
                <a:path w="322" h="214" fill="none">
                  <a:moveTo>
                    <a:pt x="322" y="214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35" name="Flecha 54_2"/>
            <p:cNvSpPr/>
            <p:nvPr/>
          </p:nvSpPr>
          <p:spPr>
            <a:xfrm>
              <a:off x="9249088" y="4763069"/>
              <a:ext cx="294792" cy="163773"/>
            </a:xfrm>
            <a:custGeom>
              <a:avLst/>
              <a:gdLst/>
              <a:ahLst/>
              <a:cxnLst/>
              <a:rect l="0" t="0" r="r" b="b"/>
              <a:pathLst>
                <a:path w="322" h="179" fill="none">
                  <a:moveTo>
                    <a:pt x="322" y="0"/>
                  </a:moveTo>
                  <a:lnTo>
                    <a:pt x="0" y="179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36" name="Flecha 56_2"/>
            <p:cNvSpPr/>
            <p:nvPr/>
          </p:nvSpPr>
          <p:spPr>
            <a:xfrm>
              <a:off x="9249088" y="4763069"/>
              <a:ext cx="294792" cy="163773"/>
            </a:xfrm>
            <a:custGeom>
              <a:avLst/>
              <a:gdLst/>
              <a:ahLst/>
              <a:cxnLst/>
              <a:rect l="0" t="0" r="r" b="b"/>
              <a:pathLst>
                <a:path w="322" h="179" fill="none">
                  <a:moveTo>
                    <a:pt x="322" y="0"/>
                  </a:moveTo>
                  <a:lnTo>
                    <a:pt x="0" y="179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37" name="Flecha 58_2"/>
            <p:cNvSpPr/>
            <p:nvPr/>
          </p:nvSpPr>
          <p:spPr>
            <a:xfrm>
              <a:off x="9281842" y="5352652"/>
              <a:ext cx="262037" cy="131019"/>
            </a:xfrm>
            <a:custGeom>
              <a:avLst/>
              <a:gdLst/>
              <a:ahLst/>
              <a:cxnLst/>
              <a:rect l="0" t="0" r="r" b="b"/>
              <a:pathLst>
                <a:path w="286" h="143" fill="none">
                  <a:moveTo>
                    <a:pt x="286" y="143"/>
                  </a:moveTo>
                  <a:lnTo>
                    <a:pt x="0" y="0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38" name="Flecha 60_2"/>
            <p:cNvSpPr/>
            <p:nvPr/>
          </p:nvSpPr>
          <p:spPr>
            <a:xfrm>
              <a:off x="9281842" y="5352652"/>
              <a:ext cx="262037" cy="131019"/>
            </a:xfrm>
            <a:custGeom>
              <a:avLst/>
              <a:gdLst/>
              <a:ahLst/>
              <a:cxnLst/>
              <a:rect l="0" t="0" r="r" b="b"/>
              <a:pathLst>
                <a:path w="286" h="143" fill="none">
                  <a:moveTo>
                    <a:pt x="286" y="143"/>
                  </a:moveTo>
                  <a:lnTo>
                    <a:pt x="0" y="0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39" name="Flecha 62_2"/>
            <p:cNvSpPr/>
            <p:nvPr/>
          </p:nvSpPr>
          <p:spPr>
            <a:xfrm>
              <a:off x="10788555" y="5352652"/>
              <a:ext cx="262037" cy="131019"/>
            </a:xfrm>
            <a:custGeom>
              <a:avLst/>
              <a:gdLst/>
              <a:ahLst/>
              <a:cxnLst/>
              <a:rect l="0" t="0" r="r" b="b"/>
              <a:pathLst>
                <a:path w="286" h="143" fill="none">
                  <a:moveTo>
                    <a:pt x="0" y="143"/>
                  </a:moveTo>
                  <a:lnTo>
                    <a:pt x="286" y="0"/>
                  </a:lnTo>
                </a:path>
              </a:pathLst>
            </a:custGeom>
            <a:noFill/>
            <a:ln w="72788" cap="rnd">
              <a:solidFill>
                <a:srgbClr val="B9B9B9"/>
              </a:solidFill>
              <a:round/>
            </a:ln>
          </p:spPr>
        </p:sp>
        <p:sp>
          <p:nvSpPr>
            <p:cNvPr id="40" name="Flecha 64_2"/>
            <p:cNvSpPr/>
            <p:nvPr/>
          </p:nvSpPr>
          <p:spPr>
            <a:xfrm>
              <a:off x="10788555" y="5352652"/>
              <a:ext cx="262037" cy="131019"/>
            </a:xfrm>
            <a:custGeom>
              <a:avLst/>
              <a:gdLst/>
              <a:ahLst/>
              <a:cxnLst/>
              <a:rect l="0" t="0" r="r" b="b"/>
              <a:pathLst>
                <a:path w="286" h="143" fill="none">
                  <a:moveTo>
                    <a:pt x="0" y="143"/>
                  </a:moveTo>
                  <a:lnTo>
                    <a:pt x="286" y="0"/>
                  </a:lnTo>
                </a:path>
              </a:pathLst>
            </a:custGeom>
            <a:noFill/>
            <a:ln w="40943" cap="rnd">
              <a:solidFill>
                <a:srgbClr val="FFFFFF"/>
              </a:solidFill>
              <a:round/>
            </a:ln>
          </p:spPr>
        </p:sp>
        <p:sp>
          <p:nvSpPr>
            <p:cNvPr id="41" name="Forma 66"/>
            <p:cNvSpPr/>
            <p:nvPr/>
          </p:nvSpPr>
          <p:spPr>
            <a:xfrm>
              <a:off x="9200002" y="5270811"/>
              <a:ext cx="163681" cy="1636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2" name="Forma 67"/>
            <p:cNvSpPr/>
            <p:nvPr/>
          </p:nvSpPr>
          <p:spPr>
            <a:xfrm>
              <a:off x="10968752" y="5270811"/>
              <a:ext cx="163681" cy="1636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3" name="Forma 68"/>
            <p:cNvSpPr/>
            <p:nvPr/>
          </p:nvSpPr>
          <p:spPr>
            <a:xfrm>
              <a:off x="9706670" y="5187896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4" name="Forma 69"/>
            <p:cNvSpPr/>
            <p:nvPr/>
          </p:nvSpPr>
          <p:spPr>
            <a:xfrm>
              <a:off x="10034216" y="5351669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5" name="Forma 70"/>
            <p:cNvSpPr/>
            <p:nvPr/>
          </p:nvSpPr>
          <p:spPr>
            <a:xfrm>
              <a:off x="10361762" y="5187896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6" name="Forma 71"/>
            <p:cNvSpPr/>
            <p:nvPr/>
          </p:nvSpPr>
          <p:spPr>
            <a:xfrm>
              <a:off x="10361762" y="4827595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7" name="Forma 72"/>
            <p:cNvSpPr/>
            <p:nvPr/>
          </p:nvSpPr>
          <p:spPr>
            <a:xfrm>
              <a:off x="10034216" y="4663822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73"/>
            <p:cNvSpPr/>
            <p:nvPr/>
          </p:nvSpPr>
          <p:spPr>
            <a:xfrm>
              <a:off x="9706670" y="4827595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9" name="Forma 74"/>
            <p:cNvSpPr/>
            <p:nvPr/>
          </p:nvSpPr>
          <p:spPr>
            <a:xfrm>
              <a:off x="9411878" y="5351669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0" name="Forma 75"/>
            <p:cNvSpPr/>
            <p:nvPr/>
          </p:nvSpPr>
          <p:spPr>
            <a:xfrm>
              <a:off x="10034216" y="5711970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1" name="Forma 76"/>
            <p:cNvSpPr/>
            <p:nvPr/>
          </p:nvSpPr>
          <p:spPr>
            <a:xfrm>
              <a:off x="10656554" y="5351669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2" name="Forma 77"/>
            <p:cNvSpPr/>
            <p:nvPr/>
          </p:nvSpPr>
          <p:spPr>
            <a:xfrm>
              <a:off x="9411878" y="4631068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3" name="Forma 78"/>
            <p:cNvSpPr/>
            <p:nvPr/>
          </p:nvSpPr>
          <p:spPr>
            <a:xfrm>
              <a:off x="9117087" y="4794841"/>
              <a:ext cx="264002" cy="264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EXOTÉRMICA NO ES LO MISMO QUE EXERGÓNICA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5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6" name="Lado izquierdo"/>
          <p:cNvGrpSpPr/>
          <p:nvPr/>
        </p:nvGrpSpPr>
        <p:grpSpPr>
          <a:xfrm>
            <a:off x="3200400" y="1828800"/>
            <a:ext cx="1828800" cy="932688"/>
            <a:chOff x="3200400" y="1828800"/>
            <a:chExt cx="1828800" cy="932688"/>
          </a:xfrm>
        </p:grpSpPr>
        <p:sp>
          <p:nvSpPr>
            <p:cNvPr id="7" name="OAA"/>
            <p:cNvSpPr/>
            <p:nvPr/>
          </p:nvSpPr>
          <p:spPr>
            <a:xfrm>
              <a:off x="3200400" y="1828800"/>
              <a:ext cx="18288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CB83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Oxalacetato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" name="NADH inv"/>
            <p:cNvSpPr/>
            <p:nvPr/>
          </p:nvSpPr>
          <p:spPr>
            <a:xfrm>
              <a:off x="3200400" y="2377440"/>
              <a:ext cx="18288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D98B4"/>
                </a:gs>
                <a:gs pos="55000">
                  <a:srgbClr val="1F618D"/>
                </a:gs>
                <a:gs pos="100000">
                  <a:srgbClr val="184D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F30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NADH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9" name="Lado derecho"/>
          <p:cNvGrpSpPr/>
          <p:nvPr/>
        </p:nvGrpSpPr>
        <p:grpSpPr>
          <a:xfrm>
            <a:off x="7406640" y="1828800"/>
            <a:ext cx="1828800" cy="932688"/>
            <a:chOff x="7406640" y="1828800"/>
            <a:chExt cx="1828800" cy="932688"/>
          </a:xfrm>
        </p:grpSpPr>
        <p:sp>
          <p:nvSpPr>
            <p:cNvPr id="10" name="Malato"/>
            <p:cNvSpPr/>
            <p:nvPr/>
          </p:nvSpPr>
          <p:spPr>
            <a:xfrm>
              <a:off x="7406640" y="1828800"/>
              <a:ext cx="18288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Malato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1" name="NAD inv"/>
            <p:cNvSpPr/>
            <p:nvPr/>
          </p:nvSpPr>
          <p:spPr>
            <a:xfrm>
              <a:off x="7406640" y="2377440"/>
              <a:ext cx="18288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FD6F0"/>
                </a:gs>
                <a:gs pos="55000">
                  <a:srgbClr val="85C1E9"/>
                </a:gs>
                <a:gs pos="100000">
                  <a:srgbClr val="6A9AB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26074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14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2" name="Directa"/>
          <p:cNvSpPr/>
          <p:nvPr/>
        </p:nvSpPr>
        <p:spPr>
          <a:xfrm>
            <a:off x="5212080" y="2148840"/>
            <a:ext cx="2011680" cy="9144"/>
          </a:xfrm>
          <a:custGeom>
            <a:avLst/>
            <a:gdLst/>
            <a:ahLst/>
            <a:cxnLst/>
            <a:rect l="0" t="0" r="r" b="b"/>
            <a:pathLst>
              <a:path w="2200" h="10" fill="none">
                <a:moveTo>
                  <a:pt x="0" y="0"/>
                </a:moveTo>
                <a:lnTo>
                  <a:pt x="2200" y="0"/>
                </a:lnTo>
              </a:path>
            </a:pathLst>
          </a:custGeom>
          <a:noFill/>
          <a:ln w="50800" cap="rnd">
            <a:solidFill>
              <a:srgbClr val="4E7A30"/>
            </a:solidFill>
            <a:round/>
            <a:tailEnd type="triangle" w="med" len="med"/>
          </a:ln>
        </p:spPr>
      </p:sp>
      <p:sp>
        <p:nvSpPr>
          <p:cNvPr id="13" name="ΔG directa"/>
          <p:cNvSpPr/>
          <p:nvPr/>
        </p:nvSpPr>
        <p:spPr>
          <a:xfrm>
            <a:off x="5257800" y="1325880"/>
            <a:ext cx="1920240" cy="314325"/>
          </a:xfrm>
          <a:prstGeom prst="rect">
            <a:avLst/>
          </a:prstGeom>
          <a:solidFill>
            <a:srgbClr val="4E7A3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ΔG = −7,1 kcal/mol</a:t>
            </a:r>
            <a:endParaRPr lang="es-AR" sz="1500" dirty="0">
              <a:latin typeface="Calibri"/>
            </a:endParaRPr>
          </a:p>
        </p:txBody>
      </p:sp>
      <p:sp>
        <p:nvSpPr>
          <p:cNvPr id="14" name="Inversa"/>
          <p:cNvSpPr/>
          <p:nvPr/>
        </p:nvSpPr>
        <p:spPr>
          <a:xfrm>
            <a:off x="5212080" y="3200400"/>
            <a:ext cx="2011680" cy="9144"/>
          </a:xfrm>
          <a:custGeom>
            <a:avLst/>
            <a:gdLst/>
            <a:ahLst/>
            <a:cxnLst/>
            <a:rect l="0" t="0" r="r" b="b"/>
            <a:pathLst>
              <a:path w="2200" h="10" fill="none">
                <a:moveTo>
                  <a:pt x="2200" y="0"/>
                </a:move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C00000"/>
            </a:solidFill>
            <a:prstDash val="dash"/>
            <a:round/>
            <a:tailEnd type="triangle" w="med" len="med"/>
          </a:ln>
        </p:spPr>
      </p:sp>
      <p:sp>
        <p:nvSpPr>
          <p:cNvPr id="15" name="ΔG inversa"/>
          <p:cNvSpPr/>
          <p:nvPr/>
        </p:nvSpPr>
        <p:spPr>
          <a:xfrm>
            <a:off x="5257800" y="3429000"/>
            <a:ext cx="1920240" cy="31432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ΔG = +7,1 kcal/mol</a:t>
            </a:r>
            <a:endParaRPr lang="es-AR" sz="1500" dirty="0">
              <a:latin typeface="Calibri"/>
            </a:endParaRPr>
          </a:p>
        </p:txBody>
      </p:sp>
      <p:sp>
        <p:nvSpPr>
          <p:cNvPr id="16" name="Explicación directa"/>
          <p:cNvSpPr/>
          <p:nvPr/>
        </p:nvSpPr>
        <p:spPr>
          <a:xfrm>
            <a:off x="3200400" y="4343400"/>
            <a:ext cx="3840480" cy="210312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Oxalacetato + NADH → malato + NAD</a:t>
            </a:r>
            <a:r>
              <a:rPr lang="es-AR" sz="2200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espontánea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200" dirty="0">
              <a:latin typeface="Calibri"/>
            </a:endParaRPr>
          </a:p>
        </p:txBody>
      </p:sp>
      <p:sp>
        <p:nvSpPr>
          <p:cNvPr id="17" name="Explicación inversa"/>
          <p:cNvSpPr/>
          <p:nvPr/>
        </p:nvSpPr>
        <p:spPr>
          <a:xfrm>
            <a:off x="7269480" y="4343400"/>
            <a:ext cx="1920240" cy="210312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Malato → oxalacetato: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necesita energía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18" name="Deco inv 1"/>
          <p:cNvGrpSpPr/>
          <p:nvPr/>
        </p:nvGrpSpPr>
        <p:grpSpPr>
          <a:xfrm>
            <a:off x="454415" y="1575797"/>
            <a:ext cx="2187459" cy="1981719"/>
            <a:chOff x="454415" y="1575797"/>
            <a:chExt cx="2187459" cy="1981719"/>
          </a:xfrm>
        </p:grpSpPr>
        <p:sp>
          <p:nvSpPr>
            <p:cNvPr id="19" name="Flecha 18_2"/>
            <p:cNvSpPr/>
            <p:nvPr/>
          </p:nvSpPr>
          <p:spPr>
            <a:xfrm>
              <a:off x="1457325" y="2297430"/>
              <a:ext cx="514350" cy="257175"/>
            </a:xfrm>
            <a:custGeom>
              <a:avLst/>
              <a:gdLst/>
              <a:ahLst/>
              <a:cxnLst/>
              <a:rect l="0" t="0" r="r" b="b"/>
              <a:pathLst>
                <a:path w="562" h="281" fill="none">
                  <a:moveTo>
                    <a:pt x="0" y="281"/>
                  </a:moveTo>
                  <a:lnTo>
                    <a:pt x="562" y="0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20" name="Flecha 20_2"/>
            <p:cNvSpPr/>
            <p:nvPr/>
          </p:nvSpPr>
          <p:spPr>
            <a:xfrm>
              <a:off x="1457325" y="2297430"/>
              <a:ext cx="514350" cy="257175"/>
            </a:xfrm>
            <a:custGeom>
              <a:avLst/>
              <a:gdLst/>
              <a:ahLst/>
              <a:cxnLst/>
              <a:rect l="0" t="0" r="r" b="b"/>
              <a:pathLst>
                <a:path w="562" h="281" fill="none">
                  <a:moveTo>
                    <a:pt x="0" y="281"/>
                  </a:moveTo>
                  <a:lnTo>
                    <a:pt x="562" y="0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21" name="Flecha 22_2"/>
            <p:cNvSpPr/>
            <p:nvPr/>
          </p:nvSpPr>
          <p:spPr>
            <a:xfrm>
              <a:off x="1971675" y="2297430"/>
              <a:ext cx="462915" cy="205740"/>
            </a:xfrm>
            <a:custGeom>
              <a:avLst/>
              <a:gdLst/>
              <a:ahLst/>
              <a:cxnLst/>
              <a:rect l="0" t="0" r="r" b="b"/>
              <a:pathLst>
                <a:path w="506" h="225" fill="none">
                  <a:moveTo>
                    <a:pt x="0" y="0"/>
                  </a:moveTo>
                  <a:lnTo>
                    <a:pt x="506" y="225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22" name="Flecha 24_2"/>
            <p:cNvSpPr/>
            <p:nvPr/>
          </p:nvSpPr>
          <p:spPr>
            <a:xfrm>
              <a:off x="1971675" y="2297430"/>
              <a:ext cx="462915" cy="205740"/>
            </a:xfrm>
            <a:custGeom>
              <a:avLst/>
              <a:gdLst/>
              <a:ahLst/>
              <a:cxnLst/>
              <a:rect l="0" t="0" r="r" b="b"/>
              <a:pathLst>
                <a:path w="506" h="225" fill="none">
                  <a:moveTo>
                    <a:pt x="0" y="0"/>
                  </a:moveTo>
                  <a:lnTo>
                    <a:pt x="506" y="225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23" name="Flecha 26_2"/>
            <p:cNvSpPr/>
            <p:nvPr/>
          </p:nvSpPr>
          <p:spPr>
            <a:xfrm>
              <a:off x="1971675" y="1783080"/>
              <a:ext cx="51435" cy="514350"/>
            </a:xfrm>
            <a:custGeom>
              <a:avLst/>
              <a:gdLst/>
              <a:ahLst/>
              <a:cxnLst/>
              <a:rect l="0" t="0" r="r" b="b"/>
              <a:pathLst>
                <a:path w="56" h="562" fill="none">
                  <a:moveTo>
                    <a:pt x="0" y="562"/>
                  </a:moveTo>
                  <a:lnTo>
                    <a:pt x="56" y="0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24" name="Flecha 28_2"/>
            <p:cNvSpPr/>
            <p:nvPr/>
          </p:nvSpPr>
          <p:spPr>
            <a:xfrm>
              <a:off x="1971675" y="1783080"/>
              <a:ext cx="51435" cy="514350"/>
            </a:xfrm>
            <a:custGeom>
              <a:avLst/>
              <a:gdLst/>
              <a:ahLst/>
              <a:cxnLst/>
              <a:rect l="0" t="0" r="r" b="b"/>
              <a:pathLst>
                <a:path w="56" h="562" fill="none">
                  <a:moveTo>
                    <a:pt x="0" y="562"/>
                  </a:moveTo>
                  <a:lnTo>
                    <a:pt x="56" y="0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25" name="Flecha 30_2"/>
            <p:cNvSpPr/>
            <p:nvPr/>
          </p:nvSpPr>
          <p:spPr>
            <a:xfrm>
              <a:off x="994410" y="2245995"/>
              <a:ext cx="462915" cy="308610"/>
            </a:xfrm>
            <a:custGeom>
              <a:avLst/>
              <a:gdLst/>
              <a:ahLst/>
              <a:cxnLst/>
              <a:rect l="0" t="0" r="r" b="b"/>
              <a:pathLst>
                <a:path w="506" h="337" fill="none">
                  <a:moveTo>
                    <a:pt x="506" y="337"/>
                  </a:moveTo>
                  <a:lnTo>
                    <a:pt x="0" y="0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26" name="Flecha 32_2"/>
            <p:cNvSpPr/>
            <p:nvPr/>
          </p:nvSpPr>
          <p:spPr>
            <a:xfrm>
              <a:off x="994410" y="2245995"/>
              <a:ext cx="462915" cy="308610"/>
            </a:xfrm>
            <a:custGeom>
              <a:avLst/>
              <a:gdLst/>
              <a:ahLst/>
              <a:cxnLst/>
              <a:rect l="0" t="0" r="r" b="b"/>
              <a:pathLst>
                <a:path w="506" h="337" fill="none">
                  <a:moveTo>
                    <a:pt x="506" y="337"/>
                  </a:moveTo>
                  <a:lnTo>
                    <a:pt x="0" y="0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27" name="Flecha 34_2"/>
            <p:cNvSpPr/>
            <p:nvPr/>
          </p:nvSpPr>
          <p:spPr>
            <a:xfrm>
              <a:off x="582930" y="2245995"/>
              <a:ext cx="411480" cy="205740"/>
            </a:xfrm>
            <a:custGeom>
              <a:avLst/>
              <a:gdLst/>
              <a:ahLst/>
              <a:cxnLst/>
              <a:rect l="0" t="0" r="r" b="b"/>
              <a:pathLst>
                <a:path w="450" h="225" fill="none">
                  <a:moveTo>
                    <a:pt x="450" y="0"/>
                  </a:moveTo>
                  <a:lnTo>
                    <a:pt x="0" y="225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28" name="Flecha 36_2"/>
            <p:cNvSpPr/>
            <p:nvPr/>
          </p:nvSpPr>
          <p:spPr>
            <a:xfrm>
              <a:off x="582930" y="2245995"/>
              <a:ext cx="411480" cy="205740"/>
            </a:xfrm>
            <a:custGeom>
              <a:avLst/>
              <a:gdLst/>
              <a:ahLst/>
              <a:cxnLst/>
              <a:rect l="0" t="0" r="r" b="b"/>
              <a:pathLst>
                <a:path w="450" h="225" fill="none">
                  <a:moveTo>
                    <a:pt x="450" y="0"/>
                  </a:moveTo>
                  <a:lnTo>
                    <a:pt x="0" y="225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29" name="Flecha 38_2"/>
            <p:cNvSpPr/>
            <p:nvPr/>
          </p:nvSpPr>
          <p:spPr>
            <a:xfrm>
              <a:off x="942975" y="1783080"/>
              <a:ext cx="51435" cy="462915"/>
            </a:xfrm>
            <a:custGeom>
              <a:avLst/>
              <a:gdLst/>
              <a:ahLst/>
              <a:cxnLst/>
              <a:rect l="0" t="0" r="r" b="b"/>
              <a:pathLst>
                <a:path w="56" h="506" fill="none">
                  <a:moveTo>
                    <a:pt x="56" y="506"/>
                  </a:moveTo>
                  <a:lnTo>
                    <a:pt x="0" y="0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30" name="Flecha 40_2"/>
            <p:cNvSpPr/>
            <p:nvPr/>
          </p:nvSpPr>
          <p:spPr>
            <a:xfrm>
              <a:off x="942975" y="1783080"/>
              <a:ext cx="51435" cy="462915"/>
            </a:xfrm>
            <a:custGeom>
              <a:avLst/>
              <a:gdLst/>
              <a:ahLst/>
              <a:cxnLst/>
              <a:rect l="0" t="0" r="r" b="b"/>
              <a:pathLst>
                <a:path w="56" h="506" fill="none">
                  <a:moveTo>
                    <a:pt x="56" y="506"/>
                  </a:moveTo>
                  <a:lnTo>
                    <a:pt x="0" y="0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31" name="Flecha 42_2"/>
            <p:cNvSpPr/>
            <p:nvPr/>
          </p:nvSpPr>
          <p:spPr>
            <a:xfrm>
              <a:off x="1457325" y="2554605"/>
              <a:ext cx="9144" cy="565785"/>
            </a:xfrm>
            <a:custGeom>
              <a:avLst/>
              <a:gdLst/>
              <a:ahLst/>
              <a:cxnLst/>
              <a:rect l="0" t="0" r="r" b="b"/>
              <a:pathLst>
                <a:path w="10" h="618" fill="none">
                  <a:moveTo>
                    <a:pt x="0" y="0"/>
                  </a:moveTo>
                  <a:lnTo>
                    <a:pt x="0" y="618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32" name="Flecha 44_2"/>
            <p:cNvSpPr/>
            <p:nvPr/>
          </p:nvSpPr>
          <p:spPr>
            <a:xfrm>
              <a:off x="1457325" y="2554605"/>
              <a:ext cx="9144" cy="565785"/>
            </a:xfrm>
            <a:custGeom>
              <a:avLst/>
              <a:gdLst/>
              <a:ahLst/>
              <a:cxnLst/>
              <a:rect l="0" t="0" r="r" b="b"/>
              <a:pathLst>
                <a:path w="10" h="618" fill="none">
                  <a:moveTo>
                    <a:pt x="0" y="0"/>
                  </a:moveTo>
                  <a:lnTo>
                    <a:pt x="0" y="618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33" name="Flecha 46_2"/>
            <p:cNvSpPr/>
            <p:nvPr/>
          </p:nvSpPr>
          <p:spPr>
            <a:xfrm>
              <a:off x="1457325" y="3120390"/>
              <a:ext cx="360045" cy="308610"/>
            </a:xfrm>
            <a:custGeom>
              <a:avLst/>
              <a:gdLst/>
              <a:ahLst/>
              <a:cxnLst/>
              <a:rect l="0" t="0" r="r" b="b"/>
              <a:pathLst>
                <a:path w="393" h="337" fill="none">
                  <a:moveTo>
                    <a:pt x="0" y="0"/>
                  </a:moveTo>
                  <a:lnTo>
                    <a:pt x="393" y="337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34" name="Flecha 48_2"/>
            <p:cNvSpPr/>
            <p:nvPr/>
          </p:nvSpPr>
          <p:spPr>
            <a:xfrm>
              <a:off x="1457325" y="3120390"/>
              <a:ext cx="360045" cy="308610"/>
            </a:xfrm>
            <a:custGeom>
              <a:avLst/>
              <a:gdLst/>
              <a:ahLst/>
              <a:cxnLst/>
              <a:rect l="0" t="0" r="r" b="b"/>
              <a:pathLst>
                <a:path w="393" h="337" fill="none">
                  <a:moveTo>
                    <a:pt x="0" y="0"/>
                  </a:moveTo>
                  <a:lnTo>
                    <a:pt x="393" y="337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35" name="Flecha 50_2"/>
            <p:cNvSpPr/>
            <p:nvPr/>
          </p:nvSpPr>
          <p:spPr>
            <a:xfrm>
              <a:off x="1097280" y="3120390"/>
              <a:ext cx="360045" cy="308610"/>
            </a:xfrm>
            <a:custGeom>
              <a:avLst/>
              <a:gdLst/>
              <a:ahLst/>
              <a:cxnLst/>
              <a:rect l="0" t="0" r="r" b="b"/>
              <a:pathLst>
                <a:path w="393" h="337" fill="none">
                  <a:moveTo>
                    <a:pt x="393" y="0"/>
                  </a:moveTo>
                  <a:lnTo>
                    <a:pt x="0" y="337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36" name="Flecha 52_2"/>
            <p:cNvSpPr/>
            <p:nvPr/>
          </p:nvSpPr>
          <p:spPr>
            <a:xfrm>
              <a:off x="1097280" y="3120390"/>
              <a:ext cx="360045" cy="308610"/>
            </a:xfrm>
            <a:custGeom>
              <a:avLst/>
              <a:gdLst/>
              <a:ahLst/>
              <a:cxnLst/>
              <a:rect l="0" t="0" r="r" b="b"/>
              <a:pathLst>
                <a:path w="393" h="337" fill="none">
                  <a:moveTo>
                    <a:pt x="393" y="0"/>
                  </a:moveTo>
                  <a:lnTo>
                    <a:pt x="0" y="337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37" name="Flecha 54_2"/>
            <p:cNvSpPr/>
            <p:nvPr/>
          </p:nvSpPr>
          <p:spPr>
            <a:xfrm>
              <a:off x="1200150" y="2554605"/>
              <a:ext cx="257175" cy="180022"/>
            </a:xfrm>
            <a:custGeom>
              <a:avLst/>
              <a:gdLst/>
              <a:ahLst/>
              <a:cxnLst/>
              <a:rect l="0" t="0" r="r" b="b"/>
              <a:pathLst>
                <a:path w="281" h="196" fill="none">
                  <a:moveTo>
                    <a:pt x="281" y="0"/>
                  </a:moveTo>
                  <a:lnTo>
                    <a:pt x="0" y="196"/>
                  </a:lnTo>
                </a:path>
              </a:pathLst>
            </a:custGeom>
            <a:noFill/>
            <a:ln w="114300" cap="rnd">
              <a:solidFill>
                <a:srgbClr val="B9B9B9"/>
              </a:solidFill>
              <a:round/>
            </a:ln>
          </p:spPr>
        </p:sp>
        <p:sp>
          <p:nvSpPr>
            <p:cNvPr id="38" name="Flecha 56_2"/>
            <p:cNvSpPr/>
            <p:nvPr/>
          </p:nvSpPr>
          <p:spPr>
            <a:xfrm>
              <a:off x="1200150" y="2554605"/>
              <a:ext cx="257175" cy="180022"/>
            </a:xfrm>
            <a:custGeom>
              <a:avLst/>
              <a:gdLst/>
              <a:ahLst/>
              <a:cxnLst/>
              <a:rect l="0" t="0" r="r" b="b"/>
              <a:pathLst>
                <a:path w="281" h="196" fill="none">
                  <a:moveTo>
                    <a:pt x="281" y="0"/>
                  </a:moveTo>
                  <a:lnTo>
                    <a:pt x="0" y="196"/>
                  </a:lnTo>
                </a:path>
              </a:pathLst>
            </a:custGeom>
            <a:noFill/>
            <a:ln w="64293" cap="rnd">
              <a:solidFill>
                <a:srgbClr val="FFFFFF"/>
              </a:solidFill>
              <a:round/>
            </a:ln>
          </p:spPr>
        </p:sp>
        <p:sp>
          <p:nvSpPr>
            <p:cNvPr id="39" name="Forma 58"/>
            <p:cNvSpPr/>
            <p:nvPr/>
          </p:nvSpPr>
          <p:spPr>
            <a:xfrm>
              <a:off x="454415" y="2323220"/>
              <a:ext cx="257031" cy="25703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0" name="Forma 59"/>
            <p:cNvSpPr/>
            <p:nvPr/>
          </p:nvSpPr>
          <p:spPr>
            <a:xfrm>
              <a:off x="814460" y="1654565"/>
              <a:ext cx="257031" cy="25703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1" name="Forma 60"/>
            <p:cNvSpPr/>
            <p:nvPr/>
          </p:nvSpPr>
          <p:spPr>
            <a:xfrm>
              <a:off x="1688855" y="3300485"/>
              <a:ext cx="257031" cy="25703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2" name="Forma 61"/>
            <p:cNvSpPr/>
            <p:nvPr/>
          </p:nvSpPr>
          <p:spPr>
            <a:xfrm>
              <a:off x="968765" y="3300485"/>
              <a:ext cx="257031" cy="25703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3" name="Forma 62"/>
            <p:cNvSpPr/>
            <p:nvPr/>
          </p:nvSpPr>
          <p:spPr>
            <a:xfrm>
              <a:off x="1071635" y="2606112"/>
              <a:ext cx="257031" cy="25703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4" name="Forma 63"/>
            <p:cNvSpPr/>
            <p:nvPr/>
          </p:nvSpPr>
          <p:spPr>
            <a:xfrm>
              <a:off x="1250042" y="2347322"/>
              <a:ext cx="414566" cy="41456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5" name="Forma 64"/>
            <p:cNvSpPr/>
            <p:nvPr/>
          </p:nvSpPr>
          <p:spPr>
            <a:xfrm>
              <a:off x="1764392" y="2090147"/>
              <a:ext cx="414566" cy="41456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6" name="Forma 65"/>
            <p:cNvSpPr/>
            <p:nvPr/>
          </p:nvSpPr>
          <p:spPr>
            <a:xfrm>
              <a:off x="2227307" y="2295887"/>
              <a:ext cx="414566" cy="41456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7" name="Forma 66"/>
            <p:cNvSpPr/>
            <p:nvPr/>
          </p:nvSpPr>
          <p:spPr>
            <a:xfrm>
              <a:off x="1815827" y="1575797"/>
              <a:ext cx="414566" cy="41456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67"/>
            <p:cNvSpPr/>
            <p:nvPr/>
          </p:nvSpPr>
          <p:spPr>
            <a:xfrm>
              <a:off x="787127" y="2038712"/>
              <a:ext cx="414566" cy="41456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9" name="Forma 68"/>
            <p:cNvSpPr/>
            <p:nvPr/>
          </p:nvSpPr>
          <p:spPr>
            <a:xfrm>
              <a:off x="1250042" y="2913107"/>
              <a:ext cx="414566" cy="41456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grpSp>
        <p:nvGrpSpPr>
          <p:cNvPr id="50" name="Deco inv 2"/>
          <p:cNvGrpSpPr/>
          <p:nvPr/>
        </p:nvGrpSpPr>
        <p:grpSpPr>
          <a:xfrm>
            <a:off x="9790390" y="1710801"/>
            <a:ext cx="2081805" cy="1516158"/>
            <a:chOff x="9790390" y="1710801"/>
            <a:chExt cx="2081805" cy="1516158"/>
          </a:xfrm>
        </p:grpSpPr>
        <p:sp>
          <p:nvSpPr>
            <p:cNvPr id="51" name="Flecha 70_2"/>
            <p:cNvSpPr/>
            <p:nvPr/>
          </p:nvSpPr>
          <p:spPr>
            <a:xfrm>
              <a:off x="10789920" y="2522913"/>
              <a:ext cx="567344" cy="9144"/>
            </a:xfrm>
            <a:custGeom>
              <a:avLst/>
              <a:gdLst/>
              <a:ahLst/>
              <a:cxnLst/>
              <a:rect l="0" t="0" r="r" b="b"/>
              <a:pathLst>
                <a:path w="620" h="10" fill="none">
                  <a:moveTo>
                    <a:pt x="0" y="0"/>
                  </a:moveTo>
                  <a:lnTo>
                    <a:pt x="620" y="0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52" name="Flecha 72_2"/>
            <p:cNvSpPr/>
            <p:nvPr/>
          </p:nvSpPr>
          <p:spPr>
            <a:xfrm>
              <a:off x="10789920" y="2522913"/>
              <a:ext cx="567344" cy="9144"/>
            </a:xfrm>
            <a:custGeom>
              <a:avLst/>
              <a:gdLst/>
              <a:ahLst/>
              <a:cxnLst/>
              <a:rect l="0" t="0" r="r" b="b"/>
              <a:pathLst>
                <a:path w="620" h="10" fill="none">
                  <a:moveTo>
                    <a:pt x="0" y="0"/>
                  </a:moveTo>
                  <a:lnTo>
                    <a:pt x="620" y="0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53" name="Flecha 74_2"/>
            <p:cNvSpPr/>
            <p:nvPr/>
          </p:nvSpPr>
          <p:spPr>
            <a:xfrm>
              <a:off x="10222576" y="2522913"/>
              <a:ext cx="567344" cy="9144"/>
            </a:xfrm>
            <a:custGeom>
              <a:avLst/>
              <a:gdLst/>
              <a:ahLst/>
              <a:cxnLst/>
              <a:rect l="0" t="0" r="r" b="b"/>
              <a:pathLst>
                <a:path w="620" h="10" fill="none">
                  <a:moveTo>
                    <a:pt x="620" y="0"/>
                  </a:moveTo>
                  <a:lnTo>
                    <a:pt x="0" y="0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54" name="Flecha 76_2"/>
            <p:cNvSpPr/>
            <p:nvPr/>
          </p:nvSpPr>
          <p:spPr>
            <a:xfrm>
              <a:off x="10222576" y="2522913"/>
              <a:ext cx="567344" cy="9144"/>
            </a:xfrm>
            <a:custGeom>
              <a:avLst/>
              <a:gdLst/>
              <a:ahLst/>
              <a:cxnLst/>
              <a:rect l="0" t="0" r="r" b="b"/>
              <a:pathLst>
                <a:path w="620" h="10" fill="none">
                  <a:moveTo>
                    <a:pt x="620" y="0"/>
                  </a:moveTo>
                  <a:lnTo>
                    <a:pt x="0" y="0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55" name="Flecha 78_2"/>
            <p:cNvSpPr/>
            <p:nvPr/>
          </p:nvSpPr>
          <p:spPr>
            <a:xfrm>
              <a:off x="10789920" y="1928553"/>
              <a:ext cx="9144" cy="594360"/>
            </a:xfrm>
            <a:custGeom>
              <a:avLst/>
              <a:gdLst/>
              <a:ahLst/>
              <a:cxnLst/>
              <a:rect l="0" t="0" r="r" b="b"/>
              <a:pathLst>
                <a:path w="10" h="649" fill="none">
                  <a:moveTo>
                    <a:pt x="0" y="649"/>
                  </a:moveTo>
                  <a:lnTo>
                    <a:pt x="0" y="0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56" name="Flecha 80_2"/>
            <p:cNvSpPr/>
            <p:nvPr/>
          </p:nvSpPr>
          <p:spPr>
            <a:xfrm>
              <a:off x="10789920" y="1928553"/>
              <a:ext cx="9144" cy="594360"/>
            </a:xfrm>
            <a:custGeom>
              <a:avLst/>
              <a:gdLst/>
              <a:ahLst/>
              <a:cxnLst/>
              <a:rect l="0" t="0" r="r" b="b"/>
              <a:pathLst>
                <a:path w="10" h="649" fill="none">
                  <a:moveTo>
                    <a:pt x="0" y="649"/>
                  </a:moveTo>
                  <a:lnTo>
                    <a:pt x="0" y="0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57" name="Flecha 82_2"/>
            <p:cNvSpPr/>
            <p:nvPr/>
          </p:nvSpPr>
          <p:spPr>
            <a:xfrm>
              <a:off x="11357264" y="2036618"/>
              <a:ext cx="297180" cy="486295"/>
            </a:xfrm>
            <a:custGeom>
              <a:avLst/>
              <a:gdLst/>
              <a:ahLst/>
              <a:cxnLst/>
              <a:rect l="0" t="0" r="r" b="b"/>
              <a:pathLst>
                <a:path w="324" h="531" fill="none">
                  <a:moveTo>
                    <a:pt x="0" y="531"/>
                  </a:moveTo>
                  <a:lnTo>
                    <a:pt x="324" y="0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58" name="Flecha 84_2"/>
            <p:cNvSpPr/>
            <p:nvPr/>
          </p:nvSpPr>
          <p:spPr>
            <a:xfrm>
              <a:off x="11357264" y="2036618"/>
              <a:ext cx="297180" cy="486295"/>
            </a:xfrm>
            <a:custGeom>
              <a:avLst/>
              <a:gdLst/>
              <a:ahLst/>
              <a:cxnLst/>
              <a:rect l="0" t="0" r="r" b="b"/>
              <a:pathLst>
                <a:path w="324" h="531" fill="none">
                  <a:moveTo>
                    <a:pt x="0" y="531"/>
                  </a:moveTo>
                  <a:lnTo>
                    <a:pt x="324" y="0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59" name="Flecha 86_2"/>
            <p:cNvSpPr/>
            <p:nvPr/>
          </p:nvSpPr>
          <p:spPr>
            <a:xfrm>
              <a:off x="11357264" y="2522913"/>
              <a:ext cx="297180" cy="486295"/>
            </a:xfrm>
            <a:custGeom>
              <a:avLst/>
              <a:gdLst/>
              <a:ahLst/>
              <a:cxnLst/>
              <a:rect l="0" t="0" r="r" b="b"/>
              <a:pathLst>
                <a:path w="324" h="531" fill="none">
                  <a:moveTo>
                    <a:pt x="0" y="0"/>
                  </a:moveTo>
                  <a:lnTo>
                    <a:pt x="324" y="531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60" name="Flecha 88_2"/>
            <p:cNvSpPr/>
            <p:nvPr/>
          </p:nvSpPr>
          <p:spPr>
            <a:xfrm>
              <a:off x="11357264" y="2522913"/>
              <a:ext cx="297180" cy="486295"/>
            </a:xfrm>
            <a:custGeom>
              <a:avLst/>
              <a:gdLst/>
              <a:ahLst/>
              <a:cxnLst/>
              <a:rect l="0" t="0" r="r" b="b"/>
              <a:pathLst>
                <a:path w="324" h="531" fill="none">
                  <a:moveTo>
                    <a:pt x="0" y="0"/>
                  </a:moveTo>
                  <a:lnTo>
                    <a:pt x="324" y="531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61" name="Flecha 90_2"/>
            <p:cNvSpPr/>
            <p:nvPr/>
          </p:nvSpPr>
          <p:spPr>
            <a:xfrm>
              <a:off x="9925396" y="2522913"/>
              <a:ext cx="297180" cy="432262"/>
            </a:xfrm>
            <a:custGeom>
              <a:avLst/>
              <a:gdLst/>
              <a:ahLst/>
              <a:cxnLst/>
              <a:rect l="0" t="0" r="r" b="b"/>
              <a:pathLst>
                <a:path w="324" h="472" fill="none">
                  <a:moveTo>
                    <a:pt x="324" y="0"/>
                  </a:moveTo>
                  <a:lnTo>
                    <a:pt x="0" y="472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62" name="Flecha 92_2"/>
            <p:cNvSpPr/>
            <p:nvPr/>
          </p:nvSpPr>
          <p:spPr>
            <a:xfrm>
              <a:off x="9925396" y="2522913"/>
              <a:ext cx="297180" cy="432262"/>
            </a:xfrm>
            <a:custGeom>
              <a:avLst/>
              <a:gdLst/>
              <a:ahLst/>
              <a:cxnLst/>
              <a:rect l="0" t="0" r="r" b="b"/>
              <a:pathLst>
                <a:path w="324" h="472" fill="none">
                  <a:moveTo>
                    <a:pt x="324" y="0"/>
                  </a:moveTo>
                  <a:lnTo>
                    <a:pt x="0" y="472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63" name="Flecha 94_2"/>
            <p:cNvSpPr/>
            <p:nvPr/>
          </p:nvSpPr>
          <p:spPr>
            <a:xfrm>
              <a:off x="9925396" y="2090651"/>
              <a:ext cx="297180" cy="432262"/>
            </a:xfrm>
            <a:custGeom>
              <a:avLst/>
              <a:gdLst/>
              <a:ahLst/>
              <a:cxnLst/>
              <a:rect l="0" t="0" r="r" b="b"/>
              <a:pathLst>
                <a:path w="324" h="472" fill="none">
                  <a:moveTo>
                    <a:pt x="324" y="472"/>
                  </a:moveTo>
                  <a:lnTo>
                    <a:pt x="0" y="0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64" name="Flecha 96_2"/>
            <p:cNvSpPr/>
            <p:nvPr/>
          </p:nvSpPr>
          <p:spPr>
            <a:xfrm>
              <a:off x="9925396" y="2090651"/>
              <a:ext cx="297180" cy="432262"/>
            </a:xfrm>
            <a:custGeom>
              <a:avLst/>
              <a:gdLst/>
              <a:ahLst/>
              <a:cxnLst/>
              <a:rect l="0" t="0" r="r" b="b"/>
              <a:pathLst>
                <a:path w="324" h="472" fill="none">
                  <a:moveTo>
                    <a:pt x="324" y="472"/>
                  </a:moveTo>
                  <a:lnTo>
                    <a:pt x="0" y="0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65" name="Flecha 98_2"/>
            <p:cNvSpPr/>
            <p:nvPr/>
          </p:nvSpPr>
          <p:spPr>
            <a:xfrm>
              <a:off x="9979429" y="2522913"/>
              <a:ext cx="243147" cy="27016"/>
            </a:xfrm>
            <a:custGeom>
              <a:avLst/>
              <a:gdLst/>
              <a:ahLst/>
              <a:cxnLst/>
              <a:rect l="0" t="0" r="r" b="b"/>
              <a:pathLst>
                <a:path w="265" h="29" fill="none">
                  <a:moveTo>
                    <a:pt x="265" y="0"/>
                  </a:moveTo>
                  <a:lnTo>
                    <a:pt x="0" y="29"/>
                  </a:lnTo>
                </a:path>
              </a:pathLst>
            </a:custGeom>
            <a:noFill/>
            <a:ln w="120072" cap="rnd">
              <a:solidFill>
                <a:srgbClr val="B9B9B9"/>
              </a:solidFill>
              <a:round/>
            </a:ln>
          </p:spPr>
        </p:sp>
        <p:sp>
          <p:nvSpPr>
            <p:cNvPr id="66" name="Flecha 100_2"/>
            <p:cNvSpPr/>
            <p:nvPr/>
          </p:nvSpPr>
          <p:spPr>
            <a:xfrm>
              <a:off x="9979429" y="2522913"/>
              <a:ext cx="243147" cy="27016"/>
            </a:xfrm>
            <a:custGeom>
              <a:avLst/>
              <a:gdLst/>
              <a:ahLst/>
              <a:cxnLst/>
              <a:rect l="0" t="0" r="r" b="b"/>
              <a:pathLst>
                <a:path w="265" h="29" fill="none">
                  <a:moveTo>
                    <a:pt x="265" y="0"/>
                  </a:moveTo>
                  <a:lnTo>
                    <a:pt x="0" y="29"/>
                  </a:lnTo>
                </a:path>
              </a:pathLst>
            </a:custGeom>
            <a:noFill/>
            <a:ln w="67540" cap="rnd">
              <a:solidFill>
                <a:srgbClr val="FFFFFF"/>
              </a:solidFill>
              <a:round/>
            </a:ln>
          </p:spPr>
        </p:sp>
        <p:sp>
          <p:nvSpPr>
            <p:cNvPr id="67" name="Forma 102"/>
            <p:cNvSpPr/>
            <p:nvPr/>
          </p:nvSpPr>
          <p:spPr>
            <a:xfrm>
              <a:off x="9790390" y="2820168"/>
              <a:ext cx="270012" cy="27001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8" name="Forma 103"/>
            <p:cNvSpPr/>
            <p:nvPr/>
          </p:nvSpPr>
          <p:spPr>
            <a:xfrm>
              <a:off x="9790390" y="1955645"/>
              <a:ext cx="270012" cy="27001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9" name="Forma 104"/>
            <p:cNvSpPr/>
            <p:nvPr/>
          </p:nvSpPr>
          <p:spPr>
            <a:xfrm>
              <a:off x="9844423" y="2414923"/>
              <a:ext cx="270012" cy="27001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0" name="Forma 105"/>
            <p:cNvSpPr/>
            <p:nvPr/>
          </p:nvSpPr>
          <p:spPr>
            <a:xfrm>
              <a:off x="10572168" y="2305161"/>
              <a:ext cx="435504" cy="4355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1" name="Forma 106"/>
            <p:cNvSpPr/>
            <p:nvPr/>
          </p:nvSpPr>
          <p:spPr>
            <a:xfrm>
              <a:off x="11139512" y="2305161"/>
              <a:ext cx="435504" cy="4355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2" name="Forma 107"/>
            <p:cNvSpPr/>
            <p:nvPr/>
          </p:nvSpPr>
          <p:spPr>
            <a:xfrm>
              <a:off x="10004824" y="2305161"/>
              <a:ext cx="435504" cy="4355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3" name="Forma 108"/>
            <p:cNvSpPr/>
            <p:nvPr/>
          </p:nvSpPr>
          <p:spPr>
            <a:xfrm>
              <a:off x="10572168" y="1710801"/>
              <a:ext cx="435504" cy="4355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4" name="Forma 109"/>
            <p:cNvSpPr/>
            <p:nvPr/>
          </p:nvSpPr>
          <p:spPr>
            <a:xfrm>
              <a:off x="11436692" y="1818866"/>
              <a:ext cx="435504" cy="4355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5" name="Forma 110"/>
            <p:cNvSpPr/>
            <p:nvPr/>
          </p:nvSpPr>
          <p:spPr>
            <a:xfrm>
              <a:off x="11436692" y="2791455"/>
              <a:ext cx="435504" cy="43550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76" name="Regla inversa"/>
          <p:cNvSpPr/>
          <p:nvPr/>
        </p:nvSpPr>
        <p:spPr>
          <a:xfrm>
            <a:off x="320040" y="4343400"/>
            <a:ext cx="2651760" cy="21031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Mismo valor absoluto,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signo opuesto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2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UNA REACCIÓN Y SU INVERSA</a:t>
            </a:r>
            <a:endParaRPr lang="es-AR" sz="3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7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6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4" grpId="0" animBg="1"/>
      <p:bldP spid="15" grpId="0" animBg="1"/>
      <p:bldP spid="17" grpId="0" animBg="1"/>
      <p:bldP spid="76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grpSp>
        <p:nvGrpSpPr>
          <p:cNvPr id="5" name="Ejes velocidad"/>
          <p:cNvGrpSpPr/>
          <p:nvPr/>
        </p:nvGrpSpPr>
        <p:grpSpPr>
          <a:xfrm>
            <a:off x="594360" y="914400"/>
            <a:ext cx="7269480" cy="4855464"/>
            <a:chOff x="594360" y="914400"/>
            <a:chExt cx="7269480" cy="4855464"/>
          </a:xfrm>
        </p:grpSpPr>
        <p:sp>
          <p:nvSpPr>
            <p:cNvPr id="6" name="Flecha 5_2"/>
            <p:cNvSpPr/>
            <p:nvPr/>
          </p:nvSpPr>
          <p:spPr>
            <a:xfrm>
              <a:off x="640080" y="1280160"/>
              <a:ext cx="9144" cy="4114800"/>
            </a:xfrm>
            <a:custGeom>
              <a:avLst/>
              <a:gdLst/>
              <a:ahLst/>
              <a:cxnLst/>
              <a:rect l="0" t="0" r="r" b="b"/>
              <a:pathLst>
                <a:path w="10" h="4500" fill="none">
                  <a:moveTo>
                    <a:pt x="0" y="45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640080" y="5394960"/>
              <a:ext cx="7223760" cy="9144"/>
            </a:xfrm>
            <a:custGeom>
              <a:avLst/>
              <a:gdLst/>
              <a:ahLst/>
              <a:cxnLst/>
              <a:rect l="0" t="0" r="r" b="b"/>
              <a:pathLst>
                <a:path w="7899" h="10" fill="none">
                  <a:moveTo>
                    <a:pt x="0" y="0"/>
                  </a:moveTo>
                  <a:lnTo>
                    <a:pt x="78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5029200" y="544982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avance de la reacción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594360" y="91440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Nivel R v"/>
          <p:cNvSpPr/>
          <p:nvPr/>
        </p:nvSpPr>
        <p:spPr>
          <a:xfrm>
            <a:off x="914400" y="2734056"/>
            <a:ext cx="1554480" cy="91440"/>
          </a:xfrm>
          <a:prstGeom prst="rect">
            <a:avLst/>
          </a:prstGeom>
          <a:solidFill>
            <a:srgbClr val="5DADE2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11" name="Nivel P v"/>
          <p:cNvSpPr/>
          <p:nvPr/>
        </p:nvSpPr>
        <p:spPr>
          <a:xfrm>
            <a:off x="5943600" y="4343400"/>
            <a:ext cx="1554480" cy="91440"/>
          </a:xfrm>
          <a:prstGeom prst="rect">
            <a:avLst/>
          </a:prstGeom>
          <a:solidFill>
            <a:srgbClr val="F5B041"/>
          </a:solidFill>
          <a:ln w="12700" cap="rnd">
            <a:solidFill>
              <a:srgbClr val="1E1E1E"/>
            </a:solidFill>
            <a:round/>
          </a:ln>
        </p:spPr>
      </p:sp>
      <p:sp>
        <p:nvSpPr>
          <p:cNvPr id="12" name="Barrera alta"/>
          <p:cNvSpPr/>
          <p:nvPr/>
        </p:nvSpPr>
        <p:spPr>
          <a:xfrm>
            <a:off x="2468880" y="1371600"/>
            <a:ext cx="3474720" cy="402336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350"/>
                </a:moveTo>
                <a:cubicBezTo>
                  <a:pt x="37" y="347"/>
                  <a:pt x="175" y="376"/>
                  <a:pt x="250" y="330"/>
                </a:cubicBezTo>
                <a:cubicBezTo>
                  <a:pt x="325" y="283"/>
                  <a:pt x="425" y="0"/>
                  <a:pt x="500" y="40"/>
                </a:cubicBezTo>
                <a:cubicBezTo>
                  <a:pt x="575" y="80"/>
                  <a:pt x="675" y="493"/>
                  <a:pt x="750" y="600"/>
                </a:cubicBezTo>
                <a:cubicBezTo>
                  <a:pt x="825" y="706"/>
                  <a:pt x="962" y="727"/>
                  <a:pt x="1000" y="750"/>
                </a:cubicBezTo>
              </a:path>
            </a:pathLst>
          </a:custGeom>
          <a:noFill/>
          <a:ln w="44450" cap="rnd">
            <a:solidFill>
              <a:srgbClr val="C00000"/>
            </a:solidFill>
            <a:round/>
          </a:ln>
        </p:spPr>
      </p:sp>
      <p:sp>
        <p:nvSpPr>
          <p:cNvPr id="13" name="Barrera con enzima"/>
          <p:cNvSpPr/>
          <p:nvPr/>
        </p:nvSpPr>
        <p:spPr>
          <a:xfrm>
            <a:off x="2468880" y="1371600"/>
            <a:ext cx="3474720" cy="402336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350"/>
                </a:moveTo>
                <a:cubicBezTo>
                  <a:pt x="37" y="348"/>
                  <a:pt x="175" y="358"/>
                  <a:pt x="250" y="340"/>
                </a:cubicBezTo>
                <a:cubicBezTo>
                  <a:pt x="325" y="322"/>
                  <a:pt x="425" y="185"/>
                  <a:pt x="500" y="230"/>
                </a:cubicBezTo>
                <a:cubicBezTo>
                  <a:pt x="575" y="275"/>
                  <a:pt x="675" y="562"/>
                  <a:pt x="750" y="640"/>
                </a:cubicBezTo>
                <a:cubicBezTo>
                  <a:pt x="825" y="718"/>
                  <a:pt x="962" y="733"/>
                  <a:pt x="1000" y="750"/>
                </a:cubicBezTo>
              </a:path>
            </a:pathLst>
          </a:custGeom>
          <a:noFill/>
          <a:ln w="44450" cap="rnd">
            <a:solidFill>
              <a:srgbClr val="4E7A30"/>
            </a:solidFill>
            <a:round/>
          </a:ln>
        </p:spPr>
      </p:sp>
      <p:sp>
        <p:nvSpPr>
          <p:cNvPr id="14" name="ΔG v"/>
          <p:cNvSpPr/>
          <p:nvPr/>
        </p:nvSpPr>
        <p:spPr>
          <a:xfrm>
            <a:off x="6720840" y="2779776"/>
            <a:ext cx="9144" cy="1536192"/>
          </a:xfrm>
          <a:custGeom>
            <a:avLst/>
            <a:gdLst/>
            <a:ahLst/>
            <a:cxnLst/>
            <a:rect l="0" t="0" r="r" b="b"/>
            <a:pathLst>
              <a:path w="10" h="1680" fill="none">
                <a:moveTo>
                  <a:pt x="0" y="0"/>
                </a:moveTo>
                <a:lnTo>
                  <a:pt x="0" y="1680"/>
                </a:lnTo>
              </a:path>
            </a:pathLst>
          </a:custGeom>
          <a:noFill/>
          <a:ln w="50800" cap="rnd">
            <a:solidFill>
              <a:srgbClr val="1F3864"/>
            </a:solidFill>
            <a:round/>
            <a:tailEnd type="triangle" w="med" len="med"/>
          </a:ln>
        </p:spPr>
      </p:sp>
      <p:sp>
        <p:nvSpPr>
          <p:cNvPr id="15" name="Rótulo ΔG v"/>
          <p:cNvSpPr/>
          <p:nvPr/>
        </p:nvSpPr>
        <p:spPr>
          <a:xfrm>
            <a:off x="6903720" y="3383280"/>
            <a:ext cx="1032206" cy="29337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ΔG (igual)</a:t>
            </a:r>
            <a:endParaRPr lang="es-AR" sz="1400" dirty="0">
              <a:latin typeface="Calibri"/>
            </a:endParaRPr>
          </a:p>
        </p:txBody>
      </p:sp>
      <p:sp>
        <p:nvSpPr>
          <p:cNvPr id="16" name="Rótulo barrera alta"/>
          <p:cNvSpPr/>
          <p:nvPr/>
        </p:nvSpPr>
        <p:spPr>
          <a:xfrm>
            <a:off x="3291840" y="1325880"/>
            <a:ext cx="1872791" cy="272415"/>
          </a:xfrm>
          <a:prstGeom prst="rect">
            <a:avLst/>
          </a:prstGeom>
          <a:solidFill>
            <a:srgbClr val="FDE4E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barrera sin catalizador</a:t>
            </a:r>
            <a:endParaRPr lang="es-AR" sz="1300" dirty="0">
              <a:latin typeface="Calibri"/>
            </a:endParaRPr>
          </a:p>
        </p:txBody>
      </p:sp>
      <p:sp>
        <p:nvSpPr>
          <p:cNvPr id="17" name="Rótulo barrera baja"/>
          <p:cNvSpPr/>
          <p:nvPr/>
        </p:nvSpPr>
        <p:spPr>
          <a:xfrm>
            <a:off x="3017520" y="2176272"/>
            <a:ext cx="1925610" cy="272415"/>
          </a:xfrm>
          <a:prstGeom prst="rect">
            <a:avLst/>
          </a:prstGeom>
          <a:solidFill>
            <a:srgbClr val="D5F5E3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enzima: barrera menor</a:t>
            </a:r>
            <a:endParaRPr lang="es-AR" sz="1300" dirty="0">
              <a:latin typeface="Calibri"/>
            </a:endParaRPr>
          </a:p>
        </p:txBody>
      </p:sp>
      <p:sp>
        <p:nvSpPr>
          <p:cNvPr id="18" name="Idea velocidad"/>
          <p:cNvSpPr/>
          <p:nvPr/>
        </p:nvSpPr>
        <p:spPr>
          <a:xfrm>
            <a:off x="548640" y="5623560"/>
            <a:ext cx="7315200" cy="8229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signo de ΔG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indica si la reacción es favorable;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dice con qué velocidad ocurre.</a:t>
            </a:r>
            <a:endParaRPr lang="es-AR" sz="1900" dirty="0">
              <a:latin typeface="Calibri"/>
            </a:endParaRPr>
          </a:p>
        </p:txBody>
      </p:sp>
      <p:grpSp>
        <p:nvGrpSpPr>
          <p:cNvPr id="19" name="Rigor velocidad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20" name="Forma 21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velocidad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depende de la barrera energética que debe superarse. Las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enzimas aceleran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las reacciones (son catalizadores biológicos) disminuyendo esa barrera,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cambiar el ΔG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ni el sentido favorable de la reacción.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1" name="Forma 22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FAVORABLE NO SIGNIFICA RÁPIDA</a:t>
            </a:r>
            <a:endParaRPr lang="es-AR" sz="2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6" grpId="0" animBg="1"/>
      <p:bldP spid="14" grpId="0" animBg="1"/>
      <p:bldP spid="15" grpId="0" animBg="1"/>
      <p:bldP spid="18" grpId="0" animBg="1"/>
      <p:bldP spid="13" grpId="0" animBg="1"/>
      <p:bldP spid="17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Eje energía"/>
          <p:cNvGrpSpPr/>
          <p:nvPr/>
        </p:nvGrpSpPr>
        <p:grpSpPr>
          <a:xfrm>
            <a:off x="137160" y="1097280"/>
            <a:ext cx="7818120" cy="5257800"/>
            <a:chOff x="137160" y="1097280"/>
            <a:chExt cx="7818120" cy="5257800"/>
          </a:xfrm>
        </p:grpSpPr>
        <p:sp>
          <p:nvSpPr>
            <p:cNvPr id="6" name="Flecha 5_2"/>
            <p:cNvSpPr/>
            <p:nvPr/>
          </p:nvSpPr>
          <p:spPr>
            <a:xfrm>
              <a:off x="822960" y="1143000"/>
              <a:ext cx="9144" cy="5212080"/>
            </a:xfrm>
            <a:custGeom>
              <a:avLst/>
              <a:gdLst/>
              <a:ahLst/>
              <a:cxnLst/>
              <a:rect l="0" t="0" r="r" b="b"/>
              <a:pathLst>
                <a:path w="10" h="5700" fill="none">
                  <a:moveTo>
                    <a:pt x="0" y="57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822960" y="3931920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799" h="10" fill="none">
                  <a:moveTo>
                    <a:pt x="0" y="0"/>
                  </a:moveTo>
                  <a:lnTo>
                    <a:pt x="7799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prstDash val="dash"/>
              <a:round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914400" y="10972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(kcal/mol)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137160" y="3767328"/>
              <a:ext cx="54864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!!Barra glucosa"/>
          <p:cNvSpPr/>
          <p:nvPr/>
        </p:nvSpPr>
        <p:spPr>
          <a:xfrm>
            <a:off x="1463040" y="2845613"/>
            <a:ext cx="868680" cy="1086307"/>
          </a:xfrm>
          <a:prstGeom prst="rect">
            <a:avLst/>
          </a:prstGeom>
          <a:gradFill rotWithShape="1">
            <a:gsLst>
              <a:gs pos="0">
                <a:srgbClr val="EF8A80"/>
              </a:gs>
              <a:gs pos="100000">
                <a:srgbClr val="E74C3C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+3,3</a:t>
            </a:r>
            <a:endParaRPr lang="es-AR" sz="1500" dirty="0">
              <a:latin typeface="Calibri"/>
            </a:endParaRPr>
          </a:p>
        </p:txBody>
      </p:sp>
      <p:sp>
        <p:nvSpPr>
          <p:cNvPr id="11" name="!!Glucosa"/>
          <p:cNvSpPr/>
          <p:nvPr/>
        </p:nvSpPr>
        <p:spPr>
          <a:xfrm>
            <a:off x="2926080" y="1371600"/>
            <a:ext cx="155448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ADD8"/>
              </a:gs>
              <a:gs pos="55000">
                <a:srgbClr val="3B82C4"/>
              </a:gs>
              <a:gs pos="100000">
                <a:srgbClr val="2F689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D41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</a:t>
            </a:r>
            <a:endParaRPr lang="es-AR" sz="1400" dirty="0">
              <a:latin typeface="Calibri"/>
            </a:endParaRPr>
          </a:p>
        </p:txBody>
      </p:sp>
      <p:sp>
        <p:nvSpPr>
          <p:cNvPr id="12" name="!!G6P"/>
          <p:cNvSpPr/>
          <p:nvPr/>
        </p:nvSpPr>
        <p:spPr>
          <a:xfrm>
            <a:off x="5760720" y="1371600"/>
            <a:ext cx="173736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BA8D9"/>
              </a:gs>
              <a:gs pos="55000">
                <a:srgbClr val="AF7AC5"/>
              </a:gs>
              <a:gs pos="100000">
                <a:srgbClr val="8C619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73D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Glucosa-6-P</a:t>
            </a:r>
            <a:endParaRPr lang="es-AR" sz="1400" dirty="0">
              <a:latin typeface="Calibri"/>
            </a:endParaRPr>
          </a:p>
        </p:txBody>
      </p:sp>
      <p:sp>
        <p:nvSpPr>
          <p:cNvPr id="13" name="!!Flecha R1"/>
          <p:cNvSpPr/>
          <p:nvPr/>
        </p:nvSpPr>
        <p:spPr>
          <a:xfrm>
            <a:off x="4572000" y="1563624"/>
            <a:ext cx="1097280" cy="9144"/>
          </a:xfrm>
          <a:custGeom>
            <a:avLst/>
            <a:gdLst/>
            <a:ahLst/>
            <a:cxnLst/>
            <a:rect l="0" t="0" r="r" b="b"/>
            <a:pathLst>
              <a:path w="1200" h="10" fill="none">
                <a:moveTo>
                  <a:pt x="0" y="0"/>
                </a:moveTo>
                <a:lnTo>
                  <a:pt x="1200" y="0"/>
                </a:lnTo>
              </a:path>
            </a:pathLst>
          </a:custGeom>
          <a:noFill/>
          <a:ln w="38100" cap="rnd">
            <a:solidFill>
              <a:srgbClr val="C00000"/>
            </a:solidFill>
            <a:prstDash val="dash"/>
            <a:round/>
            <a:tailEnd type="triangle" w="med" len="med"/>
          </a:ln>
        </p:spPr>
      </p:sp>
      <p:grpSp>
        <p:nvGrpSpPr>
          <p:cNvPr id="14" name="Caja R1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15" name="Forma 16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 → glucosa-6-fosfato</a:t>
              </a:r>
              <a:endParaRPr lang="es-AR" sz="20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= +3,3 kcal/mol</a:t>
              </a:r>
              <a:endParaRPr lang="es-AR" sz="20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glucosa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se fosforila sola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reacción es no espontánea.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6" name="Forma 17"/>
            <p:cNvSpPr/>
            <p:nvPr/>
          </p:nvSpPr>
          <p:spPr>
            <a:xfrm>
              <a:off x="8677656" y="1097280"/>
              <a:ext cx="1249201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REACCIÓN 1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Rigor estándar"/>
          <p:cNvGrpSpPr/>
          <p:nvPr/>
        </p:nvGrpSpPr>
        <p:grpSpPr>
          <a:xfrm>
            <a:off x="8549640" y="4389120"/>
            <a:ext cx="3383280" cy="2057400"/>
            <a:chOff x="8549640" y="4389120"/>
            <a:chExt cx="3383280" cy="2057400"/>
          </a:xfrm>
        </p:grpSpPr>
        <p:sp>
          <p:nvSpPr>
            <p:cNvPr id="18" name="Forma 19"/>
            <p:cNvSpPr/>
            <p:nvPr/>
          </p:nvSpPr>
          <p:spPr>
            <a:xfrm>
              <a:off x="8549640" y="4590288"/>
              <a:ext cx="3383280" cy="185623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valores corresponden 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condiciones estándar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(ΔG°′); en la célula el ΔG real depende de las concentraciones.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9" name="Forma 20"/>
            <p:cNvSpPr/>
            <p:nvPr/>
          </p:nvSpPr>
          <p:spPr>
            <a:xfrm>
              <a:off x="8677656" y="438912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REACCIÓN DESFAVORABLE: GLUCOSA → GLUCOSA-6-FOSFATO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2" grpId="0" animBg="1"/>
      <p:bldP spid="10" grpId="0" animBg="1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Eje energía"/>
          <p:cNvGrpSpPr/>
          <p:nvPr/>
        </p:nvGrpSpPr>
        <p:grpSpPr>
          <a:xfrm>
            <a:off x="137160" y="1097280"/>
            <a:ext cx="7818120" cy="5257800"/>
            <a:chOff x="137160" y="1097280"/>
            <a:chExt cx="7818120" cy="5257800"/>
          </a:xfrm>
        </p:grpSpPr>
        <p:sp>
          <p:nvSpPr>
            <p:cNvPr id="6" name="Flecha 5_2"/>
            <p:cNvSpPr/>
            <p:nvPr/>
          </p:nvSpPr>
          <p:spPr>
            <a:xfrm>
              <a:off x="822960" y="1143000"/>
              <a:ext cx="9144" cy="5212080"/>
            </a:xfrm>
            <a:custGeom>
              <a:avLst/>
              <a:gdLst/>
              <a:ahLst/>
              <a:cxnLst/>
              <a:rect l="0" t="0" r="r" b="b"/>
              <a:pathLst>
                <a:path w="10" h="5700" fill="none">
                  <a:moveTo>
                    <a:pt x="0" y="57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822960" y="3931920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799" h="10" fill="none">
                  <a:moveTo>
                    <a:pt x="0" y="0"/>
                  </a:moveTo>
                  <a:lnTo>
                    <a:pt x="7799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prstDash val="dash"/>
              <a:round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914400" y="10972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(kcal/mol)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137160" y="3767328"/>
              <a:ext cx="54864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!!Barra glucosa"/>
          <p:cNvSpPr/>
          <p:nvPr/>
        </p:nvSpPr>
        <p:spPr>
          <a:xfrm>
            <a:off x="1463040" y="2845613"/>
            <a:ext cx="868680" cy="1086307"/>
          </a:xfrm>
          <a:prstGeom prst="rect">
            <a:avLst/>
          </a:prstGeom>
          <a:gradFill rotWithShape="1">
            <a:gsLst>
              <a:gs pos="0">
                <a:srgbClr val="EF8A80"/>
              </a:gs>
              <a:gs pos="100000">
                <a:srgbClr val="E74C3C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+3,3</a:t>
            </a:r>
            <a:endParaRPr lang="es-AR" sz="1500" dirty="0">
              <a:latin typeface="Calibri"/>
            </a:endParaRPr>
          </a:p>
        </p:txBody>
      </p:sp>
      <p:sp>
        <p:nvSpPr>
          <p:cNvPr id="11" name="!!Barra ATP"/>
          <p:cNvSpPr/>
          <p:nvPr/>
        </p:nvSpPr>
        <p:spPr>
          <a:xfrm>
            <a:off x="2743200" y="3931920"/>
            <a:ext cx="868680" cy="2403043"/>
          </a:xfrm>
          <a:prstGeom prst="rect">
            <a:avLst/>
          </a:prstGeom>
          <a:gradFill rotWithShape="1">
            <a:gsLst>
              <a:gs pos="0">
                <a:srgbClr val="72CA97"/>
              </a:gs>
              <a:gs pos="100000">
                <a:srgbClr val="27AE60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−7,3</a:t>
            </a:r>
            <a:endParaRPr lang="es-AR" sz="1500" dirty="0">
              <a:latin typeface="Calibri"/>
            </a:endParaRPr>
          </a:p>
        </p:txBody>
      </p:sp>
      <p:sp>
        <p:nvSpPr>
          <p:cNvPr id="12" name="!!Glucosa"/>
          <p:cNvSpPr/>
          <p:nvPr/>
        </p:nvSpPr>
        <p:spPr>
          <a:xfrm>
            <a:off x="2926080" y="1371600"/>
            <a:ext cx="155448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ADD8"/>
              </a:gs>
              <a:gs pos="55000">
                <a:srgbClr val="3B82C4"/>
              </a:gs>
              <a:gs pos="100000">
                <a:srgbClr val="2F689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D41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</a:t>
            </a:r>
            <a:endParaRPr lang="es-AR" sz="1400" dirty="0">
              <a:latin typeface="Calibri"/>
            </a:endParaRPr>
          </a:p>
        </p:txBody>
      </p:sp>
      <p:sp>
        <p:nvSpPr>
          <p:cNvPr id="13" name="!!G6P"/>
          <p:cNvSpPr/>
          <p:nvPr/>
        </p:nvSpPr>
        <p:spPr>
          <a:xfrm>
            <a:off x="5760720" y="1371600"/>
            <a:ext cx="173736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BA8D9"/>
              </a:gs>
              <a:gs pos="55000">
                <a:srgbClr val="AF7AC5"/>
              </a:gs>
              <a:gs pos="100000">
                <a:srgbClr val="8C619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73D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Glucosa-6-P</a:t>
            </a:r>
            <a:endParaRPr lang="es-AR" sz="1400" dirty="0">
              <a:latin typeface="Calibri"/>
            </a:endParaRPr>
          </a:p>
        </p:txBody>
      </p:sp>
      <p:sp>
        <p:nvSpPr>
          <p:cNvPr id="14" name="!!Flecha R1"/>
          <p:cNvSpPr/>
          <p:nvPr/>
        </p:nvSpPr>
        <p:spPr>
          <a:xfrm>
            <a:off x="4572000" y="1563624"/>
            <a:ext cx="1097280" cy="9144"/>
          </a:xfrm>
          <a:custGeom>
            <a:avLst/>
            <a:gdLst/>
            <a:ahLst/>
            <a:cxnLst/>
            <a:rect l="0" t="0" r="r" b="b"/>
            <a:pathLst>
              <a:path w="1200" h="10" fill="none">
                <a:moveTo>
                  <a:pt x="0" y="0"/>
                </a:moveTo>
                <a:lnTo>
                  <a:pt x="1200" y="0"/>
                </a:lnTo>
              </a:path>
            </a:pathLst>
          </a:custGeom>
          <a:noFill/>
          <a:ln w="38100" cap="rnd">
            <a:solidFill>
              <a:srgbClr val="C00000"/>
            </a:solidFill>
            <a:prstDash val="dash"/>
            <a:round/>
            <a:tailEnd type="triangle" w="med" len="med"/>
          </a:ln>
        </p:spPr>
      </p:sp>
      <p:sp>
        <p:nvSpPr>
          <p:cNvPr id="15" name="!!ATP"/>
          <p:cNvSpPr/>
          <p:nvPr/>
        </p:nvSpPr>
        <p:spPr>
          <a:xfrm>
            <a:off x="3931920" y="4572000"/>
            <a:ext cx="10058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659"/>
              </a:gs>
              <a:gs pos="55000">
                <a:srgbClr val="FFC000"/>
              </a:gs>
              <a:gs pos="100000">
                <a:srgbClr val="CC990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F600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ATP</a:t>
            </a:r>
            <a:endParaRPr lang="es-AR" sz="1400" dirty="0">
              <a:latin typeface="Calibri"/>
            </a:endParaRPr>
          </a:p>
        </p:txBody>
      </p:sp>
      <p:sp>
        <p:nvSpPr>
          <p:cNvPr id="16" name="!!ADP"/>
          <p:cNvSpPr/>
          <p:nvPr/>
        </p:nvSpPr>
        <p:spPr>
          <a:xfrm>
            <a:off x="6035040" y="4572000"/>
            <a:ext cx="10058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AD8A2"/>
              </a:gs>
              <a:gs pos="55000">
                <a:srgbClr val="F8C471"/>
              </a:gs>
              <a:gs pos="100000">
                <a:srgbClr val="C69C5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C6238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ADP</a:t>
            </a:r>
            <a:endParaRPr lang="es-AR" sz="1400" dirty="0">
              <a:latin typeface="Calibri"/>
            </a:endParaRPr>
          </a:p>
        </p:txBody>
      </p:sp>
      <p:sp>
        <p:nvSpPr>
          <p:cNvPr id="17" name="!!Pi"/>
          <p:cNvSpPr/>
          <p:nvPr/>
        </p:nvSpPr>
        <p:spPr>
          <a:xfrm>
            <a:off x="7132320" y="4572000"/>
            <a:ext cx="6858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lang="es-AR" sz="1400" dirty="0">
              <a:latin typeface="Calibri"/>
            </a:endParaRPr>
          </a:p>
        </p:txBody>
      </p:sp>
      <p:sp>
        <p:nvSpPr>
          <p:cNvPr id="18" name="!!Flecha R2"/>
          <p:cNvSpPr/>
          <p:nvPr/>
        </p:nvSpPr>
        <p:spPr>
          <a:xfrm>
            <a:off x="4983480" y="4764024"/>
            <a:ext cx="960120" cy="9144"/>
          </a:xfrm>
          <a:custGeom>
            <a:avLst/>
            <a:gdLst/>
            <a:ahLst/>
            <a:cxnLst/>
            <a:rect l="0" t="0" r="r" b="b"/>
            <a:pathLst>
              <a:path w="1049" h="10" fill="none">
                <a:moveTo>
                  <a:pt x="0" y="0"/>
                </a:moveTo>
                <a:lnTo>
                  <a:pt x="1049" y="0"/>
                </a:lnTo>
              </a:path>
            </a:pathLst>
          </a:custGeom>
          <a:noFill/>
          <a:ln w="38100" cap="rnd">
            <a:solidFill>
              <a:srgbClr val="4E7A30"/>
            </a:solidFill>
            <a:round/>
            <a:tailEnd type="triangle" w="med" len="med"/>
          </a:ln>
        </p:spPr>
      </p:sp>
      <p:grpSp>
        <p:nvGrpSpPr>
          <p:cNvPr id="19" name="Caja R2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0" name="Forma 21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 → ADP + P</a:t>
              </a:r>
              <a:r>
                <a:rPr lang="es-AR" sz="20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 lang="es-AR" sz="20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= −7,3 kcal/mol</a:t>
              </a:r>
              <a:endParaRPr lang="es-AR" sz="20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hidrólisis del ATP es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espontánea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1" name="Forma 22"/>
            <p:cNvSpPr/>
            <p:nvPr/>
          </p:nvSpPr>
          <p:spPr>
            <a:xfrm>
              <a:off x="8677656" y="1097280"/>
              <a:ext cx="1249201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REACCIÓN 2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HIDRÓLISIS DEL ATP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6" grpId="0" animBg="1"/>
      <p:bldP spid="17" grpId="0" animBg="1"/>
      <p:bldP spid="11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Eje energía"/>
          <p:cNvGrpSpPr/>
          <p:nvPr/>
        </p:nvGrpSpPr>
        <p:grpSpPr>
          <a:xfrm>
            <a:off x="137160" y="1097280"/>
            <a:ext cx="7818120" cy="5257800"/>
            <a:chOff x="137160" y="1097280"/>
            <a:chExt cx="7818120" cy="5257800"/>
          </a:xfrm>
        </p:grpSpPr>
        <p:sp>
          <p:nvSpPr>
            <p:cNvPr id="6" name="Flecha 5_2"/>
            <p:cNvSpPr/>
            <p:nvPr/>
          </p:nvSpPr>
          <p:spPr>
            <a:xfrm>
              <a:off x="822960" y="1143000"/>
              <a:ext cx="9144" cy="5212080"/>
            </a:xfrm>
            <a:custGeom>
              <a:avLst/>
              <a:gdLst/>
              <a:ahLst/>
              <a:cxnLst/>
              <a:rect l="0" t="0" r="r" b="b"/>
              <a:pathLst>
                <a:path w="10" h="5700" fill="none">
                  <a:moveTo>
                    <a:pt x="0" y="57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822960" y="3931920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799" h="10" fill="none">
                  <a:moveTo>
                    <a:pt x="0" y="0"/>
                  </a:moveTo>
                  <a:lnTo>
                    <a:pt x="7799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prstDash val="dash"/>
              <a:round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914400" y="10972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(kcal/mol)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137160" y="3767328"/>
              <a:ext cx="54864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!!Barra glucosa"/>
          <p:cNvSpPr/>
          <p:nvPr/>
        </p:nvSpPr>
        <p:spPr>
          <a:xfrm>
            <a:off x="1463040" y="2845613"/>
            <a:ext cx="868680" cy="1086307"/>
          </a:xfrm>
          <a:prstGeom prst="rect">
            <a:avLst/>
          </a:prstGeom>
          <a:gradFill rotWithShape="1">
            <a:gsLst>
              <a:gs pos="0">
                <a:srgbClr val="EF8A80"/>
              </a:gs>
              <a:gs pos="100000">
                <a:srgbClr val="E74C3C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+3,3</a:t>
            </a:r>
            <a:endParaRPr lang="es-AR" sz="1500" dirty="0">
              <a:latin typeface="Calibri"/>
            </a:endParaRPr>
          </a:p>
        </p:txBody>
      </p:sp>
      <p:sp>
        <p:nvSpPr>
          <p:cNvPr id="11" name="!!Barra ATP"/>
          <p:cNvSpPr/>
          <p:nvPr/>
        </p:nvSpPr>
        <p:spPr>
          <a:xfrm>
            <a:off x="2743200" y="3931920"/>
            <a:ext cx="868680" cy="2403043"/>
          </a:xfrm>
          <a:prstGeom prst="rect">
            <a:avLst/>
          </a:prstGeom>
          <a:gradFill rotWithShape="1">
            <a:gsLst>
              <a:gs pos="0">
                <a:srgbClr val="72CA97"/>
              </a:gs>
              <a:gs pos="100000">
                <a:srgbClr val="27AE60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−7,3</a:t>
            </a:r>
            <a:endParaRPr lang="es-AR" sz="1500" dirty="0">
              <a:latin typeface="Calibri"/>
            </a:endParaRPr>
          </a:p>
        </p:txBody>
      </p:sp>
      <p:sp>
        <p:nvSpPr>
          <p:cNvPr id="12" name="!!Glucosa"/>
          <p:cNvSpPr/>
          <p:nvPr/>
        </p:nvSpPr>
        <p:spPr>
          <a:xfrm>
            <a:off x="2651760" y="1371600"/>
            <a:ext cx="13716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ADD8"/>
              </a:gs>
              <a:gs pos="55000">
                <a:srgbClr val="3B82C4"/>
              </a:gs>
              <a:gs pos="100000">
                <a:srgbClr val="2F689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D41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</a:t>
            </a:r>
            <a:endParaRPr lang="es-AR" sz="1400" dirty="0">
              <a:latin typeface="Calibri"/>
            </a:endParaRPr>
          </a:p>
        </p:txBody>
      </p:sp>
      <p:sp>
        <p:nvSpPr>
          <p:cNvPr id="13" name="!!ATP"/>
          <p:cNvSpPr/>
          <p:nvPr/>
        </p:nvSpPr>
        <p:spPr>
          <a:xfrm>
            <a:off x="4160520" y="1371600"/>
            <a:ext cx="82296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659"/>
              </a:gs>
              <a:gs pos="55000">
                <a:srgbClr val="FFC000"/>
              </a:gs>
              <a:gs pos="100000">
                <a:srgbClr val="CC990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F600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ATP</a:t>
            </a:r>
            <a:endParaRPr lang="es-AR" sz="1400" dirty="0">
              <a:latin typeface="Calibri"/>
            </a:endParaRPr>
          </a:p>
        </p:txBody>
      </p:sp>
      <p:sp>
        <p:nvSpPr>
          <p:cNvPr id="14" name="!!Flecha R1"/>
          <p:cNvSpPr/>
          <p:nvPr/>
        </p:nvSpPr>
        <p:spPr>
          <a:xfrm>
            <a:off x="5074920" y="1563624"/>
            <a:ext cx="731520" cy="9144"/>
          </a:xfrm>
          <a:custGeom>
            <a:avLst/>
            <a:gdLst/>
            <a:ahLst/>
            <a:cxnLst/>
            <a:rect l="0" t="0" r="r" b="b"/>
            <a:pathLst>
              <a:path w="799" h="10" fill="none">
                <a:moveTo>
                  <a:pt x="0" y="0"/>
                </a:moveTo>
                <a:lnTo>
                  <a:pt x="799" y="0"/>
                </a:lnTo>
              </a:path>
            </a:pathLst>
          </a:custGeom>
          <a:noFill/>
          <a:ln w="38100" cap="rnd">
            <a:solidFill>
              <a:srgbClr val="1F3864"/>
            </a:solidFill>
            <a:round/>
            <a:tailEnd type="triangle" w="med" len="med"/>
          </a:ln>
        </p:spPr>
      </p:sp>
      <p:sp>
        <p:nvSpPr>
          <p:cNvPr id="15" name="!!G6P"/>
          <p:cNvSpPr/>
          <p:nvPr/>
        </p:nvSpPr>
        <p:spPr>
          <a:xfrm>
            <a:off x="5897880" y="1371600"/>
            <a:ext cx="14630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BA8D9"/>
              </a:gs>
              <a:gs pos="55000">
                <a:srgbClr val="AF7AC5"/>
              </a:gs>
              <a:gs pos="100000">
                <a:srgbClr val="8C619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73D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Glucosa-6-P</a:t>
            </a:r>
            <a:endParaRPr lang="es-AR" sz="1400" dirty="0">
              <a:latin typeface="Calibri"/>
            </a:endParaRPr>
          </a:p>
        </p:txBody>
      </p:sp>
      <p:sp>
        <p:nvSpPr>
          <p:cNvPr id="16" name="!!ADP"/>
          <p:cNvSpPr/>
          <p:nvPr/>
        </p:nvSpPr>
        <p:spPr>
          <a:xfrm>
            <a:off x="7452360" y="13716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AD8A2"/>
              </a:gs>
              <a:gs pos="55000">
                <a:srgbClr val="F8C471"/>
              </a:gs>
              <a:gs pos="100000">
                <a:srgbClr val="C69C5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C6238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ADP</a:t>
            </a:r>
            <a:endParaRPr lang="es-AR" sz="1400" dirty="0">
              <a:latin typeface="Calibri"/>
            </a:endParaRPr>
          </a:p>
        </p:txBody>
      </p:sp>
      <p:grpSp>
        <p:nvGrpSpPr>
          <p:cNvPr id="17" name="Engranajes"/>
          <p:cNvGrpSpPr/>
          <p:nvPr/>
        </p:nvGrpSpPr>
        <p:grpSpPr>
          <a:xfrm>
            <a:off x="3566160" y="2194560"/>
            <a:ext cx="1508760" cy="1143000"/>
            <a:chOff x="3566160" y="2194560"/>
            <a:chExt cx="1508760" cy="1143000"/>
          </a:xfrm>
        </p:grpSpPr>
        <p:sp>
          <p:nvSpPr>
            <p:cNvPr id="18" name="Forma 19"/>
            <p:cNvSpPr/>
            <p:nvPr/>
          </p:nvSpPr>
          <p:spPr>
            <a:xfrm>
              <a:off x="3566160" y="2194560"/>
              <a:ext cx="914400" cy="914400"/>
            </a:xfrm>
            <a:prstGeom prst="gear6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9" name="Forma 20"/>
            <p:cNvSpPr/>
            <p:nvPr/>
          </p:nvSpPr>
          <p:spPr>
            <a:xfrm>
              <a:off x="4343400" y="2606040"/>
              <a:ext cx="731520" cy="731520"/>
            </a:xfrm>
            <a:prstGeom prst="gear6">
              <a:avLst/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E1E1E"/>
              </a:solidFill>
              <a:round/>
            </a:ln>
          </p:spPr>
        </p:sp>
      </p:grpSp>
      <p:grpSp>
        <p:nvGrpSpPr>
          <p:cNvPr id="20" name="Caja R3"/>
          <p:cNvGrpSpPr/>
          <p:nvPr/>
        </p:nvGrpSpPr>
        <p:grpSpPr>
          <a:xfrm>
            <a:off x="8549640" y="1097280"/>
            <a:ext cx="3383280" cy="3291840"/>
            <a:chOff x="8549640" y="1097280"/>
            <a:chExt cx="3383280" cy="3291840"/>
          </a:xfrm>
        </p:grpSpPr>
        <p:sp>
          <p:nvSpPr>
            <p:cNvPr id="21" name="Forma 22"/>
            <p:cNvSpPr/>
            <p:nvPr/>
          </p:nvSpPr>
          <p:spPr>
            <a:xfrm>
              <a:off x="8549640" y="1298448"/>
              <a:ext cx="3383280" cy="30906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células realizan reacciones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desfavorables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acoplándolas a reacciones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favorables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fosfato terminal del ATP pasa a la glucosa en una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única reacción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2" name="Forma 23"/>
            <p:cNvSpPr/>
            <p:nvPr/>
          </p:nvSpPr>
          <p:spPr>
            <a:xfrm>
              <a:off x="8677656" y="1097280"/>
              <a:ext cx="1577596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ACOPLAMIENTO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3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ACOPLAMIENTO DE AMBAS REACCIONES</a:t>
            </a:r>
            <a:endParaRPr lang="es-AR" sz="23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9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Eje energía"/>
          <p:cNvGrpSpPr/>
          <p:nvPr/>
        </p:nvGrpSpPr>
        <p:grpSpPr>
          <a:xfrm>
            <a:off x="137160" y="1097280"/>
            <a:ext cx="7818120" cy="5257800"/>
            <a:chOff x="137160" y="1097280"/>
            <a:chExt cx="7818120" cy="5257800"/>
          </a:xfrm>
        </p:grpSpPr>
        <p:sp>
          <p:nvSpPr>
            <p:cNvPr id="6" name="Flecha 5_2"/>
            <p:cNvSpPr/>
            <p:nvPr/>
          </p:nvSpPr>
          <p:spPr>
            <a:xfrm>
              <a:off x="822960" y="1143000"/>
              <a:ext cx="9144" cy="5212080"/>
            </a:xfrm>
            <a:custGeom>
              <a:avLst/>
              <a:gdLst/>
              <a:ahLst/>
              <a:cxnLst/>
              <a:rect l="0" t="0" r="r" b="b"/>
              <a:pathLst>
                <a:path w="10" h="5700" fill="none">
                  <a:moveTo>
                    <a:pt x="0" y="57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822960" y="3931920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799" h="10" fill="none">
                  <a:moveTo>
                    <a:pt x="0" y="0"/>
                  </a:moveTo>
                  <a:lnTo>
                    <a:pt x="7799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prstDash val="dash"/>
              <a:round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914400" y="10972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(kcal/mol)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137160" y="3767328"/>
              <a:ext cx="54864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!!Barra glucosa"/>
          <p:cNvSpPr/>
          <p:nvPr/>
        </p:nvSpPr>
        <p:spPr>
          <a:xfrm>
            <a:off x="1463040" y="2845613"/>
            <a:ext cx="868680" cy="1086307"/>
          </a:xfrm>
          <a:prstGeom prst="rect">
            <a:avLst/>
          </a:prstGeom>
          <a:gradFill rotWithShape="1">
            <a:gsLst>
              <a:gs pos="0">
                <a:srgbClr val="F5B7B1"/>
              </a:gs>
              <a:gs pos="100000">
                <a:srgbClr val="E74C3C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+3,3</a:t>
            </a:r>
            <a:endParaRPr lang="es-AR" sz="1500" dirty="0">
              <a:latin typeface="Calibri"/>
            </a:endParaRPr>
          </a:p>
        </p:txBody>
      </p:sp>
      <p:sp>
        <p:nvSpPr>
          <p:cNvPr id="11" name="!!Barra ATP"/>
          <p:cNvSpPr/>
          <p:nvPr/>
        </p:nvSpPr>
        <p:spPr>
          <a:xfrm>
            <a:off x="2331720" y="2845613"/>
            <a:ext cx="868680" cy="2403043"/>
          </a:xfrm>
          <a:prstGeom prst="rect">
            <a:avLst/>
          </a:prstGeom>
          <a:gradFill rotWithShape="1">
            <a:gsLst>
              <a:gs pos="0">
                <a:srgbClr val="A9DFBF"/>
              </a:gs>
              <a:gs pos="100000">
                <a:srgbClr val="27AE60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−7,3</a:t>
            </a:r>
            <a:endParaRPr lang="es-AR" sz="1500" dirty="0">
              <a:latin typeface="Calibri"/>
            </a:endParaRPr>
          </a:p>
        </p:txBody>
      </p:sp>
      <p:sp>
        <p:nvSpPr>
          <p:cNvPr id="12" name="!!Glucosa"/>
          <p:cNvSpPr/>
          <p:nvPr/>
        </p:nvSpPr>
        <p:spPr>
          <a:xfrm>
            <a:off x="2651760" y="1371600"/>
            <a:ext cx="13716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ADD8"/>
              </a:gs>
              <a:gs pos="55000">
                <a:srgbClr val="3B82C4"/>
              </a:gs>
              <a:gs pos="100000">
                <a:srgbClr val="2F689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D41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</a:t>
            </a:r>
            <a:endParaRPr lang="es-AR" sz="1400" dirty="0">
              <a:latin typeface="Calibri"/>
            </a:endParaRPr>
          </a:p>
        </p:txBody>
      </p:sp>
      <p:sp>
        <p:nvSpPr>
          <p:cNvPr id="13" name="!!ATP"/>
          <p:cNvSpPr/>
          <p:nvPr/>
        </p:nvSpPr>
        <p:spPr>
          <a:xfrm>
            <a:off x="4160520" y="1371600"/>
            <a:ext cx="82296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659"/>
              </a:gs>
              <a:gs pos="55000">
                <a:srgbClr val="FFC000"/>
              </a:gs>
              <a:gs pos="100000">
                <a:srgbClr val="CC990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F600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ATP</a:t>
            </a:r>
            <a:endParaRPr lang="es-AR" sz="1400" dirty="0">
              <a:latin typeface="Calibri"/>
            </a:endParaRPr>
          </a:p>
        </p:txBody>
      </p:sp>
      <p:sp>
        <p:nvSpPr>
          <p:cNvPr id="14" name="!!Flecha R1"/>
          <p:cNvSpPr/>
          <p:nvPr/>
        </p:nvSpPr>
        <p:spPr>
          <a:xfrm>
            <a:off x="5074920" y="1563624"/>
            <a:ext cx="731520" cy="9144"/>
          </a:xfrm>
          <a:custGeom>
            <a:avLst/>
            <a:gdLst/>
            <a:ahLst/>
            <a:cxnLst/>
            <a:rect l="0" t="0" r="r" b="b"/>
            <a:pathLst>
              <a:path w="799" h="10" fill="none">
                <a:moveTo>
                  <a:pt x="0" y="0"/>
                </a:moveTo>
                <a:lnTo>
                  <a:pt x="799" y="0"/>
                </a:lnTo>
              </a:path>
            </a:pathLst>
          </a:custGeom>
          <a:noFill/>
          <a:ln w="38100" cap="rnd">
            <a:solidFill>
              <a:srgbClr val="1F3864"/>
            </a:solidFill>
            <a:round/>
            <a:tailEnd type="triangle" w="med" len="med"/>
          </a:ln>
        </p:spPr>
      </p:sp>
      <p:sp>
        <p:nvSpPr>
          <p:cNvPr id="15" name="!!G6P"/>
          <p:cNvSpPr/>
          <p:nvPr/>
        </p:nvSpPr>
        <p:spPr>
          <a:xfrm>
            <a:off x="5897880" y="1371600"/>
            <a:ext cx="14630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BA8D9"/>
              </a:gs>
              <a:gs pos="55000">
                <a:srgbClr val="AF7AC5"/>
              </a:gs>
              <a:gs pos="100000">
                <a:srgbClr val="8C619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73D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Glucosa-6-P</a:t>
            </a:r>
            <a:endParaRPr lang="es-AR" sz="1400" dirty="0">
              <a:latin typeface="Calibri"/>
            </a:endParaRPr>
          </a:p>
        </p:txBody>
      </p:sp>
      <p:sp>
        <p:nvSpPr>
          <p:cNvPr id="16" name="!!ADP"/>
          <p:cNvSpPr/>
          <p:nvPr/>
        </p:nvSpPr>
        <p:spPr>
          <a:xfrm>
            <a:off x="7452360" y="13716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AD8A2"/>
              </a:gs>
              <a:gs pos="55000">
                <a:srgbClr val="F8C471"/>
              </a:gs>
              <a:gs pos="100000">
                <a:srgbClr val="C69C5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C6238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ADP</a:t>
            </a:r>
            <a:endParaRPr lang="es-AR" sz="1400" dirty="0">
              <a:latin typeface="Calibri"/>
            </a:endParaRPr>
          </a:p>
        </p:txBody>
      </p:sp>
      <p:sp>
        <p:nvSpPr>
          <p:cNvPr id="17" name="Suma"/>
          <p:cNvSpPr/>
          <p:nvPr/>
        </p:nvSpPr>
        <p:spPr>
          <a:xfrm>
            <a:off x="3566160" y="4206240"/>
            <a:ext cx="4389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(+3,3) + (−7,3) =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−4,0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kcal/mol</a:t>
            </a:r>
            <a:endParaRPr lang="es-AR" sz="2200" dirty="0">
              <a:latin typeface="Calibri"/>
            </a:endParaRPr>
          </a:p>
        </p:txBody>
      </p:sp>
      <p:grpSp>
        <p:nvGrpSpPr>
          <p:cNvPr id="18" name="Caja R4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19" name="Forma 20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variaciones de energía libre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suman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barra verde «paga» la roja y aún sobra energía.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0" name="Forma 21"/>
            <p:cNvSpPr/>
            <p:nvPr/>
          </p:nvSpPr>
          <p:spPr>
            <a:xfrm>
              <a:off x="8677656" y="1097280"/>
              <a:ext cx="79729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SUMA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SUMA DE LAS VARIACIONES DE ENERGÍA LIBRE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Eje energía"/>
          <p:cNvGrpSpPr/>
          <p:nvPr/>
        </p:nvGrpSpPr>
        <p:grpSpPr>
          <a:xfrm>
            <a:off x="137160" y="1097280"/>
            <a:ext cx="7818120" cy="5257800"/>
            <a:chOff x="137160" y="1097280"/>
            <a:chExt cx="7818120" cy="5257800"/>
          </a:xfrm>
        </p:grpSpPr>
        <p:sp>
          <p:nvSpPr>
            <p:cNvPr id="6" name="Flecha 5_2"/>
            <p:cNvSpPr/>
            <p:nvPr/>
          </p:nvSpPr>
          <p:spPr>
            <a:xfrm>
              <a:off x="822960" y="1143000"/>
              <a:ext cx="9144" cy="5212080"/>
            </a:xfrm>
            <a:custGeom>
              <a:avLst/>
              <a:gdLst/>
              <a:ahLst/>
              <a:cxnLst/>
              <a:rect l="0" t="0" r="r" b="b"/>
              <a:pathLst>
                <a:path w="10" h="5700" fill="none">
                  <a:moveTo>
                    <a:pt x="0" y="57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822960" y="3931920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799" h="10" fill="none">
                  <a:moveTo>
                    <a:pt x="0" y="0"/>
                  </a:moveTo>
                  <a:lnTo>
                    <a:pt x="7799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prstDash val="dash"/>
              <a:round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914400" y="10972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(kcal/mol)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137160" y="3767328"/>
              <a:ext cx="54864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!!Barra glucosa"/>
          <p:cNvSpPr/>
          <p:nvPr/>
        </p:nvSpPr>
        <p:spPr>
          <a:xfrm>
            <a:off x="1463040" y="2845613"/>
            <a:ext cx="868680" cy="1086307"/>
          </a:xfrm>
          <a:prstGeom prst="rect">
            <a:avLst/>
          </a:prstGeom>
          <a:gradFill rotWithShape="1">
            <a:gsLst>
              <a:gs pos="0">
                <a:srgbClr val="F5B7B1"/>
              </a:gs>
              <a:gs pos="100000">
                <a:srgbClr val="E74C3C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+3,3</a:t>
            </a:r>
            <a:endParaRPr lang="es-AR" sz="1500" dirty="0">
              <a:latin typeface="Calibri"/>
            </a:endParaRPr>
          </a:p>
        </p:txBody>
      </p:sp>
      <p:sp>
        <p:nvSpPr>
          <p:cNvPr id="11" name="!!Barra ATP"/>
          <p:cNvSpPr/>
          <p:nvPr/>
        </p:nvSpPr>
        <p:spPr>
          <a:xfrm>
            <a:off x="2331720" y="2845613"/>
            <a:ext cx="868680" cy="2403043"/>
          </a:xfrm>
          <a:prstGeom prst="rect">
            <a:avLst/>
          </a:prstGeom>
          <a:gradFill rotWithShape="1">
            <a:gsLst>
              <a:gs pos="0">
                <a:srgbClr val="A9DFBF"/>
              </a:gs>
              <a:gs pos="100000">
                <a:srgbClr val="27AE60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−7,3</a:t>
            </a:r>
            <a:endParaRPr lang="es-AR" sz="1500" dirty="0">
              <a:latin typeface="Calibri"/>
            </a:endParaRPr>
          </a:p>
        </p:txBody>
      </p:sp>
      <p:sp>
        <p:nvSpPr>
          <p:cNvPr id="12" name="!!Barra total"/>
          <p:cNvSpPr/>
          <p:nvPr/>
        </p:nvSpPr>
        <p:spPr>
          <a:xfrm>
            <a:off x="5669280" y="3931920"/>
            <a:ext cx="868680" cy="1316736"/>
          </a:xfrm>
          <a:prstGeom prst="rect">
            <a:avLst/>
          </a:prstGeom>
          <a:gradFill rotWithShape="1">
            <a:gsLst>
              <a:gs pos="0">
                <a:srgbClr val="AED6F1"/>
              </a:gs>
              <a:gs pos="100000">
                <a:srgbClr val="2E86C1"/>
              </a:gs>
            </a:gsLst>
            <a:lin ang="0" scaled="0"/>
          </a:gradFill>
          <a:ln w="2540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−4,0</a:t>
            </a:r>
            <a:endParaRPr lang="es-AR" sz="1600" dirty="0">
              <a:latin typeface="Calibri"/>
            </a:endParaRPr>
          </a:p>
        </p:txBody>
      </p:sp>
      <p:sp>
        <p:nvSpPr>
          <p:cNvPr id="13" name="!!Glucosa"/>
          <p:cNvSpPr/>
          <p:nvPr/>
        </p:nvSpPr>
        <p:spPr>
          <a:xfrm>
            <a:off x="2651760" y="1371600"/>
            <a:ext cx="13716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ADD8"/>
              </a:gs>
              <a:gs pos="55000">
                <a:srgbClr val="3B82C4"/>
              </a:gs>
              <a:gs pos="100000">
                <a:srgbClr val="2F689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D41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</a:t>
            </a:r>
            <a:endParaRPr lang="es-AR" sz="1400" dirty="0">
              <a:latin typeface="Calibri"/>
            </a:endParaRPr>
          </a:p>
        </p:txBody>
      </p:sp>
      <p:sp>
        <p:nvSpPr>
          <p:cNvPr id="14" name="!!ATP"/>
          <p:cNvSpPr/>
          <p:nvPr/>
        </p:nvSpPr>
        <p:spPr>
          <a:xfrm>
            <a:off x="4160520" y="1371600"/>
            <a:ext cx="82296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659"/>
              </a:gs>
              <a:gs pos="55000">
                <a:srgbClr val="FFC000"/>
              </a:gs>
              <a:gs pos="100000">
                <a:srgbClr val="CC990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F600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ATP</a:t>
            </a:r>
            <a:endParaRPr lang="es-AR" sz="1400" dirty="0">
              <a:latin typeface="Calibri"/>
            </a:endParaRPr>
          </a:p>
        </p:txBody>
      </p:sp>
      <p:sp>
        <p:nvSpPr>
          <p:cNvPr id="15" name="!!Flecha R1"/>
          <p:cNvSpPr/>
          <p:nvPr/>
        </p:nvSpPr>
        <p:spPr>
          <a:xfrm>
            <a:off x="5074920" y="1563624"/>
            <a:ext cx="731520" cy="9144"/>
          </a:xfrm>
          <a:custGeom>
            <a:avLst/>
            <a:gdLst/>
            <a:ahLst/>
            <a:cxnLst/>
            <a:rect l="0" t="0" r="r" b="b"/>
            <a:pathLst>
              <a:path w="799" h="10" fill="none">
                <a:moveTo>
                  <a:pt x="0" y="0"/>
                </a:moveTo>
                <a:lnTo>
                  <a:pt x="799" y="0"/>
                </a:lnTo>
              </a:path>
            </a:pathLst>
          </a:custGeom>
          <a:noFill/>
          <a:ln w="38100" cap="rnd">
            <a:solidFill>
              <a:srgbClr val="4E7A30"/>
            </a:solidFill>
            <a:round/>
            <a:tailEnd type="triangle" w="med" len="med"/>
          </a:ln>
        </p:spPr>
      </p:sp>
      <p:sp>
        <p:nvSpPr>
          <p:cNvPr id="16" name="!!G6P"/>
          <p:cNvSpPr/>
          <p:nvPr/>
        </p:nvSpPr>
        <p:spPr>
          <a:xfrm>
            <a:off x="5897880" y="1371600"/>
            <a:ext cx="14630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BA8D9"/>
              </a:gs>
              <a:gs pos="55000">
                <a:srgbClr val="AF7AC5"/>
              </a:gs>
              <a:gs pos="100000">
                <a:srgbClr val="8C619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73D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Glucosa-6-P</a:t>
            </a:r>
            <a:endParaRPr lang="es-AR" sz="1400" dirty="0">
              <a:latin typeface="Calibri"/>
            </a:endParaRPr>
          </a:p>
        </p:txBody>
      </p:sp>
      <p:sp>
        <p:nvSpPr>
          <p:cNvPr id="17" name="!!ADP"/>
          <p:cNvSpPr/>
          <p:nvPr/>
        </p:nvSpPr>
        <p:spPr>
          <a:xfrm>
            <a:off x="7452360" y="13716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AD8A2"/>
              </a:gs>
              <a:gs pos="55000">
                <a:srgbClr val="F8C471"/>
              </a:gs>
              <a:gs pos="100000">
                <a:srgbClr val="C69C5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C6238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ADP</a:t>
            </a:r>
            <a:endParaRPr lang="es-AR" sz="1400" dirty="0">
              <a:latin typeface="Calibri"/>
            </a:endParaRPr>
          </a:p>
        </p:txBody>
      </p:sp>
      <p:sp>
        <p:nvSpPr>
          <p:cNvPr id="18" name="ΔG total"/>
          <p:cNvSpPr/>
          <p:nvPr/>
        </p:nvSpPr>
        <p:spPr>
          <a:xfrm>
            <a:off x="4206240" y="5669280"/>
            <a:ext cx="2535332" cy="356235"/>
          </a:xfrm>
          <a:prstGeom prst="rect">
            <a:avLst/>
          </a:prstGeom>
          <a:solidFill>
            <a:srgbClr val="4E7A3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ΔG total = −4,0 kcal/mol</a:t>
            </a:r>
            <a:endParaRPr lang="es-AR" sz="1700" dirty="0">
              <a:latin typeface="Calibri"/>
            </a:endParaRPr>
          </a:p>
        </p:txBody>
      </p:sp>
      <p:grpSp>
        <p:nvGrpSpPr>
          <p:cNvPr id="19" name="Caja R5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0" name="Forma 21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 + ATP → glucosa-6-fosfato + ADP</a:t>
              </a:r>
              <a:endParaRPr lang="es-AR" sz="20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total = −4,0 kcal/mol → espontánea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1" name="Forma 22"/>
            <p:cNvSpPr/>
            <p:nvPr/>
          </p:nvSpPr>
          <p:spPr>
            <a:xfrm>
              <a:off x="8677656" y="1097280"/>
              <a:ext cx="1770370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REACCIÓN GLOBAL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REACCIÓN GLOBAL ACOPLADA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69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</p:bld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Eje energía"/>
          <p:cNvGrpSpPr/>
          <p:nvPr/>
        </p:nvGrpSpPr>
        <p:grpSpPr>
          <a:xfrm>
            <a:off x="137160" y="1097280"/>
            <a:ext cx="7818120" cy="5257800"/>
            <a:chOff x="137160" y="1097280"/>
            <a:chExt cx="7818120" cy="5257800"/>
          </a:xfrm>
        </p:grpSpPr>
        <p:sp>
          <p:nvSpPr>
            <p:cNvPr id="6" name="Flecha 5_2"/>
            <p:cNvSpPr/>
            <p:nvPr/>
          </p:nvSpPr>
          <p:spPr>
            <a:xfrm>
              <a:off x="822960" y="1143000"/>
              <a:ext cx="9144" cy="5212080"/>
            </a:xfrm>
            <a:custGeom>
              <a:avLst/>
              <a:gdLst/>
              <a:ahLst/>
              <a:cxnLst/>
              <a:rect l="0" t="0" r="r" b="b"/>
              <a:pathLst>
                <a:path w="10" h="5700" fill="none">
                  <a:moveTo>
                    <a:pt x="0" y="57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822960" y="3931920"/>
              <a:ext cx="7132320" cy="9144"/>
            </a:xfrm>
            <a:custGeom>
              <a:avLst/>
              <a:gdLst/>
              <a:ahLst/>
              <a:cxnLst/>
              <a:rect l="0" t="0" r="r" b="b"/>
              <a:pathLst>
                <a:path w="7799" h="10" fill="none">
                  <a:moveTo>
                    <a:pt x="0" y="0"/>
                  </a:moveTo>
                  <a:lnTo>
                    <a:pt x="7799" y="0"/>
                  </a:lnTo>
                </a:path>
              </a:pathLst>
            </a:custGeom>
            <a:noFill/>
            <a:ln w="19050" cap="rnd">
              <a:solidFill>
                <a:srgbClr val="7F8C8D"/>
              </a:solidFill>
              <a:prstDash val="dash"/>
              <a:round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914400" y="10972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(kcal/mol)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137160" y="3767328"/>
              <a:ext cx="54864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!!Barra glucosa"/>
          <p:cNvSpPr/>
          <p:nvPr/>
        </p:nvSpPr>
        <p:spPr>
          <a:xfrm>
            <a:off x="1463040" y="2845613"/>
            <a:ext cx="868680" cy="1086307"/>
          </a:xfrm>
          <a:prstGeom prst="rect">
            <a:avLst/>
          </a:prstGeom>
          <a:gradFill rotWithShape="1">
            <a:gsLst>
              <a:gs pos="0">
                <a:srgbClr val="F5B7B1"/>
              </a:gs>
              <a:gs pos="100000">
                <a:srgbClr val="E74C3C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+3,3</a:t>
            </a:r>
            <a:endParaRPr lang="es-AR" sz="1500" dirty="0">
              <a:latin typeface="Calibri"/>
            </a:endParaRPr>
          </a:p>
        </p:txBody>
      </p:sp>
      <p:sp>
        <p:nvSpPr>
          <p:cNvPr id="11" name="!!Barra ATP"/>
          <p:cNvSpPr/>
          <p:nvPr/>
        </p:nvSpPr>
        <p:spPr>
          <a:xfrm>
            <a:off x="2331720" y="2845613"/>
            <a:ext cx="868680" cy="2403043"/>
          </a:xfrm>
          <a:prstGeom prst="rect">
            <a:avLst/>
          </a:prstGeom>
          <a:gradFill rotWithShape="1">
            <a:gsLst>
              <a:gs pos="0">
                <a:srgbClr val="A9DFBF"/>
              </a:gs>
              <a:gs pos="100000">
                <a:srgbClr val="27AE60"/>
              </a:gs>
            </a:gsLst>
            <a:lin ang="0" scaled="0"/>
          </a:gradFill>
          <a:ln w="1905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−7,3</a:t>
            </a:r>
            <a:endParaRPr lang="es-AR" sz="1500" dirty="0">
              <a:latin typeface="Calibri"/>
            </a:endParaRPr>
          </a:p>
        </p:txBody>
      </p:sp>
      <p:sp>
        <p:nvSpPr>
          <p:cNvPr id="12" name="!!Barra total"/>
          <p:cNvSpPr/>
          <p:nvPr/>
        </p:nvSpPr>
        <p:spPr>
          <a:xfrm>
            <a:off x="5669280" y="3931920"/>
            <a:ext cx="868680" cy="1316736"/>
          </a:xfrm>
          <a:prstGeom prst="rect">
            <a:avLst/>
          </a:prstGeom>
          <a:gradFill rotWithShape="1">
            <a:gsLst>
              <a:gs pos="0">
                <a:srgbClr val="AED6F1"/>
              </a:gs>
              <a:gs pos="100000">
                <a:srgbClr val="2E86C1"/>
              </a:gs>
            </a:gsLst>
            <a:lin ang="0" scaled="0"/>
          </a:gradFill>
          <a:ln w="25400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−4,0</a:t>
            </a:r>
            <a:endParaRPr lang="es-AR" sz="1600" dirty="0">
              <a:latin typeface="Calibri"/>
            </a:endParaRPr>
          </a:p>
        </p:txBody>
      </p:sp>
      <p:sp>
        <p:nvSpPr>
          <p:cNvPr id="13" name="!!Glucosa"/>
          <p:cNvSpPr/>
          <p:nvPr/>
        </p:nvSpPr>
        <p:spPr>
          <a:xfrm>
            <a:off x="2651760" y="1371600"/>
            <a:ext cx="137160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ADD8"/>
              </a:gs>
              <a:gs pos="55000">
                <a:srgbClr val="3B82C4"/>
              </a:gs>
              <a:gs pos="100000">
                <a:srgbClr val="2F689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D41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</a:t>
            </a:r>
            <a:endParaRPr lang="es-AR" sz="1400" dirty="0">
              <a:latin typeface="Calibri"/>
            </a:endParaRPr>
          </a:p>
        </p:txBody>
      </p:sp>
      <p:sp>
        <p:nvSpPr>
          <p:cNvPr id="14" name="!!ATP"/>
          <p:cNvSpPr/>
          <p:nvPr/>
        </p:nvSpPr>
        <p:spPr>
          <a:xfrm>
            <a:off x="4160520" y="1371600"/>
            <a:ext cx="82296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D659"/>
              </a:gs>
              <a:gs pos="55000">
                <a:srgbClr val="FFC000"/>
              </a:gs>
              <a:gs pos="100000">
                <a:srgbClr val="CC990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F600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ATP</a:t>
            </a:r>
            <a:endParaRPr lang="es-AR" sz="1400" dirty="0">
              <a:latin typeface="Calibri"/>
            </a:endParaRPr>
          </a:p>
        </p:txBody>
      </p:sp>
      <p:sp>
        <p:nvSpPr>
          <p:cNvPr id="15" name="!!Flecha R1"/>
          <p:cNvSpPr/>
          <p:nvPr/>
        </p:nvSpPr>
        <p:spPr>
          <a:xfrm>
            <a:off x="5074920" y="1563624"/>
            <a:ext cx="731520" cy="9144"/>
          </a:xfrm>
          <a:custGeom>
            <a:avLst/>
            <a:gdLst/>
            <a:ahLst/>
            <a:cxnLst/>
            <a:rect l="0" t="0" r="r" b="b"/>
            <a:pathLst>
              <a:path w="799" h="10" fill="none">
                <a:moveTo>
                  <a:pt x="0" y="0"/>
                </a:moveTo>
                <a:lnTo>
                  <a:pt x="799" y="0"/>
                </a:lnTo>
              </a:path>
            </a:pathLst>
          </a:custGeom>
          <a:noFill/>
          <a:ln w="38100" cap="rnd">
            <a:solidFill>
              <a:srgbClr val="4E7A30"/>
            </a:solidFill>
            <a:round/>
            <a:tailEnd type="triangle" w="med" len="med"/>
          </a:ln>
        </p:spPr>
      </p:sp>
      <p:sp>
        <p:nvSpPr>
          <p:cNvPr id="16" name="!!G6P"/>
          <p:cNvSpPr/>
          <p:nvPr/>
        </p:nvSpPr>
        <p:spPr>
          <a:xfrm>
            <a:off x="5897880" y="1371600"/>
            <a:ext cx="14630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BA8D9"/>
              </a:gs>
              <a:gs pos="55000">
                <a:srgbClr val="AF7AC5"/>
              </a:gs>
              <a:gs pos="100000">
                <a:srgbClr val="8C619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73D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Glucosa-6-P</a:t>
            </a:r>
            <a:endParaRPr lang="es-AR" sz="1400" dirty="0">
              <a:latin typeface="Calibri"/>
            </a:endParaRPr>
          </a:p>
        </p:txBody>
      </p:sp>
      <p:sp>
        <p:nvSpPr>
          <p:cNvPr id="17" name="!!ADP"/>
          <p:cNvSpPr/>
          <p:nvPr/>
        </p:nvSpPr>
        <p:spPr>
          <a:xfrm>
            <a:off x="7452360" y="13716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AD8A2"/>
              </a:gs>
              <a:gs pos="55000">
                <a:srgbClr val="F8C471"/>
              </a:gs>
              <a:gs pos="100000">
                <a:srgbClr val="C69C5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C6238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ADP</a:t>
            </a:r>
            <a:endParaRPr lang="es-AR" sz="1400" dirty="0">
              <a:latin typeface="Calibri"/>
            </a:endParaRPr>
          </a:p>
        </p:txBody>
      </p:sp>
      <p:grpSp>
        <p:nvGrpSpPr>
          <p:cNvPr id="18" name="Regla acoplamiento"/>
          <p:cNvGrpSpPr/>
          <p:nvPr/>
        </p:nvGrpSpPr>
        <p:grpSpPr>
          <a:xfrm>
            <a:off x="8549640" y="1097280"/>
            <a:ext cx="3383280" cy="2468880"/>
            <a:chOff x="8549640" y="1097280"/>
            <a:chExt cx="3383280" cy="2468880"/>
          </a:xfrm>
        </p:grpSpPr>
        <p:sp>
          <p:nvSpPr>
            <p:cNvPr id="19" name="Forma 20"/>
            <p:cNvSpPr/>
            <p:nvPr/>
          </p:nvSpPr>
          <p:spPr>
            <a:xfrm>
              <a:off x="8549640" y="129844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suma total del ΔG de todas las reacciones del proceso debe ser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negativa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0" name="Forma 21"/>
            <p:cNvSpPr/>
            <p:nvPr/>
          </p:nvSpPr>
          <p:spPr>
            <a:xfrm>
              <a:off x="8677656" y="1097280"/>
              <a:ext cx="81535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REGLA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Moneda"/>
          <p:cNvGrpSpPr/>
          <p:nvPr/>
        </p:nvGrpSpPr>
        <p:grpSpPr>
          <a:xfrm>
            <a:off x="8549640" y="3794760"/>
            <a:ext cx="3383280" cy="2651760"/>
            <a:chOff x="8549640" y="3794760"/>
            <a:chExt cx="3383280" cy="2651760"/>
          </a:xfrm>
        </p:grpSpPr>
        <p:sp>
          <p:nvSpPr>
            <p:cNvPr id="22" name="Forma 23"/>
            <p:cNvSpPr/>
            <p:nvPr/>
          </p:nvSpPr>
          <p:spPr>
            <a:xfrm>
              <a:off x="8549640" y="3995928"/>
              <a:ext cx="3383280" cy="24505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eso el ATP es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moneda energética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célula: su hidrólisis es tan exergónica que «paga» reacciones desfavorables.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orma 24"/>
            <p:cNvSpPr/>
            <p:nvPr/>
          </p:nvSpPr>
          <p:spPr>
            <a:xfrm>
              <a:off x="8677656" y="3794760"/>
              <a:ext cx="205592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MONEDA ENERGÉTICA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ATP 3D"/>
          <p:cNvGrpSpPr/>
          <p:nvPr/>
        </p:nvGrpSpPr>
        <p:grpSpPr>
          <a:xfrm>
            <a:off x="3166604" y="5030151"/>
            <a:ext cx="2079272" cy="821058"/>
            <a:chOff x="3166604" y="5030151"/>
            <a:chExt cx="2079272" cy="821058"/>
          </a:xfrm>
        </p:grpSpPr>
        <p:sp>
          <p:nvSpPr>
            <p:cNvPr id="25" name="Flecha 26_2"/>
            <p:cNvSpPr/>
            <p:nvPr/>
          </p:nvSpPr>
          <p:spPr>
            <a:xfrm>
              <a:off x="4133088" y="5440680"/>
              <a:ext cx="351130" cy="9144"/>
            </a:xfrm>
            <a:custGeom>
              <a:avLst/>
              <a:gdLst/>
              <a:ahLst/>
              <a:cxnLst/>
              <a:rect l="0" t="0" r="r" b="b"/>
              <a:pathLst>
                <a:path w="384" h="10" fill="none">
                  <a:moveTo>
                    <a:pt x="0" y="0"/>
                  </a:moveTo>
                  <a:lnTo>
                    <a:pt x="384" y="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26" name="Flecha 28_2"/>
            <p:cNvSpPr/>
            <p:nvPr/>
          </p:nvSpPr>
          <p:spPr>
            <a:xfrm>
              <a:off x="4133088" y="5440680"/>
              <a:ext cx="351130" cy="9144"/>
            </a:xfrm>
            <a:custGeom>
              <a:avLst/>
              <a:gdLst/>
              <a:ahLst/>
              <a:cxnLst/>
              <a:rect l="0" t="0" r="r" b="b"/>
              <a:pathLst>
                <a:path w="384" h="10" fill="none">
                  <a:moveTo>
                    <a:pt x="0" y="0"/>
                  </a:moveTo>
                  <a:lnTo>
                    <a:pt x="384" y="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27" name="Flecha 30_2"/>
            <p:cNvSpPr/>
            <p:nvPr/>
          </p:nvSpPr>
          <p:spPr>
            <a:xfrm>
              <a:off x="4484218" y="5440680"/>
              <a:ext cx="351130" cy="9144"/>
            </a:xfrm>
            <a:custGeom>
              <a:avLst/>
              <a:gdLst/>
              <a:ahLst/>
              <a:cxnLst/>
              <a:rect l="0" t="0" r="r" b="b"/>
              <a:pathLst>
                <a:path w="383" h="10" fill="none">
                  <a:moveTo>
                    <a:pt x="0" y="0"/>
                  </a:moveTo>
                  <a:lnTo>
                    <a:pt x="383" y="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28" name="Flecha 32_2"/>
            <p:cNvSpPr/>
            <p:nvPr/>
          </p:nvSpPr>
          <p:spPr>
            <a:xfrm>
              <a:off x="4484218" y="5440680"/>
              <a:ext cx="351130" cy="9144"/>
            </a:xfrm>
            <a:custGeom>
              <a:avLst/>
              <a:gdLst/>
              <a:ahLst/>
              <a:cxnLst/>
              <a:rect l="0" t="0" r="r" b="b"/>
              <a:pathLst>
                <a:path w="383" h="10" fill="none">
                  <a:moveTo>
                    <a:pt x="0" y="0"/>
                  </a:moveTo>
                  <a:lnTo>
                    <a:pt x="383" y="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29" name="Flecha 34_2"/>
            <p:cNvSpPr/>
            <p:nvPr/>
          </p:nvSpPr>
          <p:spPr>
            <a:xfrm>
              <a:off x="4133088" y="5148072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30" name="Flecha 36_2"/>
            <p:cNvSpPr/>
            <p:nvPr/>
          </p:nvSpPr>
          <p:spPr>
            <a:xfrm>
              <a:off x="4133088" y="5148072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31" name="Flecha 38_2"/>
            <p:cNvSpPr/>
            <p:nvPr/>
          </p:nvSpPr>
          <p:spPr>
            <a:xfrm>
              <a:off x="4484218" y="5148072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32" name="Flecha 40_2"/>
            <p:cNvSpPr/>
            <p:nvPr/>
          </p:nvSpPr>
          <p:spPr>
            <a:xfrm>
              <a:off x="4484218" y="5148072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33" name="Flecha 42_2"/>
            <p:cNvSpPr/>
            <p:nvPr/>
          </p:nvSpPr>
          <p:spPr>
            <a:xfrm>
              <a:off x="4835347" y="5148072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34" name="Flecha 44_2"/>
            <p:cNvSpPr/>
            <p:nvPr/>
          </p:nvSpPr>
          <p:spPr>
            <a:xfrm>
              <a:off x="4835347" y="5148072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320"/>
                  </a:moveTo>
                  <a:lnTo>
                    <a:pt x="0" y="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35" name="Flecha 46_2"/>
            <p:cNvSpPr/>
            <p:nvPr/>
          </p:nvSpPr>
          <p:spPr>
            <a:xfrm>
              <a:off x="4133088" y="5440680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0"/>
                  </a:moveTo>
                  <a:lnTo>
                    <a:pt x="0" y="32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36" name="Flecha 48_2"/>
            <p:cNvSpPr/>
            <p:nvPr/>
          </p:nvSpPr>
          <p:spPr>
            <a:xfrm>
              <a:off x="4133088" y="5440680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0"/>
                  </a:moveTo>
                  <a:lnTo>
                    <a:pt x="0" y="32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37" name="Flecha 50_2"/>
            <p:cNvSpPr/>
            <p:nvPr/>
          </p:nvSpPr>
          <p:spPr>
            <a:xfrm>
              <a:off x="4484218" y="5440680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0"/>
                  </a:moveTo>
                  <a:lnTo>
                    <a:pt x="0" y="32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38" name="Flecha 52_2"/>
            <p:cNvSpPr/>
            <p:nvPr/>
          </p:nvSpPr>
          <p:spPr>
            <a:xfrm>
              <a:off x="4484218" y="5440680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0"/>
                  </a:moveTo>
                  <a:lnTo>
                    <a:pt x="0" y="32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39" name="Flecha 54_2"/>
            <p:cNvSpPr/>
            <p:nvPr/>
          </p:nvSpPr>
          <p:spPr>
            <a:xfrm>
              <a:off x="4835347" y="5440680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0"/>
                  </a:moveTo>
                  <a:lnTo>
                    <a:pt x="0" y="32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40" name="Flecha 56_2"/>
            <p:cNvSpPr/>
            <p:nvPr/>
          </p:nvSpPr>
          <p:spPr>
            <a:xfrm>
              <a:off x="4835347" y="5440680"/>
              <a:ext cx="9144" cy="292608"/>
            </a:xfrm>
            <a:custGeom>
              <a:avLst/>
              <a:gdLst/>
              <a:ahLst/>
              <a:cxnLst/>
              <a:rect l="0" t="0" r="r" b="b"/>
              <a:pathLst>
                <a:path w="10" h="320" fill="none">
                  <a:moveTo>
                    <a:pt x="0" y="0"/>
                  </a:moveTo>
                  <a:lnTo>
                    <a:pt x="0" y="32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41" name="Flecha 58_2"/>
            <p:cNvSpPr/>
            <p:nvPr/>
          </p:nvSpPr>
          <p:spPr>
            <a:xfrm>
              <a:off x="4835347" y="5440680"/>
              <a:ext cx="292608" cy="9144"/>
            </a:xfrm>
            <a:custGeom>
              <a:avLst/>
              <a:gdLst/>
              <a:ahLst/>
              <a:cxnLst/>
              <a:rect l="0" t="0" r="r" b="b"/>
              <a:pathLst>
                <a:path w="320" h="10" fill="none">
                  <a:moveTo>
                    <a:pt x="0" y="0"/>
                  </a:moveTo>
                  <a:lnTo>
                    <a:pt x="320" y="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42" name="Flecha 60_2"/>
            <p:cNvSpPr/>
            <p:nvPr/>
          </p:nvSpPr>
          <p:spPr>
            <a:xfrm>
              <a:off x="4835347" y="5440680"/>
              <a:ext cx="292608" cy="9144"/>
            </a:xfrm>
            <a:custGeom>
              <a:avLst/>
              <a:gdLst/>
              <a:ahLst/>
              <a:cxnLst/>
              <a:rect l="0" t="0" r="r" b="b"/>
              <a:pathLst>
                <a:path w="320" h="10" fill="none">
                  <a:moveTo>
                    <a:pt x="0" y="0"/>
                  </a:moveTo>
                  <a:lnTo>
                    <a:pt x="320" y="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43" name="Flecha 62_2"/>
            <p:cNvSpPr/>
            <p:nvPr/>
          </p:nvSpPr>
          <p:spPr>
            <a:xfrm>
              <a:off x="3781958" y="5440680"/>
              <a:ext cx="351130" cy="58522"/>
            </a:xfrm>
            <a:custGeom>
              <a:avLst/>
              <a:gdLst/>
              <a:ahLst/>
              <a:cxnLst/>
              <a:rect l="0" t="0" r="r" b="b"/>
              <a:pathLst>
                <a:path w="384" h="64" fill="none">
                  <a:moveTo>
                    <a:pt x="384" y="0"/>
                  </a:moveTo>
                  <a:lnTo>
                    <a:pt x="0" y="64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44" name="Flecha 64_2"/>
            <p:cNvSpPr/>
            <p:nvPr/>
          </p:nvSpPr>
          <p:spPr>
            <a:xfrm>
              <a:off x="3781958" y="5440680"/>
              <a:ext cx="351130" cy="58522"/>
            </a:xfrm>
            <a:custGeom>
              <a:avLst/>
              <a:gdLst/>
              <a:ahLst/>
              <a:cxnLst/>
              <a:rect l="0" t="0" r="r" b="b"/>
              <a:pathLst>
                <a:path w="384" h="64" fill="none">
                  <a:moveTo>
                    <a:pt x="384" y="0"/>
                  </a:moveTo>
                  <a:lnTo>
                    <a:pt x="0" y="64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45" name="Flecha 66_2"/>
            <p:cNvSpPr/>
            <p:nvPr/>
          </p:nvSpPr>
          <p:spPr>
            <a:xfrm>
              <a:off x="3518611" y="5294376"/>
              <a:ext cx="263347" cy="204826"/>
            </a:xfrm>
            <a:custGeom>
              <a:avLst/>
              <a:gdLst/>
              <a:ahLst/>
              <a:cxnLst/>
              <a:rect l="0" t="0" r="r" b="b"/>
              <a:pathLst>
                <a:path w="287" h="224" fill="none">
                  <a:moveTo>
                    <a:pt x="287" y="224"/>
                  </a:moveTo>
                  <a:lnTo>
                    <a:pt x="0" y="0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46" name="Flecha 68_2"/>
            <p:cNvSpPr/>
            <p:nvPr/>
          </p:nvSpPr>
          <p:spPr>
            <a:xfrm>
              <a:off x="3518611" y="5294376"/>
              <a:ext cx="263347" cy="204826"/>
            </a:xfrm>
            <a:custGeom>
              <a:avLst/>
              <a:gdLst/>
              <a:ahLst/>
              <a:cxnLst/>
              <a:rect l="0" t="0" r="r" b="b"/>
              <a:pathLst>
                <a:path w="287" h="224" fill="none">
                  <a:moveTo>
                    <a:pt x="287" y="224"/>
                  </a:moveTo>
                  <a:lnTo>
                    <a:pt x="0" y="0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47" name="Flecha 70_2"/>
            <p:cNvSpPr/>
            <p:nvPr/>
          </p:nvSpPr>
          <p:spPr>
            <a:xfrm>
              <a:off x="3284525" y="5294376"/>
              <a:ext cx="234086" cy="175565"/>
            </a:xfrm>
            <a:custGeom>
              <a:avLst/>
              <a:gdLst/>
              <a:ahLst/>
              <a:cxnLst/>
              <a:rect l="0" t="0" r="r" b="b"/>
              <a:pathLst>
                <a:path w="255" h="192" fill="none">
                  <a:moveTo>
                    <a:pt x="255" y="0"/>
                  </a:moveTo>
                  <a:lnTo>
                    <a:pt x="0" y="192"/>
                  </a:lnTo>
                </a:path>
              </a:pathLst>
            </a:custGeom>
            <a:noFill/>
            <a:ln w="65024" cap="rnd">
              <a:solidFill>
                <a:srgbClr val="B9B9B9"/>
              </a:solidFill>
              <a:round/>
            </a:ln>
          </p:spPr>
        </p:sp>
        <p:sp>
          <p:nvSpPr>
            <p:cNvPr id="48" name="Flecha 72_2"/>
            <p:cNvSpPr/>
            <p:nvPr/>
          </p:nvSpPr>
          <p:spPr>
            <a:xfrm>
              <a:off x="3284525" y="5294376"/>
              <a:ext cx="234086" cy="175565"/>
            </a:xfrm>
            <a:custGeom>
              <a:avLst/>
              <a:gdLst/>
              <a:ahLst/>
              <a:cxnLst/>
              <a:rect l="0" t="0" r="r" b="b"/>
              <a:pathLst>
                <a:path w="255" h="192" fill="none">
                  <a:moveTo>
                    <a:pt x="255" y="0"/>
                  </a:moveTo>
                  <a:lnTo>
                    <a:pt x="0" y="192"/>
                  </a:lnTo>
                </a:path>
              </a:pathLst>
            </a:custGeom>
            <a:noFill/>
            <a:ln w="36576" cap="rnd">
              <a:solidFill>
                <a:srgbClr val="FFFFFF"/>
              </a:solidFill>
              <a:round/>
            </a:ln>
          </p:spPr>
        </p:sp>
        <p:sp>
          <p:nvSpPr>
            <p:cNvPr id="49" name="Forma 74"/>
            <p:cNvSpPr/>
            <p:nvPr/>
          </p:nvSpPr>
          <p:spPr>
            <a:xfrm>
              <a:off x="4015167" y="5030151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0" name="Forma 75"/>
            <p:cNvSpPr/>
            <p:nvPr/>
          </p:nvSpPr>
          <p:spPr>
            <a:xfrm>
              <a:off x="4366297" y="5030151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1" name="Forma 76"/>
            <p:cNvSpPr/>
            <p:nvPr/>
          </p:nvSpPr>
          <p:spPr>
            <a:xfrm>
              <a:off x="4717426" y="5030151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2" name="Forma 77"/>
            <p:cNvSpPr/>
            <p:nvPr/>
          </p:nvSpPr>
          <p:spPr>
            <a:xfrm>
              <a:off x="4015167" y="5615367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3" name="Forma 78"/>
            <p:cNvSpPr/>
            <p:nvPr/>
          </p:nvSpPr>
          <p:spPr>
            <a:xfrm>
              <a:off x="4366297" y="5615367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4" name="Forma 79"/>
            <p:cNvSpPr/>
            <p:nvPr/>
          </p:nvSpPr>
          <p:spPr>
            <a:xfrm>
              <a:off x="4717426" y="5615367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5" name="Forma 80"/>
            <p:cNvSpPr/>
            <p:nvPr/>
          </p:nvSpPr>
          <p:spPr>
            <a:xfrm>
              <a:off x="5010034" y="5322759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6" name="Forma 81"/>
            <p:cNvSpPr/>
            <p:nvPr/>
          </p:nvSpPr>
          <p:spPr>
            <a:xfrm>
              <a:off x="3664037" y="5381281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7" name="Forma 82"/>
            <p:cNvSpPr/>
            <p:nvPr/>
          </p:nvSpPr>
          <p:spPr>
            <a:xfrm>
              <a:off x="3400690" y="5176455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8" name="Forma 83"/>
            <p:cNvSpPr/>
            <p:nvPr/>
          </p:nvSpPr>
          <p:spPr>
            <a:xfrm>
              <a:off x="3166604" y="5352020"/>
              <a:ext cx="235842" cy="23584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9" name="Forma 84"/>
            <p:cNvSpPr/>
            <p:nvPr/>
          </p:nvSpPr>
          <p:spPr>
            <a:xfrm>
              <a:off x="4003375" y="5310967"/>
              <a:ext cx="259426" cy="2594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B44D"/>
                </a:gs>
                <a:gs pos="75000">
                  <a:srgbClr val="F39C12"/>
                </a:gs>
                <a:gs pos="100000">
                  <a:srgbClr val="AA6D0C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0" name="Forma 85"/>
            <p:cNvSpPr/>
            <p:nvPr/>
          </p:nvSpPr>
          <p:spPr>
            <a:xfrm>
              <a:off x="4354504" y="5310967"/>
              <a:ext cx="259426" cy="2594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B44D"/>
                </a:gs>
                <a:gs pos="75000">
                  <a:srgbClr val="F39C12"/>
                </a:gs>
                <a:gs pos="100000">
                  <a:srgbClr val="AA6D0C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1" name="Forma 86"/>
            <p:cNvSpPr/>
            <p:nvPr/>
          </p:nvSpPr>
          <p:spPr>
            <a:xfrm>
              <a:off x="4705634" y="5310967"/>
              <a:ext cx="259426" cy="2594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B44D"/>
                </a:gs>
                <a:gs pos="75000">
                  <a:srgbClr val="F39C12"/>
                </a:gs>
                <a:gs pos="100000">
                  <a:srgbClr val="AA6D0C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INTERPRETACIÓN TERMODINÁMICA DEL ACOPLAMIENTO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6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!!Escalera de la vía"/>
          <p:cNvGrpSpPr/>
          <p:nvPr/>
        </p:nvGrpSpPr>
        <p:grpSpPr>
          <a:xfrm>
            <a:off x="457200" y="1371600"/>
            <a:ext cx="7680960" cy="3035808"/>
            <a:chOff x="457200" y="1371600"/>
            <a:chExt cx="7680960" cy="3035808"/>
          </a:xfrm>
        </p:grpSpPr>
        <p:sp>
          <p:nvSpPr>
            <p:cNvPr id="6" name="Forma 5"/>
            <p:cNvSpPr/>
            <p:nvPr/>
          </p:nvSpPr>
          <p:spPr>
            <a:xfrm>
              <a:off x="457200" y="1371600"/>
              <a:ext cx="1280160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7" name="Flecha 6_2"/>
            <p:cNvSpPr/>
            <p:nvPr/>
          </p:nvSpPr>
          <p:spPr>
            <a:xfrm>
              <a:off x="1783080" y="1426464"/>
              <a:ext cx="274320" cy="365760"/>
            </a:xfrm>
            <a:custGeom>
              <a:avLst/>
              <a:gdLst/>
              <a:ahLst/>
              <a:cxnLst/>
              <a:rect l="0" t="0" r="r" b="b"/>
              <a:pathLst>
                <a:path w="300" h="399" fill="none">
                  <a:moveTo>
                    <a:pt x="0" y="0"/>
                  </a:moveTo>
                  <a:lnTo>
                    <a:pt x="300" y="399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8"/>
            <p:cNvSpPr/>
            <p:nvPr/>
          </p:nvSpPr>
          <p:spPr>
            <a:xfrm>
              <a:off x="2057400" y="1737360"/>
              <a:ext cx="1280160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9" name="Flecha 9_2"/>
            <p:cNvSpPr/>
            <p:nvPr/>
          </p:nvSpPr>
          <p:spPr>
            <a:xfrm>
              <a:off x="3383280" y="1792224"/>
              <a:ext cx="274320" cy="320040"/>
            </a:xfrm>
            <a:custGeom>
              <a:avLst/>
              <a:gdLst/>
              <a:ahLst/>
              <a:cxnLst/>
              <a:rect l="0" t="0" r="r" b="b"/>
              <a:pathLst>
                <a:path w="299" h="350" fill="none">
                  <a:moveTo>
                    <a:pt x="0" y="0"/>
                  </a:moveTo>
                  <a:lnTo>
                    <a:pt x="299" y="35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0" name="Forma 11"/>
            <p:cNvSpPr/>
            <p:nvPr/>
          </p:nvSpPr>
          <p:spPr>
            <a:xfrm>
              <a:off x="3657600" y="2057400"/>
              <a:ext cx="1280160" cy="10972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</p:sp>
        <p:sp>
          <p:nvSpPr>
            <p:cNvPr id="11" name="Flecha 12_2"/>
            <p:cNvSpPr/>
            <p:nvPr/>
          </p:nvSpPr>
          <p:spPr>
            <a:xfrm>
              <a:off x="4983480" y="2112264"/>
              <a:ext cx="274320" cy="1965960"/>
            </a:xfrm>
            <a:custGeom>
              <a:avLst/>
              <a:gdLst/>
              <a:ahLst/>
              <a:cxnLst/>
              <a:rect l="0" t="0" r="r" b="b"/>
              <a:pathLst>
                <a:path w="299" h="2150" fill="none">
                  <a:moveTo>
                    <a:pt x="0" y="0"/>
                  </a:moveTo>
                  <a:lnTo>
                    <a:pt x="299" y="2150"/>
                  </a:lnTo>
                </a:path>
              </a:pathLst>
            </a:custGeom>
            <a:noFill/>
            <a:ln w="57150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12" name="Forma 14"/>
            <p:cNvSpPr/>
            <p:nvPr/>
          </p:nvSpPr>
          <p:spPr>
            <a:xfrm>
              <a:off x="5257800" y="4023360"/>
              <a:ext cx="1280160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13" name="Flecha 15_2"/>
            <p:cNvSpPr/>
            <p:nvPr/>
          </p:nvSpPr>
          <p:spPr>
            <a:xfrm>
              <a:off x="6583680" y="4078224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299" h="299" fill="none">
                  <a:moveTo>
                    <a:pt x="0" y="0"/>
                  </a:moveTo>
                  <a:lnTo>
                    <a:pt x="299" y="299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4" name="Forma 17"/>
            <p:cNvSpPr/>
            <p:nvPr/>
          </p:nvSpPr>
          <p:spPr>
            <a:xfrm>
              <a:off x="6858000" y="4297680"/>
              <a:ext cx="1280160" cy="109728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</p:grpSp>
      <p:sp>
        <p:nvSpPr>
          <p:cNvPr id="15" name="Paso clave"/>
          <p:cNvSpPr/>
          <p:nvPr/>
        </p:nvSpPr>
        <p:spPr>
          <a:xfrm>
            <a:off x="3840480" y="2743200"/>
            <a:ext cx="1780446" cy="335280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ΔG muy negativo</a:t>
            </a:r>
            <a:endParaRPr lang="es-AR" sz="1600" dirty="0">
              <a:latin typeface="Calibri"/>
            </a:endParaRPr>
          </a:p>
        </p:txBody>
      </p:sp>
      <p:sp>
        <p:nvSpPr>
          <p:cNvPr id="16" name="Control vía"/>
          <p:cNvSpPr/>
          <p:nvPr/>
        </p:nvSpPr>
        <p:spPr>
          <a:xfrm>
            <a:off x="365760" y="5074920"/>
            <a:ext cx="7863840" cy="1371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Una vez que esa reacción ocurre, el proceso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puede detenerse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es la que el organismo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regula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si se controla ese paso, se controla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toda la vía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grpSp>
        <p:nvGrpSpPr>
          <p:cNvPr id="17" name="Rigor punto control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18" name="Forma 21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pasos regulados suelen ser los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irreversibles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lejos del equilibrio, como el primero comprometido de cada vía. No todos los pasos de ΔG negativo son reguladores: la regulación depende de las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que catalizan esos pasos.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9" name="Forma 22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 REACCIÓN CON EL ΔG MÁS NEGATIVO CONTROLA LA VÍA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6" name="Sistema AISLADO"/>
          <p:cNvGrpSpPr/>
          <p:nvPr/>
        </p:nvGrpSpPr>
        <p:grpSpPr>
          <a:xfrm>
            <a:off x="411480" y="1097280"/>
            <a:ext cx="3611880" cy="5349240"/>
            <a:chOff x="411480" y="1097280"/>
            <a:chExt cx="3611880" cy="5349240"/>
          </a:xfrm>
        </p:grpSpPr>
        <p:sp>
          <p:nvSpPr>
            <p:cNvPr id="7" name="Forma 6"/>
            <p:cNvSpPr/>
            <p:nvPr/>
          </p:nvSpPr>
          <p:spPr>
            <a:xfrm>
              <a:off x="411480" y="1097280"/>
              <a:ext cx="3611880" cy="534924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 txBox="1"/>
            <p:nvPr/>
          </p:nvSpPr>
          <p:spPr>
            <a:xfrm>
              <a:off x="594360" y="1188720"/>
              <a:ext cx="3246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6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AISLADO</a:t>
              </a:r>
              <a:endParaRPr lang="es-AR" sz="2600" dirty="0">
                <a:latin typeface="Segoe Print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1600200" y="1920240"/>
              <a:ext cx="1234440" cy="2194560"/>
            </a:xfrm>
            <a:prstGeom prst="can">
              <a:avLst/>
            </a:prstGeom>
            <a:gradFill rotWithShape="1">
              <a:gsLst>
                <a:gs pos="0">
                  <a:srgbClr val="BFC9C9"/>
                </a:gs>
                <a:gs pos="55000">
                  <a:srgbClr val="95A5A6"/>
                </a:gs>
                <a:gs pos="100000">
                  <a:srgbClr val="687374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0" name="Forma 9"/>
            <p:cNvSpPr/>
            <p:nvPr/>
          </p:nvSpPr>
          <p:spPr>
            <a:xfrm>
              <a:off x="1737360" y="1783080"/>
              <a:ext cx="960120" cy="320040"/>
            </a:xfrm>
            <a:prstGeom prst="roundRect">
              <a:avLst/>
            </a:prstGeom>
            <a:solidFill>
              <a:srgbClr val="34495E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1" name="Forma 10"/>
            <p:cNvSpPr txBox="1"/>
            <p:nvPr/>
          </p:nvSpPr>
          <p:spPr>
            <a:xfrm>
              <a:off x="640080" y="434340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Ejemplo: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Termo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2" name="Forma 11"/>
            <p:cNvSpPr txBox="1"/>
            <p:nvPr/>
          </p:nvSpPr>
          <p:spPr>
            <a:xfrm>
              <a:off x="640080" y="484632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Energía: </a:t>
              </a: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3" name="Forma 12"/>
            <p:cNvSpPr txBox="1"/>
            <p:nvPr/>
          </p:nvSpPr>
          <p:spPr>
            <a:xfrm>
              <a:off x="640080" y="534924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Materia: </a:t>
              </a: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4" name="Sistema CERRADO"/>
          <p:cNvGrpSpPr/>
          <p:nvPr/>
        </p:nvGrpSpPr>
        <p:grpSpPr>
          <a:xfrm>
            <a:off x="4251960" y="1097280"/>
            <a:ext cx="3611880" cy="5349240"/>
            <a:chOff x="4251960" y="1097280"/>
            <a:chExt cx="3611880" cy="5349240"/>
          </a:xfrm>
        </p:grpSpPr>
        <p:sp>
          <p:nvSpPr>
            <p:cNvPr id="15" name="Forma 14"/>
            <p:cNvSpPr/>
            <p:nvPr/>
          </p:nvSpPr>
          <p:spPr>
            <a:xfrm>
              <a:off x="4251960" y="1097280"/>
              <a:ext cx="3611880" cy="534924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6" name="Forma 15"/>
            <p:cNvSpPr txBox="1"/>
            <p:nvPr/>
          </p:nvSpPr>
          <p:spPr>
            <a:xfrm>
              <a:off x="4434840" y="1188720"/>
              <a:ext cx="3246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6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CERRADO</a:t>
              </a:r>
              <a:endParaRPr lang="es-AR" sz="2600" dirty="0">
                <a:latin typeface="Segoe Print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4937760" y="2560320"/>
              <a:ext cx="2240280" cy="1280160"/>
            </a:xfrm>
            <a:prstGeom prst="can">
              <a:avLst/>
            </a:prstGeom>
            <a:gradFill rotWithShape="1">
              <a:gsLst>
                <a:gs pos="0">
                  <a:srgbClr val="B2BABA"/>
                </a:gs>
                <a:gs pos="55000">
                  <a:srgbClr val="7F8C8D"/>
                </a:gs>
                <a:gs pos="100000">
                  <a:srgbClr val="586262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8" name="Forma 17"/>
            <p:cNvSpPr/>
            <p:nvPr/>
          </p:nvSpPr>
          <p:spPr>
            <a:xfrm>
              <a:off x="4800600" y="2331720"/>
              <a:ext cx="2514600" cy="320040"/>
            </a:xfrm>
            <a:prstGeom prst="roundRect">
              <a:avLst/>
            </a:prstGeom>
            <a:solidFill>
              <a:srgbClr val="2C3E50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9" name="Fuego"/>
            <p:cNvSpPr/>
            <p:nvPr/>
          </p:nvSpPr>
          <p:spPr>
            <a:xfrm>
              <a:off x="5760720" y="3886200"/>
              <a:ext cx="548640" cy="71323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555" y="-36"/>
                    <a:pt x="683" y="191"/>
                    <a:pt x="750" y="300"/>
                  </a:cubicBezTo>
                  <a:cubicBezTo>
                    <a:pt x="816" y="408"/>
                    <a:pt x="908" y="536"/>
                    <a:pt x="900" y="650"/>
                  </a:cubicBezTo>
                  <a:cubicBezTo>
                    <a:pt x="891" y="763"/>
                    <a:pt x="800" y="925"/>
                    <a:pt x="700" y="980"/>
                  </a:cubicBezTo>
                  <a:cubicBezTo>
                    <a:pt x="600" y="1035"/>
                    <a:pt x="400" y="1035"/>
                    <a:pt x="300" y="980"/>
                  </a:cubicBezTo>
                  <a:cubicBezTo>
                    <a:pt x="200" y="925"/>
                    <a:pt x="100" y="743"/>
                    <a:pt x="100" y="650"/>
                  </a:cubicBezTo>
                  <a:cubicBezTo>
                    <a:pt x="100" y="556"/>
                    <a:pt x="246" y="441"/>
                    <a:pt x="300" y="420"/>
                  </a:cubicBezTo>
                  <a:cubicBezTo>
                    <a:pt x="353" y="398"/>
                    <a:pt x="386" y="590"/>
                    <a:pt x="420" y="520"/>
                  </a:cubicBezTo>
                  <a:cubicBezTo>
                    <a:pt x="453" y="450"/>
                    <a:pt x="445" y="36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066"/>
                </a:gs>
                <a:gs pos="60000">
                  <a:srgbClr val="F39C12"/>
                </a:gs>
                <a:gs pos="100000">
                  <a:srgbClr val="E74C3C"/>
                </a:gs>
              </a:gsLst>
              <a:lin ang="16200000" scaled="0"/>
            </a:gradFill>
            <a:ln w="15875" cap="rnd">
              <a:solidFill>
                <a:srgbClr val="A04000"/>
              </a:solidFill>
              <a:round/>
            </a:ln>
          </p:spPr>
        </p:sp>
        <p:sp>
          <p:nvSpPr>
            <p:cNvPr id="20" name="Forma 19"/>
            <p:cNvSpPr txBox="1"/>
            <p:nvPr/>
          </p:nvSpPr>
          <p:spPr>
            <a:xfrm>
              <a:off x="4480560" y="434340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Ejemplo: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Olla con tapa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1" name="Forma 20"/>
            <p:cNvSpPr txBox="1"/>
            <p:nvPr/>
          </p:nvSpPr>
          <p:spPr>
            <a:xfrm>
              <a:off x="4480560" y="484632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Energía: </a:t>
              </a: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SÍ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2" name="Forma 21"/>
            <p:cNvSpPr txBox="1"/>
            <p:nvPr/>
          </p:nvSpPr>
          <p:spPr>
            <a:xfrm>
              <a:off x="4480560" y="534924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Materia: </a:t>
              </a: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3" name="Sistema ABIERTO"/>
          <p:cNvGrpSpPr/>
          <p:nvPr/>
        </p:nvGrpSpPr>
        <p:grpSpPr>
          <a:xfrm>
            <a:off x="8092440" y="1097280"/>
            <a:ext cx="3611880" cy="5349240"/>
            <a:chOff x="8092440" y="1097280"/>
            <a:chExt cx="3611880" cy="5349240"/>
          </a:xfrm>
        </p:grpSpPr>
        <p:sp>
          <p:nvSpPr>
            <p:cNvPr id="24" name="Forma 23"/>
            <p:cNvSpPr/>
            <p:nvPr/>
          </p:nvSpPr>
          <p:spPr>
            <a:xfrm>
              <a:off x="8092440" y="1097280"/>
              <a:ext cx="3611880" cy="534924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25" name="Forma 24"/>
            <p:cNvSpPr txBox="1"/>
            <p:nvPr/>
          </p:nvSpPr>
          <p:spPr>
            <a:xfrm>
              <a:off x="8275320" y="1188720"/>
              <a:ext cx="3246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lnSpc>
                  <a:spcPct val="920"/>
                </a:lnSpc>
                <a:spcAft>
                  <a:spcPts val="300"/>
                </a:spcAft>
                <a:buNone/>
              </a:pPr>
              <a:r>
                <a:rPr lang="es-AR" sz="2600" b="1" dirty="0">
                  <a:solidFill>
                    <a:srgbClr val="2B4C7E"/>
                  </a:solidFill>
                  <a:effectLst>
                    <a:glow rad="76200">
                      <a:srgbClr val="FFFFFF">
                        <a:alpha val="85000"/>
                      </a:srgbClr>
                    </a:glow>
                  </a:effectLst>
                  <a:latin typeface="Segoe Print"/>
                  <a:ea typeface="Segoe Print"/>
                  <a:cs typeface="Segoe Print"/>
                  <a:sym typeface="Segoe Print"/>
                </a:rPr>
                <a:t>ABIERTO</a:t>
              </a:r>
              <a:endParaRPr lang="es-AR" sz="2600" dirty="0">
                <a:latin typeface="Segoe Print"/>
              </a:endParaRPr>
            </a:p>
          </p:txBody>
        </p:sp>
        <p:grpSp>
          <p:nvGrpSpPr>
            <p:cNvPr id="26" name="Ser vivo"/>
            <p:cNvGrpSpPr/>
            <p:nvPr/>
          </p:nvGrpSpPr>
          <p:grpSpPr>
            <a:xfrm>
              <a:off x="9326880" y="1828800"/>
              <a:ext cx="1188720" cy="2377440"/>
              <a:chOff x="9326880" y="1828800"/>
              <a:chExt cx="1188720" cy="2377440"/>
            </a:xfrm>
          </p:grpSpPr>
          <p:sp>
            <p:nvSpPr>
              <p:cNvPr id="27" name="Forma 26"/>
              <p:cNvSpPr/>
              <p:nvPr/>
            </p:nvSpPr>
            <p:spPr>
              <a:xfrm>
                <a:off x="9326880" y="1828800"/>
                <a:ext cx="1188720" cy="2377440"/>
              </a:xfrm>
              <a:custGeom>
                <a:avLst/>
                <a:gdLst/>
                <a:ahLst/>
                <a:cxnLst/>
                <a:rect l="0" t="0" r="r" b="b"/>
                <a:pathLst>
                  <a:path w="500" h="1000">
                    <a:moveTo>
                      <a:pt x="225" y="150"/>
                    </a:moveTo>
                    <a:cubicBezTo>
                      <a:pt x="229" y="148"/>
                      <a:pt x="270" y="148"/>
                      <a:pt x="275" y="150"/>
                    </a:cubicBezTo>
                    <a:cubicBezTo>
                      <a:pt x="279" y="151"/>
                      <a:pt x="282" y="167"/>
                      <a:pt x="290" y="170"/>
                    </a:cubicBezTo>
                    <a:cubicBezTo>
                      <a:pt x="297" y="173"/>
                      <a:pt x="361" y="185"/>
                      <a:pt x="370" y="190"/>
                    </a:cubicBezTo>
                    <a:cubicBezTo>
                      <a:pt x="378" y="194"/>
                      <a:pt x="401" y="219"/>
                      <a:pt x="405" y="230"/>
                    </a:cubicBezTo>
                    <a:cubicBezTo>
                      <a:pt x="408" y="240"/>
                      <a:pt x="417" y="313"/>
                      <a:pt x="420" y="330"/>
                    </a:cubicBezTo>
                    <a:cubicBezTo>
                      <a:pt x="422" y="346"/>
                      <a:pt x="430" y="434"/>
                      <a:pt x="432" y="450"/>
                    </a:cubicBezTo>
                    <a:cubicBezTo>
                      <a:pt x="433" y="465"/>
                      <a:pt x="441" y="532"/>
                      <a:pt x="440" y="540"/>
                    </a:cubicBezTo>
                    <a:cubicBezTo>
                      <a:pt x="438" y="547"/>
                      <a:pt x="415" y="554"/>
                      <a:pt x="412" y="548"/>
                    </a:cubicBezTo>
                    <a:cubicBezTo>
                      <a:pt x="408" y="541"/>
                      <a:pt x="397" y="470"/>
                      <a:pt x="395" y="455"/>
                    </a:cubicBezTo>
                    <a:cubicBezTo>
                      <a:pt x="392" y="439"/>
                      <a:pt x="380" y="349"/>
                      <a:pt x="378" y="340"/>
                    </a:cubicBezTo>
                    <a:cubicBezTo>
                      <a:pt x="375" y="330"/>
                      <a:pt x="366" y="320"/>
                      <a:pt x="365" y="330"/>
                    </a:cubicBezTo>
                    <a:cubicBezTo>
                      <a:pt x="363" y="339"/>
                      <a:pt x="361" y="453"/>
                      <a:pt x="360" y="470"/>
                    </a:cubicBezTo>
                    <a:cubicBezTo>
                      <a:pt x="358" y="486"/>
                      <a:pt x="350" y="527"/>
                      <a:pt x="350" y="545"/>
                    </a:cubicBezTo>
                    <a:cubicBezTo>
                      <a:pt x="349" y="562"/>
                      <a:pt x="355" y="676"/>
                      <a:pt x="355" y="700"/>
                    </a:cubicBezTo>
                    <a:cubicBezTo>
                      <a:pt x="354" y="723"/>
                      <a:pt x="343" y="840"/>
                      <a:pt x="342" y="860"/>
                    </a:cubicBezTo>
                    <a:cubicBezTo>
                      <a:pt x="340" y="879"/>
                      <a:pt x="343" y="951"/>
                      <a:pt x="340" y="960"/>
                    </a:cubicBezTo>
                    <a:cubicBezTo>
                      <a:pt x="336" y="968"/>
                      <a:pt x="296" y="979"/>
                      <a:pt x="292" y="972"/>
                    </a:cubicBezTo>
                    <a:cubicBezTo>
                      <a:pt x="287" y="964"/>
                      <a:pt x="283" y="881"/>
                      <a:pt x="282" y="860"/>
                    </a:cubicBezTo>
                    <a:cubicBezTo>
                      <a:pt x="280" y="838"/>
                      <a:pt x="272" y="709"/>
                      <a:pt x="270" y="690"/>
                    </a:cubicBezTo>
                    <a:cubicBezTo>
                      <a:pt x="267" y="670"/>
                      <a:pt x="253" y="600"/>
                      <a:pt x="250" y="600"/>
                    </a:cubicBezTo>
                    <a:cubicBezTo>
                      <a:pt x="247" y="600"/>
                      <a:pt x="232" y="670"/>
                      <a:pt x="230" y="690"/>
                    </a:cubicBezTo>
                    <a:cubicBezTo>
                      <a:pt x="227" y="709"/>
                      <a:pt x="219" y="838"/>
                      <a:pt x="218" y="860"/>
                    </a:cubicBezTo>
                    <a:cubicBezTo>
                      <a:pt x="216" y="881"/>
                      <a:pt x="212" y="964"/>
                      <a:pt x="208" y="972"/>
                    </a:cubicBezTo>
                    <a:cubicBezTo>
                      <a:pt x="203" y="979"/>
                      <a:pt x="163" y="968"/>
                      <a:pt x="160" y="960"/>
                    </a:cubicBezTo>
                    <a:cubicBezTo>
                      <a:pt x="156" y="951"/>
                      <a:pt x="159" y="879"/>
                      <a:pt x="158" y="860"/>
                    </a:cubicBezTo>
                    <a:cubicBezTo>
                      <a:pt x="156" y="840"/>
                      <a:pt x="145" y="723"/>
                      <a:pt x="145" y="700"/>
                    </a:cubicBezTo>
                    <a:cubicBezTo>
                      <a:pt x="144" y="676"/>
                      <a:pt x="150" y="562"/>
                      <a:pt x="150" y="545"/>
                    </a:cubicBezTo>
                    <a:cubicBezTo>
                      <a:pt x="149" y="527"/>
                      <a:pt x="141" y="486"/>
                      <a:pt x="140" y="470"/>
                    </a:cubicBezTo>
                    <a:cubicBezTo>
                      <a:pt x="138" y="453"/>
                      <a:pt x="136" y="339"/>
                      <a:pt x="135" y="330"/>
                    </a:cubicBezTo>
                    <a:cubicBezTo>
                      <a:pt x="133" y="320"/>
                      <a:pt x="124" y="330"/>
                      <a:pt x="122" y="340"/>
                    </a:cubicBezTo>
                    <a:cubicBezTo>
                      <a:pt x="119" y="349"/>
                      <a:pt x="107" y="439"/>
                      <a:pt x="105" y="455"/>
                    </a:cubicBezTo>
                    <a:cubicBezTo>
                      <a:pt x="102" y="470"/>
                      <a:pt x="91" y="541"/>
                      <a:pt x="88" y="548"/>
                    </a:cubicBezTo>
                    <a:cubicBezTo>
                      <a:pt x="84" y="554"/>
                      <a:pt x="61" y="547"/>
                      <a:pt x="60" y="540"/>
                    </a:cubicBezTo>
                    <a:cubicBezTo>
                      <a:pt x="58" y="532"/>
                      <a:pt x="66" y="465"/>
                      <a:pt x="68" y="450"/>
                    </a:cubicBezTo>
                    <a:cubicBezTo>
                      <a:pt x="69" y="434"/>
                      <a:pt x="77" y="346"/>
                      <a:pt x="80" y="330"/>
                    </a:cubicBezTo>
                    <a:cubicBezTo>
                      <a:pt x="82" y="313"/>
                      <a:pt x="91" y="240"/>
                      <a:pt x="95" y="230"/>
                    </a:cubicBezTo>
                    <a:cubicBezTo>
                      <a:pt x="98" y="219"/>
                      <a:pt x="121" y="194"/>
                      <a:pt x="130" y="190"/>
                    </a:cubicBezTo>
                    <a:cubicBezTo>
                      <a:pt x="138" y="185"/>
                      <a:pt x="202" y="173"/>
                      <a:pt x="210" y="170"/>
                    </a:cubicBezTo>
                    <a:cubicBezTo>
                      <a:pt x="217" y="167"/>
                      <a:pt x="220" y="151"/>
                      <a:pt x="225" y="150"/>
                    </a:cubicBezTo>
                    <a:close/>
                  </a:path>
                </a:pathLst>
              </a:custGeom>
              <a:solidFill>
                <a:srgbClr val="F8D5C2">
                  <a:alpha val="70000"/>
                </a:srgbClr>
              </a:solidFill>
              <a:ln w="22225" cap="rnd">
                <a:solidFill>
                  <a:srgbClr val="A0522D"/>
                </a:solidFill>
                <a:round/>
              </a:ln>
            </p:spPr>
          </p:sp>
          <p:sp>
            <p:nvSpPr>
              <p:cNvPr id="28" name="Forma 27"/>
              <p:cNvSpPr/>
              <p:nvPr/>
            </p:nvSpPr>
            <p:spPr>
              <a:xfrm>
                <a:off x="9326880" y="1828800"/>
                <a:ext cx="1188720" cy="2377440"/>
              </a:xfrm>
              <a:custGeom>
                <a:avLst/>
                <a:gdLst/>
                <a:ahLst/>
                <a:cxnLst/>
                <a:rect l="0" t="0" r="r" b="b"/>
                <a:pathLst>
                  <a:path w="500" h="1000">
                    <a:moveTo>
                      <a:pt x="312" y="85"/>
                    </a:moveTo>
                    <a:cubicBezTo>
                      <a:pt x="312" y="123"/>
                      <a:pt x="284" y="155"/>
                      <a:pt x="250" y="155"/>
                    </a:cubicBezTo>
                    <a:cubicBezTo>
                      <a:pt x="215" y="155"/>
                      <a:pt x="188" y="123"/>
                      <a:pt x="188" y="85"/>
                    </a:cubicBezTo>
                    <a:cubicBezTo>
                      <a:pt x="188" y="46"/>
                      <a:pt x="215" y="15"/>
                      <a:pt x="250" y="15"/>
                    </a:cubicBezTo>
                    <a:cubicBezTo>
                      <a:pt x="284" y="15"/>
                      <a:pt x="312" y="46"/>
                      <a:pt x="312" y="85"/>
                    </a:cubicBezTo>
                    <a:close/>
                  </a:path>
                </a:pathLst>
              </a:custGeom>
              <a:solidFill>
                <a:srgbClr val="F8D5C2">
                  <a:alpha val="70000"/>
                </a:srgbClr>
              </a:solidFill>
              <a:ln w="22225" cap="rnd">
                <a:solidFill>
                  <a:srgbClr val="A0522D"/>
                </a:solidFill>
                <a:round/>
              </a:ln>
            </p:spPr>
          </p:sp>
        </p:grpSp>
        <p:sp>
          <p:nvSpPr>
            <p:cNvPr id="29" name="Forma 28"/>
            <p:cNvSpPr txBox="1"/>
            <p:nvPr/>
          </p:nvSpPr>
          <p:spPr>
            <a:xfrm>
              <a:off x="8321040" y="434340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Ejemplo: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Seres vivos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0" name="Forma 29"/>
            <p:cNvSpPr txBox="1"/>
            <p:nvPr/>
          </p:nvSpPr>
          <p:spPr>
            <a:xfrm>
              <a:off x="8321040" y="484632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Energía: </a:t>
              </a: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SÍ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31" name="Forma 30"/>
            <p:cNvSpPr txBox="1"/>
            <p:nvPr/>
          </p:nvSpPr>
          <p:spPr>
            <a:xfrm>
              <a:off x="8321040" y="5349240"/>
              <a:ext cx="3154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Materia: </a:t>
              </a: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SÍ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32" name="Calor sale"/>
          <p:cNvSpPr/>
          <p:nvPr/>
        </p:nvSpPr>
        <p:spPr>
          <a:xfrm>
            <a:off x="4206240" y="2377440"/>
            <a:ext cx="457200" cy="731520"/>
          </a:xfrm>
          <a:custGeom>
            <a:avLst/>
            <a:gdLst/>
            <a:ahLst/>
            <a:cxnLst/>
            <a:rect l="0" t="0" r="r" b="b"/>
            <a:pathLst>
              <a:path w="500" h="799" fill="none">
                <a:moveTo>
                  <a:pt x="500" y="799"/>
                </a:moveTo>
                <a:lnTo>
                  <a:pt x="0" y="0"/>
                </a:lnTo>
              </a:path>
            </a:pathLst>
          </a:custGeom>
          <a:noFill/>
          <a:ln w="44450" cap="rnd">
            <a:solidFill>
              <a:srgbClr val="E67E22"/>
            </a:solidFill>
            <a:round/>
            <a:tailEnd type="triangle" w="med" len="med"/>
          </a:ln>
        </p:spPr>
      </p:sp>
      <p:sp>
        <p:nvSpPr>
          <p:cNvPr id="33" name="Intercambio 0"/>
          <p:cNvSpPr/>
          <p:nvPr/>
        </p:nvSpPr>
        <p:spPr>
          <a:xfrm>
            <a:off x="8595360" y="2377440"/>
            <a:ext cx="822960" cy="365760"/>
          </a:xfrm>
          <a:custGeom>
            <a:avLst/>
            <a:gdLst/>
            <a:ahLst/>
            <a:cxnLst/>
            <a:rect l="0" t="0" r="r" b="b"/>
            <a:pathLst>
              <a:path w="900" h="399" fill="none">
                <a:moveTo>
                  <a:pt x="0" y="0"/>
                </a:moveTo>
                <a:lnTo>
                  <a:pt x="900" y="399"/>
                </a:lnTo>
              </a:path>
            </a:pathLst>
          </a:custGeom>
          <a:noFill/>
          <a:ln w="44450" cap="rnd">
            <a:solidFill>
              <a:srgbClr val="E67E22"/>
            </a:solidFill>
            <a:round/>
            <a:tailEnd type="triangle" w="med" len="med"/>
          </a:ln>
        </p:spPr>
      </p:sp>
      <p:sp>
        <p:nvSpPr>
          <p:cNvPr id="34" name="Intercambio 1"/>
          <p:cNvSpPr/>
          <p:nvPr/>
        </p:nvSpPr>
        <p:spPr>
          <a:xfrm>
            <a:off x="10607040" y="2286000"/>
            <a:ext cx="914400" cy="457200"/>
          </a:xfrm>
          <a:custGeom>
            <a:avLst/>
            <a:gdLst/>
            <a:ahLst/>
            <a:cxnLst/>
            <a:rect l="0" t="0" r="r" b="b"/>
            <a:pathLst>
              <a:path w="1000" h="500" fill="none">
                <a:moveTo>
                  <a:pt x="0" y="500"/>
                </a:moveTo>
                <a:lnTo>
                  <a:pt x="1000" y="0"/>
                </a:lnTo>
              </a:path>
            </a:pathLst>
          </a:custGeom>
          <a:noFill/>
          <a:ln w="44450" cap="rnd">
            <a:solidFill>
              <a:srgbClr val="E67E22"/>
            </a:solidFill>
            <a:round/>
            <a:tailEnd type="triangle" w="med" len="med"/>
          </a:ln>
        </p:spPr>
      </p:sp>
      <p:sp>
        <p:nvSpPr>
          <p:cNvPr id="35" name="Intercambio 2"/>
          <p:cNvSpPr/>
          <p:nvPr/>
        </p:nvSpPr>
        <p:spPr>
          <a:xfrm>
            <a:off x="8503920" y="3657600"/>
            <a:ext cx="868680" cy="182880"/>
          </a:xfrm>
          <a:custGeom>
            <a:avLst/>
            <a:gdLst/>
            <a:ahLst/>
            <a:cxnLst/>
            <a:rect l="0" t="0" r="r" b="b"/>
            <a:pathLst>
              <a:path w="949" h="200" fill="none">
                <a:moveTo>
                  <a:pt x="0" y="200"/>
                </a:moveTo>
                <a:lnTo>
                  <a:pt x="949" y="0"/>
                </a:lnTo>
              </a:path>
            </a:pathLst>
          </a:custGeom>
          <a:noFill/>
          <a:ln w="44450" cap="rnd">
            <a:solidFill>
              <a:srgbClr val="27AE60"/>
            </a:solidFill>
            <a:round/>
            <a:tailEnd type="triangle" w="med" len="med"/>
          </a:ln>
        </p:spPr>
      </p:sp>
      <p:sp>
        <p:nvSpPr>
          <p:cNvPr id="36" name="Intercambio 3"/>
          <p:cNvSpPr/>
          <p:nvPr/>
        </p:nvSpPr>
        <p:spPr>
          <a:xfrm>
            <a:off x="10698480" y="3657600"/>
            <a:ext cx="868680" cy="365760"/>
          </a:xfrm>
          <a:custGeom>
            <a:avLst/>
            <a:gdLst/>
            <a:ahLst/>
            <a:cxnLst/>
            <a:rect l="0" t="0" r="r" b="b"/>
            <a:pathLst>
              <a:path w="950" h="400" fill="none">
                <a:moveTo>
                  <a:pt x="0" y="0"/>
                </a:moveTo>
                <a:lnTo>
                  <a:pt x="950" y="400"/>
                </a:lnTo>
              </a:path>
            </a:pathLst>
          </a:custGeom>
          <a:noFill/>
          <a:ln w="44450" cap="rnd">
            <a:solidFill>
              <a:srgbClr val="7F8C8D"/>
            </a:solidFill>
            <a:round/>
            <a:tailEnd type="triangle" w="med" len="med"/>
          </a:ln>
        </p:spPr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SISTEMAS TERMODINÁMICOS: LOS SERES VIVOS SON ABIERTOS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Tanque estacionario"/>
          <p:cNvGrpSpPr/>
          <p:nvPr/>
        </p:nvGrpSpPr>
        <p:grpSpPr>
          <a:xfrm>
            <a:off x="2286000" y="1737360"/>
            <a:ext cx="2743200" cy="2926080"/>
            <a:chOff x="2286000" y="1737360"/>
            <a:chExt cx="2743200" cy="2926080"/>
          </a:xfrm>
        </p:grpSpPr>
        <p:sp>
          <p:nvSpPr>
            <p:cNvPr id="6" name="Forma 5"/>
            <p:cNvSpPr/>
            <p:nvPr/>
          </p:nvSpPr>
          <p:spPr>
            <a:xfrm>
              <a:off x="2286000" y="1737360"/>
              <a:ext cx="2743200" cy="2926080"/>
            </a:xfrm>
            <a:prstGeom prst="rect">
              <a:avLst/>
            </a:prstGeom>
            <a:solidFill>
              <a:srgbClr val="FFFFFF">
                <a:alpha val="50000"/>
              </a:srgbClr>
            </a:solidFill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2313432" y="2834640"/>
              <a:ext cx="2688336" cy="1801368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2E86C1"/>
                </a:gs>
              </a:gsLst>
              <a:lin ang="5400000" scaled="0"/>
            </a:gradFill>
            <a:ln>
              <a:noFill/>
            </a:ln>
          </p:spPr>
        </p:sp>
      </p:grpSp>
      <p:sp>
        <p:nvSpPr>
          <p:cNvPr id="8" name="Entrada"/>
          <p:cNvSpPr/>
          <p:nvPr/>
        </p:nvSpPr>
        <p:spPr>
          <a:xfrm>
            <a:off x="640080" y="2103120"/>
            <a:ext cx="1600200" cy="9144"/>
          </a:xfrm>
          <a:custGeom>
            <a:avLst/>
            <a:gdLst/>
            <a:ahLst/>
            <a:cxnLst/>
            <a:rect l="0" t="0" r="r" b="b"/>
            <a:pathLst>
              <a:path w="1750" h="10" fill="none">
                <a:moveTo>
                  <a:pt x="0" y="0"/>
                </a:moveTo>
                <a:lnTo>
                  <a:pt x="1750" y="0"/>
                </a:lnTo>
              </a:path>
            </a:pathLst>
          </a:custGeom>
          <a:noFill/>
          <a:ln w="63500" cap="rnd">
            <a:solidFill>
              <a:srgbClr val="4E7A30"/>
            </a:solidFill>
            <a:round/>
            <a:tailEnd type="triangle" w="med" len="med"/>
          </a:ln>
        </p:spPr>
      </p:sp>
      <p:sp>
        <p:nvSpPr>
          <p:cNvPr id="9" name="Salida"/>
          <p:cNvSpPr/>
          <p:nvPr/>
        </p:nvSpPr>
        <p:spPr>
          <a:xfrm>
            <a:off x="5074920" y="4206240"/>
            <a:ext cx="1691640" cy="9144"/>
          </a:xfrm>
          <a:custGeom>
            <a:avLst/>
            <a:gdLst/>
            <a:ahLst/>
            <a:cxnLst/>
            <a:rect l="0" t="0" r="r" b="b"/>
            <a:pathLst>
              <a:path w="1850" h="10" fill="none">
                <a:moveTo>
                  <a:pt x="0" y="0"/>
                </a:moveTo>
                <a:lnTo>
                  <a:pt x="1850" y="0"/>
                </a:lnTo>
              </a:path>
            </a:pathLst>
          </a:custGeom>
          <a:noFill/>
          <a:ln w="63500" cap="rnd">
            <a:solidFill>
              <a:srgbClr val="C00000"/>
            </a:solidFill>
            <a:round/>
            <a:tailEnd type="triangle" w="med" len="med"/>
          </a:ln>
        </p:spPr>
      </p:sp>
      <p:sp>
        <p:nvSpPr>
          <p:cNvPr id="10" name="Rótulo entrada"/>
          <p:cNvSpPr/>
          <p:nvPr/>
        </p:nvSpPr>
        <p:spPr>
          <a:xfrm>
            <a:off x="457200" y="1463040"/>
            <a:ext cx="2351767" cy="272415"/>
          </a:xfrm>
          <a:prstGeom prst="rect">
            <a:avLst/>
          </a:prstGeom>
          <a:solidFill>
            <a:srgbClr val="EAF5EA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entrada de materia y energía</a:t>
            </a:r>
            <a:endParaRPr lang="es-AR" sz="1300" dirty="0">
              <a:latin typeface="Calibri"/>
            </a:endParaRPr>
          </a:p>
        </p:txBody>
      </p:sp>
      <p:sp>
        <p:nvSpPr>
          <p:cNvPr id="11" name="Rótulo salida"/>
          <p:cNvSpPr/>
          <p:nvPr/>
        </p:nvSpPr>
        <p:spPr>
          <a:xfrm>
            <a:off x="5029200" y="4526280"/>
            <a:ext cx="692789" cy="272415"/>
          </a:xfrm>
          <a:prstGeom prst="rect">
            <a:avLst/>
          </a:prstGeom>
          <a:solidFill>
            <a:srgbClr val="FDE4E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salida</a:t>
            </a:r>
            <a:endParaRPr lang="es-AR" sz="1300" dirty="0">
              <a:latin typeface="Calibri"/>
            </a:endParaRPr>
          </a:p>
        </p:txBody>
      </p:sp>
      <p:sp>
        <p:nvSpPr>
          <p:cNvPr id="12" name="Estado estacionario"/>
          <p:cNvSpPr/>
          <p:nvPr/>
        </p:nvSpPr>
        <p:spPr>
          <a:xfrm>
            <a:off x="5394960" y="1188720"/>
            <a:ext cx="2651760" cy="23774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Estado estacionario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lo que entra se equilibra con lo que sale; el nivel se mantiene aunque el flujo continúe.</a:t>
            </a:r>
            <a:endParaRPr lang="es-AR" sz="1850" dirty="0">
              <a:latin typeface="Calibri"/>
            </a:endParaRPr>
          </a:p>
        </p:txBody>
      </p:sp>
      <p:sp>
        <p:nvSpPr>
          <p:cNvPr id="13" name="Homeostasis"/>
          <p:cNvSpPr/>
          <p:nvPr/>
        </p:nvSpPr>
        <p:spPr>
          <a:xfrm>
            <a:off x="457200" y="5074920"/>
            <a:ext cx="7498080" cy="1371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Homeostasis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equilibrio interno de los seres vivos como sistemas abiertos; no podemos «dar todo ni tomar todo»: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equilibrio dinámico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con el medio.</a:t>
            </a:r>
            <a:endParaRPr lang="es-AR" sz="2000" dirty="0">
              <a:latin typeface="Calibri"/>
            </a:endParaRPr>
          </a:p>
        </p:txBody>
      </p:sp>
      <p:grpSp>
        <p:nvGrpSpPr>
          <p:cNvPr id="14" name="Regulación"/>
          <p:cNvGrpSpPr/>
          <p:nvPr/>
        </p:nvGrpSpPr>
        <p:grpSpPr>
          <a:xfrm>
            <a:off x="8549640" y="1097280"/>
            <a:ext cx="3383280" cy="2468880"/>
            <a:chOff x="8549640" y="1097280"/>
            <a:chExt cx="3383280" cy="2468880"/>
          </a:xfrm>
        </p:grpSpPr>
        <p:sp>
          <p:nvSpPr>
            <p:cNvPr id="15" name="Forma 14"/>
            <p:cNvSpPr/>
            <p:nvPr/>
          </p:nvSpPr>
          <p:spPr>
            <a:xfrm>
              <a:off x="8549640" y="129844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Regulación metabólica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mantiene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estado estacionario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flujo de metabolitos.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8677656" y="1097280"/>
              <a:ext cx="133285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REGULACIÓN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Control"/>
          <p:cNvGrpSpPr/>
          <p:nvPr/>
        </p:nvGrpSpPr>
        <p:grpSpPr>
          <a:xfrm>
            <a:off x="8549640" y="3840480"/>
            <a:ext cx="3383280" cy="2606040"/>
            <a:chOff x="8549640" y="3840480"/>
            <a:chExt cx="3383280" cy="2606040"/>
          </a:xfrm>
        </p:grpSpPr>
        <p:sp>
          <p:nvSpPr>
            <p:cNvPr id="18" name="Forma 17"/>
            <p:cNvSpPr/>
            <p:nvPr/>
          </p:nvSpPr>
          <p:spPr>
            <a:xfrm>
              <a:off x="8549640" y="4041648"/>
              <a:ext cx="3383280" cy="240487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Control metabólico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influencia sobre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enzimas específicas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(puntos de control) para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alterar el flujo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ante señales externas.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677656" y="3840480"/>
              <a:ext cx="105846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HOMEOSTASIS, ESTADO ESTACIONARIO, REGULACIÓN Y CONTROL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5" name="!!Reductor"/>
          <p:cNvSpPr/>
          <p:nvPr/>
        </p:nvSpPr>
        <p:spPr>
          <a:xfrm>
            <a:off x="548640" y="182880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80" y="500"/>
                </a:moveTo>
                <a:cubicBezTo>
                  <a:pt x="979" y="579"/>
                  <a:pt x="961" y="684"/>
                  <a:pt x="913" y="739"/>
                </a:cubicBezTo>
                <a:cubicBezTo>
                  <a:pt x="864" y="793"/>
                  <a:pt x="756" y="802"/>
                  <a:pt x="688" y="826"/>
                </a:cubicBezTo>
                <a:cubicBezTo>
                  <a:pt x="619" y="849"/>
                  <a:pt x="563" y="880"/>
                  <a:pt x="500" y="881"/>
                </a:cubicBezTo>
                <a:cubicBezTo>
                  <a:pt x="437" y="881"/>
                  <a:pt x="370" y="857"/>
                  <a:pt x="310" y="829"/>
                </a:cubicBezTo>
                <a:cubicBezTo>
                  <a:pt x="249" y="800"/>
                  <a:pt x="186" y="762"/>
                  <a:pt x="139" y="708"/>
                </a:cubicBezTo>
                <a:cubicBezTo>
                  <a:pt x="91" y="653"/>
                  <a:pt x="20" y="567"/>
                  <a:pt x="24" y="500"/>
                </a:cubicBezTo>
                <a:cubicBezTo>
                  <a:pt x="27" y="432"/>
                  <a:pt x="120" y="371"/>
                  <a:pt x="161" y="304"/>
                </a:cubicBezTo>
                <a:cubicBezTo>
                  <a:pt x="201" y="237"/>
                  <a:pt x="210" y="144"/>
                  <a:pt x="267" y="98"/>
                </a:cubicBezTo>
                <a:cubicBezTo>
                  <a:pt x="323" y="51"/>
                  <a:pt x="422" y="25"/>
                  <a:pt x="499" y="27"/>
                </a:cubicBezTo>
                <a:cubicBezTo>
                  <a:pt x="575" y="28"/>
                  <a:pt x="657" y="66"/>
                  <a:pt x="727" y="105"/>
                </a:cubicBezTo>
                <a:cubicBezTo>
                  <a:pt x="796" y="143"/>
                  <a:pt x="871" y="194"/>
                  <a:pt x="914" y="260"/>
                </a:cubicBezTo>
                <a:cubicBezTo>
                  <a:pt x="956" y="325"/>
                  <a:pt x="980" y="420"/>
                  <a:pt x="980" y="500"/>
                </a:cubicBezTo>
                <a:close/>
              </a:path>
            </a:pathLst>
          </a:cu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B78430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A5820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Dador</a:t>
            </a:r>
            <a:endParaRPr lang="es-AR" sz="15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(se oxida)</a:t>
            </a:r>
            <a:endParaRPr lang="es-AR" sz="1500" dirty="0">
              <a:latin typeface="Calibri"/>
            </a:endParaRPr>
          </a:p>
        </p:txBody>
      </p:sp>
      <p:sp>
        <p:nvSpPr>
          <p:cNvPr id="6" name="!!Oxidante"/>
          <p:cNvSpPr/>
          <p:nvPr/>
        </p:nvSpPr>
        <p:spPr>
          <a:xfrm>
            <a:off x="5303520" y="182880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1" y="500"/>
                </a:moveTo>
                <a:cubicBezTo>
                  <a:pt x="970" y="574"/>
                  <a:pt x="922" y="652"/>
                  <a:pt x="883" y="721"/>
                </a:cubicBezTo>
                <a:cubicBezTo>
                  <a:pt x="844" y="789"/>
                  <a:pt x="800" y="884"/>
                  <a:pt x="737" y="911"/>
                </a:cubicBezTo>
                <a:cubicBezTo>
                  <a:pt x="673" y="937"/>
                  <a:pt x="575" y="886"/>
                  <a:pt x="500" y="880"/>
                </a:cubicBezTo>
                <a:cubicBezTo>
                  <a:pt x="424" y="873"/>
                  <a:pt x="351" y="898"/>
                  <a:pt x="284" y="874"/>
                </a:cubicBezTo>
                <a:cubicBezTo>
                  <a:pt x="216" y="849"/>
                  <a:pt x="126" y="795"/>
                  <a:pt x="95" y="733"/>
                </a:cubicBezTo>
                <a:cubicBezTo>
                  <a:pt x="63" y="670"/>
                  <a:pt x="83" y="570"/>
                  <a:pt x="97" y="500"/>
                </a:cubicBezTo>
                <a:cubicBezTo>
                  <a:pt x="110" y="430"/>
                  <a:pt x="139" y="366"/>
                  <a:pt x="176" y="313"/>
                </a:cubicBezTo>
                <a:cubicBezTo>
                  <a:pt x="212" y="259"/>
                  <a:pt x="260" y="212"/>
                  <a:pt x="314" y="179"/>
                </a:cubicBezTo>
                <a:cubicBezTo>
                  <a:pt x="367" y="145"/>
                  <a:pt x="430" y="124"/>
                  <a:pt x="499" y="112"/>
                </a:cubicBezTo>
                <a:cubicBezTo>
                  <a:pt x="567" y="99"/>
                  <a:pt x="662" y="78"/>
                  <a:pt x="727" y="106"/>
                </a:cubicBezTo>
                <a:cubicBezTo>
                  <a:pt x="791" y="133"/>
                  <a:pt x="844" y="211"/>
                  <a:pt x="885" y="277"/>
                </a:cubicBezTo>
                <a:cubicBezTo>
                  <a:pt x="925" y="342"/>
                  <a:pt x="971" y="426"/>
                  <a:pt x="971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Aceptor</a:t>
            </a:r>
            <a:endParaRPr lang="es-AR" sz="15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(se reduce)</a:t>
            </a:r>
            <a:endParaRPr lang="es-AR" sz="1500" dirty="0">
              <a:latin typeface="Calibri"/>
            </a:endParaRPr>
          </a:p>
        </p:txBody>
      </p:sp>
      <p:sp>
        <p:nvSpPr>
          <p:cNvPr id="7" name="!!Electrón 0"/>
          <p:cNvSpPr/>
          <p:nvPr/>
        </p:nvSpPr>
        <p:spPr>
          <a:xfrm>
            <a:off x="2194560" y="2194560"/>
            <a:ext cx="384048" cy="384048"/>
          </a:xfrm>
          <a:prstGeom prst="ellipse">
            <a:avLst/>
          </a:prstGeom>
          <a:gradFill rotWithShape="1">
            <a:gsLst>
              <a:gs pos="0">
                <a:srgbClr val="F8E595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-AR" sz="12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200" dirty="0">
              <a:latin typeface="Calibri"/>
            </a:endParaRPr>
          </a:p>
        </p:txBody>
      </p:sp>
      <p:sp>
        <p:nvSpPr>
          <p:cNvPr id="8" name="!!Electrón 1"/>
          <p:cNvSpPr/>
          <p:nvPr/>
        </p:nvSpPr>
        <p:spPr>
          <a:xfrm>
            <a:off x="2194560" y="2697480"/>
            <a:ext cx="384048" cy="384048"/>
          </a:xfrm>
          <a:prstGeom prst="ellipse">
            <a:avLst/>
          </a:prstGeom>
          <a:gradFill rotWithShape="1">
            <a:gsLst>
              <a:gs pos="0">
                <a:srgbClr val="F8E595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-AR" sz="12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200" dirty="0">
              <a:latin typeface="Calibri"/>
            </a:endParaRPr>
          </a:p>
        </p:txBody>
      </p:sp>
      <p:sp>
        <p:nvSpPr>
          <p:cNvPr id="9" name="Trayecto electrones"/>
          <p:cNvSpPr/>
          <p:nvPr/>
        </p:nvSpPr>
        <p:spPr>
          <a:xfrm>
            <a:off x="2651760" y="1280160"/>
            <a:ext cx="2651760" cy="548640"/>
          </a:xfrm>
          <a:custGeom>
            <a:avLst/>
            <a:gdLst/>
            <a:ahLst/>
            <a:cxnLst/>
            <a:rect l="0" t="0" r="r" b="b"/>
            <a:pathLst>
              <a:path w="2900" h="600" fill="none">
                <a:moveTo>
                  <a:pt x="0" y="600"/>
                </a:moveTo>
                <a:quadBezTo>
                  <a:pt x="1400" y="0"/>
                  <a:pt x="2900" y="600"/>
                </a:quadBezTo>
              </a:path>
            </a:pathLst>
          </a:custGeom>
          <a:noFill/>
          <a:ln w="38100" cap="rnd">
            <a:solidFill>
              <a:srgbClr val="1F3864"/>
            </a:solidFill>
            <a:round/>
            <a:tailEnd type="triangle" w="med" len="med"/>
          </a:ln>
        </p:spPr>
      </p:sp>
      <p:sp>
        <p:nvSpPr>
          <p:cNvPr id="10" name="Concepto redox"/>
          <p:cNvSpPr/>
          <p:nvPr/>
        </p:nvSpPr>
        <p:spPr>
          <a:xfrm>
            <a:off x="457200" y="4251960"/>
            <a:ext cx="7132320" cy="21945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Una reacción redox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siempre involucra transferencia de electrones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entre dos especies químicas.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puede haber oxidación sin reducción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simultánea: si alguien pierde, otro gana.</a:t>
            </a:r>
            <a:endParaRPr lang="es-AR" sz="2050" dirty="0">
              <a:latin typeface="Calibri"/>
            </a:endParaRPr>
          </a:p>
        </p:txBody>
      </p:sp>
      <p:sp>
        <p:nvSpPr>
          <p:cNvPr id="11" name="Def oxidación"/>
          <p:cNvSpPr/>
          <p:nvPr/>
        </p:nvSpPr>
        <p:spPr>
          <a:xfrm>
            <a:off x="8046720" y="1097280"/>
            <a:ext cx="3886200" cy="24688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OXIDACIÓN</a:t>
            </a:r>
            <a:endParaRPr lang="es-AR" sz="20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Pérdida de electrones → el número de oxidación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aumenta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12" name="Def reducción"/>
          <p:cNvSpPr/>
          <p:nvPr/>
        </p:nvSpPr>
        <p:spPr>
          <a:xfrm>
            <a:off x="8046720" y="3840480"/>
            <a:ext cx="3886200" cy="26060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REDUCCIÓN</a:t>
            </a:r>
            <a:endParaRPr lang="es-AR" sz="20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Ganancia de electrones → el número de oxidación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disminuye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REACCIONES REDOX: TRANSFERENCIA DE ELECTRONES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1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75 -0.1333 L 0.2663 0.0267 E" pathEditMode="relative" ptsTypes="">
                                      <p:cBhvr>
                                        <p:cTn id="26" dur="11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12" y="1333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75 -0.1333 L 0.2663 -0.0467 E" pathEditMode="relative" ptsTypes="">
                                      <p:cBhvr>
                                        <p:cTn id="28" dur="11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12" y="-2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00"/>
                            </p:stCondLst>
                            <p:childTnLst>
                              <p:par>
                                <p:cTn id="30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9E79F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E86C1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0" grpId="0" animBg="1"/>
    </p:bld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EAF5EA"/>
          </a:solidFill>
          <a:ln>
            <a:noFill/>
          </a:ln>
        </p:spPr>
      </p:sp>
      <p:grpSp>
        <p:nvGrpSpPr>
          <p:cNvPr id="6" name="Tabla redox fila 0"/>
          <p:cNvGrpSpPr/>
          <p:nvPr/>
        </p:nvGrpSpPr>
        <p:grpSpPr>
          <a:xfrm>
            <a:off x="3246120" y="1143000"/>
            <a:ext cx="6035040" cy="868680"/>
            <a:chOff x="3246120" y="1143000"/>
            <a:chExt cx="6035040" cy="868680"/>
          </a:xfrm>
        </p:grpSpPr>
        <p:sp>
          <p:nvSpPr>
            <p:cNvPr id="7" name="Forma 6"/>
            <p:cNvSpPr/>
            <p:nvPr/>
          </p:nvSpPr>
          <p:spPr>
            <a:xfrm>
              <a:off x="3246120" y="1143000"/>
              <a:ext cx="201168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Término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5257800" y="1143000"/>
              <a:ext cx="402336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Definición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9" name="Tabla redox fila 1"/>
          <p:cNvGrpSpPr/>
          <p:nvPr/>
        </p:nvGrpSpPr>
        <p:grpSpPr>
          <a:xfrm>
            <a:off x="3246120" y="2011680"/>
            <a:ext cx="6035040" cy="868680"/>
            <a:chOff x="3246120" y="2011680"/>
            <a:chExt cx="6035040" cy="868680"/>
          </a:xfrm>
        </p:grpSpPr>
        <p:sp>
          <p:nvSpPr>
            <p:cNvPr id="10" name="Forma 9"/>
            <p:cNvSpPr/>
            <p:nvPr/>
          </p:nvSpPr>
          <p:spPr>
            <a:xfrm>
              <a:off x="3246120" y="2011680"/>
              <a:ext cx="201168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Oxidación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5257800" y="2011680"/>
              <a:ext cx="40233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Pérdida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electrones: el número de oxidación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aumenta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(queda con carga más positiva).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2" name="Tabla redox fila 2"/>
          <p:cNvGrpSpPr/>
          <p:nvPr/>
        </p:nvGrpSpPr>
        <p:grpSpPr>
          <a:xfrm>
            <a:off x="3246120" y="2880360"/>
            <a:ext cx="6035040" cy="868680"/>
            <a:chOff x="3246120" y="2880360"/>
            <a:chExt cx="6035040" cy="868680"/>
          </a:xfrm>
        </p:grpSpPr>
        <p:sp>
          <p:nvSpPr>
            <p:cNvPr id="13" name="Forma 12"/>
            <p:cNvSpPr/>
            <p:nvPr/>
          </p:nvSpPr>
          <p:spPr>
            <a:xfrm>
              <a:off x="3246120" y="2880360"/>
              <a:ext cx="201168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Reducción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5257800" y="2880360"/>
              <a:ext cx="402336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Ganancia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electrones: el número de oxidación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disminuye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(queda con carga más negativa).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5" name="Tabla redox fila 3"/>
          <p:cNvGrpSpPr/>
          <p:nvPr/>
        </p:nvGrpSpPr>
        <p:grpSpPr>
          <a:xfrm>
            <a:off x="3246120" y="3749040"/>
            <a:ext cx="6035040" cy="868680"/>
            <a:chOff x="3246120" y="3749040"/>
            <a:chExt cx="6035040" cy="868680"/>
          </a:xfrm>
        </p:grpSpPr>
        <p:sp>
          <p:nvSpPr>
            <p:cNvPr id="16" name="Forma 15"/>
            <p:cNvSpPr/>
            <p:nvPr/>
          </p:nvSpPr>
          <p:spPr>
            <a:xfrm>
              <a:off x="3246120" y="3749040"/>
              <a:ext cx="201168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Agente reductor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5257800" y="3749040"/>
              <a:ext cx="40233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especie que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oxida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(pierde e</a:t>
              </a:r>
              <a:r>
                <a:rPr lang="es-AR" sz="16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y, al hacerlo,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reduce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 la otra.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8" name="Tabla redox fila 4"/>
          <p:cNvGrpSpPr/>
          <p:nvPr/>
        </p:nvGrpSpPr>
        <p:grpSpPr>
          <a:xfrm>
            <a:off x="3246120" y="4617720"/>
            <a:ext cx="6035040" cy="868680"/>
            <a:chOff x="3246120" y="4617720"/>
            <a:chExt cx="6035040" cy="868680"/>
          </a:xfrm>
        </p:grpSpPr>
        <p:sp>
          <p:nvSpPr>
            <p:cNvPr id="19" name="Forma 18"/>
            <p:cNvSpPr/>
            <p:nvPr/>
          </p:nvSpPr>
          <p:spPr>
            <a:xfrm>
              <a:off x="3246120" y="4617720"/>
              <a:ext cx="201168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Agente oxidante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5257800" y="4617720"/>
              <a:ext cx="402336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especie que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reduce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(gana e</a:t>
              </a:r>
              <a:r>
                <a:rPr lang="es-AR" sz="16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y, al hacerlo,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 la otra.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1" name="Mnemotecnia"/>
          <p:cNvGrpSpPr/>
          <p:nvPr/>
        </p:nvGrpSpPr>
        <p:grpSpPr>
          <a:xfrm>
            <a:off x="365760" y="1143000"/>
            <a:ext cx="2651760" cy="5303520"/>
            <a:chOff x="365760" y="1143000"/>
            <a:chExt cx="2651760" cy="5303520"/>
          </a:xfrm>
        </p:grpSpPr>
        <p:sp>
          <p:nvSpPr>
            <p:cNvPr id="22" name="Forma 21"/>
            <p:cNvSpPr/>
            <p:nvPr/>
          </p:nvSpPr>
          <p:spPr>
            <a:xfrm>
              <a:off x="365760" y="1344168"/>
              <a:ext cx="2651760" cy="510235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electrones son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negativos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lang="es-AR" sz="1950" dirty="0">
                <a:latin typeface="Calibri"/>
              </a:endParaRPr>
            </a:p>
            <a:p>
              <a:pPr algn="l" marL="185737" indent="-1857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quien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gana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</a:t>
              </a:r>
              <a:r>
                <a:rPr lang="es-AR" sz="19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gana carga negativa → su número de oxidación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se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</a:t>
              </a:r>
              <a:endParaRPr lang="es-AR" sz="1950" dirty="0">
                <a:latin typeface="Calibri"/>
              </a:endParaRPr>
            </a:p>
            <a:p>
              <a:pPr algn="l" marL="185737" indent="-1857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quien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pierde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</a:t>
              </a:r>
              <a:r>
                <a:rPr lang="es-AR" sz="19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su número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sube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se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493776" y="1143000"/>
              <a:ext cx="153888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MNEMOTECNIA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Cruce de roles"/>
          <p:cNvGrpSpPr/>
          <p:nvPr/>
        </p:nvGrpSpPr>
        <p:grpSpPr>
          <a:xfrm>
            <a:off x="9555480" y="1143000"/>
            <a:ext cx="2331720" cy="5303520"/>
            <a:chOff x="9555480" y="1143000"/>
            <a:chExt cx="2331720" cy="5303520"/>
          </a:xfrm>
        </p:grpSpPr>
        <p:sp>
          <p:nvSpPr>
            <p:cNvPr id="25" name="Forma 24"/>
            <p:cNvSpPr/>
            <p:nvPr/>
          </p:nvSpPr>
          <p:spPr>
            <a:xfrm>
              <a:off x="9555480" y="1143000"/>
              <a:ext cx="2331720" cy="237744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Oxidante</a:t>
              </a:r>
              <a:endParaRPr lang="es-AR" sz="22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= el que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reduce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9555480" y="4069080"/>
              <a:ext cx="2331720" cy="237744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Reductor</a:t>
              </a:r>
              <a:endParaRPr lang="es-AR" sz="22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= el que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oxida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7" name="Flecha 26_2"/>
            <p:cNvSpPr/>
            <p:nvPr/>
          </p:nvSpPr>
          <p:spPr>
            <a:xfrm>
              <a:off x="10698480" y="3566160"/>
              <a:ext cx="9144" cy="457200"/>
            </a:xfrm>
            <a:custGeom>
              <a:avLst/>
              <a:gdLst/>
              <a:ahLst/>
              <a:cxnLst/>
              <a:rect l="0" t="0" r="r" b="b"/>
              <a:pathLst>
                <a:path w="10" h="500" fill="none">
                  <a:moveTo>
                    <a:pt x="0" y="0"/>
                  </a:moveTo>
                  <a:lnTo>
                    <a:pt x="0" y="50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headEnd type="triangle" w="med" len="med"/>
              <a:tailEnd type="triangle" w="med" len="med"/>
            </a:ln>
          </p:spPr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3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AGENTE OXIDANTE Y AGENTE REDUCTOR</a:t>
            </a:r>
            <a:endParaRPr lang="es-AR" sz="23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Tabla orgánica fila 0"/>
          <p:cNvGrpSpPr/>
          <p:nvPr/>
        </p:nvGrpSpPr>
        <p:grpSpPr>
          <a:xfrm>
            <a:off x="365760" y="1143000"/>
            <a:ext cx="7863840" cy="685800"/>
            <a:chOff x="365760" y="1143000"/>
            <a:chExt cx="7863840" cy="685800"/>
          </a:xfrm>
        </p:grpSpPr>
        <p:sp>
          <p:nvSpPr>
            <p:cNvPr id="6" name="Forma 5"/>
            <p:cNvSpPr/>
            <p:nvPr/>
          </p:nvSpPr>
          <p:spPr>
            <a:xfrm>
              <a:off x="365760" y="1143000"/>
              <a:ext cx="310896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Proceso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474720" y="1143000"/>
              <a:ext cx="475488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Indicador en química orgánica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8" name="Tabla orgánica fila 1"/>
          <p:cNvGrpSpPr/>
          <p:nvPr/>
        </p:nvGrpSpPr>
        <p:grpSpPr>
          <a:xfrm>
            <a:off x="365760" y="1828800"/>
            <a:ext cx="7863840" cy="685800"/>
            <a:chOff x="365760" y="1828800"/>
            <a:chExt cx="7863840" cy="685800"/>
          </a:xfrm>
        </p:grpSpPr>
        <p:sp>
          <p:nvSpPr>
            <p:cNvPr id="9" name="Forma 8"/>
            <p:cNvSpPr/>
            <p:nvPr/>
          </p:nvSpPr>
          <p:spPr>
            <a:xfrm>
              <a:off x="365760" y="1828800"/>
              <a:ext cx="310896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Reducción (gana e</a:t>
              </a:r>
              <a:r>
                <a:rPr lang="es-AR" sz="17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3474720" y="1828800"/>
              <a:ext cx="475488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Gana hidrógenos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o 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pierde oxígenos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1" name="Tabla orgánica fila 2"/>
          <p:cNvGrpSpPr/>
          <p:nvPr/>
        </p:nvGrpSpPr>
        <p:grpSpPr>
          <a:xfrm>
            <a:off x="365760" y="2514600"/>
            <a:ext cx="7863840" cy="685800"/>
            <a:chOff x="365760" y="2514600"/>
            <a:chExt cx="7863840" cy="685800"/>
          </a:xfrm>
        </p:grpSpPr>
        <p:sp>
          <p:nvSpPr>
            <p:cNvPr id="12" name="Forma 11"/>
            <p:cNvSpPr/>
            <p:nvPr/>
          </p:nvSpPr>
          <p:spPr>
            <a:xfrm>
              <a:off x="365760" y="2514600"/>
              <a:ext cx="310896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Oxidación (pierde e</a:t>
              </a:r>
              <a:r>
                <a:rPr lang="es-AR" sz="17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474720" y="2514600"/>
              <a:ext cx="475488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Pierde hidrógenos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o 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gana oxígenos</a:t>
              </a:r>
              <a:endParaRPr lang="es-AR" sz="1700" dirty="0">
                <a:latin typeface="Calibri"/>
              </a:endParaRPr>
            </a:p>
          </p:txBody>
        </p:sp>
      </p:grpSp>
      <p:sp>
        <p:nvSpPr>
          <p:cNvPr id="14" name="Molécula A"/>
          <p:cNvSpPr/>
          <p:nvPr/>
        </p:nvSpPr>
        <p:spPr>
          <a:xfrm>
            <a:off x="365760" y="3520440"/>
            <a:ext cx="3794760" cy="14630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Molécula A: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AR" sz="2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2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2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6 oxígenos →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oxidada</a:t>
            </a:r>
            <a:endParaRPr lang="es-AR" sz="2200" dirty="0">
              <a:latin typeface="Calibri"/>
            </a:endParaRPr>
          </a:p>
        </p:txBody>
      </p:sp>
      <p:sp>
        <p:nvSpPr>
          <p:cNvPr id="15" name="Molécula B"/>
          <p:cNvSpPr/>
          <p:nvPr/>
        </p:nvSpPr>
        <p:spPr>
          <a:xfrm>
            <a:off x="4434840" y="3520440"/>
            <a:ext cx="3794760" cy="14630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Molécula B: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s-AR" sz="2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2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2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 oxígenos →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reducida</a:t>
            </a:r>
            <a:endParaRPr lang="es-AR" sz="2200" dirty="0">
              <a:latin typeface="Calibri"/>
            </a:endParaRPr>
          </a:p>
        </p:txBody>
      </p:sp>
      <p:sp>
        <p:nvSpPr>
          <p:cNvPr id="16" name="Corolario orgánica"/>
          <p:cNvSpPr/>
          <p:nvPr/>
        </p:nvSpPr>
        <p:spPr>
          <a:xfrm>
            <a:off x="365760" y="5212080"/>
            <a:ext cx="7863840" cy="12344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Cuanto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reducida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está una molécula (más H, menos O),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energía potencial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tiene para ceder: los sustratos reducidos son la «moneda» del catabolismo.</a:t>
            </a:r>
            <a:endParaRPr lang="es-AR" sz="2000" dirty="0">
              <a:latin typeface="Calibri"/>
            </a:endParaRPr>
          </a:p>
        </p:txBody>
      </p:sp>
      <p:grpSp>
        <p:nvGrpSpPr>
          <p:cNvPr id="17" name="Rigor hidrógeno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18" name="Forma 17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las oxidaciones biológicas no se transfiere un protón aislado: se transfieren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átomos de hidrógeno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(H</a:t>
              </a:r>
              <a:r>
                <a:rPr lang="es-AR" sz="17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+ e</a:t>
              </a:r>
              <a:r>
                <a:rPr lang="es-AR" sz="17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o un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ion hidruro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(H</a:t>
              </a:r>
              <a:r>
                <a:rPr lang="es-AR" sz="17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2 e</a:t>
              </a:r>
              <a:r>
                <a:rPr lang="es-AR" sz="17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+ H</a:t>
              </a:r>
              <a:r>
                <a:rPr lang="es-AR" sz="17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), como en el NADH.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0" name="Glucosa ox"/>
          <p:cNvGrpSpPr/>
          <p:nvPr/>
        </p:nvGrpSpPr>
        <p:grpSpPr>
          <a:xfrm>
            <a:off x="9114398" y="4841966"/>
            <a:ext cx="1931374" cy="1288867"/>
            <a:chOff x="9114398" y="4841966"/>
            <a:chExt cx="1931374" cy="1288867"/>
          </a:xfrm>
        </p:grpSpPr>
        <p:sp>
          <p:nvSpPr>
            <p:cNvPr id="21" name="Flecha 20_2"/>
            <p:cNvSpPr/>
            <p:nvPr/>
          </p:nvSpPr>
          <p:spPr>
            <a:xfrm>
              <a:off x="9805916" y="5502095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0" y="0"/>
                  </a:moveTo>
                  <a:lnTo>
                    <a:pt x="343" y="171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22" name="Flecha 22_2"/>
            <p:cNvSpPr/>
            <p:nvPr/>
          </p:nvSpPr>
          <p:spPr>
            <a:xfrm>
              <a:off x="9805916" y="5502095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0" y="0"/>
                  </a:moveTo>
                  <a:lnTo>
                    <a:pt x="343" y="171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23" name="Flecha 24_2"/>
            <p:cNvSpPr/>
            <p:nvPr/>
          </p:nvSpPr>
          <p:spPr>
            <a:xfrm>
              <a:off x="10119815" y="5502095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0" y="171"/>
                  </a:moveTo>
                  <a:lnTo>
                    <a:pt x="343" y="0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24" name="Flecha 26_2"/>
            <p:cNvSpPr/>
            <p:nvPr/>
          </p:nvSpPr>
          <p:spPr>
            <a:xfrm>
              <a:off x="10119815" y="5502095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0" y="171"/>
                  </a:moveTo>
                  <a:lnTo>
                    <a:pt x="343" y="0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25" name="Flecha 28_2"/>
            <p:cNvSpPr/>
            <p:nvPr/>
          </p:nvSpPr>
          <p:spPr>
            <a:xfrm>
              <a:off x="10433713" y="5156807"/>
              <a:ext cx="9144" cy="345288"/>
            </a:xfrm>
            <a:custGeom>
              <a:avLst/>
              <a:gdLst/>
              <a:ahLst/>
              <a:cxnLst/>
              <a:rect l="0" t="0" r="r" b="b"/>
              <a:pathLst>
                <a:path w="10" h="377" fill="none">
                  <a:moveTo>
                    <a:pt x="0" y="377"/>
                  </a:moveTo>
                  <a:lnTo>
                    <a:pt x="0" y="0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26" name="Flecha 30_2"/>
            <p:cNvSpPr/>
            <p:nvPr/>
          </p:nvSpPr>
          <p:spPr>
            <a:xfrm>
              <a:off x="10433713" y="5156807"/>
              <a:ext cx="9144" cy="345288"/>
            </a:xfrm>
            <a:custGeom>
              <a:avLst/>
              <a:gdLst/>
              <a:ahLst/>
              <a:cxnLst/>
              <a:rect l="0" t="0" r="r" b="b"/>
              <a:pathLst>
                <a:path w="10" h="377" fill="none">
                  <a:moveTo>
                    <a:pt x="0" y="377"/>
                  </a:moveTo>
                  <a:lnTo>
                    <a:pt x="0" y="0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27" name="Flecha 32_2"/>
            <p:cNvSpPr/>
            <p:nvPr/>
          </p:nvSpPr>
          <p:spPr>
            <a:xfrm>
              <a:off x="10119815" y="4999857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343" y="171"/>
                  </a:moveTo>
                  <a:lnTo>
                    <a:pt x="0" y="0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28" name="Flecha 34_2"/>
            <p:cNvSpPr/>
            <p:nvPr/>
          </p:nvSpPr>
          <p:spPr>
            <a:xfrm>
              <a:off x="10119815" y="4999857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343" y="171"/>
                  </a:moveTo>
                  <a:lnTo>
                    <a:pt x="0" y="0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29" name="Flecha 36_2"/>
            <p:cNvSpPr/>
            <p:nvPr/>
          </p:nvSpPr>
          <p:spPr>
            <a:xfrm>
              <a:off x="9805916" y="4999857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343" y="0"/>
                  </a:moveTo>
                  <a:lnTo>
                    <a:pt x="0" y="171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30" name="Flecha 38_2"/>
            <p:cNvSpPr/>
            <p:nvPr/>
          </p:nvSpPr>
          <p:spPr>
            <a:xfrm>
              <a:off x="9805916" y="4999857"/>
              <a:ext cx="313899" cy="156949"/>
            </a:xfrm>
            <a:custGeom>
              <a:avLst/>
              <a:gdLst/>
              <a:ahLst/>
              <a:cxnLst/>
              <a:rect l="0" t="0" r="r" b="b"/>
              <a:pathLst>
                <a:path w="343" h="171" fill="none">
                  <a:moveTo>
                    <a:pt x="343" y="0"/>
                  </a:moveTo>
                  <a:lnTo>
                    <a:pt x="0" y="171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31" name="Flecha 40_2"/>
            <p:cNvSpPr/>
            <p:nvPr/>
          </p:nvSpPr>
          <p:spPr>
            <a:xfrm>
              <a:off x="9805916" y="5156807"/>
              <a:ext cx="9144" cy="345288"/>
            </a:xfrm>
            <a:custGeom>
              <a:avLst/>
              <a:gdLst/>
              <a:ahLst/>
              <a:cxnLst/>
              <a:rect l="0" t="0" r="r" b="b"/>
              <a:pathLst>
                <a:path w="10" h="377" fill="none">
                  <a:moveTo>
                    <a:pt x="0" y="0"/>
                  </a:moveTo>
                  <a:lnTo>
                    <a:pt x="0" y="377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32" name="Flecha 42_2"/>
            <p:cNvSpPr/>
            <p:nvPr/>
          </p:nvSpPr>
          <p:spPr>
            <a:xfrm>
              <a:off x="9805916" y="5156807"/>
              <a:ext cx="9144" cy="345288"/>
            </a:xfrm>
            <a:custGeom>
              <a:avLst/>
              <a:gdLst/>
              <a:ahLst/>
              <a:cxnLst/>
              <a:rect l="0" t="0" r="r" b="b"/>
              <a:pathLst>
                <a:path w="10" h="377" fill="none">
                  <a:moveTo>
                    <a:pt x="0" y="0"/>
                  </a:moveTo>
                  <a:lnTo>
                    <a:pt x="0" y="377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33" name="Flecha 44_2"/>
            <p:cNvSpPr/>
            <p:nvPr/>
          </p:nvSpPr>
          <p:spPr>
            <a:xfrm>
              <a:off x="9523408" y="5502095"/>
              <a:ext cx="282509" cy="156949"/>
            </a:xfrm>
            <a:custGeom>
              <a:avLst/>
              <a:gdLst/>
              <a:ahLst/>
              <a:cxnLst/>
              <a:rect l="0" t="0" r="r" b="b"/>
              <a:pathLst>
                <a:path w="308" h="171" fill="none">
                  <a:moveTo>
                    <a:pt x="308" y="0"/>
                  </a:moveTo>
                  <a:lnTo>
                    <a:pt x="0" y="171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34" name="Flecha 46_2"/>
            <p:cNvSpPr/>
            <p:nvPr/>
          </p:nvSpPr>
          <p:spPr>
            <a:xfrm>
              <a:off x="9523408" y="5502095"/>
              <a:ext cx="282509" cy="156949"/>
            </a:xfrm>
            <a:custGeom>
              <a:avLst/>
              <a:gdLst/>
              <a:ahLst/>
              <a:cxnLst/>
              <a:rect l="0" t="0" r="r" b="b"/>
              <a:pathLst>
                <a:path w="308" h="171" fill="none">
                  <a:moveTo>
                    <a:pt x="308" y="0"/>
                  </a:moveTo>
                  <a:lnTo>
                    <a:pt x="0" y="171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35" name="Flecha 48_2"/>
            <p:cNvSpPr/>
            <p:nvPr/>
          </p:nvSpPr>
          <p:spPr>
            <a:xfrm>
              <a:off x="10119815" y="5659044"/>
              <a:ext cx="9144" cy="345288"/>
            </a:xfrm>
            <a:custGeom>
              <a:avLst/>
              <a:gdLst/>
              <a:ahLst/>
              <a:cxnLst/>
              <a:rect l="0" t="0" r="r" b="b"/>
              <a:pathLst>
                <a:path w="10" h="377" fill="none">
                  <a:moveTo>
                    <a:pt x="0" y="0"/>
                  </a:moveTo>
                  <a:lnTo>
                    <a:pt x="0" y="377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36" name="Flecha 50_2"/>
            <p:cNvSpPr/>
            <p:nvPr/>
          </p:nvSpPr>
          <p:spPr>
            <a:xfrm>
              <a:off x="10119815" y="5659044"/>
              <a:ext cx="9144" cy="345288"/>
            </a:xfrm>
            <a:custGeom>
              <a:avLst/>
              <a:gdLst/>
              <a:ahLst/>
              <a:cxnLst/>
              <a:rect l="0" t="0" r="r" b="b"/>
              <a:pathLst>
                <a:path w="10" h="377" fill="none">
                  <a:moveTo>
                    <a:pt x="0" y="0"/>
                  </a:moveTo>
                  <a:lnTo>
                    <a:pt x="0" y="377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37" name="Flecha 52_2"/>
            <p:cNvSpPr/>
            <p:nvPr/>
          </p:nvSpPr>
          <p:spPr>
            <a:xfrm>
              <a:off x="10433713" y="5502095"/>
              <a:ext cx="282509" cy="156949"/>
            </a:xfrm>
            <a:custGeom>
              <a:avLst/>
              <a:gdLst/>
              <a:ahLst/>
              <a:cxnLst/>
              <a:rect l="0" t="0" r="r" b="b"/>
              <a:pathLst>
                <a:path w="308" h="171" fill="none">
                  <a:moveTo>
                    <a:pt x="0" y="0"/>
                  </a:moveTo>
                  <a:lnTo>
                    <a:pt x="308" y="171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38" name="Flecha 54_2"/>
            <p:cNvSpPr/>
            <p:nvPr/>
          </p:nvSpPr>
          <p:spPr>
            <a:xfrm>
              <a:off x="10433713" y="5502095"/>
              <a:ext cx="282509" cy="156949"/>
            </a:xfrm>
            <a:custGeom>
              <a:avLst/>
              <a:gdLst/>
              <a:ahLst/>
              <a:cxnLst/>
              <a:rect l="0" t="0" r="r" b="b"/>
              <a:pathLst>
                <a:path w="308" h="171" fill="none">
                  <a:moveTo>
                    <a:pt x="0" y="0"/>
                  </a:moveTo>
                  <a:lnTo>
                    <a:pt x="308" y="171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39" name="Flecha 56_2"/>
            <p:cNvSpPr/>
            <p:nvPr/>
          </p:nvSpPr>
          <p:spPr>
            <a:xfrm>
              <a:off x="9523408" y="4968467"/>
              <a:ext cx="282509" cy="188339"/>
            </a:xfrm>
            <a:custGeom>
              <a:avLst/>
              <a:gdLst/>
              <a:ahLst/>
              <a:cxnLst/>
              <a:rect l="0" t="0" r="r" b="b"/>
              <a:pathLst>
                <a:path w="308" h="205" fill="none">
                  <a:moveTo>
                    <a:pt x="308" y="205"/>
                  </a:moveTo>
                  <a:lnTo>
                    <a:pt x="0" y="0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40" name="Flecha 58_2"/>
            <p:cNvSpPr/>
            <p:nvPr/>
          </p:nvSpPr>
          <p:spPr>
            <a:xfrm>
              <a:off x="9523408" y="4968467"/>
              <a:ext cx="282509" cy="188339"/>
            </a:xfrm>
            <a:custGeom>
              <a:avLst/>
              <a:gdLst/>
              <a:ahLst/>
              <a:cxnLst/>
              <a:rect l="0" t="0" r="r" b="b"/>
              <a:pathLst>
                <a:path w="308" h="205" fill="none">
                  <a:moveTo>
                    <a:pt x="308" y="205"/>
                  </a:moveTo>
                  <a:lnTo>
                    <a:pt x="0" y="0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41" name="Flecha 60_2"/>
            <p:cNvSpPr/>
            <p:nvPr/>
          </p:nvSpPr>
          <p:spPr>
            <a:xfrm>
              <a:off x="9240899" y="4968467"/>
              <a:ext cx="282509" cy="156949"/>
            </a:xfrm>
            <a:custGeom>
              <a:avLst/>
              <a:gdLst/>
              <a:ahLst/>
              <a:cxnLst/>
              <a:rect l="0" t="0" r="r" b="b"/>
              <a:pathLst>
                <a:path w="308" h="171" fill="none">
                  <a:moveTo>
                    <a:pt x="308" y="0"/>
                  </a:moveTo>
                  <a:lnTo>
                    <a:pt x="0" y="171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42" name="Flecha 62_2"/>
            <p:cNvSpPr/>
            <p:nvPr/>
          </p:nvSpPr>
          <p:spPr>
            <a:xfrm>
              <a:off x="9240899" y="4968467"/>
              <a:ext cx="282509" cy="156949"/>
            </a:xfrm>
            <a:custGeom>
              <a:avLst/>
              <a:gdLst/>
              <a:ahLst/>
              <a:cxnLst/>
              <a:rect l="0" t="0" r="r" b="b"/>
              <a:pathLst>
                <a:path w="308" h="171" fill="none">
                  <a:moveTo>
                    <a:pt x="308" y="0"/>
                  </a:moveTo>
                  <a:lnTo>
                    <a:pt x="0" y="171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43" name="Flecha 64_2"/>
            <p:cNvSpPr/>
            <p:nvPr/>
          </p:nvSpPr>
          <p:spPr>
            <a:xfrm>
              <a:off x="9272289" y="5533485"/>
              <a:ext cx="251119" cy="125559"/>
            </a:xfrm>
            <a:custGeom>
              <a:avLst/>
              <a:gdLst/>
              <a:ahLst/>
              <a:cxnLst/>
              <a:rect l="0" t="0" r="r" b="b"/>
              <a:pathLst>
                <a:path w="274" h="137" fill="none">
                  <a:moveTo>
                    <a:pt x="274" y="137"/>
                  </a:moveTo>
                  <a:lnTo>
                    <a:pt x="0" y="0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44" name="Flecha 66_2"/>
            <p:cNvSpPr/>
            <p:nvPr/>
          </p:nvSpPr>
          <p:spPr>
            <a:xfrm>
              <a:off x="9272289" y="5533485"/>
              <a:ext cx="251119" cy="125559"/>
            </a:xfrm>
            <a:custGeom>
              <a:avLst/>
              <a:gdLst/>
              <a:ahLst/>
              <a:cxnLst/>
              <a:rect l="0" t="0" r="r" b="b"/>
              <a:pathLst>
                <a:path w="274" h="137" fill="none">
                  <a:moveTo>
                    <a:pt x="274" y="137"/>
                  </a:moveTo>
                  <a:lnTo>
                    <a:pt x="0" y="0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45" name="Flecha 68_2"/>
            <p:cNvSpPr/>
            <p:nvPr/>
          </p:nvSpPr>
          <p:spPr>
            <a:xfrm>
              <a:off x="10716222" y="5533485"/>
              <a:ext cx="251119" cy="125559"/>
            </a:xfrm>
            <a:custGeom>
              <a:avLst/>
              <a:gdLst/>
              <a:ahLst/>
              <a:cxnLst/>
              <a:rect l="0" t="0" r="r" b="b"/>
              <a:pathLst>
                <a:path w="274" h="137" fill="none">
                  <a:moveTo>
                    <a:pt x="0" y="137"/>
                  </a:moveTo>
                  <a:lnTo>
                    <a:pt x="274" y="0"/>
                  </a:lnTo>
                </a:path>
              </a:pathLst>
            </a:custGeom>
            <a:noFill/>
            <a:ln w="69755" cap="rnd">
              <a:solidFill>
                <a:srgbClr val="B9B9B9"/>
              </a:solidFill>
              <a:round/>
            </a:ln>
          </p:spPr>
        </p:sp>
        <p:sp>
          <p:nvSpPr>
            <p:cNvPr id="46" name="Flecha 70_2"/>
            <p:cNvSpPr/>
            <p:nvPr/>
          </p:nvSpPr>
          <p:spPr>
            <a:xfrm>
              <a:off x="10716222" y="5533485"/>
              <a:ext cx="251119" cy="125559"/>
            </a:xfrm>
            <a:custGeom>
              <a:avLst/>
              <a:gdLst/>
              <a:ahLst/>
              <a:cxnLst/>
              <a:rect l="0" t="0" r="r" b="b"/>
              <a:pathLst>
                <a:path w="274" h="137" fill="none">
                  <a:moveTo>
                    <a:pt x="0" y="137"/>
                  </a:moveTo>
                  <a:lnTo>
                    <a:pt x="274" y="0"/>
                  </a:lnTo>
                </a:path>
              </a:pathLst>
            </a:custGeom>
            <a:noFill/>
            <a:ln w="39237" cap="rnd">
              <a:solidFill>
                <a:srgbClr val="FFFFFF"/>
              </a:solidFill>
              <a:round/>
            </a:ln>
          </p:spPr>
        </p:sp>
        <p:sp>
          <p:nvSpPr>
            <p:cNvPr id="47" name="Forma 72"/>
            <p:cNvSpPr/>
            <p:nvPr/>
          </p:nvSpPr>
          <p:spPr>
            <a:xfrm>
              <a:off x="9193858" y="5455054"/>
              <a:ext cx="156861" cy="1568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73"/>
            <p:cNvSpPr/>
            <p:nvPr/>
          </p:nvSpPr>
          <p:spPr>
            <a:xfrm>
              <a:off x="10888910" y="5455054"/>
              <a:ext cx="156861" cy="1568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9" name="Forma 74"/>
            <p:cNvSpPr/>
            <p:nvPr/>
          </p:nvSpPr>
          <p:spPr>
            <a:xfrm>
              <a:off x="9679415" y="5375594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0" name="Forma 75"/>
            <p:cNvSpPr/>
            <p:nvPr/>
          </p:nvSpPr>
          <p:spPr>
            <a:xfrm>
              <a:off x="9993314" y="5532543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1" name="Forma 76"/>
            <p:cNvSpPr/>
            <p:nvPr/>
          </p:nvSpPr>
          <p:spPr>
            <a:xfrm>
              <a:off x="10307212" y="5375594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2" name="Forma 77"/>
            <p:cNvSpPr/>
            <p:nvPr/>
          </p:nvSpPr>
          <p:spPr>
            <a:xfrm>
              <a:off x="10307212" y="5030305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3" name="Forma 78"/>
            <p:cNvSpPr/>
            <p:nvPr/>
          </p:nvSpPr>
          <p:spPr>
            <a:xfrm>
              <a:off x="9993314" y="4873356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4" name="Forma 79"/>
            <p:cNvSpPr/>
            <p:nvPr/>
          </p:nvSpPr>
          <p:spPr>
            <a:xfrm>
              <a:off x="9679415" y="5030305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5" name="Forma 80"/>
            <p:cNvSpPr/>
            <p:nvPr/>
          </p:nvSpPr>
          <p:spPr>
            <a:xfrm>
              <a:off x="9396907" y="5532543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6" name="Forma 81"/>
            <p:cNvSpPr/>
            <p:nvPr/>
          </p:nvSpPr>
          <p:spPr>
            <a:xfrm>
              <a:off x="9993314" y="5877831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7" name="Forma 82"/>
            <p:cNvSpPr/>
            <p:nvPr/>
          </p:nvSpPr>
          <p:spPr>
            <a:xfrm>
              <a:off x="10589721" y="5532543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8" name="Forma 83"/>
            <p:cNvSpPr/>
            <p:nvPr/>
          </p:nvSpPr>
          <p:spPr>
            <a:xfrm>
              <a:off x="9396907" y="4841966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9" name="Forma 84"/>
            <p:cNvSpPr/>
            <p:nvPr/>
          </p:nvSpPr>
          <p:spPr>
            <a:xfrm>
              <a:off x="9114398" y="4998916"/>
              <a:ext cx="253002" cy="25300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REDOX EN QUÍMICA ORGÁNICA: HIDRÓGENOS Y OXÍGENOS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6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Def potencial"/>
          <p:cNvGrpSpPr/>
          <p:nvPr/>
        </p:nvGrpSpPr>
        <p:grpSpPr>
          <a:xfrm>
            <a:off x="365760" y="1097280"/>
            <a:ext cx="3657600" cy="2286000"/>
            <a:chOff x="365760" y="1097280"/>
            <a:chExt cx="3657600" cy="2286000"/>
          </a:xfrm>
        </p:grpSpPr>
        <p:sp>
          <p:nvSpPr>
            <p:cNvPr id="6" name="Forma 5"/>
            <p:cNvSpPr/>
            <p:nvPr/>
          </p:nvSpPr>
          <p:spPr>
            <a:xfrm>
              <a:off x="365760" y="1298448"/>
              <a:ext cx="3657600" cy="20848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Cuantifica la tendencia de una sustancia a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ganar o perder electrones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Se mide en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voltios (V)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493776" y="1097280"/>
              <a:ext cx="122569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8" name="Positivo"/>
          <p:cNvGrpSpPr/>
          <p:nvPr/>
        </p:nvGrpSpPr>
        <p:grpSpPr>
          <a:xfrm>
            <a:off x="4343400" y="1097280"/>
            <a:ext cx="3657600" cy="2651760"/>
            <a:chOff x="4343400" y="1097280"/>
            <a:chExt cx="3657600" cy="2651760"/>
          </a:xfrm>
        </p:grpSpPr>
        <p:sp>
          <p:nvSpPr>
            <p:cNvPr id="9" name="Forma 8"/>
            <p:cNvSpPr/>
            <p:nvPr/>
          </p:nvSpPr>
          <p:spPr>
            <a:xfrm>
              <a:off x="4343400" y="1298448"/>
              <a:ext cx="3657600" cy="245059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tendencia 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aceptar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electrones: se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actúa como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agente oxidante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es-AR" sz="20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(+0,82 V)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471416" y="1097280"/>
              <a:ext cx="1612517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POSITIVO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1" name="Negativo"/>
          <p:cNvGrpSpPr/>
          <p:nvPr/>
        </p:nvGrpSpPr>
        <p:grpSpPr>
          <a:xfrm>
            <a:off x="8275320" y="1097280"/>
            <a:ext cx="3657600" cy="2651760"/>
            <a:chOff x="8275320" y="1097280"/>
            <a:chExt cx="3657600" cy="2651760"/>
          </a:xfrm>
        </p:grpSpPr>
        <p:sp>
          <p:nvSpPr>
            <p:cNvPr id="12" name="Forma 11"/>
            <p:cNvSpPr/>
            <p:nvPr/>
          </p:nvSpPr>
          <p:spPr>
            <a:xfrm>
              <a:off x="8275320" y="1298448"/>
              <a:ext cx="3657600" cy="245059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tendencia 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ceder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electrones: se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actúa como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agente reductor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NADH (≈ −0,32 V)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8403336" y="1097280"/>
              <a:ext cx="1677692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NEGATIVO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4" name="O2 agua"/>
          <p:cNvGrpSpPr/>
          <p:nvPr/>
        </p:nvGrpSpPr>
        <p:grpSpPr>
          <a:xfrm>
            <a:off x="4480560" y="4206240"/>
            <a:ext cx="2834640" cy="384048"/>
            <a:chOff x="4480560" y="4206240"/>
            <a:chExt cx="2834640" cy="384048"/>
          </a:xfrm>
        </p:grpSpPr>
        <p:sp>
          <p:nvSpPr>
            <p:cNvPr id="15" name="O2 p"/>
            <p:cNvSpPr/>
            <p:nvPr/>
          </p:nvSpPr>
          <p:spPr>
            <a:xfrm>
              <a:off x="4480560" y="4206240"/>
              <a:ext cx="9144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5C9EC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Flecha 15_2"/>
            <p:cNvSpPr/>
            <p:nvPr/>
          </p:nvSpPr>
          <p:spPr>
            <a:xfrm>
              <a:off x="5486400" y="4398264"/>
              <a:ext cx="731520" cy="9144"/>
            </a:xfrm>
            <a:custGeom>
              <a:avLst/>
              <a:gdLst/>
              <a:ahLst/>
              <a:cxnLst/>
              <a:rect l="0" t="0" r="r" b="b"/>
              <a:pathLst>
                <a:path w="799" h="10" fill="none">
                  <a:moveTo>
                    <a:pt x="0" y="0"/>
                  </a:moveTo>
                  <a:lnTo>
                    <a:pt x="799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7" name="H2O p"/>
            <p:cNvSpPr/>
            <p:nvPr/>
          </p:nvSpPr>
          <p:spPr>
            <a:xfrm>
              <a:off x="6309360" y="4206240"/>
              <a:ext cx="100584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FD6F0"/>
                </a:gs>
                <a:gs pos="55000">
                  <a:srgbClr val="85C1E9"/>
                </a:gs>
                <a:gs pos="100000">
                  <a:srgbClr val="6A9AB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26074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8" name="Oxígeno aceptor"/>
          <p:cNvSpPr/>
          <p:nvPr/>
        </p:nvSpPr>
        <p:spPr>
          <a:xfrm>
            <a:off x="4343400" y="4892040"/>
            <a:ext cx="75895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oxígeno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es el aceptor final de la cadena respiratoria: tiene el potencial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positivo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acepta los electrones, se reduce y forma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20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Por eso respiramos oxígeno.</a:t>
            </a:r>
            <a:endParaRPr lang="es-AR" sz="2000" dirty="0">
              <a:latin typeface="Calibri"/>
            </a:endParaRPr>
          </a:p>
        </p:txBody>
      </p:sp>
      <p:grpSp>
        <p:nvGrpSpPr>
          <p:cNvPr id="19" name="Rigor notación"/>
          <p:cNvGrpSpPr/>
          <p:nvPr/>
        </p:nvGrpSpPr>
        <p:grpSpPr>
          <a:xfrm>
            <a:off x="365760" y="3611880"/>
            <a:ext cx="3657600" cy="2834640"/>
            <a:chOff x="365760" y="3611880"/>
            <a:chExt cx="3657600" cy="2834640"/>
          </a:xfrm>
        </p:grpSpPr>
        <p:sp>
          <p:nvSpPr>
            <p:cNvPr id="20" name="Forma 20"/>
            <p:cNvSpPr/>
            <p:nvPr/>
          </p:nvSpPr>
          <p:spPr>
            <a:xfrm>
              <a:off x="365760" y="3813048"/>
              <a:ext cx="3657600" cy="26334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Notación: el valor de cada par es su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potencial de reducción estándar (E°′)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ΔE°′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 la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diferencia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entre el aceptor y el dador.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1" name="Forma 21"/>
            <p:cNvSpPr/>
            <p:nvPr/>
          </p:nvSpPr>
          <p:spPr>
            <a:xfrm>
              <a:off x="493776" y="36118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POTENCIAL REDOX: LA TENDENCIA A GANAR O CEDER ELECTRONES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Escala redox"/>
          <p:cNvGrpSpPr/>
          <p:nvPr/>
        </p:nvGrpSpPr>
        <p:grpSpPr>
          <a:xfrm>
            <a:off x="45720" y="1188720"/>
            <a:ext cx="1325880" cy="5120640"/>
            <a:chOff x="45720" y="1188720"/>
            <a:chExt cx="1325880" cy="5120640"/>
          </a:xfrm>
        </p:grpSpPr>
        <p:sp>
          <p:nvSpPr>
            <p:cNvPr id="6" name="Forma 5"/>
            <p:cNvSpPr/>
            <p:nvPr/>
          </p:nvSpPr>
          <p:spPr>
            <a:xfrm>
              <a:off x="914400" y="1234440"/>
              <a:ext cx="457200" cy="5029200"/>
            </a:xfrm>
            <a:prstGeom prst="rect">
              <a:avLst/>
            </a:prstGeom>
            <a:gradFill rotWithShape="1">
              <a:gsLst>
                <a:gs pos="0">
                  <a:srgbClr val="F5B7B1"/>
                </a:gs>
                <a:gs pos="50000">
                  <a:srgbClr val="FDFEFE"/>
                </a:gs>
                <a:gs pos="100000">
                  <a:srgbClr val="A9DFBF"/>
                </a:gs>
              </a:gsLst>
              <a:lin ang="540000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7" name="Forma 6"/>
            <p:cNvSpPr txBox="1"/>
            <p:nvPr/>
          </p:nvSpPr>
          <p:spPr>
            <a:xfrm>
              <a:off x="45720" y="1188720"/>
              <a:ext cx="868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más</a:t>
              </a:r>
              <a:endParaRPr lang="es-AR" sz="12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reductor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 txBox="1"/>
            <p:nvPr/>
          </p:nvSpPr>
          <p:spPr>
            <a:xfrm>
              <a:off x="45720" y="5760720"/>
              <a:ext cx="86868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más</a:t>
              </a:r>
              <a:endParaRPr lang="es-AR" sz="12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oxidante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9" name="Par H2 / H+"/>
          <p:cNvGrpSpPr/>
          <p:nvPr/>
        </p:nvGrpSpPr>
        <p:grpSpPr>
          <a:xfrm>
            <a:off x="1371600" y="1140186"/>
            <a:ext cx="3886200" cy="420624"/>
            <a:chOff x="1371600" y="1140186"/>
            <a:chExt cx="3886200" cy="420624"/>
          </a:xfrm>
        </p:grpSpPr>
        <p:sp>
          <p:nvSpPr>
            <p:cNvPr id="10" name="Flecha 9_2"/>
            <p:cNvSpPr/>
            <p:nvPr/>
          </p:nvSpPr>
          <p:spPr>
            <a:xfrm>
              <a:off x="1371600" y="1350498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500" h="10" fill="none">
                  <a:moveTo>
                    <a:pt x="0" y="0"/>
                  </a:moveTo>
                  <a:lnTo>
                    <a:pt x="500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11" name="Ficha H2 / H+"/>
            <p:cNvSpPr/>
            <p:nvPr/>
          </p:nvSpPr>
          <p:spPr>
            <a:xfrm>
              <a:off x="1874520" y="1140186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3E7E7"/>
                </a:gs>
                <a:gs pos="55000">
                  <a:srgbClr val="D5DBDB"/>
                </a:gs>
                <a:gs pos="100000">
                  <a:srgbClr val="AAAFAF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A6D6D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/ H</a:t>
              </a:r>
              <a:r>
                <a:rPr lang="es-AR" sz="14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2" name="Forma 12"/>
            <p:cNvSpPr txBox="1"/>
            <p:nvPr/>
          </p:nvSpPr>
          <p:spPr>
            <a:xfrm>
              <a:off x="4069080" y="116761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-0,42 V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3" name="Par NADH / NAD+"/>
          <p:cNvGrpSpPr/>
          <p:nvPr/>
        </p:nvGrpSpPr>
        <p:grpSpPr>
          <a:xfrm>
            <a:off x="1371600" y="1527048"/>
            <a:ext cx="3886200" cy="420624"/>
            <a:chOff x="1371600" y="1527048"/>
            <a:chExt cx="3886200" cy="420624"/>
          </a:xfrm>
        </p:grpSpPr>
        <p:sp>
          <p:nvSpPr>
            <p:cNvPr id="14" name="Flecha 14_2"/>
            <p:cNvSpPr/>
            <p:nvPr/>
          </p:nvSpPr>
          <p:spPr>
            <a:xfrm>
              <a:off x="1371600" y="1737360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500" h="10" fill="none">
                  <a:moveTo>
                    <a:pt x="0" y="0"/>
                  </a:moveTo>
                  <a:lnTo>
                    <a:pt x="500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15" name="Ficha NADH / NAD+"/>
            <p:cNvSpPr/>
            <p:nvPr/>
          </p:nvSpPr>
          <p:spPr>
            <a:xfrm>
              <a:off x="1874520" y="1527048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D98B4"/>
                </a:gs>
                <a:gs pos="55000">
                  <a:srgbClr val="1F618D"/>
                </a:gs>
                <a:gs pos="100000">
                  <a:srgbClr val="184D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F30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NADH / NAD</a:t>
              </a:r>
              <a:r>
                <a:rPr lang="es-AR" sz="14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Forma 17"/>
            <p:cNvSpPr txBox="1"/>
            <p:nvPr/>
          </p:nvSpPr>
          <p:spPr>
            <a:xfrm>
              <a:off x="4069080" y="1554480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-0,32 V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7" name="Par FADH2 / FAD"/>
          <p:cNvGrpSpPr/>
          <p:nvPr/>
        </p:nvGrpSpPr>
        <p:grpSpPr>
          <a:xfrm>
            <a:off x="1371600" y="2068654"/>
            <a:ext cx="3886200" cy="420624"/>
            <a:chOff x="1371600" y="2068654"/>
            <a:chExt cx="3886200" cy="420624"/>
          </a:xfrm>
        </p:grpSpPr>
        <p:sp>
          <p:nvSpPr>
            <p:cNvPr id="18" name="Flecha 19_2"/>
            <p:cNvSpPr/>
            <p:nvPr/>
          </p:nvSpPr>
          <p:spPr>
            <a:xfrm>
              <a:off x="1371600" y="2278966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500" h="10" fill="none">
                  <a:moveTo>
                    <a:pt x="0" y="0"/>
                  </a:moveTo>
                  <a:lnTo>
                    <a:pt x="500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19" name="Ficha FADH2 / FAD"/>
            <p:cNvSpPr/>
            <p:nvPr/>
          </p:nvSpPr>
          <p:spPr>
            <a:xfrm>
              <a:off x="1874520" y="2068654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681F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FADH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/ FAD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0" name="Forma 22"/>
            <p:cNvSpPr txBox="1"/>
            <p:nvPr/>
          </p:nvSpPr>
          <p:spPr>
            <a:xfrm>
              <a:off x="4069080" y="2096086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-0,18 V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1" name="Par Citocromo c"/>
          <p:cNvGrpSpPr/>
          <p:nvPr/>
        </p:nvGrpSpPr>
        <p:grpSpPr>
          <a:xfrm>
            <a:off x="1371600" y="3654786"/>
            <a:ext cx="3886200" cy="420624"/>
            <a:chOff x="1371600" y="3654786"/>
            <a:chExt cx="3886200" cy="420624"/>
          </a:xfrm>
        </p:grpSpPr>
        <p:sp>
          <p:nvSpPr>
            <p:cNvPr id="22" name="Flecha 24_2"/>
            <p:cNvSpPr/>
            <p:nvPr/>
          </p:nvSpPr>
          <p:spPr>
            <a:xfrm>
              <a:off x="1371600" y="3865098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500" h="10" fill="none">
                  <a:moveTo>
                    <a:pt x="0" y="0"/>
                  </a:moveTo>
                  <a:lnTo>
                    <a:pt x="500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23" name="Ficha Citocromo c"/>
            <p:cNvSpPr/>
            <p:nvPr/>
          </p:nvSpPr>
          <p:spPr>
            <a:xfrm>
              <a:off x="1874520" y="3654786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EBC9B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4C33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Citocromo c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4" name="Forma 27"/>
            <p:cNvSpPr txBox="1"/>
            <p:nvPr/>
          </p:nvSpPr>
          <p:spPr>
            <a:xfrm>
              <a:off x="4069080" y="3682218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+0,23 V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5" name="Par O2 / H2O"/>
          <p:cNvGrpSpPr/>
          <p:nvPr/>
        </p:nvGrpSpPr>
        <p:grpSpPr>
          <a:xfrm>
            <a:off x="1371600" y="5937270"/>
            <a:ext cx="3886200" cy="420624"/>
            <a:chOff x="1371600" y="5937270"/>
            <a:chExt cx="3886200" cy="420624"/>
          </a:xfrm>
        </p:grpSpPr>
        <p:sp>
          <p:nvSpPr>
            <p:cNvPr id="26" name="Flecha 29_2"/>
            <p:cNvSpPr/>
            <p:nvPr/>
          </p:nvSpPr>
          <p:spPr>
            <a:xfrm>
              <a:off x="1371600" y="6147582"/>
              <a:ext cx="457200" cy="9144"/>
            </a:xfrm>
            <a:custGeom>
              <a:avLst/>
              <a:gdLst/>
              <a:ahLst/>
              <a:cxnLst/>
              <a:rect l="0" t="0" r="r" b="b"/>
              <a:pathLst>
                <a:path w="500" h="10" fill="none">
                  <a:moveTo>
                    <a:pt x="0" y="0"/>
                  </a:moveTo>
                  <a:lnTo>
                    <a:pt x="500" y="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27" name="Ficha O2 / H2O"/>
            <p:cNvSpPr/>
            <p:nvPr/>
          </p:nvSpPr>
          <p:spPr>
            <a:xfrm>
              <a:off x="1874520" y="5937270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5C9EC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/ H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8" name="Forma 32"/>
            <p:cNvSpPr txBox="1"/>
            <p:nvPr/>
          </p:nvSpPr>
          <p:spPr>
            <a:xfrm>
              <a:off x="4069080" y="5964702"/>
              <a:ext cx="11887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+0,82 V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29" name="Pares intermedios"/>
          <p:cNvSpPr txBox="1"/>
          <p:nvPr/>
        </p:nvSpPr>
        <p:spPr>
          <a:xfrm>
            <a:off x="1417320" y="2810725"/>
            <a:ext cx="365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⋮</a:t>
            </a:r>
            <a:endParaRPr lang="es-AR" sz="1800" dirty="0">
              <a:latin typeface="Calibri"/>
            </a:endParaRPr>
          </a:p>
        </p:txBody>
      </p:sp>
      <p:sp>
        <p:nvSpPr>
          <p:cNvPr id="30" name="!!Electrones"/>
          <p:cNvSpPr/>
          <p:nvPr/>
        </p:nvSpPr>
        <p:spPr>
          <a:xfrm>
            <a:off x="5394960" y="1536192"/>
            <a:ext cx="402336" cy="402336"/>
          </a:xfrm>
          <a:prstGeom prst="ellipse">
            <a:avLst/>
          </a:prstGeom>
          <a:gradFill rotWithShape="1">
            <a:gsLst>
              <a:gs pos="0">
                <a:srgbClr val="F8E595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s-AR" sz="12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200" dirty="0">
              <a:latin typeface="Calibri"/>
            </a:endParaRPr>
          </a:p>
        </p:txBody>
      </p:sp>
      <p:sp>
        <p:nvSpPr>
          <p:cNvPr id="31" name="Caída de energía"/>
          <p:cNvSpPr/>
          <p:nvPr/>
        </p:nvSpPr>
        <p:spPr>
          <a:xfrm>
            <a:off x="5596128" y="1965960"/>
            <a:ext cx="9144" cy="3953022"/>
          </a:xfrm>
          <a:custGeom>
            <a:avLst/>
            <a:gdLst/>
            <a:ahLst/>
            <a:cxnLst/>
            <a:rect l="0" t="0" r="r" b="b"/>
            <a:pathLst>
              <a:path w="10" h="4323" fill="none">
                <a:moveTo>
                  <a:pt x="0" y="0"/>
                </a:moveTo>
                <a:lnTo>
                  <a:pt x="0" y="4323"/>
                </a:lnTo>
              </a:path>
            </a:pathLst>
          </a:custGeom>
          <a:noFill/>
          <a:ln w="50800" cap="rnd">
            <a:solidFill>
              <a:srgbClr val="1F3864"/>
            </a:solidFill>
            <a:round/>
            <a:tailEnd type="triangle" w="med" len="med"/>
          </a:ln>
        </p:spPr>
      </p:sp>
      <p:sp>
        <p:nvSpPr>
          <p:cNvPr id="32" name="Flujo e"/>
          <p:cNvSpPr/>
          <p:nvPr/>
        </p:nvSpPr>
        <p:spPr>
          <a:xfrm>
            <a:off x="6035040" y="2926080"/>
            <a:ext cx="2103120" cy="17373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e</a:t>
            </a:r>
            <a:r>
              <a:rPr lang="es-AR" sz="1800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fluyen del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negativo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al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positivo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liberan energía.</a:t>
            </a:r>
            <a:endParaRPr lang="es-AR" sz="1800" dirty="0">
              <a:latin typeface="Calibri"/>
            </a:endParaRPr>
          </a:p>
        </p:txBody>
      </p:sp>
      <p:grpSp>
        <p:nvGrpSpPr>
          <p:cNvPr id="33" name="Jerarquía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34" name="Forma 38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tendencia 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ceder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H</a:t>
              </a:r>
              <a:r>
                <a:rPr lang="es-AR" sz="18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&gt; NADH &gt; FADH</a:t>
              </a:r>
              <a:r>
                <a:rPr lang="es-AR" sz="18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&gt; succinato/fumarato &gt; …</a:t>
              </a:r>
              <a:endParaRPr lang="es-AR" sz="18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tendencia 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aceptar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… &gt; citocromo c &gt;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es-AR" sz="18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35" name="Forma 39"/>
            <p:cNvSpPr/>
            <p:nvPr/>
          </p:nvSpPr>
          <p:spPr>
            <a:xfrm>
              <a:off x="8677656" y="1097280"/>
              <a:ext cx="119811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JERARQUÍA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6" name="O2 mayor aceptor"/>
          <p:cNvSpPr/>
          <p:nvPr/>
        </p:nvSpPr>
        <p:spPr>
          <a:xfrm>
            <a:off x="8549640" y="406908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9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(+0,82 V) es el mayor aceptor: recibe los electrones al final de la cadena respiratoria.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ESCALA DE POTENCIALES: LA CAÍDA DE LOS ELECTRONES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6431 E" pathEditMode="relative" ptsTypes="">
                                      <p:cBhvr>
                                        <p:cTn id="45" dur="12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153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6" grpId="0" animBg="1"/>
    </p:bld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!!Fórmula Faraday"/>
          <p:cNvGrpSpPr/>
          <p:nvPr/>
        </p:nvGrpSpPr>
        <p:grpSpPr>
          <a:xfrm>
            <a:off x="548640" y="1188720"/>
            <a:ext cx="7863840" cy="1371600"/>
            <a:chOff x="548640" y="1188720"/>
            <a:chExt cx="7863840" cy="1371600"/>
          </a:xfrm>
        </p:grpSpPr>
        <p:sp>
          <p:nvSpPr>
            <p:cNvPr id="7" name="Forma 6"/>
            <p:cNvSpPr/>
            <p:nvPr/>
          </p:nvSpPr>
          <p:spPr>
            <a:xfrm>
              <a:off x="548640" y="1188720"/>
              <a:ext cx="7863840" cy="1371600"/>
            </a:xfrm>
            <a:prstGeom prst="roundRect">
              <a:avLst>
                <a:gd name="adj" fmla="val 12000"/>
              </a:avLst>
            </a:prstGeom>
            <a:solidFill>
              <a:srgbClr val="FFCC4A"/>
            </a:solidFill>
            <a:ln w="31750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91440" tIns="0" rIns="9144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4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ΔG°′ = − n · F · ΔE°′</a:t>
              </a:r>
              <a:endParaRPr lang="es-AR" sz="4400" dirty="0">
                <a:latin typeface="Calibri"/>
              </a:endParaRPr>
            </a:p>
          </p:txBody>
        </p:sp>
      </p:grpSp>
      <p:sp>
        <p:nvSpPr>
          <p:cNvPr id="8" name="Término n"/>
          <p:cNvSpPr/>
          <p:nvPr/>
        </p:nvSpPr>
        <p:spPr>
          <a:xfrm>
            <a:off x="548640" y="2788920"/>
            <a:ext cx="2514600" cy="1600200"/>
          </a:xfrm>
          <a:prstGeom prst="roundRect">
            <a:avLst>
              <a:gd name="adj" fmla="val 9000"/>
            </a:avLst>
          </a:prstGeom>
          <a:solidFill>
            <a:srgbClr val="FCE4D6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número de electrones transferidos</a:t>
            </a:r>
            <a:endParaRPr lang="es-AR" sz="1950" dirty="0">
              <a:latin typeface="Calibri"/>
            </a:endParaRPr>
          </a:p>
        </p:txBody>
      </p:sp>
      <p:sp>
        <p:nvSpPr>
          <p:cNvPr id="9" name="Término F"/>
          <p:cNvSpPr/>
          <p:nvPr/>
        </p:nvSpPr>
        <p:spPr>
          <a:xfrm>
            <a:off x="3200400" y="2788920"/>
            <a:ext cx="2514600" cy="160020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constante de Faraday: 96 500 C/mol</a:t>
            </a:r>
            <a:endParaRPr lang="es-AR" sz="1950" dirty="0">
              <a:latin typeface="Calibri"/>
            </a:endParaRPr>
          </a:p>
        </p:txBody>
      </p:sp>
      <p:sp>
        <p:nvSpPr>
          <p:cNvPr id="10" name="Término ΔE°′"/>
          <p:cNvSpPr/>
          <p:nvPr/>
        </p:nvSpPr>
        <p:spPr>
          <a:xfrm>
            <a:off x="5852160" y="2788920"/>
            <a:ext cx="2514600" cy="160020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ΔE°′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diferencia de potencial entre oxidante y reductor</a:t>
            </a:r>
            <a:endParaRPr lang="es-AR" sz="1950" dirty="0">
              <a:latin typeface="Calibri"/>
            </a:endParaRPr>
          </a:p>
        </p:txBody>
      </p:sp>
      <p:sp>
        <p:nvSpPr>
          <p:cNvPr id="11" name="Signo"/>
          <p:cNvSpPr/>
          <p:nvPr/>
        </p:nvSpPr>
        <p:spPr>
          <a:xfrm>
            <a:off x="548640" y="4617720"/>
            <a:ext cx="7863840" cy="86868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ΔE°′ &gt; 0 → ΔG°′ &lt; 0 → la reacción redox es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espontánea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cuanto mayor el ΔE°′,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energía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se libera.</a:t>
            </a:r>
            <a:endParaRPr lang="es-AR" sz="2000" dirty="0">
              <a:latin typeface="Calibri"/>
            </a:endParaRPr>
          </a:p>
        </p:txBody>
      </p:sp>
      <p:sp>
        <p:nvSpPr>
          <p:cNvPr id="12" name="Ejemplo NADH"/>
          <p:cNvSpPr/>
          <p:nvPr/>
        </p:nvSpPr>
        <p:spPr>
          <a:xfrm>
            <a:off x="548640" y="5623560"/>
            <a:ext cx="7863840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Ejemplo: la oxidación del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NADH por O</a:t>
            </a:r>
            <a:r>
              <a:rPr lang="es-AR" sz="19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tiene el mayor ΔE°′ de la cadena respiratoria → libera la mayor cantidad de energía.</a:t>
            </a:r>
            <a:endParaRPr lang="es-AR" sz="1900" dirty="0">
              <a:latin typeface="Calibri"/>
            </a:endParaRPr>
          </a:p>
        </p:txBody>
      </p:sp>
      <p:grpSp>
        <p:nvGrpSpPr>
          <p:cNvPr id="13" name="Cálculo"/>
          <p:cNvGrpSpPr/>
          <p:nvPr/>
        </p:nvGrpSpPr>
        <p:grpSpPr>
          <a:xfrm>
            <a:off x="8732520" y="1188720"/>
            <a:ext cx="3200400" cy="5257800"/>
            <a:chOff x="8732520" y="1188720"/>
            <a:chExt cx="3200400" cy="5257800"/>
          </a:xfrm>
        </p:grpSpPr>
        <p:sp>
          <p:nvSpPr>
            <p:cNvPr id="14" name="Forma 13"/>
            <p:cNvSpPr/>
            <p:nvPr/>
          </p:nvSpPr>
          <p:spPr>
            <a:xfrm>
              <a:off x="8732520" y="1389888"/>
              <a:ext cx="3200400" cy="505663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Cálculo con los valores de la escala</a:t>
              </a:r>
              <a:endParaRPr lang="es-AR" sz="20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ΔE°′ = (+0,82) − (−0,32) =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1,14 V</a:t>
              </a:r>
              <a:endParaRPr lang="es-AR" sz="20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ΔG°′ = −2 × 96 500 × 1,14</a:t>
              </a:r>
              <a:endParaRPr lang="es-AR" sz="20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≈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−220 kJ/mol</a:t>
              </a:r>
              <a:endParaRPr lang="es-AR" sz="20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(≈ −52,6 kcal/mol)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8860536" y="1188720"/>
              <a:ext cx="125968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APLICACIÓN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ΔG Y ΔE°′: LA CONEXIÓN TERMODINÁMICA</a:t>
            </a:r>
            <a:endParaRPr lang="es-AR" sz="22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1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!!NAD+"/>
          <p:cNvGrpSpPr/>
          <p:nvPr/>
        </p:nvGrpSpPr>
        <p:grpSpPr>
          <a:xfrm>
            <a:off x="365760" y="1463040"/>
            <a:ext cx="1737360" cy="1691640"/>
            <a:chOff x="365760" y="1463040"/>
            <a:chExt cx="1737360" cy="1691640"/>
          </a:xfrm>
        </p:grpSpPr>
        <p:sp>
          <p:nvSpPr>
            <p:cNvPr id="6" name="Forma 5"/>
            <p:cNvSpPr/>
            <p:nvPr/>
          </p:nvSpPr>
          <p:spPr>
            <a:xfrm>
              <a:off x="640080" y="1463040"/>
              <a:ext cx="1188720" cy="1188720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CEE6F6"/>
                </a:gs>
                <a:gs pos="55000">
                  <a:srgbClr val="AED6F1"/>
                </a:gs>
                <a:gs pos="100000">
                  <a:srgbClr val="8BABC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B4F7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r>
                <a:rPr lang="es-AR" sz="18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7" name="Forma 6"/>
            <p:cNvSpPr txBox="1"/>
            <p:nvPr/>
          </p:nvSpPr>
          <p:spPr>
            <a:xfrm>
              <a:off x="365760" y="2743200"/>
              <a:ext cx="173736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2000" b="1" baseline="30000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000" dirty="0">
                <a:latin typeface="Calibri"/>
              </a:endParaRPr>
            </a:p>
          </p:txBody>
        </p:sp>
      </p:grpSp>
      <p:sp>
        <p:nvSpPr>
          <p:cNvPr id="8" name="!!Hidruro"/>
          <p:cNvSpPr/>
          <p:nvPr/>
        </p:nvSpPr>
        <p:spPr>
          <a:xfrm>
            <a:off x="2377440" y="1783080"/>
            <a:ext cx="548640" cy="548640"/>
          </a:xfrm>
          <a:prstGeom prst="ellipse">
            <a:avLst/>
          </a:prstGeom>
          <a:gradFill rotWithShape="1">
            <a:gsLst>
              <a:gs pos="0">
                <a:srgbClr val="F8E595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s-AR" sz="14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lang="es-AR" sz="1400" dirty="0">
              <a:latin typeface="Calibri"/>
            </a:endParaRPr>
          </a:p>
        </p:txBody>
      </p:sp>
      <p:grpSp>
        <p:nvGrpSpPr>
          <p:cNvPr id="9" name="!!NADH"/>
          <p:cNvGrpSpPr/>
          <p:nvPr/>
        </p:nvGrpSpPr>
        <p:grpSpPr>
          <a:xfrm>
            <a:off x="3749040" y="1463040"/>
            <a:ext cx="1737360" cy="1691640"/>
            <a:chOff x="3749040" y="1463040"/>
            <a:chExt cx="1737360" cy="1691640"/>
          </a:xfrm>
        </p:grpSpPr>
        <p:sp>
          <p:nvSpPr>
            <p:cNvPr id="10" name="Forma 9"/>
            <p:cNvSpPr/>
            <p:nvPr/>
          </p:nvSpPr>
          <p:spPr>
            <a:xfrm>
              <a:off x="4023360" y="1463040"/>
              <a:ext cx="1188720" cy="1188720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6290AF"/>
                </a:gs>
                <a:gs pos="55000">
                  <a:srgbClr val="1F618D"/>
                </a:gs>
                <a:gs pos="100000">
                  <a:srgbClr val="184D7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0B2545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N–H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1" name="Forma 10"/>
            <p:cNvSpPr txBox="1"/>
            <p:nvPr/>
          </p:nvSpPr>
          <p:spPr>
            <a:xfrm>
              <a:off x="3749040" y="2743200"/>
              <a:ext cx="173736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NADH</a:t>
              </a:r>
              <a:endParaRPr lang="es-AR" sz="2000" dirty="0">
                <a:latin typeface="Calibri"/>
              </a:endParaRPr>
            </a:p>
          </p:txBody>
        </p:sp>
      </p:grpSp>
      <p:sp>
        <p:nvSpPr>
          <p:cNvPr id="12" name="Reducción NAD"/>
          <p:cNvSpPr/>
          <p:nvPr/>
        </p:nvSpPr>
        <p:spPr>
          <a:xfrm>
            <a:off x="1920240" y="2057400"/>
            <a:ext cx="2011680" cy="9144"/>
          </a:xfrm>
          <a:custGeom>
            <a:avLst/>
            <a:gdLst/>
            <a:ahLst/>
            <a:cxnLst/>
            <a:rect l="0" t="0" r="r" b="b"/>
            <a:pathLst>
              <a:path w="2199" h="10" fill="none">
                <a:moveTo>
                  <a:pt x="0" y="0"/>
                </a:moveTo>
                <a:lnTo>
                  <a:pt x="2199" y="0"/>
                </a:lnTo>
              </a:path>
            </a:pathLst>
          </a:custGeom>
          <a:noFill/>
          <a:ln w="38100" cap="rnd">
            <a:solidFill>
              <a:srgbClr val="1E1E1E"/>
            </a:solidFill>
            <a:round/>
            <a:tailEnd type="triangle" w="med" len="med"/>
          </a:ln>
        </p:spPr>
      </p:sp>
      <p:grpSp>
        <p:nvGrpSpPr>
          <p:cNvPr id="13" name="!!FAD"/>
          <p:cNvGrpSpPr/>
          <p:nvPr/>
        </p:nvGrpSpPr>
        <p:grpSpPr>
          <a:xfrm>
            <a:off x="640080" y="3840480"/>
            <a:ext cx="1463040" cy="914400"/>
            <a:chOff x="640080" y="3840480"/>
            <a:chExt cx="1463040" cy="914400"/>
          </a:xfrm>
        </p:grpSpPr>
        <p:sp>
          <p:nvSpPr>
            <p:cNvPr id="14" name="Forma 13"/>
            <p:cNvSpPr/>
            <p:nvPr/>
          </p:nvSpPr>
          <p:spPr>
            <a:xfrm>
              <a:off x="640080" y="3840480"/>
              <a:ext cx="1463040" cy="9144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8E28B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D6608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15" name="!!H FAD 0"/>
          <p:cNvSpPr/>
          <p:nvPr/>
        </p:nvSpPr>
        <p:spPr>
          <a:xfrm>
            <a:off x="2331720" y="3886200"/>
            <a:ext cx="384048" cy="384048"/>
          </a:xfrm>
          <a:prstGeom prst="ellipse">
            <a:avLst/>
          </a:prstGeom>
          <a:gradFill rotWithShape="1">
            <a:gsLst>
              <a:gs pos="0">
                <a:srgbClr val="FBF1CA"/>
              </a:gs>
              <a:gs pos="55000">
                <a:srgbClr val="F9E79F"/>
              </a:gs>
              <a:gs pos="100000">
                <a:srgbClr val="C7B87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lang="es-AR" sz="1200" dirty="0">
              <a:latin typeface="Calibri"/>
            </a:endParaRPr>
          </a:p>
        </p:txBody>
      </p:sp>
      <p:sp>
        <p:nvSpPr>
          <p:cNvPr id="16" name="!!H FAD 1"/>
          <p:cNvSpPr/>
          <p:nvPr/>
        </p:nvSpPr>
        <p:spPr>
          <a:xfrm>
            <a:off x="2331720" y="4343400"/>
            <a:ext cx="384048" cy="384048"/>
          </a:xfrm>
          <a:prstGeom prst="ellipse">
            <a:avLst/>
          </a:prstGeom>
          <a:gradFill rotWithShape="1">
            <a:gsLst>
              <a:gs pos="0">
                <a:srgbClr val="FBF1CA"/>
              </a:gs>
              <a:gs pos="55000">
                <a:srgbClr val="F9E79F"/>
              </a:gs>
              <a:gs pos="100000">
                <a:srgbClr val="C7B87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lang="es-AR" sz="1200" dirty="0">
              <a:latin typeface="Calibri"/>
            </a:endParaRPr>
          </a:p>
        </p:txBody>
      </p:sp>
      <p:grpSp>
        <p:nvGrpSpPr>
          <p:cNvPr id="17" name="!!FADH2"/>
          <p:cNvGrpSpPr/>
          <p:nvPr/>
        </p:nvGrpSpPr>
        <p:grpSpPr>
          <a:xfrm>
            <a:off x="3886200" y="3840480"/>
            <a:ext cx="1463040" cy="914400"/>
            <a:chOff x="3886200" y="3840480"/>
            <a:chExt cx="1463040" cy="914400"/>
          </a:xfrm>
        </p:grpSpPr>
        <p:sp>
          <p:nvSpPr>
            <p:cNvPr id="18" name="Forma 17"/>
            <p:cNvSpPr/>
            <p:nvPr/>
          </p:nvSpPr>
          <p:spPr>
            <a:xfrm>
              <a:off x="3886200" y="3840480"/>
              <a:ext cx="1463040" cy="9144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E0C455"/>
                </a:gs>
                <a:gs pos="55000">
                  <a:srgbClr val="D4AC0D"/>
                </a:gs>
                <a:gs pos="100000">
                  <a:srgbClr val="A9890A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D6608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FADH</a:t>
              </a:r>
              <a:r>
                <a:rPr lang="es-AR" sz="18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19" name="Reducción FAD"/>
          <p:cNvSpPr/>
          <p:nvPr/>
        </p:nvSpPr>
        <p:spPr>
          <a:xfrm>
            <a:off x="2194560" y="4297680"/>
            <a:ext cx="1600200" cy="9144"/>
          </a:xfrm>
          <a:custGeom>
            <a:avLst/>
            <a:gdLst/>
            <a:ahLst/>
            <a:cxnLst/>
            <a:rect l="0" t="0" r="r" b="b"/>
            <a:pathLst>
              <a:path w="1750" h="10" fill="none">
                <a:moveTo>
                  <a:pt x="0" y="0"/>
                </a:moveTo>
                <a:lnTo>
                  <a:pt x="1750" y="0"/>
                </a:lnTo>
              </a:path>
            </a:pathLst>
          </a:custGeom>
          <a:noFill/>
          <a:ln w="38100" cap="rnd">
            <a:solidFill>
              <a:srgbClr val="1E1E1E"/>
            </a:solidFill>
            <a:round/>
            <a:tailEnd type="triangle" w="med" len="med"/>
          </a:ln>
        </p:spPr>
      </p:sp>
      <p:grpSp>
        <p:nvGrpSpPr>
          <p:cNvPr id="20" name="Caja NAD"/>
          <p:cNvGrpSpPr/>
          <p:nvPr/>
        </p:nvGrpSpPr>
        <p:grpSpPr>
          <a:xfrm>
            <a:off x="5852160" y="1097280"/>
            <a:ext cx="6080760" cy="2057400"/>
            <a:chOff x="5852160" y="1097280"/>
            <a:chExt cx="6080760" cy="2057400"/>
          </a:xfrm>
        </p:grpSpPr>
        <p:sp>
          <p:nvSpPr>
            <p:cNvPr id="21" name="Forma 20"/>
            <p:cNvSpPr/>
            <p:nvPr/>
          </p:nvSpPr>
          <p:spPr>
            <a:xfrm>
              <a:off x="5852160" y="1298448"/>
              <a:ext cx="6080760" cy="185623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205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NADH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NADH tiene más energía que el NAD</a:t>
              </a:r>
              <a:r>
                <a:rPr lang="es-AR" sz="20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porque lleva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 electrones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forma de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hidruro (H</a:t>
              </a:r>
              <a:r>
                <a:rPr lang="es-AR" sz="205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5980176" y="1097280"/>
              <a:ext cx="66466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3" name="Caja FAD"/>
          <p:cNvGrpSpPr/>
          <p:nvPr/>
        </p:nvGrpSpPr>
        <p:grpSpPr>
          <a:xfrm>
            <a:off x="5852160" y="3429000"/>
            <a:ext cx="6080760" cy="1828800"/>
            <a:chOff x="5852160" y="3429000"/>
            <a:chExt cx="6080760" cy="1828800"/>
          </a:xfrm>
        </p:grpSpPr>
        <p:sp>
          <p:nvSpPr>
            <p:cNvPr id="24" name="Forma 23"/>
            <p:cNvSpPr/>
            <p:nvPr/>
          </p:nvSpPr>
          <p:spPr>
            <a:xfrm>
              <a:off x="5852160" y="3630168"/>
              <a:ext cx="6080760" cy="162763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 → FADH</a:t>
              </a:r>
              <a:r>
                <a:rPr lang="es-AR" sz="20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acepta dos electrones (con dos protones); puede cederlos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 a uno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5980176" y="3429000"/>
              <a:ext cx="616830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6" name="Coenzimas reducidas"/>
          <p:cNvSpPr/>
          <p:nvPr/>
        </p:nvSpPr>
        <p:spPr>
          <a:xfrm>
            <a:off x="365760" y="5440680"/>
            <a:ext cx="11567160" cy="10058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coenzimas reducidas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(NADH, FADH</a:t>
            </a:r>
            <a:r>
              <a:rPr lang="es-AR" sz="20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 son la moneda energética del catabolismo: transportan electrones hacia la cadena respiratoria.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NAD</a:t>
            </a:r>
            <a:r>
              <a:rPr lang="es-AR" sz="1800" b="1" baseline="30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+</a:t>
            </a: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/NADH Y FAD/FADH</a:t>
            </a:r>
            <a:r>
              <a:rPr lang="es-AR" sz="18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2</a:t>
            </a: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: TRANSPORTADORES DE ELECTRONES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350 0.0000 E" pathEditMode="relative" ptsTypes="">
                                      <p:cBhvr>
                                        <p:cTn id="13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00 -0.0333 E" pathEditMode="relative" ptsTypes="">
                                      <p:cBhvr>
                                        <p:cTn id="46" dur="8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0" y="-1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"/>
                            </p:stCondLst>
                            <p:childTnLst>
                              <p:par>
                                <p:cTn id="4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00 -0.0667 E" pathEditMode="relative" ptsTypes="">
                                      <p:cBhvr>
                                        <p:cTn id="49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0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200"/>
                            </p:stCondLst>
                            <p:childTnLst>
                              <p:par>
                                <p:cTn id="5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1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 animBg="1"/>
      <p:bldP spid="16" grpId="0" animBg="1"/>
      <p:bldP spid="19" grpId="0" animBg="1"/>
      <p:bldP spid="26" grpId="0" animBg="1"/>
    </p:bld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Escala NAD FAD"/>
          <p:cNvGrpSpPr/>
          <p:nvPr/>
        </p:nvGrpSpPr>
        <p:grpSpPr>
          <a:xfrm>
            <a:off x="731520" y="1280160"/>
            <a:ext cx="2651760" cy="4676804"/>
            <a:chOff x="731520" y="1280160"/>
            <a:chExt cx="2651760" cy="4676804"/>
          </a:xfrm>
        </p:grpSpPr>
        <p:sp>
          <p:nvSpPr>
            <p:cNvPr id="6" name="Forma 5"/>
            <p:cNvSpPr/>
            <p:nvPr/>
          </p:nvSpPr>
          <p:spPr>
            <a:xfrm>
              <a:off x="731520" y="1280160"/>
              <a:ext cx="411480" cy="4572000"/>
            </a:xfrm>
            <a:prstGeom prst="rect">
              <a:avLst/>
            </a:prstGeom>
            <a:gradFill rotWithShape="1">
              <a:gsLst>
                <a:gs pos="0">
                  <a:srgbClr val="F5B7B1"/>
                </a:gs>
                <a:gs pos="50000">
                  <a:srgbClr val="FDFEFE"/>
                </a:gs>
                <a:gs pos="100000">
                  <a:srgbClr val="A9DFBF"/>
                </a:gs>
              </a:gsLst>
              <a:lin ang="540000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7" name="Ficha NADH −0,32 V"/>
            <p:cNvSpPr/>
            <p:nvPr/>
          </p:nvSpPr>
          <p:spPr>
            <a:xfrm>
              <a:off x="1280160" y="1527048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D98B4"/>
                </a:gs>
                <a:gs pos="55000">
                  <a:srgbClr val="1F618D"/>
                </a:gs>
                <a:gs pos="100000">
                  <a:srgbClr val="184D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F30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NADH −0,32 V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" name="Ficha FADH2 −0,18 V"/>
            <p:cNvSpPr/>
            <p:nvPr/>
          </p:nvSpPr>
          <p:spPr>
            <a:xfrm>
              <a:off x="1280160" y="2156577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681F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FADH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−0,18 V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icha O2 +0,82 V"/>
            <p:cNvSpPr/>
            <p:nvPr/>
          </p:nvSpPr>
          <p:spPr>
            <a:xfrm>
              <a:off x="1280160" y="5536340"/>
              <a:ext cx="2103120" cy="4206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5C9EC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+0,82 V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ΔE NADH"/>
          <p:cNvSpPr/>
          <p:nvPr/>
        </p:nvSpPr>
        <p:spPr>
          <a:xfrm>
            <a:off x="3749040" y="1737360"/>
            <a:ext cx="9144" cy="4009292"/>
          </a:xfrm>
          <a:custGeom>
            <a:avLst/>
            <a:gdLst/>
            <a:ahLst/>
            <a:cxnLst/>
            <a:rect l="0" t="0" r="r" b="b"/>
            <a:pathLst>
              <a:path w="10" h="4384" fill="none">
                <a:moveTo>
                  <a:pt x="0" y="0"/>
                </a:moveTo>
                <a:lnTo>
                  <a:pt x="0" y="4384"/>
                </a:lnTo>
              </a:path>
            </a:pathLst>
          </a:custGeom>
          <a:noFill/>
          <a:ln w="76200" cap="rnd">
            <a:solidFill>
              <a:srgbClr val="1F3864"/>
            </a:solidFill>
            <a:round/>
            <a:tailEnd type="triangle" w="med" len="med"/>
          </a:ln>
        </p:spPr>
      </p:sp>
      <p:sp>
        <p:nvSpPr>
          <p:cNvPr id="11" name="ΔE FADH2"/>
          <p:cNvSpPr/>
          <p:nvPr/>
        </p:nvSpPr>
        <p:spPr>
          <a:xfrm>
            <a:off x="4480560" y="2366889"/>
            <a:ext cx="9144" cy="3379763"/>
          </a:xfrm>
          <a:custGeom>
            <a:avLst/>
            <a:gdLst/>
            <a:ahLst/>
            <a:cxnLst/>
            <a:rect l="0" t="0" r="r" b="b"/>
            <a:pathLst>
              <a:path w="10" h="3696" fill="none">
                <a:moveTo>
                  <a:pt x="0" y="0"/>
                </a:moveTo>
                <a:lnTo>
                  <a:pt x="0" y="3696"/>
                </a:lnTo>
              </a:path>
            </a:pathLst>
          </a:custGeom>
          <a:noFill/>
          <a:ln w="76200" cap="rnd">
            <a:solidFill>
              <a:srgbClr val="B7950B"/>
            </a:solidFill>
            <a:round/>
            <a:tailEnd type="triangle" w="med" len="med"/>
          </a:ln>
        </p:spPr>
      </p:sp>
      <p:sp>
        <p:nvSpPr>
          <p:cNvPr id="12" name="Rótulo ΔE NADH"/>
          <p:cNvSpPr/>
          <p:nvPr/>
        </p:nvSpPr>
        <p:spPr>
          <a:xfrm>
            <a:off x="3200400" y="5883812"/>
            <a:ext cx="1103965" cy="272415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mayor ΔE°′</a:t>
            </a:r>
            <a:endParaRPr lang="es-AR" sz="1300" dirty="0">
              <a:latin typeface="Calibri"/>
            </a:endParaRPr>
          </a:p>
        </p:txBody>
      </p:sp>
      <p:sp>
        <p:nvSpPr>
          <p:cNvPr id="13" name="Explicación ΔE"/>
          <p:cNvSpPr/>
          <p:nvPr/>
        </p:nvSpPr>
        <p:spPr>
          <a:xfrm>
            <a:off x="5029200" y="1188720"/>
            <a:ext cx="3200400" cy="2514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electrones del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NADH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parten de un potencial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negativo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que los del FADH</a:t>
            </a:r>
            <a:r>
              <a:rPr lang="es-AR" sz="18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su caída hasta el O</a:t>
            </a:r>
            <a:r>
              <a:rPr lang="es-AR" sz="18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es mayor y libera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energía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sp>
        <p:nvSpPr>
          <p:cNvPr id="14" name="Rendimiento clásico"/>
          <p:cNvSpPr/>
          <p:nvPr/>
        </p:nvSpPr>
        <p:spPr>
          <a:xfrm>
            <a:off x="5029200" y="3931920"/>
            <a:ext cx="3200400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Modelo clásico de rendimiento: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 ATP por NADH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 ATP por FADH</a:t>
            </a:r>
            <a:r>
              <a:rPr lang="es-AR" sz="18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 la cadena respiratoria.</a:t>
            </a:r>
            <a:endParaRPr lang="es-AR" sz="1850" dirty="0">
              <a:latin typeface="Calibri"/>
            </a:endParaRPr>
          </a:p>
        </p:txBody>
      </p:sp>
      <p:grpSp>
        <p:nvGrpSpPr>
          <p:cNvPr id="15" name="Rigor rendimiento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16" name="Forma 15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Estimaciones actuales: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≈ 2,5 ATP/NADH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≈ 1,5 ATP/FADH</a:t>
              </a:r>
              <a:r>
                <a:rPr lang="es-AR" sz="18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La diferencia se explica por el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potencial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el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punto de ingreso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los electrones a la cadena, no por ceder los electrones «de golpe» o «de a uno».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¿POR QUÉ EL NADH RINDE MÁS ENERGÍA QUE EL FADH</a:t>
            </a:r>
            <a:r>
              <a:rPr lang="es-AR" sz="18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2</a:t>
            </a: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?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1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1" grpId="0" animBg="1"/>
      <p:bldP spid="13" grpId="0" animBg="1"/>
      <p:bldP spid="14" grpId="0" animBg="1"/>
    </p:bld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6" name="!!Macromolécula"/>
          <p:cNvGrpSpPr/>
          <p:nvPr/>
        </p:nvGrpSpPr>
        <p:grpSpPr>
          <a:xfrm>
            <a:off x="457200" y="1463040"/>
            <a:ext cx="2468880" cy="612648"/>
            <a:chOff x="457200" y="1463040"/>
            <a:chExt cx="2468880" cy="612648"/>
          </a:xfrm>
        </p:grpSpPr>
        <p:sp>
          <p:nvSpPr>
            <p:cNvPr id="7" name="Forma 6"/>
            <p:cNvSpPr/>
            <p:nvPr/>
          </p:nvSpPr>
          <p:spPr>
            <a:xfrm>
              <a:off x="457200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804672" y="16916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152144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1499616" y="16916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1847088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2194560" y="16916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2542032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B4F72"/>
              </a:solidFill>
              <a:round/>
            </a:ln>
          </p:spPr>
        </p:sp>
      </p:grpSp>
      <p:grpSp>
        <p:nvGrpSpPr>
          <p:cNvPr id="14" name="Moléculas simples"/>
          <p:cNvGrpSpPr/>
          <p:nvPr/>
        </p:nvGrpSpPr>
        <p:grpSpPr>
          <a:xfrm>
            <a:off x="411480" y="3017520"/>
            <a:ext cx="2560320" cy="365760"/>
            <a:chOff x="411480" y="3017520"/>
            <a:chExt cx="2560320" cy="365760"/>
          </a:xfrm>
        </p:grpSpPr>
        <p:sp>
          <p:nvSpPr>
            <p:cNvPr id="15" name="Ficha CO2"/>
            <p:cNvSpPr/>
            <p:nvPr/>
          </p:nvSpPr>
          <p:spPr>
            <a:xfrm>
              <a:off x="411480" y="3017520"/>
              <a:ext cx="82296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AC4C5"/>
                </a:gs>
                <a:gs pos="55000">
                  <a:srgbClr val="95A5A6"/>
                </a:gs>
                <a:gs pos="100000">
                  <a:srgbClr val="77848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A5253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lang="es-AR" sz="12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6" name="Ficha H2O"/>
            <p:cNvSpPr/>
            <p:nvPr/>
          </p:nvSpPr>
          <p:spPr>
            <a:xfrm>
              <a:off x="1280160" y="3017520"/>
              <a:ext cx="82296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FD6F0"/>
                </a:gs>
                <a:gs pos="55000">
                  <a:srgbClr val="85C1E9"/>
                </a:gs>
                <a:gs pos="100000">
                  <a:srgbClr val="6A9AB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26074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r>
                <a:rPr lang="es-AR" sz="12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7" name="Ficha NH3"/>
            <p:cNvSpPr/>
            <p:nvPr/>
          </p:nvSpPr>
          <p:spPr>
            <a:xfrm>
              <a:off x="2148840" y="3017520"/>
              <a:ext cx="82296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7C1AF"/>
                </a:gs>
                <a:gs pos="55000">
                  <a:srgbClr val="16A085"/>
                </a:gs>
                <a:gs pos="100000">
                  <a:srgbClr val="11806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B504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NH</a:t>
              </a:r>
              <a:r>
                <a:rPr lang="es-AR" sz="12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18" name="Energía obtenida"/>
          <p:cNvGrpSpPr/>
          <p:nvPr/>
        </p:nvGrpSpPr>
        <p:grpSpPr>
          <a:xfrm>
            <a:off x="411480" y="3749040"/>
            <a:ext cx="2560320" cy="365760"/>
            <a:chOff x="411480" y="3749040"/>
            <a:chExt cx="2560320" cy="365760"/>
          </a:xfrm>
        </p:grpSpPr>
        <p:sp>
          <p:nvSpPr>
            <p:cNvPr id="19" name="Ficha ATP"/>
            <p:cNvSpPr/>
            <p:nvPr/>
          </p:nvSpPr>
          <p:spPr>
            <a:xfrm>
              <a:off x="411480" y="3749040"/>
              <a:ext cx="82296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D659"/>
                </a:gs>
                <a:gs pos="55000">
                  <a:srgbClr val="FFC000"/>
                </a:gs>
                <a:gs pos="100000">
                  <a:srgbClr val="CC990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600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0" name="Ficha NADH"/>
            <p:cNvSpPr/>
            <p:nvPr/>
          </p:nvSpPr>
          <p:spPr>
            <a:xfrm>
              <a:off x="1280160" y="3749040"/>
              <a:ext cx="82296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D98B4"/>
                </a:gs>
                <a:gs pos="55000">
                  <a:srgbClr val="1F618D"/>
                </a:gs>
                <a:gs pos="100000">
                  <a:srgbClr val="184D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F30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NADH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1" name="Ficha FADH2"/>
            <p:cNvSpPr/>
            <p:nvPr/>
          </p:nvSpPr>
          <p:spPr>
            <a:xfrm>
              <a:off x="2148840" y="3749040"/>
              <a:ext cx="82296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681F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FADH</a:t>
              </a:r>
              <a:r>
                <a:rPr lang="es-AR" sz="12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200" dirty="0">
                <a:latin typeface="Calibri"/>
              </a:endParaRPr>
            </a:p>
          </p:txBody>
        </p:sp>
      </p:grpSp>
      <p:sp>
        <p:nvSpPr>
          <p:cNvPr id="22" name="Flecha catabolismo"/>
          <p:cNvSpPr/>
          <p:nvPr/>
        </p:nvSpPr>
        <p:spPr>
          <a:xfrm>
            <a:off x="1463040" y="2011680"/>
            <a:ext cx="9144" cy="914400"/>
          </a:xfrm>
          <a:custGeom>
            <a:avLst/>
            <a:gdLst/>
            <a:ahLst/>
            <a:cxnLst/>
            <a:rect l="0" t="0" r="r" b="b"/>
            <a:pathLst>
              <a:path w="10" h="1000" fill="none">
                <a:moveTo>
                  <a:pt x="0" y="0"/>
                </a:moveTo>
                <a:lnTo>
                  <a:pt x="0" y="1000"/>
                </a:lnTo>
              </a:path>
            </a:pathLst>
          </a:custGeom>
          <a:noFill/>
          <a:ln w="50800" cap="rnd">
            <a:solidFill>
              <a:srgbClr val="C00000"/>
            </a:solidFill>
            <a:round/>
            <a:tailEnd type="triangle" w="med" len="med"/>
          </a:ln>
        </p:spPr>
      </p:sp>
      <p:grpSp>
        <p:nvGrpSpPr>
          <p:cNvPr id="23" name="Precursores simples"/>
          <p:cNvGrpSpPr/>
          <p:nvPr/>
        </p:nvGrpSpPr>
        <p:grpSpPr>
          <a:xfrm>
            <a:off x="9601200" y="3840480"/>
            <a:ext cx="2194560" cy="365760"/>
            <a:chOff x="9601200" y="3840480"/>
            <a:chExt cx="2194560" cy="365760"/>
          </a:xfrm>
        </p:grpSpPr>
        <p:sp>
          <p:nvSpPr>
            <p:cNvPr id="24" name="Forma 23"/>
            <p:cNvSpPr/>
            <p:nvPr/>
          </p:nvSpPr>
          <p:spPr>
            <a:xfrm>
              <a:off x="9601200" y="3840480"/>
              <a:ext cx="365760" cy="365760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8449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10058400" y="3840480"/>
              <a:ext cx="365760" cy="365760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8449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10515600" y="3840480"/>
              <a:ext cx="365760" cy="365760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8449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10972800" y="3840480"/>
              <a:ext cx="365760" cy="365760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8449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11430000" y="3840480"/>
              <a:ext cx="365760" cy="365760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8449"/>
              </a:solidFill>
              <a:round/>
            </a:ln>
          </p:spPr>
        </p:sp>
      </p:grpSp>
      <p:grpSp>
        <p:nvGrpSpPr>
          <p:cNvPr id="29" name="Macromolécula sintetizada"/>
          <p:cNvGrpSpPr/>
          <p:nvPr/>
        </p:nvGrpSpPr>
        <p:grpSpPr>
          <a:xfrm>
            <a:off x="9509760" y="1463040"/>
            <a:ext cx="2468880" cy="612648"/>
            <a:chOff x="9509760" y="1463040"/>
            <a:chExt cx="2468880" cy="612648"/>
          </a:xfrm>
        </p:grpSpPr>
        <p:sp>
          <p:nvSpPr>
            <p:cNvPr id="30" name="Forma 29"/>
            <p:cNvSpPr/>
            <p:nvPr/>
          </p:nvSpPr>
          <p:spPr>
            <a:xfrm>
              <a:off x="9509760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45A32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9857232" y="16916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45A32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>
              <a:off x="10204704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45A32"/>
              </a:solidFill>
              <a:round/>
            </a:ln>
          </p:spPr>
        </p:sp>
        <p:sp>
          <p:nvSpPr>
            <p:cNvPr id="33" name="Forma 32"/>
            <p:cNvSpPr/>
            <p:nvPr/>
          </p:nvSpPr>
          <p:spPr>
            <a:xfrm>
              <a:off x="10552176" y="16916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45A32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10899648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45A32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>
              <a:off x="11247120" y="16916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45A32"/>
              </a:solidFill>
              <a:round/>
            </a:ln>
          </p:spPr>
        </p:sp>
        <p:sp>
          <p:nvSpPr>
            <p:cNvPr id="36" name="Forma 35"/>
            <p:cNvSpPr/>
            <p:nvPr/>
          </p:nvSpPr>
          <p:spPr>
            <a:xfrm>
              <a:off x="11594592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45A32"/>
              </a:solidFill>
              <a:round/>
            </a:ln>
          </p:spPr>
        </p:sp>
      </p:grpSp>
      <p:grpSp>
        <p:nvGrpSpPr>
          <p:cNvPr id="37" name="Energía consumida"/>
          <p:cNvGrpSpPr/>
          <p:nvPr/>
        </p:nvGrpSpPr>
        <p:grpSpPr>
          <a:xfrm>
            <a:off x="9601200" y="2926080"/>
            <a:ext cx="1920240" cy="365760"/>
            <a:chOff x="9601200" y="2926080"/>
            <a:chExt cx="1920240" cy="365760"/>
          </a:xfrm>
        </p:grpSpPr>
        <p:sp>
          <p:nvSpPr>
            <p:cNvPr id="38" name="Ficha ATP_2"/>
            <p:cNvSpPr/>
            <p:nvPr/>
          </p:nvSpPr>
          <p:spPr>
            <a:xfrm>
              <a:off x="9601200" y="2926080"/>
              <a:ext cx="82296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D659"/>
                </a:gs>
                <a:gs pos="55000">
                  <a:srgbClr val="FFC000"/>
                </a:gs>
                <a:gs pos="100000">
                  <a:srgbClr val="CC990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600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9" name="Ficha NADPH"/>
            <p:cNvSpPr/>
            <p:nvPr/>
          </p:nvSpPr>
          <p:spPr>
            <a:xfrm>
              <a:off x="10515600" y="2926080"/>
              <a:ext cx="100584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CBA8D9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573D6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NADPH</a:t>
              </a:r>
              <a:endParaRPr lang="es-AR" sz="1200" dirty="0">
                <a:latin typeface="Calibri"/>
              </a:endParaRPr>
            </a:p>
          </p:txBody>
        </p:sp>
      </p:grpSp>
      <p:sp>
        <p:nvSpPr>
          <p:cNvPr id="40" name="Flecha anabolismo"/>
          <p:cNvSpPr/>
          <p:nvPr/>
        </p:nvSpPr>
        <p:spPr>
          <a:xfrm>
            <a:off x="10698480" y="2011680"/>
            <a:ext cx="9144" cy="1783080"/>
          </a:xfrm>
          <a:custGeom>
            <a:avLst/>
            <a:gdLst/>
            <a:ahLst/>
            <a:cxnLst/>
            <a:rect l="0" t="0" r="r" b="b"/>
            <a:pathLst>
              <a:path w="10" h="1950" fill="none">
                <a:moveTo>
                  <a:pt x="0" y="1950"/>
                </a:move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4E7A30"/>
            </a:solidFill>
            <a:round/>
            <a:tailEnd type="triangle" w="med" len="med"/>
          </a:ln>
        </p:spPr>
      </p:sp>
      <p:grpSp>
        <p:nvGrpSpPr>
          <p:cNvPr id="41" name="Tabla cat anab fila 0"/>
          <p:cNvGrpSpPr/>
          <p:nvPr/>
        </p:nvGrpSpPr>
        <p:grpSpPr>
          <a:xfrm>
            <a:off x="3246120" y="1097280"/>
            <a:ext cx="6263640" cy="868680"/>
            <a:chOff x="3246120" y="1097280"/>
            <a:chExt cx="6263640" cy="868680"/>
          </a:xfrm>
        </p:grpSpPr>
        <p:sp>
          <p:nvSpPr>
            <p:cNvPr id="42" name="Forma 41"/>
            <p:cNvSpPr/>
            <p:nvPr/>
          </p:nvSpPr>
          <p:spPr>
            <a:xfrm>
              <a:off x="3246120" y="1097280"/>
              <a:ext cx="123444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endParaRPr lang="es-AR" sz="145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4480560" y="1097280"/>
              <a:ext cx="251460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CATABOLISMO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6995160" y="1097280"/>
              <a:ext cx="251460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ANABOLISMO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45" name="Tabla cat anab fila 1"/>
          <p:cNvGrpSpPr/>
          <p:nvPr/>
        </p:nvGrpSpPr>
        <p:grpSpPr>
          <a:xfrm>
            <a:off x="3246120" y="1965960"/>
            <a:ext cx="6263640" cy="868680"/>
            <a:chOff x="3246120" y="1965960"/>
            <a:chExt cx="6263640" cy="868680"/>
          </a:xfrm>
        </p:grpSpPr>
        <p:sp>
          <p:nvSpPr>
            <p:cNvPr id="46" name="Forma 45"/>
            <p:cNvSpPr/>
            <p:nvPr/>
          </p:nvSpPr>
          <p:spPr>
            <a:xfrm>
              <a:off x="3246120" y="1965960"/>
              <a:ext cx="123444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4480560" y="1965960"/>
              <a:ext cx="2514600" cy="86868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&lt; 0: espontáneo (exergónico)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48" name="Forma 47"/>
            <p:cNvSpPr/>
            <p:nvPr/>
          </p:nvSpPr>
          <p:spPr>
            <a:xfrm>
              <a:off x="6995160" y="1965960"/>
              <a:ext cx="2514600" cy="868680"/>
            </a:xfrm>
            <a:prstGeom prst="rect">
              <a:avLst/>
            </a:prstGeom>
            <a:solidFill>
              <a:srgbClr val="E9F7E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 &gt; 0: no espontáneo (endergónico)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49" name="Tabla cat anab fila 2"/>
          <p:cNvGrpSpPr/>
          <p:nvPr/>
        </p:nvGrpSpPr>
        <p:grpSpPr>
          <a:xfrm>
            <a:off x="3246120" y="2834640"/>
            <a:ext cx="6263640" cy="868680"/>
            <a:chOff x="3246120" y="2834640"/>
            <a:chExt cx="6263640" cy="868680"/>
          </a:xfrm>
        </p:grpSpPr>
        <p:sp>
          <p:nvSpPr>
            <p:cNvPr id="50" name="Forma 49"/>
            <p:cNvSpPr/>
            <p:nvPr/>
          </p:nvSpPr>
          <p:spPr>
            <a:xfrm>
              <a:off x="3246120" y="2834640"/>
              <a:ext cx="123444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Dirección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51" name="Forma 50"/>
            <p:cNvSpPr/>
            <p:nvPr/>
          </p:nvSpPr>
          <p:spPr>
            <a:xfrm>
              <a:off x="4480560" y="2834640"/>
              <a:ext cx="2514600" cy="86868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Complejas → simples (CO</a:t>
              </a:r>
              <a:r>
                <a:rPr lang="es-AR" sz="14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H</a:t>
              </a:r>
              <a:r>
                <a:rPr lang="es-AR" sz="14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O, NH</a:t>
              </a:r>
              <a:r>
                <a:rPr lang="es-AR" sz="14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52" name="Forma 51"/>
            <p:cNvSpPr/>
            <p:nvPr/>
          </p:nvSpPr>
          <p:spPr>
            <a:xfrm>
              <a:off x="6995160" y="2834640"/>
              <a:ext cx="2514600" cy="868680"/>
            </a:xfrm>
            <a:prstGeom prst="rect">
              <a:avLst/>
            </a:prstGeom>
            <a:solidFill>
              <a:srgbClr val="E9F7E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Simples → complejas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53" name="Tabla cat anab fila 3"/>
          <p:cNvGrpSpPr/>
          <p:nvPr/>
        </p:nvGrpSpPr>
        <p:grpSpPr>
          <a:xfrm>
            <a:off x="3246120" y="3703320"/>
            <a:ext cx="6263640" cy="868680"/>
            <a:chOff x="3246120" y="3703320"/>
            <a:chExt cx="6263640" cy="868680"/>
          </a:xfrm>
        </p:grpSpPr>
        <p:sp>
          <p:nvSpPr>
            <p:cNvPr id="54" name="Forma 53"/>
            <p:cNvSpPr/>
            <p:nvPr/>
          </p:nvSpPr>
          <p:spPr>
            <a:xfrm>
              <a:off x="3246120" y="3703320"/>
              <a:ext cx="123444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Energía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55" name="Forma 54"/>
            <p:cNvSpPr/>
            <p:nvPr/>
          </p:nvSpPr>
          <p:spPr>
            <a:xfrm>
              <a:off x="4480560" y="3703320"/>
              <a:ext cx="2514600" cy="86868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obtiene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(ATP, NADH, FADH</a:t>
              </a:r>
              <a:r>
                <a:rPr lang="es-AR" sz="14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56" name="Forma 55"/>
            <p:cNvSpPr/>
            <p:nvPr/>
          </p:nvSpPr>
          <p:spPr>
            <a:xfrm>
              <a:off x="6995160" y="3703320"/>
              <a:ext cx="2514600" cy="868680"/>
            </a:xfrm>
            <a:prstGeom prst="rect">
              <a:avLst/>
            </a:prstGeom>
            <a:solidFill>
              <a:srgbClr val="E9F7E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consume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(ATP, NADPH)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57" name="Tabla cat anab fila 4"/>
          <p:cNvGrpSpPr/>
          <p:nvPr/>
        </p:nvGrpSpPr>
        <p:grpSpPr>
          <a:xfrm>
            <a:off x="3246120" y="4572000"/>
            <a:ext cx="6263640" cy="868680"/>
            <a:chOff x="3246120" y="4572000"/>
            <a:chExt cx="6263640" cy="868680"/>
          </a:xfrm>
        </p:grpSpPr>
        <p:sp>
          <p:nvSpPr>
            <p:cNvPr id="58" name="Forma 57"/>
            <p:cNvSpPr/>
            <p:nvPr/>
          </p:nvSpPr>
          <p:spPr>
            <a:xfrm>
              <a:off x="3246120" y="4572000"/>
              <a:ext cx="123444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Ejemplos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4480560" y="4572000"/>
              <a:ext cx="2514600" cy="868680"/>
            </a:xfrm>
            <a:prstGeom prst="rect">
              <a:avLst/>
            </a:prstGeom>
            <a:solidFill>
              <a:srgbClr val="FCE4E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Glucólisis, ciclo de Krebs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60" name="Forma 59"/>
            <p:cNvSpPr/>
            <p:nvPr/>
          </p:nvSpPr>
          <p:spPr>
            <a:xfrm>
              <a:off x="6995160" y="4572000"/>
              <a:ext cx="2514600" cy="868680"/>
            </a:xfrm>
            <a:prstGeom prst="rect">
              <a:avLst/>
            </a:prstGeom>
            <a:solidFill>
              <a:srgbClr val="E9F7E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Síntesis de glucógeno, proteínas y ácidos grasos</a:t>
              </a:r>
              <a:endParaRPr lang="es-AR" sz="1450" dirty="0">
                <a:latin typeface="Calibri"/>
              </a:endParaRPr>
            </a:p>
          </p:txBody>
        </p:sp>
      </p:grpSp>
      <p:sp>
        <p:nvSpPr>
          <p:cNvPr id="61" name="Acoplamiento cat anab"/>
          <p:cNvSpPr/>
          <p:nvPr/>
        </p:nvSpPr>
        <p:spPr>
          <a:xfrm>
            <a:off x="3246120" y="5623560"/>
            <a:ext cx="6263640" cy="7315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anabolismo es posible porque está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acoplado al catabolismo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la energía de las reacciones degradativas paga las de síntesis.</a:t>
            </a:r>
            <a:endParaRPr lang="es-AR" sz="16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CATABOLISMO Y ANABOLISMO</a:t>
            </a:r>
            <a:endParaRPr lang="es-AR" sz="3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6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0" grpId="0" animBg="1"/>
      <p:bldP spid="61" grpId="0" animBg="1"/>
    </p:bld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Ciclo del hambre"/>
          <p:cNvGrpSpPr/>
          <p:nvPr/>
        </p:nvGrpSpPr>
        <p:grpSpPr>
          <a:xfrm>
            <a:off x="1321074" y="1307592"/>
            <a:ext cx="5221692" cy="4517136"/>
            <a:chOff x="1321074" y="1307592"/>
            <a:chExt cx="5221692" cy="4517136"/>
          </a:xfrm>
        </p:grpSpPr>
        <p:sp>
          <p:nvSpPr>
            <p:cNvPr id="6" name="Ficha Comemos"/>
            <p:cNvSpPr/>
            <p:nvPr/>
          </p:nvSpPr>
          <p:spPr>
            <a:xfrm>
              <a:off x="3063240" y="1307592"/>
              <a:ext cx="1737360" cy="4937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CB83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Comemos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 rot="1799999">
              <a:off x="4759452" y="1708141"/>
              <a:ext cx="310896" cy="310896"/>
            </a:xfrm>
            <a:prstGeom prst="rightArrow">
              <a:avLst/>
            </a:prstGeom>
            <a:solidFill>
              <a:srgbClr val="1E1E1E"/>
            </a:solidFill>
            <a:ln>
              <a:noFill/>
            </a:ln>
          </p:spPr>
        </p:sp>
        <p:sp>
          <p:nvSpPr>
            <p:cNvPr id="8" name="Ficha Catabolismo"/>
            <p:cNvSpPr/>
            <p:nvPr/>
          </p:nvSpPr>
          <p:spPr>
            <a:xfrm>
              <a:off x="4805406" y="2313432"/>
              <a:ext cx="1737360" cy="4937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5B9B2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84A4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Catabolismo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 rot="5400000">
              <a:off x="5742432" y="3410712"/>
              <a:ext cx="310896" cy="310896"/>
            </a:xfrm>
            <a:prstGeom prst="rightArrow">
              <a:avLst/>
            </a:prstGeom>
            <a:solidFill>
              <a:srgbClr val="1E1E1E"/>
            </a:solidFill>
            <a:ln>
              <a:noFill/>
            </a:ln>
          </p:spPr>
        </p:sp>
        <p:sp>
          <p:nvSpPr>
            <p:cNvPr id="10" name="Ficha Obtenemos NADH"/>
            <p:cNvSpPr/>
            <p:nvPr/>
          </p:nvSpPr>
          <p:spPr>
            <a:xfrm>
              <a:off x="4805406" y="4325112"/>
              <a:ext cx="1737360" cy="4937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D98B4"/>
                </a:gs>
                <a:gs pos="55000">
                  <a:srgbClr val="1F618D"/>
                </a:gs>
                <a:gs pos="100000">
                  <a:srgbClr val="184D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F30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Obtenemos NADH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 rot="9000000">
              <a:off x="4759452" y="5113283"/>
              <a:ext cx="310896" cy="310896"/>
            </a:xfrm>
            <a:prstGeom prst="rightArrow">
              <a:avLst/>
            </a:prstGeom>
            <a:solidFill>
              <a:srgbClr val="1E1E1E"/>
            </a:solidFill>
            <a:ln>
              <a:noFill/>
            </a:ln>
          </p:spPr>
        </p:sp>
        <p:sp>
          <p:nvSpPr>
            <p:cNvPr id="12" name="Ficha Anabolismo"/>
            <p:cNvSpPr/>
            <p:nvPr/>
          </p:nvSpPr>
          <p:spPr>
            <a:xfrm>
              <a:off x="3063240" y="5330952"/>
              <a:ext cx="1737360" cy="4937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Anabolismo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 rot="12600000">
              <a:off x="2793492" y="5113283"/>
              <a:ext cx="310896" cy="310896"/>
            </a:xfrm>
            <a:prstGeom prst="rightArrow">
              <a:avLst/>
            </a:prstGeom>
            <a:solidFill>
              <a:srgbClr val="1E1E1E"/>
            </a:solidFill>
            <a:ln>
              <a:noFill/>
            </a:ln>
          </p:spPr>
        </p:sp>
        <p:sp>
          <p:nvSpPr>
            <p:cNvPr id="14" name="Ficha Gastamos NADH"/>
            <p:cNvSpPr/>
            <p:nvPr/>
          </p:nvSpPr>
          <p:spPr>
            <a:xfrm>
              <a:off x="1321074" y="4325112"/>
              <a:ext cx="1737360" cy="4937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CAE4F5"/>
                </a:gs>
                <a:gs pos="55000">
                  <a:srgbClr val="AED6F1"/>
                </a:gs>
                <a:gs pos="100000">
                  <a:srgbClr val="8BABC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576B78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Gastamos NADH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 rot="16200000">
              <a:off x="1810512" y="3410712"/>
              <a:ext cx="310896" cy="310896"/>
            </a:xfrm>
            <a:prstGeom prst="rightArrow">
              <a:avLst/>
            </a:prstGeom>
            <a:solidFill>
              <a:srgbClr val="1E1E1E"/>
            </a:solidFill>
            <a:ln>
              <a:noFill/>
            </a:ln>
          </p:spPr>
        </p:sp>
        <p:sp>
          <p:nvSpPr>
            <p:cNvPr id="16" name="Ficha Hambre"/>
            <p:cNvSpPr/>
            <p:nvPr/>
          </p:nvSpPr>
          <p:spPr>
            <a:xfrm>
              <a:off x="1321074" y="2313432"/>
              <a:ext cx="1737360" cy="49377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9E8A1"/>
                </a:gs>
                <a:gs pos="55000">
                  <a:srgbClr val="F7DC6F"/>
                </a:gs>
                <a:gs pos="100000">
                  <a:srgbClr val="C5B058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B6E37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Hambre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 rot="19800000">
              <a:off x="2793492" y="1708141"/>
              <a:ext cx="310896" cy="310896"/>
            </a:xfrm>
            <a:prstGeom prst="rightArrow">
              <a:avLst/>
            </a:prstGeom>
            <a:solidFill>
              <a:srgbClr val="1E1E1E"/>
            </a:solidFill>
            <a:ln>
              <a:noFill/>
            </a:ln>
          </p:spPr>
        </p:sp>
      </p:grpSp>
      <p:grpSp>
        <p:nvGrpSpPr>
          <p:cNvPr id="18" name="Cat redox"/>
          <p:cNvGrpSpPr/>
          <p:nvPr/>
        </p:nvGrpSpPr>
        <p:grpSpPr>
          <a:xfrm>
            <a:off x="8549640" y="1097280"/>
            <a:ext cx="3383280" cy="2194560"/>
            <a:chOff x="8549640" y="1097280"/>
            <a:chExt cx="3383280" cy="2194560"/>
          </a:xfrm>
        </p:grpSpPr>
        <p:sp>
          <p:nvSpPr>
            <p:cNvPr id="19" name="Forma 18"/>
            <p:cNvSpPr/>
            <p:nvPr/>
          </p:nvSpPr>
          <p:spPr>
            <a:xfrm>
              <a:off x="8549640" y="1298448"/>
              <a:ext cx="3383280" cy="199339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catabolismo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se generan coenzimas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reducidas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(NADH, FADH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): se obtiene energía.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8677656" y="1097280"/>
              <a:ext cx="1436412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CATABOLISMO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Anab redox"/>
          <p:cNvGrpSpPr/>
          <p:nvPr/>
        </p:nvGrpSpPr>
        <p:grpSpPr>
          <a:xfrm>
            <a:off x="8549640" y="3520440"/>
            <a:ext cx="3383280" cy="1554480"/>
            <a:chOff x="8549640" y="3520440"/>
            <a:chExt cx="3383280" cy="1554480"/>
          </a:xfrm>
        </p:grpSpPr>
        <p:sp>
          <p:nvSpPr>
            <p:cNvPr id="22" name="Forma 21"/>
            <p:cNvSpPr/>
            <p:nvPr/>
          </p:nvSpPr>
          <p:spPr>
            <a:xfrm>
              <a:off x="8549640" y="3721608"/>
              <a:ext cx="3383280" cy="135331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el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anabolismo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las coenzimas reducidas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ceden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su energía y vuelven a la forma oxidada.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3520440"/>
              <a:ext cx="1397386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ANABOLISMO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Rigor redox cat"/>
          <p:cNvGrpSpPr/>
          <p:nvPr/>
        </p:nvGrpSpPr>
        <p:grpSpPr>
          <a:xfrm>
            <a:off x="8549640" y="5257800"/>
            <a:ext cx="3383280" cy="1188720"/>
            <a:chOff x="8549640" y="5257800"/>
            <a:chExt cx="3383280" cy="1188720"/>
          </a:xfrm>
        </p:grpSpPr>
        <p:sp>
          <p:nvSpPr>
            <p:cNvPr id="25" name="Forma 24"/>
            <p:cNvSpPr/>
            <p:nvPr/>
          </p:nvSpPr>
          <p:spPr>
            <a:xfrm>
              <a:off x="8549640" y="5458968"/>
              <a:ext cx="3383280" cy="98755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sustratos se oxidan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las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coenzimas se reducen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En las síntesis se usa sobre todo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NADPH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525780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CLAVE METABÓLICA: COENZIMAS REDUCIDAS COMO PUENTE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5" name="Vía Sustrato A"/>
          <p:cNvSpPr/>
          <p:nvPr/>
        </p:nvSpPr>
        <p:spPr>
          <a:xfrm>
            <a:off x="1005840" y="137160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FFCC4A"/>
          </a:solidFill>
          <a:ln w="12700" cap="rnd">
            <a:solidFill>
              <a:srgbClr val="1E1E1E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Sustrato A</a:t>
            </a:r>
            <a:endParaRPr lang="es-AR" sz="1500" dirty="0">
              <a:latin typeface="Calibri"/>
            </a:endParaRPr>
          </a:p>
        </p:txBody>
      </p:sp>
      <p:grpSp>
        <p:nvGrpSpPr>
          <p:cNvPr id="6" name="Vía paso 1"/>
          <p:cNvGrpSpPr/>
          <p:nvPr/>
        </p:nvGrpSpPr>
        <p:grpSpPr>
          <a:xfrm>
            <a:off x="2011680" y="1856232"/>
            <a:ext cx="9144" cy="475488"/>
            <a:chOff x="2011680" y="1856232"/>
            <a:chExt cx="9144" cy="475488"/>
          </a:xfrm>
        </p:grpSpPr>
        <p:sp>
          <p:nvSpPr>
            <p:cNvPr id="7" name="Flecha 6_2"/>
            <p:cNvSpPr/>
            <p:nvPr/>
          </p:nvSpPr>
          <p:spPr>
            <a:xfrm>
              <a:off x="2011680" y="1856232"/>
              <a:ext cx="9144" cy="475488"/>
            </a:xfrm>
            <a:custGeom>
              <a:avLst/>
              <a:gdLst/>
              <a:ahLst/>
              <a:cxnLst/>
              <a:rect l="0" t="0" r="r" b="b"/>
              <a:pathLst>
                <a:path w="10" h="520" fill="none">
                  <a:moveTo>
                    <a:pt x="0" y="0"/>
                  </a:moveTo>
                  <a:lnTo>
                    <a:pt x="0" y="520"/>
                  </a:lnTo>
                </a:path>
              </a:pathLst>
            </a:custGeom>
            <a:noFill/>
            <a:ln w="4445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sp>
        <p:nvSpPr>
          <p:cNvPr id="8" name="Vía B"/>
          <p:cNvSpPr/>
          <p:nvPr/>
        </p:nvSpPr>
        <p:spPr>
          <a:xfrm>
            <a:off x="1005840" y="2359152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12700" cap="rnd">
            <a:solidFill>
              <a:srgbClr val="1E1E1E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lang="es-AR" sz="1500" dirty="0">
              <a:latin typeface="Calibri"/>
            </a:endParaRPr>
          </a:p>
        </p:txBody>
      </p:sp>
      <p:grpSp>
        <p:nvGrpSpPr>
          <p:cNvPr id="9" name="Vía paso 2"/>
          <p:cNvGrpSpPr/>
          <p:nvPr/>
        </p:nvGrpSpPr>
        <p:grpSpPr>
          <a:xfrm>
            <a:off x="2011680" y="2843784"/>
            <a:ext cx="9144" cy="475488"/>
            <a:chOff x="2011680" y="2843784"/>
            <a:chExt cx="9144" cy="475488"/>
          </a:xfrm>
        </p:grpSpPr>
        <p:sp>
          <p:nvSpPr>
            <p:cNvPr id="10" name="Flecha 10_2"/>
            <p:cNvSpPr/>
            <p:nvPr/>
          </p:nvSpPr>
          <p:spPr>
            <a:xfrm>
              <a:off x="2011680" y="2843784"/>
              <a:ext cx="9144" cy="475488"/>
            </a:xfrm>
            <a:custGeom>
              <a:avLst/>
              <a:gdLst/>
              <a:ahLst/>
              <a:cxnLst/>
              <a:rect l="0" t="0" r="r" b="b"/>
              <a:pathLst>
                <a:path w="10" h="520" fill="none">
                  <a:moveTo>
                    <a:pt x="0" y="0"/>
                  </a:moveTo>
                  <a:lnTo>
                    <a:pt x="0" y="52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headEnd type="triangle" w="med" len="med"/>
              <a:tailEnd type="triangle" w="med" len="med"/>
            </a:ln>
          </p:spPr>
        </p:sp>
      </p:grpSp>
      <p:sp>
        <p:nvSpPr>
          <p:cNvPr id="11" name="Vía C"/>
          <p:cNvSpPr/>
          <p:nvPr/>
        </p:nvSpPr>
        <p:spPr>
          <a:xfrm>
            <a:off x="1005840" y="334670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12700" cap="rnd">
            <a:solidFill>
              <a:srgbClr val="1E1E1E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lang="es-AR" sz="1500" dirty="0">
              <a:latin typeface="Calibri"/>
            </a:endParaRPr>
          </a:p>
        </p:txBody>
      </p:sp>
      <p:grpSp>
        <p:nvGrpSpPr>
          <p:cNvPr id="12" name="Vía paso 3"/>
          <p:cNvGrpSpPr/>
          <p:nvPr/>
        </p:nvGrpSpPr>
        <p:grpSpPr>
          <a:xfrm>
            <a:off x="2011680" y="3831336"/>
            <a:ext cx="9144" cy="475488"/>
            <a:chOff x="2011680" y="3831336"/>
            <a:chExt cx="9144" cy="475488"/>
          </a:xfrm>
        </p:grpSpPr>
        <p:sp>
          <p:nvSpPr>
            <p:cNvPr id="13" name="Flecha 14_2"/>
            <p:cNvSpPr/>
            <p:nvPr/>
          </p:nvSpPr>
          <p:spPr>
            <a:xfrm>
              <a:off x="2011680" y="3831336"/>
              <a:ext cx="9144" cy="475488"/>
            </a:xfrm>
            <a:custGeom>
              <a:avLst/>
              <a:gdLst/>
              <a:ahLst/>
              <a:cxnLst/>
              <a:rect l="0" t="0" r="r" b="b"/>
              <a:pathLst>
                <a:path w="10" h="519" fill="none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headEnd type="triangle" w="med" len="med"/>
              <a:tailEnd type="triangle" w="med" len="med"/>
            </a:ln>
          </p:spPr>
        </p:sp>
      </p:grpSp>
      <p:sp>
        <p:nvSpPr>
          <p:cNvPr id="14" name="Vía D"/>
          <p:cNvSpPr/>
          <p:nvPr/>
        </p:nvSpPr>
        <p:spPr>
          <a:xfrm>
            <a:off x="1005840" y="43342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FFF2CC"/>
          </a:solidFill>
          <a:ln w="12700" cap="rnd">
            <a:solidFill>
              <a:srgbClr val="1E1E1E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lang="es-AR" sz="1500" dirty="0">
              <a:latin typeface="Calibri"/>
            </a:endParaRPr>
          </a:p>
        </p:txBody>
      </p:sp>
      <p:grpSp>
        <p:nvGrpSpPr>
          <p:cNvPr id="15" name="Vía paso 4"/>
          <p:cNvGrpSpPr/>
          <p:nvPr/>
        </p:nvGrpSpPr>
        <p:grpSpPr>
          <a:xfrm>
            <a:off x="2011680" y="4818888"/>
            <a:ext cx="9144" cy="475488"/>
            <a:chOff x="2011680" y="4818888"/>
            <a:chExt cx="9144" cy="475488"/>
          </a:xfrm>
        </p:grpSpPr>
        <p:sp>
          <p:nvSpPr>
            <p:cNvPr id="16" name="Flecha 18_2"/>
            <p:cNvSpPr/>
            <p:nvPr/>
          </p:nvSpPr>
          <p:spPr>
            <a:xfrm>
              <a:off x="2011680" y="4818888"/>
              <a:ext cx="9144" cy="475488"/>
            </a:xfrm>
            <a:custGeom>
              <a:avLst/>
              <a:gdLst/>
              <a:ahLst/>
              <a:cxnLst/>
              <a:rect l="0" t="0" r="r" b="b"/>
              <a:pathLst>
                <a:path w="10" h="519" fill="none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headEnd type="triangle" w="med" len="med"/>
              <a:tailEnd type="triangle" w="med" len="med"/>
            </a:ln>
          </p:spPr>
        </p:sp>
      </p:grpSp>
      <p:sp>
        <p:nvSpPr>
          <p:cNvPr id="17" name="Vía Producto final"/>
          <p:cNvSpPr/>
          <p:nvPr/>
        </p:nvSpPr>
        <p:spPr>
          <a:xfrm>
            <a:off x="1005840" y="532180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5F5E3"/>
          </a:solidFill>
          <a:ln w="12700" cap="rnd">
            <a:solidFill>
              <a:srgbClr val="1E1E1E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Producto final</a:t>
            </a:r>
            <a:endParaRPr lang="es-AR" sz="1500" dirty="0">
              <a:latin typeface="Calibri"/>
            </a:endParaRPr>
          </a:p>
        </p:txBody>
      </p:sp>
      <p:sp>
        <p:nvSpPr>
          <p:cNvPr id="18" name="Primer paso"/>
          <p:cNvSpPr/>
          <p:nvPr/>
        </p:nvSpPr>
        <p:spPr>
          <a:xfrm>
            <a:off x="3154680" y="1920240"/>
            <a:ext cx="1086401" cy="27241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irreversible</a:t>
            </a:r>
            <a:endParaRPr lang="es-AR" sz="1300" dirty="0">
              <a:latin typeface="Calibri"/>
            </a:endParaRPr>
          </a:p>
        </p:txBody>
      </p:sp>
      <p:sp>
        <p:nvSpPr>
          <p:cNvPr id="19" name="Pasos reversibles"/>
          <p:cNvSpPr/>
          <p:nvPr/>
        </p:nvSpPr>
        <p:spPr>
          <a:xfrm>
            <a:off x="3154680" y="3429000"/>
            <a:ext cx="1051355" cy="272415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reversibles</a:t>
            </a:r>
            <a:endParaRPr lang="es-AR" sz="1300" dirty="0">
              <a:latin typeface="Calibri"/>
            </a:endParaRPr>
          </a:p>
        </p:txBody>
      </p:sp>
      <p:sp>
        <p:nvSpPr>
          <p:cNvPr id="20" name="Reversible"/>
          <p:cNvSpPr/>
          <p:nvPr/>
        </p:nvSpPr>
        <p:spPr>
          <a:xfrm>
            <a:off x="4846320" y="1097280"/>
            <a:ext cx="7086600" cy="146304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Reversible (⇄)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puede ocurrir en ambos sentidos según las condiciones; los metabolismos tienen muchos pasos reversibles.</a:t>
            </a:r>
            <a:endParaRPr lang="es-AR" sz="2050" dirty="0">
              <a:latin typeface="Calibri"/>
            </a:endParaRPr>
          </a:p>
        </p:txBody>
      </p:sp>
      <p:sp>
        <p:nvSpPr>
          <p:cNvPr id="21" name="Irreversible"/>
          <p:cNvSpPr/>
          <p:nvPr/>
        </p:nvSpPr>
        <p:spPr>
          <a:xfrm>
            <a:off x="4846320" y="2788920"/>
            <a:ext cx="7086600" cy="14630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Irreversible (→)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ocurre en un solo sentido. Casi siempre el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primer paso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una vía es irreversible.</a:t>
            </a:r>
            <a:endParaRPr lang="es-AR" sz="2050" dirty="0">
              <a:latin typeface="Calibri"/>
            </a:endParaRPr>
          </a:p>
        </p:txBody>
      </p:sp>
      <p:grpSp>
        <p:nvGrpSpPr>
          <p:cNvPr id="22" name="Compromiso"/>
          <p:cNvGrpSpPr/>
          <p:nvPr/>
        </p:nvGrpSpPr>
        <p:grpSpPr>
          <a:xfrm>
            <a:off x="4846320" y="4480560"/>
            <a:ext cx="7086600" cy="1965960"/>
            <a:chOff x="4846320" y="4480560"/>
            <a:chExt cx="7086600" cy="1965960"/>
          </a:xfrm>
        </p:grpSpPr>
        <p:sp>
          <p:nvSpPr>
            <p:cNvPr id="23" name="Forma 26"/>
            <p:cNvSpPr/>
            <p:nvPr/>
          </p:nvSpPr>
          <p:spPr>
            <a:xfrm>
              <a:off x="4846320" y="4681728"/>
              <a:ext cx="7086600" cy="176479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¿Por qué? Para que el sustrato quede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comprometido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con esa vía y no pueda derivarse a otra: es el principal mecanismo de control.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4" name="Forma 27"/>
            <p:cNvSpPr/>
            <p:nvPr/>
          </p:nvSpPr>
          <p:spPr>
            <a:xfrm>
              <a:off x="4974336" y="4480560"/>
              <a:ext cx="145408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COMPROMISO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REACCIONES REVERSIBLES E IRREVERSIBLES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8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8" grpId="0" animBg="1"/>
      <p:bldP spid="21" grpId="0" animBg="1"/>
      <p:bldP spid="11" grpId="0" animBg="1"/>
      <p:bldP spid="14" grpId="0" animBg="1"/>
      <p:bldP spid="17" grpId="0" animBg="1"/>
      <p:bldP spid="19" grpId="0" animBg="1"/>
      <p:bldP spid="20" grpId="0" animBg="1"/>
    </p:bld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Feedback negativo"/>
          <p:cNvGrpSpPr/>
          <p:nvPr/>
        </p:nvGrpSpPr>
        <p:grpSpPr>
          <a:xfrm>
            <a:off x="457200" y="1463040"/>
            <a:ext cx="5303520" cy="1737360"/>
            <a:chOff x="457200" y="1463040"/>
            <a:chExt cx="5303520" cy="1737360"/>
          </a:xfrm>
        </p:grpSpPr>
        <p:sp>
          <p:nvSpPr>
            <p:cNvPr id="7" name="Ficha Sustrato"/>
            <p:cNvSpPr/>
            <p:nvPr/>
          </p:nvSpPr>
          <p:spPr>
            <a:xfrm>
              <a:off x="457200" y="1463040"/>
              <a:ext cx="164592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DD89"/>
                </a:gs>
                <a:gs pos="55000">
                  <a:srgbClr val="FFCC4A"/>
                </a:gs>
                <a:gs pos="100000">
                  <a:srgbClr val="CCA3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662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Sustrato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8" name="Flecha 7_2"/>
            <p:cNvSpPr/>
            <p:nvPr/>
          </p:nvSpPr>
          <p:spPr>
            <a:xfrm>
              <a:off x="2121408" y="169164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9" name="Ficha Intermediario"/>
            <p:cNvSpPr/>
            <p:nvPr/>
          </p:nvSpPr>
          <p:spPr>
            <a:xfrm>
              <a:off x="2286000" y="1463040"/>
              <a:ext cx="164592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F6DD"/>
                </a:gs>
                <a:gs pos="55000">
                  <a:srgbClr val="FFF2CC"/>
                </a:gs>
                <a:gs pos="100000">
                  <a:srgbClr val="CCC1A3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796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Intermediario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0" name="Flecha 10_2"/>
            <p:cNvSpPr/>
            <p:nvPr/>
          </p:nvSpPr>
          <p:spPr>
            <a:xfrm>
              <a:off x="3950208" y="169164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1" name="Ficha Producto final"/>
            <p:cNvSpPr/>
            <p:nvPr/>
          </p:nvSpPr>
          <p:spPr>
            <a:xfrm>
              <a:off x="4114800" y="1463040"/>
              <a:ext cx="164592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3F8EC"/>
                </a:gs>
                <a:gs pos="55000">
                  <a:srgbClr val="D5F5E3"/>
                </a:gs>
                <a:gs pos="100000">
                  <a:srgbClr val="AAC4B5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A7A7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Producto final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2" name="Primera enzima"/>
            <p:cNvSpPr/>
            <p:nvPr/>
          </p:nvSpPr>
          <p:spPr>
            <a:xfrm>
              <a:off x="548640" y="2194560"/>
              <a:ext cx="128016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 1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3" name="Retroinhibición"/>
          <p:cNvGrpSpPr/>
          <p:nvPr/>
        </p:nvGrpSpPr>
        <p:grpSpPr>
          <a:xfrm>
            <a:off x="1775889" y="1965960"/>
            <a:ext cx="3070431" cy="1325880"/>
            <a:chOff x="1775889" y="1965960"/>
            <a:chExt cx="3070431" cy="1325880"/>
          </a:xfrm>
        </p:grpSpPr>
        <p:sp>
          <p:nvSpPr>
            <p:cNvPr id="14" name="Flecha 15_2"/>
            <p:cNvSpPr/>
            <p:nvPr/>
          </p:nvSpPr>
          <p:spPr>
            <a:xfrm>
              <a:off x="1874520" y="1965960"/>
              <a:ext cx="2971800" cy="1325880"/>
            </a:xfrm>
            <a:custGeom>
              <a:avLst/>
              <a:gdLst/>
              <a:ahLst/>
              <a:cxnLst/>
              <a:rect l="0" t="0" r="r" b="b"/>
              <a:pathLst>
                <a:path w="3250" h="1450" fill="none">
                  <a:moveTo>
                    <a:pt x="3250" y="0"/>
                  </a:moveTo>
                  <a:lnTo>
                    <a:pt x="3250" y="1450"/>
                  </a:lnTo>
                  <a:lnTo>
                    <a:pt x="50" y="1450"/>
                  </a:lnTo>
                  <a:lnTo>
                    <a:pt x="0" y="1200"/>
                  </a:lnTo>
                </a:path>
              </a:pathLst>
            </a:custGeom>
            <a:noFill/>
            <a:ln w="31750" cap="rnd">
              <a:solidFill>
                <a:srgbClr val="C00000"/>
              </a:solidFill>
              <a:round/>
            </a:ln>
          </p:spPr>
        </p:sp>
        <p:sp>
          <p:nvSpPr>
            <p:cNvPr id="15" name="Flecha 17_2"/>
            <p:cNvSpPr/>
            <p:nvPr/>
          </p:nvSpPr>
          <p:spPr>
            <a:xfrm>
              <a:off x="1775889" y="3043514"/>
              <a:ext cx="197261" cy="39452"/>
            </a:xfrm>
            <a:custGeom>
              <a:avLst/>
              <a:gdLst/>
              <a:ahLst/>
              <a:cxnLst/>
              <a:rect l="0" t="0" r="r" b="b"/>
              <a:pathLst>
                <a:path w="215" h="43" fill="none">
                  <a:moveTo>
                    <a:pt x="0" y="43"/>
                  </a:moveTo>
                  <a:lnTo>
                    <a:pt x="215" y="0"/>
                  </a:lnTo>
                </a:path>
              </a:pathLst>
            </a:custGeom>
            <a:noFill/>
            <a:ln w="50800" cap="rnd">
              <a:solidFill>
                <a:srgbClr val="C00000"/>
              </a:solidFill>
              <a:round/>
            </a:ln>
          </p:spPr>
        </p:sp>
      </p:grpSp>
      <p:sp>
        <p:nvSpPr>
          <p:cNvPr id="16" name="Alostérica"/>
          <p:cNvSpPr/>
          <p:nvPr/>
        </p:nvSpPr>
        <p:spPr>
          <a:xfrm>
            <a:off x="365760" y="3657600"/>
            <a:ext cx="5486400" cy="2788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Regulación alostérica (feedback negativo)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producto final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inhibe alostéricamente a 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primera enzima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Mucho producto → se frena la vía; poco producto → se activa.</a:t>
            </a:r>
            <a:endParaRPr lang="es-AR" sz="1950" dirty="0">
              <a:latin typeface="Calibri"/>
            </a:endParaRPr>
          </a:p>
        </p:txBody>
      </p:sp>
      <p:grpSp>
        <p:nvGrpSpPr>
          <p:cNvPr id="17" name="Fosforilación"/>
          <p:cNvGrpSpPr/>
          <p:nvPr/>
        </p:nvGrpSpPr>
        <p:grpSpPr>
          <a:xfrm>
            <a:off x="6583680" y="1188720"/>
            <a:ext cx="4690872" cy="1506855"/>
            <a:chOff x="6583680" y="1188720"/>
            <a:chExt cx="4690872" cy="1506855"/>
          </a:xfrm>
        </p:grpSpPr>
        <p:sp>
          <p:nvSpPr>
            <p:cNvPr id="18" name="Enzima desfosforilada"/>
            <p:cNvSpPr/>
            <p:nvPr/>
          </p:nvSpPr>
          <p:spPr>
            <a:xfrm>
              <a:off x="6583680" y="1371600"/>
              <a:ext cx="1463040" cy="11887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895" y="570"/>
                    <a:pt x="887" y="648"/>
                    <a:pt x="853" y="704"/>
                  </a:cubicBezTo>
                  <a:cubicBezTo>
                    <a:pt x="818" y="759"/>
                    <a:pt x="749" y="788"/>
                    <a:pt x="691" y="831"/>
                  </a:cubicBezTo>
                  <a:cubicBezTo>
                    <a:pt x="632" y="874"/>
                    <a:pt x="566" y="956"/>
                    <a:pt x="500" y="962"/>
                  </a:cubicBezTo>
                  <a:cubicBezTo>
                    <a:pt x="433" y="967"/>
                    <a:pt x="352" y="904"/>
                    <a:pt x="290" y="863"/>
                  </a:cubicBezTo>
                  <a:cubicBezTo>
                    <a:pt x="227" y="821"/>
                    <a:pt x="155" y="775"/>
                    <a:pt x="126" y="715"/>
                  </a:cubicBezTo>
                  <a:cubicBezTo>
                    <a:pt x="96" y="654"/>
                    <a:pt x="103" y="567"/>
                    <a:pt x="111" y="500"/>
                  </a:cubicBezTo>
                  <a:cubicBezTo>
                    <a:pt x="118" y="432"/>
                    <a:pt x="136" y="363"/>
                    <a:pt x="170" y="309"/>
                  </a:cubicBezTo>
                  <a:cubicBezTo>
                    <a:pt x="203" y="254"/>
                    <a:pt x="255" y="202"/>
                    <a:pt x="310" y="172"/>
                  </a:cubicBezTo>
                  <a:cubicBezTo>
                    <a:pt x="364" y="141"/>
                    <a:pt x="432" y="134"/>
                    <a:pt x="499" y="128"/>
                  </a:cubicBezTo>
                  <a:cubicBezTo>
                    <a:pt x="565" y="121"/>
                    <a:pt x="646" y="109"/>
                    <a:pt x="710" y="135"/>
                  </a:cubicBezTo>
                  <a:cubicBezTo>
                    <a:pt x="773" y="160"/>
                    <a:pt x="849" y="218"/>
                    <a:pt x="881" y="279"/>
                  </a:cubicBezTo>
                  <a:cubicBezTo>
                    <a:pt x="912" y="339"/>
                    <a:pt x="904" y="429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EDD0"/>
                </a:gs>
                <a:gs pos="55000">
                  <a:srgbClr val="82E0AA"/>
                </a:gs>
                <a:gs pos="100000">
                  <a:srgbClr val="61A87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17055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9" name="Enzima fosforilada"/>
            <p:cNvSpPr/>
            <p:nvPr/>
          </p:nvSpPr>
          <p:spPr>
            <a:xfrm>
              <a:off x="9601200" y="1371600"/>
              <a:ext cx="1463040" cy="11887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895" y="570"/>
                    <a:pt x="887" y="648"/>
                    <a:pt x="853" y="704"/>
                  </a:cubicBezTo>
                  <a:cubicBezTo>
                    <a:pt x="818" y="759"/>
                    <a:pt x="749" y="788"/>
                    <a:pt x="691" y="831"/>
                  </a:cubicBezTo>
                  <a:cubicBezTo>
                    <a:pt x="632" y="874"/>
                    <a:pt x="566" y="956"/>
                    <a:pt x="500" y="962"/>
                  </a:cubicBezTo>
                  <a:cubicBezTo>
                    <a:pt x="433" y="967"/>
                    <a:pt x="352" y="904"/>
                    <a:pt x="290" y="863"/>
                  </a:cubicBezTo>
                  <a:cubicBezTo>
                    <a:pt x="227" y="821"/>
                    <a:pt x="155" y="775"/>
                    <a:pt x="126" y="715"/>
                  </a:cubicBezTo>
                  <a:cubicBezTo>
                    <a:pt x="96" y="654"/>
                    <a:pt x="103" y="567"/>
                    <a:pt x="111" y="500"/>
                  </a:cubicBezTo>
                  <a:cubicBezTo>
                    <a:pt x="118" y="432"/>
                    <a:pt x="136" y="363"/>
                    <a:pt x="170" y="309"/>
                  </a:cubicBezTo>
                  <a:cubicBezTo>
                    <a:pt x="203" y="254"/>
                    <a:pt x="255" y="202"/>
                    <a:pt x="310" y="172"/>
                  </a:cubicBezTo>
                  <a:cubicBezTo>
                    <a:pt x="364" y="141"/>
                    <a:pt x="432" y="134"/>
                    <a:pt x="499" y="128"/>
                  </a:cubicBezTo>
                  <a:cubicBezTo>
                    <a:pt x="565" y="121"/>
                    <a:pt x="646" y="109"/>
                    <a:pt x="710" y="135"/>
                  </a:cubicBezTo>
                  <a:cubicBezTo>
                    <a:pt x="773" y="160"/>
                    <a:pt x="849" y="218"/>
                    <a:pt x="881" y="279"/>
                  </a:cubicBezTo>
                  <a:cubicBezTo>
                    <a:pt x="912" y="339"/>
                    <a:pt x="904" y="429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4D8"/>
                </a:gs>
                <a:gs pos="55000">
                  <a:srgbClr val="ABB2B9"/>
                </a:gs>
                <a:gs pos="100000">
                  <a:srgbClr val="80858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55595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0" name="Forma 23"/>
            <p:cNvSpPr/>
            <p:nvPr/>
          </p:nvSpPr>
          <p:spPr>
            <a:xfrm>
              <a:off x="10835640" y="1325880"/>
              <a:ext cx="438912" cy="438912"/>
            </a:xfrm>
            <a:prstGeom prst="ellipse">
              <a:avLst/>
            </a:prstGeom>
            <a:gradFill rotWithShape="1">
              <a:gsLst>
                <a:gs pos="0">
                  <a:srgbClr val="F7C370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1" name="Flecha 24_2"/>
            <p:cNvSpPr/>
            <p:nvPr/>
          </p:nvSpPr>
          <p:spPr>
            <a:xfrm>
              <a:off x="8138160" y="1737360"/>
              <a:ext cx="1371600" cy="9144"/>
            </a:xfrm>
            <a:custGeom>
              <a:avLst/>
              <a:gdLst/>
              <a:ahLst/>
              <a:cxnLst/>
              <a:rect l="0" t="0" r="r" b="b"/>
              <a:pathLst>
                <a:path w="1500" h="10" fill="none">
                  <a:moveTo>
                    <a:pt x="0" y="0"/>
                  </a:moveTo>
                  <a:lnTo>
                    <a:pt x="150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2" name="Flecha 26_2"/>
            <p:cNvSpPr/>
            <p:nvPr/>
          </p:nvSpPr>
          <p:spPr>
            <a:xfrm>
              <a:off x="8138160" y="2286000"/>
              <a:ext cx="1371600" cy="9144"/>
            </a:xfrm>
            <a:custGeom>
              <a:avLst/>
              <a:gdLst/>
              <a:ahLst/>
              <a:cxnLst/>
              <a:rect l="0" t="0" r="r" b="b"/>
              <a:pathLst>
                <a:path w="1500" h="10" fill="none">
                  <a:moveTo>
                    <a:pt x="1500" y="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3" name="Rótulo quinasa"/>
            <p:cNvSpPr/>
            <p:nvPr/>
          </p:nvSpPr>
          <p:spPr>
            <a:xfrm>
              <a:off x="8229600" y="1188720"/>
              <a:ext cx="1188720" cy="272415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quinasa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4" name="Rótulo fosfatasa"/>
            <p:cNvSpPr/>
            <p:nvPr/>
          </p:nvSpPr>
          <p:spPr>
            <a:xfrm>
              <a:off x="8229600" y="2423160"/>
              <a:ext cx="1188720" cy="272415"/>
            </a:xfrm>
            <a:prstGeom prst="rect">
              <a:avLst/>
            </a:prstGeom>
            <a:solidFill>
              <a:srgbClr val="D8E6F2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fosfatasa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25" name="Covalente"/>
          <p:cNvSpPr/>
          <p:nvPr/>
        </p:nvSpPr>
        <p:spPr>
          <a:xfrm>
            <a:off x="6309360" y="3657600"/>
            <a:ext cx="5486400" cy="2788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Modificación covalente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una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quinasa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fosforila la enzima clave y la activa o inactiva (según el caso); una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fosfatasa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la desfosforila con el efecto contrario. Mecanismo usado por las vías de comunicación celular (PKA, PKC).</a:t>
            </a:r>
            <a:endParaRPr lang="es-AR" sz="19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MECANISMOS DE CONTROL: ALOSTÉRICO Y COVALENTE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" grpId="0" animBg="1"/>
    </p:bld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Ciclo de sustrato"/>
          <p:cNvGrpSpPr/>
          <p:nvPr/>
        </p:nvGrpSpPr>
        <p:grpSpPr>
          <a:xfrm>
            <a:off x="548640" y="1645920"/>
            <a:ext cx="5532120" cy="1325880"/>
            <a:chOff x="548640" y="1645920"/>
            <a:chExt cx="5532120" cy="1325880"/>
          </a:xfrm>
        </p:grpSpPr>
        <p:sp>
          <p:nvSpPr>
            <p:cNvPr id="6" name="Ficha B"/>
            <p:cNvSpPr/>
            <p:nvPr/>
          </p:nvSpPr>
          <p:spPr>
            <a:xfrm>
              <a:off x="548640" y="2011680"/>
              <a:ext cx="914400" cy="5486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DD89"/>
                </a:gs>
                <a:gs pos="55000">
                  <a:srgbClr val="FFCC4A"/>
                </a:gs>
                <a:gs pos="100000">
                  <a:srgbClr val="CCA3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662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7" name="Ficha C"/>
            <p:cNvSpPr/>
            <p:nvPr/>
          </p:nvSpPr>
          <p:spPr>
            <a:xfrm>
              <a:off x="2926080" y="2011680"/>
              <a:ext cx="914400" cy="5486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5EEF6"/>
                </a:gs>
                <a:gs pos="55000">
                  <a:srgbClr val="D8E6F2"/>
                </a:gs>
                <a:gs pos="100000">
                  <a:srgbClr val="ACB8C1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C737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8" name="Flecha 7_2"/>
            <p:cNvSpPr/>
            <p:nvPr/>
          </p:nvSpPr>
          <p:spPr>
            <a:xfrm>
              <a:off x="1554480" y="1645920"/>
              <a:ext cx="1280160" cy="457200"/>
            </a:xfrm>
            <a:custGeom>
              <a:avLst/>
              <a:gdLst/>
              <a:ahLst/>
              <a:cxnLst/>
              <a:rect l="0" t="0" r="r" b="b"/>
              <a:pathLst>
                <a:path w="1400" h="499" fill="none">
                  <a:moveTo>
                    <a:pt x="0" y="499"/>
                  </a:moveTo>
                  <a:quadBezTo>
                    <a:pt x="700" y="0"/>
                    <a:pt x="1400" y="499"/>
                  </a:quadBez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9" name="Flecha 9_2"/>
            <p:cNvSpPr/>
            <p:nvPr/>
          </p:nvSpPr>
          <p:spPr>
            <a:xfrm>
              <a:off x="1554480" y="2514600"/>
              <a:ext cx="1280160" cy="457200"/>
            </a:xfrm>
            <a:custGeom>
              <a:avLst/>
              <a:gdLst/>
              <a:ahLst/>
              <a:cxnLst/>
              <a:rect l="0" t="0" r="r" b="b"/>
              <a:pathLst>
                <a:path w="1400" h="500" fill="none">
                  <a:moveTo>
                    <a:pt x="1400" y="0"/>
                  </a:moveTo>
                  <a:quadBezTo>
                    <a:pt x="700" y="500"/>
                    <a:pt x="0" y="0"/>
                  </a:quadBez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0" name="Flecha 11_2"/>
            <p:cNvSpPr/>
            <p:nvPr/>
          </p:nvSpPr>
          <p:spPr>
            <a:xfrm>
              <a:off x="3931920" y="2286000"/>
              <a:ext cx="640080" cy="9144"/>
            </a:xfrm>
            <a:custGeom>
              <a:avLst/>
              <a:gdLst/>
              <a:ahLst/>
              <a:cxnLst/>
              <a:rect l="0" t="0" r="r" b="b"/>
              <a:pathLst>
                <a:path w="700" h="10" fill="none">
                  <a:moveTo>
                    <a:pt x="0" y="0"/>
                  </a:moveTo>
                  <a:lnTo>
                    <a:pt x="700" y="0"/>
                  </a:lnTo>
                </a:path>
              </a:pathLst>
            </a:custGeom>
            <a:noFill/>
            <a:ln w="38100" cap="rnd">
              <a:solidFill>
                <a:srgbClr val="4E7A30"/>
              </a:solidFill>
              <a:round/>
              <a:tailEnd type="triangle" w="med" len="med"/>
            </a:ln>
          </p:spPr>
        </p:sp>
        <p:sp>
          <p:nvSpPr>
            <p:cNvPr id="11" name="Ficha Producto"/>
            <p:cNvSpPr/>
            <p:nvPr/>
          </p:nvSpPr>
          <p:spPr>
            <a:xfrm>
              <a:off x="4617720" y="2011680"/>
              <a:ext cx="1463040" cy="5486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3F8EC"/>
                </a:gs>
                <a:gs pos="55000">
                  <a:srgbClr val="D5F5E3"/>
                </a:gs>
                <a:gs pos="100000">
                  <a:srgbClr val="AAC4B5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A7A7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Producto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12" name="Ciclos"/>
          <p:cNvSpPr/>
          <p:nvPr/>
        </p:nvSpPr>
        <p:spPr>
          <a:xfrm>
            <a:off x="365760" y="3429000"/>
            <a:ext cx="6035040" cy="118872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Ciclos de sustrato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el sustrato alterna entre dos formas (B ⇄ C); según cuál predomine, se activa o inhibe la producción del producto final.</a:t>
            </a:r>
            <a:endParaRPr lang="es-AR" sz="1850" dirty="0">
              <a:latin typeface="Calibri"/>
            </a:endParaRPr>
          </a:p>
        </p:txBody>
      </p:sp>
      <p:grpSp>
        <p:nvGrpSpPr>
          <p:cNvPr id="13" name="Control génico"/>
          <p:cNvGrpSpPr/>
          <p:nvPr/>
        </p:nvGrpSpPr>
        <p:grpSpPr>
          <a:xfrm>
            <a:off x="320040" y="4709160"/>
            <a:ext cx="6812280" cy="1572768"/>
            <a:chOff x="320040" y="4709160"/>
            <a:chExt cx="6812280" cy="1572768"/>
          </a:xfrm>
        </p:grpSpPr>
        <p:sp>
          <p:nvSpPr>
            <p:cNvPr id="14" name="Forma 16"/>
            <p:cNvSpPr/>
            <p:nvPr/>
          </p:nvSpPr>
          <p:spPr>
            <a:xfrm>
              <a:off x="548640" y="5074920"/>
              <a:ext cx="4572000" cy="292608"/>
            </a:xfrm>
            <a:prstGeom prst="rect">
              <a:avLst/>
            </a:prstGeom>
            <a:gradFill rotWithShape="1">
              <a:gsLst>
                <a:gs pos="0">
                  <a:srgbClr val="5DADE2"/>
                </a:gs>
                <a:gs pos="100000">
                  <a:srgbClr val="2E86C1"/>
                </a:gs>
              </a:gsLst>
              <a:lin ang="0" scaled="0"/>
            </a:gra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5" name="Forma 17"/>
            <p:cNvSpPr/>
            <p:nvPr/>
          </p:nvSpPr>
          <p:spPr>
            <a:xfrm>
              <a:off x="548640" y="5074920"/>
              <a:ext cx="1097280" cy="292608"/>
            </a:xfrm>
            <a:prstGeom prst="rect">
              <a:avLst/>
            </a:prstGeom>
            <a:solidFill>
              <a:srgbClr val="FFC00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promotor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16" name="Forma 18"/>
            <p:cNvSpPr txBox="1"/>
            <p:nvPr/>
          </p:nvSpPr>
          <p:spPr>
            <a:xfrm>
              <a:off x="1737360" y="5440680"/>
              <a:ext cx="33832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gen de la enzima (ej. lactasa)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7" name="Ficha Lactosa"/>
            <p:cNvSpPr/>
            <p:nvPr/>
          </p:nvSpPr>
          <p:spPr>
            <a:xfrm>
              <a:off x="320040" y="5897880"/>
              <a:ext cx="10972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9E8A1"/>
                </a:gs>
                <a:gs pos="55000">
                  <a:srgbClr val="F7DC6F"/>
                </a:gs>
                <a:gs pos="100000">
                  <a:srgbClr val="C5B058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B6E37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Lactosa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8" name="Flecha 20_2"/>
            <p:cNvSpPr/>
            <p:nvPr/>
          </p:nvSpPr>
          <p:spPr>
            <a:xfrm>
              <a:off x="914400" y="5440680"/>
              <a:ext cx="91440" cy="411480"/>
            </a:xfrm>
            <a:custGeom>
              <a:avLst/>
              <a:gdLst/>
              <a:ahLst/>
              <a:cxnLst/>
              <a:rect l="0" t="0" r="r" b="b"/>
              <a:pathLst>
                <a:path w="100" h="450" fill="none">
                  <a:moveTo>
                    <a:pt x="0" y="450"/>
                  </a:moveTo>
                  <a:lnTo>
                    <a:pt x="100" y="0"/>
                  </a:lnTo>
                </a:path>
              </a:pathLst>
            </a:custGeom>
            <a:noFill/>
            <a:ln w="31750" cap="rnd">
              <a:solidFill>
                <a:srgbClr val="4E7A30"/>
              </a:solidFill>
              <a:round/>
              <a:tailEnd type="triangle" w="med" len="med"/>
            </a:ln>
          </p:spPr>
        </p:sp>
        <p:sp>
          <p:nvSpPr>
            <p:cNvPr id="19" name="Flecha 22_2"/>
            <p:cNvSpPr/>
            <p:nvPr/>
          </p:nvSpPr>
          <p:spPr>
            <a:xfrm>
              <a:off x="5212080" y="5212080"/>
              <a:ext cx="640080" cy="9144"/>
            </a:xfrm>
            <a:custGeom>
              <a:avLst/>
              <a:gdLst/>
              <a:ahLst/>
              <a:cxnLst/>
              <a:rect l="0" t="0" r="r" b="b"/>
              <a:pathLst>
                <a:path w="700" h="10" fill="none">
                  <a:moveTo>
                    <a:pt x="0" y="0"/>
                  </a:moveTo>
                  <a:lnTo>
                    <a:pt x="70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0" name="Lactasa"/>
            <p:cNvSpPr/>
            <p:nvPr/>
          </p:nvSpPr>
          <p:spPr>
            <a:xfrm>
              <a:off x="5943600" y="4709160"/>
              <a:ext cx="118872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80" y="500"/>
                  </a:moveTo>
                  <a:cubicBezTo>
                    <a:pt x="979" y="579"/>
                    <a:pt x="961" y="684"/>
                    <a:pt x="913" y="739"/>
                  </a:cubicBezTo>
                  <a:cubicBezTo>
                    <a:pt x="864" y="793"/>
                    <a:pt x="756" y="802"/>
                    <a:pt x="688" y="826"/>
                  </a:cubicBezTo>
                  <a:cubicBezTo>
                    <a:pt x="619" y="849"/>
                    <a:pt x="563" y="880"/>
                    <a:pt x="500" y="881"/>
                  </a:cubicBezTo>
                  <a:cubicBezTo>
                    <a:pt x="437" y="881"/>
                    <a:pt x="370" y="857"/>
                    <a:pt x="310" y="829"/>
                  </a:cubicBezTo>
                  <a:cubicBezTo>
                    <a:pt x="249" y="800"/>
                    <a:pt x="186" y="762"/>
                    <a:pt x="139" y="708"/>
                  </a:cubicBezTo>
                  <a:cubicBezTo>
                    <a:pt x="91" y="653"/>
                    <a:pt x="20" y="567"/>
                    <a:pt x="24" y="500"/>
                  </a:cubicBezTo>
                  <a:cubicBezTo>
                    <a:pt x="27" y="432"/>
                    <a:pt x="120" y="371"/>
                    <a:pt x="161" y="304"/>
                  </a:cubicBezTo>
                  <a:cubicBezTo>
                    <a:pt x="201" y="237"/>
                    <a:pt x="210" y="144"/>
                    <a:pt x="267" y="98"/>
                  </a:cubicBezTo>
                  <a:cubicBezTo>
                    <a:pt x="323" y="51"/>
                    <a:pt x="422" y="25"/>
                    <a:pt x="499" y="27"/>
                  </a:cubicBezTo>
                  <a:cubicBezTo>
                    <a:pt x="575" y="28"/>
                    <a:pt x="657" y="66"/>
                    <a:pt x="727" y="105"/>
                  </a:cubicBezTo>
                  <a:cubicBezTo>
                    <a:pt x="796" y="143"/>
                    <a:pt x="871" y="194"/>
                    <a:pt x="914" y="260"/>
                  </a:cubicBezTo>
                  <a:cubicBezTo>
                    <a:pt x="956" y="325"/>
                    <a:pt x="980" y="420"/>
                    <a:pt x="98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C1E4"/>
                </a:gs>
                <a:gs pos="55000">
                  <a:srgbClr val="BB8FCE"/>
                </a:gs>
                <a:gs pos="100000">
                  <a:srgbClr val="8C6B9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5D4767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Lactasa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21" name="Génico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22" name="Forma 26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Control génico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si el sustrato está presente, activa la región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promotora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gen que codifica la enzima → se produce la enzima → ocurre el metabolismo.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sustrato no se transcribe el gen → no hay enzima → no hay metabolismo.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Ejemplo: sistema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lactasa/lactosa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orma 27"/>
            <p:cNvSpPr/>
            <p:nvPr/>
          </p:nvSpPr>
          <p:spPr>
            <a:xfrm>
              <a:off x="8677656" y="1097280"/>
              <a:ext cx="170715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CONTROL GÉNICO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MECANISMOS DE CONTROL: CICLOS DE SUSTRATO Y CONTROL GÉNICO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Tabla macro fila 0"/>
          <p:cNvGrpSpPr/>
          <p:nvPr/>
        </p:nvGrpSpPr>
        <p:grpSpPr>
          <a:xfrm>
            <a:off x="4526280" y="1097280"/>
            <a:ext cx="7406640" cy="822960"/>
            <a:chOff x="4526280" y="1097280"/>
            <a:chExt cx="7406640" cy="822960"/>
          </a:xfrm>
        </p:grpSpPr>
        <p:sp>
          <p:nvSpPr>
            <p:cNvPr id="6" name="Forma 5"/>
            <p:cNvSpPr/>
            <p:nvPr/>
          </p:nvSpPr>
          <p:spPr>
            <a:xfrm>
              <a:off x="4526280" y="1097280"/>
              <a:ext cx="205740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Macronutriente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6583680" y="1097280"/>
              <a:ext cx="251460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Unidad básica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9098280" y="1097280"/>
              <a:ext cx="283464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Función principal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9" name="Tabla macro fila 1"/>
          <p:cNvGrpSpPr/>
          <p:nvPr/>
        </p:nvGrpSpPr>
        <p:grpSpPr>
          <a:xfrm>
            <a:off x="4526280" y="1920240"/>
            <a:ext cx="7406640" cy="822960"/>
            <a:chOff x="4526280" y="1920240"/>
            <a:chExt cx="7406640" cy="822960"/>
          </a:xfrm>
        </p:grpSpPr>
        <p:sp>
          <p:nvSpPr>
            <p:cNvPr id="10" name="Forma 9"/>
            <p:cNvSpPr/>
            <p:nvPr/>
          </p:nvSpPr>
          <p:spPr>
            <a:xfrm>
              <a:off x="4526280" y="1920240"/>
              <a:ext cx="205740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Hidratos de carbono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6583680" y="1920240"/>
              <a:ext cx="251460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Monosacáridos (glucosa, fructosa, galactosa)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9098280" y="1920240"/>
              <a:ext cx="283464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Fuente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inmediata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energía; componente del glucocáliz.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3" name="Tabla macro fila 2"/>
          <p:cNvGrpSpPr/>
          <p:nvPr/>
        </p:nvGrpSpPr>
        <p:grpSpPr>
          <a:xfrm>
            <a:off x="4526280" y="2743200"/>
            <a:ext cx="7406640" cy="822960"/>
            <a:chOff x="4526280" y="2743200"/>
            <a:chExt cx="7406640" cy="822960"/>
          </a:xfrm>
        </p:grpSpPr>
        <p:sp>
          <p:nvSpPr>
            <p:cNvPr id="14" name="Forma 13"/>
            <p:cNvSpPr/>
            <p:nvPr/>
          </p:nvSpPr>
          <p:spPr>
            <a:xfrm>
              <a:off x="4526280" y="2743200"/>
              <a:ext cx="2057400" cy="82296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Lípidos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6583680" y="2743200"/>
              <a:ext cx="2514600" cy="82296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Ácidos grasos / colesterol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9098280" y="2743200"/>
              <a:ext cx="2834640" cy="82296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Almacenamiento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 largo plazo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membranas (fosfolípidos); precursores hormonales.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7" name="Tabla macro fila 3"/>
          <p:cNvGrpSpPr/>
          <p:nvPr/>
        </p:nvGrpSpPr>
        <p:grpSpPr>
          <a:xfrm>
            <a:off x="4526280" y="3566160"/>
            <a:ext cx="7406640" cy="822960"/>
            <a:chOff x="4526280" y="3566160"/>
            <a:chExt cx="7406640" cy="822960"/>
          </a:xfrm>
        </p:grpSpPr>
        <p:sp>
          <p:nvSpPr>
            <p:cNvPr id="18" name="Forma 17"/>
            <p:cNvSpPr/>
            <p:nvPr/>
          </p:nvSpPr>
          <p:spPr>
            <a:xfrm>
              <a:off x="4526280" y="3566160"/>
              <a:ext cx="205740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Proteínas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6583680" y="3566160"/>
              <a:ext cx="251460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Aminoácidos (20 tipos)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9098280" y="3566160"/>
              <a:ext cx="283464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estructural y funcional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expresión del material genético.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1" name="Íconos macronutrientes"/>
          <p:cNvGrpSpPr/>
          <p:nvPr/>
        </p:nvGrpSpPr>
        <p:grpSpPr>
          <a:xfrm>
            <a:off x="419532" y="1451303"/>
            <a:ext cx="3603828" cy="3185414"/>
            <a:chOff x="419532" y="1451303"/>
            <a:chExt cx="3603828" cy="3185414"/>
          </a:xfrm>
        </p:grpSpPr>
        <p:grpSp>
          <p:nvGrpSpPr>
            <p:cNvPr id="22" name="Glc macro"/>
            <p:cNvGrpSpPr/>
            <p:nvPr/>
          </p:nvGrpSpPr>
          <p:grpSpPr>
            <a:xfrm>
              <a:off x="419532" y="1451303"/>
              <a:ext cx="1679455" cy="1120754"/>
              <a:chOff x="419532" y="1451303"/>
              <a:chExt cx="1679455" cy="1120754"/>
            </a:xfrm>
          </p:grpSpPr>
          <p:sp>
            <p:nvSpPr>
              <p:cNvPr id="23" name="Flecha 22_2"/>
              <p:cNvSpPr/>
              <p:nvPr/>
            </p:nvSpPr>
            <p:spPr>
              <a:xfrm>
                <a:off x="1020853" y="2025328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0" y="0"/>
                    </a:moveTo>
                    <a:lnTo>
                      <a:pt x="298" y="149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24" name="Flecha 24_2"/>
              <p:cNvSpPr/>
              <p:nvPr/>
            </p:nvSpPr>
            <p:spPr>
              <a:xfrm>
                <a:off x="1020853" y="2025328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0" y="0"/>
                    </a:moveTo>
                    <a:lnTo>
                      <a:pt x="298" y="149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25" name="Flecha 26_2"/>
              <p:cNvSpPr/>
              <p:nvPr/>
            </p:nvSpPr>
            <p:spPr>
              <a:xfrm>
                <a:off x="1293808" y="2025328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0" y="149"/>
                    </a:moveTo>
                    <a:lnTo>
                      <a:pt x="298" y="0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26" name="Flecha 28_2"/>
              <p:cNvSpPr/>
              <p:nvPr/>
            </p:nvSpPr>
            <p:spPr>
              <a:xfrm>
                <a:off x="1293808" y="2025328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0" y="149"/>
                    </a:moveTo>
                    <a:lnTo>
                      <a:pt x="298" y="0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27" name="Flecha 30_2"/>
              <p:cNvSpPr/>
              <p:nvPr/>
            </p:nvSpPr>
            <p:spPr>
              <a:xfrm>
                <a:off x="1566763" y="1725077"/>
                <a:ext cx="9144" cy="3002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328" fill="none">
                    <a:moveTo>
                      <a:pt x="0" y="328"/>
                    </a:moveTo>
                    <a:lnTo>
                      <a:pt x="0" y="0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28" name="Flecha 32_2"/>
              <p:cNvSpPr/>
              <p:nvPr/>
            </p:nvSpPr>
            <p:spPr>
              <a:xfrm>
                <a:off x="1566763" y="1725077"/>
                <a:ext cx="9144" cy="3002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328" fill="none">
                    <a:moveTo>
                      <a:pt x="0" y="328"/>
                    </a:moveTo>
                    <a:lnTo>
                      <a:pt x="0" y="0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29" name="Flecha 34_2"/>
              <p:cNvSpPr/>
              <p:nvPr/>
            </p:nvSpPr>
            <p:spPr>
              <a:xfrm>
                <a:off x="1293808" y="1588599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298" y="149"/>
                    </a:moveTo>
                    <a:lnTo>
                      <a:pt x="0" y="0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30" name="Flecha 36_2"/>
              <p:cNvSpPr/>
              <p:nvPr/>
            </p:nvSpPr>
            <p:spPr>
              <a:xfrm>
                <a:off x="1293808" y="1588599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298" y="149"/>
                    </a:moveTo>
                    <a:lnTo>
                      <a:pt x="0" y="0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31" name="Flecha 38_2"/>
              <p:cNvSpPr/>
              <p:nvPr/>
            </p:nvSpPr>
            <p:spPr>
              <a:xfrm>
                <a:off x="1020853" y="1588599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298" y="0"/>
                    </a:moveTo>
                    <a:lnTo>
                      <a:pt x="0" y="149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32" name="Flecha 40_2"/>
              <p:cNvSpPr/>
              <p:nvPr/>
            </p:nvSpPr>
            <p:spPr>
              <a:xfrm>
                <a:off x="1020853" y="1588599"/>
                <a:ext cx="272955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98" h="149" fill="none">
                    <a:moveTo>
                      <a:pt x="298" y="0"/>
                    </a:moveTo>
                    <a:lnTo>
                      <a:pt x="0" y="149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33" name="Flecha 42_2"/>
              <p:cNvSpPr/>
              <p:nvPr/>
            </p:nvSpPr>
            <p:spPr>
              <a:xfrm>
                <a:off x="1020853" y="1725077"/>
                <a:ext cx="9144" cy="3002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328" fill="none">
                    <a:moveTo>
                      <a:pt x="0" y="0"/>
                    </a:moveTo>
                    <a:lnTo>
                      <a:pt x="0" y="328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34" name="Flecha 44_2"/>
              <p:cNvSpPr/>
              <p:nvPr/>
            </p:nvSpPr>
            <p:spPr>
              <a:xfrm>
                <a:off x="1020853" y="1725077"/>
                <a:ext cx="9144" cy="3002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328" fill="none">
                    <a:moveTo>
                      <a:pt x="0" y="0"/>
                    </a:moveTo>
                    <a:lnTo>
                      <a:pt x="0" y="328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35" name="Flecha 46_2"/>
              <p:cNvSpPr/>
              <p:nvPr/>
            </p:nvSpPr>
            <p:spPr>
              <a:xfrm>
                <a:off x="775193" y="2025328"/>
                <a:ext cx="245660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49" fill="none">
                    <a:moveTo>
                      <a:pt x="268" y="0"/>
                    </a:moveTo>
                    <a:lnTo>
                      <a:pt x="0" y="149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36" name="Flecha 48_2"/>
              <p:cNvSpPr/>
              <p:nvPr/>
            </p:nvSpPr>
            <p:spPr>
              <a:xfrm>
                <a:off x="775193" y="2025328"/>
                <a:ext cx="245660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49" fill="none">
                    <a:moveTo>
                      <a:pt x="268" y="0"/>
                    </a:moveTo>
                    <a:lnTo>
                      <a:pt x="0" y="149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37" name="Flecha 50_2"/>
              <p:cNvSpPr/>
              <p:nvPr/>
            </p:nvSpPr>
            <p:spPr>
              <a:xfrm>
                <a:off x="1293808" y="2161805"/>
                <a:ext cx="9144" cy="3002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328" fill="none">
                    <a:moveTo>
                      <a:pt x="0" y="0"/>
                    </a:moveTo>
                    <a:lnTo>
                      <a:pt x="0" y="328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38" name="Flecha 52_2"/>
              <p:cNvSpPr/>
              <p:nvPr/>
            </p:nvSpPr>
            <p:spPr>
              <a:xfrm>
                <a:off x="1293808" y="2161805"/>
                <a:ext cx="9144" cy="300251"/>
              </a:xfrm>
              <a:custGeom>
                <a:avLst/>
                <a:gdLst/>
                <a:ahLst/>
                <a:cxnLst/>
                <a:rect l="0" t="0" r="r" b="b"/>
                <a:pathLst>
                  <a:path w="10" h="328" fill="none">
                    <a:moveTo>
                      <a:pt x="0" y="0"/>
                    </a:moveTo>
                    <a:lnTo>
                      <a:pt x="0" y="328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39" name="Flecha 54_2"/>
              <p:cNvSpPr/>
              <p:nvPr/>
            </p:nvSpPr>
            <p:spPr>
              <a:xfrm>
                <a:off x="1566763" y="2025328"/>
                <a:ext cx="245660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49" fill="none">
                    <a:moveTo>
                      <a:pt x="0" y="0"/>
                    </a:moveTo>
                    <a:lnTo>
                      <a:pt x="268" y="149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40" name="Flecha 56_2"/>
              <p:cNvSpPr/>
              <p:nvPr/>
            </p:nvSpPr>
            <p:spPr>
              <a:xfrm>
                <a:off x="1566763" y="2025328"/>
                <a:ext cx="245660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49" fill="none">
                    <a:moveTo>
                      <a:pt x="0" y="0"/>
                    </a:moveTo>
                    <a:lnTo>
                      <a:pt x="268" y="149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41" name="Flecha 58_2"/>
              <p:cNvSpPr/>
              <p:nvPr/>
            </p:nvSpPr>
            <p:spPr>
              <a:xfrm>
                <a:off x="775193" y="1561304"/>
                <a:ext cx="245660" cy="163773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79" fill="none">
                    <a:moveTo>
                      <a:pt x="268" y="179"/>
                    </a:moveTo>
                    <a:lnTo>
                      <a:pt x="0" y="0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42" name="Flecha 60_2"/>
              <p:cNvSpPr/>
              <p:nvPr/>
            </p:nvSpPr>
            <p:spPr>
              <a:xfrm>
                <a:off x="775193" y="1561304"/>
                <a:ext cx="245660" cy="163773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79" fill="none">
                    <a:moveTo>
                      <a:pt x="268" y="179"/>
                    </a:moveTo>
                    <a:lnTo>
                      <a:pt x="0" y="0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43" name="Flecha 62_2"/>
              <p:cNvSpPr/>
              <p:nvPr/>
            </p:nvSpPr>
            <p:spPr>
              <a:xfrm>
                <a:off x="529533" y="1561304"/>
                <a:ext cx="245660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49" fill="none">
                    <a:moveTo>
                      <a:pt x="268" y="0"/>
                    </a:moveTo>
                    <a:lnTo>
                      <a:pt x="0" y="149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44" name="Flecha 64_2"/>
              <p:cNvSpPr/>
              <p:nvPr/>
            </p:nvSpPr>
            <p:spPr>
              <a:xfrm>
                <a:off x="529533" y="1561304"/>
                <a:ext cx="245660" cy="136478"/>
              </a:xfrm>
              <a:custGeom>
                <a:avLst/>
                <a:gdLst/>
                <a:ahLst/>
                <a:cxnLst/>
                <a:rect l="0" t="0" r="r" b="b"/>
                <a:pathLst>
                  <a:path w="268" h="149" fill="none">
                    <a:moveTo>
                      <a:pt x="268" y="0"/>
                    </a:moveTo>
                    <a:lnTo>
                      <a:pt x="0" y="149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45" name="Flecha 66_2"/>
              <p:cNvSpPr/>
              <p:nvPr/>
            </p:nvSpPr>
            <p:spPr>
              <a:xfrm>
                <a:off x="556829" y="2052623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238" y="119"/>
                    </a:moveTo>
                    <a:lnTo>
                      <a:pt x="0" y="0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46" name="Flecha 68_2"/>
              <p:cNvSpPr/>
              <p:nvPr/>
            </p:nvSpPr>
            <p:spPr>
              <a:xfrm>
                <a:off x="556829" y="2052623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238" y="119"/>
                    </a:moveTo>
                    <a:lnTo>
                      <a:pt x="0" y="0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47" name="Flecha 70_2"/>
              <p:cNvSpPr/>
              <p:nvPr/>
            </p:nvSpPr>
            <p:spPr>
              <a:xfrm>
                <a:off x="1812423" y="2052623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0" y="119"/>
                    </a:moveTo>
                    <a:lnTo>
                      <a:pt x="238" y="0"/>
                    </a:lnTo>
                  </a:path>
                </a:pathLst>
              </a:custGeom>
              <a:noFill/>
              <a:ln w="60656" cap="rnd">
                <a:solidFill>
                  <a:srgbClr val="B9B9B9"/>
                </a:solidFill>
                <a:round/>
              </a:ln>
            </p:spPr>
          </p:sp>
          <p:sp>
            <p:nvSpPr>
              <p:cNvPr id="48" name="Flecha 72_2"/>
              <p:cNvSpPr/>
              <p:nvPr/>
            </p:nvSpPr>
            <p:spPr>
              <a:xfrm>
                <a:off x="1812423" y="2052623"/>
                <a:ext cx="218364" cy="109182"/>
              </a:xfrm>
              <a:custGeom>
                <a:avLst/>
                <a:gdLst/>
                <a:ahLst/>
                <a:cxnLst/>
                <a:rect l="0" t="0" r="r" b="b"/>
                <a:pathLst>
                  <a:path w="238" h="119" fill="none">
                    <a:moveTo>
                      <a:pt x="0" y="119"/>
                    </a:moveTo>
                    <a:lnTo>
                      <a:pt x="238" y="0"/>
                    </a:lnTo>
                  </a:path>
                </a:pathLst>
              </a:custGeom>
              <a:noFill/>
              <a:ln w="34119" cap="rnd">
                <a:solidFill>
                  <a:srgbClr val="FFFFFF"/>
                </a:solidFill>
                <a:round/>
              </a:ln>
            </p:spPr>
          </p:sp>
          <p:sp>
            <p:nvSpPr>
              <p:cNvPr id="49" name="Forma 74"/>
              <p:cNvSpPr/>
              <p:nvPr/>
            </p:nvSpPr>
            <p:spPr>
              <a:xfrm>
                <a:off x="488628" y="1984423"/>
                <a:ext cx="136401" cy="1364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0" name="Forma 75"/>
              <p:cNvSpPr/>
              <p:nvPr/>
            </p:nvSpPr>
            <p:spPr>
              <a:xfrm>
                <a:off x="1962586" y="1984423"/>
                <a:ext cx="136401" cy="136401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1" name="Forma 76"/>
              <p:cNvSpPr/>
              <p:nvPr/>
            </p:nvSpPr>
            <p:spPr>
              <a:xfrm>
                <a:off x="910852" y="1915327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2" name="Forma 77"/>
              <p:cNvSpPr/>
              <p:nvPr/>
            </p:nvSpPr>
            <p:spPr>
              <a:xfrm>
                <a:off x="1183807" y="2051804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3" name="Forma 78"/>
              <p:cNvSpPr/>
              <p:nvPr/>
            </p:nvSpPr>
            <p:spPr>
              <a:xfrm>
                <a:off x="1456762" y="1915327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4" name="Forma 79"/>
              <p:cNvSpPr/>
              <p:nvPr/>
            </p:nvSpPr>
            <p:spPr>
              <a:xfrm>
                <a:off x="1456762" y="1615076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5" name="Forma 80"/>
              <p:cNvSpPr/>
              <p:nvPr/>
            </p:nvSpPr>
            <p:spPr>
              <a:xfrm>
                <a:off x="1183807" y="1478598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6" name="Forma 81"/>
              <p:cNvSpPr/>
              <p:nvPr/>
            </p:nvSpPr>
            <p:spPr>
              <a:xfrm>
                <a:off x="910852" y="1615076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7" name="Forma 82"/>
              <p:cNvSpPr/>
              <p:nvPr/>
            </p:nvSpPr>
            <p:spPr>
              <a:xfrm>
                <a:off x="665192" y="2051804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8" name="Forma 83"/>
              <p:cNvSpPr/>
              <p:nvPr/>
            </p:nvSpPr>
            <p:spPr>
              <a:xfrm>
                <a:off x="1183807" y="2352055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59" name="Forma 84"/>
              <p:cNvSpPr/>
              <p:nvPr/>
            </p:nvSpPr>
            <p:spPr>
              <a:xfrm>
                <a:off x="1702422" y="2051804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0" name="Forma 85"/>
              <p:cNvSpPr/>
              <p:nvPr/>
            </p:nvSpPr>
            <p:spPr>
              <a:xfrm>
                <a:off x="665192" y="1451303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61" name="Forma 86"/>
              <p:cNvSpPr/>
              <p:nvPr/>
            </p:nvSpPr>
            <p:spPr>
              <a:xfrm>
                <a:off x="419532" y="1587781"/>
                <a:ext cx="220002" cy="22000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  <p:grpSp>
          <p:nvGrpSpPr>
            <p:cNvPr id="62" name="Ácido graso macro"/>
            <p:cNvGrpSpPr/>
            <p:nvPr/>
          </p:nvGrpSpPr>
          <p:grpSpPr>
            <a:xfrm>
              <a:off x="2267712" y="1700784"/>
              <a:ext cx="1755648" cy="384048"/>
              <a:chOff x="2267712" y="1700784"/>
              <a:chExt cx="1755648" cy="384048"/>
            </a:xfrm>
          </p:grpSpPr>
          <p:sp>
            <p:nvSpPr>
              <p:cNvPr id="63" name="Flecha 88_2"/>
              <p:cNvSpPr/>
              <p:nvPr/>
            </p:nvSpPr>
            <p:spPr>
              <a:xfrm>
                <a:off x="2432304" y="1755648"/>
                <a:ext cx="1591056" cy="329184"/>
              </a:xfrm>
              <a:custGeom>
                <a:avLst/>
                <a:gdLst/>
                <a:ahLst/>
                <a:cxnLst/>
                <a:rect l="0" t="0" r="r" b="b"/>
                <a:pathLst>
                  <a:path w="1740" h="359" fill="none">
                    <a:moveTo>
                      <a:pt x="0" y="0"/>
                    </a:moveTo>
                    <a:lnTo>
                      <a:pt x="217" y="359"/>
                    </a:lnTo>
                    <a:lnTo>
                      <a:pt x="435" y="0"/>
                    </a:lnTo>
                    <a:lnTo>
                      <a:pt x="652" y="359"/>
                    </a:lnTo>
                    <a:lnTo>
                      <a:pt x="870" y="0"/>
                    </a:lnTo>
                    <a:lnTo>
                      <a:pt x="1087" y="359"/>
                    </a:lnTo>
                    <a:lnTo>
                      <a:pt x="1304" y="0"/>
                    </a:lnTo>
                    <a:lnTo>
                      <a:pt x="1522" y="359"/>
                    </a:lnTo>
                    <a:lnTo>
                      <a:pt x="1740" y="0"/>
                    </a:lnTo>
                  </a:path>
                </a:pathLst>
              </a:custGeom>
              <a:noFill/>
              <a:ln w="28575" cap="rnd">
                <a:solidFill>
                  <a:srgbClr val="B7950B"/>
                </a:solidFill>
                <a:round/>
              </a:ln>
            </p:spPr>
          </p:sp>
          <p:sp>
            <p:nvSpPr>
              <p:cNvPr id="64" name="Forma 90"/>
              <p:cNvSpPr/>
              <p:nvPr/>
            </p:nvSpPr>
            <p:spPr>
              <a:xfrm>
                <a:off x="2267712" y="1700784"/>
                <a:ext cx="182880" cy="182880"/>
              </a:xfrm>
              <a:prstGeom prst="ellipse">
                <a:avLst/>
              </a:prstGeom>
              <a:gradFill rotWithShape="1">
                <a:gsLst>
                  <a:gs pos="0">
                    <a:srgbClr val="F0938A"/>
                  </a:gs>
                  <a:gs pos="55000">
                    <a:srgbClr val="E74C3C"/>
                  </a:gs>
                  <a:gs pos="100000">
                    <a:srgbClr val="B83C30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8A2D24"/>
                </a:solidFill>
                <a:round/>
              </a:ln>
            </p:spPr>
          </p:sp>
        </p:grpSp>
        <p:grpSp>
          <p:nvGrpSpPr>
            <p:cNvPr id="65" name="AA macro"/>
            <p:cNvGrpSpPr/>
            <p:nvPr/>
          </p:nvGrpSpPr>
          <p:grpSpPr>
            <a:xfrm>
              <a:off x="1230683" y="3168777"/>
              <a:ext cx="1620340" cy="1467940"/>
              <a:chOff x="1230683" y="3168777"/>
              <a:chExt cx="1620340" cy="1467940"/>
            </a:xfrm>
          </p:grpSpPr>
          <p:sp>
            <p:nvSpPr>
              <p:cNvPr id="66" name="Flecha 92_2"/>
              <p:cNvSpPr/>
              <p:nvPr/>
            </p:nvSpPr>
            <p:spPr>
              <a:xfrm>
                <a:off x="1973580" y="3703320"/>
                <a:ext cx="3810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16" h="208" fill="none">
                    <a:moveTo>
                      <a:pt x="0" y="208"/>
                    </a:moveTo>
                    <a:lnTo>
                      <a:pt x="416" y="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67" name="Flecha 94_2"/>
              <p:cNvSpPr/>
              <p:nvPr/>
            </p:nvSpPr>
            <p:spPr>
              <a:xfrm>
                <a:off x="1973580" y="3703320"/>
                <a:ext cx="3810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16" h="208" fill="none">
                    <a:moveTo>
                      <a:pt x="0" y="208"/>
                    </a:moveTo>
                    <a:lnTo>
                      <a:pt x="416" y="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68" name="Flecha 96_2"/>
              <p:cNvSpPr/>
              <p:nvPr/>
            </p:nvSpPr>
            <p:spPr>
              <a:xfrm>
                <a:off x="2354580" y="3703320"/>
                <a:ext cx="3429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75" h="166" fill="none">
                    <a:moveTo>
                      <a:pt x="0" y="0"/>
                    </a:moveTo>
                    <a:lnTo>
                      <a:pt x="375" y="166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69" name="Flecha 98_2"/>
              <p:cNvSpPr/>
              <p:nvPr/>
            </p:nvSpPr>
            <p:spPr>
              <a:xfrm>
                <a:off x="2354580" y="3703320"/>
                <a:ext cx="3429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75" h="166" fill="none">
                    <a:moveTo>
                      <a:pt x="0" y="0"/>
                    </a:moveTo>
                    <a:lnTo>
                      <a:pt x="375" y="166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0" name="Flecha 100_2"/>
              <p:cNvSpPr/>
              <p:nvPr/>
            </p:nvSpPr>
            <p:spPr>
              <a:xfrm>
                <a:off x="2354580" y="3322320"/>
                <a:ext cx="38100" cy="381000"/>
              </a:xfrm>
              <a:custGeom>
                <a:avLst/>
                <a:gdLst/>
                <a:ahLst/>
                <a:cxnLst/>
                <a:rect l="0" t="0" r="r" b="b"/>
                <a:pathLst>
                  <a:path w="41" h="416" fill="none">
                    <a:moveTo>
                      <a:pt x="0" y="416"/>
                    </a:moveTo>
                    <a:lnTo>
                      <a:pt x="41" y="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1" name="Flecha 102_2"/>
              <p:cNvSpPr/>
              <p:nvPr/>
            </p:nvSpPr>
            <p:spPr>
              <a:xfrm>
                <a:off x="2354580" y="3322320"/>
                <a:ext cx="38100" cy="381000"/>
              </a:xfrm>
              <a:custGeom>
                <a:avLst/>
                <a:gdLst/>
                <a:ahLst/>
                <a:cxnLst/>
                <a:rect l="0" t="0" r="r" b="b"/>
                <a:pathLst>
                  <a:path w="41" h="416" fill="none">
                    <a:moveTo>
                      <a:pt x="0" y="416"/>
                    </a:moveTo>
                    <a:lnTo>
                      <a:pt x="41" y="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2" name="Flecha 104_2"/>
              <p:cNvSpPr/>
              <p:nvPr/>
            </p:nvSpPr>
            <p:spPr>
              <a:xfrm>
                <a:off x="1630680" y="3665220"/>
                <a:ext cx="3429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375" h="250" fill="none">
                    <a:moveTo>
                      <a:pt x="375" y="250"/>
                    </a:moveTo>
                    <a:lnTo>
                      <a:pt x="0" y="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3" name="Flecha 106_2"/>
              <p:cNvSpPr/>
              <p:nvPr/>
            </p:nvSpPr>
            <p:spPr>
              <a:xfrm>
                <a:off x="1630680" y="3665220"/>
                <a:ext cx="3429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375" h="250" fill="none">
                    <a:moveTo>
                      <a:pt x="375" y="250"/>
                    </a:moveTo>
                    <a:lnTo>
                      <a:pt x="0" y="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4" name="Flecha 108_2"/>
              <p:cNvSpPr/>
              <p:nvPr/>
            </p:nvSpPr>
            <p:spPr>
              <a:xfrm>
                <a:off x="1325880" y="3665220"/>
                <a:ext cx="3048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3" h="166" fill="none">
                    <a:moveTo>
                      <a:pt x="333" y="0"/>
                    </a:moveTo>
                    <a:lnTo>
                      <a:pt x="0" y="166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5" name="Flecha 110_2"/>
              <p:cNvSpPr/>
              <p:nvPr/>
            </p:nvSpPr>
            <p:spPr>
              <a:xfrm>
                <a:off x="1325880" y="3665220"/>
                <a:ext cx="304800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3" h="166" fill="none">
                    <a:moveTo>
                      <a:pt x="333" y="0"/>
                    </a:moveTo>
                    <a:lnTo>
                      <a:pt x="0" y="166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6" name="Flecha 112_2"/>
              <p:cNvSpPr/>
              <p:nvPr/>
            </p:nvSpPr>
            <p:spPr>
              <a:xfrm>
                <a:off x="1592580" y="3322320"/>
                <a:ext cx="38100" cy="342900"/>
              </a:xfrm>
              <a:custGeom>
                <a:avLst/>
                <a:gdLst/>
                <a:ahLst/>
                <a:cxnLst/>
                <a:rect l="0" t="0" r="r" b="b"/>
                <a:pathLst>
                  <a:path w="41" h="375" fill="none">
                    <a:moveTo>
                      <a:pt x="41" y="375"/>
                    </a:moveTo>
                    <a:lnTo>
                      <a:pt x="0" y="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7" name="Flecha 114_2"/>
              <p:cNvSpPr/>
              <p:nvPr/>
            </p:nvSpPr>
            <p:spPr>
              <a:xfrm>
                <a:off x="1592580" y="3322320"/>
                <a:ext cx="38100" cy="342900"/>
              </a:xfrm>
              <a:custGeom>
                <a:avLst/>
                <a:gdLst/>
                <a:ahLst/>
                <a:cxnLst/>
                <a:rect l="0" t="0" r="r" b="b"/>
                <a:pathLst>
                  <a:path w="41" h="375" fill="none">
                    <a:moveTo>
                      <a:pt x="41" y="375"/>
                    </a:moveTo>
                    <a:lnTo>
                      <a:pt x="0" y="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78" name="Flecha 116_2"/>
              <p:cNvSpPr/>
              <p:nvPr/>
            </p:nvSpPr>
            <p:spPr>
              <a:xfrm>
                <a:off x="1973580" y="3893820"/>
                <a:ext cx="9144" cy="4191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458" fill="none">
                    <a:moveTo>
                      <a:pt x="0" y="0"/>
                    </a:moveTo>
                    <a:lnTo>
                      <a:pt x="0" y="458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79" name="Flecha 118_2"/>
              <p:cNvSpPr/>
              <p:nvPr/>
            </p:nvSpPr>
            <p:spPr>
              <a:xfrm>
                <a:off x="1973580" y="3893820"/>
                <a:ext cx="9144" cy="419100"/>
              </a:xfrm>
              <a:custGeom>
                <a:avLst/>
                <a:gdLst/>
                <a:ahLst/>
                <a:cxnLst/>
                <a:rect l="0" t="0" r="r" b="b"/>
                <a:pathLst>
                  <a:path w="10" h="458" fill="none">
                    <a:moveTo>
                      <a:pt x="0" y="0"/>
                    </a:moveTo>
                    <a:lnTo>
                      <a:pt x="0" y="458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80" name="Flecha 120_2"/>
              <p:cNvSpPr/>
              <p:nvPr/>
            </p:nvSpPr>
            <p:spPr>
              <a:xfrm>
                <a:off x="1973580" y="4312920"/>
                <a:ext cx="2667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91" h="250" fill="none">
                    <a:moveTo>
                      <a:pt x="0" y="0"/>
                    </a:moveTo>
                    <a:lnTo>
                      <a:pt x="291" y="25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81" name="Flecha 122_2"/>
              <p:cNvSpPr/>
              <p:nvPr/>
            </p:nvSpPr>
            <p:spPr>
              <a:xfrm>
                <a:off x="1973580" y="4312920"/>
                <a:ext cx="2667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91" h="250" fill="none">
                    <a:moveTo>
                      <a:pt x="0" y="0"/>
                    </a:moveTo>
                    <a:lnTo>
                      <a:pt x="291" y="25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82" name="Flecha 124_2"/>
              <p:cNvSpPr/>
              <p:nvPr/>
            </p:nvSpPr>
            <p:spPr>
              <a:xfrm>
                <a:off x="1706880" y="4312920"/>
                <a:ext cx="2667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91" h="250" fill="none">
                    <a:moveTo>
                      <a:pt x="291" y="0"/>
                    </a:moveTo>
                    <a:lnTo>
                      <a:pt x="0" y="250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83" name="Flecha 126_2"/>
              <p:cNvSpPr/>
              <p:nvPr/>
            </p:nvSpPr>
            <p:spPr>
              <a:xfrm>
                <a:off x="1706880" y="4312920"/>
                <a:ext cx="266700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91" h="250" fill="none">
                    <a:moveTo>
                      <a:pt x="291" y="0"/>
                    </a:moveTo>
                    <a:lnTo>
                      <a:pt x="0" y="250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84" name="Flecha 128_2"/>
              <p:cNvSpPr/>
              <p:nvPr/>
            </p:nvSpPr>
            <p:spPr>
              <a:xfrm>
                <a:off x="1783080" y="3893820"/>
                <a:ext cx="190500" cy="133350"/>
              </a:xfrm>
              <a:custGeom>
                <a:avLst/>
                <a:gdLst/>
                <a:ahLst/>
                <a:cxnLst/>
                <a:rect l="0" t="0" r="r" b="b"/>
                <a:pathLst>
                  <a:path w="208" h="145" fill="none">
                    <a:moveTo>
                      <a:pt x="208" y="0"/>
                    </a:moveTo>
                    <a:lnTo>
                      <a:pt x="0" y="145"/>
                    </a:lnTo>
                  </a:path>
                </a:pathLst>
              </a:custGeom>
              <a:noFill/>
              <a:ln w="84666" cap="rnd">
                <a:solidFill>
                  <a:srgbClr val="B9B9B9"/>
                </a:solidFill>
                <a:round/>
              </a:ln>
            </p:spPr>
          </p:sp>
          <p:sp>
            <p:nvSpPr>
              <p:cNvPr id="85" name="Flecha 130_2"/>
              <p:cNvSpPr/>
              <p:nvPr/>
            </p:nvSpPr>
            <p:spPr>
              <a:xfrm>
                <a:off x="1783080" y="3893820"/>
                <a:ext cx="190500" cy="133350"/>
              </a:xfrm>
              <a:custGeom>
                <a:avLst/>
                <a:gdLst/>
                <a:ahLst/>
                <a:cxnLst/>
                <a:rect l="0" t="0" r="r" b="b"/>
                <a:pathLst>
                  <a:path w="208" h="145" fill="none">
                    <a:moveTo>
                      <a:pt x="208" y="0"/>
                    </a:moveTo>
                    <a:lnTo>
                      <a:pt x="0" y="145"/>
                    </a:lnTo>
                  </a:path>
                </a:pathLst>
              </a:custGeom>
              <a:noFill/>
              <a:ln w="47625" cap="rnd">
                <a:solidFill>
                  <a:srgbClr val="FFFFFF"/>
                </a:solidFill>
                <a:round/>
              </a:ln>
            </p:spPr>
          </p:sp>
          <p:sp>
            <p:nvSpPr>
              <p:cNvPr id="86" name="Forma 132"/>
              <p:cNvSpPr/>
              <p:nvPr/>
            </p:nvSpPr>
            <p:spPr>
              <a:xfrm>
                <a:off x="1230683" y="372242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7" name="Forma 133"/>
              <p:cNvSpPr/>
              <p:nvPr/>
            </p:nvSpPr>
            <p:spPr>
              <a:xfrm>
                <a:off x="1497383" y="322712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8" name="Forma 134"/>
              <p:cNvSpPr/>
              <p:nvPr/>
            </p:nvSpPr>
            <p:spPr>
              <a:xfrm>
                <a:off x="2145083" y="444632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89" name="Forma 135"/>
              <p:cNvSpPr/>
              <p:nvPr/>
            </p:nvSpPr>
            <p:spPr>
              <a:xfrm>
                <a:off x="1611683" y="444632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0" name="Forma 136"/>
              <p:cNvSpPr/>
              <p:nvPr/>
            </p:nvSpPr>
            <p:spPr>
              <a:xfrm>
                <a:off x="1687883" y="3931973"/>
                <a:ext cx="190393" cy="19039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1" name="Forma 137"/>
              <p:cNvSpPr/>
              <p:nvPr/>
            </p:nvSpPr>
            <p:spPr>
              <a:xfrm>
                <a:off x="1820037" y="374027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2" name="Forma 138"/>
              <p:cNvSpPr/>
              <p:nvPr/>
            </p:nvSpPr>
            <p:spPr>
              <a:xfrm>
                <a:off x="2201037" y="354977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3" name="Forma 139"/>
              <p:cNvSpPr/>
              <p:nvPr/>
            </p:nvSpPr>
            <p:spPr>
              <a:xfrm>
                <a:off x="2543937" y="370217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4" name="Forma 140"/>
              <p:cNvSpPr/>
              <p:nvPr/>
            </p:nvSpPr>
            <p:spPr>
              <a:xfrm>
                <a:off x="2239137" y="316877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5" name="Forma 141"/>
              <p:cNvSpPr/>
              <p:nvPr/>
            </p:nvSpPr>
            <p:spPr>
              <a:xfrm>
                <a:off x="1477137" y="351167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CA8F3"/>
                  </a:gs>
                  <a:gs pos="75000">
                    <a:srgbClr val="7C8CF0"/>
                  </a:gs>
                  <a:gs pos="100000">
                    <a:srgbClr val="5662A8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96" name="Forma 142"/>
              <p:cNvSpPr/>
              <p:nvPr/>
            </p:nvSpPr>
            <p:spPr>
              <a:xfrm>
                <a:off x="1820037" y="4159377"/>
                <a:ext cx="307086" cy="307086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</p:grpSp>
      <p:sp>
        <p:nvSpPr>
          <p:cNvPr id="97" name="Micro vs macro"/>
          <p:cNvSpPr/>
          <p:nvPr/>
        </p:nvSpPr>
        <p:spPr>
          <a:xfrm>
            <a:off x="365760" y="5074920"/>
            <a:ext cx="11567160" cy="1371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Macro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se necesitan en grandes cantidades; componente estructural y funcional.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Micro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(vitaminas, minerales): menores cantidades, pero esenciales: son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cofactores de enzimas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(p. ej., B</a:t>
            </a:r>
            <a:r>
              <a:rPr lang="es-AR" sz="200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B</a:t>
            </a:r>
            <a:r>
              <a:rPr lang="es-AR" sz="200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 esta unidad).</a:t>
            </a:r>
            <a:endParaRPr lang="es-AR" sz="20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3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MACRONUTRIENTES Y MICRONUTRIENTES</a:t>
            </a:r>
            <a:endParaRPr lang="es-AR" sz="23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9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Rotonda"/>
          <p:cNvGrpSpPr/>
          <p:nvPr/>
        </p:nvGrpSpPr>
        <p:grpSpPr>
          <a:xfrm>
            <a:off x="2468880" y="2011680"/>
            <a:ext cx="3474720" cy="3474720"/>
            <a:chOff x="2468880" y="2011680"/>
            <a:chExt cx="3474720" cy="3474720"/>
          </a:xfrm>
        </p:grpSpPr>
        <p:sp>
          <p:nvSpPr>
            <p:cNvPr id="6" name="Forma 5"/>
            <p:cNvSpPr/>
            <p:nvPr/>
          </p:nvSpPr>
          <p:spPr>
            <a:xfrm>
              <a:off x="2468880" y="2011680"/>
              <a:ext cx="3474720" cy="3474720"/>
            </a:xfrm>
            <a:prstGeom prst="donut">
              <a:avLst>
                <a:gd name="adj" fmla="val 9000"/>
              </a:avLst>
            </a:prstGeom>
            <a:gradFill rotWithShape="1">
              <a:gsLst>
                <a:gs pos="0">
                  <a:srgbClr val="7F8C8D"/>
                </a:gs>
                <a:gs pos="100000">
                  <a:srgbClr val="5D6D7E"/>
                </a:gs>
              </a:gsLst>
              <a:lin ang="540000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2834640" y="2377440"/>
              <a:ext cx="2743200" cy="2743200"/>
            </a:xfrm>
            <a:prstGeom prst="ellipse">
              <a:avLst/>
            </a:prstGeom>
            <a:gradFill rotWithShape="1">
              <a:gsLst>
                <a:gs pos="0">
                  <a:srgbClr val="B4ECCC"/>
                </a:gs>
                <a:gs pos="55000">
                  <a:srgbClr val="82E0AA"/>
                </a:gs>
                <a:gs pos="100000">
                  <a:srgbClr val="61A87F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E1E1E"/>
              </a:solidFill>
              <a:round/>
            </a:ln>
          </p:spPr>
        </p:sp>
      </p:grpSp>
      <p:sp>
        <p:nvSpPr>
          <p:cNvPr id="8" name="!!AcetilCoA"/>
          <p:cNvSpPr/>
          <p:nvPr/>
        </p:nvSpPr>
        <p:spPr>
          <a:xfrm>
            <a:off x="3200400" y="3429000"/>
            <a:ext cx="2011680" cy="6400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800" dirty="0">
              <a:latin typeface="Calibri"/>
            </a:endParaRPr>
          </a:p>
        </p:txBody>
      </p:sp>
      <p:grpSp>
        <p:nvGrpSpPr>
          <p:cNvPr id="9" name="Entrada Hidratos de carbono"/>
          <p:cNvGrpSpPr/>
          <p:nvPr/>
        </p:nvGrpSpPr>
        <p:grpSpPr>
          <a:xfrm>
            <a:off x="198522" y="2337705"/>
            <a:ext cx="2332171" cy="801485"/>
            <a:chOff x="198522" y="2337705"/>
            <a:chExt cx="2332171" cy="801485"/>
          </a:xfrm>
        </p:grpSpPr>
        <p:sp>
          <p:nvSpPr>
            <p:cNvPr id="10" name="Flecha 9_2"/>
            <p:cNvSpPr/>
            <p:nvPr/>
          </p:nvSpPr>
          <p:spPr>
            <a:xfrm>
              <a:off x="1112922" y="2904633"/>
              <a:ext cx="1417771" cy="234557"/>
            </a:xfrm>
            <a:custGeom>
              <a:avLst/>
              <a:gdLst/>
              <a:ahLst/>
              <a:cxnLst/>
              <a:rect l="0" t="0" r="r" b="b"/>
              <a:pathLst>
                <a:path w="1550" h="256" fill="none">
                  <a:moveTo>
                    <a:pt x="0" y="0"/>
                  </a:moveTo>
                  <a:lnTo>
                    <a:pt x="1550" y="256"/>
                  </a:lnTo>
                </a:path>
              </a:pathLst>
            </a:custGeom>
            <a:noFill/>
            <a:ln w="114300" cap="rnd">
              <a:solidFill>
                <a:srgbClr val="3B82C4"/>
              </a:solidFill>
              <a:round/>
              <a:tailEnd type="triangle" w="med" len="med"/>
            </a:ln>
          </p:spPr>
        </p:sp>
        <p:sp>
          <p:nvSpPr>
            <p:cNvPr id="11" name="Ficha Hidratos de carbon"/>
            <p:cNvSpPr/>
            <p:nvPr/>
          </p:nvSpPr>
          <p:spPr>
            <a:xfrm>
              <a:off x="198522" y="2337705"/>
              <a:ext cx="201168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D416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Hidratos de carbono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12" name="Entrada Lípidos (ácidos grasos)"/>
          <p:cNvGrpSpPr/>
          <p:nvPr/>
        </p:nvGrpSpPr>
        <p:grpSpPr>
          <a:xfrm>
            <a:off x="198522" y="4026519"/>
            <a:ext cx="2332171" cy="566928"/>
            <a:chOff x="198522" y="4026519"/>
            <a:chExt cx="2332171" cy="566928"/>
          </a:xfrm>
        </p:grpSpPr>
        <p:sp>
          <p:nvSpPr>
            <p:cNvPr id="13" name="Flecha 13_2"/>
            <p:cNvSpPr/>
            <p:nvPr/>
          </p:nvSpPr>
          <p:spPr>
            <a:xfrm>
              <a:off x="1112922" y="4358889"/>
              <a:ext cx="1417771" cy="234557"/>
            </a:xfrm>
            <a:custGeom>
              <a:avLst/>
              <a:gdLst/>
              <a:ahLst/>
              <a:cxnLst/>
              <a:rect l="0" t="0" r="r" b="b"/>
              <a:pathLst>
                <a:path w="1550" h="256" fill="none">
                  <a:moveTo>
                    <a:pt x="0" y="256"/>
                  </a:moveTo>
                  <a:lnTo>
                    <a:pt x="1550" y="0"/>
                  </a:lnTo>
                </a:path>
              </a:pathLst>
            </a:custGeom>
            <a:noFill/>
            <a:ln w="114300" cap="rnd">
              <a:solidFill>
                <a:srgbClr val="F2B90F"/>
              </a:solidFill>
              <a:round/>
              <a:tailEnd type="triangle" w="med" len="med"/>
            </a:ln>
          </p:spPr>
        </p:sp>
        <p:sp>
          <p:nvSpPr>
            <p:cNvPr id="14" name="Ficha Lípidos (ácidos gr"/>
            <p:cNvSpPr/>
            <p:nvPr/>
          </p:nvSpPr>
          <p:spPr>
            <a:xfrm>
              <a:off x="198522" y="4026519"/>
              <a:ext cx="201168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6D163"/>
                </a:gs>
                <a:gs pos="55000">
                  <a:srgbClr val="F2B90F"/>
                </a:gs>
                <a:gs pos="100000">
                  <a:srgbClr val="C1940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5C07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Lípidos (ácidos grasos)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15" name="Entrada Proteínas (aminoácidos)"/>
          <p:cNvGrpSpPr/>
          <p:nvPr/>
        </p:nvGrpSpPr>
        <p:grpSpPr>
          <a:xfrm>
            <a:off x="1645920" y="1043999"/>
            <a:ext cx="2011680" cy="1160848"/>
            <a:chOff x="1645920" y="1043999"/>
            <a:chExt cx="2011680" cy="1160848"/>
          </a:xfrm>
        </p:grpSpPr>
        <p:sp>
          <p:nvSpPr>
            <p:cNvPr id="16" name="Flecha 17_2"/>
            <p:cNvSpPr/>
            <p:nvPr/>
          </p:nvSpPr>
          <p:spPr>
            <a:xfrm>
              <a:off x="2560320" y="1610927"/>
              <a:ext cx="754380" cy="593920"/>
            </a:xfrm>
            <a:custGeom>
              <a:avLst/>
              <a:gdLst/>
              <a:ahLst/>
              <a:cxnLst/>
              <a:rect l="0" t="0" r="r" b="b"/>
              <a:pathLst>
                <a:path w="825" h="649" fill="none">
                  <a:moveTo>
                    <a:pt x="0" y="0"/>
                  </a:moveTo>
                  <a:lnTo>
                    <a:pt x="825" y="649"/>
                  </a:lnTo>
                </a:path>
              </a:pathLst>
            </a:custGeom>
            <a:noFill/>
            <a:ln w="114300" cap="rnd">
              <a:solidFill>
                <a:srgbClr val="27AE60"/>
              </a:solidFill>
              <a:round/>
              <a:tailEnd type="triangle" w="med" len="med"/>
            </a:ln>
          </p:spPr>
        </p:sp>
        <p:sp>
          <p:nvSpPr>
            <p:cNvPr id="17" name="Ficha Proteínas (aminoác"/>
            <p:cNvSpPr/>
            <p:nvPr/>
          </p:nvSpPr>
          <p:spPr>
            <a:xfrm>
              <a:off x="1645920" y="1043999"/>
              <a:ext cx="201168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3573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Proteínas (aminoácidos)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18" name="Salida Ciclo de Krebs"/>
          <p:cNvGrpSpPr/>
          <p:nvPr/>
        </p:nvGrpSpPr>
        <p:grpSpPr>
          <a:xfrm>
            <a:off x="5750433" y="2267712"/>
            <a:ext cx="3297086" cy="589788"/>
            <a:chOff x="5750433" y="2267712"/>
            <a:chExt cx="3297086" cy="589788"/>
          </a:xfrm>
        </p:grpSpPr>
        <p:sp>
          <p:nvSpPr>
            <p:cNvPr id="19" name="Flecha 21_2"/>
            <p:cNvSpPr/>
            <p:nvPr/>
          </p:nvSpPr>
          <p:spPr>
            <a:xfrm>
              <a:off x="5750433" y="2468880"/>
              <a:ext cx="1148246" cy="388620"/>
            </a:xfrm>
            <a:custGeom>
              <a:avLst/>
              <a:gdLst/>
              <a:ahLst/>
              <a:cxnLst/>
              <a:rect l="0" t="0" r="r" b="b"/>
              <a:pathLst>
                <a:path w="1255" h="424" fill="none">
                  <a:moveTo>
                    <a:pt x="0" y="424"/>
                  </a:moveTo>
                  <a:lnTo>
                    <a:pt x="1255" y="0"/>
                  </a:lnTo>
                </a:path>
              </a:pathLst>
            </a:custGeom>
            <a:noFill/>
            <a:ln w="114300" cap="rnd">
              <a:solidFill>
                <a:srgbClr val="E74C3C"/>
              </a:solidFill>
              <a:round/>
              <a:tailEnd type="triangle" w="med" len="med"/>
            </a:ln>
          </p:spPr>
        </p:sp>
        <p:sp>
          <p:nvSpPr>
            <p:cNvPr id="20" name="Ficha Ciclo de Krebs"/>
            <p:cNvSpPr/>
            <p:nvPr/>
          </p:nvSpPr>
          <p:spPr>
            <a:xfrm>
              <a:off x="6944398" y="2267712"/>
              <a:ext cx="210312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F8A80"/>
                </a:gs>
                <a:gs pos="55000">
                  <a:srgbClr val="E74C3C"/>
                </a:gs>
                <a:gs pos="100000">
                  <a:srgbClr val="B83C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3261E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Ciclo de Krebs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21" name="Salida Síntesis de ácidos grasos"/>
          <p:cNvGrpSpPr/>
          <p:nvPr/>
        </p:nvGrpSpPr>
        <p:grpSpPr>
          <a:xfrm>
            <a:off x="5881787" y="4358889"/>
            <a:ext cx="3394760" cy="476144"/>
            <a:chOff x="5881787" y="4358889"/>
            <a:chExt cx="3394760" cy="476144"/>
          </a:xfrm>
        </p:grpSpPr>
        <p:sp>
          <p:nvSpPr>
            <p:cNvPr id="22" name="Flecha 25_2"/>
            <p:cNvSpPr/>
            <p:nvPr/>
          </p:nvSpPr>
          <p:spPr>
            <a:xfrm>
              <a:off x="5881787" y="4358889"/>
              <a:ext cx="1245920" cy="265832"/>
            </a:xfrm>
            <a:custGeom>
              <a:avLst/>
              <a:gdLst/>
              <a:ahLst/>
              <a:cxnLst/>
              <a:rect l="0" t="0" r="r" b="b"/>
              <a:pathLst>
                <a:path w="1362" h="290" fill="none">
                  <a:moveTo>
                    <a:pt x="0" y="0"/>
                  </a:moveTo>
                  <a:lnTo>
                    <a:pt x="1362" y="290"/>
                  </a:lnTo>
                </a:path>
              </a:pathLst>
            </a:custGeom>
            <a:noFill/>
            <a:ln w="114300" cap="rnd">
              <a:solidFill>
                <a:srgbClr val="F39C12"/>
              </a:solidFill>
              <a:round/>
              <a:tailEnd type="triangle" w="med" len="med"/>
            </a:ln>
          </p:spPr>
        </p:sp>
        <p:sp>
          <p:nvSpPr>
            <p:cNvPr id="23" name="Ficha Síntesis de ácidos"/>
            <p:cNvSpPr/>
            <p:nvPr/>
          </p:nvSpPr>
          <p:spPr>
            <a:xfrm>
              <a:off x="7173427" y="4423553"/>
              <a:ext cx="210312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Síntesis de ácidos grasos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24" name="Salida Cuerpos cetónicos"/>
          <p:cNvGrpSpPr/>
          <p:nvPr/>
        </p:nvGrpSpPr>
        <p:grpSpPr>
          <a:xfrm>
            <a:off x="5097780" y="5293233"/>
            <a:ext cx="2811780" cy="1102878"/>
            <a:chOff x="5097780" y="5293233"/>
            <a:chExt cx="2811780" cy="1102878"/>
          </a:xfrm>
        </p:grpSpPr>
        <p:sp>
          <p:nvSpPr>
            <p:cNvPr id="25" name="Flecha 29_2"/>
            <p:cNvSpPr/>
            <p:nvPr/>
          </p:nvSpPr>
          <p:spPr>
            <a:xfrm>
              <a:off x="5097780" y="5293233"/>
              <a:ext cx="662940" cy="673110"/>
            </a:xfrm>
            <a:custGeom>
              <a:avLst/>
              <a:gdLst/>
              <a:ahLst/>
              <a:cxnLst/>
              <a:rect l="0" t="0" r="r" b="b"/>
              <a:pathLst>
                <a:path w="724" h="736" fill="none">
                  <a:moveTo>
                    <a:pt x="0" y="0"/>
                  </a:moveTo>
                  <a:lnTo>
                    <a:pt x="724" y="736"/>
                  </a:lnTo>
                </a:path>
              </a:pathLst>
            </a:custGeom>
            <a:noFill/>
            <a:ln w="114300" cap="rnd">
              <a:solidFill>
                <a:srgbClr val="C2185B"/>
              </a:solidFill>
              <a:round/>
              <a:tailEnd type="triangle" w="med" len="med"/>
            </a:ln>
          </p:spPr>
        </p:sp>
        <p:sp>
          <p:nvSpPr>
            <p:cNvPr id="26" name="Ficha Cuerpos cetónicos"/>
            <p:cNvSpPr/>
            <p:nvPr/>
          </p:nvSpPr>
          <p:spPr>
            <a:xfrm>
              <a:off x="5806440" y="5984630"/>
              <a:ext cx="210312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76894"/>
                </a:gs>
                <a:gs pos="55000">
                  <a:srgbClr val="C2185B"/>
                </a:gs>
                <a:gs pos="100000">
                  <a:srgbClr val="9B1348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10C2D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Cuerpos cetónicos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27" name="Salida Colesterol y esteroides"/>
          <p:cNvGrpSpPr/>
          <p:nvPr/>
        </p:nvGrpSpPr>
        <p:grpSpPr>
          <a:xfrm>
            <a:off x="3959338" y="818761"/>
            <a:ext cx="2103120" cy="1207956"/>
            <a:chOff x="3959338" y="818761"/>
            <a:chExt cx="2103120" cy="1207956"/>
          </a:xfrm>
        </p:grpSpPr>
        <p:sp>
          <p:nvSpPr>
            <p:cNvPr id="28" name="Flecha 33_2"/>
            <p:cNvSpPr/>
            <p:nvPr/>
          </p:nvSpPr>
          <p:spPr>
            <a:xfrm>
              <a:off x="4667735" y="1275961"/>
              <a:ext cx="343163" cy="750756"/>
            </a:xfrm>
            <a:custGeom>
              <a:avLst/>
              <a:gdLst/>
              <a:ahLst/>
              <a:cxnLst/>
              <a:rect l="0" t="0" r="r" b="b"/>
              <a:pathLst>
                <a:path w="375" h="821" fill="none">
                  <a:moveTo>
                    <a:pt x="0" y="821"/>
                  </a:moveTo>
                  <a:lnTo>
                    <a:pt x="375" y="0"/>
                  </a:lnTo>
                </a:path>
              </a:pathLst>
            </a:custGeom>
            <a:noFill/>
            <a:ln w="114300" cap="rnd">
              <a:solidFill>
                <a:srgbClr val="8E44AD"/>
              </a:solidFill>
              <a:round/>
              <a:tailEnd type="triangle" w="med" len="med"/>
            </a:ln>
          </p:spPr>
        </p:sp>
        <p:sp>
          <p:nvSpPr>
            <p:cNvPr id="29" name="Ficha Colesterol y ester"/>
            <p:cNvSpPr/>
            <p:nvPr/>
          </p:nvSpPr>
          <p:spPr>
            <a:xfrm>
              <a:off x="3959338" y="818761"/>
              <a:ext cx="210312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71368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Colesterol y esteroides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30" name="Analogía rotonda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31" name="Forma 37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Molécula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central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metabolismo. Como una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rotonda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para pasar del metabolismo de las proteínas al de los lípidos hay que «girar» por ella.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2" name="Forma 38"/>
            <p:cNvSpPr/>
            <p:nvPr/>
          </p:nvSpPr>
          <p:spPr>
            <a:xfrm>
              <a:off x="8677656" y="1097280"/>
              <a:ext cx="114387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ANALOGÍA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3" name="Convergencia"/>
          <p:cNvSpPr/>
          <p:nvPr/>
        </p:nvSpPr>
        <p:spPr>
          <a:xfrm>
            <a:off x="8549640" y="406908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caminos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catabólicos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confluyen en el acetil-CoA y de él parten caminos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anabólicos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ACETIL-CoA: LA ROTONDA METABÓLICA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3" grpId="0" animBg="1"/>
    </p:bld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6" name="!!Grupo acetilo"/>
          <p:cNvGrpSpPr/>
          <p:nvPr/>
        </p:nvGrpSpPr>
        <p:grpSpPr>
          <a:xfrm>
            <a:off x="502225" y="1902582"/>
            <a:ext cx="2164195" cy="1072911"/>
            <a:chOff x="502225" y="1902582"/>
            <a:chExt cx="2164195" cy="1072911"/>
          </a:xfrm>
        </p:grpSpPr>
        <p:grpSp>
          <p:nvGrpSpPr>
            <p:cNvPr id="7" name="Acetilo 3D"/>
            <p:cNvGrpSpPr/>
            <p:nvPr/>
          </p:nvGrpSpPr>
          <p:grpSpPr>
            <a:xfrm>
              <a:off x="502225" y="1902582"/>
              <a:ext cx="2164195" cy="1072911"/>
              <a:chOff x="502225" y="1902582"/>
              <a:chExt cx="2164195" cy="1072911"/>
            </a:xfrm>
          </p:grpSpPr>
          <p:sp>
            <p:nvSpPr>
              <p:cNvPr id="8" name="Flecha 7_2"/>
              <p:cNvSpPr/>
              <p:nvPr/>
            </p:nvSpPr>
            <p:spPr>
              <a:xfrm>
                <a:off x="833453" y="2449393"/>
                <a:ext cx="428719" cy="116923"/>
              </a:xfrm>
              <a:custGeom>
                <a:avLst/>
                <a:gdLst/>
                <a:ahLst/>
                <a:cxnLst/>
                <a:rect l="0" t="0" r="r" b="b"/>
                <a:pathLst>
                  <a:path w="468" h="127" fill="none">
                    <a:moveTo>
                      <a:pt x="468" y="0"/>
                    </a:moveTo>
                    <a:lnTo>
                      <a:pt x="0" y="127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9" name="Flecha 9_2"/>
              <p:cNvSpPr/>
              <p:nvPr/>
            </p:nvSpPr>
            <p:spPr>
              <a:xfrm>
                <a:off x="833453" y="2449393"/>
                <a:ext cx="428719" cy="116923"/>
              </a:xfrm>
              <a:custGeom>
                <a:avLst/>
                <a:gdLst/>
                <a:ahLst/>
                <a:cxnLst/>
                <a:rect l="0" t="0" r="r" b="b"/>
                <a:pathLst>
                  <a:path w="468" h="127" fill="none">
                    <a:moveTo>
                      <a:pt x="468" y="0"/>
                    </a:moveTo>
                    <a:lnTo>
                      <a:pt x="0" y="127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10" name="Flecha 11_2"/>
              <p:cNvSpPr/>
              <p:nvPr/>
            </p:nvSpPr>
            <p:spPr>
              <a:xfrm>
                <a:off x="1262172" y="2059649"/>
                <a:ext cx="116923" cy="389744"/>
              </a:xfrm>
              <a:custGeom>
                <a:avLst/>
                <a:gdLst/>
                <a:ahLst/>
                <a:cxnLst/>
                <a:rect l="0" t="0" r="r" b="b"/>
                <a:pathLst>
                  <a:path w="127" h="426" fill="none">
                    <a:moveTo>
                      <a:pt x="0" y="426"/>
                    </a:moveTo>
                    <a:lnTo>
                      <a:pt x="127" y="0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11" name="Flecha 13_2"/>
              <p:cNvSpPr/>
              <p:nvPr/>
            </p:nvSpPr>
            <p:spPr>
              <a:xfrm>
                <a:off x="1262172" y="2059649"/>
                <a:ext cx="116923" cy="389744"/>
              </a:xfrm>
              <a:custGeom>
                <a:avLst/>
                <a:gdLst/>
                <a:ahLst/>
                <a:cxnLst/>
                <a:rect l="0" t="0" r="r" b="b"/>
                <a:pathLst>
                  <a:path w="127" h="426" fill="none">
                    <a:moveTo>
                      <a:pt x="0" y="426"/>
                    </a:moveTo>
                    <a:lnTo>
                      <a:pt x="127" y="0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12" name="Flecha 15_2"/>
              <p:cNvSpPr/>
              <p:nvPr/>
            </p:nvSpPr>
            <p:spPr>
              <a:xfrm>
                <a:off x="1262172" y="2449393"/>
                <a:ext cx="428719" cy="233847"/>
              </a:xfrm>
              <a:custGeom>
                <a:avLst/>
                <a:gdLst/>
                <a:ahLst/>
                <a:cxnLst/>
                <a:rect l="0" t="0" r="r" b="b"/>
                <a:pathLst>
                  <a:path w="468" h="255" fill="none">
                    <a:moveTo>
                      <a:pt x="0" y="0"/>
                    </a:moveTo>
                    <a:lnTo>
                      <a:pt x="468" y="255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13" name="Flecha 17_2"/>
              <p:cNvSpPr/>
              <p:nvPr/>
            </p:nvSpPr>
            <p:spPr>
              <a:xfrm>
                <a:off x="1262172" y="2449393"/>
                <a:ext cx="428719" cy="233847"/>
              </a:xfrm>
              <a:custGeom>
                <a:avLst/>
                <a:gdLst/>
                <a:ahLst/>
                <a:cxnLst/>
                <a:rect l="0" t="0" r="r" b="b"/>
                <a:pathLst>
                  <a:path w="468" h="255" fill="none">
                    <a:moveTo>
                      <a:pt x="0" y="0"/>
                    </a:moveTo>
                    <a:lnTo>
                      <a:pt x="468" y="255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14" name="Flecha 19_2"/>
              <p:cNvSpPr/>
              <p:nvPr/>
            </p:nvSpPr>
            <p:spPr>
              <a:xfrm>
                <a:off x="599607" y="2293495"/>
                <a:ext cx="233847" cy="272821"/>
              </a:xfrm>
              <a:custGeom>
                <a:avLst/>
                <a:gdLst/>
                <a:ahLst/>
                <a:cxnLst/>
                <a:rect l="0" t="0" r="r" b="b"/>
                <a:pathLst>
                  <a:path w="255" h="298" fill="none">
                    <a:moveTo>
                      <a:pt x="255" y="298"/>
                    </a:moveTo>
                    <a:lnTo>
                      <a:pt x="0" y="0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15" name="Flecha 21_2"/>
              <p:cNvSpPr/>
              <p:nvPr/>
            </p:nvSpPr>
            <p:spPr>
              <a:xfrm>
                <a:off x="599607" y="2293495"/>
                <a:ext cx="233847" cy="272821"/>
              </a:xfrm>
              <a:custGeom>
                <a:avLst/>
                <a:gdLst/>
                <a:ahLst/>
                <a:cxnLst/>
                <a:rect l="0" t="0" r="r" b="b"/>
                <a:pathLst>
                  <a:path w="255" h="298" fill="none">
                    <a:moveTo>
                      <a:pt x="255" y="298"/>
                    </a:moveTo>
                    <a:lnTo>
                      <a:pt x="0" y="0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16" name="Flecha 23_2"/>
              <p:cNvSpPr/>
              <p:nvPr/>
            </p:nvSpPr>
            <p:spPr>
              <a:xfrm>
                <a:off x="677555" y="2566316"/>
                <a:ext cx="155898" cy="311795"/>
              </a:xfrm>
              <a:custGeom>
                <a:avLst/>
                <a:gdLst/>
                <a:ahLst/>
                <a:cxnLst/>
                <a:rect l="0" t="0" r="r" b="b"/>
                <a:pathLst>
                  <a:path w="170" h="340" fill="none">
                    <a:moveTo>
                      <a:pt x="170" y="0"/>
                    </a:moveTo>
                    <a:lnTo>
                      <a:pt x="0" y="340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17" name="Flecha 25_2"/>
              <p:cNvSpPr/>
              <p:nvPr/>
            </p:nvSpPr>
            <p:spPr>
              <a:xfrm>
                <a:off x="677555" y="2566316"/>
                <a:ext cx="155898" cy="311795"/>
              </a:xfrm>
              <a:custGeom>
                <a:avLst/>
                <a:gdLst/>
                <a:ahLst/>
                <a:cxnLst/>
                <a:rect l="0" t="0" r="r" b="b"/>
                <a:pathLst>
                  <a:path w="170" h="340" fill="none">
                    <a:moveTo>
                      <a:pt x="170" y="0"/>
                    </a:moveTo>
                    <a:lnTo>
                      <a:pt x="0" y="340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18" name="Flecha 27_2"/>
              <p:cNvSpPr/>
              <p:nvPr/>
            </p:nvSpPr>
            <p:spPr>
              <a:xfrm>
                <a:off x="833453" y="2566316"/>
                <a:ext cx="38974" cy="253334"/>
              </a:xfrm>
              <a:custGeom>
                <a:avLst/>
                <a:gdLst/>
                <a:ahLst/>
                <a:cxnLst/>
                <a:rect l="0" t="0" r="r" b="b"/>
                <a:pathLst>
                  <a:path w="42" h="277" fill="none">
                    <a:moveTo>
                      <a:pt x="0" y="0"/>
                    </a:moveTo>
                    <a:lnTo>
                      <a:pt x="42" y="277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19" name="Flecha 29_2"/>
              <p:cNvSpPr/>
              <p:nvPr/>
            </p:nvSpPr>
            <p:spPr>
              <a:xfrm>
                <a:off x="833453" y="2566316"/>
                <a:ext cx="38974" cy="253334"/>
              </a:xfrm>
              <a:custGeom>
                <a:avLst/>
                <a:gdLst/>
                <a:ahLst/>
                <a:cxnLst/>
                <a:rect l="0" t="0" r="r" b="b"/>
                <a:pathLst>
                  <a:path w="42" h="277" fill="none">
                    <a:moveTo>
                      <a:pt x="0" y="0"/>
                    </a:moveTo>
                    <a:lnTo>
                      <a:pt x="42" y="277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20" name="Flecha 31_2"/>
              <p:cNvSpPr/>
              <p:nvPr/>
            </p:nvSpPr>
            <p:spPr>
              <a:xfrm>
                <a:off x="1690890" y="2527342"/>
                <a:ext cx="428719" cy="155898"/>
              </a:xfrm>
              <a:custGeom>
                <a:avLst/>
                <a:gdLst/>
                <a:ahLst/>
                <a:cxnLst/>
                <a:rect l="0" t="0" r="r" b="b"/>
                <a:pathLst>
                  <a:path w="468" h="170" fill="none">
                    <a:moveTo>
                      <a:pt x="0" y="170"/>
                    </a:moveTo>
                    <a:lnTo>
                      <a:pt x="468" y="0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21" name="Flecha 33_2"/>
              <p:cNvSpPr/>
              <p:nvPr/>
            </p:nvSpPr>
            <p:spPr>
              <a:xfrm>
                <a:off x="1690890" y="2527342"/>
                <a:ext cx="428719" cy="155898"/>
              </a:xfrm>
              <a:custGeom>
                <a:avLst/>
                <a:gdLst/>
                <a:ahLst/>
                <a:cxnLst/>
                <a:rect l="0" t="0" r="r" b="b"/>
                <a:pathLst>
                  <a:path w="468" h="170" fill="none">
                    <a:moveTo>
                      <a:pt x="0" y="170"/>
                    </a:moveTo>
                    <a:lnTo>
                      <a:pt x="468" y="0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22" name="Flecha 35_2"/>
              <p:cNvSpPr/>
              <p:nvPr/>
            </p:nvSpPr>
            <p:spPr>
              <a:xfrm>
                <a:off x="2119609" y="2527342"/>
                <a:ext cx="389744" cy="194872"/>
              </a:xfrm>
              <a:custGeom>
                <a:avLst/>
                <a:gdLst/>
                <a:ahLst/>
                <a:cxnLst/>
                <a:rect l="0" t="0" r="r" b="b"/>
                <a:pathLst>
                  <a:path w="426" h="213" fill="none">
                    <a:moveTo>
                      <a:pt x="0" y="0"/>
                    </a:moveTo>
                    <a:lnTo>
                      <a:pt x="426" y="213"/>
                    </a:lnTo>
                  </a:path>
                </a:pathLst>
              </a:custGeom>
              <a:noFill/>
              <a:ln w="86609" cap="rnd">
                <a:solidFill>
                  <a:srgbClr val="B9B9B9"/>
                </a:solidFill>
                <a:round/>
              </a:ln>
            </p:spPr>
          </p:sp>
          <p:sp>
            <p:nvSpPr>
              <p:cNvPr id="23" name="Flecha 37_2"/>
              <p:cNvSpPr/>
              <p:nvPr/>
            </p:nvSpPr>
            <p:spPr>
              <a:xfrm>
                <a:off x="2119609" y="2527342"/>
                <a:ext cx="389744" cy="194872"/>
              </a:xfrm>
              <a:custGeom>
                <a:avLst/>
                <a:gdLst/>
                <a:ahLst/>
                <a:cxnLst/>
                <a:rect l="0" t="0" r="r" b="b"/>
                <a:pathLst>
                  <a:path w="426" h="213" fill="none">
                    <a:moveTo>
                      <a:pt x="0" y="0"/>
                    </a:moveTo>
                    <a:lnTo>
                      <a:pt x="426" y="213"/>
                    </a:lnTo>
                  </a:path>
                </a:pathLst>
              </a:custGeom>
              <a:noFill/>
              <a:ln w="48718" cap="rnd">
                <a:solidFill>
                  <a:srgbClr val="FFFFFF"/>
                </a:solidFill>
                <a:round/>
              </a:ln>
            </p:spPr>
          </p:sp>
          <p:sp>
            <p:nvSpPr>
              <p:cNvPr id="24" name="Forma 39"/>
              <p:cNvSpPr/>
              <p:nvPr/>
            </p:nvSpPr>
            <p:spPr>
              <a:xfrm>
                <a:off x="502225" y="2196114"/>
                <a:ext cx="194763" cy="19476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25" name="Forma 40"/>
              <p:cNvSpPr/>
              <p:nvPr/>
            </p:nvSpPr>
            <p:spPr>
              <a:xfrm>
                <a:off x="580174" y="2780730"/>
                <a:ext cx="194763" cy="19476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26" name="Forma 41"/>
              <p:cNvSpPr/>
              <p:nvPr/>
            </p:nvSpPr>
            <p:spPr>
              <a:xfrm>
                <a:off x="775046" y="2722268"/>
                <a:ext cx="194763" cy="19476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6F6F6"/>
                  </a:gs>
                  <a:gs pos="75000">
                    <a:srgbClr val="F4F4F4"/>
                  </a:gs>
                  <a:gs pos="100000">
                    <a:srgbClr val="AAAAA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27" name="Forma 42"/>
              <p:cNvSpPr/>
              <p:nvPr/>
            </p:nvSpPr>
            <p:spPr>
              <a:xfrm>
                <a:off x="1105105" y="2292326"/>
                <a:ext cx="314134" cy="31413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28" name="Forma 43"/>
              <p:cNvSpPr/>
              <p:nvPr/>
            </p:nvSpPr>
            <p:spPr>
              <a:xfrm>
                <a:off x="676386" y="2409249"/>
                <a:ext cx="314134" cy="31413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29" name="Forma 44"/>
              <p:cNvSpPr/>
              <p:nvPr/>
            </p:nvSpPr>
            <p:spPr>
              <a:xfrm>
                <a:off x="1222028" y="1902582"/>
                <a:ext cx="314134" cy="31413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37B83"/>
                  </a:gs>
                  <a:gs pos="75000">
                    <a:srgbClr val="F0505A"/>
                  </a:gs>
                  <a:gs pos="100000">
                    <a:srgbClr val="A8383E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0" name="Forma 45"/>
              <p:cNvSpPr/>
              <p:nvPr/>
            </p:nvSpPr>
            <p:spPr>
              <a:xfrm>
                <a:off x="1962542" y="2370275"/>
                <a:ext cx="314134" cy="31413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1" name="Forma 46"/>
              <p:cNvSpPr/>
              <p:nvPr/>
            </p:nvSpPr>
            <p:spPr>
              <a:xfrm>
                <a:off x="2352287" y="2565147"/>
                <a:ext cx="314134" cy="314134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9EE09B"/>
                  </a:gs>
                  <a:gs pos="75000">
                    <a:srgbClr val="7ED67A"/>
                  </a:gs>
                  <a:gs pos="100000">
                    <a:srgbClr val="589555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  <p:sp>
            <p:nvSpPr>
              <p:cNvPr id="32" name="Forma 47"/>
              <p:cNvSpPr/>
              <p:nvPr/>
            </p:nvSpPr>
            <p:spPr>
              <a:xfrm>
                <a:off x="1518117" y="2510466"/>
                <a:ext cx="345547" cy="345547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30000">
                    <a:srgbClr val="F7DE6C"/>
                  </a:gs>
                  <a:gs pos="75000">
                    <a:srgbClr val="F5D33C"/>
                  </a:gs>
                  <a:gs pos="100000">
                    <a:srgbClr val="AB932A"/>
                  </a:gs>
                </a:gsLst>
                <a:path path="circle">
                  <a:fillToRect l="30000" t="25000" r="70000" b="75000"/>
                </a:path>
              </a:gradFill>
              <a:ln>
                <a:noFill/>
              </a:ln>
            </p:spPr>
          </p:sp>
        </p:grpSp>
      </p:grpSp>
      <p:sp>
        <p:nvSpPr>
          <p:cNvPr id="33" name="Rótulo acetilo"/>
          <p:cNvSpPr/>
          <p:nvPr/>
        </p:nvSpPr>
        <p:spPr>
          <a:xfrm>
            <a:off x="365760" y="3794760"/>
            <a:ext cx="2514600" cy="2651760"/>
          </a:xfrm>
          <a:prstGeom prst="roundRect">
            <a:avLst>
              <a:gd name="adj" fmla="val 9000"/>
            </a:avLst>
          </a:prstGeom>
          <a:solidFill>
            <a:srgbClr val="FCF3C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Grupo acetilo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(2 C): un metilo + un carbonilo (C=O). La parte «chiquita».</a:t>
            </a:r>
            <a:endParaRPr lang="es-AR" sz="1950" dirty="0">
              <a:latin typeface="Calibri"/>
            </a:endParaRPr>
          </a:p>
        </p:txBody>
      </p:sp>
      <p:sp>
        <p:nvSpPr>
          <p:cNvPr id="34" name="Tioéster"/>
          <p:cNvSpPr/>
          <p:nvPr/>
        </p:nvSpPr>
        <p:spPr>
          <a:xfrm>
            <a:off x="3108960" y="2240280"/>
            <a:ext cx="1453217" cy="335280"/>
          </a:xfrm>
          <a:prstGeom prst="rect">
            <a:avLst/>
          </a:prstGeom>
          <a:solidFill>
            <a:srgbClr val="FFC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–S– (tioéster)</a:t>
            </a:r>
            <a:endParaRPr lang="es-AR" sz="1600" dirty="0">
              <a:latin typeface="Calibri"/>
            </a:endParaRPr>
          </a:p>
        </p:txBody>
      </p:sp>
      <p:grpSp>
        <p:nvGrpSpPr>
          <p:cNvPr id="35" name="!!Coenzima A"/>
          <p:cNvGrpSpPr/>
          <p:nvPr/>
        </p:nvGrpSpPr>
        <p:grpSpPr>
          <a:xfrm>
            <a:off x="4754880" y="1371600"/>
            <a:ext cx="3200400" cy="2103120"/>
            <a:chOff x="4754880" y="1371600"/>
            <a:chExt cx="3200400" cy="2103120"/>
          </a:xfrm>
        </p:grpSpPr>
        <p:sp>
          <p:nvSpPr>
            <p:cNvPr id="36" name="Ficha β-mercaptoetilamin"/>
            <p:cNvSpPr/>
            <p:nvPr/>
          </p:nvSpPr>
          <p:spPr>
            <a:xfrm>
              <a:off x="4754880" y="1371600"/>
              <a:ext cx="2743200" cy="5486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9E8A1"/>
                </a:gs>
                <a:gs pos="55000">
                  <a:srgbClr val="F7DC6F"/>
                </a:gs>
                <a:gs pos="100000">
                  <a:srgbClr val="C5B058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B6E37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β-mercaptoetilamina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7" name="Ficha Ácido pantoténico "/>
            <p:cNvSpPr/>
            <p:nvPr/>
          </p:nvSpPr>
          <p:spPr>
            <a:xfrm>
              <a:off x="4754880" y="2148840"/>
              <a:ext cx="3200400" cy="5486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pantoténico (vit. B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8" name="Ficha ADP 3′-fosfato"/>
            <p:cNvSpPr/>
            <p:nvPr/>
          </p:nvSpPr>
          <p:spPr>
            <a:xfrm>
              <a:off x="4754880" y="2926080"/>
              <a:ext cx="2377440" cy="5486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D659"/>
                </a:gs>
                <a:gs pos="55000">
                  <a:srgbClr val="FFC000"/>
                </a:gs>
                <a:gs pos="100000">
                  <a:srgbClr val="CC990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600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ADP 3′-fosfato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9" name="Rótulo CoA"/>
          <p:cNvSpPr/>
          <p:nvPr/>
        </p:nvSpPr>
        <p:spPr>
          <a:xfrm>
            <a:off x="3108960" y="3794760"/>
            <a:ext cx="6035040" cy="2651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Coenzima 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(CoA): molécula grande con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ácido pantoténico (vitamina B</a:t>
            </a:r>
            <a:r>
              <a:rPr lang="es-AR" sz="19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β-mercaptoetilamina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un nucleótido de adenina. Se une al acetilo a través de un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átomo de azufre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(enlace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tioéster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lang="es-AR" sz="1950" dirty="0">
              <a:latin typeface="Calibri"/>
            </a:endParaRPr>
          </a:p>
        </p:txBody>
      </p:sp>
      <p:grpSp>
        <p:nvGrpSpPr>
          <p:cNvPr id="40" name="Rigor CoA"/>
          <p:cNvGrpSpPr/>
          <p:nvPr/>
        </p:nvGrpSpPr>
        <p:grpSpPr>
          <a:xfrm>
            <a:off x="9509760" y="1097280"/>
            <a:ext cx="2423160" cy="5349240"/>
            <a:chOff x="9509760" y="1097280"/>
            <a:chExt cx="2423160" cy="5349240"/>
          </a:xfrm>
        </p:grpSpPr>
        <p:sp>
          <p:nvSpPr>
            <p:cNvPr id="41" name="Forma 56"/>
            <p:cNvSpPr/>
            <p:nvPr/>
          </p:nvSpPr>
          <p:spPr>
            <a:xfrm>
              <a:off x="9509760" y="1298448"/>
              <a:ext cx="242316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nucleótido de la CoA es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ADP 3′-fosfato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(derivado del ATP), no un ATP completo.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42" name="Forma 57"/>
            <p:cNvSpPr/>
            <p:nvPr/>
          </p:nvSpPr>
          <p:spPr>
            <a:xfrm>
              <a:off x="963777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ESTRUCTURA DEL ACETIL-CoA</a:t>
            </a:r>
            <a:endParaRPr lang="es-AR" sz="3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4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9" grpId="0" animBg="1"/>
    </p:bld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4023360" y="1828800"/>
            <a:ext cx="4114800" cy="3291840"/>
            <a:chOff x="4023360" y="1828800"/>
            <a:chExt cx="4114800" cy="3291840"/>
          </a:xfrm>
        </p:grpSpPr>
        <p:sp>
          <p:nvSpPr>
            <p:cNvPr id="6" name="Membrana externa"/>
            <p:cNvSpPr/>
            <p:nvPr/>
          </p:nvSpPr>
          <p:spPr>
            <a:xfrm>
              <a:off x="4023360" y="1828800"/>
              <a:ext cx="4114800" cy="32918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4253789" y="2059229"/>
              <a:ext cx="3653942" cy="28309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4253789" y="2059229"/>
              <a:ext cx="3653942" cy="2830982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330"/>
                  </a:lnTo>
                  <a:cubicBezTo>
                    <a:pt x="90" y="380"/>
                    <a:pt x="150" y="380"/>
                    <a:pt x="150" y="330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670"/>
                  </a:lnTo>
                  <a:cubicBezTo>
                    <a:pt x="216" y="620"/>
                    <a:pt x="276" y="620"/>
                    <a:pt x="276" y="670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330"/>
                  </a:lnTo>
                  <a:cubicBezTo>
                    <a:pt x="343" y="380"/>
                    <a:pt x="403" y="380"/>
                    <a:pt x="403" y="330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670"/>
                  </a:lnTo>
                  <a:cubicBezTo>
                    <a:pt x="470" y="620"/>
                    <a:pt x="530" y="620"/>
                    <a:pt x="530" y="670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330"/>
                  </a:lnTo>
                  <a:cubicBezTo>
                    <a:pt x="596" y="380"/>
                    <a:pt x="656" y="380"/>
                    <a:pt x="656" y="330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670"/>
                  </a:lnTo>
                  <a:cubicBezTo>
                    <a:pt x="723" y="620"/>
                    <a:pt x="783" y="620"/>
                    <a:pt x="783" y="670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330"/>
                  </a:lnTo>
                  <a:cubicBezTo>
                    <a:pt x="850" y="380"/>
                    <a:pt x="910" y="380"/>
                    <a:pt x="910" y="330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AcetilCoA"/>
          <p:cNvSpPr/>
          <p:nvPr/>
        </p:nvSpPr>
        <p:spPr>
          <a:xfrm>
            <a:off x="5120640" y="3200400"/>
            <a:ext cx="1920240" cy="5486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7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700" dirty="0">
              <a:latin typeface="Calibri"/>
            </a:endParaRPr>
          </a:p>
        </p:txBody>
      </p:sp>
      <p:grpSp>
        <p:nvGrpSpPr>
          <p:cNvPr id="10" name="Ruta Glucosa"/>
          <p:cNvGrpSpPr/>
          <p:nvPr/>
        </p:nvGrpSpPr>
        <p:grpSpPr>
          <a:xfrm>
            <a:off x="365760" y="1188720"/>
            <a:ext cx="4663440" cy="2286000"/>
            <a:chOff x="365760" y="1188720"/>
            <a:chExt cx="4663440" cy="2286000"/>
          </a:xfrm>
        </p:grpSpPr>
        <p:sp>
          <p:nvSpPr>
            <p:cNvPr id="11" name="Ficha Glucosa"/>
            <p:cNvSpPr/>
            <p:nvPr/>
          </p:nvSpPr>
          <p:spPr>
            <a:xfrm>
              <a:off x="365760" y="1188720"/>
              <a:ext cx="173736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D416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Forma 11"/>
            <p:cNvSpPr txBox="1"/>
            <p:nvPr/>
          </p:nvSpPr>
          <p:spPr>
            <a:xfrm>
              <a:off x="365760" y="1737360"/>
              <a:ext cx="356616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glucólisis →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complejo PDH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3" name="Flecha 12_2"/>
            <p:cNvSpPr/>
            <p:nvPr/>
          </p:nvSpPr>
          <p:spPr>
            <a:xfrm>
              <a:off x="2194560" y="1463040"/>
              <a:ext cx="2834640" cy="2011680"/>
            </a:xfrm>
            <a:custGeom>
              <a:avLst/>
              <a:gdLst/>
              <a:ahLst/>
              <a:cxnLst/>
              <a:rect l="0" t="0" r="r" b="b"/>
              <a:pathLst>
                <a:path w="3100" h="2199" fill="none">
                  <a:moveTo>
                    <a:pt x="0" y="0"/>
                  </a:moveTo>
                  <a:lnTo>
                    <a:pt x="3100" y="2199"/>
                  </a:lnTo>
                </a:path>
              </a:pathLst>
            </a:custGeom>
            <a:noFill/>
            <a:ln w="50800" cap="rnd">
              <a:solidFill>
                <a:srgbClr val="3B82C4"/>
              </a:solidFill>
              <a:round/>
              <a:tailEnd type="triangle" w="med" len="med"/>
            </a:ln>
          </p:spPr>
        </p:sp>
      </p:grpSp>
      <p:grpSp>
        <p:nvGrpSpPr>
          <p:cNvPr id="14" name="Ruta Ácidos grasos"/>
          <p:cNvGrpSpPr/>
          <p:nvPr/>
        </p:nvGrpSpPr>
        <p:grpSpPr>
          <a:xfrm>
            <a:off x="365760" y="3154680"/>
            <a:ext cx="4663440" cy="1417320"/>
            <a:chOff x="365760" y="3154680"/>
            <a:chExt cx="4663440" cy="1417320"/>
          </a:xfrm>
        </p:grpSpPr>
        <p:sp>
          <p:nvSpPr>
            <p:cNvPr id="15" name="Ficha Ácidos grasos"/>
            <p:cNvSpPr/>
            <p:nvPr/>
          </p:nvSpPr>
          <p:spPr>
            <a:xfrm>
              <a:off x="365760" y="3154680"/>
              <a:ext cx="173736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6D163"/>
                </a:gs>
                <a:gs pos="55000">
                  <a:srgbClr val="F2B90F"/>
                </a:gs>
                <a:gs pos="100000">
                  <a:srgbClr val="C1940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5C07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Ácidos grasos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6"/>
            <p:cNvSpPr txBox="1"/>
            <p:nvPr/>
          </p:nvSpPr>
          <p:spPr>
            <a:xfrm>
              <a:off x="365760" y="3703320"/>
              <a:ext cx="356616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triglicéridos → ácidos grasos →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β-oxidación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7" name="Flecha 17_2"/>
            <p:cNvSpPr/>
            <p:nvPr/>
          </p:nvSpPr>
          <p:spPr>
            <a:xfrm>
              <a:off x="2194560" y="3429000"/>
              <a:ext cx="2834640" cy="45720"/>
            </a:xfrm>
            <a:custGeom>
              <a:avLst/>
              <a:gdLst/>
              <a:ahLst/>
              <a:cxnLst/>
              <a:rect l="0" t="0" r="r" b="b"/>
              <a:pathLst>
                <a:path w="3100" h="49" fill="none">
                  <a:moveTo>
                    <a:pt x="0" y="0"/>
                  </a:moveTo>
                  <a:lnTo>
                    <a:pt x="3100" y="49"/>
                  </a:lnTo>
                </a:path>
              </a:pathLst>
            </a:custGeom>
            <a:noFill/>
            <a:ln w="50800" cap="rnd">
              <a:solidFill>
                <a:srgbClr val="F2B90F"/>
              </a:solidFill>
              <a:round/>
              <a:tailEnd type="triangle" w="med" len="med"/>
            </a:ln>
          </p:spPr>
        </p:sp>
      </p:grpSp>
      <p:grpSp>
        <p:nvGrpSpPr>
          <p:cNvPr id="18" name="Ruta Aminoácidos"/>
          <p:cNvGrpSpPr/>
          <p:nvPr/>
        </p:nvGrpSpPr>
        <p:grpSpPr>
          <a:xfrm>
            <a:off x="365760" y="3474720"/>
            <a:ext cx="4663440" cy="2926080"/>
            <a:chOff x="365760" y="3474720"/>
            <a:chExt cx="4663440" cy="2926080"/>
          </a:xfrm>
        </p:grpSpPr>
        <p:sp>
          <p:nvSpPr>
            <p:cNvPr id="19" name="Ficha Aminoácidos"/>
            <p:cNvSpPr/>
            <p:nvPr/>
          </p:nvSpPr>
          <p:spPr>
            <a:xfrm>
              <a:off x="365760" y="4983480"/>
              <a:ext cx="173736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3573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Aminoácidos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orma 21"/>
            <p:cNvSpPr txBox="1"/>
            <p:nvPr/>
          </p:nvSpPr>
          <p:spPr>
            <a:xfrm>
              <a:off x="365760" y="5532120"/>
              <a:ext cx="3566160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algunos (leucina, lisina, parcialmente otros) → acetil-CoA o piruvato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1" name="Flecha 22_2"/>
            <p:cNvSpPr/>
            <p:nvPr/>
          </p:nvSpPr>
          <p:spPr>
            <a:xfrm>
              <a:off x="2194560" y="3474720"/>
              <a:ext cx="2834640" cy="1783080"/>
            </a:xfrm>
            <a:custGeom>
              <a:avLst/>
              <a:gdLst/>
              <a:ahLst/>
              <a:cxnLst/>
              <a:rect l="0" t="0" r="r" b="b"/>
              <a:pathLst>
                <a:path w="3100" h="1950" fill="none">
                  <a:moveTo>
                    <a:pt x="0" y="1950"/>
                  </a:moveTo>
                  <a:lnTo>
                    <a:pt x="3100" y="0"/>
                  </a:lnTo>
                </a:path>
              </a:pathLst>
            </a:custGeom>
            <a:noFill/>
            <a:ln w="50800" cap="rnd">
              <a:solidFill>
                <a:srgbClr val="27AE60"/>
              </a:solidFill>
              <a:round/>
              <a:tailEnd type="triangle" w="med" len="med"/>
            </a:ln>
          </p:spPr>
        </p:sp>
      </p:grpSp>
      <p:grpSp>
        <p:nvGrpSpPr>
          <p:cNvPr id="22" name="Fru Gal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23" name="Forma 25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Fructosa y galactosa se transforman primero en glucosa: confluyen en la misma vía.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4" name="Forma 26"/>
            <p:cNvSpPr/>
            <p:nvPr/>
          </p:nvSpPr>
          <p:spPr>
            <a:xfrm>
              <a:off x="8677656" y="1097280"/>
              <a:ext cx="110166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HIDRATOS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5" name="Todos llevan"/>
          <p:cNvSpPr/>
          <p:nvPr/>
        </p:nvSpPr>
        <p:spPr>
          <a:xfrm>
            <a:off x="8549640" y="4251960"/>
            <a:ext cx="3383280" cy="21945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Todos los caminos catabólicos llevan al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¿QUÉ LLEGA AL ACETIL-CoA? CATABOLISMO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</p:bld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5" name="!!AcetilCoA"/>
          <p:cNvSpPr/>
          <p:nvPr/>
        </p:nvSpPr>
        <p:spPr>
          <a:xfrm>
            <a:off x="1097280" y="3291840"/>
            <a:ext cx="2194560" cy="685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2000" dirty="0">
              <a:latin typeface="Calibri"/>
            </a:endParaRPr>
          </a:p>
        </p:txBody>
      </p:sp>
      <p:grpSp>
        <p:nvGrpSpPr>
          <p:cNvPr id="6" name="Destino Ciclo de Krebs"/>
          <p:cNvGrpSpPr/>
          <p:nvPr/>
        </p:nvGrpSpPr>
        <p:grpSpPr>
          <a:xfrm>
            <a:off x="3337560" y="1097280"/>
            <a:ext cx="8595360" cy="2542032"/>
            <a:chOff x="3337560" y="1097280"/>
            <a:chExt cx="8595360" cy="2542032"/>
          </a:xfrm>
        </p:grpSpPr>
        <p:sp>
          <p:nvSpPr>
            <p:cNvPr id="7" name="Flecha 6_2"/>
            <p:cNvSpPr/>
            <p:nvPr/>
          </p:nvSpPr>
          <p:spPr>
            <a:xfrm>
              <a:off x="3337560" y="1691640"/>
              <a:ext cx="1234440" cy="1947672"/>
            </a:xfrm>
            <a:custGeom>
              <a:avLst/>
              <a:gdLst/>
              <a:ahLst/>
              <a:cxnLst/>
              <a:rect l="0" t="0" r="r" b="b"/>
              <a:pathLst>
                <a:path w="1350" h="2130" fill="none">
                  <a:moveTo>
                    <a:pt x="0" y="2130"/>
                  </a:moveTo>
                  <a:lnTo>
                    <a:pt x="135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8"/>
            <p:cNvSpPr/>
            <p:nvPr/>
          </p:nvSpPr>
          <p:spPr>
            <a:xfrm>
              <a:off x="4617720" y="1097280"/>
              <a:ext cx="7315200" cy="1188720"/>
            </a:xfrm>
            <a:prstGeom prst="roundRect">
              <a:avLst>
                <a:gd name="adj" fmla="val 9000"/>
              </a:avLst>
            </a:prstGeom>
            <a:solidFill>
              <a:srgbClr val="F5B7B1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Ciclo de Krebs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Genera NADH, FADH</a:t>
              </a:r>
              <a:r>
                <a:rPr lang="es-AR" sz="20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GTP → cadena respiratoria →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9" name="Destino Síntesis de ácidos grasos"/>
          <p:cNvGrpSpPr/>
          <p:nvPr/>
        </p:nvGrpSpPr>
        <p:grpSpPr>
          <a:xfrm>
            <a:off x="3337560" y="2441448"/>
            <a:ext cx="8595360" cy="1197864"/>
            <a:chOff x="3337560" y="2441448"/>
            <a:chExt cx="8595360" cy="1197864"/>
          </a:xfrm>
        </p:grpSpPr>
        <p:sp>
          <p:nvSpPr>
            <p:cNvPr id="10" name="Flecha 10_2"/>
            <p:cNvSpPr/>
            <p:nvPr/>
          </p:nvSpPr>
          <p:spPr>
            <a:xfrm>
              <a:off x="3337560" y="3035808"/>
              <a:ext cx="1234440" cy="603504"/>
            </a:xfrm>
            <a:custGeom>
              <a:avLst/>
              <a:gdLst/>
              <a:ahLst/>
              <a:cxnLst/>
              <a:rect l="0" t="0" r="r" b="b"/>
              <a:pathLst>
                <a:path w="1350" h="660" fill="none">
                  <a:moveTo>
                    <a:pt x="0" y="660"/>
                  </a:moveTo>
                  <a:lnTo>
                    <a:pt x="135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1" name="Forma 12"/>
            <p:cNvSpPr/>
            <p:nvPr/>
          </p:nvSpPr>
          <p:spPr>
            <a:xfrm>
              <a:off x="4617720" y="2441448"/>
              <a:ext cx="7315200" cy="1188720"/>
            </a:xfrm>
            <a:prstGeom prst="roundRect">
              <a:avLst>
                <a:gd name="adj" fmla="val 9000"/>
              </a:avLst>
            </a:prstGeom>
            <a:solidFill>
              <a:srgbClr val="FCF3C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Síntesis de ácidos grasos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Almacenamiento de energía en forma de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grasas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12" name="Destino Cuerpos cetónicos"/>
          <p:cNvGrpSpPr/>
          <p:nvPr/>
        </p:nvGrpSpPr>
        <p:grpSpPr>
          <a:xfrm>
            <a:off x="3337560" y="3639312"/>
            <a:ext cx="8595360" cy="1335024"/>
            <a:chOff x="3337560" y="3639312"/>
            <a:chExt cx="8595360" cy="1335024"/>
          </a:xfrm>
        </p:grpSpPr>
        <p:sp>
          <p:nvSpPr>
            <p:cNvPr id="13" name="Flecha 14_2"/>
            <p:cNvSpPr/>
            <p:nvPr/>
          </p:nvSpPr>
          <p:spPr>
            <a:xfrm>
              <a:off x="3337560" y="3639312"/>
              <a:ext cx="1234440" cy="740664"/>
            </a:xfrm>
            <a:custGeom>
              <a:avLst/>
              <a:gdLst/>
              <a:ahLst/>
              <a:cxnLst/>
              <a:rect l="0" t="0" r="r" b="b"/>
              <a:pathLst>
                <a:path w="1350" h="810" fill="none">
                  <a:moveTo>
                    <a:pt x="0" y="0"/>
                  </a:moveTo>
                  <a:lnTo>
                    <a:pt x="1350" y="81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4" name="Forma 16"/>
            <p:cNvSpPr/>
            <p:nvPr/>
          </p:nvSpPr>
          <p:spPr>
            <a:xfrm>
              <a:off x="4617720" y="3785616"/>
              <a:ext cx="7315200" cy="1188720"/>
            </a:xfrm>
            <a:prstGeom prst="roundRect">
              <a:avLst>
                <a:gd name="adj" fmla="val 9000"/>
              </a:avLst>
            </a:prstGeom>
            <a:solidFill>
              <a:srgbClr val="F8B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Cuerpos cetónicos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Fuente de energía en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ayuno prolongado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o cetosis.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15" name="Destino Colesterol y hormonas esteroideas"/>
          <p:cNvGrpSpPr/>
          <p:nvPr/>
        </p:nvGrpSpPr>
        <p:grpSpPr>
          <a:xfrm>
            <a:off x="3337560" y="3639312"/>
            <a:ext cx="8595360" cy="2679192"/>
            <a:chOff x="3337560" y="3639312"/>
            <a:chExt cx="8595360" cy="2679192"/>
          </a:xfrm>
        </p:grpSpPr>
        <p:sp>
          <p:nvSpPr>
            <p:cNvPr id="16" name="Flecha 18_2"/>
            <p:cNvSpPr/>
            <p:nvPr/>
          </p:nvSpPr>
          <p:spPr>
            <a:xfrm>
              <a:off x="3337560" y="3639312"/>
              <a:ext cx="1234440" cy="2084832"/>
            </a:xfrm>
            <a:custGeom>
              <a:avLst/>
              <a:gdLst/>
              <a:ahLst/>
              <a:cxnLst/>
              <a:rect l="0" t="0" r="r" b="b"/>
              <a:pathLst>
                <a:path w="1350" h="2280" fill="none">
                  <a:moveTo>
                    <a:pt x="0" y="0"/>
                  </a:moveTo>
                  <a:lnTo>
                    <a:pt x="1350" y="228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7" name="Forma 20"/>
            <p:cNvSpPr/>
            <p:nvPr/>
          </p:nvSpPr>
          <p:spPr>
            <a:xfrm>
              <a:off x="4617720" y="5129784"/>
              <a:ext cx="7315200" cy="1188720"/>
            </a:xfrm>
            <a:prstGeom prst="roundRect">
              <a:avLst>
                <a:gd name="adj" fmla="val 9000"/>
              </a:avLst>
            </a:prstGeom>
            <a:solidFill>
              <a:srgbClr val="E8DAE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Colesterol y hormonas esteroideas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Testosterona, estrógenos, cortisol, aldosterona.</a:t>
              </a:r>
              <a:endParaRPr lang="es-AR" sz="2050" dirty="0">
                <a:latin typeface="Calibri"/>
              </a:endParaRPr>
            </a:p>
          </p:txBody>
        </p:sp>
      </p:grpSp>
      <p:grpSp>
        <p:nvGrpSpPr>
          <p:cNvPr id="18" name="Acetil deco"/>
          <p:cNvGrpSpPr/>
          <p:nvPr/>
        </p:nvGrpSpPr>
        <p:grpSpPr>
          <a:xfrm>
            <a:off x="653613" y="5050786"/>
            <a:ext cx="1664766" cy="825316"/>
            <a:chOff x="653613" y="5050786"/>
            <a:chExt cx="1664766" cy="825316"/>
          </a:xfrm>
        </p:grpSpPr>
        <p:sp>
          <p:nvSpPr>
            <p:cNvPr id="19" name="Flecha 22_2"/>
            <p:cNvSpPr/>
            <p:nvPr/>
          </p:nvSpPr>
          <p:spPr>
            <a:xfrm>
              <a:off x="908404" y="5471410"/>
              <a:ext cx="329784" cy="89941"/>
            </a:xfrm>
            <a:custGeom>
              <a:avLst/>
              <a:gdLst/>
              <a:ahLst/>
              <a:cxnLst/>
              <a:rect l="0" t="0" r="r" b="b"/>
              <a:pathLst>
                <a:path w="360" h="98" fill="none">
                  <a:moveTo>
                    <a:pt x="360" y="0"/>
                  </a:moveTo>
                  <a:lnTo>
                    <a:pt x="0" y="98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20" name="Flecha 24_2"/>
            <p:cNvSpPr/>
            <p:nvPr/>
          </p:nvSpPr>
          <p:spPr>
            <a:xfrm>
              <a:off x="908404" y="5471410"/>
              <a:ext cx="329784" cy="89941"/>
            </a:xfrm>
            <a:custGeom>
              <a:avLst/>
              <a:gdLst/>
              <a:ahLst/>
              <a:cxnLst/>
              <a:rect l="0" t="0" r="r" b="b"/>
              <a:pathLst>
                <a:path w="360" h="98" fill="none">
                  <a:moveTo>
                    <a:pt x="360" y="0"/>
                  </a:moveTo>
                  <a:lnTo>
                    <a:pt x="0" y="98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21" name="Flecha 26_2"/>
            <p:cNvSpPr/>
            <p:nvPr/>
          </p:nvSpPr>
          <p:spPr>
            <a:xfrm>
              <a:off x="1238188" y="5171607"/>
              <a:ext cx="89941" cy="299803"/>
            </a:xfrm>
            <a:custGeom>
              <a:avLst/>
              <a:gdLst/>
              <a:ahLst/>
              <a:cxnLst/>
              <a:rect l="0" t="0" r="r" b="b"/>
              <a:pathLst>
                <a:path w="98" h="327" fill="none">
                  <a:moveTo>
                    <a:pt x="0" y="327"/>
                  </a:moveTo>
                  <a:lnTo>
                    <a:pt x="98" y="0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22" name="Flecha 28_2"/>
            <p:cNvSpPr/>
            <p:nvPr/>
          </p:nvSpPr>
          <p:spPr>
            <a:xfrm>
              <a:off x="1238188" y="5171607"/>
              <a:ext cx="89941" cy="299803"/>
            </a:xfrm>
            <a:custGeom>
              <a:avLst/>
              <a:gdLst/>
              <a:ahLst/>
              <a:cxnLst/>
              <a:rect l="0" t="0" r="r" b="b"/>
              <a:pathLst>
                <a:path w="98" h="327" fill="none">
                  <a:moveTo>
                    <a:pt x="0" y="327"/>
                  </a:moveTo>
                  <a:lnTo>
                    <a:pt x="98" y="0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23" name="Flecha 30_2"/>
            <p:cNvSpPr/>
            <p:nvPr/>
          </p:nvSpPr>
          <p:spPr>
            <a:xfrm>
              <a:off x="1238188" y="5471410"/>
              <a:ext cx="329784" cy="179882"/>
            </a:xfrm>
            <a:custGeom>
              <a:avLst/>
              <a:gdLst/>
              <a:ahLst/>
              <a:cxnLst/>
              <a:rect l="0" t="0" r="r" b="b"/>
              <a:pathLst>
                <a:path w="360" h="196" fill="none">
                  <a:moveTo>
                    <a:pt x="0" y="0"/>
                  </a:moveTo>
                  <a:lnTo>
                    <a:pt x="360" y="196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24" name="Flecha 32_2"/>
            <p:cNvSpPr/>
            <p:nvPr/>
          </p:nvSpPr>
          <p:spPr>
            <a:xfrm>
              <a:off x="1238188" y="5471410"/>
              <a:ext cx="329784" cy="179882"/>
            </a:xfrm>
            <a:custGeom>
              <a:avLst/>
              <a:gdLst/>
              <a:ahLst/>
              <a:cxnLst/>
              <a:rect l="0" t="0" r="r" b="b"/>
              <a:pathLst>
                <a:path w="360" h="196" fill="none">
                  <a:moveTo>
                    <a:pt x="0" y="0"/>
                  </a:moveTo>
                  <a:lnTo>
                    <a:pt x="360" y="196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25" name="Flecha 34_2"/>
            <p:cNvSpPr/>
            <p:nvPr/>
          </p:nvSpPr>
          <p:spPr>
            <a:xfrm>
              <a:off x="728522" y="5351489"/>
              <a:ext cx="179882" cy="209862"/>
            </a:xfrm>
            <a:custGeom>
              <a:avLst/>
              <a:gdLst/>
              <a:ahLst/>
              <a:cxnLst/>
              <a:rect l="0" t="0" r="r" b="b"/>
              <a:pathLst>
                <a:path w="196" h="229" fill="none">
                  <a:moveTo>
                    <a:pt x="196" y="229"/>
                  </a:moveTo>
                  <a:lnTo>
                    <a:pt x="0" y="0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26" name="Flecha 36_2"/>
            <p:cNvSpPr/>
            <p:nvPr/>
          </p:nvSpPr>
          <p:spPr>
            <a:xfrm>
              <a:off x="728522" y="5351489"/>
              <a:ext cx="179882" cy="209862"/>
            </a:xfrm>
            <a:custGeom>
              <a:avLst/>
              <a:gdLst/>
              <a:ahLst/>
              <a:cxnLst/>
              <a:rect l="0" t="0" r="r" b="b"/>
              <a:pathLst>
                <a:path w="196" h="229" fill="none">
                  <a:moveTo>
                    <a:pt x="196" y="229"/>
                  </a:moveTo>
                  <a:lnTo>
                    <a:pt x="0" y="0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27" name="Flecha 38_2"/>
            <p:cNvSpPr/>
            <p:nvPr/>
          </p:nvSpPr>
          <p:spPr>
            <a:xfrm>
              <a:off x="788483" y="5561351"/>
              <a:ext cx="119921" cy="239843"/>
            </a:xfrm>
            <a:custGeom>
              <a:avLst/>
              <a:gdLst/>
              <a:ahLst/>
              <a:cxnLst/>
              <a:rect l="0" t="0" r="r" b="b"/>
              <a:pathLst>
                <a:path w="131" h="262" fill="none">
                  <a:moveTo>
                    <a:pt x="131" y="0"/>
                  </a:moveTo>
                  <a:lnTo>
                    <a:pt x="0" y="262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28" name="Flecha 40_2"/>
            <p:cNvSpPr/>
            <p:nvPr/>
          </p:nvSpPr>
          <p:spPr>
            <a:xfrm>
              <a:off x="788483" y="5561351"/>
              <a:ext cx="119921" cy="239843"/>
            </a:xfrm>
            <a:custGeom>
              <a:avLst/>
              <a:gdLst/>
              <a:ahLst/>
              <a:cxnLst/>
              <a:rect l="0" t="0" r="r" b="b"/>
              <a:pathLst>
                <a:path w="131" h="262" fill="none">
                  <a:moveTo>
                    <a:pt x="131" y="0"/>
                  </a:moveTo>
                  <a:lnTo>
                    <a:pt x="0" y="262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29" name="Flecha 42_2"/>
            <p:cNvSpPr/>
            <p:nvPr/>
          </p:nvSpPr>
          <p:spPr>
            <a:xfrm>
              <a:off x="908404" y="5561351"/>
              <a:ext cx="29980" cy="194872"/>
            </a:xfrm>
            <a:custGeom>
              <a:avLst/>
              <a:gdLst/>
              <a:ahLst/>
              <a:cxnLst/>
              <a:rect l="0" t="0" r="r" b="b"/>
              <a:pathLst>
                <a:path w="32" h="213" fill="none">
                  <a:moveTo>
                    <a:pt x="0" y="0"/>
                  </a:moveTo>
                  <a:lnTo>
                    <a:pt x="32" y="213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30" name="Flecha 44_2"/>
            <p:cNvSpPr/>
            <p:nvPr/>
          </p:nvSpPr>
          <p:spPr>
            <a:xfrm>
              <a:off x="908404" y="5561351"/>
              <a:ext cx="29980" cy="194872"/>
            </a:xfrm>
            <a:custGeom>
              <a:avLst/>
              <a:gdLst/>
              <a:ahLst/>
              <a:cxnLst/>
              <a:rect l="0" t="0" r="r" b="b"/>
              <a:pathLst>
                <a:path w="32" h="213" fill="none">
                  <a:moveTo>
                    <a:pt x="0" y="0"/>
                  </a:moveTo>
                  <a:lnTo>
                    <a:pt x="32" y="213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31" name="Flecha 46_2"/>
            <p:cNvSpPr/>
            <p:nvPr/>
          </p:nvSpPr>
          <p:spPr>
            <a:xfrm>
              <a:off x="1567971" y="5531370"/>
              <a:ext cx="329784" cy="119921"/>
            </a:xfrm>
            <a:custGeom>
              <a:avLst/>
              <a:gdLst/>
              <a:ahLst/>
              <a:cxnLst/>
              <a:rect l="0" t="0" r="r" b="b"/>
              <a:pathLst>
                <a:path w="360" h="131" fill="none">
                  <a:moveTo>
                    <a:pt x="0" y="131"/>
                  </a:moveTo>
                  <a:lnTo>
                    <a:pt x="360" y="0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32" name="Flecha 48_2"/>
            <p:cNvSpPr/>
            <p:nvPr/>
          </p:nvSpPr>
          <p:spPr>
            <a:xfrm>
              <a:off x="1567971" y="5531370"/>
              <a:ext cx="329784" cy="119921"/>
            </a:xfrm>
            <a:custGeom>
              <a:avLst/>
              <a:gdLst/>
              <a:ahLst/>
              <a:cxnLst/>
              <a:rect l="0" t="0" r="r" b="b"/>
              <a:pathLst>
                <a:path w="360" h="131" fill="none">
                  <a:moveTo>
                    <a:pt x="0" y="131"/>
                  </a:moveTo>
                  <a:lnTo>
                    <a:pt x="360" y="0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33" name="Flecha 50_2"/>
            <p:cNvSpPr/>
            <p:nvPr/>
          </p:nvSpPr>
          <p:spPr>
            <a:xfrm>
              <a:off x="1897755" y="5531370"/>
              <a:ext cx="299803" cy="149902"/>
            </a:xfrm>
            <a:custGeom>
              <a:avLst/>
              <a:gdLst/>
              <a:ahLst/>
              <a:cxnLst/>
              <a:rect l="0" t="0" r="r" b="b"/>
              <a:pathLst>
                <a:path w="327" h="163" fill="none">
                  <a:moveTo>
                    <a:pt x="0" y="0"/>
                  </a:moveTo>
                  <a:lnTo>
                    <a:pt x="327" y="163"/>
                  </a:lnTo>
                </a:path>
              </a:pathLst>
            </a:custGeom>
            <a:noFill/>
            <a:ln w="66622" cap="rnd">
              <a:solidFill>
                <a:srgbClr val="B9B9B9"/>
              </a:solidFill>
              <a:round/>
            </a:ln>
          </p:spPr>
        </p:sp>
        <p:sp>
          <p:nvSpPr>
            <p:cNvPr id="34" name="Flecha 52_2"/>
            <p:cNvSpPr/>
            <p:nvPr/>
          </p:nvSpPr>
          <p:spPr>
            <a:xfrm>
              <a:off x="1897755" y="5531370"/>
              <a:ext cx="299803" cy="149902"/>
            </a:xfrm>
            <a:custGeom>
              <a:avLst/>
              <a:gdLst/>
              <a:ahLst/>
              <a:cxnLst/>
              <a:rect l="0" t="0" r="r" b="b"/>
              <a:pathLst>
                <a:path w="327" h="163" fill="none">
                  <a:moveTo>
                    <a:pt x="0" y="0"/>
                  </a:moveTo>
                  <a:lnTo>
                    <a:pt x="327" y="163"/>
                  </a:lnTo>
                </a:path>
              </a:pathLst>
            </a:custGeom>
            <a:noFill/>
            <a:ln w="37475" cap="rnd">
              <a:solidFill>
                <a:srgbClr val="FFFFFF"/>
              </a:solidFill>
              <a:round/>
            </a:ln>
          </p:spPr>
        </p:sp>
        <p:sp>
          <p:nvSpPr>
            <p:cNvPr id="35" name="Forma 54"/>
            <p:cNvSpPr/>
            <p:nvPr/>
          </p:nvSpPr>
          <p:spPr>
            <a:xfrm>
              <a:off x="653613" y="5276580"/>
              <a:ext cx="149818" cy="14981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6" name="Forma 55"/>
            <p:cNvSpPr/>
            <p:nvPr/>
          </p:nvSpPr>
          <p:spPr>
            <a:xfrm>
              <a:off x="713574" y="5726285"/>
              <a:ext cx="149818" cy="14981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7" name="Forma 56"/>
            <p:cNvSpPr/>
            <p:nvPr/>
          </p:nvSpPr>
          <p:spPr>
            <a:xfrm>
              <a:off x="863475" y="5681314"/>
              <a:ext cx="149818" cy="14981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8" name="Forma 57"/>
            <p:cNvSpPr/>
            <p:nvPr/>
          </p:nvSpPr>
          <p:spPr>
            <a:xfrm>
              <a:off x="1117367" y="5350589"/>
              <a:ext cx="241641" cy="2416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9" name="Forma 58"/>
            <p:cNvSpPr/>
            <p:nvPr/>
          </p:nvSpPr>
          <p:spPr>
            <a:xfrm>
              <a:off x="787583" y="5440530"/>
              <a:ext cx="241641" cy="2416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0" name="Forma 59"/>
            <p:cNvSpPr/>
            <p:nvPr/>
          </p:nvSpPr>
          <p:spPr>
            <a:xfrm>
              <a:off x="1207308" y="5050786"/>
              <a:ext cx="241641" cy="2416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1" name="Forma 60"/>
            <p:cNvSpPr/>
            <p:nvPr/>
          </p:nvSpPr>
          <p:spPr>
            <a:xfrm>
              <a:off x="1776934" y="5410550"/>
              <a:ext cx="241641" cy="2416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2" name="Forma 61"/>
            <p:cNvSpPr/>
            <p:nvPr/>
          </p:nvSpPr>
          <p:spPr>
            <a:xfrm>
              <a:off x="2076737" y="5560451"/>
              <a:ext cx="241641" cy="24164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3" name="Forma 62"/>
            <p:cNvSpPr/>
            <p:nvPr/>
          </p:nvSpPr>
          <p:spPr>
            <a:xfrm>
              <a:off x="1435068" y="5518389"/>
              <a:ext cx="265806" cy="26580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7DE6C"/>
                </a:gs>
                <a:gs pos="75000">
                  <a:srgbClr val="F5D33C"/>
                </a:gs>
                <a:gs pos="100000">
                  <a:srgbClr val="AB932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¿PARA QUÉ SIRVE EL ACETIL-CoA?</a:t>
            </a:r>
            <a:endParaRPr lang="es-AR" sz="2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4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sp>
        <p:nvSpPr>
          <p:cNvPr id="6" name="!!Citoplasma"/>
          <p:cNvSpPr/>
          <p:nvPr/>
        </p:nvSpPr>
        <p:spPr>
          <a:xfrm>
            <a:off x="3154680" y="1097280"/>
            <a:ext cx="6035040" cy="5349240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EF9E7"/>
              </a:gs>
              <a:gs pos="100000">
                <a:srgbClr val="FAD7A0"/>
              </a:gs>
            </a:gsLst>
            <a:path path="circle">
              <a:fillToRect l="50000" t="50000" r="50000" b="50000"/>
            </a:path>
          </a:gradFill>
          <a:ln w="38100" cap="rnd">
            <a:solidFill>
              <a:srgbClr val="A04000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grpSp>
        <p:nvGrpSpPr>
          <p:cNvPr id="7" name="Mitocondria pequeña"/>
          <p:cNvGrpSpPr/>
          <p:nvPr/>
        </p:nvGrpSpPr>
        <p:grpSpPr>
          <a:xfrm>
            <a:off x="6583680" y="4206240"/>
            <a:ext cx="2377440" cy="1737360"/>
            <a:chOff x="6583680" y="4206240"/>
            <a:chExt cx="2377440" cy="1737360"/>
          </a:xfrm>
        </p:grpSpPr>
        <p:sp>
          <p:nvSpPr>
            <p:cNvPr id="8" name="Membrana externa"/>
            <p:cNvSpPr/>
            <p:nvPr/>
          </p:nvSpPr>
          <p:spPr>
            <a:xfrm>
              <a:off x="6583680" y="4206240"/>
              <a:ext cx="2377440" cy="17373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9" name="Membrana interna (matriz)"/>
            <p:cNvSpPr/>
            <p:nvPr/>
          </p:nvSpPr>
          <p:spPr>
            <a:xfrm>
              <a:off x="6705295" y="4327855"/>
              <a:ext cx="2134210" cy="149413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10" name="Crestas"/>
            <p:cNvSpPr/>
            <p:nvPr/>
          </p:nvSpPr>
          <p:spPr>
            <a:xfrm>
              <a:off x="6705295" y="4327855"/>
              <a:ext cx="2134210" cy="149413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330"/>
                  </a:lnTo>
                  <a:cubicBezTo>
                    <a:pt x="90" y="380"/>
                    <a:pt x="150" y="380"/>
                    <a:pt x="150" y="330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670"/>
                  </a:lnTo>
                  <a:cubicBezTo>
                    <a:pt x="216" y="620"/>
                    <a:pt x="276" y="620"/>
                    <a:pt x="276" y="670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330"/>
                  </a:lnTo>
                  <a:cubicBezTo>
                    <a:pt x="343" y="380"/>
                    <a:pt x="403" y="380"/>
                    <a:pt x="403" y="330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670"/>
                  </a:lnTo>
                  <a:cubicBezTo>
                    <a:pt x="470" y="620"/>
                    <a:pt x="530" y="620"/>
                    <a:pt x="530" y="670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330"/>
                  </a:lnTo>
                  <a:cubicBezTo>
                    <a:pt x="596" y="380"/>
                    <a:pt x="656" y="380"/>
                    <a:pt x="656" y="330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670"/>
                  </a:lnTo>
                  <a:cubicBezTo>
                    <a:pt x="723" y="620"/>
                    <a:pt x="783" y="620"/>
                    <a:pt x="783" y="670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330"/>
                  </a:lnTo>
                  <a:cubicBezTo>
                    <a:pt x="850" y="380"/>
                    <a:pt x="910" y="380"/>
                    <a:pt x="910" y="330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11" name="!!Piruvato"/>
          <p:cNvSpPr/>
          <p:nvPr/>
        </p:nvSpPr>
        <p:spPr>
          <a:xfrm>
            <a:off x="5120640" y="3291840"/>
            <a:ext cx="2011680" cy="56692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7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 (3 C)</a:t>
            </a:r>
            <a:endParaRPr lang="es-AR" sz="1700" dirty="0">
              <a:latin typeface="Calibri"/>
            </a:endParaRPr>
          </a:p>
        </p:txBody>
      </p:sp>
      <p:grpSp>
        <p:nvGrpSpPr>
          <p:cNvPr id="12" name="Origen Glucosa"/>
          <p:cNvGrpSpPr/>
          <p:nvPr/>
        </p:nvGrpSpPr>
        <p:grpSpPr>
          <a:xfrm>
            <a:off x="3474720" y="1371600"/>
            <a:ext cx="1920240" cy="1874520"/>
            <a:chOff x="3474720" y="1371600"/>
            <a:chExt cx="1920240" cy="1874520"/>
          </a:xfrm>
        </p:grpSpPr>
        <p:sp>
          <p:nvSpPr>
            <p:cNvPr id="13" name="Ficha Glucosa"/>
            <p:cNvSpPr/>
            <p:nvPr/>
          </p:nvSpPr>
          <p:spPr>
            <a:xfrm>
              <a:off x="3474720" y="1371600"/>
              <a:ext cx="164592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FADD8"/>
                </a:gs>
                <a:gs pos="55000">
                  <a:srgbClr val="3B82C4"/>
                </a:gs>
                <a:gs pos="100000">
                  <a:srgbClr val="2F689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D416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Glucosa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4" name="Flecha 13_2"/>
            <p:cNvSpPr/>
            <p:nvPr/>
          </p:nvSpPr>
          <p:spPr>
            <a:xfrm>
              <a:off x="4297680" y="1920240"/>
              <a:ext cx="1097280" cy="1325880"/>
            </a:xfrm>
            <a:custGeom>
              <a:avLst/>
              <a:gdLst/>
              <a:ahLst/>
              <a:cxnLst/>
              <a:rect l="0" t="0" r="r" b="b"/>
              <a:pathLst>
                <a:path w="1200" h="1449" fill="none">
                  <a:moveTo>
                    <a:pt x="0" y="0"/>
                  </a:moveTo>
                  <a:lnTo>
                    <a:pt x="1200" y="1449"/>
                  </a:lnTo>
                </a:path>
              </a:pathLst>
            </a:custGeom>
            <a:noFill/>
            <a:ln w="50800" cap="rnd">
              <a:solidFill>
                <a:srgbClr val="3B82C4"/>
              </a:solidFill>
              <a:round/>
              <a:tailEnd type="triangle" w="med" len="med"/>
            </a:ln>
          </p:spPr>
        </p:sp>
      </p:grpSp>
      <p:grpSp>
        <p:nvGrpSpPr>
          <p:cNvPr id="15" name="Origen Alanina"/>
          <p:cNvGrpSpPr/>
          <p:nvPr/>
        </p:nvGrpSpPr>
        <p:grpSpPr>
          <a:xfrm>
            <a:off x="6675120" y="1371600"/>
            <a:ext cx="2286000" cy="1874520"/>
            <a:chOff x="6675120" y="1371600"/>
            <a:chExt cx="2286000" cy="1874520"/>
          </a:xfrm>
        </p:grpSpPr>
        <p:sp>
          <p:nvSpPr>
            <p:cNvPr id="16" name="Ficha Alanina"/>
            <p:cNvSpPr/>
            <p:nvPr/>
          </p:nvSpPr>
          <p:spPr>
            <a:xfrm>
              <a:off x="7315200" y="1371600"/>
              <a:ext cx="164592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3573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Alanina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7" name="Flecha 17_2"/>
            <p:cNvSpPr/>
            <p:nvPr/>
          </p:nvSpPr>
          <p:spPr>
            <a:xfrm>
              <a:off x="6675120" y="1920240"/>
              <a:ext cx="1463040" cy="1325880"/>
            </a:xfrm>
            <a:custGeom>
              <a:avLst/>
              <a:gdLst/>
              <a:ahLst/>
              <a:cxnLst/>
              <a:rect l="0" t="0" r="r" b="b"/>
              <a:pathLst>
                <a:path w="1600" h="1449" fill="none">
                  <a:moveTo>
                    <a:pt x="1600" y="0"/>
                  </a:moveTo>
                  <a:lnTo>
                    <a:pt x="0" y="1449"/>
                  </a:lnTo>
                </a:path>
              </a:pathLst>
            </a:custGeom>
            <a:noFill/>
            <a:ln w="50800" cap="rnd">
              <a:solidFill>
                <a:srgbClr val="27AE60"/>
              </a:solidFill>
              <a:round/>
              <a:tailEnd type="triangle" w="med" len="med"/>
            </a:ln>
          </p:spPr>
        </p:sp>
      </p:grpSp>
      <p:grpSp>
        <p:nvGrpSpPr>
          <p:cNvPr id="18" name="Origen Lactato"/>
          <p:cNvGrpSpPr/>
          <p:nvPr/>
        </p:nvGrpSpPr>
        <p:grpSpPr>
          <a:xfrm>
            <a:off x="3474720" y="3886200"/>
            <a:ext cx="1828800" cy="1737360"/>
            <a:chOff x="3474720" y="3886200"/>
            <a:chExt cx="1828800" cy="1737360"/>
          </a:xfrm>
        </p:grpSpPr>
        <p:sp>
          <p:nvSpPr>
            <p:cNvPr id="19" name="Ficha Lactato"/>
            <p:cNvSpPr/>
            <p:nvPr/>
          </p:nvSpPr>
          <p:spPr>
            <a:xfrm>
              <a:off x="3474720" y="5120640"/>
              <a:ext cx="164592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71368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Lactato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lecha 21_2"/>
            <p:cNvSpPr/>
            <p:nvPr/>
          </p:nvSpPr>
          <p:spPr>
            <a:xfrm>
              <a:off x="4297680" y="3886200"/>
              <a:ext cx="1005840" cy="1188720"/>
            </a:xfrm>
            <a:custGeom>
              <a:avLst/>
              <a:gdLst/>
              <a:ahLst/>
              <a:cxnLst/>
              <a:rect l="0" t="0" r="r" b="b"/>
              <a:pathLst>
                <a:path w="1099" h="1299" fill="none">
                  <a:moveTo>
                    <a:pt x="0" y="1299"/>
                  </a:moveTo>
                  <a:lnTo>
                    <a:pt x="1099" y="0"/>
                  </a:lnTo>
                </a:path>
              </a:pathLst>
            </a:custGeom>
            <a:noFill/>
            <a:ln w="50800" cap="rnd">
              <a:solidFill>
                <a:srgbClr val="8E44AD"/>
              </a:solidFill>
              <a:round/>
              <a:headEnd type="triangle" w="med" len="med"/>
              <a:tailEnd type="triangle" w="med" len="med"/>
            </a:ln>
          </p:spPr>
        </p:sp>
      </p:grpSp>
      <p:sp>
        <p:nvSpPr>
          <p:cNvPr id="21" name="Desc origen 1"/>
          <p:cNvSpPr/>
          <p:nvPr/>
        </p:nvSpPr>
        <p:spPr>
          <a:xfrm>
            <a:off x="320040" y="1097280"/>
            <a:ext cx="2651760" cy="164592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1. Glucólisis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principal fuente; 1 glucosa → 2 piruvatos (también fructosa y galactosa).</a:t>
            </a:r>
            <a:endParaRPr lang="es-AR" sz="1750" dirty="0">
              <a:latin typeface="Calibri"/>
            </a:endParaRPr>
          </a:p>
        </p:txBody>
      </p:sp>
      <p:sp>
        <p:nvSpPr>
          <p:cNvPr id="22" name="Desc origen 2"/>
          <p:cNvSpPr/>
          <p:nvPr/>
        </p:nvSpPr>
        <p:spPr>
          <a:xfrm>
            <a:off x="320040" y="2898648"/>
            <a:ext cx="2651760" cy="164592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2. Aminoácidos glucogénicos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alanina → piruvato por transaminación.</a:t>
            </a:r>
            <a:endParaRPr lang="es-AR" sz="1750" dirty="0">
              <a:latin typeface="Calibri"/>
            </a:endParaRPr>
          </a:p>
        </p:txBody>
      </p:sp>
      <p:sp>
        <p:nvSpPr>
          <p:cNvPr id="23" name="Desc origen 3"/>
          <p:cNvSpPr/>
          <p:nvPr/>
        </p:nvSpPr>
        <p:spPr>
          <a:xfrm>
            <a:off x="320040" y="4700016"/>
            <a:ext cx="2651760" cy="1645920"/>
          </a:xfrm>
          <a:prstGeom prst="roundRect">
            <a:avLst>
              <a:gd name="adj" fmla="val 9000"/>
            </a:avLst>
          </a:prstGeom>
          <a:solidFill>
            <a:srgbClr val="F4ECF7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3. Lactato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sin O</a:t>
            </a:r>
            <a:r>
              <a:rPr lang="es-AR" sz="17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el piruvato se reduce a lactato; con O</a:t>
            </a:r>
            <a:r>
              <a:rPr lang="es-AR" sz="17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vuelve a piruvato.</a:t>
            </a:r>
            <a:endParaRPr lang="es-AR" sz="1750" dirty="0">
              <a:latin typeface="Calibri"/>
            </a:endParaRPr>
          </a:p>
        </p:txBody>
      </p:sp>
      <p:grpSp>
        <p:nvGrpSpPr>
          <p:cNvPr id="24" name="Rigor lactato"/>
          <p:cNvGrpSpPr/>
          <p:nvPr/>
        </p:nvGrpSpPr>
        <p:grpSpPr>
          <a:xfrm>
            <a:off x="9418320" y="1097280"/>
            <a:ext cx="2514600" cy="5349240"/>
            <a:chOff x="9418320" y="1097280"/>
            <a:chExt cx="2514600" cy="5349240"/>
          </a:xfrm>
        </p:grpSpPr>
        <p:sp>
          <p:nvSpPr>
            <p:cNvPr id="25" name="Forma 27"/>
            <p:cNvSpPr/>
            <p:nvPr/>
          </p:nvSpPr>
          <p:spPr>
            <a:xfrm>
              <a:off x="9418320" y="1298448"/>
              <a:ext cx="251460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material atribuye al lactato el dolor muscular del ejercicio intenso; esa idea está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cuestionada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lactato no es la causa principal del dolor tardío.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26" name="Forma 28"/>
            <p:cNvSpPr/>
            <p:nvPr/>
          </p:nvSpPr>
          <p:spPr>
            <a:xfrm>
              <a:off x="954633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PIRUVATO: TRES ORÍGENES EN EL CITOPLASMA</a:t>
            </a:r>
            <a:endParaRPr lang="es-AR" sz="2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sp>
        <p:nvSpPr>
          <p:cNvPr id="5" name="!!Zona citoplasma"/>
          <p:cNvSpPr/>
          <p:nvPr/>
        </p:nvSpPr>
        <p:spPr>
          <a:xfrm>
            <a:off x="0" y="914400"/>
            <a:ext cx="3017520" cy="5943600"/>
          </a:xfrm>
          <a:prstGeom prst="rect">
            <a:avLst/>
          </a:prstGeom>
          <a:solidFill>
            <a:srgbClr val="FAD7A0">
              <a:alpha val="55000"/>
            </a:srgbClr>
          </a:solidFill>
          <a:ln>
            <a:noFill/>
          </a:ln>
        </p:spPr>
      </p:sp>
      <p:sp>
        <p:nvSpPr>
          <p:cNvPr id="6" name="!!Espacio intermembrana"/>
          <p:cNvSpPr/>
          <p:nvPr/>
        </p:nvSpPr>
        <p:spPr>
          <a:xfrm>
            <a:off x="3520440" y="914400"/>
            <a:ext cx="1600200" cy="5943600"/>
          </a:xfrm>
          <a:prstGeom prst="rect">
            <a:avLst/>
          </a:prstGeom>
          <a:solidFill>
            <a:srgbClr val="FDEBD0">
              <a:alpha val="80000"/>
            </a:srgbClr>
          </a:solidFill>
          <a:ln>
            <a:noFill/>
          </a:ln>
        </p:spPr>
      </p:sp>
      <p:sp>
        <p:nvSpPr>
          <p:cNvPr id="7" name="!!Matriz"/>
          <p:cNvSpPr/>
          <p:nvPr/>
        </p:nvSpPr>
        <p:spPr>
          <a:xfrm>
            <a:off x="5623560" y="914400"/>
            <a:ext cx="2651760" cy="5943600"/>
          </a:xfrm>
          <a:prstGeom prst="rect">
            <a:avLst/>
          </a:prstGeom>
          <a:solidFill>
            <a:srgbClr val="FEF5E7">
              <a:alpha val="100000"/>
            </a:srgbClr>
          </a:solidFill>
          <a:ln>
            <a:noFill/>
          </a:ln>
        </p:spPr>
      </p:sp>
      <p:grpSp>
        <p:nvGrpSpPr>
          <p:cNvPr id="8" name="!!Membrana externa"/>
          <p:cNvGrpSpPr/>
          <p:nvPr/>
        </p:nvGrpSpPr>
        <p:grpSpPr>
          <a:xfrm>
            <a:off x="3017520" y="914400"/>
            <a:ext cx="502920" cy="5943600"/>
            <a:chOff x="3017520" y="914400"/>
            <a:chExt cx="502920" cy="5943600"/>
          </a:xfrm>
        </p:grpSpPr>
        <p:sp>
          <p:nvSpPr>
            <p:cNvPr id="9" name="Forma 8"/>
            <p:cNvSpPr/>
            <p:nvPr/>
          </p:nvSpPr>
          <p:spPr>
            <a:xfrm>
              <a:off x="3108046" y="914400"/>
              <a:ext cx="321869" cy="5943600"/>
            </a:xfrm>
            <a:prstGeom prst="rect">
              <a:avLst/>
            </a:prstGeom>
            <a:solidFill>
              <a:srgbClr val="FDEBD0"/>
            </a:solidFill>
            <a:ln>
              <a:noFill/>
            </a:ln>
          </p:spPr>
        </p:sp>
        <p:sp>
          <p:nvSpPr>
            <p:cNvPr id="10" name="Forma 9"/>
            <p:cNvSpPr/>
            <p:nvPr/>
          </p:nvSpPr>
          <p:spPr>
            <a:xfrm>
              <a:off x="3017520" y="914400"/>
              <a:ext cx="502920" cy="5943600"/>
            </a:xfrm>
            <a:custGeom>
              <a:avLst/>
              <a:gdLst/>
              <a:ahLst/>
              <a:cxnLst/>
              <a:rect l="0" t="0" r="r" b="b"/>
              <a:pathLst>
                <a:path w="550" h="6500">
                  <a:moveTo>
                    <a:pt x="94" y="50"/>
                  </a:moveTo>
                  <a:cubicBezTo>
                    <a:pt x="94" y="75"/>
                    <a:pt x="72" y="97"/>
                    <a:pt x="47" y="97"/>
                  </a:cubicBezTo>
                  <a:cubicBezTo>
                    <a:pt x="21" y="97"/>
                    <a:pt x="0" y="75"/>
                    <a:pt x="0" y="50"/>
                  </a:cubicBezTo>
                  <a:cubicBezTo>
                    <a:pt x="0" y="24"/>
                    <a:pt x="21" y="3"/>
                    <a:pt x="47" y="3"/>
                  </a:cubicBezTo>
                  <a:cubicBezTo>
                    <a:pt x="72" y="3"/>
                    <a:pt x="94" y="24"/>
                    <a:pt x="94" y="50"/>
                  </a:cubicBezTo>
                  <a:close/>
                  <a:moveTo>
                    <a:pt x="94" y="150"/>
                  </a:moveTo>
                  <a:cubicBezTo>
                    <a:pt x="94" y="175"/>
                    <a:pt x="72" y="197"/>
                    <a:pt x="47" y="197"/>
                  </a:cubicBezTo>
                  <a:cubicBezTo>
                    <a:pt x="21" y="197"/>
                    <a:pt x="0" y="175"/>
                    <a:pt x="0" y="150"/>
                  </a:cubicBezTo>
                  <a:cubicBezTo>
                    <a:pt x="0" y="124"/>
                    <a:pt x="21" y="103"/>
                    <a:pt x="47" y="103"/>
                  </a:cubicBezTo>
                  <a:cubicBezTo>
                    <a:pt x="72" y="103"/>
                    <a:pt x="94" y="124"/>
                    <a:pt x="94" y="150"/>
                  </a:cubicBezTo>
                  <a:close/>
                  <a:moveTo>
                    <a:pt x="94" y="250"/>
                  </a:moveTo>
                  <a:cubicBezTo>
                    <a:pt x="94" y="275"/>
                    <a:pt x="72" y="297"/>
                    <a:pt x="47" y="297"/>
                  </a:cubicBezTo>
                  <a:cubicBezTo>
                    <a:pt x="21" y="297"/>
                    <a:pt x="0" y="275"/>
                    <a:pt x="0" y="250"/>
                  </a:cubicBezTo>
                  <a:cubicBezTo>
                    <a:pt x="0" y="224"/>
                    <a:pt x="21" y="203"/>
                    <a:pt x="47" y="203"/>
                  </a:cubicBezTo>
                  <a:cubicBezTo>
                    <a:pt x="72" y="203"/>
                    <a:pt x="94" y="224"/>
                    <a:pt x="94" y="250"/>
                  </a:cubicBezTo>
                  <a:close/>
                  <a:moveTo>
                    <a:pt x="94" y="350"/>
                  </a:moveTo>
                  <a:cubicBezTo>
                    <a:pt x="94" y="375"/>
                    <a:pt x="72" y="397"/>
                    <a:pt x="47" y="397"/>
                  </a:cubicBezTo>
                  <a:cubicBezTo>
                    <a:pt x="21" y="397"/>
                    <a:pt x="0" y="375"/>
                    <a:pt x="0" y="350"/>
                  </a:cubicBezTo>
                  <a:cubicBezTo>
                    <a:pt x="0" y="324"/>
                    <a:pt x="21" y="303"/>
                    <a:pt x="47" y="303"/>
                  </a:cubicBezTo>
                  <a:cubicBezTo>
                    <a:pt x="72" y="303"/>
                    <a:pt x="94" y="324"/>
                    <a:pt x="94" y="350"/>
                  </a:cubicBezTo>
                  <a:close/>
                  <a:moveTo>
                    <a:pt x="94" y="450"/>
                  </a:moveTo>
                  <a:cubicBezTo>
                    <a:pt x="94" y="475"/>
                    <a:pt x="72" y="497"/>
                    <a:pt x="47" y="497"/>
                  </a:cubicBezTo>
                  <a:cubicBezTo>
                    <a:pt x="21" y="497"/>
                    <a:pt x="0" y="475"/>
                    <a:pt x="0" y="450"/>
                  </a:cubicBezTo>
                  <a:cubicBezTo>
                    <a:pt x="0" y="424"/>
                    <a:pt x="21" y="403"/>
                    <a:pt x="47" y="403"/>
                  </a:cubicBezTo>
                  <a:cubicBezTo>
                    <a:pt x="72" y="403"/>
                    <a:pt x="94" y="424"/>
                    <a:pt x="94" y="450"/>
                  </a:cubicBezTo>
                  <a:close/>
                  <a:moveTo>
                    <a:pt x="94" y="550"/>
                  </a:moveTo>
                  <a:cubicBezTo>
                    <a:pt x="94" y="575"/>
                    <a:pt x="72" y="597"/>
                    <a:pt x="47" y="597"/>
                  </a:cubicBezTo>
                  <a:cubicBezTo>
                    <a:pt x="21" y="597"/>
                    <a:pt x="0" y="575"/>
                    <a:pt x="0" y="550"/>
                  </a:cubicBezTo>
                  <a:cubicBezTo>
                    <a:pt x="0" y="524"/>
                    <a:pt x="21" y="503"/>
                    <a:pt x="47" y="503"/>
                  </a:cubicBezTo>
                  <a:cubicBezTo>
                    <a:pt x="72" y="503"/>
                    <a:pt x="94" y="524"/>
                    <a:pt x="94" y="550"/>
                  </a:cubicBezTo>
                  <a:close/>
                  <a:moveTo>
                    <a:pt x="94" y="650"/>
                  </a:moveTo>
                  <a:cubicBezTo>
                    <a:pt x="94" y="675"/>
                    <a:pt x="72" y="697"/>
                    <a:pt x="47" y="697"/>
                  </a:cubicBezTo>
                  <a:cubicBezTo>
                    <a:pt x="21" y="697"/>
                    <a:pt x="0" y="675"/>
                    <a:pt x="0" y="650"/>
                  </a:cubicBezTo>
                  <a:cubicBezTo>
                    <a:pt x="0" y="624"/>
                    <a:pt x="21" y="603"/>
                    <a:pt x="47" y="603"/>
                  </a:cubicBezTo>
                  <a:cubicBezTo>
                    <a:pt x="72" y="603"/>
                    <a:pt x="94" y="624"/>
                    <a:pt x="94" y="650"/>
                  </a:cubicBezTo>
                  <a:close/>
                  <a:moveTo>
                    <a:pt x="94" y="750"/>
                  </a:moveTo>
                  <a:cubicBezTo>
                    <a:pt x="94" y="775"/>
                    <a:pt x="72" y="797"/>
                    <a:pt x="47" y="797"/>
                  </a:cubicBezTo>
                  <a:cubicBezTo>
                    <a:pt x="21" y="797"/>
                    <a:pt x="0" y="775"/>
                    <a:pt x="0" y="750"/>
                  </a:cubicBezTo>
                  <a:cubicBezTo>
                    <a:pt x="0" y="724"/>
                    <a:pt x="21" y="703"/>
                    <a:pt x="47" y="703"/>
                  </a:cubicBezTo>
                  <a:cubicBezTo>
                    <a:pt x="72" y="703"/>
                    <a:pt x="94" y="724"/>
                    <a:pt x="94" y="750"/>
                  </a:cubicBezTo>
                  <a:close/>
                  <a:moveTo>
                    <a:pt x="94" y="850"/>
                  </a:moveTo>
                  <a:cubicBezTo>
                    <a:pt x="94" y="875"/>
                    <a:pt x="72" y="897"/>
                    <a:pt x="47" y="897"/>
                  </a:cubicBezTo>
                  <a:cubicBezTo>
                    <a:pt x="21" y="897"/>
                    <a:pt x="0" y="875"/>
                    <a:pt x="0" y="850"/>
                  </a:cubicBezTo>
                  <a:cubicBezTo>
                    <a:pt x="0" y="824"/>
                    <a:pt x="21" y="803"/>
                    <a:pt x="47" y="803"/>
                  </a:cubicBezTo>
                  <a:cubicBezTo>
                    <a:pt x="72" y="803"/>
                    <a:pt x="94" y="824"/>
                    <a:pt x="94" y="850"/>
                  </a:cubicBezTo>
                  <a:close/>
                  <a:moveTo>
                    <a:pt x="94" y="950"/>
                  </a:moveTo>
                  <a:cubicBezTo>
                    <a:pt x="94" y="975"/>
                    <a:pt x="72" y="997"/>
                    <a:pt x="47" y="997"/>
                  </a:cubicBezTo>
                  <a:cubicBezTo>
                    <a:pt x="21" y="997"/>
                    <a:pt x="0" y="975"/>
                    <a:pt x="0" y="950"/>
                  </a:cubicBezTo>
                  <a:cubicBezTo>
                    <a:pt x="0" y="924"/>
                    <a:pt x="21" y="903"/>
                    <a:pt x="47" y="903"/>
                  </a:cubicBezTo>
                  <a:cubicBezTo>
                    <a:pt x="72" y="903"/>
                    <a:pt x="94" y="924"/>
                    <a:pt x="94" y="950"/>
                  </a:cubicBezTo>
                  <a:close/>
                  <a:moveTo>
                    <a:pt x="94" y="1050"/>
                  </a:moveTo>
                  <a:cubicBezTo>
                    <a:pt x="94" y="1075"/>
                    <a:pt x="72" y="1097"/>
                    <a:pt x="47" y="1097"/>
                  </a:cubicBezTo>
                  <a:cubicBezTo>
                    <a:pt x="21" y="1097"/>
                    <a:pt x="0" y="1075"/>
                    <a:pt x="0" y="1050"/>
                  </a:cubicBezTo>
                  <a:cubicBezTo>
                    <a:pt x="0" y="1024"/>
                    <a:pt x="21" y="1003"/>
                    <a:pt x="47" y="1003"/>
                  </a:cubicBezTo>
                  <a:cubicBezTo>
                    <a:pt x="72" y="1003"/>
                    <a:pt x="94" y="1024"/>
                    <a:pt x="94" y="1050"/>
                  </a:cubicBezTo>
                  <a:close/>
                  <a:moveTo>
                    <a:pt x="94" y="1150"/>
                  </a:moveTo>
                  <a:cubicBezTo>
                    <a:pt x="94" y="1175"/>
                    <a:pt x="72" y="1197"/>
                    <a:pt x="47" y="1197"/>
                  </a:cubicBezTo>
                  <a:cubicBezTo>
                    <a:pt x="21" y="1197"/>
                    <a:pt x="0" y="1175"/>
                    <a:pt x="0" y="1150"/>
                  </a:cubicBezTo>
                  <a:cubicBezTo>
                    <a:pt x="0" y="1124"/>
                    <a:pt x="21" y="1103"/>
                    <a:pt x="47" y="1103"/>
                  </a:cubicBezTo>
                  <a:cubicBezTo>
                    <a:pt x="72" y="1103"/>
                    <a:pt x="94" y="1124"/>
                    <a:pt x="94" y="1150"/>
                  </a:cubicBezTo>
                  <a:close/>
                  <a:moveTo>
                    <a:pt x="94" y="1250"/>
                  </a:moveTo>
                  <a:cubicBezTo>
                    <a:pt x="94" y="1275"/>
                    <a:pt x="72" y="1297"/>
                    <a:pt x="47" y="1297"/>
                  </a:cubicBezTo>
                  <a:cubicBezTo>
                    <a:pt x="21" y="1297"/>
                    <a:pt x="0" y="1275"/>
                    <a:pt x="0" y="1250"/>
                  </a:cubicBezTo>
                  <a:cubicBezTo>
                    <a:pt x="0" y="1224"/>
                    <a:pt x="21" y="1203"/>
                    <a:pt x="47" y="1203"/>
                  </a:cubicBezTo>
                  <a:cubicBezTo>
                    <a:pt x="72" y="1203"/>
                    <a:pt x="94" y="1224"/>
                    <a:pt x="94" y="1250"/>
                  </a:cubicBezTo>
                  <a:close/>
                  <a:moveTo>
                    <a:pt x="94" y="1350"/>
                  </a:moveTo>
                  <a:cubicBezTo>
                    <a:pt x="94" y="1375"/>
                    <a:pt x="72" y="1397"/>
                    <a:pt x="47" y="1397"/>
                  </a:cubicBezTo>
                  <a:cubicBezTo>
                    <a:pt x="21" y="1397"/>
                    <a:pt x="0" y="1375"/>
                    <a:pt x="0" y="1350"/>
                  </a:cubicBezTo>
                  <a:cubicBezTo>
                    <a:pt x="0" y="1324"/>
                    <a:pt x="21" y="1303"/>
                    <a:pt x="47" y="1303"/>
                  </a:cubicBezTo>
                  <a:cubicBezTo>
                    <a:pt x="72" y="1303"/>
                    <a:pt x="94" y="1324"/>
                    <a:pt x="94" y="1350"/>
                  </a:cubicBezTo>
                  <a:close/>
                  <a:moveTo>
                    <a:pt x="94" y="1450"/>
                  </a:moveTo>
                  <a:cubicBezTo>
                    <a:pt x="94" y="1475"/>
                    <a:pt x="72" y="1497"/>
                    <a:pt x="47" y="1497"/>
                  </a:cubicBezTo>
                  <a:cubicBezTo>
                    <a:pt x="21" y="1497"/>
                    <a:pt x="0" y="1475"/>
                    <a:pt x="0" y="1450"/>
                  </a:cubicBezTo>
                  <a:cubicBezTo>
                    <a:pt x="0" y="1424"/>
                    <a:pt x="21" y="1403"/>
                    <a:pt x="47" y="1403"/>
                  </a:cubicBezTo>
                  <a:cubicBezTo>
                    <a:pt x="72" y="1403"/>
                    <a:pt x="94" y="1424"/>
                    <a:pt x="94" y="1450"/>
                  </a:cubicBezTo>
                  <a:close/>
                  <a:moveTo>
                    <a:pt x="94" y="1550"/>
                  </a:moveTo>
                  <a:cubicBezTo>
                    <a:pt x="94" y="1575"/>
                    <a:pt x="72" y="1597"/>
                    <a:pt x="47" y="1597"/>
                  </a:cubicBezTo>
                  <a:cubicBezTo>
                    <a:pt x="21" y="1597"/>
                    <a:pt x="0" y="1575"/>
                    <a:pt x="0" y="1550"/>
                  </a:cubicBezTo>
                  <a:cubicBezTo>
                    <a:pt x="0" y="1524"/>
                    <a:pt x="21" y="1503"/>
                    <a:pt x="47" y="1503"/>
                  </a:cubicBezTo>
                  <a:cubicBezTo>
                    <a:pt x="72" y="1503"/>
                    <a:pt x="94" y="1524"/>
                    <a:pt x="94" y="1550"/>
                  </a:cubicBezTo>
                  <a:close/>
                  <a:moveTo>
                    <a:pt x="94" y="1650"/>
                  </a:moveTo>
                  <a:cubicBezTo>
                    <a:pt x="94" y="1675"/>
                    <a:pt x="72" y="1697"/>
                    <a:pt x="47" y="1697"/>
                  </a:cubicBezTo>
                  <a:cubicBezTo>
                    <a:pt x="21" y="1697"/>
                    <a:pt x="0" y="1675"/>
                    <a:pt x="0" y="1650"/>
                  </a:cubicBezTo>
                  <a:cubicBezTo>
                    <a:pt x="0" y="1624"/>
                    <a:pt x="21" y="1603"/>
                    <a:pt x="47" y="1603"/>
                  </a:cubicBezTo>
                  <a:cubicBezTo>
                    <a:pt x="72" y="1603"/>
                    <a:pt x="94" y="1624"/>
                    <a:pt x="94" y="1650"/>
                  </a:cubicBezTo>
                  <a:close/>
                  <a:moveTo>
                    <a:pt x="94" y="1750"/>
                  </a:moveTo>
                  <a:cubicBezTo>
                    <a:pt x="94" y="1775"/>
                    <a:pt x="72" y="1797"/>
                    <a:pt x="47" y="1797"/>
                  </a:cubicBezTo>
                  <a:cubicBezTo>
                    <a:pt x="21" y="1797"/>
                    <a:pt x="0" y="1775"/>
                    <a:pt x="0" y="1750"/>
                  </a:cubicBezTo>
                  <a:cubicBezTo>
                    <a:pt x="0" y="1724"/>
                    <a:pt x="21" y="1703"/>
                    <a:pt x="47" y="1703"/>
                  </a:cubicBezTo>
                  <a:cubicBezTo>
                    <a:pt x="72" y="1703"/>
                    <a:pt x="94" y="1724"/>
                    <a:pt x="94" y="1750"/>
                  </a:cubicBezTo>
                  <a:close/>
                  <a:moveTo>
                    <a:pt x="94" y="1850"/>
                  </a:moveTo>
                  <a:cubicBezTo>
                    <a:pt x="94" y="1875"/>
                    <a:pt x="72" y="1897"/>
                    <a:pt x="47" y="1897"/>
                  </a:cubicBezTo>
                  <a:cubicBezTo>
                    <a:pt x="21" y="1897"/>
                    <a:pt x="0" y="1875"/>
                    <a:pt x="0" y="1850"/>
                  </a:cubicBezTo>
                  <a:cubicBezTo>
                    <a:pt x="0" y="1824"/>
                    <a:pt x="21" y="1803"/>
                    <a:pt x="47" y="1803"/>
                  </a:cubicBezTo>
                  <a:cubicBezTo>
                    <a:pt x="72" y="1803"/>
                    <a:pt x="94" y="1824"/>
                    <a:pt x="94" y="1850"/>
                  </a:cubicBezTo>
                  <a:close/>
                  <a:moveTo>
                    <a:pt x="94" y="1950"/>
                  </a:moveTo>
                  <a:cubicBezTo>
                    <a:pt x="94" y="1975"/>
                    <a:pt x="72" y="1997"/>
                    <a:pt x="47" y="1997"/>
                  </a:cubicBezTo>
                  <a:cubicBezTo>
                    <a:pt x="21" y="1997"/>
                    <a:pt x="0" y="1975"/>
                    <a:pt x="0" y="1950"/>
                  </a:cubicBezTo>
                  <a:cubicBezTo>
                    <a:pt x="0" y="1924"/>
                    <a:pt x="21" y="1903"/>
                    <a:pt x="47" y="1903"/>
                  </a:cubicBezTo>
                  <a:cubicBezTo>
                    <a:pt x="72" y="1903"/>
                    <a:pt x="94" y="1924"/>
                    <a:pt x="94" y="1950"/>
                  </a:cubicBezTo>
                  <a:close/>
                  <a:moveTo>
                    <a:pt x="94" y="2050"/>
                  </a:moveTo>
                  <a:cubicBezTo>
                    <a:pt x="94" y="2075"/>
                    <a:pt x="72" y="2097"/>
                    <a:pt x="47" y="2097"/>
                  </a:cubicBezTo>
                  <a:cubicBezTo>
                    <a:pt x="21" y="2097"/>
                    <a:pt x="0" y="2075"/>
                    <a:pt x="0" y="2050"/>
                  </a:cubicBezTo>
                  <a:cubicBezTo>
                    <a:pt x="0" y="2024"/>
                    <a:pt x="21" y="2003"/>
                    <a:pt x="47" y="2003"/>
                  </a:cubicBezTo>
                  <a:cubicBezTo>
                    <a:pt x="72" y="2003"/>
                    <a:pt x="94" y="2024"/>
                    <a:pt x="94" y="2050"/>
                  </a:cubicBezTo>
                  <a:close/>
                  <a:moveTo>
                    <a:pt x="94" y="2150"/>
                  </a:moveTo>
                  <a:cubicBezTo>
                    <a:pt x="94" y="2175"/>
                    <a:pt x="72" y="2197"/>
                    <a:pt x="47" y="2197"/>
                  </a:cubicBezTo>
                  <a:cubicBezTo>
                    <a:pt x="21" y="2197"/>
                    <a:pt x="0" y="2175"/>
                    <a:pt x="0" y="2150"/>
                  </a:cubicBezTo>
                  <a:cubicBezTo>
                    <a:pt x="0" y="2124"/>
                    <a:pt x="21" y="2103"/>
                    <a:pt x="47" y="2103"/>
                  </a:cubicBezTo>
                  <a:cubicBezTo>
                    <a:pt x="72" y="2103"/>
                    <a:pt x="94" y="2124"/>
                    <a:pt x="94" y="2150"/>
                  </a:cubicBezTo>
                  <a:close/>
                  <a:moveTo>
                    <a:pt x="94" y="2250"/>
                  </a:moveTo>
                  <a:cubicBezTo>
                    <a:pt x="94" y="2275"/>
                    <a:pt x="72" y="2297"/>
                    <a:pt x="47" y="2297"/>
                  </a:cubicBezTo>
                  <a:cubicBezTo>
                    <a:pt x="21" y="2297"/>
                    <a:pt x="0" y="2275"/>
                    <a:pt x="0" y="2250"/>
                  </a:cubicBezTo>
                  <a:cubicBezTo>
                    <a:pt x="0" y="2224"/>
                    <a:pt x="21" y="2203"/>
                    <a:pt x="47" y="2203"/>
                  </a:cubicBezTo>
                  <a:cubicBezTo>
                    <a:pt x="72" y="2203"/>
                    <a:pt x="94" y="2224"/>
                    <a:pt x="94" y="2250"/>
                  </a:cubicBezTo>
                  <a:close/>
                  <a:moveTo>
                    <a:pt x="94" y="2350"/>
                  </a:moveTo>
                  <a:cubicBezTo>
                    <a:pt x="94" y="2375"/>
                    <a:pt x="72" y="2397"/>
                    <a:pt x="47" y="2397"/>
                  </a:cubicBezTo>
                  <a:cubicBezTo>
                    <a:pt x="21" y="2397"/>
                    <a:pt x="0" y="2375"/>
                    <a:pt x="0" y="2350"/>
                  </a:cubicBezTo>
                  <a:cubicBezTo>
                    <a:pt x="0" y="2324"/>
                    <a:pt x="21" y="2303"/>
                    <a:pt x="47" y="2303"/>
                  </a:cubicBezTo>
                  <a:cubicBezTo>
                    <a:pt x="72" y="2303"/>
                    <a:pt x="94" y="2324"/>
                    <a:pt x="94" y="2350"/>
                  </a:cubicBezTo>
                  <a:close/>
                  <a:moveTo>
                    <a:pt x="94" y="2450"/>
                  </a:moveTo>
                  <a:cubicBezTo>
                    <a:pt x="94" y="2475"/>
                    <a:pt x="72" y="2497"/>
                    <a:pt x="47" y="2497"/>
                  </a:cubicBezTo>
                  <a:cubicBezTo>
                    <a:pt x="21" y="2497"/>
                    <a:pt x="0" y="2475"/>
                    <a:pt x="0" y="2450"/>
                  </a:cubicBezTo>
                  <a:cubicBezTo>
                    <a:pt x="0" y="2424"/>
                    <a:pt x="21" y="2403"/>
                    <a:pt x="47" y="2403"/>
                  </a:cubicBezTo>
                  <a:cubicBezTo>
                    <a:pt x="72" y="2403"/>
                    <a:pt x="94" y="2424"/>
                    <a:pt x="94" y="2450"/>
                  </a:cubicBezTo>
                  <a:close/>
                  <a:moveTo>
                    <a:pt x="94" y="2550"/>
                  </a:moveTo>
                  <a:cubicBezTo>
                    <a:pt x="94" y="2575"/>
                    <a:pt x="72" y="2597"/>
                    <a:pt x="47" y="2597"/>
                  </a:cubicBezTo>
                  <a:cubicBezTo>
                    <a:pt x="21" y="2597"/>
                    <a:pt x="0" y="2575"/>
                    <a:pt x="0" y="2550"/>
                  </a:cubicBezTo>
                  <a:cubicBezTo>
                    <a:pt x="0" y="2524"/>
                    <a:pt x="21" y="2503"/>
                    <a:pt x="47" y="2503"/>
                  </a:cubicBezTo>
                  <a:cubicBezTo>
                    <a:pt x="72" y="2503"/>
                    <a:pt x="94" y="2524"/>
                    <a:pt x="94" y="2550"/>
                  </a:cubicBezTo>
                  <a:close/>
                  <a:moveTo>
                    <a:pt x="94" y="2650"/>
                  </a:moveTo>
                  <a:cubicBezTo>
                    <a:pt x="94" y="2675"/>
                    <a:pt x="72" y="2697"/>
                    <a:pt x="47" y="2697"/>
                  </a:cubicBezTo>
                  <a:cubicBezTo>
                    <a:pt x="21" y="2697"/>
                    <a:pt x="0" y="2675"/>
                    <a:pt x="0" y="2650"/>
                  </a:cubicBezTo>
                  <a:cubicBezTo>
                    <a:pt x="0" y="2624"/>
                    <a:pt x="21" y="2603"/>
                    <a:pt x="47" y="2603"/>
                  </a:cubicBezTo>
                  <a:cubicBezTo>
                    <a:pt x="72" y="2603"/>
                    <a:pt x="94" y="2624"/>
                    <a:pt x="94" y="2650"/>
                  </a:cubicBezTo>
                  <a:close/>
                  <a:moveTo>
                    <a:pt x="94" y="2750"/>
                  </a:moveTo>
                  <a:cubicBezTo>
                    <a:pt x="94" y="2775"/>
                    <a:pt x="72" y="2797"/>
                    <a:pt x="47" y="2797"/>
                  </a:cubicBezTo>
                  <a:cubicBezTo>
                    <a:pt x="21" y="2797"/>
                    <a:pt x="0" y="2775"/>
                    <a:pt x="0" y="2750"/>
                  </a:cubicBezTo>
                  <a:cubicBezTo>
                    <a:pt x="0" y="2724"/>
                    <a:pt x="21" y="2703"/>
                    <a:pt x="47" y="2703"/>
                  </a:cubicBezTo>
                  <a:cubicBezTo>
                    <a:pt x="72" y="2703"/>
                    <a:pt x="94" y="2724"/>
                    <a:pt x="94" y="2750"/>
                  </a:cubicBezTo>
                  <a:close/>
                  <a:moveTo>
                    <a:pt x="94" y="2850"/>
                  </a:moveTo>
                  <a:cubicBezTo>
                    <a:pt x="94" y="2875"/>
                    <a:pt x="72" y="2897"/>
                    <a:pt x="47" y="2897"/>
                  </a:cubicBezTo>
                  <a:cubicBezTo>
                    <a:pt x="21" y="2897"/>
                    <a:pt x="0" y="2875"/>
                    <a:pt x="0" y="2850"/>
                  </a:cubicBezTo>
                  <a:cubicBezTo>
                    <a:pt x="0" y="2824"/>
                    <a:pt x="21" y="2803"/>
                    <a:pt x="47" y="2803"/>
                  </a:cubicBezTo>
                  <a:cubicBezTo>
                    <a:pt x="72" y="2803"/>
                    <a:pt x="94" y="2824"/>
                    <a:pt x="94" y="2850"/>
                  </a:cubicBezTo>
                  <a:close/>
                  <a:moveTo>
                    <a:pt x="94" y="2950"/>
                  </a:moveTo>
                  <a:cubicBezTo>
                    <a:pt x="94" y="2975"/>
                    <a:pt x="72" y="2997"/>
                    <a:pt x="47" y="2997"/>
                  </a:cubicBezTo>
                  <a:cubicBezTo>
                    <a:pt x="21" y="2997"/>
                    <a:pt x="0" y="2975"/>
                    <a:pt x="0" y="2950"/>
                  </a:cubicBezTo>
                  <a:cubicBezTo>
                    <a:pt x="0" y="2924"/>
                    <a:pt x="21" y="2903"/>
                    <a:pt x="47" y="2903"/>
                  </a:cubicBezTo>
                  <a:cubicBezTo>
                    <a:pt x="72" y="2903"/>
                    <a:pt x="94" y="2924"/>
                    <a:pt x="94" y="2950"/>
                  </a:cubicBezTo>
                  <a:close/>
                  <a:moveTo>
                    <a:pt x="94" y="3050"/>
                  </a:moveTo>
                  <a:cubicBezTo>
                    <a:pt x="94" y="3075"/>
                    <a:pt x="72" y="3097"/>
                    <a:pt x="47" y="3097"/>
                  </a:cubicBezTo>
                  <a:cubicBezTo>
                    <a:pt x="21" y="3097"/>
                    <a:pt x="0" y="3075"/>
                    <a:pt x="0" y="3050"/>
                  </a:cubicBezTo>
                  <a:cubicBezTo>
                    <a:pt x="0" y="3024"/>
                    <a:pt x="21" y="3003"/>
                    <a:pt x="47" y="3003"/>
                  </a:cubicBezTo>
                  <a:cubicBezTo>
                    <a:pt x="72" y="3003"/>
                    <a:pt x="94" y="3024"/>
                    <a:pt x="94" y="3050"/>
                  </a:cubicBezTo>
                  <a:close/>
                  <a:moveTo>
                    <a:pt x="94" y="3150"/>
                  </a:moveTo>
                  <a:cubicBezTo>
                    <a:pt x="94" y="3175"/>
                    <a:pt x="72" y="3197"/>
                    <a:pt x="47" y="3197"/>
                  </a:cubicBezTo>
                  <a:cubicBezTo>
                    <a:pt x="21" y="3197"/>
                    <a:pt x="0" y="3175"/>
                    <a:pt x="0" y="3150"/>
                  </a:cubicBezTo>
                  <a:cubicBezTo>
                    <a:pt x="0" y="3124"/>
                    <a:pt x="21" y="3103"/>
                    <a:pt x="47" y="3103"/>
                  </a:cubicBezTo>
                  <a:cubicBezTo>
                    <a:pt x="72" y="3103"/>
                    <a:pt x="94" y="3124"/>
                    <a:pt x="94" y="3150"/>
                  </a:cubicBezTo>
                  <a:close/>
                  <a:moveTo>
                    <a:pt x="94" y="3250"/>
                  </a:moveTo>
                  <a:cubicBezTo>
                    <a:pt x="94" y="3275"/>
                    <a:pt x="72" y="3297"/>
                    <a:pt x="47" y="3297"/>
                  </a:cubicBezTo>
                  <a:cubicBezTo>
                    <a:pt x="21" y="3297"/>
                    <a:pt x="0" y="3275"/>
                    <a:pt x="0" y="3250"/>
                  </a:cubicBezTo>
                  <a:cubicBezTo>
                    <a:pt x="0" y="3224"/>
                    <a:pt x="21" y="3203"/>
                    <a:pt x="47" y="3203"/>
                  </a:cubicBezTo>
                  <a:cubicBezTo>
                    <a:pt x="72" y="3203"/>
                    <a:pt x="94" y="3224"/>
                    <a:pt x="94" y="3250"/>
                  </a:cubicBezTo>
                  <a:close/>
                  <a:moveTo>
                    <a:pt x="94" y="3350"/>
                  </a:moveTo>
                  <a:cubicBezTo>
                    <a:pt x="94" y="3375"/>
                    <a:pt x="72" y="3397"/>
                    <a:pt x="47" y="3397"/>
                  </a:cubicBezTo>
                  <a:cubicBezTo>
                    <a:pt x="21" y="3397"/>
                    <a:pt x="0" y="3375"/>
                    <a:pt x="0" y="3350"/>
                  </a:cubicBezTo>
                  <a:cubicBezTo>
                    <a:pt x="0" y="3324"/>
                    <a:pt x="21" y="3303"/>
                    <a:pt x="47" y="3303"/>
                  </a:cubicBezTo>
                  <a:cubicBezTo>
                    <a:pt x="72" y="3303"/>
                    <a:pt x="94" y="3324"/>
                    <a:pt x="94" y="3350"/>
                  </a:cubicBezTo>
                  <a:close/>
                  <a:moveTo>
                    <a:pt x="94" y="3450"/>
                  </a:moveTo>
                  <a:cubicBezTo>
                    <a:pt x="94" y="3475"/>
                    <a:pt x="72" y="3497"/>
                    <a:pt x="47" y="3497"/>
                  </a:cubicBezTo>
                  <a:cubicBezTo>
                    <a:pt x="21" y="3497"/>
                    <a:pt x="0" y="3475"/>
                    <a:pt x="0" y="3450"/>
                  </a:cubicBezTo>
                  <a:cubicBezTo>
                    <a:pt x="0" y="3424"/>
                    <a:pt x="21" y="3403"/>
                    <a:pt x="47" y="3403"/>
                  </a:cubicBezTo>
                  <a:cubicBezTo>
                    <a:pt x="72" y="3403"/>
                    <a:pt x="94" y="3424"/>
                    <a:pt x="94" y="3450"/>
                  </a:cubicBezTo>
                  <a:close/>
                  <a:moveTo>
                    <a:pt x="94" y="3550"/>
                  </a:moveTo>
                  <a:cubicBezTo>
                    <a:pt x="94" y="3575"/>
                    <a:pt x="72" y="3597"/>
                    <a:pt x="47" y="3597"/>
                  </a:cubicBezTo>
                  <a:cubicBezTo>
                    <a:pt x="21" y="3597"/>
                    <a:pt x="0" y="3575"/>
                    <a:pt x="0" y="3550"/>
                  </a:cubicBezTo>
                  <a:cubicBezTo>
                    <a:pt x="0" y="3524"/>
                    <a:pt x="21" y="3503"/>
                    <a:pt x="47" y="3503"/>
                  </a:cubicBezTo>
                  <a:cubicBezTo>
                    <a:pt x="72" y="3503"/>
                    <a:pt x="94" y="3524"/>
                    <a:pt x="94" y="3550"/>
                  </a:cubicBezTo>
                  <a:close/>
                  <a:moveTo>
                    <a:pt x="94" y="3650"/>
                  </a:moveTo>
                  <a:cubicBezTo>
                    <a:pt x="94" y="3675"/>
                    <a:pt x="72" y="3697"/>
                    <a:pt x="47" y="3697"/>
                  </a:cubicBezTo>
                  <a:cubicBezTo>
                    <a:pt x="21" y="3697"/>
                    <a:pt x="0" y="3675"/>
                    <a:pt x="0" y="3650"/>
                  </a:cubicBezTo>
                  <a:cubicBezTo>
                    <a:pt x="0" y="3624"/>
                    <a:pt x="21" y="3603"/>
                    <a:pt x="47" y="3603"/>
                  </a:cubicBezTo>
                  <a:cubicBezTo>
                    <a:pt x="72" y="3603"/>
                    <a:pt x="94" y="3624"/>
                    <a:pt x="94" y="3650"/>
                  </a:cubicBezTo>
                  <a:close/>
                  <a:moveTo>
                    <a:pt x="94" y="3750"/>
                  </a:moveTo>
                  <a:cubicBezTo>
                    <a:pt x="94" y="3775"/>
                    <a:pt x="72" y="3797"/>
                    <a:pt x="47" y="3797"/>
                  </a:cubicBezTo>
                  <a:cubicBezTo>
                    <a:pt x="21" y="3797"/>
                    <a:pt x="0" y="3775"/>
                    <a:pt x="0" y="3750"/>
                  </a:cubicBezTo>
                  <a:cubicBezTo>
                    <a:pt x="0" y="3724"/>
                    <a:pt x="21" y="3703"/>
                    <a:pt x="47" y="3703"/>
                  </a:cubicBezTo>
                  <a:cubicBezTo>
                    <a:pt x="72" y="3703"/>
                    <a:pt x="94" y="3724"/>
                    <a:pt x="94" y="3750"/>
                  </a:cubicBezTo>
                  <a:close/>
                  <a:moveTo>
                    <a:pt x="94" y="3850"/>
                  </a:moveTo>
                  <a:cubicBezTo>
                    <a:pt x="94" y="3875"/>
                    <a:pt x="72" y="3897"/>
                    <a:pt x="47" y="3897"/>
                  </a:cubicBezTo>
                  <a:cubicBezTo>
                    <a:pt x="21" y="3897"/>
                    <a:pt x="0" y="3875"/>
                    <a:pt x="0" y="3850"/>
                  </a:cubicBezTo>
                  <a:cubicBezTo>
                    <a:pt x="0" y="3824"/>
                    <a:pt x="21" y="3803"/>
                    <a:pt x="47" y="3803"/>
                  </a:cubicBezTo>
                  <a:cubicBezTo>
                    <a:pt x="72" y="3803"/>
                    <a:pt x="94" y="3824"/>
                    <a:pt x="94" y="3850"/>
                  </a:cubicBezTo>
                  <a:close/>
                  <a:moveTo>
                    <a:pt x="94" y="3950"/>
                  </a:moveTo>
                  <a:cubicBezTo>
                    <a:pt x="94" y="3975"/>
                    <a:pt x="72" y="3997"/>
                    <a:pt x="47" y="3997"/>
                  </a:cubicBezTo>
                  <a:cubicBezTo>
                    <a:pt x="21" y="3997"/>
                    <a:pt x="0" y="3975"/>
                    <a:pt x="0" y="3950"/>
                  </a:cubicBezTo>
                  <a:cubicBezTo>
                    <a:pt x="0" y="3924"/>
                    <a:pt x="21" y="3903"/>
                    <a:pt x="47" y="3903"/>
                  </a:cubicBezTo>
                  <a:cubicBezTo>
                    <a:pt x="72" y="3903"/>
                    <a:pt x="94" y="3924"/>
                    <a:pt x="94" y="3950"/>
                  </a:cubicBezTo>
                  <a:close/>
                  <a:moveTo>
                    <a:pt x="94" y="4050"/>
                  </a:moveTo>
                  <a:cubicBezTo>
                    <a:pt x="94" y="4075"/>
                    <a:pt x="72" y="4097"/>
                    <a:pt x="47" y="4097"/>
                  </a:cubicBezTo>
                  <a:cubicBezTo>
                    <a:pt x="21" y="4097"/>
                    <a:pt x="0" y="4075"/>
                    <a:pt x="0" y="4050"/>
                  </a:cubicBezTo>
                  <a:cubicBezTo>
                    <a:pt x="0" y="4024"/>
                    <a:pt x="21" y="4003"/>
                    <a:pt x="47" y="4003"/>
                  </a:cubicBezTo>
                  <a:cubicBezTo>
                    <a:pt x="72" y="4003"/>
                    <a:pt x="94" y="4024"/>
                    <a:pt x="94" y="4050"/>
                  </a:cubicBezTo>
                  <a:close/>
                  <a:moveTo>
                    <a:pt x="94" y="4150"/>
                  </a:moveTo>
                  <a:cubicBezTo>
                    <a:pt x="94" y="4175"/>
                    <a:pt x="72" y="4197"/>
                    <a:pt x="47" y="4197"/>
                  </a:cubicBezTo>
                  <a:cubicBezTo>
                    <a:pt x="21" y="4197"/>
                    <a:pt x="0" y="4175"/>
                    <a:pt x="0" y="4150"/>
                  </a:cubicBezTo>
                  <a:cubicBezTo>
                    <a:pt x="0" y="4124"/>
                    <a:pt x="21" y="4103"/>
                    <a:pt x="47" y="4103"/>
                  </a:cubicBezTo>
                  <a:cubicBezTo>
                    <a:pt x="72" y="4103"/>
                    <a:pt x="94" y="4124"/>
                    <a:pt x="94" y="4150"/>
                  </a:cubicBezTo>
                  <a:close/>
                  <a:moveTo>
                    <a:pt x="94" y="4250"/>
                  </a:moveTo>
                  <a:cubicBezTo>
                    <a:pt x="94" y="4275"/>
                    <a:pt x="72" y="4297"/>
                    <a:pt x="47" y="4297"/>
                  </a:cubicBezTo>
                  <a:cubicBezTo>
                    <a:pt x="21" y="4297"/>
                    <a:pt x="0" y="4275"/>
                    <a:pt x="0" y="4250"/>
                  </a:cubicBezTo>
                  <a:cubicBezTo>
                    <a:pt x="0" y="4224"/>
                    <a:pt x="21" y="4203"/>
                    <a:pt x="47" y="4203"/>
                  </a:cubicBezTo>
                  <a:cubicBezTo>
                    <a:pt x="72" y="4203"/>
                    <a:pt x="94" y="4224"/>
                    <a:pt x="94" y="4250"/>
                  </a:cubicBezTo>
                  <a:close/>
                  <a:moveTo>
                    <a:pt x="94" y="4350"/>
                  </a:moveTo>
                  <a:cubicBezTo>
                    <a:pt x="94" y="4375"/>
                    <a:pt x="72" y="4397"/>
                    <a:pt x="47" y="4397"/>
                  </a:cubicBezTo>
                  <a:cubicBezTo>
                    <a:pt x="21" y="4397"/>
                    <a:pt x="0" y="4375"/>
                    <a:pt x="0" y="4350"/>
                  </a:cubicBezTo>
                  <a:cubicBezTo>
                    <a:pt x="0" y="4324"/>
                    <a:pt x="21" y="4303"/>
                    <a:pt x="47" y="4303"/>
                  </a:cubicBezTo>
                  <a:cubicBezTo>
                    <a:pt x="72" y="4303"/>
                    <a:pt x="94" y="4324"/>
                    <a:pt x="94" y="4350"/>
                  </a:cubicBezTo>
                  <a:close/>
                  <a:moveTo>
                    <a:pt x="94" y="4450"/>
                  </a:moveTo>
                  <a:cubicBezTo>
                    <a:pt x="94" y="4475"/>
                    <a:pt x="72" y="4497"/>
                    <a:pt x="47" y="4497"/>
                  </a:cubicBezTo>
                  <a:cubicBezTo>
                    <a:pt x="21" y="4497"/>
                    <a:pt x="0" y="4475"/>
                    <a:pt x="0" y="4450"/>
                  </a:cubicBezTo>
                  <a:cubicBezTo>
                    <a:pt x="0" y="4424"/>
                    <a:pt x="21" y="4403"/>
                    <a:pt x="47" y="4403"/>
                  </a:cubicBezTo>
                  <a:cubicBezTo>
                    <a:pt x="72" y="4403"/>
                    <a:pt x="94" y="4424"/>
                    <a:pt x="94" y="4450"/>
                  </a:cubicBezTo>
                  <a:close/>
                  <a:moveTo>
                    <a:pt x="94" y="4550"/>
                  </a:moveTo>
                  <a:cubicBezTo>
                    <a:pt x="94" y="4575"/>
                    <a:pt x="72" y="4597"/>
                    <a:pt x="47" y="4597"/>
                  </a:cubicBezTo>
                  <a:cubicBezTo>
                    <a:pt x="21" y="4597"/>
                    <a:pt x="0" y="4575"/>
                    <a:pt x="0" y="4550"/>
                  </a:cubicBezTo>
                  <a:cubicBezTo>
                    <a:pt x="0" y="4524"/>
                    <a:pt x="21" y="4503"/>
                    <a:pt x="47" y="4503"/>
                  </a:cubicBezTo>
                  <a:cubicBezTo>
                    <a:pt x="72" y="4503"/>
                    <a:pt x="94" y="4524"/>
                    <a:pt x="94" y="4550"/>
                  </a:cubicBezTo>
                  <a:close/>
                  <a:moveTo>
                    <a:pt x="94" y="4650"/>
                  </a:moveTo>
                  <a:cubicBezTo>
                    <a:pt x="94" y="4675"/>
                    <a:pt x="72" y="4697"/>
                    <a:pt x="47" y="4697"/>
                  </a:cubicBezTo>
                  <a:cubicBezTo>
                    <a:pt x="21" y="4697"/>
                    <a:pt x="0" y="4675"/>
                    <a:pt x="0" y="4650"/>
                  </a:cubicBezTo>
                  <a:cubicBezTo>
                    <a:pt x="0" y="4624"/>
                    <a:pt x="21" y="4603"/>
                    <a:pt x="47" y="4603"/>
                  </a:cubicBezTo>
                  <a:cubicBezTo>
                    <a:pt x="72" y="4603"/>
                    <a:pt x="94" y="4624"/>
                    <a:pt x="94" y="4650"/>
                  </a:cubicBezTo>
                  <a:close/>
                  <a:moveTo>
                    <a:pt x="94" y="4750"/>
                  </a:moveTo>
                  <a:cubicBezTo>
                    <a:pt x="94" y="4775"/>
                    <a:pt x="72" y="4797"/>
                    <a:pt x="47" y="4797"/>
                  </a:cubicBezTo>
                  <a:cubicBezTo>
                    <a:pt x="21" y="4797"/>
                    <a:pt x="0" y="4775"/>
                    <a:pt x="0" y="4750"/>
                  </a:cubicBezTo>
                  <a:cubicBezTo>
                    <a:pt x="0" y="4724"/>
                    <a:pt x="21" y="4703"/>
                    <a:pt x="47" y="4703"/>
                  </a:cubicBezTo>
                  <a:cubicBezTo>
                    <a:pt x="72" y="4703"/>
                    <a:pt x="94" y="4724"/>
                    <a:pt x="94" y="4750"/>
                  </a:cubicBezTo>
                  <a:close/>
                  <a:moveTo>
                    <a:pt x="94" y="4850"/>
                  </a:moveTo>
                  <a:cubicBezTo>
                    <a:pt x="94" y="4875"/>
                    <a:pt x="72" y="4897"/>
                    <a:pt x="47" y="4897"/>
                  </a:cubicBezTo>
                  <a:cubicBezTo>
                    <a:pt x="21" y="4897"/>
                    <a:pt x="0" y="4875"/>
                    <a:pt x="0" y="4850"/>
                  </a:cubicBezTo>
                  <a:cubicBezTo>
                    <a:pt x="0" y="4824"/>
                    <a:pt x="21" y="4803"/>
                    <a:pt x="47" y="4803"/>
                  </a:cubicBezTo>
                  <a:cubicBezTo>
                    <a:pt x="72" y="4803"/>
                    <a:pt x="94" y="4824"/>
                    <a:pt x="94" y="4850"/>
                  </a:cubicBezTo>
                  <a:close/>
                  <a:moveTo>
                    <a:pt x="94" y="4950"/>
                  </a:moveTo>
                  <a:cubicBezTo>
                    <a:pt x="94" y="4975"/>
                    <a:pt x="72" y="4997"/>
                    <a:pt x="47" y="4997"/>
                  </a:cubicBezTo>
                  <a:cubicBezTo>
                    <a:pt x="21" y="4997"/>
                    <a:pt x="0" y="4975"/>
                    <a:pt x="0" y="4950"/>
                  </a:cubicBezTo>
                  <a:cubicBezTo>
                    <a:pt x="0" y="4924"/>
                    <a:pt x="21" y="4903"/>
                    <a:pt x="47" y="4903"/>
                  </a:cubicBezTo>
                  <a:cubicBezTo>
                    <a:pt x="72" y="4903"/>
                    <a:pt x="94" y="4924"/>
                    <a:pt x="94" y="4950"/>
                  </a:cubicBezTo>
                  <a:close/>
                  <a:moveTo>
                    <a:pt x="94" y="5050"/>
                  </a:moveTo>
                  <a:cubicBezTo>
                    <a:pt x="94" y="5075"/>
                    <a:pt x="72" y="5097"/>
                    <a:pt x="47" y="5097"/>
                  </a:cubicBezTo>
                  <a:cubicBezTo>
                    <a:pt x="21" y="5097"/>
                    <a:pt x="0" y="5075"/>
                    <a:pt x="0" y="5050"/>
                  </a:cubicBezTo>
                  <a:cubicBezTo>
                    <a:pt x="0" y="5024"/>
                    <a:pt x="21" y="5003"/>
                    <a:pt x="47" y="5003"/>
                  </a:cubicBezTo>
                  <a:cubicBezTo>
                    <a:pt x="72" y="5003"/>
                    <a:pt x="94" y="5024"/>
                    <a:pt x="94" y="5050"/>
                  </a:cubicBezTo>
                  <a:close/>
                  <a:moveTo>
                    <a:pt x="94" y="5150"/>
                  </a:moveTo>
                  <a:cubicBezTo>
                    <a:pt x="94" y="5175"/>
                    <a:pt x="72" y="5197"/>
                    <a:pt x="47" y="5197"/>
                  </a:cubicBezTo>
                  <a:cubicBezTo>
                    <a:pt x="21" y="5197"/>
                    <a:pt x="0" y="5175"/>
                    <a:pt x="0" y="5150"/>
                  </a:cubicBezTo>
                  <a:cubicBezTo>
                    <a:pt x="0" y="5124"/>
                    <a:pt x="21" y="5103"/>
                    <a:pt x="47" y="5103"/>
                  </a:cubicBezTo>
                  <a:cubicBezTo>
                    <a:pt x="72" y="5103"/>
                    <a:pt x="94" y="5124"/>
                    <a:pt x="94" y="5150"/>
                  </a:cubicBezTo>
                  <a:close/>
                  <a:moveTo>
                    <a:pt x="94" y="5250"/>
                  </a:moveTo>
                  <a:cubicBezTo>
                    <a:pt x="94" y="5275"/>
                    <a:pt x="72" y="5297"/>
                    <a:pt x="47" y="5297"/>
                  </a:cubicBezTo>
                  <a:cubicBezTo>
                    <a:pt x="21" y="5297"/>
                    <a:pt x="0" y="5275"/>
                    <a:pt x="0" y="5250"/>
                  </a:cubicBezTo>
                  <a:cubicBezTo>
                    <a:pt x="0" y="5224"/>
                    <a:pt x="21" y="5203"/>
                    <a:pt x="47" y="5203"/>
                  </a:cubicBezTo>
                  <a:cubicBezTo>
                    <a:pt x="72" y="5203"/>
                    <a:pt x="94" y="5224"/>
                    <a:pt x="94" y="5250"/>
                  </a:cubicBezTo>
                  <a:close/>
                  <a:moveTo>
                    <a:pt x="94" y="5350"/>
                  </a:moveTo>
                  <a:cubicBezTo>
                    <a:pt x="94" y="5375"/>
                    <a:pt x="72" y="5397"/>
                    <a:pt x="47" y="5397"/>
                  </a:cubicBezTo>
                  <a:cubicBezTo>
                    <a:pt x="21" y="5397"/>
                    <a:pt x="0" y="5375"/>
                    <a:pt x="0" y="5350"/>
                  </a:cubicBezTo>
                  <a:cubicBezTo>
                    <a:pt x="0" y="5324"/>
                    <a:pt x="21" y="5303"/>
                    <a:pt x="47" y="5303"/>
                  </a:cubicBezTo>
                  <a:cubicBezTo>
                    <a:pt x="72" y="5303"/>
                    <a:pt x="94" y="5324"/>
                    <a:pt x="94" y="5350"/>
                  </a:cubicBezTo>
                  <a:close/>
                  <a:moveTo>
                    <a:pt x="94" y="5450"/>
                  </a:moveTo>
                  <a:cubicBezTo>
                    <a:pt x="94" y="5475"/>
                    <a:pt x="72" y="5497"/>
                    <a:pt x="47" y="5497"/>
                  </a:cubicBezTo>
                  <a:cubicBezTo>
                    <a:pt x="21" y="5497"/>
                    <a:pt x="0" y="5475"/>
                    <a:pt x="0" y="5450"/>
                  </a:cubicBezTo>
                  <a:cubicBezTo>
                    <a:pt x="0" y="5424"/>
                    <a:pt x="21" y="5403"/>
                    <a:pt x="47" y="5403"/>
                  </a:cubicBezTo>
                  <a:cubicBezTo>
                    <a:pt x="72" y="5403"/>
                    <a:pt x="94" y="5424"/>
                    <a:pt x="94" y="5450"/>
                  </a:cubicBezTo>
                  <a:close/>
                  <a:moveTo>
                    <a:pt x="94" y="5550"/>
                  </a:moveTo>
                  <a:cubicBezTo>
                    <a:pt x="94" y="5575"/>
                    <a:pt x="72" y="5597"/>
                    <a:pt x="47" y="5597"/>
                  </a:cubicBezTo>
                  <a:cubicBezTo>
                    <a:pt x="21" y="5597"/>
                    <a:pt x="0" y="5575"/>
                    <a:pt x="0" y="5550"/>
                  </a:cubicBezTo>
                  <a:cubicBezTo>
                    <a:pt x="0" y="5524"/>
                    <a:pt x="21" y="5503"/>
                    <a:pt x="47" y="5503"/>
                  </a:cubicBezTo>
                  <a:cubicBezTo>
                    <a:pt x="72" y="5503"/>
                    <a:pt x="94" y="5524"/>
                    <a:pt x="94" y="5550"/>
                  </a:cubicBezTo>
                  <a:close/>
                  <a:moveTo>
                    <a:pt x="94" y="5650"/>
                  </a:moveTo>
                  <a:cubicBezTo>
                    <a:pt x="94" y="5675"/>
                    <a:pt x="72" y="5697"/>
                    <a:pt x="47" y="5697"/>
                  </a:cubicBezTo>
                  <a:cubicBezTo>
                    <a:pt x="21" y="5697"/>
                    <a:pt x="0" y="5675"/>
                    <a:pt x="0" y="5650"/>
                  </a:cubicBezTo>
                  <a:cubicBezTo>
                    <a:pt x="0" y="5624"/>
                    <a:pt x="21" y="5603"/>
                    <a:pt x="47" y="5603"/>
                  </a:cubicBezTo>
                  <a:cubicBezTo>
                    <a:pt x="72" y="5603"/>
                    <a:pt x="94" y="5624"/>
                    <a:pt x="94" y="5650"/>
                  </a:cubicBezTo>
                  <a:close/>
                  <a:moveTo>
                    <a:pt x="94" y="5750"/>
                  </a:moveTo>
                  <a:cubicBezTo>
                    <a:pt x="94" y="5775"/>
                    <a:pt x="72" y="5797"/>
                    <a:pt x="47" y="5797"/>
                  </a:cubicBezTo>
                  <a:cubicBezTo>
                    <a:pt x="21" y="5797"/>
                    <a:pt x="0" y="5775"/>
                    <a:pt x="0" y="5750"/>
                  </a:cubicBezTo>
                  <a:cubicBezTo>
                    <a:pt x="0" y="5724"/>
                    <a:pt x="21" y="5703"/>
                    <a:pt x="47" y="5703"/>
                  </a:cubicBezTo>
                  <a:cubicBezTo>
                    <a:pt x="72" y="5703"/>
                    <a:pt x="94" y="5724"/>
                    <a:pt x="94" y="5750"/>
                  </a:cubicBezTo>
                  <a:close/>
                  <a:moveTo>
                    <a:pt x="94" y="5850"/>
                  </a:moveTo>
                  <a:cubicBezTo>
                    <a:pt x="94" y="5875"/>
                    <a:pt x="72" y="5897"/>
                    <a:pt x="47" y="5897"/>
                  </a:cubicBezTo>
                  <a:cubicBezTo>
                    <a:pt x="21" y="5897"/>
                    <a:pt x="0" y="5875"/>
                    <a:pt x="0" y="5850"/>
                  </a:cubicBezTo>
                  <a:cubicBezTo>
                    <a:pt x="0" y="5824"/>
                    <a:pt x="21" y="5803"/>
                    <a:pt x="47" y="5803"/>
                  </a:cubicBezTo>
                  <a:cubicBezTo>
                    <a:pt x="72" y="5803"/>
                    <a:pt x="94" y="5824"/>
                    <a:pt x="94" y="5850"/>
                  </a:cubicBezTo>
                  <a:close/>
                  <a:moveTo>
                    <a:pt x="94" y="5950"/>
                  </a:moveTo>
                  <a:cubicBezTo>
                    <a:pt x="94" y="5975"/>
                    <a:pt x="72" y="5997"/>
                    <a:pt x="47" y="5997"/>
                  </a:cubicBezTo>
                  <a:cubicBezTo>
                    <a:pt x="21" y="5997"/>
                    <a:pt x="0" y="5975"/>
                    <a:pt x="0" y="5950"/>
                  </a:cubicBezTo>
                  <a:cubicBezTo>
                    <a:pt x="0" y="5924"/>
                    <a:pt x="21" y="5903"/>
                    <a:pt x="47" y="5903"/>
                  </a:cubicBezTo>
                  <a:cubicBezTo>
                    <a:pt x="72" y="5903"/>
                    <a:pt x="94" y="5924"/>
                    <a:pt x="94" y="5950"/>
                  </a:cubicBezTo>
                  <a:close/>
                  <a:moveTo>
                    <a:pt x="94" y="6050"/>
                  </a:moveTo>
                  <a:cubicBezTo>
                    <a:pt x="94" y="6075"/>
                    <a:pt x="72" y="6097"/>
                    <a:pt x="47" y="6097"/>
                  </a:cubicBezTo>
                  <a:cubicBezTo>
                    <a:pt x="21" y="6097"/>
                    <a:pt x="0" y="6075"/>
                    <a:pt x="0" y="6050"/>
                  </a:cubicBezTo>
                  <a:cubicBezTo>
                    <a:pt x="0" y="6024"/>
                    <a:pt x="21" y="6003"/>
                    <a:pt x="47" y="6003"/>
                  </a:cubicBezTo>
                  <a:cubicBezTo>
                    <a:pt x="72" y="6003"/>
                    <a:pt x="94" y="6024"/>
                    <a:pt x="94" y="6050"/>
                  </a:cubicBezTo>
                  <a:close/>
                  <a:moveTo>
                    <a:pt x="94" y="6150"/>
                  </a:moveTo>
                  <a:cubicBezTo>
                    <a:pt x="94" y="6175"/>
                    <a:pt x="72" y="6197"/>
                    <a:pt x="47" y="6197"/>
                  </a:cubicBezTo>
                  <a:cubicBezTo>
                    <a:pt x="21" y="6197"/>
                    <a:pt x="0" y="6175"/>
                    <a:pt x="0" y="6150"/>
                  </a:cubicBezTo>
                  <a:cubicBezTo>
                    <a:pt x="0" y="6124"/>
                    <a:pt x="21" y="6103"/>
                    <a:pt x="47" y="6103"/>
                  </a:cubicBezTo>
                  <a:cubicBezTo>
                    <a:pt x="72" y="6103"/>
                    <a:pt x="94" y="6124"/>
                    <a:pt x="94" y="6150"/>
                  </a:cubicBezTo>
                  <a:close/>
                  <a:moveTo>
                    <a:pt x="94" y="6250"/>
                  </a:moveTo>
                  <a:cubicBezTo>
                    <a:pt x="94" y="6275"/>
                    <a:pt x="72" y="6297"/>
                    <a:pt x="47" y="6297"/>
                  </a:cubicBezTo>
                  <a:cubicBezTo>
                    <a:pt x="21" y="6297"/>
                    <a:pt x="0" y="6275"/>
                    <a:pt x="0" y="6250"/>
                  </a:cubicBezTo>
                  <a:cubicBezTo>
                    <a:pt x="0" y="6224"/>
                    <a:pt x="21" y="6203"/>
                    <a:pt x="47" y="6203"/>
                  </a:cubicBezTo>
                  <a:cubicBezTo>
                    <a:pt x="72" y="6203"/>
                    <a:pt x="94" y="6224"/>
                    <a:pt x="94" y="6250"/>
                  </a:cubicBezTo>
                  <a:close/>
                  <a:moveTo>
                    <a:pt x="94" y="6350"/>
                  </a:moveTo>
                  <a:cubicBezTo>
                    <a:pt x="94" y="6375"/>
                    <a:pt x="72" y="6397"/>
                    <a:pt x="47" y="6397"/>
                  </a:cubicBezTo>
                  <a:cubicBezTo>
                    <a:pt x="21" y="6397"/>
                    <a:pt x="0" y="6375"/>
                    <a:pt x="0" y="6350"/>
                  </a:cubicBezTo>
                  <a:cubicBezTo>
                    <a:pt x="0" y="6324"/>
                    <a:pt x="21" y="6303"/>
                    <a:pt x="47" y="6303"/>
                  </a:cubicBezTo>
                  <a:cubicBezTo>
                    <a:pt x="72" y="6303"/>
                    <a:pt x="94" y="6324"/>
                    <a:pt x="94" y="6350"/>
                  </a:cubicBezTo>
                  <a:close/>
                  <a:moveTo>
                    <a:pt x="94" y="6450"/>
                  </a:moveTo>
                  <a:cubicBezTo>
                    <a:pt x="94" y="6475"/>
                    <a:pt x="72" y="6497"/>
                    <a:pt x="47" y="6497"/>
                  </a:cubicBezTo>
                  <a:cubicBezTo>
                    <a:pt x="21" y="6497"/>
                    <a:pt x="0" y="6475"/>
                    <a:pt x="0" y="6450"/>
                  </a:cubicBezTo>
                  <a:cubicBezTo>
                    <a:pt x="0" y="6424"/>
                    <a:pt x="21" y="6403"/>
                    <a:pt x="47" y="6403"/>
                  </a:cubicBezTo>
                  <a:cubicBezTo>
                    <a:pt x="72" y="6403"/>
                    <a:pt x="94" y="6424"/>
                    <a:pt x="94" y="6450"/>
                  </a:cubicBezTo>
                  <a:close/>
                  <a:moveTo>
                    <a:pt x="550" y="50"/>
                  </a:moveTo>
                  <a:cubicBezTo>
                    <a:pt x="550" y="75"/>
                    <a:pt x="528" y="97"/>
                    <a:pt x="503" y="97"/>
                  </a:cubicBezTo>
                  <a:cubicBezTo>
                    <a:pt x="477" y="97"/>
                    <a:pt x="456" y="75"/>
                    <a:pt x="456" y="50"/>
                  </a:cubicBezTo>
                  <a:cubicBezTo>
                    <a:pt x="456" y="24"/>
                    <a:pt x="477" y="3"/>
                    <a:pt x="503" y="3"/>
                  </a:cubicBezTo>
                  <a:cubicBezTo>
                    <a:pt x="528" y="3"/>
                    <a:pt x="550" y="24"/>
                    <a:pt x="550" y="50"/>
                  </a:cubicBezTo>
                  <a:close/>
                  <a:moveTo>
                    <a:pt x="550" y="150"/>
                  </a:moveTo>
                  <a:cubicBezTo>
                    <a:pt x="550" y="175"/>
                    <a:pt x="528" y="197"/>
                    <a:pt x="503" y="197"/>
                  </a:cubicBezTo>
                  <a:cubicBezTo>
                    <a:pt x="477" y="197"/>
                    <a:pt x="456" y="175"/>
                    <a:pt x="456" y="150"/>
                  </a:cubicBezTo>
                  <a:cubicBezTo>
                    <a:pt x="456" y="124"/>
                    <a:pt x="477" y="103"/>
                    <a:pt x="503" y="103"/>
                  </a:cubicBezTo>
                  <a:cubicBezTo>
                    <a:pt x="528" y="103"/>
                    <a:pt x="550" y="124"/>
                    <a:pt x="550" y="150"/>
                  </a:cubicBezTo>
                  <a:close/>
                  <a:moveTo>
                    <a:pt x="550" y="250"/>
                  </a:moveTo>
                  <a:cubicBezTo>
                    <a:pt x="550" y="275"/>
                    <a:pt x="528" y="297"/>
                    <a:pt x="503" y="297"/>
                  </a:cubicBezTo>
                  <a:cubicBezTo>
                    <a:pt x="477" y="297"/>
                    <a:pt x="456" y="275"/>
                    <a:pt x="456" y="250"/>
                  </a:cubicBezTo>
                  <a:cubicBezTo>
                    <a:pt x="456" y="224"/>
                    <a:pt x="477" y="203"/>
                    <a:pt x="503" y="203"/>
                  </a:cubicBezTo>
                  <a:cubicBezTo>
                    <a:pt x="528" y="203"/>
                    <a:pt x="550" y="224"/>
                    <a:pt x="550" y="250"/>
                  </a:cubicBezTo>
                  <a:close/>
                  <a:moveTo>
                    <a:pt x="550" y="350"/>
                  </a:moveTo>
                  <a:cubicBezTo>
                    <a:pt x="550" y="375"/>
                    <a:pt x="528" y="397"/>
                    <a:pt x="503" y="397"/>
                  </a:cubicBezTo>
                  <a:cubicBezTo>
                    <a:pt x="477" y="397"/>
                    <a:pt x="456" y="375"/>
                    <a:pt x="456" y="350"/>
                  </a:cubicBezTo>
                  <a:cubicBezTo>
                    <a:pt x="456" y="324"/>
                    <a:pt x="477" y="303"/>
                    <a:pt x="503" y="303"/>
                  </a:cubicBezTo>
                  <a:cubicBezTo>
                    <a:pt x="528" y="303"/>
                    <a:pt x="550" y="324"/>
                    <a:pt x="550" y="350"/>
                  </a:cubicBezTo>
                  <a:close/>
                  <a:moveTo>
                    <a:pt x="550" y="450"/>
                  </a:moveTo>
                  <a:cubicBezTo>
                    <a:pt x="550" y="475"/>
                    <a:pt x="528" y="497"/>
                    <a:pt x="503" y="497"/>
                  </a:cubicBezTo>
                  <a:cubicBezTo>
                    <a:pt x="477" y="497"/>
                    <a:pt x="456" y="475"/>
                    <a:pt x="456" y="450"/>
                  </a:cubicBezTo>
                  <a:cubicBezTo>
                    <a:pt x="456" y="424"/>
                    <a:pt x="477" y="403"/>
                    <a:pt x="503" y="403"/>
                  </a:cubicBezTo>
                  <a:cubicBezTo>
                    <a:pt x="528" y="403"/>
                    <a:pt x="550" y="424"/>
                    <a:pt x="550" y="450"/>
                  </a:cubicBezTo>
                  <a:close/>
                  <a:moveTo>
                    <a:pt x="550" y="550"/>
                  </a:moveTo>
                  <a:cubicBezTo>
                    <a:pt x="550" y="575"/>
                    <a:pt x="528" y="597"/>
                    <a:pt x="503" y="597"/>
                  </a:cubicBezTo>
                  <a:cubicBezTo>
                    <a:pt x="477" y="597"/>
                    <a:pt x="456" y="575"/>
                    <a:pt x="456" y="550"/>
                  </a:cubicBezTo>
                  <a:cubicBezTo>
                    <a:pt x="456" y="524"/>
                    <a:pt x="477" y="503"/>
                    <a:pt x="503" y="503"/>
                  </a:cubicBezTo>
                  <a:cubicBezTo>
                    <a:pt x="528" y="503"/>
                    <a:pt x="550" y="524"/>
                    <a:pt x="550" y="550"/>
                  </a:cubicBezTo>
                  <a:close/>
                  <a:moveTo>
                    <a:pt x="550" y="650"/>
                  </a:moveTo>
                  <a:cubicBezTo>
                    <a:pt x="550" y="675"/>
                    <a:pt x="528" y="697"/>
                    <a:pt x="503" y="697"/>
                  </a:cubicBezTo>
                  <a:cubicBezTo>
                    <a:pt x="477" y="697"/>
                    <a:pt x="456" y="675"/>
                    <a:pt x="456" y="650"/>
                  </a:cubicBezTo>
                  <a:cubicBezTo>
                    <a:pt x="456" y="624"/>
                    <a:pt x="477" y="603"/>
                    <a:pt x="503" y="603"/>
                  </a:cubicBezTo>
                  <a:cubicBezTo>
                    <a:pt x="528" y="603"/>
                    <a:pt x="550" y="624"/>
                    <a:pt x="550" y="650"/>
                  </a:cubicBezTo>
                  <a:close/>
                  <a:moveTo>
                    <a:pt x="550" y="750"/>
                  </a:moveTo>
                  <a:cubicBezTo>
                    <a:pt x="550" y="775"/>
                    <a:pt x="528" y="797"/>
                    <a:pt x="503" y="797"/>
                  </a:cubicBezTo>
                  <a:cubicBezTo>
                    <a:pt x="477" y="797"/>
                    <a:pt x="456" y="775"/>
                    <a:pt x="456" y="750"/>
                  </a:cubicBezTo>
                  <a:cubicBezTo>
                    <a:pt x="456" y="724"/>
                    <a:pt x="477" y="703"/>
                    <a:pt x="503" y="703"/>
                  </a:cubicBezTo>
                  <a:cubicBezTo>
                    <a:pt x="528" y="703"/>
                    <a:pt x="550" y="724"/>
                    <a:pt x="550" y="750"/>
                  </a:cubicBezTo>
                  <a:close/>
                  <a:moveTo>
                    <a:pt x="550" y="850"/>
                  </a:moveTo>
                  <a:cubicBezTo>
                    <a:pt x="550" y="875"/>
                    <a:pt x="528" y="897"/>
                    <a:pt x="503" y="897"/>
                  </a:cubicBezTo>
                  <a:cubicBezTo>
                    <a:pt x="477" y="897"/>
                    <a:pt x="456" y="875"/>
                    <a:pt x="456" y="850"/>
                  </a:cubicBezTo>
                  <a:cubicBezTo>
                    <a:pt x="456" y="824"/>
                    <a:pt x="477" y="803"/>
                    <a:pt x="503" y="803"/>
                  </a:cubicBezTo>
                  <a:cubicBezTo>
                    <a:pt x="528" y="803"/>
                    <a:pt x="550" y="824"/>
                    <a:pt x="550" y="850"/>
                  </a:cubicBezTo>
                  <a:close/>
                  <a:moveTo>
                    <a:pt x="550" y="950"/>
                  </a:moveTo>
                  <a:cubicBezTo>
                    <a:pt x="550" y="975"/>
                    <a:pt x="528" y="997"/>
                    <a:pt x="503" y="997"/>
                  </a:cubicBezTo>
                  <a:cubicBezTo>
                    <a:pt x="477" y="997"/>
                    <a:pt x="456" y="975"/>
                    <a:pt x="456" y="950"/>
                  </a:cubicBezTo>
                  <a:cubicBezTo>
                    <a:pt x="456" y="924"/>
                    <a:pt x="477" y="903"/>
                    <a:pt x="503" y="903"/>
                  </a:cubicBezTo>
                  <a:cubicBezTo>
                    <a:pt x="528" y="903"/>
                    <a:pt x="550" y="924"/>
                    <a:pt x="550" y="950"/>
                  </a:cubicBezTo>
                  <a:close/>
                  <a:moveTo>
                    <a:pt x="550" y="1050"/>
                  </a:moveTo>
                  <a:cubicBezTo>
                    <a:pt x="550" y="1075"/>
                    <a:pt x="528" y="1097"/>
                    <a:pt x="503" y="1097"/>
                  </a:cubicBezTo>
                  <a:cubicBezTo>
                    <a:pt x="477" y="1097"/>
                    <a:pt x="456" y="1075"/>
                    <a:pt x="456" y="1050"/>
                  </a:cubicBezTo>
                  <a:cubicBezTo>
                    <a:pt x="456" y="1024"/>
                    <a:pt x="477" y="1003"/>
                    <a:pt x="503" y="1003"/>
                  </a:cubicBezTo>
                  <a:cubicBezTo>
                    <a:pt x="528" y="1003"/>
                    <a:pt x="550" y="1024"/>
                    <a:pt x="550" y="1050"/>
                  </a:cubicBezTo>
                  <a:close/>
                  <a:moveTo>
                    <a:pt x="550" y="1150"/>
                  </a:moveTo>
                  <a:cubicBezTo>
                    <a:pt x="550" y="1175"/>
                    <a:pt x="528" y="1197"/>
                    <a:pt x="503" y="1197"/>
                  </a:cubicBezTo>
                  <a:cubicBezTo>
                    <a:pt x="477" y="1197"/>
                    <a:pt x="456" y="1175"/>
                    <a:pt x="456" y="1150"/>
                  </a:cubicBezTo>
                  <a:cubicBezTo>
                    <a:pt x="456" y="1124"/>
                    <a:pt x="477" y="1103"/>
                    <a:pt x="503" y="1103"/>
                  </a:cubicBezTo>
                  <a:cubicBezTo>
                    <a:pt x="528" y="1103"/>
                    <a:pt x="550" y="1124"/>
                    <a:pt x="550" y="1150"/>
                  </a:cubicBezTo>
                  <a:close/>
                  <a:moveTo>
                    <a:pt x="550" y="1250"/>
                  </a:moveTo>
                  <a:cubicBezTo>
                    <a:pt x="550" y="1275"/>
                    <a:pt x="528" y="1297"/>
                    <a:pt x="503" y="1297"/>
                  </a:cubicBezTo>
                  <a:cubicBezTo>
                    <a:pt x="477" y="1297"/>
                    <a:pt x="456" y="1275"/>
                    <a:pt x="456" y="1250"/>
                  </a:cubicBezTo>
                  <a:cubicBezTo>
                    <a:pt x="456" y="1224"/>
                    <a:pt x="477" y="1203"/>
                    <a:pt x="503" y="1203"/>
                  </a:cubicBezTo>
                  <a:cubicBezTo>
                    <a:pt x="528" y="1203"/>
                    <a:pt x="550" y="1224"/>
                    <a:pt x="550" y="1250"/>
                  </a:cubicBezTo>
                  <a:close/>
                  <a:moveTo>
                    <a:pt x="550" y="1350"/>
                  </a:moveTo>
                  <a:cubicBezTo>
                    <a:pt x="550" y="1375"/>
                    <a:pt x="528" y="1397"/>
                    <a:pt x="503" y="1397"/>
                  </a:cubicBezTo>
                  <a:cubicBezTo>
                    <a:pt x="477" y="1397"/>
                    <a:pt x="456" y="1375"/>
                    <a:pt x="456" y="1350"/>
                  </a:cubicBezTo>
                  <a:cubicBezTo>
                    <a:pt x="456" y="1324"/>
                    <a:pt x="477" y="1303"/>
                    <a:pt x="503" y="1303"/>
                  </a:cubicBezTo>
                  <a:cubicBezTo>
                    <a:pt x="528" y="1303"/>
                    <a:pt x="550" y="1324"/>
                    <a:pt x="550" y="1350"/>
                  </a:cubicBezTo>
                  <a:close/>
                  <a:moveTo>
                    <a:pt x="550" y="1450"/>
                  </a:moveTo>
                  <a:cubicBezTo>
                    <a:pt x="550" y="1475"/>
                    <a:pt x="528" y="1497"/>
                    <a:pt x="503" y="1497"/>
                  </a:cubicBezTo>
                  <a:cubicBezTo>
                    <a:pt x="477" y="1497"/>
                    <a:pt x="456" y="1475"/>
                    <a:pt x="456" y="1450"/>
                  </a:cubicBezTo>
                  <a:cubicBezTo>
                    <a:pt x="456" y="1424"/>
                    <a:pt x="477" y="1403"/>
                    <a:pt x="503" y="1403"/>
                  </a:cubicBezTo>
                  <a:cubicBezTo>
                    <a:pt x="528" y="1403"/>
                    <a:pt x="550" y="1424"/>
                    <a:pt x="550" y="1450"/>
                  </a:cubicBezTo>
                  <a:close/>
                  <a:moveTo>
                    <a:pt x="550" y="1550"/>
                  </a:moveTo>
                  <a:cubicBezTo>
                    <a:pt x="550" y="1575"/>
                    <a:pt x="528" y="1597"/>
                    <a:pt x="503" y="1597"/>
                  </a:cubicBezTo>
                  <a:cubicBezTo>
                    <a:pt x="477" y="1597"/>
                    <a:pt x="456" y="1575"/>
                    <a:pt x="456" y="1550"/>
                  </a:cubicBezTo>
                  <a:cubicBezTo>
                    <a:pt x="456" y="1524"/>
                    <a:pt x="477" y="1503"/>
                    <a:pt x="503" y="1503"/>
                  </a:cubicBezTo>
                  <a:cubicBezTo>
                    <a:pt x="528" y="1503"/>
                    <a:pt x="550" y="1524"/>
                    <a:pt x="550" y="1550"/>
                  </a:cubicBezTo>
                  <a:close/>
                  <a:moveTo>
                    <a:pt x="550" y="1650"/>
                  </a:moveTo>
                  <a:cubicBezTo>
                    <a:pt x="550" y="1675"/>
                    <a:pt x="528" y="1697"/>
                    <a:pt x="503" y="1697"/>
                  </a:cubicBezTo>
                  <a:cubicBezTo>
                    <a:pt x="477" y="1697"/>
                    <a:pt x="456" y="1675"/>
                    <a:pt x="456" y="1650"/>
                  </a:cubicBezTo>
                  <a:cubicBezTo>
                    <a:pt x="456" y="1624"/>
                    <a:pt x="477" y="1603"/>
                    <a:pt x="503" y="1603"/>
                  </a:cubicBezTo>
                  <a:cubicBezTo>
                    <a:pt x="528" y="1603"/>
                    <a:pt x="550" y="1624"/>
                    <a:pt x="550" y="1650"/>
                  </a:cubicBezTo>
                  <a:close/>
                  <a:moveTo>
                    <a:pt x="550" y="1750"/>
                  </a:moveTo>
                  <a:cubicBezTo>
                    <a:pt x="550" y="1775"/>
                    <a:pt x="528" y="1797"/>
                    <a:pt x="503" y="1797"/>
                  </a:cubicBezTo>
                  <a:cubicBezTo>
                    <a:pt x="477" y="1797"/>
                    <a:pt x="456" y="1775"/>
                    <a:pt x="456" y="1750"/>
                  </a:cubicBezTo>
                  <a:cubicBezTo>
                    <a:pt x="456" y="1724"/>
                    <a:pt x="477" y="1703"/>
                    <a:pt x="503" y="1703"/>
                  </a:cubicBezTo>
                  <a:cubicBezTo>
                    <a:pt x="528" y="1703"/>
                    <a:pt x="550" y="1724"/>
                    <a:pt x="550" y="1750"/>
                  </a:cubicBezTo>
                  <a:close/>
                  <a:moveTo>
                    <a:pt x="550" y="1850"/>
                  </a:moveTo>
                  <a:cubicBezTo>
                    <a:pt x="550" y="1875"/>
                    <a:pt x="528" y="1897"/>
                    <a:pt x="503" y="1897"/>
                  </a:cubicBezTo>
                  <a:cubicBezTo>
                    <a:pt x="477" y="1897"/>
                    <a:pt x="456" y="1875"/>
                    <a:pt x="456" y="1850"/>
                  </a:cubicBezTo>
                  <a:cubicBezTo>
                    <a:pt x="456" y="1824"/>
                    <a:pt x="477" y="1803"/>
                    <a:pt x="503" y="1803"/>
                  </a:cubicBezTo>
                  <a:cubicBezTo>
                    <a:pt x="528" y="1803"/>
                    <a:pt x="550" y="1824"/>
                    <a:pt x="550" y="1850"/>
                  </a:cubicBezTo>
                  <a:close/>
                  <a:moveTo>
                    <a:pt x="550" y="1950"/>
                  </a:moveTo>
                  <a:cubicBezTo>
                    <a:pt x="550" y="1975"/>
                    <a:pt x="528" y="1997"/>
                    <a:pt x="503" y="1997"/>
                  </a:cubicBezTo>
                  <a:cubicBezTo>
                    <a:pt x="477" y="1997"/>
                    <a:pt x="456" y="1975"/>
                    <a:pt x="456" y="1950"/>
                  </a:cubicBezTo>
                  <a:cubicBezTo>
                    <a:pt x="456" y="1924"/>
                    <a:pt x="477" y="1903"/>
                    <a:pt x="503" y="1903"/>
                  </a:cubicBezTo>
                  <a:cubicBezTo>
                    <a:pt x="528" y="1903"/>
                    <a:pt x="550" y="1924"/>
                    <a:pt x="550" y="1950"/>
                  </a:cubicBezTo>
                  <a:close/>
                  <a:moveTo>
                    <a:pt x="550" y="2050"/>
                  </a:moveTo>
                  <a:cubicBezTo>
                    <a:pt x="550" y="2075"/>
                    <a:pt x="528" y="2097"/>
                    <a:pt x="503" y="2097"/>
                  </a:cubicBezTo>
                  <a:cubicBezTo>
                    <a:pt x="477" y="2097"/>
                    <a:pt x="456" y="2075"/>
                    <a:pt x="456" y="2050"/>
                  </a:cubicBezTo>
                  <a:cubicBezTo>
                    <a:pt x="456" y="2024"/>
                    <a:pt x="477" y="2003"/>
                    <a:pt x="503" y="2003"/>
                  </a:cubicBezTo>
                  <a:cubicBezTo>
                    <a:pt x="528" y="2003"/>
                    <a:pt x="550" y="2024"/>
                    <a:pt x="550" y="2050"/>
                  </a:cubicBezTo>
                  <a:close/>
                  <a:moveTo>
                    <a:pt x="550" y="2150"/>
                  </a:moveTo>
                  <a:cubicBezTo>
                    <a:pt x="550" y="2175"/>
                    <a:pt x="528" y="2197"/>
                    <a:pt x="503" y="2197"/>
                  </a:cubicBezTo>
                  <a:cubicBezTo>
                    <a:pt x="477" y="2197"/>
                    <a:pt x="456" y="2175"/>
                    <a:pt x="456" y="2150"/>
                  </a:cubicBezTo>
                  <a:cubicBezTo>
                    <a:pt x="456" y="2124"/>
                    <a:pt x="477" y="2103"/>
                    <a:pt x="503" y="2103"/>
                  </a:cubicBezTo>
                  <a:cubicBezTo>
                    <a:pt x="528" y="2103"/>
                    <a:pt x="550" y="2124"/>
                    <a:pt x="550" y="2150"/>
                  </a:cubicBezTo>
                  <a:close/>
                  <a:moveTo>
                    <a:pt x="550" y="2250"/>
                  </a:moveTo>
                  <a:cubicBezTo>
                    <a:pt x="550" y="2275"/>
                    <a:pt x="528" y="2297"/>
                    <a:pt x="503" y="2297"/>
                  </a:cubicBezTo>
                  <a:cubicBezTo>
                    <a:pt x="477" y="2297"/>
                    <a:pt x="456" y="2275"/>
                    <a:pt x="456" y="2250"/>
                  </a:cubicBezTo>
                  <a:cubicBezTo>
                    <a:pt x="456" y="2224"/>
                    <a:pt x="477" y="2203"/>
                    <a:pt x="503" y="2203"/>
                  </a:cubicBezTo>
                  <a:cubicBezTo>
                    <a:pt x="528" y="2203"/>
                    <a:pt x="550" y="2224"/>
                    <a:pt x="550" y="2250"/>
                  </a:cubicBezTo>
                  <a:close/>
                  <a:moveTo>
                    <a:pt x="550" y="2350"/>
                  </a:moveTo>
                  <a:cubicBezTo>
                    <a:pt x="550" y="2375"/>
                    <a:pt x="528" y="2397"/>
                    <a:pt x="503" y="2397"/>
                  </a:cubicBezTo>
                  <a:cubicBezTo>
                    <a:pt x="477" y="2397"/>
                    <a:pt x="456" y="2375"/>
                    <a:pt x="456" y="2350"/>
                  </a:cubicBezTo>
                  <a:cubicBezTo>
                    <a:pt x="456" y="2324"/>
                    <a:pt x="477" y="2303"/>
                    <a:pt x="503" y="2303"/>
                  </a:cubicBezTo>
                  <a:cubicBezTo>
                    <a:pt x="528" y="2303"/>
                    <a:pt x="550" y="2324"/>
                    <a:pt x="550" y="2350"/>
                  </a:cubicBezTo>
                  <a:close/>
                  <a:moveTo>
                    <a:pt x="550" y="2450"/>
                  </a:moveTo>
                  <a:cubicBezTo>
                    <a:pt x="550" y="2475"/>
                    <a:pt x="528" y="2497"/>
                    <a:pt x="503" y="2497"/>
                  </a:cubicBezTo>
                  <a:cubicBezTo>
                    <a:pt x="477" y="2497"/>
                    <a:pt x="456" y="2475"/>
                    <a:pt x="456" y="2450"/>
                  </a:cubicBezTo>
                  <a:cubicBezTo>
                    <a:pt x="456" y="2424"/>
                    <a:pt x="477" y="2403"/>
                    <a:pt x="503" y="2403"/>
                  </a:cubicBezTo>
                  <a:cubicBezTo>
                    <a:pt x="528" y="2403"/>
                    <a:pt x="550" y="2424"/>
                    <a:pt x="550" y="2450"/>
                  </a:cubicBezTo>
                  <a:close/>
                  <a:moveTo>
                    <a:pt x="550" y="2550"/>
                  </a:moveTo>
                  <a:cubicBezTo>
                    <a:pt x="550" y="2575"/>
                    <a:pt x="528" y="2597"/>
                    <a:pt x="503" y="2597"/>
                  </a:cubicBezTo>
                  <a:cubicBezTo>
                    <a:pt x="477" y="2597"/>
                    <a:pt x="456" y="2575"/>
                    <a:pt x="456" y="2550"/>
                  </a:cubicBezTo>
                  <a:cubicBezTo>
                    <a:pt x="456" y="2524"/>
                    <a:pt x="477" y="2503"/>
                    <a:pt x="503" y="2503"/>
                  </a:cubicBezTo>
                  <a:cubicBezTo>
                    <a:pt x="528" y="2503"/>
                    <a:pt x="550" y="2524"/>
                    <a:pt x="550" y="2550"/>
                  </a:cubicBezTo>
                  <a:close/>
                  <a:moveTo>
                    <a:pt x="550" y="2650"/>
                  </a:moveTo>
                  <a:cubicBezTo>
                    <a:pt x="550" y="2675"/>
                    <a:pt x="528" y="2697"/>
                    <a:pt x="503" y="2697"/>
                  </a:cubicBezTo>
                  <a:cubicBezTo>
                    <a:pt x="477" y="2697"/>
                    <a:pt x="456" y="2675"/>
                    <a:pt x="456" y="2650"/>
                  </a:cubicBezTo>
                  <a:cubicBezTo>
                    <a:pt x="456" y="2624"/>
                    <a:pt x="477" y="2603"/>
                    <a:pt x="503" y="2603"/>
                  </a:cubicBezTo>
                  <a:cubicBezTo>
                    <a:pt x="528" y="2603"/>
                    <a:pt x="550" y="2624"/>
                    <a:pt x="550" y="2650"/>
                  </a:cubicBezTo>
                  <a:close/>
                  <a:moveTo>
                    <a:pt x="550" y="2750"/>
                  </a:moveTo>
                  <a:cubicBezTo>
                    <a:pt x="550" y="2775"/>
                    <a:pt x="528" y="2797"/>
                    <a:pt x="503" y="2797"/>
                  </a:cubicBezTo>
                  <a:cubicBezTo>
                    <a:pt x="477" y="2797"/>
                    <a:pt x="456" y="2775"/>
                    <a:pt x="456" y="2750"/>
                  </a:cubicBezTo>
                  <a:cubicBezTo>
                    <a:pt x="456" y="2724"/>
                    <a:pt x="477" y="2703"/>
                    <a:pt x="503" y="2703"/>
                  </a:cubicBezTo>
                  <a:cubicBezTo>
                    <a:pt x="528" y="2703"/>
                    <a:pt x="550" y="2724"/>
                    <a:pt x="550" y="2750"/>
                  </a:cubicBezTo>
                  <a:close/>
                  <a:moveTo>
                    <a:pt x="550" y="2850"/>
                  </a:moveTo>
                  <a:cubicBezTo>
                    <a:pt x="550" y="2875"/>
                    <a:pt x="528" y="2897"/>
                    <a:pt x="503" y="2897"/>
                  </a:cubicBezTo>
                  <a:cubicBezTo>
                    <a:pt x="477" y="2897"/>
                    <a:pt x="456" y="2875"/>
                    <a:pt x="456" y="2850"/>
                  </a:cubicBezTo>
                  <a:cubicBezTo>
                    <a:pt x="456" y="2824"/>
                    <a:pt x="477" y="2803"/>
                    <a:pt x="503" y="2803"/>
                  </a:cubicBezTo>
                  <a:cubicBezTo>
                    <a:pt x="528" y="2803"/>
                    <a:pt x="550" y="2824"/>
                    <a:pt x="550" y="2850"/>
                  </a:cubicBezTo>
                  <a:close/>
                  <a:moveTo>
                    <a:pt x="550" y="2950"/>
                  </a:moveTo>
                  <a:cubicBezTo>
                    <a:pt x="550" y="2975"/>
                    <a:pt x="528" y="2997"/>
                    <a:pt x="503" y="2997"/>
                  </a:cubicBezTo>
                  <a:cubicBezTo>
                    <a:pt x="477" y="2997"/>
                    <a:pt x="456" y="2975"/>
                    <a:pt x="456" y="2950"/>
                  </a:cubicBezTo>
                  <a:cubicBezTo>
                    <a:pt x="456" y="2924"/>
                    <a:pt x="477" y="2903"/>
                    <a:pt x="503" y="2903"/>
                  </a:cubicBezTo>
                  <a:cubicBezTo>
                    <a:pt x="528" y="2903"/>
                    <a:pt x="550" y="2924"/>
                    <a:pt x="550" y="2950"/>
                  </a:cubicBezTo>
                  <a:close/>
                  <a:moveTo>
                    <a:pt x="550" y="3050"/>
                  </a:moveTo>
                  <a:cubicBezTo>
                    <a:pt x="550" y="3075"/>
                    <a:pt x="528" y="3097"/>
                    <a:pt x="503" y="3097"/>
                  </a:cubicBezTo>
                  <a:cubicBezTo>
                    <a:pt x="477" y="3097"/>
                    <a:pt x="456" y="3075"/>
                    <a:pt x="456" y="3050"/>
                  </a:cubicBezTo>
                  <a:cubicBezTo>
                    <a:pt x="456" y="3024"/>
                    <a:pt x="477" y="3003"/>
                    <a:pt x="503" y="3003"/>
                  </a:cubicBezTo>
                  <a:cubicBezTo>
                    <a:pt x="528" y="3003"/>
                    <a:pt x="550" y="3024"/>
                    <a:pt x="550" y="3050"/>
                  </a:cubicBezTo>
                  <a:close/>
                  <a:moveTo>
                    <a:pt x="550" y="3150"/>
                  </a:moveTo>
                  <a:cubicBezTo>
                    <a:pt x="550" y="3175"/>
                    <a:pt x="528" y="3197"/>
                    <a:pt x="503" y="3197"/>
                  </a:cubicBezTo>
                  <a:cubicBezTo>
                    <a:pt x="477" y="3197"/>
                    <a:pt x="456" y="3175"/>
                    <a:pt x="456" y="3150"/>
                  </a:cubicBezTo>
                  <a:cubicBezTo>
                    <a:pt x="456" y="3124"/>
                    <a:pt x="477" y="3103"/>
                    <a:pt x="503" y="3103"/>
                  </a:cubicBezTo>
                  <a:cubicBezTo>
                    <a:pt x="528" y="3103"/>
                    <a:pt x="550" y="3124"/>
                    <a:pt x="550" y="3150"/>
                  </a:cubicBezTo>
                  <a:close/>
                  <a:moveTo>
                    <a:pt x="550" y="3250"/>
                  </a:moveTo>
                  <a:cubicBezTo>
                    <a:pt x="550" y="3275"/>
                    <a:pt x="528" y="3297"/>
                    <a:pt x="503" y="3297"/>
                  </a:cubicBezTo>
                  <a:cubicBezTo>
                    <a:pt x="477" y="3297"/>
                    <a:pt x="456" y="3275"/>
                    <a:pt x="456" y="3250"/>
                  </a:cubicBezTo>
                  <a:cubicBezTo>
                    <a:pt x="456" y="3224"/>
                    <a:pt x="477" y="3203"/>
                    <a:pt x="503" y="3203"/>
                  </a:cubicBezTo>
                  <a:cubicBezTo>
                    <a:pt x="528" y="3203"/>
                    <a:pt x="550" y="3224"/>
                    <a:pt x="550" y="3250"/>
                  </a:cubicBezTo>
                  <a:close/>
                  <a:moveTo>
                    <a:pt x="550" y="3350"/>
                  </a:moveTo>
                  <a:cubicBezTo>
                    <a:pt x="550" y="3375"/>
                    <a:pt x="528" y="3397"/>
                    <a:pt x="503" y="3397"/>
                  </a:cubicBezTo>
                  <a:cubicBezTo>
                    <a:pt x="477" y="3397"/>
                    <a:pt x="456" y="3375"/>
                    <a:pt x="456" y="3350"/>
                  </a:cubicBezTo>
                  <a:cubicBezTo>
                    <a:pt x="456" y="3324"/>
                    <a:pt x="477" y="3303"/>
                    <a:pt x="503" y="3303"/>
                  </a:cubicBezTo>
                  <a:cubicBezTo>
                    <a:pt x="528" y="3303"/>
                    <a:pt x="550" y="3324"/>
                    <a:pt x="550" y="3350"/>
                  </a:cubicBezTo>
                  <a:close/>
                  <a:moveTo>
                    <a:pt x="550" y="3450"/>
                  </a:moveTo>
                  <a:cubicBezTo>
                    <a:pt x="550" y="3475"/>
                    <a:pt x="528" y="3497"/>
                    <a:pt x="503" y="3497"/>
                  </a:cubicBezTo>
                  <a:cubicBezTo>
                    <a:pt x="477" y="3497"/>
                    <a:pt x="456" y="3475"/>
                    <a:pt x="456" y="3450"/>
                  </a:cubicBezTo>
                  <a:cubicBezTo>
                    <a:pt x="456" y="3424"/>
                    <a:pt x="477" y="3403"/>
                    <a:pt x="503" y="3403"/>
                  </a:cubicBezTo>
                  <a:cubicBezTo>
                    <a:pt x="528" y="3403"/>
                    <a:pt x="550" y="3424"/>
                    <a:pt x="550" y="3450"/>
                  </a:cubicBezTo>
                  <a:close/>
                  <a:moveTo>
                    <a:pt x="550" y="3550"/>
                  </a:moveTo>
                  <a:cubicBezTo>
                    <a:pt x="550" y="3575"/>
                    <a:pt x="528" y="3597"/>
                    <a:pt x="503" y="3597"/>
                  </a:cubicBezTo>
                  <a:cubicBezTo>
                    <a:pt x="477" y="3597"/>
                    <a:pt x="456" y="3575"/>
                    <a:pt x="456" y="3550"/>
                  </a:cubicBezTo>
                  <a:cubicBezTo>
                    <a:pt x="456" y="3524"/>
                    <a:pt x="477" y="3503"/>
                    <a:pt x="503" y="3503"/>
                  </a:cubicBezTo>
                  <a:cubicBezTo>
                    <a:pt x="528" y="3503"/>
                    <a:pt x="550" y="3524"/>
                    <a:pt x="550" y="3550"/>
                  </a:cubicBezTo>
                  <a:close/>
                  <a:moveTo>
                    <a:pt x="550" y="3650"/>
                  </a:moveTo>
                  <a:cubicBezTo>
                    <a:pt x="550" y="3675"/>
                    <a:pt x="528" y="3697"/>
                    <a:pt x="503" y="3697"/>
                  </a:cubicBezTo>
                  <a:cubicBezTo>
                    <a:pt x="477" y="3697"/>
                    <a:pt x="456" y="3675"/>
                    <a:pt x="456" y="3650"/>
                  </a:cubicBezTo>
                  <a:cubicBezTo>
                    <a:pt x="456" y="3624"/>
                    <a:pt x="477" y="3603"/>
                    <a:pt x="503" y="3603"/>
                  </a:cubicBezTo>
                  <a:cubicBezTo>
                    <a:pt x="528" y="3603"/>
                    <a:pt x="550" y="3624"/>
                    <a:pt x="550" y="3650"/>
                  </a:cubicBezTo>
                  <a:close/>
                  <a:moveTo>
                    <a:pt x="550" y="3750"/>
                  </a:moveTo>
                  <a:cubicBezTo>
                    <a:pt x="550" y="3775"/>
                    <a:pt x="528" y="3797"/>
                    <a:pt x="503" y="3797"/>
                  </a:cubicBezTo>
                  <a:cubicBezTo>
                    <a:pt x="477" y="3797"/>
                    <a:pt x="456" y="3775"/>
                    <a:pt x="456" y="3750"/>
                  </a:cubicBezTo>
                  <a:cubicBezTo>
                    <a:pt x="456" y="3724"/>
                    <a:pt x="477" y="3703"/>
                    <a:pt x="503" y="3703"/>
                  </a:cubicBezTo>
                  <a:cubicBezTo>
                    <a:pt x="528" y="3703"/>
                    <a:pt x="550" y="3724"/>
                    <a:pt x="550" y="3750"/>
                  </a:cubicBezTo>
                  <a:close/>
                  <a:moveTo>
                    <a:pt x="550" y="3850"/>
                  </a:moveTo>
                  <a:cubicBezTo>
                    <a:pt x="550" y="3875"/>
                    <a:pt x="528" y="3897"/>
                    <a:pt x="503" y="3897"/>
                  </a:cubicBezTo>
                  <a:cubicBezTo>
                    <a:pt x="477" y="3897"/>
                    <a:pt x="456" y="3875"/>
                    <a:pt x="456" y="3850"/>
                  </a:cubicBezTo>
                  <a:cubicBezTo>
                    <a:pt x="456" y="3824"/>
                    <a:pt x="477" y="3803"/>
                    <a:pt x="503" y="3803"/>
                  </a:cubicBezTo>
                  <a:cubicBezTo>
                    <a:pt x="528" y="3803"/>
                    <a:pt x="550" y="3824"/>
                    <a:pt x="550" y="3850"/>
                  </a:cubicBezTo>
                  <a:close/>
                  <a:moveTo>
                    <a:pt x="550" y="3950"/>
                  </a:moveTo>
                  <a:cubicBezTo>
                    <a:pt x="550" y="3975"/>
                    <a:pt x="528" y="3997"/>
                    <a:pt x="503" y="3997"/>
                  </a:cubicBezTo>
                  <a:cubicBezTo>
                    <a:pt x="477" y="3997"/>
                    <a:pt x="456" y="3975"/>
                    <a:pt x="456" y="3950"/>
                  </a:cubicBezTo>
                  <a:cubicBezTo>
                    <a:pt x="456" y="3924"/>
                    <a:pt x="477" y="3903"/>
                    <a:pt x="503" y="3903"/>
                  </a:cubicBezTo>
                  <a:cubicBezTo>
                    <a:pt x="528" y="3903"/>
                    <a:pt x="550" y="3924"/>
                    <a:pt x="550" y="3950"/>
                  </a:cubicBezTo>
                  <a:close/>
                  <a:moveTo>
                    <a:pt x="550" y="4050"/>
                  </a:moveTo>
                  <a:cubicBezTo>
                    <a:pt x="550" y="4075"/>
                    <a:pt x="528" y="4097"/>
                    <a:pt x="503" y="4097"/>
                  </a:cubicBezTo>
                  <a:cubicBezTo>
                    <a:pt x="477" y="4097"/>
                    <a:pt x="456" y="4075"/>
                    <a:pt x="456" y="4050"/>
                  </a:cubicBezTo>
                  <a:cubicBezTo>
                    <a:pt x="456" y="4024"/>
                    <a:pt x="477" y="4003"/>
                    <a:pt x="503" y="4003"/>
                  </a:cubicBezTo>
                  <a:cubicBezTo>
                    <a:pt x="528" y="4003"/>
                    <a:pt x="550" y="4024"/>
                    <a:pt x="550" y="4050"/>
                  </a:cubicBezTo>
                  <a:close/>
                  <a:moveTo>
                    <a:pt x="550" y="4150"/>
                  </a:moveTo>
                  <a:cubicBezTo>
                    <a:pt x="550" y="4175"/>
                    <a:pt x="528" y="4197"/>
                    <a:pt x="503" y="4197"/>
                  </a:cubicBezTo>
                  <a:cubicBezTo>
                    <a:pt x="477" y="4197"/>
                    <a:pt x="456" y="4175"/>
                    <a:pt x="456" y="4150"/>
                  </a:cubicBezTo>
                  <a:cubicBezTo>
                    <a:pt x="456" y="4124"/>
                    <a:pt x="477" y="4103"/>
                    <a:pt x="503" y="4103"/>
                  </a:cubicBezTo>
                  <a:cubicBezTo>
                    <a:pt x="528" y="4103"/>
                    <a:pt x="550" y="4124"/>
                    <a:pt x="550" y="4150"/>
                  </a:cubicBezTo>
                  <a:close/>
                  <a:moveTo>
                    <a:pt x="550" y="4250"/>
                  </a:moveTo>
                  <a:cubicBezTo>
                    <a:pt x="550" y="4275"/>
                    <a:pt x="528" y="4297"/>
                    <a:pt x="503" y="4297"/>
                  </a:cubicBezTo>
                  <a:cubicBezTo>
                    <a:pt x="477" y="4297"/>
                    <a:pt x="456" y="4275"/>
                    <a:pt x="456" y="4250"/>
                  </a:cubicBezTo>
                  <a:cubicBezTo>
                    <a:pt x="456" y="4224"/>
                    <a:pt x="477" y="4203"/>
                    <a:pt x="503" y="4203"/>
                  </a:cubicBezTo>
                  <a:cubicBezTo>
                    <a:pt x="528" y="4203"/>
                    <a:pt x="550" y="4224"/>
                    <a:pt x="550" y="4250"/>
                  </a:cubicBezTo>
                  <a:close/>
                  <a:moveTo>
                    <a:pt x="550" y="4350"/>
                  </a:moveTo>
                  <a:cubicBezTo>
                    <a:pt x="550" y="4375"/>
                    <a:pt x="528" y="4397"/>
                    <a:pt x="503" y="4397"/>
                  </a:cubicBezTo>
                  <a:cubicBezTo>
                    <a:pt x="477" y="4397"/>
                    <a:pt x="456" y="4375"/>
                    <a:pt x="456" y="4350"/>
                  </a:cubicBezTo>
                  <a:cubicBezTo>
                    <a:pt x="456" y="4324"/>
                    <a:pt x="477" y="4303"/>
                    <a:pt x="503" y="4303"/>
                  </a:cubicBezTo>
                  <a:cubicBezTo>
                    <a:pt x="528" y="4303"/>
                    <a:pt x="550" y="4324"/>
                    <a:pt x="550" y="4350"/>
                  </a:cubicBezTo>
                  <a:close/>
                  <a:moveTo>
                    <a:pt x="550" y="4450"/>
                  </a:moveTo>
                  <a:cubicBezTo>
                    <a:pt x="550" y="4475"/>
                    <a:pt x="528" y="4497"/>
                    <a:pt x="503" y="4497"/>
                  </a:cubicBezTo>
                  <a:cubicBezTo>
                    <a:pt x="477" y="4497"/>
                    <a:pt x="456" y="4475"/>
                    <a:pt x="456" y="4450"/>
                  </a:cubicBezTo>
                  <a:cubicBezTo>
                    <a:pt x="456" y="4424"/>
                    <a:pt x="477" y="4403"/>
                    <a:pt x="503" y="4403"/>
                  </a:cubicBezTo>
                  <a:cubicBezTo>
                    <a:pt x="528" y="4403"/>
                    <a:pt x="550" y="4424"/>
                    <a:pt x="550" y="4450"/>
                  </a:cubicBezTo>
                  <a:close/>
                  <a:moveTo>
                    <a:pt x="550" y="4550"/>
                  </a:moveTo>
                  <a:cubicBezTo>
                    <a:pt x="550" y="4575"/>
                    <a:pt x="528" y="4597"/>
                    <a:pt x="503" y="4597"/>
                  </a:cubicBezTo>
                  <a:cubicBezTo>
                    <a:pt x="477" y="4597"/>
                    <a:pt x="456" y="4575"/>
                    <a:pt x="456" y="4550"/>
                  </a:cubicBezTo>
                  <a:cubicBezTo>
                    <a:pt x="456" y="4524"/>
                    <a:pt x="477" y="4503"/>
                    <a:pt x="503" y="4503"/>
                  </a:cubicBezTo>
                  <a:cubicBezTo>
                    <a:pt x="528" y="4503"/>
                    <a:pt x="550" y="4524"/>
                    <a:pt x="550" y="4550"/>
                  </a:cubicBezTo>
                  <a:close/>
                  <a:moveTo>
                    <a:pt x="550" y="4650"/>
                  </a:moveTo>
                  <a:cubicBezTo>
                    <a:pt x="550" y="4675"/>
                    <a:pt x="528" y="4697"/>
                    <a:pt x="503" y="4697"/>
                  </a:cubicBezTo>
                  <a:cubicBezTo>
                    <a:pt x="477" y="4697"/>
                    <a:pt x="456" y="4675"/>
                    <a:pt x="456" y="4650"/>
                  </a:cubicBezTo>
                  <a:cubicBezTo>
                    <a:pt x="456" y="4624"/>
                    <a:pt x="477" y="4603"/>
                    <a:pt x="503" y="4603"/>
                  </a:cubicBezTo>
                  <a:cubicBezTo>
                    <a:pt x="528" y="4603"/>
                    <a:pt x="550" y="4624"/>
                    <a:pt x="550" y="4650"/>
                  </a:cubicBezTo>
                  <a:close/>
                  <a:moveTo>
                    <a:pt x="550" y="4750"/>
                  </a:moveTo>
                  <a:cubicBezTo>
                    <a:pt x="550" y="4775"/>
                    <a:pt x="528" y="4797"/>
                    <a:pt x="503" y="4797"/>
                  </a:cubicBezTo>
                  <a:cubicBezTo>
                    <a:pt x="477" y="4797"/>
                    <a:pt x="456" y="4775"/>
                    <a:pt x="456" y="4750"/>
                  </a:cubicBezTo>
                  <a:cubicBezTo>
                    <a:pt x="456" y="4724"/>
                    <a:pt x="477" y="4703"/>
                    <a:pt x="503" y="4703"/>
                  </a:cubicBezTo>
                  <a:cubicBezTo>
                    <a:pt x="528" y="4703"/>
                    <a:pt x="550" y="4724"/>
                    <a:pt x="550" y="4750"/>
                  </a:cubicBezTo>
                  <a:close/>
                  <a:moveTo>
                    <a:pt x="550" y="4850"/>
                  </a:moveTo>
                  <a:cubicBezTo>
                    <a:pt x="550" y="4875"/>
                    <a:pt x="528" y="4897"/>
                    <a:pt x="503" y="4897"/>
                  </a:cubicBezTo>
                  <a:cubicBezTo>
                    <a:pt x="477" y="4897"/>
                    <a:pt x="456" y="4875"/>
                    <a:pt x="456" y="4850"/>
                  </a:cubicBezTo>
                  <a:cubicBezTo>
                    <a:pt x="456" y="4824"/>
                    <a:pt x="477" y="4803"/>
                    <a:pt x="503" y="4803"/>
                  </a:cubicBezTo>
                  <a:cubicBezTo>
                    <a:pt x="528" y="4803"/>
                    <a:pt x="550" y="4824"/>
                    <a:pt x="550" y="4850"/>
                  </a:cubicBezTo>
                  <a:close/>
                  <a:moveTo>
                    <a:pt x="550" y="4950"/>
                  </a:moveTo>
                  <a:cubicBezTo>
                    <a:pt x="550" y="4975"/>
                    <a:pt x="528" y="4997"/>
                    <a:pt x="503" y="4997"/>
                  </a:cubicBezTo>
                  <a:cubicBezTo>
                    <a:pt x="477" y="4997"/>
                    <a:pt x="456" y="4975"/>
                    <a:pt x="456" y="4950"/>
                  </a:cubicBezTo>
                  <a:cubicBezTo>
                    <a:pt x="456" y="4924"/>
                    <a:pt x="477" y="4903"/>
                    <a:pt x="503" y="4903"/>
                  </a:cubicBezTo>
                  <a:cubicBezTo>
                    <a:pt x="528" y="4903"/>
                    <a:pt x="550" y="4924"/>
                    <a:pt x="550" y="4950"/>
                  </a:cubicBezTo>
                  <a:close/>
                  <a:moveTo>
                    <a:pt x="550" y="5050"/>
                  </a:moveTo>
                  <a:cubicBezTo>
                    <a:pt x="550" y="5075"/>
                    <a:pt x="528" y="5097"/>
                    <a:pt x="503" y="5097"/>
                  </a:cubicBezTo>
                  <a:cubicBezTo>
                    <a:pt x="477" y="5097"/>
                    <a:pt x="456" y="5075"/>
                    <a:pt x="456" y="5050"/>
                  </a:cubicBezTo>
                  <a:cubicBezTo>
                    <a:pt x="456" y="5024"/>
                    <a:pt x="477" y="5003"/>
                    <a:pt x="503" y="5003"/>
                  </a:cubicBezTo>
                  <a:cubicBezTo>
                    <a:pt x="528" y="5003"/>
                    <a:pt x="550" y="5024"/>
                    <a:pt x="550" y="5050"/>
                  </a:cubicBezTo>
                  <a:close/>
                  <a:moveTo>
                    <a:pt x="550" y="5150"/>
                  </a:moveTo>
                  <a:cubicBezTo>
                    <a:pt x="550" y="5175"/>
                    <a:pt x="528" y="5197"/>
                    <a:pt x="503" y="5197"/>
                  </a:cubicBezTo>
                  <a:cubicBezTo>
                    <a:pt x="477" y="5197"/>
                    <a:pt x="456" y="5175"/>
                    <a:pt x="456" y="5150"/>
                  </a:cubicBezTo>
                  <a:cubicBezTo>
                    <a:pt x="456" y="5124"/>
                    <a:pt x="477" y="5103"/>
                    <a:pt x="503" y="5103"/>
                  </a:cubicBezTo>
                  <a:cubicBezTo>
                    <a:pt x="528" y="5103"/>
                    <a:pt x="550" y="5124"/>
                    <a:pt x="550" y="5150"/>
                  </a:cubicBezTo>
                  <a:close/>
                  <a:moveTo>
                    <a:pt x="550" y="5250"/>
                  </a:moveTo>
                  <a:cubicBezTo>
                    <a:pt x="550" y="5275"/>
                    <a:pt x="528" y="5297"/>
                    <a:pt x="503" y="5297"/>
                  </a:cubicBezTo>
                  <a:cubicBezTo>
                    <a:pt x="477" y="5297"/>
                    <a:pt x="456" y="5275"/>
                    <a:pt x="456" y="5250"/>
                  </a:cubicBezTo>
                  <a:cubicBezTo>
                    <a:pt x="456" y="5224"/>
                    <a:pt x="477" y="5203"/>
                    <a:pt x="503" y="5203"/>
                  </a:cubicBezTo>
                  <a:cubicBezTo>
                    <a:pt x="528" y="5203"/>
                    <a:pt x="550" y="5224"/>
                    <a:pt x="550" y="5250"/>
                  </a:cubicBezTo>
                  <a:close/>
                  <a:moveTo>
                    <a:pt x="550" y="5350"/>
                  </a:moveTo>
                  <a:cubicBezTo>
                    <a:pt x="550" y="5375"/>
                    <a:pt x="528" y="5397"/>
                    <a:pt x="503" y="5397"/>
                  </a:cubicBezTo>
                  <a:cubicBezTo>
                    <a:pt x="477" y="5397"/>
                    <a:pt x="456" y="5375"/>
                    <a:pt x="456" y="5350"/>
                  </a:cubicBezTo>
                  <a:cubicBezTo>
                    <a:pt x="456" y="5324"/>
                    <a:pt x="477" y="5303"/>
                    <a:pt x="503" y="5303"/>
                  </a:cubicBezTo>
                  <a:cubicBezTo>
                    <a:pt x="528" y="5303"/>
                    <a:pt x="550" y="5324"/>
                    <a:pt x="550" y="5350"/>
                  </a:cubicBezTo>
                  <a:close/>
                  <a:moveTo>
                    <a:pt x="550" y="5450"/>
                  </a:moveTo>
                  <a:cubicBezTo>
                    <a:pt x="550" y="5475"/>
                    <a:pt x="528" y="5497"/>
                    <a:pt x="503" y="5497"/>
                  </a:cubicBezTo>
                  <a:cubicBezTo>
                    <a:pt x="477" y="5497"/>
                    <a:pt x="456" y="5475"/>
                    <a:pt x="456" y="5450"/>
                  </a:cubicBezTo>
                  <a:cubicBezTo>
                    <a:pt x="456" y="5424"/>
                    <a:pt x="477" y="5403"/>
                    <a:pt x="503" y="5403"/>
                  </a:cubicBezTo>
                  <a:cubicBezTo>
                    <a:pt x="528" y="5403"/>
                    <a:pt x="550" y="5424"/>
                    <a:pt x="550" y="5450"/>
                  </a:cubicBezTo>
                  <a:close/>
                  <a:moveTo>
                    <a:pt x="550" y="5550"/>
                  </a:moveTo>
                  <a:cubicBezTo>
                    <a:pt x="550" y="5575"/>
                    <a:pt x="528" y="5597"/>
                    <a:pt x="503" y="5597"/>
                  </a:cubicBezTo>
                  <a:cubicBezTo>
                    <a:pt x="477" y="5597"/>
                    <a:pt x="456" y="5575"/>
                    <a:pt x="456" y="5550"/>
                  </a:cubicBezTo>
                  <a:cubicBezTo>
                    <a:pt x="456" y="5524"/>
                    <a:pt x="477" y="5503"/>
                    <a:pt x="503" y="5503"/>
                  </a:cubicBezTo>
                  <a:cubicBezTo>
                    <a:pt x="528" y="5503"/>
                    <a:pt x="550" y="5524"/>
                    <a:pt x="550" y="5550"/>
                  </a:cubicBezTo>
                  <a:close/>
                  <a:moveTo>
                    <a:pt x="550" y="5650"/>
                  </a:moveTo>
                  <a:cubicBezTo>
                    <a:pt x="550" y="5675"/>
                    <a:pt x="528" y="5697"/>
                    <a:pt x="503" y="5697"/>
                  </a:cubicBezTo>
                  <a:cubicBezTo>
                    <a:pt x="477" y="5697"/>
                    <a:pt x="456" y="5675"/>
                    <a:pt x="456" y="5650"/>
                  </a:cubicBezTo>
                  <a:cubicBezTo>
                    <a:pt x="456" y="5624"/>
                    <a:pt x="477" y="5603"/>
                    <a:pt x="503" y="5603"/>
                  </a:cubicBezTo>
                  <a:cubicBezTo>
                    <a:pt x="528" y="5603"/>
                    <a:pt x="550" y="5624"/>
                    <a:pt x="550" y="5650"/>
                  </a:cubicBezTo>
                  <a:close/>
                  <a:moveTo>
                    <a:pt x="550" y="5750"/>
                  </a:moveTo>
                  <a:cubicBezTo>
                    <a:pt x="550" y="5775"/>
                    <a:pt x="528" y="5797"/>
                    <a:pt x="503" y="5797"/>
                  </a:cubicBezTo>
                  <a:cubicBezTo>
                    <a:pt x="477" y="5797"/>
                    <a:pt x="456" y="5775"/>
                    <a:pt x="456" y="5750"/>
                  </a:cubicBezTo>
                  <a:cubicBezTo>
                    <a:pt x="456" y="5724"/>
                    <a:pt x="477" y="5703"/>
                    <a:pt x="503" y="5703"/>
                  </a:cubicBezTo>
                  <a:cubicBezTo>
                    <a:pt x="528" y="5703"/>
                    <a:pt x="550" y="5724"/>
                    <a:pt x="550" y="5750"/>
                  </a:cubicBezTo>
                  <a:close/>
                  <a:moveTo>
                    <a:pt x="550" y="5850"/>
                  </a:moveTo>
                  <a:cubicBezTo>
                    <a:pt x="550" y="5875"/>
                    <a:pt x="528" y="5897"/>
                    <a:pt x="503" y="5897"/>
                  </a:cubicBezTo>
                  <a:cubicBezTo>
                    <a:pt x="477" y="5897"/>
                    <a:pt x="456" y="5875"/>
                    <a:pt x="456" y="5850"/>
                  </a:cubicBezTo>
                  <a:cubicBezTo>
                    <a:pt x="456" y="5824"/>
                    <a:pt x="477" y="5803"/>
                    <a:pt x="503" y="5803"/>
                  </a:cubicBezTo>
                  <a:cubicBezTo>
                    <a:pt x="528" y="5803"/>
                    <a:pt x="550" y="5824"/>
                    <a:pt x="550" y="5850"/>
                  </a:cubicBezTo>
                  <a:close/>
                  <a:moveTo>
                    <a:pt x="550" y="5950"/>
                  </a:moveTo>
                  <a:cubicBezTo>
                    <a:pt x="550" y="5975"/>
                    <a:pt x="528" y="5997"/>
                    <a:pt x="503" y="5997"/>
                  </a:cubicBezTo>
                  <a:cubicBezTo>
                    <a:pt x="477" y="5997"/>
                    <a:pt x="456" y="5975"/>
                    <a:pt x="456" y="5950"/>
                  </a:cubicBezTo>
                  <a:cubicBezTo>
                    <a:pt x="456" y="5924"/>
                    <a:pt x="477" y="5903"/>
                    <a:pt x="503" y="5903"/>
                  </a:cubicBezTo>
                  <a:cubicBezTo>
                    <a:pt x="528" y="5903"/>
                    <a:pt x="550" y="5924"/>
                    <a:pt x="550" y="5950"/>
                  </a:cubicBezTo>
                  <a:close/>
                  <a:moveTo>
                    <a:pt x="550" y="6050"/>
                  </a:moveTo>
                  <a:cubicBezTo>
                    <a:pt x="550" y="6075"/>
                    <a:pt x="528" y="6097"/>
                    <a:pt x="503" y="6097"/>
                  </a:cubicBezTo>
                  <a:cubicBezTo>
                    <a:pt x="477" y="6097"/>
                    <a:pt x="456" y="6075"/>
                    <a:pt x="456" y="6050"/>
                  </a:cubicBezTo>
                  <a:cubicBezTo>
                    <a:pt x="456" y="6024"/>
                    <a:pt x="477" y="6003"/>
                    <a:pt x="503" y="6003"/>
                  </a:cubicBezTo>
                  <a:cubicBezTo>
                    <a:pt x="528" y="6003"/>
                    <a:pt x="550" y="6024"/>
                    <a:pt x="550" y="6050"/>
                  </a:cubicBezTo>
                  <a:close/>
                  <a:moveTo>
                    <a:pt x="550" y="6150"/>
                  </a:moveTo>
                  <a:cubicBezTo>
                    <a:pt x="550" y="6175"/>
                    <a:pt x="528" y="6197"/>
                    <a:pt x="503" y="6197"/>
                  </a:cubicBezTo>
                  <a:cubicBezTo>
                    <a:pt x="477" y="6197"/>
                    <a:pt x="456" y="6175"/>
                    <a:pt x="456" y="6150"/>
                  </a:cubicBezTo>
                  <a:cubicBezTo>
                    <a:pt x="456" y="6124"/>
                    <a:pt x="477" y="6103"/>
                    <a:pt x="503" y="6103"/>
                  </a:cubicBezTo>
                  <a:cubicBezTo>
                    <a:pt x="528" y="6103"/>
                    <a:pt x="550" y="6124"/>
                    <a:pt x="550" y="6150"/>
                  </a:cubicBezTo>
                  <a:close/>
                  <a:moveTo>
                    <a:pt x="550" y="6250"/>
                  </a:moveTo>
                  <a:cubicBezTo>
                    <a:pt x="550" y="6275"/>
                    <a:pt x="528" y="6297"/>
                    <a:pt x="503" y="6297"/>
                  </a:cubicBezTo>
                  <a:cubicBezTo>
                    <a:pt x="477" y="6297"/>
                    <a:pt x="456" y="6275"/>
                    <a:pt x="456" y="6250"/>
                  </a:cubicBezTo>
                  <a:cubicBezTo>
                    <a:pt x="456" y="6224"/>
                    <a:pt x="477" y="6203"/>
                    <a:pt x="503" y="6203"/>
                  </a:cubicBezTo>
                  <a:cubicBezTo>
                    <a:pt x="528" y="6203"/>
                    <a:pt x="550" y="6224"/>
                    <a:pt x="550" y="6250"/>
                  </a:cubicBezTo>
                  <a:close/>
                  <a:moveTo>
                    <a:pt x="550" y="6350"/>
                  </a:moveTo>
                  <a:cubicBezTo>
                    <a:pt x="550" y="6375"/>
                    <a:pt x="528" y="6397"/>
                    <a:pt x="503" y="6397"/>
                  </a:cubicBezTo>
                  <a:cubicBezTo>
                    <a:pt x="477" y="6397"/>
                    <a:pt x="456" y="6375"/>
                    <a:pt x="456" y="6350"/>
                  </a:cubicBezTo>
                  <a:cubicBezTo>
                    <a:pt x="456" y="6324"/>
                    <a:pt x="477" y="6303"/>
                    <a:pt x="503" y="6303"/>
                  </a:cubicBezTo>
                  <a:cubicBezTo>
                    <a:pt x="528" y="6303"/>
                    <a:pt x="550" y="6324"/>
                    <a:pt x="550" y="6350"/>
                  </a:cubicBezTo>
                  <a:close/>
                  <a:moveTo>
                    <a:pt x="550" y="6450"/>
                  </a:moveTo>
                  <a:cubicBezTo>
                    <a:pt x="550" y="6475"/>
                    <a:pt x="528" y="6497"/>
                    <a:pt x="503" y="6497"/>
                  </a:cubicBezTo>
                  <a:cubicBezTo>
                    <a:pt x="477" y="6497"/>
                    <a:pt x="456" y="6475"/>
                    <a:pt x="456" y="6450"/>
                  </a:cubicBezTo>
                  <a:cubicBezTo>
                    <a:pt x="456" y="6424"/>
                    <a:pt x="477" y="6403"/>
                    <a:pt x="503" y="6403"/>
                  </a:cubicBezTo>
                  <a:cubicBezTo>
                    <a:pt x="528" y="6403"/>
                    <a:pt x="550" y="6424"/>
                    <a:pt x="550" y="6450"/>
                  </a:cubicBezTo>
                  <a:close/>
                </a:path>
              </a:pathLst>
            </a:custGeom>
            <a:gradFill rotWithShape="1">
              <a:gsLst>
                <a:gs pos="0">
                  <a:srgbClr val="ECB69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7D5338"/>
              </a:solidFill>
              <a:round/>
            </a:ln>
          </p:spPr>
        </p:sp>
      </p:grpSp>
      <p:grpSp>
        <p:nvGrpSpPr>
          <p:cNvPr id="11" name="!!Membrana interna"/>
          <p:cNvGrpSpPr/>
          <p:nvPr/>
        </p:nvGrpSpPr>
        <p:grpSpPr>
          <a:xfrm>
            <a:off x="5120640" y="914400"/>
            <a:ext cx="502920" cy="5943600"/>
            <a:chOff x="5120640" y="914400"/>
            <a:chExt cx="502920" cy="5943600"/>
          </a:xfrm>
        </p:grpSpPr>
        <p:sp>
          <p:nvSpPr>
            <p:cNvPr id="12" name="Forma 11"/>
            <p:cNvSpPr/>
            <p:nvPr/>
          </p:nvSpPr>
          <p:spPr>
            <a:xfrm>
              <a:off x="5211166" y="914400"/>
              <a:ext cx="321869" cy="5943600"/>
            </a:xfrm>
            <a:prstGeom prst="rect">
              <a:avLst/>
            </a:prstGeom>
            <a:solidFill>
              <a:srgbClr val="FAD7A0"/>
            </a:solidFill>
            <a:ln>
              <a:noFill/>
            </a:ln>
          </p:spPr>
        </p:sp>
        <p:sp>
          <p:nvSpPr>
            <p:cNvPr id="13" name="Forma 12"/>
            <p:cNvSpPr/>
            <p:nvPr/>
          </p:nvSpPr>
          <p:spPr>
            <a:xfrm>
              <a:off x="5120640" y="914400"/>
              <a:ext cx="502920" cy="5943600"/>
            </a:xfrm>
            <a:custGeom>
              <a:avLst/>
              <a:gdLst/>
              <a:ahLst/>
              <a:cxnLst/>
              <a:rect l="0" t="0" r="r" b="b"/>
              <a:pathLst>
                <a:path w="550" h="6500">
                  <a:moveTo>
                    <a:pt x="94" y="50"/>
                  </a:moveTo>
                  <a:cubicBezTo>
                    <a:pt x="94" y="75"/>
                    <a:pt x="72" y="97"/>
                    <a:pt x="47" y="97"/>
                  </a:cubicBezTo>
                  <a:cubicBezTo>
                    <a:pt x="21" y="97"/>
                    <a:pt x="0" y="75"/>
                    <a:pt x="0" y="50"/>
                  </a:cubicBezTo>
                  <a:cubicBezTo>
                    <a:pt x="0" y="24"/>
                    <a:pt x="21" y="3"/>
                    <a:pt x="47" y="3"/>
                  </a:cubicBezTo>
                  <a:cubicBezTo>
                    <a:pt x="72" y="3"/>
                    <a:pt x="94" y="24"/>
                    <a:pt x="94" y="50"/>
                  </a:cubicBezTo>
                  <a:close/>
                  <a:moveTo>
                    <a:pt x="94" y="150"/>
                  </a:moveTo>
                  <a:cubicBezTo>
                    <a:pt x="94" y="175"/>
                    <a:pt x="72" y="197"/>
                    <a:pt x="47" y="197"/>
                  </a:cubicBezTo>
                  <a:cubicBezTo>
                    <a:pt x="21" y="197"/>
                    <a:pt x="0" y="175"/>
                    <a:pt x="0" y="150"/>
                  </a:cubicBezTo>
                  <a:cubicBezTo>
                    <a:pt x="0" y="124"/>
                    <a:pt x="21" y="103"/>
                    <a:pt x="47" y="103"/>
                  </a:cubicBezTo>
                  <a:cubicBezTo>
                    <a:pt x="72" y="103"/>
                    <a:pt x="94" y="124"/>
                    <a:pt x="94" y="150"/>
                  </a:cubicBezTo>
                  <a:close/>
                  <a:moveTo>
                    <a:pt x="94" y="250"/>
                  </a:moveTo>
                  <a:cubicBezTo>
                    <a:pt x="94" y="275"/>
                    <a:pt x="72" y="297"/>
                    <a:pt x="47" y="297"/>
                  </a:cubicBezTo>
                  <a:cubicBezTo>
                    <a:pt x="21" y="297"/>
                    <a:pt x="0" y="275"/>
                    <a:pt x="0" y="250"/>
                  </a:cubicBezTo>
                  <a:cubicBezTo>
                    <a:pt x="0" y="224"/>
                    <a:pt x="21" y="203"/>
                    <a:pt x="47" y="203"/>
                  </a:cubicBezTo>
                  <a:cubicBezTo>
                    <a:pt x="72" y="203"/>
                    <a:pt x="94" y="224"/>
                    <a:pt x="94" y="250"/>
                  </a:cubicBezTo>
                  <a:close/>
                  <a:moveTo>
                    <a:pt x="94" y="350"/>
                  </a:moveTo>
                  <a:cubicBezTo>
                    <a:pt x="94" y="375"/>
                    <a:pt x="72" y="397"/>
                    <a:pt x="47" y="397"/>
                  </a:cubicBezTo>
                  <a:cubicBezTo>
                    <a:pt x="21" y="397"/>
                    <a:pt x="0" y="375"/>
                    <a:pt x="0" y="350"/>
                  </a:cubicBezTo>
                  <a:cubicBezTo>
                    <a:pt x="0" y="324"/>
                    <a:pt x="21" y="303"/>
                    <a:pt x="47" y="303"/>
                  </a:cubicBezTo>
                  <a:cubicBezTo>
                    <a:pt x="72" y="303"/>
                    <a:pt x="94" y="324"/>
                    <a:pt x="94" y="350"/>
                  </a:cubicBezTo>
                  <a:close/>
                  <a:moveTo>
                    <a:pt x="94" y="450"/>
                  </a:moveTo>
                  <a:cubicBezTo>
                    <a:pt x="94" y="475"/>
                    <a:pt x="72" y="497"/>
                    <a:pt x="47" y="497"/>
                  </a:cubicBezTo>
                  <a:cubicBezTo>
                    <a:pt x="21" y="497"/>
                    <a:pt x="0" y="475"/>
                    <a:pt x="0" y="450"/>
                  </a:cubicBezTo>
                  <a:cubicBezTo>
                    <a:pt x="0" y="424"/>
                    <a:pt x="21" y="403"/>
                    <a:pt x="47" y="403"/>
                  </a:cubicBezTo>
                  <a:cubicBezTo>
                    <a:pt x="72" y="403"/>
                    <a:pt x="94" y="424"/>
                    <a:pt x="94" y="450"/>
                  </a:cubicBezTo>
                  <a:close/>
                  <a:moveTo>
                    <a:pt x="94" y="550"/>
                  </a:moveTo>
                  <a:cubicBezTo>
                    <a:pt x="94" y="575"/>
                    <a:pt x="72" y="597"/>
                    <a:pt x="47" y="597"/>
                  </a:cubicBezTo>
                  <a:cubicBezTo>
                    <a:pt x="21" y="597"/>
                    <a:pt x="0" y="575"/>
                    <a:pt x="0" y="550"/>
                  </a:cubicBezTo>
                  <a:cubicBezTo>
                    <a:pt x="0" y="524"/>
                    <a:pt x="21" y="503"/>
                    <a:pt x="47" y="503"/>
                  </a:cubicBezTo>
                  <a:cubicBezTo>
                    <a:pt x="72" y="503"/>
                    <a:pt x="94" y="524"/>
                    <a:pt x="94" y="550"/>
                  </a:cubicBezTo>
                  <a:close/>
                  <a:moveTo>
                    <a:pt x="94" y="650"/>
                  </a:moveTo>
                  <a:cubicBezTo>
                    <a:pt x="94" y="675"/>
                    <a:pt x="72" y="697"/>
                    <a:pt x="47" y="697"/>
                  </a:cubicBezTo>
                  <a:cubicBezTo>
                    <a:pt x="21" y="697"/>
                    <a:pt x="0" y="675"/>
                    <a:pt x="0" y="650"/>
                  </a:cubicBezTo>
                  <a:cubicBezTo>
                    <a:pt x="0" y="624"/>
                    <a:pt x="21" y="603"/>
                    <a:pt x="47" y="603"/>
                  </a:cubicBezTo>
                  <a:cubicBezTo>
                    <a:pt x="72" y="603"/>
                    <a:pt x="94" y="624"/>
                    <a:pt x="94" y="650"/>
                  </a:cubicBezTo>
                  <a:close/>
                  <a:moveTo>
                    <a:pt x="94" y="750"/>
                  </a:moveTo>
                  <a:cubicBezTo>
                    <a:pt x="94" y="775"/>
                    <a:pt x="72" y="797"/>
                    <a:pt x="47" y="797"/>
                  </a:cubicBezTo>
                  <a:cubicBezTo>
                    <a:pt x="21" y="797"/>
                    <a:pt x="0" y="775"/>
                    <a:pt x="0" y="750"/>
                  </a:cubicBezTo>
                  <a:cubicBezTo>
                    <a:pt x="0" y="724"/>
                    <a:pt x="21" y="703"/>
                    <a:pt x="47" y="703"/>
                  </a:cubicBezTo>
                  <a:cubicBezTo>
                    <a:pt x="72" y="703"/>
                    <a:pt x="94" y="724"/>
                    <a:pt x="94" y="750"/>
                  </a:cubicBezTo>
                  <a:close/>
                  <a:moveTo>
                    <a:pt x="94" y="850"/>
                  </a:moveTo>
                  <a:cubicBezTo>
                    <a:pt x="94" y="875"/>
                    <a:pt x="72" y="897"/>
                    <a:pt x="47" y="897"/>
                  </a:cubicBezTo>
                  <a:cubicBezTo>
                    <a:pt x="21" y="897"/>
                    <a:pt x="0" y="875"/>
                    <a:pt x="0" y="850"/>
                  </a:cubicBezTo>
                  <a:cubicBezTo>
                    <a:pt x="0" y="824"/>
                    <a:pt x="21" y="803"/>
                    <a:pt x="47" y="803"/>
                  </a:cubicBezTo>
                  <a:cubicBezTo>
                    <a:pt x="72" y="803"/>
                    <a:pt x="94" y="824"/>
                    <a:pt x="94" y="850"/>
                  </a:cubicBezTo>
                  <a:close/>
                  <a:moveTo>
                    <a:pt x="94" y="950"/>
                  </a:moveTo>
                  <a:cubicBezTo>
                    <a:pt x="94" y="975"/>
                    <a:pt x="72" y="997"/>
                    <a:pt x="47" y="997"/>
                  </a:cubicBezTo>
                  <a:cubicBezTo>
                    <a:pt x="21" y="997"/>
                    <a:pt x="0" y="975"/>
                    <a:pt x="0" y="950"/>
                  </a:cubicBezTo>
                  <a:cubicBezTo>
                    <a:pt x="0" y="924"/>
                    <a:pt x="21" y="903"/>
                    <a:pt x="47" y="903"/>
                  </a:cubicBezTo>
                  <a:cubicBezTo>
                    <a:pt x="72" y="903"/>
                    <a:pt x="94" y="924"/>
                    <a:pt x="94" y="950"/>
                  </a:cubicBezTo>
                  <a:close/>
                  <a:moveTo>
                    <a:pt x="94" y="1050"/>
                  </a:moveTo>
                  <a:cubicBezTo>
                    <a:pt x="94" y="1075"/>
                    <a:pt x="72" y="1097"/>
                    <a:pt x="47" y="1097"/>
                  </a:cubicBezTo>
                  <a:cubicBezTo>
                    <a:pt x="21" y="1097"/>
                    <a:pt x="0" y="1075"/>
                    <a:pt x="0" y="1050"/>
                  </a:cubicBezTo>
                  <a:cubicBezTo>
                    <a:pt x="0" y="1024"/>
                    <a:pt x="21" y="1003"/>
                    <a:pt x="47" y="1003"/>
                  </a:cubicBezTo>
                  <a:cubicBezTo>
                    <a:pt x="72" y="1003"/>
                    <a:pt x="94" y="1024"/>
                    <a:pt x="94" y="1050"/>
                  </a:cubicBezTo>
                  <a:close/>
                  <a:moveTo>
                    <a:pt x="94" y="1150"/>
                  </a:moveTo>
                  <a:cubicBezTo>
                    <a:pt x="94" y="1175"/>
                    <a:pt x="72" y="1197"/>
                    <a:pt x="47" y="1197"/>
                  </a:cubicBezTo>
                  <a:cubicBezTo>
                    <a:pt x="21" y="1197"/>
                    <a:pt x="0" y="1175"/>
                    <a:pt x="0" y="1150"/>
                  </a:cubicBezTo>
                  <a:cubicBezTo>
                    <a:pt x="0" y="1124"/>
                    <a:pt x="21" y="1103"/>
                    <a:pt x="47" y="1103"/>
                  </a:cubicBezTo>
                  <a:cubicBezTo>
                    <a:pt x="72" y="1103"/>
                    <a:pt x="94" y="1124"/>
                    <a:pt x="94" y="1150"/>
                  </a:cubicBezTo>
                  <a:close/>
                  <a:moveTo>
                    <a:pt x="94" y="1250"/>
                  </a:moveTo>
                  <a:cubicBezTo>
                    <a:pt x="94" y="1275"/>
                    <a:pt x="72" y="1297"/>
                    <a:pt x="47" y="1297"/>
                  </a:cubicBezTo>
                  <a:cubicBezTo>
                    <a:pt x="21" y="1297"/>
                    <a:pt x="0" y="1275"/>
                    <a:pt x="0" y="1250"/>
                  </a:cubicBezTo>
                  <a:cubicBezTo>
                    <a:pt x="0" y="1224"/>
                    <a:pt x="21" y="1203"/>
                    <a:pt x="47" y="1203"/>
                  </a:cubicBezTo>
                  <a:cubicBezTo>
                    <a:pt x="72" y="1203"/>
                    <a:pt x="94" y="1224"/>
                    <a:pt x="94" y="1250"/>
                  </a:cubicBezTo>
                  <a:close/>
                  <a:moveTo>
                    <a:pt x="94" y="1350"/>
                  </a:moveTo>
                  <a:cubicBezTo>
                    <a:pt x="94" y="1375"/>
                    <a:pt x="72" y="1397"/>
                    <a:pt x="47" y="1397"/>
                  </a:cubicBezTo>
                  <a:cubicBezTo>
                    <a:pt x="21" y="1397"/>
                    <a:pt x="0" y="1375"/>
                    <a:pt x="0" y="1350"/>
                  </a:cubicBezTo>
                  <a:cubicBezTo>
                    <a:pt x="0" y="1324"/>
                    <a:pt x="21" y="1303"/>
                    <a:pt x="47" y="1303"/>
                  </a:cubicBezTo>
                  <a:cubicBezTo>
                    <a:pt x="72" y="1303"/>
                    <a:pt x="94" y="1324"/>
                    <a:pt x="94" y="1350"/>
                  </a:cubicBezTo>
                  <a:close/>
                  <a:moveTo>
                    <a:pt x="94" y="1450"/>
                  </a:moveTo>
                  <a:cubicBezTo>
                    <a:pt x="94" y="1475"/>
                    <a:pt x="72" y="1497"/>
                    <a:pt x="47" y="1497"/>
                  </a:cubicBezTo>
                  <a:cubicBezTo>
                    <a:pt x="21" y="1497"/>
                    <a:pt x="0" y="1475"/>
                    <a:pt x="0" y="1450"/>
                  </a:cubicBezTo>
                  <a:cubicBezTo>
                    <a:pt x="0" y="1424"/>
                    <a:pt x="21" y="1403"/>
                    <a:pt x="47" y="1403"/>
                  </a:cubicBezTo>
                  <a:cubicBezTo>
                    <a:pt x="72" y="1403"/>
                    <a:pt x="94" y="1424"/>
                    <a:pt x="94" y="1450"/>
                  </a:cubicBezTo>
                  <a:close/>
                  <a:moveTo>
                    <a:pt x="94" y="1550"/>
                  </a:moveTo>
                  <a:cubicBezTo>
                    <a:pt x="94" y="1575"/>
                    <a:pt x="72" y="1597"/>
                    <a:pt x="47" y="1597"/>
                  </a:cubicBezTo>
                  <a:cubicBezTo>
                    <a:pt x="21" y="1597"/>
                    <a:pt x="0" y="1575"/>
                    <a:pt x="0" y="1550"/>
                  </a:cubicBezTo>
                  <a:cubicBezTo>
                    <a:pt x="0" y="1524"/>
                    <a:pt x="21" y="1503"/>
                    <a:pt x="47" y="1503"/>
                  </a:cubicBezTo>
                  <a:cubicBezTo>
                    <a:pt x="72" y="1503"/>
                    <a:pt x="94" y="1524"/>
                    <a:pt x="94" y="1550"/>
                  </a:cubicBezTo>
                  <a:close/>
                  <a:moveTo>
                    <a:pt x="94" y="1650"/>
                  </a:moveTo>
                  <a:cubicBezTo>
                    <a:pt x="94" y="1675"/>
                    <a:pt x="72" y="1697"/>
                    <a:pt x="47" y="1697"/>
                  </a:cubicBezTo>
                  <a:cubicBezTo>
                    <a:pt x="21" y="1697"/>
                    <a:pt x="0" y="1675"/>
                    <a:pt x="0" y="1650"/>
                  </a:cubicBezTo>
                  <a:cubicBezTo>
                    <a:pt x="0" y="1624"/>
                    <a:pt x="21" y="1603"/>
                    <a:pt x="47" y="1603"/>
                  </a:cubicBezTo>
                  <a:cubicBezTo>
                    <a:pt x="72" y="1603"/>
                    <a:pt x="94" y="1624"/>
                    <a:pt x="94" y="1650"/>
                  </a:cubicBezTo>
                  <a:close/>
                  <a:moveTo>
                    <a:pt x="94" y="1750"/>
                  </a:moveTo>
                  <a:cubicBezTo>
                    <a:pt x="94" y="1775"/>
                    <a:pt x="72" y="1797"/>
                    <a:pt x="47" y="1797"/>
                  </a:cubicBezTo>
                  <a:cubicBezTo>
                    <a:pt x="21" y="1797"/>
                    <a:pt x="0" y="1775"/>
                    <a:pt x="0" y="1750"/>
                  </a:cubicBezTo>
                  <a:cubicBezTo>
                    <a:pt x="0" y="1724"/>
                    <a:pt x="21" y="1703"/>
                    <a:pt x="47" y="1703"/>
                  </a:cubicBezTo>
                  <a:cubicBezTo>
                    <a:pt x="72" y="1703"/>
                    <a:pt x="94" y="1724"/>
                    <a:pt x="94" y="1750"/>
                  </a:cubicBezTo>
                  <a:close/>
                  <a:moveTo>
                    <a:pt x="94" y="1850"/>
                  </a:moveTo>
                  <a:cubicBezTo>
                    <a:pt x="94" y="1875"/>
                    <a:pt x="72" y="1897"/>
                    <a:pt x="47" y="1897"/>
                  </a:cubicBezTo>
                  <a:cubicBezTo>
                    <a:pt x="21" y="1897"/>
                    <a:pt x="0" y="1875"/>
                    <a:pt x="0" y="1850"/>
                  </a:cubicBezTo>
                  <a:cubicBezTo>
                    <a:pt x="0" y="1824"/>
                    <a:pt x="21" y="1803"/>
                    <a:pt x="47" y="1803"/>
                  </a:cubicBezTo>
                  <a:cubicBezTo>
                    <a:pt x="72" y="1803"/>
                    <a:pt x="94" y="1824"/>
                    <a:pt x="94" y="1850"/>
                  </a:cubicBezTo>
                  <a:close/>
                  <a:moveTo>
                    <a:pt x="94" y="1950"/>
                  </a:moveTo>
                  <a:cubicBezTo>
                    <a:pt x="94" y="1975"/>
                    <a:pt x="72" y="1997"/>
                    <a:pt x="47" y="1997"/>
                  </a:cubicBezTo>
                  <a:cubicBezTo>
                    <a:pt x="21" y="1997"/>
                    <a:pt x="0" y="1975"/>
                    <a:pt x="0" y="1950"/>
                  </a:cubicBezTo>
                  <a:cubicBezTo>
                    <a:pt x="0" y="1924"/>
                    <a:pt x="21" y="1903"/>
                    <a:pt x="47" y="1903"/>
                  </a:cubicBezTo>
                  <a:cubicBezTo>
                    <a:pt x="72" y="1903"/>
                    <a:pt x="94" y="1924"/>
                    <a:pt x="94" y="1950"/>
                  </a:cubicBezTo>
                  <a:close/>
                  <a:moveTo>
                    <a:pt x="94" y="2050"/>
                  </a:moveTo>
                  <a:cubicBezTo>
                    <a:pt x="94" y="2075"/>
                    <a:pt x="72" y="2097"/>
                    <a:pt x="47" y="2097"/>
                  </a:cubicBezTo>
                  <a:cubicBezTo>
                    <a:pt x="21" y="2097"/>
                    <a:pt x="0" y="2075"/>
                    <a:pt x="0" y="2050"/>
                  </a:cubicBezTo>
                  <a:cubicBezTo>
                    <a:pt x="0" y="2024"/>
                    <a:pt x="21" y="2003"/>
                    <a:pt x="47" y="2003"/>
                  </a:cubicBezTo>
                  <a:cubicBezTo>
                    <a:pt x="72" y="2003"/>
                    <a:pt x="94" y="2024"/>
                    <a:pt x="94" y="2050"/>
                  </a:cubicBezTo>
                  <a:close/>
                  <a:moveTo>
                    <a:pt x="94" y="2150"/>
                  </a:moveTo>
                  <a:cubicBezTo>
                    <a:pt x="94" y="2175"/>
                    <a:pt x="72" y="2197"/>
                    <a:pt x="47" y="2197"/>
                  </a:cubicBezTo>
                  <a:cubicBezTo>
                    <a:pt x="21" y="2197"/>
                    <a:pt x="0" y="2175"/>
                    <a:pt x="0" y="2150"/>
                  </a:cubicBezTo>
                  <a:cubicBezTo>
                    <a:pt x="0" y="2124"/>
                    <a:pt x="21" y="2103"/>
                    <a:pt x="47" y="2103"/>
                  </a:cubicBezTo>
                  <a:cubicBezTo>
                    <a:pt x="72" y="2103"/>
                    <a:pt x="94" y="2124"/>
                    <a:pt x="94" y="2150"/>
                  </a:cubicBezTo>
                  <a:close/>
                  <a:moveTo>
                    <a:pt x="94" y="2250"/>
                  </a:moveTo>
                  <a:cubicBezTo>
                    <a:pt x="94" y="2275"/>
                    <a:pt x="72" y="2297"/>
                    <a:pt x="47" y="2297"/>
                  </a:cubicBezTo>
                  <a:cubicBezTo>
                    <a:pt x="21" y="2297"/>
                    <a:pt x="0" y="2275"/>
                    <a:pt x="0" y="2250"/>
                  </a:cubicBezTo>
                  <a:cubicBezTo>
                    <a:pt x="0" y="2224"/>
                    <a:pt x="21" y="2203"/>
                    <a:pt x="47" y="2203"/>
                  </a:cubicBezTo>
                  <a:cubicBezTo>
                    <a:pt x="72" y="2203"/>
                    <a:pt x="94" y="2224"/>
                    <a:pt x="94" y="2250"/>
                  </a:cubicBezTo>
                  <a:close/>
                  <a:moveTo>
                    <a:pt x="94" y="2350"/>
                  </a:moveTo>
                  <a:cubicBezTo>
                    <a:pt x="94" y="2375"/>
                    <a:pt x="72" y="2397"/>
                    <a:pt x="47" y="2397"/>
                  </a:cubicBezTo>
                  <a:cubicBezTo>
                    <a:pt x="21" y="2397"/>
                    <a:pt x="0" y="2375"/>
                    <a:pt x="0" y="2350"/>
                  </a:cubicBezTo>
                  <a:cubicBezTo>
                    <a:pt x="0" y="2324"/>
                    <a:pt x="21" y="2303"/>
                    <a:pt x="47" y="2303"/>
                  </a:cubicBezTo>
                  <a:cubicBezTo>
                    <a:pt x="72" y="2303"/>
                    <a:pt x="94" y="2324"/>
                    <a:pt x="94" y="2350"/>
                  </a:cubicBezTo>
                  <a:close/>
                  <a:moveTo>
                    <a:pt x="94" y="2450"/>
                  </a:moveTo>
                  <a:cubicBezTo>
                    <a:pt x="94" y="2475"/>
                    <a:pt x="72" y="2497"/>
                    <a:pt x="47" y="2497"/>
                  </a:cubicBezTo>
                  <a:cubicBezTo>
                    <a:pt x="21" y="2497"/>
                    <a:pt x="0" y="2475"/>
                    <a:pt x="0" y="2450"/>
                  </a:cubicBezTo>
                  <a:cubicBezTo>
                    <a:pt x="0" y="2424"/>
                    <a:pt x="21" y="2403"/>
                    <a:pt x="47" y="2403"/>
                  </a:cubicBezTo>
                  <a:cubicBezTo>
                    <a:pt x="72" y="2403"/>
                    <a:pt x="94" y="2424"/>
                    <a:pt x="94" y="2450"/>
                  </a:cubicBezTo>
                  <a:close/>
                  <a:moveTo>
                    <a:pt x="94" y="2550"/>
                  </a:moveTo>
                  <a:cubicBezTo>
                    <a:pt x="94" y="2575"/>
                    <a:pt x="72" y="2597"/>
                    <a:pt x="47" y="2597"/>
                  </a:cubicBezTo>
                  <a:cubicBezTo>
                    <a:pt x="21" y="2597"/>
                    <a:pt x="0" y="2575"/>
                    <a:pt x="0" y="2550"/>
                  </a:cubicBezTo>
                  <a:cubicBezTo>
                    <a:pt x="0" y="2524"/>
                    <a:pt x="21" y="2503"/>
                    <a:pt x="47" y="2503"/>
                  </a:cubicBezTo>
                  <a:cubicBezTo>
                    <a:pt x="72" y="2503"/>
                    <a:pt x="94" y="2524"/>
                    <a:pt x="94" y="2550"/>
                  </a:cubicBezTo>
                  <a:close/>
                  <a:moveTo>
                    <a:pt x="94" y="2650"/>
                  </a:moveTo>
                  <a:cubicBezTo>
                    <a:pt x="94" y="2675"/>
                    <a:pt x="72" y="2697"/>
                    <a:pt x="47" y="2697"/>
                  </a:cubicBezTo>
                  <a:cubicBezTo>
                    <a:pt x="21" y="2697"/>
                    <a:pt x="0" y="2675"/>
                    <a:pt x="0" y="2650"/>
                  </a:cubicBezTo>
                  <a:cubicBezTo>
                    <a:pt x="0" y="2624"/>
                    <a:pt x="21" y="2603"/>
                    <a:pt x="47" y="2603"/>
                  </a:cubicBezTo>
                  <a:cubicBezTo>
                    <a:pt x="72" y="2603"/>
                    <a:pt x="94" y="2624"/>
                    <a:pt x="94" y="2650"/>
                  </a:cubicBezTo>
                  <a:close/>
                  <a:moveTo>
                    <a:pt x="94" y="2750"/>
                  </a:moveTo>
                  <a:cubicBezTo>
                    <a:pt x="94" y="2775"/>
                    <a:pt x="72" y="2797"/>
                    <a:pt x="47" y="2797"/>
                  </a:cubicBezTo>
                  <a:cubicBezTo>
                    <a:pt x="21" y="2797"/>
                    <a:pt x="0" y="2775"/>
                    <a:pt x="0" y="2750"/>
                  </a:cubicBezTo>
                  <a:cubicBezTo>
                    <a:pt x="0" y="2724"/>
                    <a:pt x="21" y="2703"/>
                    <a:pt x="47" y="2703"/>
                  </a:cubicBezTo>
                  <a:cubicBezTo>
                    <a:pt x="72" y="2703"/>
                    <a:pt x="94" y="2724"/>
                    <a:pt x="94" y="2750"/>
                  </a:cubicBezTo>
                  <a:close/>
                  <a:moveTo>
                    <a:pt x="94" y="2850"/>
                  </a:moveTo>
                  <a:cubicBezTo>
                    <a:pt x="94" y="2875"/>
                    <a:pt x="72" y="2897"/>
                    <a:pt x="47" y="2897"/>
                  </a:cubicBezTo>
                  <a:cubicBezTo>
                    <a:pt x="21" y="2897"/>
                    <a:pt x="0" y="2875"/>
                    <a:pt x="0" y="2850"/>
                  </a:cubicBezTo>
                  <a:cubicBezTo>
                    <a:pt x="0" y="2824"/>
                    <a:pt x="21" y="2803"/>
                    <a:pt x="47" y="2803"/>
                  </a:cubicBezTo>
                  <a:cubicBezTo>
                    <a:pt x="72" y="2803"/>
                    <a:pt x="94" y="2824"/>
                    <a:pt x="94" y="2850"/>
                  </a:cubicBezTo>
                  <a:close/>
                  <a:moveTo>
                    <a:pt x="94" y="2950"/>
                  </a:moveTo>
                  <a:cubicBezTo>
                    <a:pt x="94" y="2975"/>
                    <a:pt x="72" y="2997"/>
                    <a:pt x="47" y="2997"/>
                  </a:cubicBezTo>
                  <a:cubicBezTo>
                    <a:pt x="21" y="2997"/>
                    <a:pt x="0" y="2975"/>
                    <a:pt x="0" y="2950"/>
                  </a:cubicBezTo>
                  <a:cubicBezTo>
                    <a:pt x="0" y="2924"/>
                    <a:pt x="21" y="2903"/>
                    <a:pt x="47" y="2903"/>
                  </a:cubicBezTo>
                  <a:cubicBezTo>
                    <a:pt x="72" y="2903"/>
                    <a:pt x="94" y="2924"/>
                    <a:pt x="94" y="2950"/>
                  </a:cubicBezTo>
                  <a:close/>
                  <a:moveTo>
                    <a:pt x="94" y="3050"/>
                  </a:moveTo>
                  <a:cubicBezTo>
                    <a:pt x="94" y="3075"/>
                    <a:pt x="72" y="3097"/>
                    <a:pt x="47" y="3097"/>
                  </a:cubicBezTo>
                  <a:cubicBezTo>
                    <a:pt x="21" y="3097"/>
                    <a:pt x="0" y="3075"/>
                    <a:pt x="0" y="3050"/>
                  </a:cubicBezTo>
                  <a:cubicBezTo>
                    <a:pt x="0" y="3024"/>
                    <a:pt x="21" y="3003"/>
                    <a:pt x="47" y="3003"/>
                  </a:cubicBezTo>
                  <a:cubicBezTo>
                    <a:pt x="72" y="3003"/>
                    <a:pt x="94" y="3024"/>
                    <a:pt x="94" y="3050"/>
                  </a:cubicBezTo>
                  <a:close/>
                  <a:moveTo>
                    <a:pt x="94" y="3150"/>
                  </a:moveTo>
                  <a:cubicBezTo>
                    <a:pt x="94" y="3175"/>
                    <a:pt x="72" y="3197"/>
                    <a:pt x="47" y="3197"/>
                  </a:cubicBezTo>
                  <a:cubicBezTo>
                    <a:pt x="21" y="3197"/>
                    <a:pt x="0" y="3175"/>
                    <a:pt x="0" y="3150"/>
                  </a:cubicBezTo>
                  <a:cubicBezTo>
                    <a:pt x="0" y="3124"/>
                    <a:pt x="21" y="3103"/>
                    <a:pt x="47" y="3103"/>
                  </a:cubicBezTo>
                  <a:cubicBezTo>
                    <a:pt x="72" y="3103"/>
                    <a:pt x="94" y="3124"/>
                    <a:pt x="94" y="3150"/>
                  </a:cubicBezTo>
                  <a:close/>
                  <a:moveTo>
                    <a:pt x="94" y="3250"/>
                  </a:moveTo>
                  <a:cubicBezTo>
                    <a:pt x="94" y="3275"/>
                    <a:pt x="72" y="3297"/>
                    <a:pt x="47" y="3297"/>
                  </a:cubicBezTo>
                  <a:cubicBezTo>
                    <a:pt x="21" y="3297"/>
                    <a:pt x="0" y="3275"/>
                    <a:pt x="0" y="3250"/>
                  </a:cubicBezTo>
                  <a:cubicBezTo>
                    <a:pt x="0" y="3224"/>
                    <a:pt x="21" y="3203"/>
                    <a:pt x="47" y="3203"/>
                  </a:cubicBezTo>
                  <a:cubicBezTo>
                    <a:pt x="72" y="3203"/>
                    <a:pt x="94" y="3224"/>
                    <a:pt x="94" y="3250"/>
                  </a:cubicBezTo>
                  <a:close/>
                  <a:moveTo>
                    <a:pt x="94" y="3350"/>
                  </a:moveTo>
                  <a:cubicBezTo>
                    <a:pt x="94" y="3375"/>
                    <a:pt x="72" y="3397"/>
                    <a:pt x="47" y="3397"/>
                  </a:cubicBezTo>
                  <a:cubicBezTo>
                    <a:pt x="21" y="3397"/>
                    <a:pt x="0" y="3375"/>
                    <a:pt x="0" y="3350"/>
                  </a:cubicBezTo>
                  <a:cubicBezTo>
                    <a:pt x="0" y="3324"/>
                    <a:pt x="21" y="3303"/>
                    <a:pt x="47" y="3303"/>
                  </a:cubicBezTo>
                  <a:cubicBezTo>
                    <a:pt x="72" y="3303"/>
                    <a:pt x="94" y="3324"/>
                    <a:pt x="94" y="3350"/>
                  </a:cubicBezTo>
                  <a:close/>
                  <a:moveTo>
                    <a:pt x="94" y="3450"/>
                  </a:moveTo>
                  <a:cubicBezTo>
                    <a:pt x="94" y="3475"/>
                    <a:pt x="72" y="3497"/>
                    <a:pt x="47" y="3497"/>
                  </a:cubicBezTo>
                  <a:cubicBezTo>
                    <a:pt x="21" y="3497"/>
                    <a:pt x="0" y="3475"/>
                    <a:pt x="0" y="3450"/>
                  </a:cubicBezTo>
                  <a:cubicBezTo>
                    <a:pt x="0" y="3424"/>
                    <a:pt x="21" y="3403"/>
                    <a:pt x="47" y="3403"/>
                  </a:cubicBezTo>
                  <a:cubicBezTo>
                    <a:pt x="72" y="3403"/>
                    <a:pt x="94" y="3424"/>
                    <a:pt x="94" y="3450"/>
                  </a:cubicBezTo>
                  <a:close/>
                  <a:moveTo>
                    <a:pt x="94" y="3550"/>
                  </a:moveTo>
                  <a:cubicBezTo>
                    <a:pt x="94" y="3575"/>
                    <a:pt x="72" y="3597"/>
                    <a:pt x="47" y="3597"/>
                  </a:cubicBezTo>
                  <a:cubicBezTo>
                    <a:pt x="21" y="3597"/>
                    <a:pt x="0" y="3575"/>
                    <a:pt x="0" y="3550"/>
                  </a:cubicBezTo>
                  <a:cubicBezTo>
                    <a:pt x="0" y="3524"/>
                    <a:pt x="21" y="3503"/>
                    <a:pt x="47" y="3503"/>
                  </a:cubicBezTo>
                  <a:cubicBezTo>
                    <a:pt x="72" y="3503"/>
                    <a:pt x="94" y="3524"/>
                    <a:pt x="94" y="3550"/>
                  </a:cubicBezTo>
                  <a:close/>
                  <a:moveTo>
                    <a:pt x="94" y="3650"/>
                  </a:moveTo>
                  <a:cubicBezTo>
                    <a:pt x="94" y="3675"/>
                    <a:pt x="72" y="3697"/>
                    <a:pt x="47" y="3697"/>
                  </a:cubicBezTo>
                  <a:cubicBezTo>
                    <a:pt x="21" y="3697"/>
                    <a:pt x="0" y="3675"/>
                    <a:pt x="0" y="3650"/>
                  </a:cubicBezTo>
                  <a:cubicBezTo>
                    <a:pt x="0" y="3624"/>
                    <a:pt x="21" y="3603"/>
                    <a:pt x="47" y="3603"/>
                  </a:cubicBezTo>
                  <a:cubicBezTo>
                    <a:pt x="72" y="3603"/>
                    <a:pt x="94" y="3624"/>
                    <a:pt x="94" y="3650"/>
                  </a:cubicBezTo>
                  <a:close/>
                  <a:moveTo>
                    <a:pt x="94" y="3750"/>
                  </a:moveTo>
                  <a:cubicBezTo>
                    <a:pt x="94" y="3775"/>
                    <a:pt x="72" y="3797"/>
                    <a:pt x="47" y="3797"/>
                  </a:cubicBezTo>
                  <a:cubicBezTo>
                    <a:pt x="21" y="3797"/>
                    <a:pt x="0" y="3775"/>
                    <a:pt x="0" y="3750"/>
                  </a:cubicBezTo>
                  <a:cubicBezTo>
                    <a:pt x="0" y="3724"/>
                    <a:pt x="21" y="3703"/>
                    <a:pt x="47" y="3703"/>
                  </a:cubicBezTo>
                  <a:cubicBezTo>
                    <a:pt x="72" y="3703"/>
                    <a:pt x="94" y="3724"/>
                    <a:pt x="94" y="3750"/>
                  </a:cubicBezTo>
                  <a:close/>
                  <a:moveTo>
                    <a:pt x="94" y="3850"/>
                  </a:moveTo>
                  <a:cubicBezTo>
                    <a:pt x="94" y="3875"/>
                    <a:pt x="72" y="3897"/>
                    <a:pt x="47" y="3897"/>
                  </a:cubicBezTo>
                  <a:cubicBezTo>
                    <a:pt x="21" y="3897"/>
                    <a:pt x="0" y="3875"/>
                    <a:pt x="0" y="3850"/>
                  </a:cubicBezTo>
                  <a:cubicBezTo>
                    <a:pt x="0" y="3824"/>
                    <a:pt x="21" y="3803"/>
                    <a:pt x="47" y="3803"/>
                  </a:cubicBezTo>
                  <a:cubicBezTo>
                    <a:pt x="72" y="3803"/>
                    <a:pt x="94" y="3824"/>
                    <a:pt x="94" y="3850"/>
                  </a:cubicBezTo>
                  <a:close/>
                  <a:moveTo>
                    <a:pt x="94" y="3950"/>
                  </a:moveTo>
                  <a:cubicBezTo>
                    <a:pt x="94" y="3975"/>
                    <a:pt x="72" y="3997"/>
                    <a:pt x="47" y="3997"/>
                  </a:cubicBezTo>
                  <a:cubicBezTo>
                    <a:pt x="21" y="3997"/>
                    <a:pt x="0" y="3975"/>
                    <a:pt x="0" y="3950"/>
                  </a:cubicBezTo>
                  <a:cubicBezTo>
                    <a:pt x="0" y="3924"/>
                    <a:pt x="21" y="3903"/>
                    <a:pt x="47" y="3903"/>
                  </a:cubicBezTo>
                  <a:cubicBezTo>
                    <a:pt x="72" y="3903"/>
                    <a:pt x="94" y="3924"/>
                    <a:pt x="94" y="3950"/>
                  </a:cubicBezTo>
                  <a:close/>
                  <a:moveTo>
                    <a:pt x="94" y="4050"/>
                  </a:moveTo>
                  <a:cubicBezTo>
                    <a:pt x="94" y="4075"/>
                    <a:pt x="72" y="4097"/>
                    <a:pt x="47" y="4097"/>
                  </a:cubicBezTo>
                  <a:cubicBezTo>
                    <a:pt x="21" y="4097"/>
                    <a:pt x="0" y="4075"/>
                    <a:pt x="0" y="4050"/>
                  </a:cubicBezTo>
                  <a:cubicBezTo>
                    <a:pt x="0" y="4024"/>
                    <a:pt x="21" y="4003"/>
                    <a:pt x="47" y="4003"/>
                  </a:cubicBezTo>
                  <a:cubicBezTo>
                    <a:pt x="72" y="4003"/>
                    <a:pt x="94" y="4024"/>
                    <a:pt x="94" y="4050"/>
                  </a:cubicBezTo>
                  <a:close/>
                  <a:moveTo>
                    <a:pt x="94" y="4150"/>
                  </a:moveTo>
                  <a:cubicBezTo>
                    <a:pt x="94" y="4175"/>
                    <a:pt x="72" y="4197"/>
                    <a:pt x="47" y="4197"/>
                  </a:cubicBezTo>
                  <a:cubicBezTo>
                    <a:pt x="21" y="4197"/>
                    <a:pt x="0" y="4175"/>
                    <a:pt x="0" y="4150"/>
                  </a:cubicBezTo>
                  <a:cubicBezTo>
                    <a:pt x="0" y="4124"/>
                    <a:pt x="21" y="4103"/>
                    <a:pt x="47" y="4103"/>
                  </a:cubicBezTo>
                  <a:cubicBezTo>
                    <a:pt x="72" y="4103"/>
                    <a:pt x="94" y="4124"/>
                    <a:pt x="94" y="4150"/>
                  </a:cubicBezTo>
                  <a:close/>
                  <a:moveTo>
                    <a:pt x="94" y="4250"/>
                  </a:moveTo>
                  <a:cubicBezTo>
                    <a:pt x="94" y="4275"/>
                    <a:pt x="72" y="4297"/>
                    <a:pt x="47" y="4297"/>
                  </a:cubicBezTo>
                  <a:cubicBezTo>
                    <a:pt x="21" y="4297"/>
                    <a:pt x="0" y="4275"/>
                    <a:pt x="0" y="4250"/>
                  </a:cubicBezTo>
                  <a:cubicBezTo>
                    <a:pt x="0" y="4224"/>
                    <a:pt x="21" y="4203"/>
                    <a:pt x="47" y="4203"/>
                  </a:cubicBezTo>
                  <a:cubicBezTo>
                    <a:pt x="72" y="4203"/>
                    <a:pt x="94" y="4224"/>
                    <a:pt x="94" y="4250"/>
                  </a:cubicBezTo>
                  <a:close/>
                  <a:moveTo>
                    <a:pt x="94" y="4350"/>
                  </a:moveTo>
                  <a:cubicBezTo>
                    <a:pt x="94" y="4375"/>
                    <a:pt x="72" y="4397"/>
                    <a:pt x="47" y="4397"/>
                  </a:cubicBezTo>
                  <a:cubicBezTo>
                    <a:pt x="21" y="4397"/>
                    <a:pt x="0" y="4375"/>
                    <a:pt x="0" y="4350"/>
                  </a:cubicBezTo>
                  <a:cubicBezTo>
                    <a:pt x="0" y="4324"/>
                    <a:pt x="21" y="4303"/>
                    <a:pt x="47" y="4303"/>
                  </a:cubicBezTo>
                  <a:cubicBezTo>
                    <a:pt x="72" y="4303"/>
                    <a:pt x="94" y="4324"/>
                    <a:pt x="94" y="4350"/>
                  </a:cubicBezTo>
                  <a:close/>
                  <a:moveTo>
                    <a:pt x="94" y="4450"/>
                  </a:moveTo>
                  <a:cubicBezTo>
                    <a:pt x="94" y="4475"/>
                    <a:pt x="72" y="4497"/>
                    <a:pt x="47" y="4497"/>
                  </a:cubicBezTo>
                  <a:cubicBezTo>
                    <a:pt x="21" y="4497"/>
                    <a:pt x="0" y="4475"/>
                    <a:pt x="0" y="4450"/>
                  </a:cubicBezTo>
                  <a:cubicBezTo>
                    <a:pt x="0" y="4424"/>
                    <a:pt x="21" y="4403"/>
                    <a:pt x="47" y="4403"/>
                  </a:cubicBezTo>
                  <a:cubicBezTo>
                    <a:pt x="72" y="4403"/>
                    <a:pt x="94" y="4424"/>
                    <a:pt x="94" y="4450"/>
                  </a:cubicBezTo>
                  <a:close/>
                  <a:moveTo>
                    <a:pt x="94" y="4550"/>
                  </a:moveTo>
                  <a:cubicBezTo>
                    <a:pt x="94" y="4575"/>
                    <a:pt x="72" y="4597"/>
                    <a:pt x="47" y="4597"/>
                  </a:cubicBezTo>
                  <a:cubicBezTo>
                    <a:pt x="21" y="4597"/>
                    <a:pt x="0" y="4575"/>
                    <a:pt x="0" y="4550"/>
                  </a:cubicBezTo>
                  <a:cubicBezTo>
                    <a:pt x="0" y="4524"/>
                    <a:pt x="21" y="4503"/>
                    <a:pt x="47" y="4503"/>
                  </a:cubicBezTo>
                  <a:cubicBezTo>
                    <a:pt x="72" y="4503"/>
                    <a:pt x="94" y="4524"/>
                    <a:pt x="94" y="4550"/>
                  </a:cubicBezTo>
                  <a:close/>
                  <a:moveTo>
                    <a:pt x="94" y="4650"/>
                  </a:moveTo>
                  <a:cubicBezTo>
                    <a:pt x="94" y="4675"/>
                    <a:pt x="72" y="4697"/>
                    <a:pt x="47" y="4697"/>
                  </a:cubicBezTo>
                  <a:cubicBezTo>
                    <a:pt x="21" y="4697"/>
                    <a:pt x="0" y="4675"/>
                    <a:pt x="0" y="4650"/>
                  </a:cubicBezTo>
                  <a:cubicBezTo>
                    <a:pt x="0" y="4624"/>
                    <a:pt x="21" y="4603"/>
                    <a:pt x="47" y="4603"/>
                  </a:cubicBezTo>
                  <a:cubicBezTo>
                    <a:pt x="72" y="4603"/>
                    <a:pt x="94" y="4624"/>
                    <a:pt x="94" y="4650"/>
                  </a:cubicBezTo>
                  <a:close/>
                  <a:moveTo>
                    <a:pt x="94" y="4750"/>
                  </a:moveTo>
                  <a:cubicBezTo>
                    <a:pt x="94" y="4775"/>
                    <a:pt x="72" y="4797"/>
                    <a:pt x="47" y="4797"/>
                  </a:cubicBezTo>
                  <a:cubicBezTo>
                    <a:pt x="21" y="4797"/>
                    <a:pt x="0" y="4775"/>
                    <a:pt x="0" y="4750"/>
                  </a:cubicBezTo>
                  <a:cubicBezTo>
                    <a:pt x="0" y="4724"/>
                    <a:pt x="21" y="4703"/>
                    <a:pt x="47" y="4703"/>
                  </a:cubicBezTo>
                  <a:cubicBezTo>
                    <a:pt x="72" y="4703"/>
                    <a:pt x="94" y="4724"/>
                    <a:pt x="94" y="4750"/>
                  </a:cubicBezTo>
                  <a:close/>
                  <a:moveTo>
                    <a:pt x="94" y="4850"/>
                  </a:moveTo>
                  <a:cubicBezTo>
                    <a:pt x="94" y="4875"/>
                    <a:pt x="72" y="4897"/>
                    <a:pt x="47" y="4897"/>
                  </a:cubicBezTo>
                  <a:cubicBezTo>
                    <a:pt x="21" y="4897"/>
                    <a:pt x="0" y="4875"/>
                    <a:pt x="0" y="4850"/>
                  </a:cubicBezTo>
                  <a:cubicBezTo>
                    <a:pt x="0" y="4824"/>
                    <a:pt x="21" y="4803"/>
                    <a:pt x="47" y="4803"/>
                  </a:cubicBezTo>
                  <a:cubicBezTo>
                    <a:pt x="72" y="4803"/>
                    <a:pt x="94" y="4824"/>
                    <a:pt x="94" y="4850"/>
                  </a:cubicBezTo>
                  <a:close/>
                  <a:moveTo>
                    <a:pt x="94" y="4950"/>
                  </a:moveTo>
                  <a:cubicBezTo>
                    <a:pt x="94" y="4975"/>
                    <a:pt x="72" y="4997"/>
                    <a:pt x="47" y="4997"/>
                  </a:cubicBezTo>
                  <a:cubicBezTo>
                    <a:pt x="21" y="4997"/>
                    <a:pt x="0" y="4975"/>
                    <a:pt x="0" y="4950"/>
                  </a:cubicBezTo>
                  <a:cubicBezTo>
                    <a:pt x="0" y="4924"/>
                    <a:pt x="21" y="4903"/>
                    <a:pt x="47" y="4903"/>
                  </a:cubicBezTo>
                  <a:cubicBezTo>
                    <a:pt x="72" y="4903"/>
                    <a:pt x="94" y="4924"/>
                    <a:pt x="94" y="4950"/>
                  </a:cubicBezTo>
                  <a:close/>
                  <a:moveTo>
                    <a:pt x="94" y="5050"/>
                  </a:moveTo>
                  <a:cubicBezTo>
                    <a:pt x="94" y="5075"/>
                    <a:pt x="72" y="5097"/>
                    <a:pt x="47" y="5097"/>
                  </a:cubicBezTo>
                  <a:cubicBezTo>
                    <a:pt x="21" y="5097"/>
                    <a:pt x="0" y="5075"/>
                    <a:pt x="0" y="5050"/>
                  </a:cubicBezTo>
                  <a:cubicBezTo>
                    <a:pt x="0" y="5024"/>
                    <a:pt x="21" y="5003"/>
                    <a:pt x="47" y="5003"/>
                  </a:cubicBezTo>
                  <a:cubicBezTo>
                    <a:pt x="72" y="5003"/>
                    <a:pt x="94" y="5024"/>
                    <a:pt x="94" y="5050"/>
                  </a:cubicBezTo>
                  <a:close/>
                  <a:moveTo>
                    <a:pt x="94" y="5150"/>
                  </a:moveTo>
                  <a:cubicBezTo>
                    <a:pt x="94" y="5175"/>
                    <a:pt x="72" y="5197"/>
                    <a:pt x="47" y="5197"/>
                  </a:cubicBezTo>
                  <a:cubicBezTo>
                    <a:pt x="21" y="5197"/>
                    <a:pt x="0" y="5175"/>
                    <a:pt x="0" y="5150"/>
                  </a:cubicBezTo>
                  <a:cubicBezTo>
                    <a:pt x="0" y="5124"/>
                    <a:pt x="21" y="5103"/>
                    <a:pt x="47" y="5103"/>
                  </a:cubicBezTo>
                  <a:cubicBezTo>
                    <a:pt x="72" y="5103"/>
                    <a:pt x="94" y="5124"/>
                    <a:pt x="94" y="5150"/>
                  </a:cubicBezTo>
                  <a:close/>
                  <a:moveTo>
                    <a:pt x="94" y="5250"/>
                  </a:moveTo>
                  <a:cubicBezTo>
                    <a:pt x="94" y="5275"/>
                    <a:pt x="72" y="5297"/>
                    <a:pt x="47" y="5297"/>
                  </a:cubicBezTo>
                  <a:cubicBezTo>
                    <a:pt x="21" y="5297"/>
                    <a:pt x="0" y="5275"/>
                    <a:pt x="0" y="5250"/>
                  </a:cubicBezTo>
                  <a:cubicBezTo>
                    <a:pt x="0" y="5224"/>
                    <a:pt x="21" y="5203"/>
                    <a:pt x="47" y="5203"/>
                  </a:cubicBezTo>
                  <a:cubicBezTo>
                    <a:pt x="72" y="5203"/>
                    <a:pt x="94" y="5224"/>
                    <a:pt x="94" y="5250"/>
                  </a:cubicBezTo>
                  <a:close/>
                  <a:moveTo>
                    <a:pt x="94" y="5350"/>
                  </a:moveTo>
                  <a:cubicBezTo>
                    <a:pt x="94" y="5375"/>
                    <a:pt x="72" y="5397"/>
                    <a:pt x="47" y="5397"/>
                  </a:cubicBezTo>
                  <a:cubicBezTo>
                    <a:pt x="21" y="5397"/>
                    <a:pt x="0" y="5375"/>
                    <a:pt x="0" y="5350"/>
                  </a:cubicBezTo>
                  <a:cubicBezTo>
                    <a:pt x="0" y="5324"/>
                    <a:pt x="21" y="5303"/>
                    <a:pt x="47" y="5303"/>
                  </a:cubicBezTo>
                  <a:cubicBezTo>
                    <a:pt x="72" y="5303"/>
                    <a:pt x="94" y="5324"/>
                    <a:pt x="94" y="5350"/>
                  </a:cubicBezTo>
                  <a:close/>
                  <a:moveTo>
                    <a:pt x="94" y="5450"/>
                  </a:moveTo>
                  <a:cubicBezTo>
                    <a:pt x="94" y="5475"/>
                    <a:pt x="72" y="5497"/>
                    <a:pt x="47" y="5497"/>
                  </a:cubicBezTo>
                  <a:cubicBezTo>
                    <a:pt x="21" y="5497"/>
                    <a:pt x="0" y="5475"/>
                    <a:pt x="0" y="5450"/>
                  </a:cubicBezTo>
                  <a:cubicBezTo>
                    <a:pt x="0" y="5424"/>
                    <a:pt x="21" y="5403"/>
                    <a:pt x="47" y="5403"/>
                  </a:cubicBezTo>
                  <a:cubicBezTo>
                    <a:pt x="72" y="5403"/>
                    <a:pt x="94" y="5424"/>
                    <a:pt x="94" y="5450"/>
                  </a:cubicBezTo>
                  <a:close/>
                  <a:moveTo>
                    <a:pt x="94" y="5550"/>
                  </a:moveTo>
                  <a:cubicBezTo>
                    <a:pt x="94" y="5575"/>
                    <a:pt x="72" y="5597"/>
                    <a:pt x="47" y="5597"/>
                  </a:cubicBezTo>
                  <a:cubicBezTo>
                    <a:pt x="21" y="5597"/>
                    <a:pt x="0" y="5575"/>
                    <a:pt x="0" y="5550"/>
                  </a:cubicBezTo>
                  <a:cubicBezTo>
                    <a:pt x="0" y="5524"/>
                    <a:pt x="21" y="5503"/>
                    <a:pt x="47" y="5503"/>
                  </a:cubicBezTo>
                  <a:cubicBezTo>
                    <a:pt x="72" y="5503"/>
                    <a:pt x="94" y="5524"/>
                    <a:pt x="94" y="5550"/>
                  </a:cubicBezTo>
                  <a:close/>
                  <a:moveTo>
                    <a:pt x="94" y="5650"/>
                  </a:moveTo>
                  <a:cubicBezTo>
                    <a:pt x="94" y="5675"/>
                    <a:pt x="72" y="5697"/>
                    <a:pt x="47" y="5697"/>
                  </a:cubicBezTo>
                  <a:cubicBezTo>
                    <a:pt x="21" y="5697"/>
                    <a:pt x="0" y="5675"/>
                    <a:pt x="0" y="5650"/>
                  </a:cubicBezTo>
                  <a:cubicBezTo>
                    <a:pt x="0" y="5624"/>
                    <a:pt x="21" y="5603"/>
                    <a:pt x="47" y="5603"/>
                  </a:cubicBezTo>
                  <a:cubicBezTo>
                    <a:pt x="72" y="5603"/>
                    <a:pt x="94" y="5624"/>
                    <a:pt x="94" y="5650"/>
                  </a:cubicBezTo>
                  <a:close/>
                  <a:moveTo>
                    <a:pt x="94" y="5750"/>
                  </a:moveTo>
                  <a:cubicBezTo>
                    <a:pt x="94" y="5775"/>
                    <a:pt x="72" y="5797"/>
                    <a:pt x="47" y="5797"/>
                  </a:cubicBezTo>
                  <a:cubicBezTo>
                    <a:pt x="21" y="5797"/>
                    <a:pt x="0" y="5775"/>
                    <a:pt x="0" y="5750"/>
                  </a:cubicBezTo>
                  <a:cubicBezTo>
                    <a:pt x="0" y="5724"/>
                    <a:pt x="21" y="5703"/>
                    <a:pt x="47" y="5703"/>
                  </a:cubicBezTo>
                  <a:cubicBezTo>
                    <a:pt x="72" y="5703"/>
                    <a:pt x="94" y="5724"/>
                    <a:pt x="94" y="5750"/>
                  </a:cubicBezTo>
                  <a:close/>
                  <a:moveTo>
                    <a:pt x="94" y="5850"/>
                  </a:moveTo>
                  <a:cubicBezTo>
                    <a:pt x="94" y="5875"/>
                    <a:pt x="72" y="5897"/>
                    <a:pt x="47" y="5897"/>
                  </a:cubicBezTo>
                  <a:cubicBezTo>
                    <a:pt x="21" y="5897"/>
                    <a:pt x="0" y="5875"/>
                    <a:pt x="0" y="5850"/>
                  </a:cubicBezTo>
                  <a:cubicBezTo>
                    <a:pt x="0" y="5824"/>
                    <a:pt x="21" y="5803"/>
                    <a:pt x="47" y="5803"/>
                  </a:cubicBezTo>
                  <a:cubicBezTo>
                    <a:pt x="72" y="5803"/>
                    <a:pt x="94" y="5824"/>
                    <a:pt x="94" y="5850"/>
                  </a:cubicBezTo>
                  <a:close/>
                  <a:moveTo>
                    <a:pt x="94" y="5950"/>
                  </a:moveTo>
                  <a:cubicBezTo>
                    <a:pt x="94" y="5975"/>
                    <a:pt x="72" y="5997"/>
                    <a:pt x="47" y="5997"/>
                  </a:cubicBezTo>
                  <a:cubicBezTo>
                    <a:pt x="21" y="5997"/>
                    <a:pt x="0" y="5975"/>
                    <a:pt x="0" y="5950"/>
                  </a:cubicBezTo>
                  <a:cubicBezTo>
                    <a:pt x="0" y="5924"/>
                    <a:pt x="21" y="5903"/>
                    <a:pt x="47" y="5903"/>
                  </a:cubicBezTo>
                  <a:cubicBezTo>
                    <a:pt x="72" y="5903"/>
                    <a:pt x="94" y="5924"/>
                    <a:pt x="94" y="5950"/>
                  </a:cubicBezTo>
                  <a:close/>
                  <a:moveTo>
                    <a:pt x="94" y="6050"/>
                  </a:moveTo>
                  <a:cubicBezTo>
                    <a:pt x="94" y="6075"/>
                    <a:pt x="72" y="6097"/>
                    <a:pt x="47" y="6097"/>
                  </a:cubicBezTo>
                  <a:cubicBezTo>
                    <a:pt x="21" y="6097"/>
                    <a:pt x="0" y="6075"/>
                    <a:pt x="0" y="6050"/>
                  </a:cubicBezTo>
                  <a:cubicBezTo>
                    <a:pt x="0" y="6024"/>
                    <a:pt x="21" y="6003"/>
                    <a:pt x="47" y="6003"/>
                  </a:cubicBezTo>
                  <a:cubicBezTo>
                    <a:pt x="72" y="6003"/>
                    <a:pt x="94" y="6024"/>
                    <a:pt x="94" y="6050"/>
                  </a:cubicBezTo>
                  <a:close/>
                  <a:moveTo>
                    <a:pt x="94" y="6150"/>
                  </a:moveTo>
                  <a:cubicBezTo>
                    <a:pt x="94" y="6175"/>
                    <a:pt x="72" y="6197"/>
                    <a:pt x="47" y="6197"/>
                  </a:cubicBezTo>
                  <a:cubicBezTo>
                    <a:pt x="21" y="6197"/>
                    <a:pt x="0" y="6175"/>
                    <a:pt x="0" y="6150"/>
                  </a:cubicBezTo>
                  <a:cubicBezTo>
                    <a:pt x="0" y="6124"/>
                    <a:pt x="21" y="6103"/>
                    <a:pt x="47" y="6103"/>
                  </a:cubicBezTo>
                  <a:cubicBezTo>
                    <a:pt x="72" y="6103"/>
                    <a:pt x="94" y="6124"/>
                    <a:pt x="94" y="6150"/>
                  </a:cubicBezTo>
                  <a:close/>
                  <a:moveTo>
                    <a:pt x="94" y="6250"/>
                  </a:moveTo>
                  <a:cubicBezTo>
                    <a:pt x="94" y="6275"/>
                    <a:pt x="72" y="6297"/>
                    <a:pt x="47" y="6297"/>
                  </a:cubicBezTo>
                  <a:cubicBezTo>
                    <a:pt x="21" y="6297"/>
                    <a:pt x="0" y="6275"/>
                    <a:pt x="0" y="6250"/>
                  </a:cubicBezTo>
                  <a:cubicBezTo>
                    <a:pt x="0" y="6224"/>
                    <a:pt x="21" y="6203"/>
                    <a:pt x="47" y="6203"/>
                  </a:cubicBezTo>
                  <a:cubicBezTo>
                    <a:pt x="72" y="6203"/>
                    <a:pt x="94" y="6224"/>
                    <a:pt x="94" y="6250"/>
                  </a:cubicBezTo>
                  <a:close/>
                  <a:moveTo>
                    <a:pt x="94" y="6350"/>
                  </a:moveTo>
                  <a:cubicBezTo>
                    <a:pt x="94" y="6375"/>
                    <a:pt x="72" y="6397"/>
                    <a:pt x="47" y="6397"/>
                  </a:cubicBezTo>
                  <a:cubicBezTo>
                    <a:pt x="21" y="6397"/>
                    <a:pt x="0" y="6375"/>
                    <a:pt x="0" y="6350"/>
                  </a:cubicBezTo>
                  <a:cubicBezTo>
                    <a:pt x="0" y="6324"/>
                    <a:pt x="21" y="6303"/>
                    <a:pt x="47" y="6303"/>
                  </a:cubicBezTo>
                  <a:cubicBezTo>
                    <a:pt x="72" y="6303"/>
                    <a:pt x="94" y="6324"/>
                    <a:pt x="94" y="6350"/>
                  </a:cubicBezTo>
                  <a:close/>
                  <a:moveTo>
                    <a:pt x="94" y="6450"/>
                  </a:moveTo>
                  <a:cubicBezTo>
                    <a:pt x="94" y="6475"/>
                    <a:pt x="72" y="6497"/>
                    <a:pt x="47" y="6497"/>
                  </a:cubicBezTo>
                  <a:cubicBezTo>
                    <a:pt x="21" y="6497"/>
                    <a:pt x="0" y="6475"/>
                    <a:pt x="0" y="6450"/>
                  </a:cubicBezTo>
                  <a:cubicBezTo>
                    <a:pt x="0" y="6424"/>
                    <a:pt x="21" y="6403"/>
                    <a:pt x="47" y="6403"/>
                  </a:cubicBezTo>
                  <a:cubicBezTo>
                    <a:pt x="72" y="6403"/>
                    <a:pt x="94" y="6424"/>
                    <a:pt x="94" y="6450"/>
                  </a:cubicBezTo>
                  <a:close/>
                  <a:moveTo>
                    <a:pt x="550" y="50"/>
                  </a:moveTo>
                  <a:cubicBezTo>
                    <a:pt x="550" y="75"/>
                    <a:pt x="528" y="97"/>
                    <a:pt x="503" y="97"/>
                  </a:cubicBezTo>
                  <a:cubicBezTo>
                    <a:pt x="477" y="97"/>
                    <a:pt x="456" y="75"/>
                    <a:pt x="456" y="50"/>
                  </a:cubicBezTo>
                  <a:cubicBezTo>
                    <a:pt x="456" y="24"/>
                    <a:pt x="477" y="3"/>
                    <a:pt x="503" y="3"/>
                  </a:cubicBezTo>
                  <a:cubicBezTo>
                    <a:pt x="528" y="3"/>
                    <a:pt x="550" y="24"/>
                    <a:pt x="550" y="50"/>
                  </a:cubicBezTo>
                  <a:close/>
                  <a:moveTo>
                    <a:pt x="550" y="150"/>
                  </a:moveTo>
                  <a:cubicBezTo>
                    <a:pt x="550" y="175"/>
                    <a:pt x="528" y="197"/>
                    <a:pt x="503" y="197"/>
                  </a:cubicBezTo>
                  <a:cubicBezTo>
                    <a:pt x="477" y="197"/>
                    <a:pt x="456" y="175"/>
                    <a:pt x="456" y="150"/>
                  </a:cubicBezTo>
                  <a:cubicBezTo>
                    <a:pt x="456" y="124"/>
                    <a:pt x="477" y="103"/>
                    <a:pt x="503" y="103"/>
                  </a:cubicBezTo>
                  <a:cubicBezTo>
                    <a:pt x="528" y="103"/>
                    <a:pt x="550" y="124"/>
                    <a:pt x="550" y="150"/>
                  </a:cubicBezTo>
                  <a:close/>
                  <a:moveTo>
                    <a:pt x="550" y="250"/>
                  </a:moveTo>
                  <a:cubicBezTo>
                    <a:pt x="550" y="275"/>
                    <a:pt x="528" y="297"/>
                    <a:pt x="503" y="297"/>
                  </a:cubicBezTo>
                  <a:cubicBezTo>
                    <a:pt x="477" y="297"/>
                    <a:pt x="456" y="275"/>
                    <a:pt x="456" y="250"/>
                  </a:cubicBezTo>
                  <a:cubicBezTo>
                    <a:pt x="456" y="224"/>
                    <a:pt x="477" y="203"/>
                    <a:pt x="503" y="203"/>
                  </a:cubicBezTo>
                  <a:cubicBezTo>
                    <a:pt x="528" y="203"/>
                    <a:pt x="550" y="224"/>
                    <a:pt x="550" y="250"/>
                  </a:cubicBezTo>
                  <a:close/>
                  <a:moveTo>
                    <a:pt x="550" y="350"/>
                  </a:moveTo>
                  <a:cubicBezTo>
                    <a:pt x="550" y="375"/>
                    <a:pt x="528" y="397"/>
                    <a:pt x="503" y="397"/>
                  </a:cubicBezTo>
                  <a:cubicBezTo>
                    <a:pt x="477" y="397"/>
                    <a:pt x="456" y="375"/>
                    <a:pt x="456" y="350"/>
                  </a:cubicBezTo>
                  <a:cubicBezTo>
                    <a:pt x="456" y="324"/>
                    <a:pt x="477" y="303"/>
                    <a:pt x="503" y="303"/>
                  </a:cubicBezTo>
                  <a:cubicBezTo>
                    <a:pt x="528" y="303"/>
                    <a:pt x="550" y="324"/>
                    <a:pt x="550" y="350"/>
                  </a:cubicBezTo>
                  <a:close/>
                  <a:moveTo>
                    <a:pt x="550" y="450"/>
                  </a:moveTo>
                  <a:cubicBezTo>
                    <a:pt x="550" y="475"/>
                    <a:pt x="528" y="497"/>
                    <a:pt x="503" y="497"/>
                  </a:cubicBezTo>
                  <a:cubicBezTo>
                    <a:pt x="477" y="497"/>
                    <a:pt x="456" y="475"/>
                    <a:pt x="456" y="450"/>
                  </a:cubicBezTo>
                  <a:cubicBezTo>
                    <a:pt x="456" y="424"/>
                    <a:pt x="477" y="403"/>
                    <a:pt x="503" y="403"/>
                  </a:cubicBezTo>
                  <a:cubicBezTo>
                    <a:pt x="528" y="403"/>
                    <a:pt x="550" y="424"/>
                    <a:pt x="550" y="450"/>
                  </a:cubicBezTo>
                  <a:close/>
                  <a:moveTo>
                    <a:pt x="550" y="550"/>
                  </a:moveTo>
                  <a:cubicBezTo>
                    <a:pt x="550" y="575"/>
                    <a:pt x="528" y="597"/>
                    <a:pt x="503" y="597"/>
                  </a:cubicBezTo>
                  <a:cubicBezTo>
                    <a:pt x="477" y="597"/>
                    <a:pt x="456" y="575"/>
                    <a:pt x="456" y="550"/>
                  </a:cubicBezTo>
                  <a:cubicBezTo>
                    <a:pt x="456" y="524"/>
                    <a:pt x="477" y="503"/>
                    <a:pt x="503" y="503"/>
                  </a:cubicBezTo>
                  <a:cubicBezTo>
                    <a:pt x="528" y="503"/>
                    <a:pt x="550" y="524"/>
                    <a:pt x="550" y="550"/>
                  </a:cubicBezTo>
                  <a:close/>
                  <a:moveTo>
                    <a:pt x="550" y="650"/>
                  </a:moveTo>
                  <a:cubicBezTo>
                    <a:pt x="550" y="675"/>
                    <a:pt x="528" y="697"/>
                    <a:pt x="503" y="697"/>
                  </a:cubicBezTo>
                  <a:cubicBezTo>
                    <a:pt x="477" y="697"/>
                    <a:pt x="456" y="675"/>
                    <a:pt x="456" y="650"/>
                  </a:cubicBezTo>
                  <a:cubicBezTo>
                    <a:pt x="456" y="624"/>
                    <a:pt x="477" y="603"/>
                    <a:pt x="503" y="603"/>
                  </a:cubicBezTo>
                  <a:cubicBezTo>
                    <a:pt x="528" y="603"/>
                    <a:pt x="550" y="624"/>
                    <a:pt x="550" y="650"/>
                  </a:cubicBezTo>
                  <a:close/>
                  <a:moveTo>
                    <a:pt x="550" y="750"/>
                  </a:moveTo>
                  <a:cubicBezTo>
                    <a:pt x="550" y="775"/>
                    <a:pt x="528" y="797"/>
                    <a:pt x="503" y="797"/>
                  </a:cubicBezTo>
                  <a:cubicBezTo>
                    <a:pt x="477" y="797"/>
                    <a:pt x="456" y="775"/>
                    <a:pt x="456" y="750"/>
                  </a:cubicBezTo>
                  <a:cubicBezTo>
                    <a:pt x="456" y="724"/>
                    <a:pt x="477" y="703"/>
                    <a:pt x="503" y="703"/>
                  </a:cubicBezTo>
                  <a:cubicBezTo>
                    <a:pt x="528" y="703"/>
                    <a:pt x="550" y="724"/>
                    <a:pt x="550" y="750"/>
                  </a:cubicBezTo>
                  <a:close/>
                  <a:moveTo>
                    <a:pt x="550" y="850"/>
                  </a:moveTo>
                  <a:cubicBezTo>
                    <a:pt x="550" y="875"/>
                    <a:pt x="528" y="897"/>
                    <a:pt x="503" y="897"/>
                  </a:cubicBezTo>
                  <a:cubicBezTo>
                    <a:pt x="477" y="897"/>
                    <a:pt x="456" y="875"/>
                    <a:pt x="456" y="850"/>
                  </a:cubicBezTo>
                  <a:cubicBezTo>
                    <a:pt x="456" y="824"/>
                    <a:pt x="477" y="803"/>
                    <a:pt x="503" y="803"/>
                  </a:cubicBezTo>
                  <a:cubicBezTo>
                    <a:pt x="528" y="803"/>
                    <a:pt x="550" y="824"/>
                    <a:pt x="550" y="850"/>
                  </a:cubicBezTo>
                  <a:close/>
                  <a:moveTo>
                    <a:pt x="550" y="950"/>
                  </a:moveTo>
                  <a:cubicBezTo>
                    <a:pt x="550" y="975"/>
                    <a:pt x="528" y="997"/>
                    <a:pt x="503" y="997"/>
                  </a:cubicBezTo>
                  <a:cubicBezTo>
                    <a:pt x="477" y="997"/>
                    <a:pt x="456" y="975"/>
                    <a:pt x="456" y="950"/>
                  </a:cubicBezTo>
                  <a:cubicBezTo>
                    <a:pt x="456" y="924"/>
                    <a:pt x="477" y="903"/>
                    <a:pt x="503" y="903"/>
                  </a:cubicBezTo>
                  <a:cubicBezTo>
                    <a:pt x="528" y="903"/>
                    <a:pt x="550" y="924"/>
                    <a:pt x="550" y="950"/>
                  </a:cubicBezTo>
                  <a:close/>
                  <a:moveTo>
                    <a:pt x="550" y="1050"/>
                  </a:moveTo>
                  <a:cubicBezTo>
                    <a:pt x="550" y="1075"/>
                    <a:pt x="528" y="1097"/>
                    <a:pt x="503" y="1097"/>
                  </a:cubicBezTo>
                  <a:cubicBezTo>
                    <a:pt x="477" y="1097"/>
                    <a:pt x="456" y="1075"/>
                    <a:pt x="456" y="1050"/>
                  </a:cubicBezTo>
                  <a:cubicBezTo>
                    <a:pt x="456" y="1024"/>
                    <a:pt x="477" y="1003"/>
                    <a:pt x="503" y="1003"/>
                  </a:cubicBezTo>
                  <a:cubicBezTo>
                    <a:pt x="528" y="1003"/>
                    <a:pt x="550" y="1024"/>
                    <a:pt x="550" y="1050"/>
                  </a:cubicBezTo>
                  <a:close/>
                  <a:moveTo>
                    <a:pt x="550" y="1150"/>
                  </a:moveTo>
                  <a:cubicBezTo>
                    <a:pt x="550" y="1175"/>
                    <a:pt x="528" y="1197"/>
                    <a:pt x="503" y="1197"/>
                  </a:cubicBezTo>
                  <a:cubicBezTo>
                    <a:pt x="477" y="1197"/>
                    <a:pt x="456" y="1175"/>
                    <a:pt x="456" y="1150"/>
                  </a:cubicBezTo>
                  <a:cubicBezTo>
                    <a:pt x="456" y="1124"/>
                    <a:pt x="477" y="1103"/>
                    <a:pt x="503" y="1103"/>
                  </a:cubicBezTo>
                  <a:cubicBezTo>
                    <a:pt x="528" y="1103"/>
                    <a:pt x="550" y="1124"/>
                    <a:pt x="550" y="1150"/>
                  </a:cubicBezTo>
                  <a:close/>
                  <a:moveTo>
                    <a:pt x="550" y="1250"/>
                  </a:moveTo>
                  <a:cubicBezTo>
                    <a:pt x="550" y="1275"/>
                    <a:pt x="528" y="1297"/>
                    <a:pt x="503" y="1297"/>
                  </a:cubicBezTo>
                  <a:cubicBezTo>
                    <a:pt x="477" y="1297"/>
                    <a:pt x="456" y="1275"/>
                    <a:pt x="456" y="1250"/>
                  </a:cubicBezTo>
                  <a:cubicBezTo>
                    <a:pt x="456" y="1224"/>
                    <a:pt x="477" y="1203"/>
                    <a:pt x="503" y="1203"/>
                  </a:cubicBezTo>
                  <a:cubicBezTo>
                    <a:pt x="528" y="1203"/>
                    <a:pt x="550" y="1224"/>
                    <a:pt x="550" y="1250"/>
                  </a:cubicBezTo>
                  <a:close/>
                  <a:moveTo>
                    <a:pt x="550" y="1350"/>
                  </a:moveTo>
                  <a:cubicBezTo>
                    <a:pt x="550" y="1375"/>
                    <a:pt x="528" y="1397"/>
                    <a:pt x="503" y="1397"/>
                  </a:cubicBezTo>
                  <a:cubicBezTo>
                    <a:pt x="477" y="1397"/>
                    <a:pt x="456" y="1375"/>
                    <a:pt x="456" y="1350"/>
                  </a:cubicBezTo>
                  <a:cubicBezTo>
                    <a:pt x="456" y="1324"/>
                    <a:pt x="477" y="1303"/>
                    <a:pt x="503" y="1303"/>
                  </a:cubicBezTo>
                  <a:cubicBezTo>
                    <a:pt x="528" y="1303"/>
                    <a:pt x="550" y="1324"/>
                    <a:pt x="550" y="1350"/>
                  </a:cubicBezTo>
                  <a:close/>
                  <a:moveTo>
                    <a:pt x="550" y="1450"/>
                  </a:moveTo>
                  <a:cubicBezTo>
                    <a:pt x="550" y="1475"/>
                    <a:pt x="528" y="1497"/>
                    <a:pt x="503" y="1497"/>
                  </a:cubicBezTo>
                  <a:cubicBezTo>
                    <a:pt x="477" y="1497"/>
                    <a:pt x="456" y="1475"/>
                    <a:pt x="456" y="1450"/>
                  </a:cubicBezTo>
                  <a:cubicBezTo>
                    <a:pt x="456" y="1424"/>
                    <a:pt x="477" y="1403"/>
                    <a:pt x="503" y="1403"/>
                  </a:cubicBezTo>
                  <a:cubicBezTo>
                    <a:pt x="528" y="1403"/>
                    <a:pt x="550" y="1424"/>
                    <a:pt x="550" y="1450"/>
                  </a:cubicBezTo>
                  <a:close/>
                  <a:moveTo>
                    <a:pt x="550" y="1550"/>
                  </a:moveTo>
                  <a:cubicBezTo>
                    <a:pt x="550" y="1575"/>
                    <a:pt x="528" y="1597"/>
                    <a:pt x="503" y="1597"/>
                  </a:cubicBezTo>
                  <a:cubicBezTo>
                    <a:pt x="477" y="1597"/>
                    <a:pt x="456" y="1575"/>
                    <a:pt x="456" y="1550"/>
                  </a:cubicBezTo>
                  <a:cubicBezTo>
                    <a:pt x="456" y="1524"/>
                    <a:pt x="477" y="1503"/>
                    <a:pt x="503" y="1503"/>
                  </a:cubicBezTo>
                  <a:cubicBezTo>
                    <a:pt x="528" y="1503"/>
                    <a:pt x="550" y="1524"/>
                    <a:pt x="550" y="1550"/>
                  </a:cubicBezTo>
                  <a:close/>
                  <a:moveTo>
                    <a:pt x="550" y="1650"/>
                  </a:moveTo>
                  <a:cubicBezTo>
                    <a:pt x="550" y="1675"/>
                    <a:pt x="528" y="1697"/>
                    <a:pt x="503" y="1697"/>
                  </a:cubicBezTo>
                  <a:cubicBezTo>
                    <a:pt x="477" y="1697"/>
                    <a:pt x="456" y="1675"/>
                    <a:pt x="456" y="1650"/>
                  </a:cubicBezTo>
                  <a:cubicBezTo>
                    <a:pt x="456" y="1624"/>
                    <a:pt x="477" y="1603"/>
                    <a:pt x="503" y="1603"/>
                  </a:cubicBezTo>
                  <a:cubicBezTo>
                    <a:pt x="528" y="1603"/>
                    <a:pt x="550" y="1624"/>
                    <a:pt x="550" y="1650"/>
                  </a:cubicBezTo>
                  <a:close/>
                  <a:moveTo>
                    <a:pt x="550" y="1750"/>
                  </a:moveTo>
                  <a:cubicBezTo>
                    <a:pt x="550" y="1775"/>
                    <a:pt x="528" y="1797"/>
                    <a:pt x="503" y="1797"/>
                  </a:cubicBezTo>
                  <a:cubicBezTo>
                    <a:pt x="477" y="1797"/>
                    <a:pt x="456" y="1775"/>
                    <a:pt x="456" y="1750"/>
                  </a:cubicBezTo>
                  <a:cubicBezTo>
                    <a:pt x="456" y="1724"/>
                    <a:pt x="477" y="1703"/>
                    <a:pt x="503" y="1703"/>
                  </a:cubicBezTo>
                  <a:cubicBezTo>
                    <a:pt x="528" y="1703"/>
                    <a:pt x="550" y="1724"/>
                    <a:pt x="550" y="1750"/>
                  </a:cubicBezTo>
                  <a:close/>
                  <a:moveTo>
                    <a:pt x="550" y="1850"/>
                  </a:moveTo>
                  <a:cubicBezTo>
                    <a:pt x="550" y="1875"/>
                    <a:pt x="528" y="1897"/>
                    <a:pt x="503" y="1897"/>
                  </a:cubicBezTo>
                  <a:cubicBezTo>
                    <a:pt x="477" y="1897"/>
                    <a:pt x="456" y="1875"/>
                    <a:pt x="456" y="1850"/>
                  </a:cubicBezTo>
                  <a:cubicBezTo>
                    <a:pt x="456" y="1824"/>
                    <a:pt x="477" y="1803"/>
                    <a:pt x="503" y="1803"/>
                  </a:cubicBezTo>
                  <a:cubicBezTo>
                    <a:pt x="528" y="1803"/>
                    <a:pt x="550" y="1824"/>
                    <a:pt x="550" y="1850"/>
                  </a:cubicBezTo>
                  <a:close/>
                  <a:moveTo>
                    <a:pt x="550" y="1950"/>
                  </a:moveTo>
                  <a:cubicBezTo>
                    <a:pt x="550" y="1975"/>
                    <a:pt x="528" y="1997"/>
                    <a:pt x="503" y="1997"/>
                  </a:cubicBezTo>
                  <a:cubicBezTo>
                    <a:pt x="477" y="1997"/>
                    <a:pt x="456" y="1975"/>
                    <a:pt x="456" y="1950"/>
                  </a:cubicBezTo>
                  <a:cubicBezTo>
                    <a:pt x="456" y="1924"/>
                    <a:pt x="477" y="1903"/>
                    <a:pt x="503" y="1903"/>
                  </a:cubicBezTo>
                  <a:cubicBezTo>
                    <a:pt x="528" y="1903"/>
                    <a:pt x="550" y="1924"/>
                    <a:pt x="550" y="1950"/>
                  </a:cubicBezTo>
                  <a:close/>
                  <a:moveTo>
                    <a:pt x="550" y="2050"/>
                  </a:moveTo>
                  <a:cubicBezTo>
                    <a:pt x="550" y="2075"/>
                    <a:pt x="528" y="2097"/>
                    <a:pt x="503" y="2097"/>
                  </a:cubicBezTo>
                  <a:cubicBezTo>
                    <a:pt x="477" y="2097"/>
                    <a:pt x="456" y="2075"/>
                    <a:pt x="456" y="2050"/>
                  </a:cubicBezTo>
                  <a:cubicBezTo>
                    <a:pt x="456" y="2024"/>
                    <a:pt x="477" y="2003"/>
                    <a:pt x="503" y="2003"/>
                  </a:cubicBezTo>
                  <a:cubicBezTo>
                    <a:pt x="528" y="2003"/>
                    <a:pt x="550" y="2024"/>
                    <a:pt x="550" y="2050"/>
                  </a:cubicBezTo>
                  <a:close/>
                  <a:moveTo>
                    <a:pt x="550" y="2150"/>
                  </a:moveTo>
                  <a:cubicBezTo>
                    <a:pt x="550" y="2175"/>
                    <a:pt x="528" y="2197"/>
                    <a:pt x="503" y="2197"/>
                  </a:cubicBezTo>
                  <a:cubicBezTo>
                    <a:pt x="477" y="2197"/>
                    <a:pt x="456" y="2175"/>
                    <a:pt x="456" y="2150"/>
                  </a:cubicBezTo>
                  <a:cubicBezTo>
                    <a:pt x="456" y="2124"/>
                    <a:pt x="477" y="2103"/>
                    <a:pt x="503" y="2103"/>
                  </a:cubicBezTo>
                  <a:cubicBezTo>
                    <a:pt x="528" y="2103"/>
                    <a:pt x="550" y="2124"/>
                    <a:pt x="550" y="2150"/>
                  </a:cubicBezTo>
                  <a:close/>
                  <a:moveTo>
                    <a:pt x="550" y="2250"/>
                  </a:moveTo>
                  <a:cubicBezTo>
                    <a:pt x="550" y="2275"/>
                    <a:pt x="528" y="2297"/>
                    <a:pt x="503" y="2297"/>
                  </a:cubicBezTo>
                  <a:cubicBezTo>
                    <a:pt x="477" y="2297"/>
                    <a:pt x="456" y="2275"/>
                    <a:pt x="456" y="2250"/>
                  </a:cubicBezTo>
                  <a:cubicBezTo>
                    <a:pt x="456" y="2224"/>
                    <a:pt x="477" y="2203"/>
                    <a:pt x="503" y="2203"/>
                  </a:cubicBezTo>
                  <a:cubicBezTo>
                    <a:pt x="528" y="2203"/>
                    <a:pt x="550" y="2224"/>
                    <a:pt x="550" y="2250"/>
                  </a:cubicBezTo>
                  <a:close/>
                  <a:moveTo>
                    <a:pt x="550" y="2350"/>
                  </a:moveTo>
                  <a:cubicBezTo>
                    <a:pt x="550" y="2375"/>
                    <a:pt x="528" y="2397"/>
                    <a:pt x="503" y="2397"/>
                  </a:cubicBezTo>
                  <a:cubicBezTo>
                    <a:pt x="477" y="2397"/>
                    <a:pt x="456" y="2375"/>
                    <a:pt x="456" y="2350"/>
                  </a:cubicBezTo>
                  <a:cubicBezTo>
                    <a:pt x="456" y="2324"/>
                    <a:pt x="477" y="2303"/>
                    <a:pt x="503" y="2303"/>
                  </a:cubicBezTo>
                  <a:cubicBezTo>
                    <a:pt x="528" y="2303"/>
                    <a:pt x="550" y="2324"/>
                    <a:pt x="550" y="2350"/>
                  </a:cubicBezTo>
                  <a:close/>
                  <a:moveTo>
                    <a:pt x="550" y="2450"/>
                  </a:moveTo>
                  <a:cubicBezTo>
                    <a:pt x="550" y="2475"/>
                    <a:pt x="528" y="2497"/>
                    <a:pt x="503" y="2497"/>
                  </a:cubicBezTo>
                  <a:cubicBezTo>
                    <a:pt x="477" y="2497"/>
                    <a:pt x="456" y="2475"/>
                    <a:pt x="456" y="2450"/>
                  </a:cubicBezTo>
                  <a:cubicBezTo>
                    <a:pt x="456" y="2424"/>
                    <a:pt x="477" y="2403"/>
                    <a:pt x="503" y="2403"/>
                  </a:cubicBezTo>
                  <a:cubicBezTo>
                    <a:pt x="528" y="2403"/>
                    <a:pt x="550" y="2424"/>
                    <a:pt x="550" y="2450"/>
                  </a:cubicBezTo>
                  <a:close/>
                  <a:moveTo>
                    <a:pt x="550" y="2550"/>
                  </a:moveTo>
                  <a:cubicBezTo>
                    <a:pt x="550" y="2575"/>
                    <a:pt x="528" y="2597"/>
                    <a:pt x="503" y="2597"/>
                  </a:cubicBezTo>
                  <a:cubicBezTo>
                    <a:pt x="477" y="2597"/>
                    <a:pt x="456" y="2575"/>
                    <a:pt x="456" y="2550"/>
                  </a:cubicBezTo>
                  <a:cubicBezTo>
                    <a:pt x="456" y="2524"/>
                    <a:pt x="477" y="2503"/>
                    <a:pt x="503" y="2503"/>
                  </a:cubicBezTo>
                  <a:cubicBezTo>
                    <a:pt x="528" y="2503"/>
                    <a:pt x="550" y="2524"/>
                    <a:pt x="550" y="2550"/>
                  </a:cubicBezTo>
                  <a:close/>
                  <a:moveTo>
                    <a:pt x="550" y="2650"/>
                  </a:moveTo>
                  <a:cubicBezTo>
                    <a:pt x="550" y="2675"/>
                    <a:pt x="528" y="2697"/>
                    <a:pt x="503" y="2697"/>
                  </a:cubicBezTo>
                  <a:cubicBezTo>
                    <a:pt x="477" y="2697"/>
                    <a:pt x="456" y="2675"/>
                    <a:pt x="456" y="2650"/>
                  </a:cubicBezTo>
                  <a:cubicBezTo>
                    <a:pt x="456" y="2624"/>
                    <a:pt x="477" y="2603"/>
                    <a:pt x="503" y="2603"/>
                  </a:cubicBezTo>
                  <a:cubicBezTo>
                    <a:pt x="528" y="2603"/>
                    <a:pt x="550" y="2624"/>
                    <a:pt x="550" y="2650"/>
                  </a:cubicBezTo>
                  <a:close/>
                  <a:moveTo>
                    <a:pt x="550" y="2750"/>
                  </a:moveTo>
                  <a:cubicBezTo>
                    <a:pt x="550" y="2775"/>
                    <a:pt x="528" y="2797"/>
                    <a:pt x="503" y="2797"/>
                  </a:cubicBezTo>
                  <a:cubicBezTo>
                    <a:pt x="477" y="2797"/>
                    <a:pt x="456" y="2775"/>
                    <a:pt x="456" y="2750"/>
                  </a:cubicBezTo>
                  <a:cubicBezTo>
                    <a:pt x="456" y="2724"/>
                    <a:pt x="477" y="2703"/>
                    <a:pt x="503" y="2703"/>
                  </a:cubicBezTo>
                  <a:cubicBezTo>
                    <a:pt x="528" y="2703"/>
                    <a:pt x="550" y="2724"/>
                    <a:pt x="550" y="2750"/>
                  </a:cubicBezTo>
                  <a:close/>
                  <a:moveTo>
                    <a:pt x="550" y="2850"/>
                  </a:moveTo>
                  <a:cubicBezTo>
                    <a:pt x="550" y="2875"/>
                    <a:pt x="528" y="2897"/>
                    <a:pt x="503" y="2897"/>
                  </a:cubicBezTo>
                  <a:cubicBezTo>
                    <a:pt x="477" y="2897"/>
                    <a:pt x="456" y="2875"/>
                    <a:pt x="456" y="2850"/>
                  </a:cubicBezTo>
                  <a:cubicBezTo>
                    <a:pt x="456" y="2824"/>
                    <a:pt x="477" y="2803"/>
                    <a:pt x="503" y="2803"/>
                  </a:cubicBezTo>
                  <a:cubicBezTo>
                    <a:pt x="528" y="2803"/>
                    <a:pt x="550" y="2824"/>
                    <a:pt x="550" y="2850"/>
                  </a:cubicBezTo>
                  <a:close/>
                  <a:moveTo>
                    <a:pt x="550" y="2950"/>
                  </a:moveTo>
                  <a:cubicBezTo>
                    <a:pt x="550" y="2975"/>
                    <a:pt x="528" y="2997"/>
                    <a:pt x="503" y="2997"/>
                  </a:cubicBezTo>
                  <a:cubicBezTo>
                    <a:pt x="477" y="2997"/>
                    <a:pt x="456" y="2975"/>
                    <a:pt x="456" y="2950"/>
                  </a:cubicBezTo>
                  <a:cubicBezTo>
                    <a:pt x="456" y="2924"/>
                    <a:pt x="477" y="2903"/>
                    <a:pt x="503" y="2903"/>
                  </a:cubicBezTo>
                  <a:cubicBezTo>
                    <a:pt x="528" y="2903"/>
                    <a:pt x="550" y="2924"/>
                    <a:pt x="550" y="2950"/>
                  </a:cubicBezTo>
                  <a:close/>
                  <a:moveTo>
                    <a:pt x="550" y="3050"/>
                  </a:moveTo>
                  <a:cubicBezTo>
                    <a:pt x="550" y="3075"/>
                    <a:pt x="528" y="3097"/>
                    <a:pt x="503" y="3097"/>
                  </a:cubicBezTo>
                  <a:cubicBezTo>
                    <a:pt x="477" y="3097"/>
                    <a:pt x="456" y="3075"/>
                    <a:pt x="456" y="3050"/>
                  </a:cubicBezTo>
                  <a:cubicBezTo>
                    <a:pt x="456" y="3024"/>
                    <a:pt x="477" y="3003"/>
                    <a:pt x="503" y="3003"/>
                  </a:cubicBezTo>
                  <a:cubicBezTo>
                    <a:pt x="528" y="3003"/>
                    <a:pt x="550" y="3024"/>
                    <a:pt x="550" y="3050"/>
                  </a:cubicBezTo>
                  <a:close/>
                  <a:moveTo>
                    <a:pt x="550" y="3150"/>
                  </a:moveTo>
                  <a:cubicBezTo>
                    <a:pt x="550" y="3175"/>
                    <a:pt x="528" y="3197"/>
                    <a:pt x="503" y="3197"/>
                  </a:cubicBezTo>
                  <a:cubicBezTo>
                    <a:pt x="477" y="3197"/>
                    <a:pt x="456" y="3175"/>
                    <a:pt x="456" y="3150"/>
                  </a:cubicBezTo>
                  <a:cubicBezTo>
                    <a:pt x="456" y="3124"/>
                    <a:pt x="477" y="3103"/>
                    <a:pt x="503" y="3103"/>
                  </a:cubicBezTo>
                  <a:cubicBezTo>
                    <a:pt x="528" y="3103"/>
                    <a:pt x="550" y="3124"/>
                    <a:pt x="550" y="3150"/>
                  </a:cubicBezTo>
                  <a:close/>
                  <a:moveTo>
                    <a:pt x="550" y="3250"/>
                  </a:moveTo>
                  <a:cubicBezTo>
                    <a:pt x="550" y="3275"/>
                    <a:pt x="528" y="3297"/>
                    <a:pt x="503" y="3297"/>
                  </a:cubicBezTo>
                  <a:cubicBezTo>
                    <a:pt x="477" y="3297"/>
                    <a:pt x="456" y="3275"/>
                    <a:pt x="456" y="3250"/>
                  </a:cubicBezTo>
                  <a:cubicBezTo>
                    <a:pt x="456" y="3224"/>
                    <a:pt x="477" y="3203"/>
                    <a:pt x="503" y="3203"/>
                  </a:cubicBezTo>
                  <a:cubicBezTo>
                    <a:pt x="528" y="3203"/>
                    <a:pt x="550" y="3224"/>
                    <a:pt x="550" y="3250"/>
                  </a:cubicBezTo>
                  <a:close/>
                  <a:moveTo>
                    <a:pt x="550" y="3350"/>
                  </a:moveTo>
                  <a:cubicBezTo>
                    <a:pt x="550" y="3375"/>
                    <a:pt x="528" y="3397"/>
                    <a:pt x="503" y="3397"/>
                  </a:cubicBezTo>
                  <a:cubicBezTo>
                    <a:pt x="477" y="3397"/>
                    <a:pt x="456" y="3375"/>
                    <a:pt x="456" y="3350"/>
                  </a:cubicBezTo>
                  <a:cubicBezTo>
                    <a:pt x="456" y="3324"/>
                    <a:pt x="477" y="3303"/>
                    <a:pt x="503" y="3303"/>
                  </a:cubicBezTo>
                  <a:cubicBezTo>
                    <a:pt x="528" y="3303"/>
                    <a:pt x="550" y="3324"/>
                    <a:pt x="550" y="3350"/>
                  </a:cubicBezTo>
                  <a:close/>
                  <a:moveTo>
                    <a:pt x="550" y="3450"/>
                  </a:moveTo>
                  <a:cubicBezTo>
                    <a:pt x="550" y="3475"/>
                    <a:pt x="528" y="3497"/>
                    <a:pt x="503" y="3497"/>
                  </a:cubicBezTo>
                  <a:cubicBezTo>
                    <a:pt x="477" y="3497"/>
                    <a:pt x="456" y="3475"/>
                    <a:pt x="456" y="3450"/>
                  </a:cubicBezTo>
                  <a:cubicBezTo>
                    <a:pt x="456" y="3424"/>
                    <a:pt x="477" y="3403"/>
                    <a:pt x="503" y="3403"/>
                  </a:cubicBezTo>
                  <a:cubicBezTo>
                    <a:pt x="528" y="3403"/>
                    <a:pt x="550" y="3424"/>
                    <a:pt x="550" y="3450"/>
                  </a:cubicBezTo>
                  <a:close/>
                  <a:moveTo>
                    <a:pt x="550" y="3550"/>
                  </a:moveTo>
                  <a:cubicBezTo>
                    <a:pt x="550" y="3575"/>
                    <a:pt x="528" y="3597"/>
                    <a:pt x="503" y="3597"/>
                  </a:cubicBezTo>
                  <a:cubicBezTo>
                    <a:pt x="477" y="3597"/>
                    <a:pt x="456" y="3575"/>
                    <a:pt x="456" y="3550"/>
                  </a:cubicBezTo>
                  <a:cubicBezTo>
                    <a:pt x="456" y="3524"/>
                    <a:pt x="477" y="3503"/>
                    <a:pt x="503" y="3503"/>
                  </a:cubicBezTo>
                  <a:cubicBezTo>
                    <a:pt x="528" y="3503"/>
                    <a:pt x="550" y="3524"/>
                    <a:pt x="550" y="3550"/>
                  </a:cubicBezTo>
                  <a:close/>
                  <a:moveTo>
                    <a:pt x="550" y="3650"/>
                  </a:moveTo>
                  <a:cubicBezTo>
                    <a:pt x="550" y="3675"/>
                    <a:pt x="528" y="3697"/>
                    <a:pt x="503" y="3697"/>
                  </a:cubicBezTo>
                  <a:cubicBezTo>
                    <a:pt x="477" y="3697"/>
                    <a:pt x="456" y="3675"/>
                    <a:pt x="456" y="3650"/>
                  </a:cubicBezTo>
                  <a:cubicBezTo>
                    <a:pt x="456" y="3624"/>
                    <a:pt x="477" y="3603"/>
                    <a:pt x="503" y="3603"/>
                  </a:cubicBezTo>
                  <a:cubicBezTo>
                    <a:pt x="528" y="3603"/>
                    <a:pt x="550" y="3624"/>
                    <a:pt x="550" y="3650"/>
                  </a:cubicBezTo>
                  <a:close/>
                  <a:moveTo>
                    <a:pt x="550" y="3750"/>
                  </a:moveTo>
                  <a:cubicBezTo>
                    <a:pt x="550" y="3775"/>
                    <a:pt x="528" y="3797"/>
                    <a:pt x="503" y="3797"/>
                  </a:cubicBezTo>
                  <a:cubicBezTo>
                    <a:pt x="477" y="3797"/>
                    <a:pt x="456" y="3775"/>
                    <a:pt x="456" y="3750"/>
                  </a:cubicBezTo>
                  <a:cubicBezTo>
                    <a:pt x="456" y="3724"/>
                    <a:pt x="477" y="3703"/>
                    <a:pt x="503" y="3703"/>
                  </a:cubicBezTo>
                  <a:cubicBezTo>
                    <a:pt x="528" y="3703"/>
                    <a:pt x="550" y="3724"/>
                    <a:pt x="550" y="3750"/>
                  </a:cubicBezTo>
                  <a:close/>
                  <a:moveTo>
                    <a:pt x="550" y="3850"/>
                  </a:moveTo>
                  <a:cubicBezTo>
                    <a:pt x="550" y="3875"/>
                    <a:pt x="528" y="3897"/>
                    <a:pt x="503" y="3897"/>
                  </a:cubicBezTo>
                  <a:cubicBezTo>
                    <a:pt x="477" y="3897"/>
                    <a:pt x="456" y="3875"/>
                    <a:pt x="456" y="3850"/>
                  </a:cubicBezTo>
                  <a:cubicBezTo>
                    <a:pt x="456" y="3824"/>
                    <a:pt x="477" y="3803"/>
                    <a:pt x="503" y="3803"/>
                  </a:cubicBezTo>
                  <a:cubicBezTo>
                    <a:pt x="528" y="3803"/>
                    <a:pt x="550" y="3824"/>
                    <a:pt x="550" y="3850"/>
                  </a:cubicBezTo>
                  <a:close/>
                  <a:moveTo>
                    <a:pt x="550" y="3950"/>
                  </a:moveTo>
                  <a:cubicBezTo>
                    <a:pt x="550" y="3975"/>
                    <a:pt x="528" y="3997"/>
                    <a:pt x="503" y="3997"/>
                  </a:cubicBezTo>
                  <a:cubicBezTo>
                    <a:pt x="477" y="3997"/>
                    <a:pt x="456" y="3975"/>
                    <a:pt x="456" y="3950"/>
                  </a:cubicBezTo>
                  <a:cubicBezTo>
                    <a:pt x="456" y="3924"/>
                    <a:pt x="477" y="3903"/>
                    <a:pt x="503" y="3903"/>
                  </a:cubicBezTo>
                  <a:cubicBezTo>
                    <a:pt x="528" y="3903"/>
                    <a:pt x="550" y="3924"/>
                    <a:pt x="550" y="3950"/>
                  </a:cubicBezTo>
                  <a:close/>
                  <a:moveTo>
                    <a:pt x="550" y="4050"/>
                  </a:moveTo>
                  <a:cubicBezTo>
                    <a:pt x="550" y="4075"/>
                    <a:pt x="528" y="4097"/>
                    <a:pt x="503" y="4097"/>
                  </a:cubicBezTo>
                  <a:cubicBezTo>
                    <a:pt x="477" y="4097"/>
                    <a:pt x="456" y="4075"/>
                    <a:pt x="456" y="4050"/>
                  </a:cubicBezTo>
                  <a:cubicBezTo>
                    <a:pt x="456" y="4024"/>
                    <a:pt x="477" y="4003"/>
                    <a:pt x="503" y="4003"/>
                  </a:cubicBezTo>
                  <a:cubicBezTo>
                    <a:pt x="528" y="4003"/>
                    <a:pt x="550" y="4024"/>
                    <a:pt x="550" y="4050"/>
                  </a:cubicBezTo>
                  <a:close/>
                  <a:moveTo>
                    <a:pt x="550" y="4150"/>
                  </a:moveTo>
                  <a:cubicBezTo>
                    <a:pt x="550" y="4175"/>
                    <a:pt x="528" y="4197"/>
                    <a:pt x="503" y="4197"/>
                  </a:cubicBezTo>
                  <a:cubicBezTo>
                    <a:pt x="477" y="4197"/>
                    <a:pt x="456" y="4175"/>
                    <a:pt x="456" y="4150"/>
                  </a:cubicBezTo>
                  <a:cubicBezTo>
                    <a:pt x="456" y="4124"/>
                    <a:pt x="477" y="4103"/>
                    <a:pt x="503" y="4103"/>
                  </a:cubicBezTo>
                  <a:cubicBezTo>
                    <a:pt x="528" y="4103"/>
                    <a:pt x="550" y="4124"/>
                    <a:pt x="550" y="4150"/>
                  </a:cubicBezTo>
                  <a:close/>
                  <a:moveTo>
                    <a:pt x="550" y="4250"/>
                  </a:moveTo>
                  <a:cubicBezTo>
                    <a:pt x="550" y="4275"/>
                    <a:pt x="528" y="4297"/>
                    <a:pt x="503" y="4297"/>
                  </a:cubicBezTo>
                  <a:cubicBezTo>
                    <a:pt x="477" y="4297"/>
                    <a:pt x="456" y="4275"/>
                    <a:pt x="456" y="4250"/>
                  </a:cubicBezTo>
                  <a:cubicBezTo>
                    <a:pt x="456" y="4224"/>
                    <a:pt x="477" y="4203"/>
                    <a:pt x="503" y="4203"/>
                  </a:cubicBezTo>
                  <a:cubicBezTo>
                    <a:pt x="528" y="4203"/>
                    <a:pt x="550" y="4224"/>
                    <a:pt x="550" y="4250"/>
                  </a:cubicBezTo>
                  <a:close/>
                  <a:moveTo>
                    <a:pt x="550" y="4350"/>
                  </a:moveTo>
                  <a:cubicBezTo>
                    <a:pt x="550" y="4375"/>
                    <a:pt x="528" y="4397"/>
                    <a:pt x="503" y="4397"/>
                  </a:cubicBezTo>
                  <a:cubicBezTo>
                    <a:pt x="477" y="4397"/>
                    <a:pt x="456" y="4375"/>
                    <a:pt x="456" y="4350"/>
                  </a:cubicBezTo>
                  <a:cubicBezTo>
                    <a:pt x="456" y="4324"/>
                    <a:pt x="477" y="4303"/>
                    <a:pt x="503" y="4303"/>
                  </a:cubicBezTo>
                  <a:cubicBezTo>
                    <a:pt x="528" y="4303"/>
                    <a:pt x="550" y="4324"/>
                    <a:pt x="550" y="4350"/>
                  </a:cubicBezTo>
                  <a:close/>
                  <a:moveTo>
                    <a:pt x="550" y="4450"/>
                  </a:moveTo>
                  <a:cubicBezTo>
                    <a:pt x="550" y="4475"/>
                    <a:pt x="528" y="4497"/>
                    <a:pt x="503" y="4497"/>
                  </a:cubicBezTo>
                  <a:cubicBezTo>
                    <a:pt x="477" y="4497"/>
                    <a:pt x="456" y="4475"/>
                    <a:pt x="456" y="4450"/>
                  </a:cubicBezTo>
                  <a:cubicBezTo>
                    <a:pt x="456" y="4424"/>
                    <a:pt x="477" y="4403"/>
                    <a:pt x="503" y="4403"/>
                  </a:cubicBezTo>
                  <a:cubicBezTo>
                    <a:pt x="528" y="4403"/>
                    <a:pt x="550" y="4424"/>
                    <a:pt x="550" y="4450"/>
                  </a:cubicBezTo>
                  <a:close/>
                  <a:moveTo>
                    <a:pt x="550" y="4550"/>
                  </a:moveTo>
                  <a:cubicBezTo>
                    <a:pt x="550" y="4575"/>
                    <a:pt x="528" y="4597"/>
                    <a:pt x="503" y="4597"/>
                  </a:cubicBezTo>
                  <a:cubicBezTo>
                    <a:pt x="477" y="4597"/>
                    <a:pt x="456" y="4575"/>
                    <a:pt x="456" y="4550"/>
                  </a:cubicBezTo>
                  <a:cubicBezTo>
                    <a:pt x="456" y="4524"/>
                    <a:pt x="477" y="4503"/>
                    <a:pt x="503" y="4503"/>
                  </a:cubicBezTo>
                  <a:cubicBezTo>
                    <a:pt x="528" y="4503"/>
                    <a:pt x="550" y="4524"/>
                    <a:pt x="550" y="4550"/>
                  </a:cubicBezTo>
                  <a:close/>
                  <a:moveTo>
                    <a:pt x="550" y="4650"/>
                  </a:moveTo>
                  <a:cubicBezTo>
                    <a:pt x="550" y="4675"/>
                    <a:pt x="528" y="4697"/>
                    <a:pt x="503" y="4697"/>
                  </a:cubicBezTo>
                  <a:cubicBezTo>
                    <a:pt x="477" y="4697"/>
                    <a:pt x="456" y="4675"/>
                    <a:pt x="456" y="4650"/>
                  </a:cubicBezTo>
                  <a:cubicBezTo>
                    <a:pt x="456" y="4624"/>
                    <a:pt x="477" y="4603"/>
                    <a:pt x="503" y="4603"/>
                  </a:cubicBezTo>
                  <a:cubicBezTo>
                    <a:pt x="528" y="4603"/>
                    <a:pt x="550" y="4624"/>
                    <a:pt x="550" y="4650"/>
                  </a:cubicBezTo>
                  <a:close/>
                  <a:moveTo>
                    <a:pt x="550" y="4750"/>
                  </a:moveTo>
                  <a:cubicBezTo>
                    <a:pt x="550" y="4775"/>
                    <a:pt x="528" y="4797"/>
                    <a:pt x="503" y="4797"/>
                  </a:cubicBezTo>
                  <a:cubicBezTo>
                    <a:pt x="477" y="4797"/>
                    <a:pt x="456" y="4775"/>
                    <a:pt x="456" y="4750"/>
                  </a:cubicBezTo>
                  <a:cubicBezTo>
                    <a:pt x="456" y="4724"/>
                    <a:pt x="477" y="4703"/>
                    <a:pt x="503" y="4703"/>
                  </a:cubicBezTo>
                  <a:cubicBezTo>
                    <a:pt x="528" y="4703"/>
                    <a:pt x="550" y="4724"/>
                    <a:pt x="550" y="4750"/>
                  </a:cubicBezTo>
                  <a:close/>
                  <a:moveTo>
                    <a:pt x="550" y="4850"/>
                  </a:moveTo>
                  <a:cubicBezTo>
                    <a:pt x="550" y="4875"/>
                    <a:pt x="528" y="4897"/>
                    <a:pt x="503" y="4897"/>
                  </a:cubicBezTo>
                  <a:cubicBezTo>
                    <a:pt x="477" y="4897"/>
                    <a:pt x="456" y="4875"/>
                    <a:pt x="456" y="4850"/>
                  </a:cubicBezTo>
                  <a:cubicBezTo>
                    <a:pt x="456" y="4824"/>
                    <a:pt x="477" y="4803"/>
                    <a:pt x="503" y="4803"/>
                  </a:cubicBezTo>
                  <a:cubicBezTo>
                    <a:pt x="528" y="4803"/>
                    <a:pt x="550" y="4824"/>
                    <a:pt x="550" y="4850"/>
                  </a:cubicBezTo>
                  <a:close/>
                  <a:moveTo>
                    <a:pt x="550" y="4950"/>
                  </a:moveTo>
                  <a:cubicBezTo>
                    <a:pt x="550" y="4975"/>
                    <a:pt x="528" y="4997"/>
                    <a:pt x="503" y="4997"/>
                  </a:cubicBezTo>
                  <a:cubicBezTo>
                    <a:pt x="477" y="4997"/>
                    <a:pt x="456" y="4975"/>
                    <a:pt x="456" y="4950"/>
                  </a:cubicBezTo>
                  <a:cubicBezTo>
                    <a:pt x="456" y="4924"/>
                    <a:pt x="477" y="4903"/>
                    <a:pt x="503" y="4903"/>
                  </a:cubicBezTo>
                  <a:cubicBezTo>
                    <a:pt x="528" y="4903"/>
                    <a:pt x="550" y="4924"/>
                    <a:pt x="550" y="4950"/>
                  </a:cubicBezTo>
                  <a:close/>
                  <a:moveTo>
                    <a:pt x="550" y="5050"/>
                  </a:moveTo>
                  <a:cubicBezTo>
                    <a:pt x="550" y="5075"/>
                    <a:pt x="528" y="5097"/>
                    <a:pt x="503" y="5097"/>
                  </a:cubicBezTo>
                  <a:cubicBezTo>
                    <a:pt x="477" y="5097"/>
                    <a:pt x="456" y="5075"/>
                    <a:pt x="456" y="5050"/>
                  </a:cubicBezTo>
                  <a:cubicBezTo>
                    <a:pt x="456" y="5024"/>
                    <a:pt x="477" y="5003"/>
                    <a:pt x="503" y="5003"/>
                  </a:cubicBezTo>
                  <a:cubicBezTo>
                    <a:pt x="528" y="5003"/>
                    <a:pt x="550" y="5024"/>
                    <a:pt x="550" y="5050"/>
                  </a:cubicBezTo>
                  <a:close/>
                  <a:moveTo>
                    <a:pt x="550" y="5150"/>
                  </a:moveTo>
                  <a:cubicBezTo>
                    <a:pt x="550" y="5175"/>
                    <a:pt x="528" y="5197"/>
                    <a:pt x="503" y="5197"/>
                  </a:cubicBezTo>
                  <a:cubicBezTo>
                    <a:pt x="477" y="5197"/>
                    <a:pt x="456" y="5175"/>
                    <a:pt x="456" y="5150"/>
                  </a:cubicBezTo>
                  <a:cubicBezTo>
                    <a:pt x="456" y="5124"/>
                    <a:pt x="477" y="5103"/>
                    <a:pt x="503" y="5103"/>
                  </a:cubicBezTo>
                  <a:cubicBezTo>
                    <a:pt x="528" y="5103"/>
                    <a:pt x="550" y="5124"/>
                    <a:pt x="550" y="5150"/>
                  </a:cubicBezTo>
                  <a:close/>
                  <a:moveTo>
                    <a:pt x="550" y="5250"/>
                  </a:moveTo>
                  <a:cubicBezTo>
                    <a:pt x="550" y="5275"/>
                    <a:pt x="528" y="5297"/>
                    <a:pt x="503" y="5297"/>
                  </a:cubicBezTo>
                  <a:cubicBezTo>
                    <a:pt x="477" y="5297"/>
                    <a:pt x="456" y="5275"/>
                    <a:pt x="456" y="5250"/>
                  </a:cubicBezTo>
                  <a:cubicBezTo>
                    <a:pt x="456" y="5224"/>
                    <a:pt x="477" y="5203"/>
                    <a:pt x="503" y="5203"/>
                  </a:cubicBezTo>
                  <a:cubicBezTo>
                    <a:pt x="528" y="5203"/>
                    <a:pt x="550" y="5224"/>
                    <a:pt x="550" y="5250"/>
                  </a:cubicBezTo>
                  <a:close/>
                  <a:moveTo>
                    <a:pt x="550" y="5350"/>
                  </a:moveTo>
                  <a:cubicBezTo>
                    <a:pt x="550" y="5375"/>
                    <a:pt x="528" y="5397"/>
                    <a:pt x="503" y="5397"/>
                  </a:cubicBezTo>
                  <a:cubicBezTo>
                    <a:pt x="477" y="5397"/>
                    <a:pt x="456" y="5375"/>
                    <a:pt x="456" y="5350"/>
                  </a:cubicBezTo>
                  <a:cubicBezTo>
                    <a:pt x="456" y="5324"/>
                    <a:pt x="477" y="5303"/>
                    <a:pt x="503" y="5303"/>
                  </a:cubicBezTo>
                  <a:cubicBezTo>
                    <a:pt x="528" y="5303"/>
                    <a:pt x="550" y="5324"/>
                    <a:pt x="550" y="5350"/>
                  </a:cubicBezTo>
                  <a:close/>
                  <a:moveTo>
                    <a:pt x="550" y="5450"/>
                  </a:moveTo>
                  <a:cubicBezTo>
                    <a:pt x="550" y="5475"/>
                    <a:pt x="528" y="5497"/>
                    <a:pt x="503" y="5497"/>
                  </a:cubicBezTo>
                  <a:cubicBezTo>
                    <a:pt x="477" y="5497"/>
                    <a:pt x="456" y="5475"/>
                    <a:pt x="456" y="5450"/>
                  </a:cubicBezTo>
                  <a:cubicBezTo>
                    <a:pt x="456" y="5424"/>
                    <a:pt x="477" y="5403"/>
                    <a:pt x="503" y="5403"/>
                  </a:cubicBezTo>
                  <a:cubicBezTo>
                    <a:pt x="528" y="5403"/>
                    <a:pt x="550" y="5424"/>
                    <a:pt x="550" y="5450"/>
                  </a:cubicBezTo>
                  <a:close/>
                  <a:moveTo>
                    <a:pt x="550" y="5550"/>
                  </a:moveTo>
                  <a:cubicBezTo>
                    <a:pt x="550" y="5575"/>
                    <a:pt x="528" y="5597"/>
                    <a:pt x="503" y="5597"/>
                  </a:cubicBezTo>
                  <a:cubicBezTo>
                    <a:pt x="477" y="5597"/>
                    <a:pt x="456" y="5575"/>
                    <a:pt x="456" y="5550"/>
                  </a:cubicBezTo>
                  <a:cubicBezTo>
                    <a:pt x="456" y="5524"/>
                    <a:pt x="477" y="5503"/>
                    <a:pt x="503" y="5503"/>
                  </a:cubicBezTo>
                  <a:cubicBezTo>
                    <a:pt x="528" y="5503"/>
                    <a:pt x="550" y="5524"/>
                    <a:pt x="550" y="5550"/>
                  </a:cubicBezTo>
                  <a:close/>
                  <a:moveTo>
                    <a:pt x="550" y="5650"/>
                  </a:moveTo>
                  <a:cubicBezTo>
                    <a:pt x="550" y="5675"/>
                    <a:pt x="528" y="5697"/>
                    <a:pt x="503" y="5697"/>
                  </a:cubicBezTo>
                  <a:cubicBezTo>
                    <a:pt x="477" y="5697"/>
                    <a:pt x="456" y="5675"/>
                    <a:pt x="456" y="5650"/>
                  </a:cubicBezTo>
                  <a:cubicBezTo>
                    <a:pt x="456" y="5624"/>
                    <a:pt x="477" y="5603"/>
                    <a:pt x="503" y="5603"/>
                  </a:cubicBezTo>
                  <a:cubicBezTo>
                    <a:pt x="528" y="5603"/>
                    <a:pt x="550" y="5624"/>
                    <a:pt x="550" y="5650"/>
                  </a:cubicBezTo>
                  <a:close/>
                  <a:moveTo>
                    <a:pt x="550" y="5750"/>
                  </a:moveTo>
                  <a:cubicBezTo>
                    <a:pt x="550" y="5775"/>
                    <a:pt x="528" y="5797"/>
                    <a:pt x="503" y="5797"/>
                  </a:cubicBezTo>
                  <a:cubicBezTo>
                    <a:pt x="477" y="5797"/>
                    <a:pt x="456" y="5775"/>
                    <a:pt x="456" y="5750"/>
                  </a:cubicBezTo>
                  <a:cubicBezTo>
                    <a:pt x="456" y="5724"/>
                    <a:pt x="477" y="5703"/>
                    <a:pt x="503" y="5703"/>
                  </a:cubicBezTo>
                  <a:cubicBezTo>
                    <a:pt x="528" y="5703"/>
                    <a:pt x="550" y="5724"/>
                    <a:pt x="550" y="5750"/>
                  </a:cubicBezTo>
                  <a:close/>
                  <a:moveTo>
                    <a:pt x="550" y="5850"/>
                  </a:moveTo>
                  <a:cubicBezTo>
                    <a:pt x="550" y="5875"/>
                    <a:pt x="528" y="5897"/>
                    <a:pt x="503" y="5897"/>
                  </a:cubicBezTo>
                  <a:cubicBezTo>
                    <a:pt x="477" y="5897"/>
                    <a:pt x="456" y="5875"/>
                    <a:pt x="456" y="5850"/>
                  </a:cubicBezTo>
                  <a:cubicBezTo>
                    <a:pt x="456" y="5824"/>
                    <a:pt x="477" y="5803"/>
                    <a:pt x="503" y="5803"/>
                  </a:cubicBezTo>
                  <a:cubicBezTo>
                    <a:pt x="528" y="5803"/>
                    <a:pt x="550" y="5824"/>
                    <a:pt x="550" y="5850"/>
                  </a:cubicBezTo>
                  <a:close/>
                  <a:moveTo>
                    <a:pt x="550" y="5950"/>
                  </a:moveTo>
                  <a:cubicBezTo>
                    <a:pt x="550" y="5975"/>
                    <a:pt x="528" y="5997"/>
                    <a:pt x="503" y="5997"/>
                  </a:cubicBezTo>
                  <a:cubicBezTo>
                    <a:pt x="477" y="5997"/>
                    <a:pt x="456" y="5975"/>
                    <a:pt x="456" y="5950"/>
                  </a:cubicBezTo>
                  <a:cubicBezTo>
                    <a:pt x="456" y="5924"/>
                    <a:pt x="477" y="5903"/>
                    <a:pt x="503" y="5903"/>
                  </a:cubicBezTo>
                  <a:cubicBezTo>
                    <a:pt x="528" y="5903"/>
                    <a:pt x="550" y="5924"/>
                    <a:pt x="550" y="5950"/>
                  </a:cubicBezTo>
                  <a:close/>
                  <a:moveTo>
                    <a:pt x="550" y="6050"/>
                  </a:moveTo>
                  <a:cubicBezTo>
                    <a:pt x="550" y="6075"/>
                    <a:pt x="528" y="6097"/>
                    <a:pt x="503" y="6097"/>
                  </a:cubicBezTo>
                  <a:cubicBezTo>
                    <a:pt x="477" y="6097"/>
                    <a:pt x="456" y="6075"/>
                    <a:pt x="456" y="6050"/>
                  </a:cubicBezTo>
                  <a:cubicBezTo>
                    <a:pt x="456" y="6024"/>
                    <a:pt x="477" y="6003"/>
                    <a:pt x="503" y="6003"/>
                  </a:cubicBezTo>
                  <a:cubicBezTo>
                    <a:pt x="528" y="6003"/>
                    <a:pt x="550" y="6024"/>
                    <a:pt x="550" y="6050"/>
                  </a:cubicBezTo>
                  <a:close/>
                  <a:moveTo>
                    <a:pt x="550" y="6150"/>
                  </a:moveTo>
                  <a:cubicBezTo>
                    <a:pt x="550" y="6175"/>
                    <a:pt x="528" y="6197"/>
                    <a:pt x="503" y="6197"/>
                  </a:cubicBezTo>
                  <a:cubicBezTo>
                    <a:pt x="477" y="6197"/>
                    <a:pt x="456" y="6175"/>
                    <a:pt x="456" y="6150"/>
                  </a:cubicBezTo>
                  <a:cubicBezTo>
                    <a:pt x="456" y="6124"/>
                    <a:pt x="477" y="6103"/>
                    <a:pt x="503" y="6103"/>
                  </a:cubicBezTo>
                  <a:cubicBezTo>
                    <a:pt x="528" y="6103"/>
                    <a:pt x="550" y="6124"/>
                    <a:pt x="550" y="6150"/>
                  </a:cubicBezTo>
                  <a:close/>
                  <a:moveTo>
                    <a:pt x="550" y="6250"/>
                  </a:moveTo>
                  <a:cubicBezTo>
                    <a:pt x="550" y="6275"/>
                    <a:pt x="528" y="6297"/>
                    <a:pt x="503" y="6297"/>
                  </a:cubicBezTo>
                  <a:cubicBezTo>
                    <a:pt x="477" y="6297"/>
                    <a:pt x="456" y="6275"/>
                    <a:pt x="456" y="6250"/>
                  </a:cubicBezTo>
                  <a:cubicBezTo>
                    <a:pt x="456" y="6224"/>
                    <a:pt x="477" y="6203"/>
                    <a:pt x="503" y="6203"/>
                  </a:cubicBezTo>
                  <a:cubicBezTo>
                    <a:pt x="528" y="6203"/>
                    <a:pt x="550" y="6224"/>
                    <a:pt x="550" y="6250"/>
                  </a:cubicBezTo>
                  <a:close/>
                  <a:moveTo>
                    <a:pt x="550" y="6350"/>
                  </a:moveTo>
                  <a:cubicBezTo>
                    <a:pt x="550" y="6375"/>
                    <a:pt x="528" y="6397"/>
                    <a:pt x="503" y="6397"/>
                  </a:cubicBezTo>
                  <a:cubicBezTo>
                    <a:pt x="477" y="6397"/>
                    <a:pt x="456" y="6375"/>
                    <a:pt x="456" y="6350"/>
                  </a:cubicBezTo>
                  <a:cubicBezTo>
                    <a:pt x="456" y="6324"/>
                    <a:pt x="477" y="6303"/>
                    <a:pt x="503" y="6303"/>
                  </a:cubicBezTo>
                  <a:cubicBezTo>
                    <a:pt x="528" y="6303"/>
                    <a:pt x="550" y="6324"/>
                    <a:pt x="550" y="6350"/>
                  </a:cubicBezTo>
                  <a:close/>
                  <a:moveTo>
                    <a:pt x="550" y="6450"/>
                  </a:moveTo>
                  <a:cubicBezTo>
                    <a:pt x="550" y="6475"/>
                    <a:pt x="528" y="6497"/>
                    <a:pt x="503" y="6497"/>
                  </a:cubicBezTo>
                  <a:cubicBezTo>
                    <a:pt x="477" y="6497"/>
                    <a:pt x="456" y="6475"/>
                    <a:pt x="456" y="6450"/>
                  </a:cubicBezTo>
                  <a:cubicBezTo>
                    <a:pt x="456" y="6424"/>
                    <a:pt x="477" y="6403"/>
                    <a:pt x="503" y="6403"/>
                  </a:cubicBezTo>
                  <a:cubicBezTo>
                    <a:pt x="528" y="6403"/>
                    <a:pt x="550" y="6424"/>
                    <a:pt x="550" y="64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9A61"/>
                </a:gs>
                <a:gs pos="55000">
                  <a:srgbClr val="CA6F1E"/>
                </a:gs>
                <a:gs pos="100000">
                  <a:srgbClr val="A15818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6F3D10"/>
              </a:solidFill>
              <a:round/>
            </a:ln>
          </p:spPr>
        </p:sp>
      </p:grpSp>
      <p:grpSp>
        <p:nvGrpSpPr>
          <p:cNvPr id="14" name="!!VDAC"/>
          <p:cNvGrpSpPr/>
          <p:nvPr/>
        </p:nvGrpSpPr>
        <p:grpSpPr>
          <a:xfrm>
            <a:off x="2926080" y="3063240"/>
            <a:ext cx="731520" cy="1280160"/>
            <a:chOff x="2926080" y="3063240"/>
            <a:chExt cx="731520" cy="1280160"/>
          </a:xfrm>
        </p:grpSpPr>
        <p:sp>
          <p:nvSpPr>
            <p:cNvPr id="15" name="Forma 14"/>
            <p:cNvSpPr/>
            <p:nvPr/>
          </p:nvSpPr>
          <p:spPr>
            <a:xfrm>
              <a:off x="2926080" y="306324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581A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2926080" y="388620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581A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</p:sp>
      </p:grpSp>
      <p:grpSp>
        <p:nvGrpSpPr>
          <p:cNvPr id="17" name="!!MPC"/>
          <p:cNvGrpSpPr/>
          <p:nvPr/>
        </p:nvGrpSpPr>
        <p:grpSpPr>
          <a:xfrm>
            <a:off x="5029200" y="3063240"/>
            <a:ext cx="731520" cy="1280160"/>
            <a:chOff x="5029200" y="3063240"/>
            <a:chExt cx="731520" cy="1280160"/>
          </a:xfrm>
        </p:grpSpPr>
        <p:sp>
          <p:nvSpPr>
            <p:cNvPr id="18" name="Forma 17"/>
            <p:cNvSpPr/>
            <p:nvPr/>
          </p:nvSpPr>
          <p:spPr>
            <a:xfrm>
              <a:off x="5029200" y="306324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5029200" y="388620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</p:sp>
      </p:grpSp>
      <p:sp>
        <p:nvSpPr>
          <p:cNvPr id="20" name="!!Rótulo citoplasma"/>
          <p:cNvSpPr txBox="1"/>
          <p:nvPr/>
        </p:nvSpPr>
        <p:spPr>
          <a:xfrm>
            <a:off x="274320" y="10515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CITOPLASMA</a:t>
            </a:r>
            <a:endParaRPr lang="es-AR" sz="1400" dirty="0">
              <a:latin typeface="Calibri"/>
            </a:endParaRPr>
          </a:p>
        </p:txBody>
      </p:sp>
      <p:sp>
        <p:nvSpPr>
          <p:cNvPr id="21" name="!!Rótulo EIM"/>
          <p:cNvSpPr txBox="1"/>
          <p:nvPr/>
        </p:nvSpPr>
        <p:spPr>
          <a:xfrm>
            <a:off x="3566160" y="10515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ESPACIO</a:t>
            </a:r>
            <a:endParaRPr lang="es-AR" sz="14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INTERMEMBRANA</a:t>
            </a:r>
            <a:endParaRPr lang="es-AR" sz="1400" dirty="0">
              <a:latin typeface="Calibri"/>
            </a:endParaRPr>
          </a:p>
        </p:txBody>
      </p:sp>
      <p:sp>
        <p:nvSpPr>
          <p:cNvPr id="22" name="!!Rótulo matriz"/>
          <p:cNvSpPr txBox="1"/>
          <p:nvPr/>
        </p:nvSpPr>
        <p:spPr>
          <a:xfrm>
            <a:off x="5852160" y="10515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MATRIZ</a:t>
            </a:r>
            <a:endParaRPr lang="es-AR" sz="1400" dirty="0">
              <a:latin typeface="Calibri"/>
            </a:endParaRPr>
          </a:p>
        </p:txBody>
      </p:sp>
      <p:grpSp>
        <p:nvGrpSpPr>
          <p:cNvPr id="23" name="!!Iones"/>
          <p:cNvGrpSpPr/>
          <p:nvPr/>
        </p:nvGrpSpPr>
        <p:grpSpPr>
          <a:xfrm>
            <a:off x="2011680" y="2651760"/>
            <a:ext cx="2743200" cy="2468880"/>
            <a:chOff x="2011680" y="2651760"/>
            <a:chExt cx="2743200" cy="2468880"/>
          </a:xfrm>
        </p:grpSpPr>
        <p:sp>
          <p:nvSpPr>
            <p:cNvPr id="24" name="Forma 23"/>
            <p:cNvSpPr/>
            <p:nvPr/>
          </p:nvSpPr>
          <p:spPr>
            <a:xfrm>
              <a:off x="2286000" y="274320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2560320" y="420624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4114800" y="265176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4480560" y="448056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2011680" y="484632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</p:grpSp>
      <p:grpSp>
        <p:nvGrpSpPr>
          <p:cNvPr id="29" name="!!Orientación"/>
          <p:cNvGrpSpPr/>
          <p:nvPr/>
        </p:nvGrpSpPr>
        <p:grpSpPr>
          <a:xfrm>
            <a:off x="274320" y="4709160"/>
            <a:ext cx="2377440" cy="1600200"/>
            <a:chOff x="274320" y="4709160"/>
            <a:chExt cx="2377440" cy="1600200"/>
          </a:xfrm>
        </p:grpSpPr>
        <p:grpSp>
          <p:nvGrpSpPr>
            <p:cNvPr id="30" name="Mitocondria orientación"/>
            <p:cNvGrpSpPr/>
            <p:nvPr/>
          </p:nvGrpSpPr>
          <p:grpSpPr>
            <a:xfrm>
              <a:off x="274320" y="5120640"/>
              <a:ext cx="2103120" cy="1188720"/>
              <a:chOff x="274320" y="5120640"/>
              <a:chExt cx="2103120" cy="1188720"/>
            </a:xfrm>
          </p:grpSpPr>
          <p:sp>
            <p:nvSpPr>
              <p:cNvPr id="31" name="Membrana externa"/>
              <p:cNvSpPr/>
              <p:nvPr/>
            </p:nvSpPr>
            <p:spPr>
              <a:xfrm>
                <a:off x="274320" y="5120640"/>
                <a:ext cx="2103120" cy="118872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AD7A0"/>
                  </a:gs>
                  <a:gs pos="100000">
                    <a:srgbClr val="EB984E"/>
                  </a:gs>
                </a:gsLst>
                <a:path path="circle">
                  <a:fillToRect l="50000" t="50000" r="50000" b="50000"/>
                </a:path>
              </a:gradFill>
              <a:ln w="38100" cap="rnd">
                <a:solidFill>
                  <a:srgbClr val="784212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2" name="Membrana interna (matriz)"/>
              <p:cNvSpPr/>
              <p:nvPr/>
            </p:nvSpPr>
            <p:spPr>
              <a:xfrm>
                <a:off x="357530" y="5203850"/>
                <a:ext cx="1936699" cy="10222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EF5E7"/>
                  </a:gs>
                  <a:gs pos="100000">
                    <a:srgbClr val="FAD7A0"/>
                  </a:gs>
                </a:gsLst>
                <a:path path="circle">
                  <a:fillToRect l="50000" t="50000" r="50000" b="50000"/>
                </a:path>
              </a:gradFill>
              <a:ln w="44450" cap="rnd">
                <a:solidFill>
                  <a:srgbClr val="A04000"/>
                </a:solidFill>
                <a:round/>
              </a:ln>
            </p:spPr>
          </p:sp>
          <p:sp>
            <p:nvSpPr>
              <p:cNvPr id="33" name="Crestas"/>
              <p:cNvSpPr/>
              <p:nvPr/>
            </p:nvSpPr>
            <p:spPr>
              <a:xfrm>
                <a:off x="357530" y="5203850"/>
                <a:ext cx="1936699" cy="102229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70"/>
                    </a:moveTo>
                    <a:lnTo>
                      <a:pt x="90" y="330"/>
                    </a:lnTo>
                    <a:cubicBezTo>
                      <a:pt x="90" y="380"/>
                      <a:pt x="150" y="380"/>
                      <a:pt x="150" y="330"/>
                    </a:cubicBezTo>
                    <a:lnTo>
                      <a:pt x="150" y="70"/>
                    </a:lnTo>
                  </a:path>
                  <a:path w="1000" h="1000" fill="none">
                    <a:moveTo>
                      <a:pt x="216" y="930"/>
                    </a:moveTo>
                    <a:lnTo>
                      <a:pt x="216" y="670"/>
                    </a:lnTo>
                    <a:cubicBezTo>
                      <a:pt x="216" y="620"/>
                      <a:pt x="276" y="620"/>
                      <a:pt x="276" y="670"/>
                    </a:cubicBezTo>
                    <a:lnTo>
                      <a:pt x="276" y="930"/>
                    </a:lnTo>
                  </a:path>
                  <a:path w="1000" h="1000" fill="none">
                    <a:moveTo>
                      <a:pt x="343" y="70"/>
                    </a:moveTo>
                    <a:lnTo>
                      <a:pt x="343" y="330"/>
                    </a:lnTo>
                    <a:cubicBezTo>
                      <a:pt x="343" y="380"/>
                      <a:pt x="403" y="380"/>
                      <a:pt x="403" y="330"/>
                    </a:cubicBezTo>
                    <a:lnTo>
                      <a:pt x="403" y="70"/>
                    </a:lnTo>
                  </a:path>
                  <a:path w="1000" h="1000" fill="none">
                    <a:moveTo>
                      <a:pt x="470" y="930"/>
                    </a:moveTo>
                    <a:lnTo>
                      <a:pt x="470" y="670"/>
                    </a:lnTo>
                    <a:cubicBezTo>
                      <a:pt x="470" y="620"/>
                      <a:pt x="530" y="620"/>
                      <a:pt x="530" y="670"/>
                    </a:cubicBezTo>
                    <a:lnTo>
                      <a:pt x="530" y="930"/>
                    </a:lnTo>
                  </a:path>
                  <a:path w="1000" h="1000" fill="none">
                    <a:moveTo>
                      <a:pt x="596" y="70"/>
                    </a:moveTo>
                    <a:lnTo>
                      <a:pt x="596" y="330"/>
                    </a:lnTo>
                    <a:cubicBezTo>
                      <a:pt x="596" y="380"/>
                      <a:pt x="656" y="380"/>
                      <a:pt x="656" y="330"/>
                    </a:cubicBezTo>
                    <a:lnTo>
                      <a:pt x="656" y="70"/>
                    </a:lnTo>
                  </a:path>
                  <a:path w="1000" h="1000" fill="none">
                    <a:moveTo>
                      <a:pt x="723" y="930"/>
                    </a:moveTo>
                    <a:lnTo>
                      <a:pt x="723" y="670"/>
                    </a:lnTo>
                    <a:cubicBezTo>
                      <a:pt x="723" y="620"/>
                      <a:pt x="783" y="620"/>
                      <a:pt x="783" y="670"/>
                    </a:cubicBezTo>
                    <a:lnTo>
                      <a:pt x="783" y="930"/>
                    </a:lnTo>
                  </a:path>
                  <a:path w="1000" h="1000" fill="none">
                    <a:moveTo>
                      <a:pt x="850" y="70"/>
                    </a:moveTo>
                    <a:lnTo>
                      <a:pt x="850" y="330"/>
                    </a:lnTo>
                    <a:cubicBezTo>
                      <a:pt x="850" y="380"/>
                      <a:pt x="910" y="380"/>
                      <a:pt x="910" y="330"/>
                    </a:cubicBezTo>
                    <a:lnTo>
                      <a:pt x="910" y="70"/>
                    </a:lnTo>
                  </a:path>
                </a:pathLst>
              </a:custGeom>
              <a:noFill/>
              <a:ln w="38100" cap="rnd">
                <a:solidFill>
                  <a:srgbClr val="A04000"/>
                </a:solidFill>
                <a:round/>
              </a:ln>
            </p:spPr>
          </p:sp>
        </p:grpSp>
        <p:sp>
          <p:nvSpPr>
            <p:cNvPr id="34" name="Forma 33"/>
            <p:cNvSpPr/>
            <p:nvPr/>
          </p:nvSpPr>
          <p:spPr>
            <a:xfrm>
              <a:off x="1691640" y="5257800"/>
              <a:ext cx="502920" cy="502920"/>
            </a:xfrm>
            <a:prstGeom prst="ellipse">
              <a:avLst/>
            </a:prstGeom>
            <a:noFill/>
            <a:ln w="31750" cap="rnd">
              <a:solidFill>
                <a:srgbClr val="C00000"/>
              </a:solidFill>
              <a:round/>
            </a:ln>
          </p:spPr>
        </p:sp>
        <p:sp>
          <p:nvSpPr>
            <p:cNvPr id="35" name="Forma 34"/>
            <p:cNvSpPr txBox="1"/>
            <p:nvPr/>
          </p:nvSpPr>
          <p:spPr>
            <a:xfrm>
              <a:off x="274320" y="470916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zona ampliada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36" name="!!PDH"/>
          <p:cNvGrpSpPr/>
          <p:nvPr/>
        </p:nvGrpSpPr>
        <p:grpSpPr>
          <a:xfrm>
            <a:off x="5852160" y="4846320"/>
            <a:ext cx="2377440" cy="1600200"/>
            <a:chOff x="5852160" y="4846320"/>
            <a:chExt cx="2377440" cy="1600200"/>
          </a:xfrm>
        </p:grpSpPr>
        <p:sp>
          <p:nvSpPr>
            <p:cNvPr id="37" name="E1 mini"/>
            <p:cNvSpPr/>
            <p:nvPr/>
          </p:nvSpPr>
          <p:spPr>
            <a:xfrm>
              <a:off x="6035040" y="4846320"/>
              <a:ext cx="82296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8" name="E2 mini"/>
            <p:cNvSpPr/>
            <p:nvPr/>
          </p:nvSpPr>
          <p:spPr>
            <a:xfrm>
              <a:off x="6675120" y="5257800"/>
              <a:ext cx="914400" cy="8229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910" y="568"/>
                    <a:pt x="915" y="658"/>
                    <a:pt x="885" y="722"/>
                  </a:cubicBezTo>
                  <a:cubicBezTo>
                    <a:pt x="854" y="785"/>
                    <a:pt x="783" y="852"/>
                    <a:pt x="719" y="880"/>
                  </a:cubicBezTo>
                  <a:cubicBezTo>
                    <a:pt x="654" y="907"/>
                    <a:pt x="571" y="889"/>
                    <a:pt x="500" y="886"/>
                  </a:cubicBezTo>
                  <a:cubicBezTo>
                    <a:pt x="428" y="882"/>
                    <a:pt x="355" y="888"/>
                    <a:pt x="291" y="861"/>
                  </a:cubicBezTo>
                  <a:cubicBezTo>
                    <a:pt x="226" y="833"/>
                    <a:pt x="148" y="783"/>
                    <a:pt x="112" y="723"/>
                  </a:cubicBezTo>
                  <a:cubicBezTo>
                    <a:pt x="75" y="662"/>
                    <a:pt x="70" y="574"/>
                    <a:pt x="70" y="500"/>
                  </a:cubicBezTo>
                  <a:cubicBezTo>
                    <a:pt x="69" y="425"/>
                    <a:pt x="75" y="339"/>
                    <a:pt x="110" y="275"/>
                  </a:cubicBezTo>
                  <a:cubicBezTo>
                    <a:pt x="144" y="210"/>
                    <a:pt x="212" y="140"/>
                    <a:pt x="277" y="115"/>
                  </a:cubicBezTo>
                  <a:cubicBezTo>
                    <a:pt x="341" y="89"/>
                    <a:pt x="424" y="122"/>
                    <a:pt x="499" y="122"/>
                  </a:cubicBezTo>
                  <a:cubicBezTo>
                    <a:pt x="573" y="121"/>
                    <a:pt x="669" y="80"/>
                    <a:pt x="723" y="112"/>
                  </a:cubicBezTo>
                  <a:cubicBezTo>
                    <a:pt x="776" y="144"/>
                    <a:pt x="791" y="249"/>
                    <a:pt x="821" y="314"/>
                  </a:cubicBezTo>
                  <a:cubicBezTo>
                    <a:pt x="850" y="378"/>
                    <a:pt x="889" y="432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EDD0"/>
                </a:gs>
                <a:gs pos="55000">
                  <a:srgbClr val="82E0AA"/>
                </a:gs>
                <a:gs pos="100000">
                  <a:srgbClr val="61A87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17055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9" name="E3 mini"/>
            <p:cNvSpPr/>
            <p:nvPr/>
          </p:nvSpPr>
          <p:spPr>
            <a:xfrm>
              <a:off x="7360920" y="4846320"/>
              <a:ext cx="777240" cy="6858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49" y="500"/>
                  </a:moveTo>
                  <a:cubicBezTo>
                    <a:pt x="938" y="573"/>
                    <a:pt x="884" y="634"/>
                    <a:pt x="848" y="701"/>
                  </a:cubicBezTo>
                  <a:cubicBezTo>
                    <a:pt x="811" y="767"/>
                    <a:pt x="790" y="865"/>
                    <a:pt x="732" y="901"/>
                  </a:cubicBezTo>
                  <a:cubicBezTo>
                    <a:pt x="674" y="936"/>
                    <a:pt x="578" y="914"/>
                    <a:pt x="500" y="915"/>
                  </a:cubicBezTo>
                  <a:cubicBezTo>
                    <a:pt x="422" y="916"/>
                    <a:pt x="330" y="938"/>
                    <a:pt x="264" y="907"/>
                  </a:cubicBezTo>
                  <a:cubicBezTo>
                    <a:pt x="197" y="876"/>
                    <a:pt x="143" y="796"/>
                    <a:pt x="103" y="729"/>
                  </a:cubicBezTo>
                  <a:cubicBezTo>
                    <a:pt x="62" y="661"/>
                    <a:pt x="23" y="576"/>
                    <a:pt x="23" y="500"/>
                  </a:cubicBezTo>
                  <a:cubicBezTo>
                    <a:pt x="22" y="423"/>
                    <a:pt x="56" y="333"/>
                    <a:pt x="98" y="268"/>
                  </a:cubicBezTo>
                  <a:cubicBezTo>
                    <a:pt x="139" y="202"/>
                    <a:pt x="206" y="141"/>
                    <a:pt x="273" y="107"/>
                  </a:cubicBezTo>
                  <a:cubicBezTo>
                    <a:pt x="339" y="72"/>
                    <a:pt x="430" y="51"/>
                    <a:pt x="499" y="63"/>
                  </a:cubicBezTo>
                  <a:cubicBezTo>
                    <a:pt x="567" y="74"/>
                    <a:pt x="617" y="143"/>
                    <a:pt x="686" y="176"/>
                  </a:cubicBezTo>
                  <a:cubicBezTo>
                    <a:pt x="755" y="209"/>
                    <a:pt x="869" y="207"/>
                    <a:pt x="913" y="261"/>
                  </a:cubicBezTo>
                  <a:cubicBezTo>
                    <a:pt x="956" y="315"/>
                    <a:pt x="959" y="426"/>
                    <a:pt x="949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BDCF2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26074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0" name="Forma 39"/>
            <p:cNvSpPr txBox="1"/>
            <p:nvPr/>
          </p:nvSpPr>
          <p:spPr>
            <a:xfrm>
              <a:off x="5852160" y="61264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complejo PDH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41" name="!!Piruvato"/>
          <p:cNvSpPr/>
          <p:nvPr/>
        </p:nvSpPr>
        <p:spPr>
          <a:xfrm>
            <a:off x="914400" y="3401568"/>
            <a:ext cx="1463040" cy="5029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</a:t>
            </a:r>
            <a:endParaRPr lang="es-AR" sz="1500" dirty="0">
              <a:latin typeface="Calibri"/>
            </a:endParaRPr>
          </a:p>
        </p:txBody>
      </p:sp>
      <p:sp>
        <p:nvSpPr>
          <p:cNvPr id="42" name="Glucosa ing"/>
          <p:cNvSpPr/>
          <p:nvPr/>
        </p:nvSpPr>
        <p:spPr>
          <a:xfrm>
            <a:off x="822960" y="1737360"/>
            <a:ext cx="14630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FADD8"/>
              </a:gs>
              <a:gs pos="55000">
                <a:srgbClr val="3B82C4"/>
              </a:gs>
              <a:gs pos="100000">
                <a:srgbClr val="2F689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D41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Glucosa</a:t>
            </a:r>
            <a:endParaRPr lang="es-AR" sz="1400" dirty="0">
              <a:latin typeface="Calibri"/>
            </a:endParaRPr>
          </a:p>
        </p:txBody>
      </p:sp>
      <p:sp>
        <p:nvSpPr>
          <p:cNvPr id="43" name="Glucólisis ing"/>
          <p:cNvSpPr/>
          <p:nvPr/>
        </p:nvSpPr>
        <p:spPr>
          <a:xfrm>
            <a:off x="1554480" y="2240280"/>
            <a:ext cx="9144" cy="1097280"/>
          </a:xfrm>
          <a:custGeom>
            <a:avLst/>
            <a:gdLst/>
            <a:ahLst/>
            <a:cxnLst/>
            <a:rect l="0" t="0" r="r" b="b"/>
            <a:pathLst>
              <a:path w="10" h="1199" fill="none">
                <a:moveTo>
                  <a:pt x="0" y="0"/>
                </a:moveTo>
                <a:lnTo>
                  <a:pt x="0" y="1199"/>
                </a:lnTo>
              </a:path>
            </a:pathLst>
          </a:custGeom>
          <a:noFill/>
          <a:ln w="38100" cap="rnd">
            <a:solidFill>
              <a:srgbClr val="1E1E1E"/>
            </a:solidFill>
            <a:round/>
            <a:tailEnd type="triangle" w="med" len="med"/>
          </a:ln>
        </p:spPr>
      </p:sp>
      <p:sp>
        <p:nvSpPr>
          <p:cNvPr id="44" name="Rótulo glucólisis"/>
          <p:cNvSpPr/>
          <p:nvPr/>
        </p:nvSpPr>
        <p:spPr>
          <a:xfrm>
            <a:off x="1691640" y="2560320"/>
            <a:ext cx="873145" cy="251460"/>
          </a:xfrm>
          <a:prstGeom prst="rect">
            <a:avLst/>
          </a:prstGeom>
          <a:solidFill>
            <a:srgbClr val="FFF2CC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glucólisis</a:t>
            </a:r>
            <a:endParaRPr lang="es-AR" sz="1200" dirty="0">
              <a:latin typeface="Calibri"/>
            </a:endParaRPr>
          </a:p>
        </p:txBody>
      </p:sp>
      <p:grpSp>
        <p:nvGrpSpPr>
          <p:cNvPr id="45" name="Problema dos membranas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46" name="Forma 45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piruvato se forma en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citoplasma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pero el acetil-CoA se genera en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matriz mitocondrial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piruvato debe cruzar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dos membranas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8677656" y="1097280"/>
              <a:ext cx="1190756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INGRESO DEL PIRUVATO A LA MITOCONDRIA: EL PUNTO DE PARTIDA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4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0" grpId="0" animBg="1"/>
      <p:bldP spid="21" grpId="0" animBg="1"/>
      <p:bldP spid="22" grpId="0" animBg="1"/>
      <p:bldP spid="42" grpId="0" animBg="1"/>
      <p:bldP spid="43" grpId="0" animBg="1"/>
      <p:bldP spid="44" grpId="0" animBg="1"/>
      <p:bldP spid="41" grpId="0" animBg="1"/>
    </p:bld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sp>
        <p:nvSpPr>
          <p:cNvPr id="5" name="!!Zona citoplasma"/>
          <p:cNvSpPr/>
          <p:nvPr/>
        </p:nvSpPr>
        <p:spPr>
          <a:xfrm>
            <a:off x="0" y="914400"/>
            <a:ext cx="3017520" cy="5943600"/>
          </a:xfrm>
          <a:prstGeom prst="rect">
            <a:avLst/>
          </a:prstGeom>
          <a:solidFill>
            <a:srgbClr val="FAD7A0">
              <a:alpha val="55000"/>
            </a:srgbClr>
          </a:solidFill>
          <a:ln>
            <a:noFill/>
          </a:ln>
        </p:spPr>
      </p:sp>
      <p:sp>
        <p:nvSpPr>
          <p:cNvPr id="6" name="!!Espacio intermembrana"/>
          <p:cNvSpPr/>
          <p:nvPr/>
        </p:nvSpPr>
        <p:spPr>
          <a:xfrm>
            <a:off x="3520440" y="914400"/>
            <a:ext cx="1600200" cy="5943600"/>
          </a:xfrm>
          <a:prstGeom prst="rect">
            <a:avLst/>
          </a:prstGeom>
          <a:solidFill>
            <a:srgbClr val="FDEBD0">
              <a:alpha val="80000"/>
            </a:srgbClr>
          </a:solidFill>
          <a:ln>
            <a:noFill/>
          </a:ln>
        </p:spPr>
      </p:sp>
      <p:sp>
        <p:nvSpPr>
          <p:cNvPr id="7" name="!!Matriz"/>
          <p:cNvSpPr/>
          <p:nvPr/>
        </p:nvSpPr>
        <p:spPr>
          <a:xfrm>
            <a:off x="5623560" y="914400"/>
            <a:ext cx="2651760" cy="5943600"/>
          </a:xfrm>
          <a:prstGeom prst="rect">
            <a:avLst/>
          </a:prstGeom>
          <a:solidFill>
            <a:srgbClr val="FEF5E7">
              <a:alpha val="100000"/>
            </a:srgbClr>
          </a:solidFill>
          <a:ln>
            <a:noFill/>
          </a:ln>
        </p:spPr>
      </p:sp>
      <p:grpSp>
        <p:nvGrpSpPr>
          <p:cNvPr id="8" name="!!Membrana externa"/>
          <p:cNvGrpSpPr/>
          <p:nvPr/>
        </p:nvGrpSpPr>
        <p:grpSpPr>
          <a:xfrm>
            <a:off x="3017520" y="914400"/>
            <a:ext cx="502920" cy="5943600"/>
            <a:chOff x="3017520" y="914400"/>
            <a:chExt cx="502920" cy="5943600"/>
          </a:xfrm>
        </p:grpSpPr>
        <p:sp>
          <p:nvSpPr>
            <p:cNvPr id="9" name="Forma 8"/>
            <p:cNvSpPr/>
            <p:nvPr/>
          </p:nvSpPr>
          <p:spPr>
            <a:xfrm>
              <a:off x="3108046" y="914400"/>
              <a:ext cx="321869" cy="5943600"/>
            </a:xfrm>
            <a:prstGeom prst="rect">
              <a:avLst/>
            </a:prstGeom>
            <a:solidFill>
              <a:srgbClr val="FDEBD0"/>
            </a:solidFill>
            <a:ln>
              <a:noFill/>
            </a:ln>
          </p:spPr>
        </p:sp>
        <p:sp>
          <p:nvSpPr>
            <p:cNvPr id="10" name="Forma 9"/>
            <p:cNvSpPr/>
            <p:nvPr/>
          </p:nvSpPr>
          <p:spPr>
            <a:xfrm>
              <a:off x="3017520" y="914400"/>
              <a:ext cx="502920" cy="5943600"/>
            </a:xfrm>
            <a:custGeom>
              <a:avLst/>
              <a:gdLst/>
              <a:ahLst/>
              <a:cxnLst/>
              <a:rect l="0" t="0" r="r" b="b"/>
              <a:pathLst>
                <a:path w="550" h="6500">
                  <a:moveTo>
                    <a:pt x="94" y="50"/>
                  </a:moveTo>
                  <a:cubicBezTo>
                    <a:pt x="94" y="75"/>
                    <a:pt x="72" y="97"/>
                    <a:pt x="47" y="97"/>
                  </a:cubicBezTo>
                  <a:cubicBezTo>
                    <a:pt x="21" y="97"/>
                    <a:pt x="0" y="75"/>
                    <a:pt x="0" y="50"/>
                  </a:cubicBezTo>
                  <a:cubicBezTo>
                    <a:pt x="0" y="24"/>
                    <a:pt x="21" y="3"/>
                    <a:pt x="47" y="3"/>
                  </a:cubicBezTo>
                  <a:cubicBezTo>
                    <a:pt x="72" y="3"/>
                    <a:pt x="94" y="24"/>
                    <a:pt x="94" y="50"/>
                  </a:cubicBezTo>
                  <a:close/>
                  <a:moveTo>
                    <a:pt x="94" y="150"/>
                  </a:moveTo>
                  <a:cubicBezTo>
                    <a:pt x="94" y="175"/>
                    <a:pt x="72" y="197"/>
                    <a:pt x="47" y="197"/>
                  </a:cubicBezTo>
                  <a:cubicBezTo>
                    <a:pt x="21" y="197"/>
                    <a:pt x="0" y="175"/>
                    <a:pt x="0" y="150"/>
                  </a:cubicBezTo>
                  <a:cubicBezTo>
                    <a:pt x="0" y="124"/>
                    <a:pt x="21" y="103"/>
                    <a:pt x="47" y="103"/>
                  </a:cubicBezTo>
                  <a:cubicBezTo>
                    <a:pt x="72" y="103"/>
                    <a:pt x="94" y="124"/>
                    <a:pt x="94" y="150"/>
                  </a:cubicBezTo>
                  <a:close/>
                  <a:moveTo>
                    <a:pt x="94" y="250"/>
                  </a:moveTo>
                  <a:cubicBezTo>
                    <a:pt x="94" y="275"/>
                    <a:pt x="72" y="297"/>
                    <a:pt x="47" y="297"/>
                  </a:cubicBezTo>
                  <a:cubicBezTo>
                    <a:pt x="21" y="297"/>
                    <a:pt x="0" y="275"/>
                    <a:pt x="0" y="250"/>
                  </a:cubicBezTo>
                  <a:cubicBezTo>
                    <a:pt x="0" y="224"/>
                    <a:pt x="21" y="203"/>
                    <a:pt x="47" y="203"/>
                  </a:cubicBezTo>
                  <a:cubicBezTo>
                    <a:pt x="72" y="203"/>
                    <a:pt x="94" y="224"/>
                    <a:pt x="94" y="250"/>
                  </a:cubicBezTo>
                  <a:close/>
                  <a:moveTo>
                    <a:pt x="94" y="350"/>
                  </a:moveTo>
                  <a:cubicBezTo>
                    <a:pt x="94" y="375"/>
                    <a:pt x="72" y="397"/>
                    <a:pt x="47" y="397"/>
                  </a:cubicBezTo>
                  <a:cubicBezTo>
                    <a:pt x="21" y="397"/>
                    <a:pt x="0" y="375"/>
                    <a:pt x="0" y="350"/>
                  </a:cubicBezTo>
                  <a:cubicBezTo>
                    <a:pt x="0" y="324"/>
                    <a:pt x="21" y="303"/>
                    <a:pt x="47" y="303"/>
                  </a:cubicBezTo>
                  <a:cubicBezTo>
                    <a:pt x="72" y="303"/>
                    <a:pt x="94" y="324"/>
                    <a:pt x="94" y="350"/>
                  </a:cubicBezTo>
                  <a:close/>
                  <a:moveTo>
                    <a:pt x="94" y="450"/>
                  </a:moveTo>
                  <a:cubicBezTo>
                    <a:pt x="94" y="475"/>
                    <a:pt x="72" y="497"/>
                    <a:pt x="47" y="497"/>
                  </a:cubicBezTo>
                  <a:cubicBezTo>
                    <a:pt x="21" y="497"/>
                    <a:pt x="0" y="475"/>
                    <a:pt x="0" y="450"/>
                  </a:cubicBezTo>
                  <a:cubicBezTo>
                    <a:pt x="0" y="424"/>
                    <a:pt x="21" y="403"/>
                    <a:pt x="47" y="403"/>
                  </a:cubicBezTo>
                  <a:cubicBezTo>
                    <a:pt x="72" y="403"/>
                    <a:pt x="94" y="424"/>
                    <a:pt x="94" y="450"/>
                  </a:cubicBezTo>
                  <a:close/>
                  <a:moveTo>
                    <a:pt x="94" y="550"/>
                  </a:moveTo>
                  <a:cubicBezTo>
                    <a:pt x="94" y="575"/>
                    <a:pt x="72" y="597"/>
                    <a:pt x="47" y="597"/>
                  </a:cubicBezTo>
                  <a:cubicBezTo>
                    <a:pt x="21" y="597"/>
                    <a:pt x="0" y="575"/>
                    <a:pt x="0" y="550"/>
                  </a:cubicBezTo>
                  <a:cubicBezTo>
                    <a:pt x="0" y="524"/>
                    <a:pt x="21" y="503"/>
                    <a:pt x="47" y="503"/>
                  </a:cubicBezTo>
                  <a:cubicBezTo>
                    <a:pt x="72" y="503"/>
                    <a:pt x="94" y="524"/>
                    <a:pt x="94" y="550"/>
                  </a:cubicBezTo>
                  <a:close/>
                  <a:moveTo>
                    <a:pt x="94" y="650"/>
                  </a:moveTo>
                  <a:cubicBezTo>
                    <a:pt x="94" y="675"/>
                    <a:pt x="72" y="697"/>
                    <a:pt x="47" y="697"/>
                  </a:cubicBezTo>
                  <a:cubicBezTo>
                    <a:pt x="21" y="697"/>
                    <a:pt x="0" y="675"/>
                    <a:pt x="0" y="650"/>
                  </a:cubicBezTo>
                  <a:cubicBezTo>
                    <a:pt x="0" y="624"/>
                    <a:pt x="21" y="603"/>
                    <a:pt x="47" y="603"/>
                  </a:cubicBezTo>
                  <a:cubicBezTo>
                    <a:pt x="72" y="603"/>
                    <a:pt x="94" y="624"/>
                    <a:pt x="94" y="650"/>
                  </a:cubicBezTo>
                  <a:close/>
                  <a:moveTo>
                    <a:pt x="94" y="750"/>
                  </a:moveTo>
                  <a:cubicBezTo>
                    <a:pt x="94" y="775"/>
                    <a:pt x="72" y="797"/>
                    <a:pt x="47" y="797"/>
                  </a:cubicBezTo>
                  <a:cubicBezTo>
                    <a:pt x="21" y="797"/>
                    <a:pt x="0" y="775"/>
                    <a:pt x="0" y="750"/>
                  </a:cubicBezTo>
                  <a:cubicBezTo>
                    <a:pt x="0" y="724"/>
                    <a:pt x="21" y="703"/>
                    <a:pt x="47" y="703"/>
                  </a:cubicBezTo>
                  <a:cubicBezTo>
                    <a:pt x="72" y="703"/>
                    <a:pt x="94" y="724"/>
                    <a:pt x="94" y="750"/>
                  </a:cubicBezTo>
                  <a:close/>
                  <a:moveTo>
                    <a:pt x="94" y="850"/>
                  </a:moveTo>
                  <a:cubicBezTo>
                    <a:pt x="94" y="875"/>
                    <a:pt x="72" y="897"/>
                    <a:pt x="47" y="897"/>
                  </a:cubicBezTo>
                  <a:cubicBezTo>
                    <a:pt x="21" y="897"/>
                    <a:pt x="0" y="875"/>
                    <a:pt x="0" y="850"/>
                  </a:cubicBezTo>
                  <a:cubicBezTo>
                    <a:pt x="0" y="824"/>
                    <a:pt x="21" y="803"/>
                    <a:pt x="47" y="803"/>
                  </a:cubicBezTo>
                  <a:cubicBezTo>
                    <a:pt x="72" y="803"/>
                    <a:pt x="94" y="824"/>
                    <a:pt x="94" y="850"/>
                  </a:cubicBezTo>
                  <a:close/>
                  <a:moveTo>
                    <a:pt x="94" y="950"/>
                  </a:moveTo>
                  <a:cubicBezTo>
                    <a:pt x="94" y="975"/>
                    <a:pt x="72" y="997"/>
                    <a:pt x="47" y="997"/>
                  </a:cubicBezTo>
                  <a:cubicBezTo>
                    <a:pt x="21" y="997"/>
                    <a:pt x="0" y="975"/>
                    <a:pt x="0" y="950"/>
                  </a:cubicBezTo>
                  <a:cubicBezTo>
                    <a:pt x="0" y="924"/>
                    <a:pt x="21" y="903"/>
                    <a:pt x="47" y="903"/>
                  </a:cubicBezTo>
                  <a:cubicBezTo>
                    <a:pt x="72" y="903"/>
                    <a:pt x="94" y="924"/>
                    <a:pt x="94" y="950"/>
                  </a:cubicBezTo>
                  <a:close/>
                  <a:moveTo>
                    <a:pt x="94" y="1050"/>
                  </a:moveTo>
                  <a:cubicBezTo>
                    <a:pt x="94" y="1075"/>
                    <a:pt x="72" y="1097"/>
                    <a:pt x="47" y="1097"/>
                  </a:cubicBezTo>
                  <a:cubicBezTo>
                    <a:pt x="21" y="1097"/>
                    <a:pt x="0" y="1075"/>
                    <a:pt x="0" y="1050"/>
                  </a:cubicBezTo>
                  <a:cubicBezTo>
                    <a:pt x="0" y="1024"/>
                    <a:pt x="21" y="1003"/>
                    <a:pt x="47" y="1003"/>
                  </a:cubicBezTo>
                  <a:cubicBezTo>
                    <a:pt x="72" y="1003"/>
                    <a:pt x="94" y="1024"/>
                    <a:pt x="94" y="1050"/>
                  </a:cubicBezTo>
                  <a:close/>
                  <a:moveTo>
                    <a:pt x="94" y="1150"/>
                  </a:moveTo>
                  <a:cubicBezTo>
                    <a:pt x="94" y="1175"/>
                    <a:pt x="72" y="1197"/>
                    <a:pt x="47" y="1197"/>
                  </a:cubicBezTo>
                  <a:cubicBezTo>
                    <a:pt x="21" y="1197"/>
                    <a:pt x="0" y="1175"/>
                    <a:pt x="0" y="1150"/>
                  </a:cubicBezTo>
                  <a:cubicBezTo>
                    <a:pt x="0" y="1124"/>
                    <a:pt x="21" y="1103"/>
                    <a:pt x="47" y="1103"/>
                  </a:cubicBezTo>
                  <a:cubicBezTo>
                    <a:pt x="72" y="1103"/>
                    <a:pt x="94" y="1124"/>
                    <a:pt x="94" y="1150"/>
                  </a:cubicBezTo>
                  <a:close/>
                  <a:moveTo>
                    <a:pt x="94" y="1250"/>
                  </a:moveTo>
                  <a:cubicBezTo>
                    <a:pt x="94" y="1275"/>
                    <a:pt x="72" y="1297"/>
                    <a:pt x="47" y="1297"/>
                  </a:cubicBezTo>
                  <a:cubicBezTo>
                    <a:pt x="21" y="1297"/>
                    <a:pt x="0" y="1275"/>
                    <a:pt x="0" y="1250"/>
                  </a:cubicBezTo>
                  <a:cubicBezTo>
                    <a:pt x="0" y="1224"/>
                    <a:pt x="21" y="1203"/>
                    <a:pt x="47" y="1203"/>
                  </a:cubicBezTo>
                  <a:cubicBezTo>
                    <a:pt x="72" y="1203"/>
                    <a:pt x="94" y="1224"/>
                    <a:pt x="94" y="1250"/>
                  </a:cubicBezTo>
                  <a:close/>
                  <a:moveTo>
                    <a:pt x="94" y="1350"/>
                  </a:moveTo>
                  <a:cubicBezTo>
                    <a:pt x="94" y="1375"/>
                    <a:pt x="72" y="1397"/>
                    <a:pt x="47" y="1397"/>
                  </a:cubicBezTo>
                  <a:cubicBezTo>
                    <a:pt x="21" y="1397"/>
                    <a:pt x="0" y="1375"/>
                    <a:pt x="0" y="1350"/>
                  </a:cubicBezTo>
                  <a:cubicBezTo>
                    <a:pt x="0" y="1324"/>
                    <a:pt x="21" y="1303"/>
                    <a:pt x="47" y="1303"/>
                  </a:cubicBezTo>
                  <a:cubicBezTo>
                    <a:pt x="72" y="1303"/>
                    <a:pt x="94" y="1324"/>
                    <a:pt x="94" y="1350"/>
                  </a:cubicBezTo>
                  <a:close/>
                  <a:moveTo>
                    <a:pt x="94" y="1450"/>
                  </a:moveTo>
                  <a:cubicBezTo>
                    <a:pt x="94" y="1475"/>
                    <a:pt x="72" y="1497"/>
                    <a:pt x="47" y="1497"/>
                  </a:cubicBezTo>
                  <a:cubicBezTo>
                    <a:pt x="21" y="1497"/>
                    <a:pt x="0" y="1475"/>
                    <a:pt x="0" y="1450"/>
                  </a:cubicBezTo>
                  <a:cubicBezTo>
                    <a:pt x="0" y="1424"/>
                    <a:pt x="21" y="1403"/>
                    <a:pt x="47" y="1403"/>
                  </a:cubicBezTo>
                  <a:cubicBezTo>
                    <a:pt x="72" y="1403"/>
                    <a:pt x="94" y="1424"/>
                    <a:pt x="94" y="1450"/>
                  </a:cubicBezTo>
                  <a:close/>
                  <a:moveTo>
                    <a:pt x="94" y="1550"/>
                  </a:moveTo>
                  <a:cubicBezTo>
                    <a:pt x="94" y="1575"/>
                    <a:pt x="72" y="1597"/>
                    <a:pt x="47" y="1597"/>
                  </a:cubicBezTo>
                  <a:cubicBezTo>
                    <a:pt x="21" y="1597"/>
                    <a:pt x="0" y="1575"/>
                    <a:pt x="0" y="1550"/>
                  </a:cubicBezTo>
                  <a:cubicBezTo>
                    <a:pt x="0" y="1524"/>
                    <a:pt x="21" y="1503"/>
                    <a:pt x="47" y="1503"/>
                  </a:cubicBezTo>
                  <a:cubicBezTo>
                    <a:pt x="72" y="1503"/>
                    <a:pt x="94" y="1524"/>
                    <a:pt x="94" y="1550"/>
                  </a:cubicBezTo>
                  <a:close/>
                  <a:moveTo>
                    <a:pt x="94" y="1650"/>
                  </a:moveTo>
                  <a:cubicBezTo>
                    <a:pt x="94" y="1675"/>
                    <a:pt x="72" y="1697"/>
                    <a:pt x="47" y="1697"/>
                  </a:cubicBezTo>
                  <a:cubicBezTo>
                    <a:pt x="21" y="1697"/>
                    <a:pt x="0" y="1675"/>
                    <a:pt x="0" y="1650"/>
                  </a:cubicBezTo>
                  <a:cubicBezTo>
                    <a:pt x="0" y="1624"/>
                    <a:pt x="21" y="1603"/>
                    <a:pt x="47" y="1603"/>
                  </a:cubicBezTo>
                  <a:cubicBezTo>
                    <a:pt x="72" y="1603"/>
                    <a:pt x="94" y="1624"/>
                    <a:pt x="94" y="1650"/>
                  </a:cubicBezTo>
                  <a:close/>
                  <a:moveTo>
                    <a:pt x="94" y="1750"/>
                  </a:moveTo>
                  <a:cubicBezTo>
                    <a:pt x="94" y="1775"/>
                    <a:pt x="72" y="1797"/>
                    <a:pt x="47" y="1797"/>
                  </a:cubicBezTo>
                  <a:cubicBezTo>
                    <a:pt x="21" y="1797"/>
                    <a:pt x="0" y="1775"/>
                    <a:pt x="0" y="1750"/>
                  </a:cubicBezTo>
                  <a:cubicBezTo>
                    <a:pt x="0" y="1724"/>
                    <a:pt x="21" y="1703"/>
                    <a:pt x="47" y="1703"/>
                  </a:cubicBezTo>
                  <a:cubicBezTo>
                    <a:pt x="72" y="1703"/>
                    <a:pt x="94" y="1724"/>
                    <a:pt x="94" y="1750"/>
                  </a:cubicBezTo>
                  <a:close/>
                  <a:moveTo>
                    <a:pt x="94" y="1850"/>
                  </a:moveTo>
                  <a:cubicBezTo>
                    <a:pt x="94" y="1875"/>
                    <a:pt x="72" y="1897"/>
                    <a:pt x="47" y="1897"/>
                  </a:cubicBezTo>
                  <a:cubicBezTo>
                    <a:pt x="21" y="1897"/>
                    <a:pt x="0" y="1875"/>
                    <a:pt x="0" y="1850"/>
                  </a:cubicBezTo>
                  <a:cubicBezTo>
                    <a:pt x="0" y="1824"/>
                    <a:pt x="21" y="1803"/>
                    <a:pt x="47" y="1803"/>
                  </a:cubicBezTo>
                  <a:cubicBezTo>
                    <a:pt x="72" y="1803"/>
                    <a:pt x="94" y="1824"/>
                    <a:pt x="94" y="1850"/>
                  </a:cubicBezTo>
                  <a:close/>
                  <a:moveTo>
                    <a:pt x="94" y="1950"/>
                  </a:moveTo>
                  <a:cubicBezTo>
                    <a:pt x="94" y="1975"/>
                    <a:pt x="72" y="1997"/>
                    <a:pt x="47" y="1997"/>
                  </a:cubicBezTo>
                  <a:cubicBezTo>
                    <a:pt x="21" y="1997"/>
                    <a:pt x="0" y="1975"/>
                    <a:pt x="0" y="1950"/>
                  </a:cubicBezTo>
                  <a:cubicBezTo>
                    <a:pt x="0" y="1924"/>
                    <a:pt x="21" y="1903"/>
                    <a:pt x="47" y="1903"/>
                  </a:cubicBezTo>
                  <a:cubicBezTo>
                    <a:pt x="72" y="1903"/>
                    <a:pt x="94" y="1924"/>
                    <a:pt x="94" y="1950"/>
                  </a:cubicBezTo>
                  <a:close/>
                  <a:moveTo>
                    <a:pt x="94" y="2050"/>
                  </a:moveTo>
                  <a:cubicBezTo>
                    <a:pt x="94" y="2075"/>
                    <a:pt x="72" y="2097"/>
                    <a:pt x="47" y="2097"/>
                  </a:cubicBezTo>
                  <a:cubicBezTo>
                    <a:pt x="21" y="2097"/>
                    <a:pt x="0" y="2075"/>
                    <a:pt x="0" y="2050"/>
                  </a:cubicBezTo>
                  <a:cubicBezTo>
                    <a:pt x="0" y="2024"/>
                    <a:pt x="21" y="2003"/>
                    <a:pt x="47" y="2003"/>
                  </a:cubicBezTo>
                  <a:cubicBezTo>
                    <a:pt x="72" y="2003"/>
                    <a:pt x="94" y="2024"/>
                    <a:pt x="94" y="2050"/>
                  </a:cubicBezTo>
                  <a:close/>
                  <a:moveTo>
                    <a:pt x="94" y="2150"/>
                  </a:moveTo>
                  <a:cubicBezTo>
                    <a:pt x="94" y="2175"/>
                    <a:pt x="72" y="2197"/>
                    <a:pt x="47" y="2197"/>
                  </a:cubicBezTo>
                  <a:cubicBezTo>
                    <a:pt x="21" y="2197"/>
                    <a:pt x="0" y="2175"/>
                    <a:pt x="0" y="2150"/>
                  </a:cubicBezTo>
                  <a:cubicBezTo>
                    <a:pt x="0" y="2124"/>
                    <a:pt x="21" y="2103"/>
                    <a:pt x="47" y="2103"/>
                  </a:cubicBezTo>
                  <a:cubicBezTo>
                    <a:pt x="72" y="2103"/>
                    <a:pt x="94" y="2124"/>
                    <a:pt x="94" y="2150"/>
                  </a:cubicBezTo>
                  <a:close/>
                  <a:moveTo>
                    <a:pt x="94" y="2250"/>
                  </a:moveTo>
                  <a:cubicBezTo>
                    <a:pt x="94" y="2275"/>
                    <a:pt x="72" y="2297"/>
                    <a:pt x="47" y="2297"/>
                  </a:cubicBezTo>
                  <a:cubicBezTo>
                    <a:pt x="21" y="2297"/>
                    <a:pt x="0" y="2275"/>
                    <a:pt x="0" y="2250"/>
                  </a:cubicBezTo>
                  <a:cubicBezTo>
                    <a:pt x="0" y="2224"/>
                    <a:pt x="21" y="2203"/>
                    <a:pt x="47" y="2203"/>
                  </a:cubicBezTo>
                  <a:cubicBezTo>
                    <a:pt x="72" y="2203"/>
                    <a:pt x="94" y="2224"/>
                    <a:pt x="94" y="2250"/>
                  </a:cubicBezTo>
                  <a:close/>
                  <a:moveTo>
                    <a:pt x="94" y="2350"/>
                  </a:moveTo>
                  <a:cubicBezTo>
                    <a:pt x="94" y="2375"/>
                    <a:pt x="72" y="2397"/>
                    <a:pt x="47" y="2397"/>
                  </a:cubicBezTo>
                  <a:cubicBezTo>
                    <a:pt x="21" y="2397"/>
                    <a:pt x="0" y="2375"/>
                    <a:pt x="0" y="2350"/>
                  </a:cubicBezTo>
                  <a:cubicBezTo>
                    <a:pt x="0" y="2324"/>
                    <a:pt x="21" y="2303"/>
                    <a:pt x="47" y="2303"/>
                  </a:cubicBezTo>
                  <a:cubicBezTo>
                    <a:pt x="72" y="2303"/>
                    <a:pt x="94" y="2324"/>
                    <a:pt x="94" y="2350"/>
                  </a:cubicBezTo>
                  <a:close/>
                  <a:moveTo>
                    <a:pt x="94" y="2450"/>
                  </a:moveTo>
                  <a:cubicBezTo>
                    <a:pt x="94" y="2475"/>
                    <a:pt x="72" y="2497"/>
                    <a:pt x="47" y="2497"/>
                  </a:cubicBezTo>
                  <a:cubicBezTo>
                    <a:pt x="21" y="2497"/>
                    <a:pt x="0" y="2475"/>
                    <a:pt x="0" y="2450"/>
                  </a:cubicBezTo>
                  <a:cubicBezTo>
                    <a:pt x="0" y="2424"/>
                    <a:pt x="21" y="2403"/>
                    <a:pt x="47" y="2403"/>
                  </a:cubicBezTo>
                  <a:cubicBezTo>
                    <a:pt x="72" y="2403"/>
                    <a:pt x="94" y="2424"/>
                    <a:pt x="94" y="2450"/>
                  </a:cubicBezTo>
                  <a:close/>
                  <a:moveTo>
                    <a:pt x="94" y="2550"/>
                  </a:moveTo>
                  <a:cubicBezTo>
                    <a:pt x="94" y="2575"/>
                    <a:pt x="72" y="2597"/>
                    <a:pt x="47" y="2597"/>
                  </a:cubicBezTo>
                  <a:cubicBezTo>
                    <a:pt x="21" y="2597"/>
                    <a:pt x="0" y="2575"/>
                    <a:pt x="0" y="2550"/>
                  </a:cubicBezTo>
                  <a:cubicBezTo>
                    <a:pt x="0" y="2524"/>
                    <a:pt x="21" y="2503"/>
                    <a:pt x="47" y="2503"/>
                  </a:cubicBezTo>
                  <a:cubicBezTo>
                    <a:pt x="72" y="2503"/>
                    <a:pt x="94" y="2524"/>
                    <a:pt x="94" y="2550"/>
                  </a:cubicBezTo>
                  <a:close/>
                  <a:moveTo>
                    <a:pt x="94" y="2650"/>
                  </a:moveTo>
                  <a:cubicBezTo>
                    <a:pt x="94" y="2675"/>
                    <a:pt x="72" y="2697"/>
                    <a:pt x="47" y="2697"/>
                  </a:cubicBezTo>
                  <a:cubicBezTo>
                    <a:pt x="21" y="2697"/>
                    <a:pt x="0" y="2675"/>
                    <a:pt x="0" y="2650"/>
                  </a:cubicBezTo>
                  <a:cubicBezTo>
                    <a:pt x="0" y="2624"/>
                    <a:pt x="21" y="2603"/>
                    <a:pt x="47" y="2603"/>
                  </a:cubicBezTo>
                  <a:cubicBezTo>
                    <a:pt x="72" y="2603"/>
                    <a:pt x="94" y="2624"/>
                    <a:pt x="94" y="2650"/>
                  </a:cubicBezTo>
                  <a:close/>
                  <a:moveTo>
                    <a:pt x="94" y="2750"/>
                  </a:moveTo>
                  <a:cubicBezTo>
                    <a:pt x="94" y="2775"/>
                    <a:pt x="72" y="2797"/>
                    <a:pt x="47" y="2797"/>
                  </a:cubicBezTo>
                  <a:cubicBezTo>
                    <a:pt x="21" y="2797"/>
                    <a:pt x="0" y="2775"/>
                    <a:pt x="0" y="2750"/>
                  </a:cubicBezTo>
                  <a:cubicBezTo>
                    <a:pt x="0" y="2724"/>
                    <a:pt x="21" y="2703"/>
                    <a:pt x="47" y="2703"/>
                  </a:cubicBezTo>
                  <a:cubicBezTo>
                    <a:pt x="72" y="2703"/>
                    <a:pt x="94" y="2724"/>
                    <a:pt x="94" y="2750"/>
                  </a:cubicBezTo>
                  <a:close/>
                  <a:moveTo>
                    <a:pt x="94" y="2850"/>
                  </a:moveTo>
                  <a:cubicBezTo>
                    <a:pt x="94" y="2875"/>
                    <a:pt x="72" y="2897"/>
                    <a:pt x="47" y="2897"/>
                  </a:cubicBezTo>
                  <a:cubicBezTo>
                    <a:pt x="21" y="2897"/>
                    <a:pt x="0" y="2875"/>
                    <a:pt x="0" y="2850"/>
                  </a:cubicBezTo>
                  <a:cubicBezTo>
                    <a:pt x="0" y="2824"/>
                    <a:pt x="21" y="2803"/>
                    <a:pt x="47" y="2803"/>
                  </a:cubicBezTo>
                  <a:cubicBezTo>
                    <a:pt x="72" y="2803"/>
                    <a:pt x="94" y="2824"/>
                    <a:pt x="94" y="2850"/>
                  </a:cubicBezTo>
                  <a:close/>
                  <a:moveTo>
                    <a:pt x="94" y="2950"/>
                  </a:moveTo>
                  <a:cubicBezTo>
                    <a:pt x="94" y="2975"/>
                    <a:pt x="72" y="2997"/>
                    <a:pt x="47" y="2997"/>
                  </a:cubicBezTo>
                  <a:cubicBezTo>
                    <a:pt x="21" y="2997"/>
                    <a:pt x="0" y="2975"/>
                    <a:pt x="0" y="2950"/>
                  </a:cubicBezTo>
                  <a:cubicBezTo>
                    <a:pt x="0" y="2924"/>
                    <a:pt x="21" y="2903"/>
                    <a:pt x="47" y="2903"/>
                  </a:cubicBezTo>
                  <a:cubicBezTo>
                    <a:pt x="72" y="2903"/>
                    <a:pt x="94" y="2924"/>
                    <a:pt x="94" y="2950"/>
                  </a:cubicBezTo>
                  <a:close/>
                  <a:moveTo>
                    <a:pt x="94" y="3050"/>
                  </a:moveTo>
                  <a:cubicBezTo>
                    <a:pt x="94" y="3075"/>
                    <a:pt x="72" y="3097"/>
                    <a:pt x="47" y="3097"/>
                  </a:cubicBezTo>
                  <a:cubicBezTo>
                    <a:pt x="21" y="3097"/>
                    <a:pt x="0" y="3075"/>
                    <a:pt x="0" y="3050"/>
                  </a:cubicBezTo>
                  <a:cubicBezTo>
                    <a:pt x="0" y="3024"/>
                    <a:pt x="21" y="3003"/>
                    <a:pt x="47" y="3003"/>
                  </a:cubicBezTo>
                  <a:cubicBezTo>
                    <a:pt x="72" y="3003"/>
                    <a:pt x="94" y="3024"/>
                    <a:pt x="94" y="3050"/>
                  </a:cubicBezTo>
                  <a:close/>
                  <a:moveTo>
                    <a:pt x="94" y="3150"/>
                  </a:moveTo>
                  <a:cubicBezTo>
                    <a:pt x="94" y="3175"/>
                    <a:pt x="72" y="3197"/>
                    <a:pt x="47" y="3197"/>
                  </a:cubicBezTo>
                  <a:cubicBezTo>
                    <a:pt x="21" y="3197"/>
                    <a:pt x="0" y="3175"/>
                    <a:pt x="0" y="3150"/>
                  </a:cubicBezTo>
                  <a:cubicBezTo>
                    <a:pt x="0" y="3124"/>
                    <a:pt x="21" y="3103"/>
                    <a:pt x="47" y="3103"/>
                  </a:cubicBezTo>
                  <a:cubicBezTo>
                    <a:pt x="72" y="3103"/>
                    <a:pt x="94" y="3124"/>
                    <a:pt x="94" y="3150"/>
                  </a:cubicBezTo>
                  <a:close/>
                  <a:moveTo>
                    <a:pt x="94" y="3250"/>
                  </a:moveTo>
                  <a:cubicBezTo>
                    <a:pt x="94" y="3275"/>
                    <a:pt x="72" y="3297"/>
                    <a:pt x="47" y="3297"/>
                  </a:cubicBezTo>
                  <a:cubicBezTo>
                    <a:pt x="21" y="3297"/>
                    <a:pt x="0" y="3275"/>
                    <a:pt x="0" y="3250"/>
                  </a:cubicBezTo>
                  <a:cubicBezTo>
                    <a:pt x="0" y="3224"/>
                    <a:pt x="21" y="3203"/>
                    <a:pt x="47" y="3203"/>
                  </a:cubicBezTo>
                  <a:cubicBezTo>
                    <a:pt x="72" y="3203"/>
                    <a:pt x="94" y="3224"/>
                    <a:pt x="94" y="3250"/>
                  </a:cubicBezTo>
                  <a:close/>
                  <a:moveTo>
                    <a:pt x="94" y="3350"/>
                  </a:moveTo>
                  <a:cubicBezTo>
                    <a:pt x="94" y="3375"/>
                    <a:pt x="72" y="3397"/>
                    <a:pt x="47" y="3397"/>
                  </a:cubicBezTo>
                  <a:cubicBezTo>
                    <a:pt x="21" y="3397"/>
                    <a:pt x="0" y="3375"/>
                    <a:pt x="0" y="3350"/>
                  </a:cubicBezTo>
                  <a:cubicBezTo>
                    <a:pt x="0" y="3324"/>
                    <a:pt x="21" y="3303"/>
                    <a:pt x="47" y="3303"/>
                  </a:cubicBezTo>
                  <a:cubicBezTo>
                    <a:pt x="72" y="3303"/>
                    <a:pt x="94" y="3324"/>
                    <a:pt x="94" y="3350"/>
                  </a:cubicBezTo>
                  <a:close/>
                  <a:moveTo>
                    <a:pt x="94" y="3450"/>
                  </a:moveTo>
                  <a:cubicBezTo>
                    <a:pt x="94" y="3475"/>
                    <a:pt x="72" y="3497"/>
                    <a:pt x="47" y="3497"/>
                  </a:cubicBezTo>
                  <a:cubicBezTo>
                    <a:pt x="21" y="3497"/>
                    <a:pt x="0" y="3475"/>
                    <a:pt x="0" y="3450"/>
                  </a:cubicBezTo>
                  <a:cubicBezTo>
                    <a:pt x="0" y="3424"/>
                    <a:pt x="21" y="3403"/>
                    <a:pt x="47" y="3403"/>
                  </a:cubicBezTo>
                  <a:cubicBezTo>
                    <a:pt x="72" y="3403"/>
                    <a:pt x="94" y="3424"/>
                    <a:pt x="94" y="3450"/>
                  </a:cubicBezTo>
                  <a:close/>
                  <a:moveTo>
                    <a:pt x="94" y="3550"/>
                  </a:moveTo>
                  <a:cubicBezTo>
                    <a:pt x="94" y="3575"/>
                    <a:pt x="72" y="3597"/>
                    <a:pt x="47" y="3597"/>
                  </a:cubicBezTo>
                  <a:cubicBezTo>
                    <a:pt x="21" y="3597"/>
                    <a:pt x="0" y="3575"/>
                    <a:pt x="0" y="3550"/>
                  </a:cubicBezTo>
                  <a:cubicBezTo>
                    <a:pt x="0" y="3524"/>
                    <a:pt x="21" y="3503"/>
                    <a:pt x="47" y="3503"/>
                  </a:cubicBezTo>
                  <a:cubicBezTo>
                    <a:pt x="72" y="3503"/>
                    <a:pt x="94" y="3524"/>
                    <a:pt x="94" y="3550"/>
                  </a:cubicBezTo>
                  <a:close/>
                  <a:moveTo>
                    <a:pt x="94" y="3650"/>
                  </a:moveTo>
                  <a:cubicBezTo>
                    <a:pt x="94" y="3675"/>
                    <a:pt x="72" y="3697"/>
                    <a:pt x="47" y="3697"/>
                  </a:cubicBezTo>
                  <a:cubicBezTo>
                    <a:pt x="21" y="3697"/>
                    <a:pt x="0" y="3675"/>
                    <a:pt x="0" y="3650"/>
                  </a:cubicBezTo>
                  <a:cubicBezTo>
                    <a:pt x="0" y="3624"/>
                    <a:pt x="21" y="3603"/>
                    <a:pt x="47" y="3603"/>
                  </a:cubicBezTo>
                  <a:cubicBezTo>
                    <a:pt x="72" y="3603"/>
                    <a:pt x="94" y="3624"/>
                    <a:pt x="94" y="3650"/>
                  </a:cubicBezTo>
                  <a:close/>
                  <a:moveTo>
                    <a:pt x="94" y="3750"/>
                  </a:moveTo>
                  <a:cubicBezTo>
                    <a:pt x="94" y="3775"/>
                    <a:pt x="72" y="3797"/>
                    <a:pt x="47" y="3797"/>
                  </a:cubicBezTo>
                  <a:cubicBezTo>
                    <a:pt x="21" y="3797"/>
                    <a:pt x="0" y="3775"/>
                    <a:pt x="0" y="3750"/>
                  </a:cubicBezTo>
                  <a:cubicBezTo>
                    <a:pt x="0" y="3724"/>
                    <a:pt x="21" y="3703"/>
                    <a:pt x="47" y="3703"/>
                  </a:cubicBezTo>
                  <a:cubicBezTo>
                    <a:pt x="72" y="3703"/>
                    <a:pt x="94" y="3724"/>
                    <a:pt x="94" y="3750"/>
                  </a:cubicBezTo>
                  <a:close/>
                  <a:moveTo>
                    <a:pt x="94" y="3850"/>
                  </a:moveTo>
                  <a:cubicBezTo>
                    <a:pt x="94" y="3875"/>
                    <a:pt x="72" y="3897"/>
                    <a:pt x="47" y="3897"/>
                  </a:cubicBezTo>
                  <a:cubicBezTo>
                    <a:pt x="21" y="3897"/>
                    <a:pt x="0" y="3875"/>
                    <a:pt x="0" y="3850"/>
                  </a:cubicBezTo>
                  <a:cubicBezTo>
                    <a:pt x="0" y="3824"/>
                    <a:pt x="21" y="3803"/>
                    <a:pt x="47" y="3803"/>
                  </a:cubicBezTo>
                  <a:cubicBezTo>
                    <a:pt x="72" y="3803"/>
                    <a:pt x="94" y="3824"/>
                    <a:pt x="94" y="3850"/>
                  </a:cubicBezTo>
                  <a:close/>
                  <a:moveTo>
                    <a:pt x="94" y="3950"/>
                  </a:moveTo>
                  <a:cubicBezTo>
                    <a:pt x="94" y="3975"/>
                    <a:pt x="72" y="3997"/>
                    <a:pt x="47" y="3997"/>
                  </a:cubicBezTo>
                  <a:cubicBezTo>
                    <a:pt x="21" y="3997"/>
                    <a:pt x="0" y="3975"/>
                    <a:pt x="0" y="3950"/>
                  </a:cubicBezTo>
                  <a:cubicBezTo>
                    <a:pt x="0" y="3924"/>
                    <a:pt x="21" y="3903"/>
                    <a:pt x="47" y="3903"/>
                  </a:cubicBezTo>
                  <a:cubicBezTo>
                    <a:pt x="72" y="3903"/>
                    <a:pt x="94" y="3924"/>
                    <a:pt x="94" y="3950"/>
                  </a:cubicBezTo>
                  <a:close/>
                  <a:moveTo>
                    <a:pt x="94" y="4050"/>
                  </a:moveTo>
                  <a:cubicBezTo>
                    <a:pt x="94" y="4075"/>
                    <a:pt x="72" y="4097"/>
                    <a:pt x="47" y="4097"/>
                  </a:cubicBezTo>
                  <a:cubicBezTo>
                    <a:pt x="21" y="4097"/>
                    <a:pt x="0" y="4075"/>
                    <a:pt x="0" y="4050"/>
                  </a:cubicBezTo>
                  <a:cubicBezTo>
                    <a:pt x="0" y="4024"/>
                    <a:pt x="21" y="4003"/>
                    <a:pt x="47" y="4003"/>
                  </a:cubicBezTo>
                  <a:cubicBezTo>
                    <a:pt x="72" y="4003"/>
                    <a:pt x="94" y="4024"/>
                    <a:pt x="94" y="4050"/>
                  </a:cubicBezTo>
                  <a:close/>
                  <a:moveTo>
                    <a:pt x="94" y="4150"/>
                  </a:moveTo>
                  <a:cubicBezTo>
                    <a:pt x="94" y="4175"/>
                    <a:pt x="72" y="4197"/>
                    <a:pt x="47" y="4197"/>
                  </a:cubicBezTo>
                  <a:cubicBezTo>
                    <a:pt x="21" y="4197"/>
                    <a:pt x="0" y="4175"/>
                    <a:pt x="0" y="4150"/>
                  </a:cubicBezTo>
                  <a:cubicBezTo>
                    <a:pt x="0" y="4124"/>
                    <a:pt x="21" y="4103"/>
                    <a:pt x="47" y="4103"/>
                  </a:cubicBezTo>
                  <a:cubicBezTo>
                    <a:pt x="72" y="4103"/>
                    <a:pt x="94" y="4124"/>
                    <a:pt x="94" y="4150"/>
                  </a:cubicBezTo>
                  <a:close/>
                  <a:moveTo>
                    <a:pt x="94" y="4250"/>
                  </a:moveTo>
                  <a:cubicBezTo>
                    <a:pt x="94" y="4275"/>
                    <a:pt x="72" y="4297"/>
                    <a:pt x="47" y="4297"/>
                  </a:cubicBezTo>
                  <a:cubicBezTo>
                    <a:pt x="21" y="4297"/>
                    <a:pt x="0" y="4275"/>
                    <a:pt x="0" y="4250"/>
                  </a:cubicBezTo>
                  <a:cubicBezTo>
                    <a:pt x="0" y="4224"/>
                    <a:pt x="21" y="4203"/>
                    <a:pt x="47" y="4203"/>
                  </a:cubicBezTo>
                  <a:cubicBezTo>
                    <a:pt x="72" y="4203"/>
                    <a:pt x="94" y="4224"/>
                    <a:pt x="94" y="4250"/>
                  </a:cubicBezTo>
                  <a:close/>
                  <a:moveTo>
                    <a:pt x="94" y="4350"/>
                  </a:moveTo>
                  <a:cubicBezTo>
                    <a:pt x="94" y="4375"/>
                    <a:pt x="72" y="4397"/>
                    <a:pt x="47" y="4397"/>
                  </a:cubicBezTo>
                  <a:cubicBezTo>
                    <a:pt x="21" y="4397"/>
                    <a:pt x="0" y="4375"/>
                    <a:pt x="0" y="4350"/>
                  </a:cubicBezTo>
                  <a:cubicBezTo>
                    <a:pt x="0" y="4324"/>
                    <a:pt x="21" y="4303"/>
                    <a:pt x="47" y="4303"/>
                  </a:cubicBezTo>
                  <a:cubicBezTo>
                    <a:pt x="72" y="4303"/>
                    <a:pt x="94" y="4324"/>
                    <a:pt x="94" y="4350"/>
                  </a:cubicBezTo>
                  <a:close/>
                  <a:moveTo>
                    <a:pt x="94" y="4450"/>
                  </a:moveTo>
                  <a:cubicBezTo>
                    <a:pt x="94" y="4475"/>
                    <a:pt x="72" y="4497"/>
                    <a:pt x="47" y="4497"/>
                  </a:cubicBezTo>
                  <a:cubicBezTo>
                    <a:pt x="21" y="4497"/>
                    <a:pt x="0" y="4475"/>
                    <a:pt x="0" y="4450"/>
                  </a:cubicBezTo>
                  <a:cubicBezTo>
                    <a:pt x="0" y="4424"/>
                    <a:pt x="21" y="4403"/>
                    <a:pt x="47" y="4403"/>
                  </a:cubicBezTo>
                  <a:cubicBezTo>
                    <a:pt x="72" y="4403"/>
                    <a:pt x="94" y="4424"/>
                    <a:pt x="94" y="4450"/>
                  </a:cubicBezTo>
                  <a:close/>
                  <a:moveTo>
                    <a:pt x="94" y="4550"/>
                  </a:moveTo>
                  <a:cubicBezTo>
                    <a:pt x="94" y="4575"/>
                    <a:pt x="72" y="4597"/>
                    <a:pt x="47" y="4597"/>
                  </a:cubicBezTo>
                  <a:cubicBezTo>
                    <a:pt x="21" y="4597"/>
                    <a:pt x="0" y="4575"/>
                    <a:pt x="0" y="4550"/>
                  </a:cubicBezTo>
                  <a:cubicBezTo>
                    <a:pt x="0" y="4524"/>
                    <a:pt x="21" y="4503"/>
                    <a:pt x="47" y="4503"/>
                  </a:cubicBezTo>
                  <a:cubicBezTo>
                    <a:pt x="72" y="4503"/>
                    <a:pt x="94" y="4524"/>
                    <a:pt x="94" y="4550"/>
                  </a:cubicBezTo>
                  <a:close/>
                  <a:moveTo>
                    <a:pt x="94" y="4650"/>
                  </a:moveTo>
                  <a:cubicBezTo>
                    <a:pt x="94" y="4675"/>
                    <a:pt x="72" y="4697"/>
                    <a:pt x="47" y="4697"/>
                  </a:cubicBezTo>
                  <a:cubicBezTo>
                    <a:pt x="21" y="4697"/>
                    <a:pt x="0" y="4675"/>
                    <a:pt x="0" y="4650"/>
                  </a:cubicBezTo>
                  <a:cubicBezTo>
                    <a:pt x="0" y="4624"/>
                    <a:pt x="21" y="4603"/>
                    <a:pt x="47" y="4603"/>
                  </a:cubicBezTo>
                  <a:cubicBezTo>
                    <a:pt x="72" y="4603"/>
                    <a:pt x="94" y="4624"/>
                    <a:pt x="94" y="4650"/>
                  </a:cubicBezTo>
                  <a:close/>
                  <a:moveTo>
                    <a:pt x="94" y="4750"/>
                  </a:moveTo>
                  <a:cubicBezTo>
                    <a:pt x="94" y="4775"/>
                    <a:pt x="72" y="4797"/>
                    <a:pt x="47" y="4797"/>
                  </a:cubicBezTo>
                  <a:cubicBezTo>
                    <a:pt x="21" y="4797"/>
                    <a:pt x="0" y="4775"/>
                    <a:pt x="0" y="4750"/>
                  </a:cubicBezTo>
                  <a:cubicBezTo>
                    <a:pt x="0" y="4724"/>
                    <a:pt x="21" y="4703"/>
                    <a:pt x="47" y="4703"/>
                  </a:cubicBezTo>
                  <a:cubicBezTo>
                    <a:pt x="72" y="4703"/>
                    <a:pt x="94" y="4724"/>
                    <a:pt x="94" y="4750"/>
                  </a:cubicBezTo>
                  <a:close/>
                  <a:moveTo>
                    <a:pt x="94" y="4850"/>
                  </a:moveTo>
                  <a:cubicBezTo>
                    <a:pt x="94" y="4875"/>
                    <a:pt x="72" y="4897"/>
                    <a:pt x="47" y="4897"/>
                  </a:cubicBezTo>
                  <a:cubicBezTo>
                    <a:pt x="21" y="4897"/>
                    <a:pt x="0" y="4875"/>
                    <a:pt x="0" y="4850"/>
                  </a:cubicBezTo>
                  <a:cubicBezTo>
                    <a:pt x="0" y="4824"/>
                    <a:pt x="21" y="4803"/>
                    <a:pt x="47" y="4803"/>
                  </a:cubicBezTo>
                  <a:cubicBezTo>
                    <a:pt x="72" y="4803"/>
                    <a:pt x="94" y="4824"/>
                    <a:pt x="94" y="4850"/>
                  </a:cubicBezTo>
                  <a:close/>
                  <a:moveTo>
                    <a:pt x="94" y="4950"/>
                  </a:moveTo>
                  <a:cubicBezTo>
                    <a:pt x="94" y="4975"/>
                    <a:pt x="72" y="4997"/>
                    <a:pt x="47" y="4997"/>
                  </a:cubicBezTo>
                  <a:cubicBezTo>
                    <a:pt x="21" y="4997"/>
                    <a:pt x="0" y="4975"/>
                    <a:pt x="0" y="4950"/>
                  </a:cubicBezTo>
                  <a:cubicBezTo>
                    <a:pt x="0" y="4924"/>
                    <a:pt x="21" y="4903"/>
                    <a:pt x="47" y="4903"/>
                  </a:cubicBezTo>
                  <a:cubicBezTo>
                    <a:pt x="72" y="4903"/>
                    <a:pt x="94" y="4924"/>
                    <a:pt x="94" y="4950"/>
                  </a:cubicBezTo>
                  <a:close/>
                  <a:moveTo>
                    <a:pt x="94" y="5050"/>
                  </a:moveTo>
                  <a:cubicBezTo>
                    <a:pt x="94" y="5075"/>
                    <a:pt x="72" y="5097"/>
                    <a:pt x="47" y="5097"/>
                  </a:cubicBezTo>
                  <a:cubicBezTo>
                    <a:pt x="21" y="5097"/>
                    <a:pt x="0" y="5075"/>
                    <a:pt x="0" y="5050"/>
                  </a:cubicBezTo>
                  <a:cubicBezTo>
                    <a:pt x="0" y="5024"/>
                    <a:pt x="21" y="5003"/>
                    <a:pt x="47" y="5003"/>
                  </a:cubicBezTo>
                  <a:cubicBezTo>
                    <a:pt x="72" y="5003"/>
                    <a:pt x="94" y="5024"/>
                    <a:pt x="94" y="5050"/>
                  </a:cubicBezTo>
                  <a:close/>
                  <a:moveTo>
                    <a:pt x="94" y="5150"/>
                  </a:moveTo>
                  <a:cubicBezTo>
                    <a:pt x="94" y="5175"/>
                    <a:pt x="72" y="5197"/>
                    <a:pt x="47" y="5197"/>
                  </a:cubicBezTo>
                  <a:cubicBezTo>
                    <a:pt x="21" y="5197"/>
                    <a:pt x="0" y="5175"/>
                    <a:pt x="0" y="5150"/>
                  </a:cubicBezTo>
                  <a:cubicBezTo>
                    <a:pt x="0" y="5124"/>
                    <a:pt x="21" y="5103"/>
                    <a:pt x="47" y="5103"/>
                  </a:cubicBezTo>
                  <a:cubicBezTo>
                    <a:pt x="72" y="5103"/>
                    <a:pt x="94" y="5124"/>
                    <a:pt x="94" y="5150"/>
                  </a:cubicBezTo>
                  <a:close/>
                  <a:moveTo>
                    <a:pt x="94" y="5250"/>
                  </a:moveTo>
                  <a:cubicBezTo>
                    <a:pt x="94" y="5275"/>
                    <a:pt x="72" y="5297"/>
                    <a:pt x="47" y="5297"/>
                  </a:cubicBezTo>
                  <a:cubicBezTo>
                    <a:pt x="21" y="5297"/>
                    <a:pt x="0" y="5275"/>
                    <a:pt x="0" y="5250"/>
                  </a:cubicBezTo>
                  <a:cubicBezTo>
                    <a:pt x="0" y="5224"/>
                    <a:pt x="21" y="5203"/>
                    <a:pt x="47" y="5203"/>
                  </a:cubicBezTo>
                  <a:cubicBezTo>
                    <a:pt x="72" y="5203"/>
                    <a:pt x="94" y="5224"/>
                    <a:pt x="94" y="5250"/>
                  </a:cubicBezTo>
                  <a:close/>
                  <a:moveTo>
                    <a:pt x="94" y="5350"/>
                  </a:moveTo>
                  <a:cubicBezTo>
                    <a:pt x="94" y="5375"/>
                    <a:pt x="72" y="5397"/>
                    <a:pt x="47" y="5397"/>
                  </a:cubicBezTo>
                  <a:cubicBezTo>
                    <a:pt x="21" y="5397"/>
                    <a:pt x="0" y="5375"/>
                    <a:pt x="0" y="5350"/>
                  </a:cubicBezTo>
                  <a:cubicBezTo>
                    <a:pt x="0" y="5324"/>
                    <a:pt x="21" y="5303"/>
                    <a:pt x="47" y="5303"/>
                  </a:cubicBezTo>
                  <a:cubicBezTo>
                    <a:pt x="72" y="5303"/>
                    <a:pt x="94" y="5324"/>
                    <a:pt x="94" y="5350"/>
                  </a:cubicBezTo>
                  <a:close/>
                  <a:moveTo>
                    <a:pt x="94" y="5450"/>
                  </a:moveTo>
                  <a:cubicBezTo>
                    <a:pt x="94" y="5475"/>
                    <a:pt x="72" y="5497"/>
                    <a:pt x="47" y="5497"/>
                  </a:cubicBezTo>
                  <a:cubicBezTo>
                    <a:pt x="21" y="5497"/>
                    <a:pt x="0" y="5475"/>
                    <a:pt x="0" y="5450"/>
                  </a:cubicBezTo>
                  <a:cubicBezTo>
                    <a:pt x="0" y="5424"/>
                    <a:pt x="21" y="5403"/>
                    <a:pt x="47" y="5403"/>
                  </a:cubicBezTo>
                  <a:cubicBezTo>
                    <a:pt x="72" y="5403"/>
                    <a:pt x="94" y="5424"/>
                    <a:pt x="94" y="5450"/>
                  </a:cubicBezTo>
                  <a:close/>
                  <a:moveTo>
                    <a:pt x="94" y="5550"/>
                  </a:moveTo>
                  <a:cubicBezTo>
                    <a:pt x="94" y="5575"/>
                    <a:pt x="72" y="5597"/>
                    <a:pt x="47" y="5597"/>
                  </a:cubicBezTo>
                  <a:cubicBezTo>
                    <a:pt x="21" y="5597"/>
                    <a:pt x="0" y="5575"/>
                    <a:pt x="0" y="5550"/>
                  </a:cubicBezTo>
                  <a:cubicBezTo>
                    <a:pt x="0" y="5524"/>
                    <a:pt x="21" y="5503"/>
                    <a:pt x="47" y="5503"/>
                  </a:cubicBezTo>
                  <a:cubicBezTo>
                    <a:pt x="72" y="5503"/>
                    <a:pt x="94" y="5524"/>
                    <a:pt x="94" y="5550"/>
                  </a:cubicBezTo>
                  <a:close/>
                  <a:moveTo>
                    <a:pt x="94" y="5650"/>
                  </a:moveTo>
                  <a:cubicBezTo>
                    <a:pt x="94" y="5675"/>
                    <a:pt x="72" y="5697"/>
                    <a:pt x="47" y="5697"/>
                  </a:cubicBezTo>
                  <a:cubicBezTo>
                    <a:pt x="21" y="5697"/>
                    <a:pt x="0" y="5675"/>
                    <a:pt x="0" y="5650"/>
                  </a:cubicBezTo>
                  <a:cubicBezTo>
                    <a:pt x="0" y="5624"/>
                    <a:pt x="21" y="5603"/>
                    <a:pt x="47" y="5603"/>
                  </a:cubicBezTo>
                  <a:cubicBezTo>
                    <a:pt x="72" y="5603"/>
                    <a:pt x="94" y="5624"/>
                    <a:pt x="94" y="5650"/>
                  </a:cubicBezTo>
                  <a:close/>
                  <a:moveTo>
                    <a:pt x="94" y="5750"/>
                  </a:moveTo>
                  <a:cubicBezTo>
                    <a:pt x="94" y="5775"/>
                    <a:pt x="72" y="5797"/>
                    <a:pt x="47" y="5797"/>
                  </a:cubicBezTo>
                  <a:cubicBezTo>
                    <a:pt x="21" y="5797"/>
                    <a:pt x="0" y="5775"/>
                    <a:pt x="0" y="5750"/>
                  </a:cubicBezTo>
                  <a:cubicBezTo>
                    <a:pt x="0" y="5724"/>
                    <a:pt x="21" y="5703"/>
                    <a:pt x="47" y="5703"/>
                  </a:cubicBezTo>
                  <a:cubicBezTo>
                    <a:pt x="72" y="5703"/>
                    <a:pt x="94" y="5724"/>
                    <a:pt x="94" y="5750"/>
                  </a:cubicBezTo>
                  <a:close/>
                  <a:moveTo>
                    <a:pt x="94" y="5850"/>
                  </a:moveTo>
                  <a:cubicBezTo>
                    <a:pt x="94" y="5875"/>
                    <a:pt x="72" y="5897"/>
                    <a:pt x="47" y="5897"/>
                  </a:cubicBezTo>
                  <a:cubicBezTo>
                    <a:pt x="21" y="5897"/>
                    <a:pt x="0" y="5875"/>
                    <a:pt x="0" y="5850"/>
                  </a:cubicBezTo>
                  <a:cubicBezTo>
                    <a:pt x="0" y="5824"/>
                    <a:pt x="21" y="5803"/>
                    <a:pt x="47" y="5803"/>
                  </a:cubicBezTo>
                  <a:cubicBezTo>
                    <a:pt x="72" y="5803"/>
                    <a:pt x="94" y="5824"/>
                    <a:pt x="94" y="5850"/>
                  </a:cubicBezTo>
                  <a:close/>
                  <a:moveTo>
                    <a:pt x="94" y="5950"/>
                  </a:moveTo>
                  <a:cubicBezTo>
                    <a:pt x="94" y="5975"/>
                    <a:pt x="72" y="5997"/>
                    <a:pt x="47" y="5997"/>
                  </a:cubicBezTo>
                  <a:cubicBezTo>
                    <a:pt x="21" y="5997"/>
                    <a:pt x="0" y="5975"/>
                    <a:pt x="0" y="5950"/>
                  </a:cubicBezTo>
                  <a:cubicBezTo>
                    <a:pt x="0" y="5924"/>
                    <a:pt x="21" y="5903"/>
                    <a:pt x="47" y="5903"/>
                  </a:cubicBezTo>
                  <a:cubicBezTo>
                    <a:pt x="72" y="5903"/>
                    <a:pt x="94" y="5924"/>
                    <a:pt x="94" y="5950"/>
                  </a:cubicBezTo>
                  <a:close/>
                  <a:moveTo>
                    <a:pt x="94" y="6050"/>
                  </a:moveTo>
                  <a:cubicBezTo>
                    <a:pt x="94" y="6075"/>
                    <a:pt x="72" y="6097"/>
                    <a:pt x="47" y="6097"/>
                  </a:cubicBezTo>
                  <a:cubicBezTo>
                    <a:pt x="21" y="6097"/>
                    <a:pt x="0" y="6075"/>
                    <a:pt x="0" y="6050"/>
                  </a:cubicBezTo>
                  <a:cubicBezTo>
                    <a:pt x="0" y="6024"/>
                    <a:pt x="21" y="6003"/>
                    <a:pt x="47" y="6003"/>
                  </a:cubicBezTo>
                  <a:cubicBezTo>
                    <a:pt x="72" y="6003"/>
                    <a:pt x="94" y="6024"/>
                    <a:pt x="94" y="6050"/>
                  </a:cubicBezTo>
                  <a:close/>
                  <a:moveTo>
                    <a:pt x="94" y="6150"/>
                  </a:moveTo>
                  <a:cubicBezTo>
                    <a:pt x="94" y="6175"/>
                    <a:pt x="72" y="6197"/>
                    <a:pt x="47" y="6197"/>
                  </a:cubicBezTo>
                  <a:cubicBezTo>
                    <a:pt x="21" y="6197"/>
                    <a:pt x="0" y="6175"/>
                    <a:pt x="0" y="6150"/>
                  </a:cubicBezTo>
                  <a:cubicBezTo>
                    <a:pt x="0" y="6124"/>
                    <a:pt x="21" y="6103"/>
                    <a:pt x="47" y="6103"/>
                  </a:cubicBezTo>
                  <a:cubicBezTo>
                    <a:pt x="72" y="6103"/>
                    <a:pt x="94" y="6124"/>
                    <a:pt x="94" y="6150"/>
                  </a:cubicBezTo>
                  <a:close/>
                  <a:moveTo>
                    <a:pt x="94" y="6250"/>
                  </a:moveTo>
                  <a:cubicBezTo>
                    <a:pt x="94" y="6275"/>
                    <a:pt x="72" y="6297"/>
                    <a:pt x="47" y="6297"/>
                  </a:cubicBezTo>
                  <a:cubicBezTo>
                    <a:pt x="21" y="6297"/>
                    <a:pt x="0" y="6275"/>
                    <a:pt x="0" y="6250"/>
                  </a:cubicBezTo>
                  <a:cubicBezTo>
                    <a:pt x="0" y="6224"/>
                    <a:pt x="21" y="6203"/>
                    <a:pt x="47" y="6203"/>
                  </a:cubicBezTo>
                  <a:cubicBezTo>
                    <a:pt x="72" y="6203"/>
                    <a:pt x="94" y="6224"/>
                    <a:pt x="94" y="6250"/>
                  </a:cubicBezTo>
                  <a:close/>
                  <a:moveTo>
                    <a:pt x="94" y="6350"/>
                  </a:moveTo>
                  <a:cubicBezTo>
                    <a:pt x="94" y="6375"/>
                    <a:pt x="72" y="6397"/>
                    <a:pt x="47" y="6397"/>
                  </a:cubicBezTo>
                  <a:cubicBezTo>
                    <a:pt x="21" y="6397"/>
                    <a:pt x="0" y="6375"/>
                    <a:pt x="0" y="6350"/>
                  </a:cubicBezTo>
                  <a:cubicBezTo>
                    <a:pt x="0" y="6324"/>
                    <a:pt x="21" y="6303"/>
                    <a:pt x="47" y="6303"/>
                  </a:cubicBezTo>
                  <a:cubicBezTo>
                    <a:pt x="72" y="6303"/>
                    <a:pt x="94" y="6324"/>
                    <a:pt x="94" y="6350"/>
                  </a:cubicBezTo>
                  <a:close/>
                  <a:moveTo>
                    <a:pt x="94" y="6450"/>
                  </a:moveTo>
                  <a:cubicBezTo>
                    <a:pt x="94" y="6475"/>
                    <a:pt x="72" y="6497"/>
                    <a:pt x="47" y="6497"/>
                  </a:cubicBezTo>
                  <a:cubicBezTo>
                    <a:pt x="21" y="6497"/>
                    <a:pt x="0" y="6475"/>
                    <a:pt x="0" y="6450"/>
                  </a:cubicBezTo>
                  <a:cubicBezTo>
                    <a:pt x="0" y="6424"/>
                    <a:pt x="21" y="6403"/>
                    <a:pt x="47" y="6403"/>
                  </a:cubicBezTo>
                  <a:cubicBezTo>
                    <a:pt x="72" y="6403"/>
                    <a:pt x="94" y="6424"/>
                    <a:pt x="94" y="6450"/>
                  </a:cubicBezTo>
                  <a:close/>
                  <a:moveTo>
                    <a:pt x="550" y="50"/>
                  </a:moveTo>
                  <a:cubicBezTo>
                    <a:pt x="550" y="75"/>
                    <a:pt x="528" y="97"/>
                    <a:pt x="503" y="97"/>
                  </a:cubicBezTo>
                  <a:cubicBezTo>
                    <a:pt x="477" y="97"/>
                    <a:pt x="456" y="75"/>
                    <a:pt x="456" y="50"/>
                  </a:cubicBezTo>
                  <a:cubicBezTo>
                    <a:pt x="456" y="24"/>
                    <a:pt x="477" y="3"/>
                    <a:pt x="503" y="3"/>
                  </a:cubicBezTo>
                  <a:cubicBezTo>
                    <a:pt x="528" y="3"/>
                    <a:pt x="550" y="24"/>
                    <a:pt x="550" y="50"/>
                  </a:cubicBezTo>
                  <a:close/>
                  <a:moveTo>
                    <a:pt x="550" y="150"/>
                  </a:moveTo>
                  <a:cubicBezTo>
                    <a:pt x="550" y="175"/>
                    <a:pt x="528" y="197"/>
                    <a:pt x="503" y="197"/>
                  </a:cubicBezTo>
                  <a:cubicBezTo>
                    <a:pt x="477" y="197"/>
                    <a:pt x="456" y="175"/>
                    <a:pt x="456" y="150"/>
                  </a:cubicBezTo>
                  <a:cubicBezTo>
                    <a:pt x="456" y="124"/>
                    <a:pt x="477" y="103"/>
                    <a:pt x="503" y="103"/>
                  </a:cubicBezTo>
                  <a:cubicBezTo>
                    <a:pt x="528" y="103"/>
                    <a:pt x="550" y="124"/>
                    <a:pt x="550" y="150"/>
                  </a:cubicBezTo>
                  <a:close/>
                  <a:moveTo>
                    <a:pt x="550" y="250"/>
                  </a:moveTo>
                  <a:cubicBezTo>
                    <a:pt x="550" y="275"/>
                    <a:pt x="528" y="297"/>
                    <a:pt x="503" y="297"/>
                  </a:cubicBezTo>
                  <a:cubicBezTo>
                    <a:pt x="477" y="297"/>
                    <a:pt x="456" y="275"/>
                    <a:pt x="456" y="250"/>
                  </a:cubicBezTo>
                  <a:cubicBezTo>
                    <a:pt x="456" y="224"/>
                    <a:pt x="477" y="203"/>
                    <a:pt x="503" y="203"/>
                  </a:cubicBezTo>
                  <a:cubicBezTo>
                    <a:pt x="528" y="203"/>
                    <a:pt x="550" y="224"/>
                    <a:pt x="550" y="250"/>
                  </a:cubicBezTo>
                  <a:close/>
                  <a:moveTo>
                    <a:pt x="550" y="350"/>
                  </a:moveTo>
                  <a:cubicBezTo>
                    <a:pt x="550" y="375"/>
                    <a:pt x="528" y="397"/>
                    <a:pt x="503" y="397"/>
                  </a:cubicBezTo>
                  <a:cubicBezTo>
                    <a:pt x="477" y="397"/>
                    <a:pt x="456" y="375"/>
                    <a:pt x="456" y="350"/>
                  </a:cubicBezTo>
                  <a:cubicBezTo>
                    <a:pt x="456" y="324"/>
                    <a:pt x="477" y="303"/>
                    <a:pt x="503" y="303"/>
                  </a:cubicBezTo>
                  <a:cubicBezTo>
                    <a:pt x="528" y="303"/>
                    <a:pt x="550" y="324"/>
                    <a:pt x="550" y="350"/>
                  </a:cubicBezTo>
                  <a:close/>
                  <a:moveTo>
                    <a:pt x="550" y="450"/>
                  </a:moveTo>
                  <a:cubicBezTo>
                    <a:pt x="550" y="475"/>
                    <a:pt x="528" y="497"/>
                    <a:pt x="503" y="497"/>
                  </a:cubicBezTo>
                  <a:cubicBezTo>
                    <a:pt x="477" y="497"/>
                    <a:pt x="456" y="475"/>
                    <a:pt x="456" y="450"/>
                  </a:cubicBezTo>
                  <a:cubicBezTo>
                    <a:pt x="456" y="424"/>
                    <a:pt x="477" y="403"/>
                    <a:pt x="503" y="403"/>
                  </a:cubicBezTo>
                  <a:cubicBezTo>
                    <a:pt x="528" y="403"/>
                    <a:pt x="550" y="424"/>
                    <a:pt x="550" y="450"/>
                  </a:cubicBezTo>
                  <a:close/>
                  <a:moveTo>
                    <a:pt x="550" y="550"/>
                  </a:moveTo>
                  <a:cubicBezTo>
                    <a:pt x="550" y="575"/>
                    <a:pt x="528" y="597"/>
                    <a:pt x="503" y="597"/>
                  </a:cubicBezTo>
                  <a:cubicBezTo>
                    <a:pt x="477" y="597"/>
                    <a:pt x="456" y="575"/>
                    <a:pt x="456" y="550"/>
                  </a:cubicBezTo>
                  <a:cubicBezTo>
                    <a:pt x="456" y="524"/>
                    <a:pt x="477" y="503"/>
                    <a:pt x="503" y="503"/>
                  </a:cubicBezTo>
                  <a:cubicBezTo>
                    <a:pt x="528" y="503"/>
                    <a:pt x="550" y="524"/>
                    <a:pt x="550" y="550"/>
                  </a:cubicBezTo>
                  <a:close/>
                  <a:moveTo>
                    <a:pt x="550" y="650"/>
                  </a:moveTo>
                  <a:cubicBezTo>
                    <a:pt x="550" y="675"/>
                    <a:pt x="528" y="697"/>
                    <a:pt x="503" y="697"/>
                  </a:cubicBezTo>
                  <a:cubicBezTo>
                    <a:pt x="477" y="697"/>
                    <a:pt x="456" y="675"/>
                    <a:pt x="456" y="650"/>
                  </a:cubicBezTo>
                  <a:cubicBezTo>
                    <a:pt x="456" y="624"/>
                    <a:pt x="477" y="603"/>
                    <a:pt x="503" y="603"/>
                  </a:cubicBezTo>
                  <a:cubicBezTo>
                    <a:pt x="528" y="603"/>
                    <a:pt x="550" y="624"/>
                    <a:pt x="550" y="650"/>
                  </a:cubicBezTo>
                  <a:close/>
                  <a:moveTo>
                    <a:pt x="550" y="750"/>
                  </a:moveTo>
                  <a:cubicBezTo>
                    <a:pt x="550" y="775"/>
                    <a:pt x="528" y="797"/>
                    <a:pt x="503" y="797"/>
                  </a:cubicBezTo>
                  <a:cubicBezTo>
                    <a:pt x="477" y="797"/>
                    <a:pt x="456" y="775"/>
                    <a:pt x="456" y="750"/>
                  </a:cubicBezTo>
                  <a:cubicBezTo>
                    <a:pt x="456" y="724"/>
                    <a:pt x="477" y="703"/>
                    <a:pt x="503" y="703"/>
                  </a:cubicBezTo>
                  <a:cubicBezTo>
                    <a:pt x="528" y="703"/>
                    <a:pt x="550" y="724"/>
                    <a:pt x="550" y="750"/>
                  </a:cubicBezTo>
                  <a:close/>
                  <a:moveTo>
                    <a:pt x="550" y="850"/>
                  </a:moveTo>
                  <a:cubicBezTo>
                    <a:pt x="550" y="875"/>
                    <a:pt x="528" y="897"/>
                    <a:pt x="503" y="897"/>
                  </a:cubicBezTo>
                  <a:cubicBezTo>
                    <a:pt x="477" y="897"/>
                    <a:pt x="456" y="875"/>
                    <a:pt x="456" y="850"/>
                  </a:cubicBezTo>
                  <a:cubicBezTo>
                    <a:pt x="456" y="824"/>
                    <a:pt x="477" y="803"/>
                    <a:pt x="503" y="803"/>
                  </a:cubicBezTo>
                  <a:cubicBezTo>
                    <a:pt x="528" y="803"/>
                    <a:pt x="550" y="824"/>
                    <a:pt x="550" y="850"/>
                  </a:cubicBezTo>
                  <a:close/>
                  <a:moveTo>
                    <a:pt x="550" y="950"/>
                  </a:moveTo>
                  <a:cubicBezTo>
                    <a:pt x="550" y="975"/>
                    <a:pt x="528" y="997"/>
                    <a:pt x="503" y="997"/>
                  </a:cubicBezTo>
                  <a:cubicBezTo>
                    <a:pt x="477" y="997"/>
                    <a:pt x="456" y="975"/>
                    <a:pt x="456" y="950"/>
                  </a:cubicBezTo>
                  <a:cubicBezTo>
                    <a:pt x="456" y="924"/>
                    <a:pt x="477" y="903"/>
                    <a:pt x="503" y="903"/>
                  </a:cubicBezTo>
                  <a:cubicBezTo>
                    <a:pt x="528" y="903"/>
                    <a:pt x="550" y="924"/>
                    <a:pt x="550" y="950"/>
                  </a:cubicBezTo>
                  <a:close/>
                  <a:moveTo>
                    <a:pt x="550" y="1050"/>
                  </a:moveTo>
                  <a:cubicBezTo>
                    <a:pt x="550" y="1075"/>
                    <a:pt x="528" y="1097"/>
                    <a:pt x="503" y="1097"/>
                  </a:cubicBezTo>
                  <a:cubicBezTo>
                    <a:pt x="477" y="1097"/>
                    <a:pt x="456" y="1075"/>
                    <a:pt x="456" y="1050"/>
                  </a:cubicBezTo>
                  <a:cubicBezTo>
                    <a:pt x="456" y="1024"/>
                    <a:pt x="477" y="1003"/>
                    <a:pt x="503" y="1003"/>
                  </a:cubicBezTo>
                  <a:cubicBezTo>
                    <a:pt x="528" y="1003"/>
                    <a:pt x="550" y="1024"/>
                    <a:pt x="550" y="1050"/>
                  </a:cubicBezTo>
                  <a:close/>
                  <a:moveTo>
                    <a:pt x="550" y="1150"/>
                  </a:moveTo>
                  <a:cubicBezTo>
                    <a:pt x="550" y="1175"/>
                    <a:pt x="528" y="1197"/>
                    <a:pt x="503" y="1197"/>
                  </a:cubicBezTo>
                  <a:cubicBezTo>
                    <a:pt x="477" y="1197"/>
                    <a:pt x="456" y="1175"/>
                    <a:pt x="456" y="1150"/>
                  </a:cubicBezTo>
                  <a:cubicBezTo>
                    <a:pt x="456" y="1124"/>
                    <a:pt x="477" y="1103"/>
                    <a:pt x="503" y="1103"/>
                  </a:cubicBezTo>
                  <a:cubicBezTo>
                    <a:pt x="528" y="1103"/>
                    <a:pt x="550" y="1124"/>
                    <a:pt x="550" y="1150"/>
                  </a:cubicBezTo>
                  <a:close/>
                  <a:moveTo>
                    <a:pt x="550" y="1250"/>
                  </a:moveTo>
                  <a:cubicBezTo>
                    <a:pt x="550" y="1275"/>
                    <a:pt x="528" y="1297"/>
                    <a:pt x="503" y="1297"/>
                  </a:cubicBezTo>
                  <a:cubicBezTo>
                    <a:pt x="477" y="1297"/>
                    <a:pt x="456" y="1275"/>
                    <a:pt x="456" y="1250"/>
                  </a:cubicBezTo>
                  <a:cubicBezTo>
                    <a:pt x="456" y="1224"/>
                    <a:pt x="477" y="1203"/>
                    <a:pt x="503" y="1203"/>
                  </a:cubicBezTo>
                  <a:cubicBezTo>
                    <a:pt x="528" y="1203"/>
                    <a:pt x="550" y="1224"/>
                    <a:pt x="550" y="1250"/>
                  </a:cubicBezTo>
                  <a:close/>
                  <a:moveTo>
                    <a:pt x="550" y="1350"/>
                  </a:moveTo>
                  <a:cubicBezTo>
                    <a:pt x="550" y="1375"/>
                    <a:pt x="528" y="1397"/>
                    <a:pt x="503" y="1397"/>
                  </a:cubicBezTo>
                  <a:cubicBezTo>
                    <a:pt x="477" y="1397"/>
                    <a:pt x="456" y="1375"/>
                    <a:pt x="456" y="1350"/>
                  </a:cubicBezTo>
                  <a:cubicBezTo>
                    <a:pt x="456" y="1324"/>
                    <a:pt x="477" y="1303"/>
                    <a:pt x="503" y="1303"/>
                  </a:cubicBezTo>
                  <a:cubicBezTo>
                    <a:pt x="528" y="1303"/>
                    <a:pt x="550" y="1324"/>
                    <a:pt x="550" y="1350"/>
                  </a:cubicBezTo>
                  <a:close/>
                  <a:moveTo>
                    <a:pt x="550" y="1450"/>
                  </a:moveTo>
                  <a:cubicBezTo>
                    <a:pt x="550" y="1475"/>
                    <a:pt x="528" y="1497"/>
                    <a:pt x="503" y="1497"/>
                  </a:cubicBezTo>
                  <a:cubicBezTo>
                    <a:pt x="477" y="1497"/>
                    <a:pt x="456" y="1475"/>
                    <a:pt x="456" y="1450"/>
                  </a:cubicBezTo>
                  <a:cubicBezTo>
                    <a:pt x="456" y="1424"/>
                    <a:pt x="477" y="1403"/>
                    <a:pt x="503" y="1403"/>
                  </a:cubicBezTo>
                  <a:cubicBezTo>
                    <a:pt x="528" y="1403"/>
                    <a:pt x="550" y="1424"/>
                    <a:pt x="550" y="1450"/>
                  </a:cubicBezTo>
                  <a:close/>
                  <a:moveTo>
                    <a:pt x="550" y="1550"/>
                  </a:moveTo>
                  <a:cubicBezTo>
                    <a:pt x="550" y="1575"/>
                    <a:pt x="528" y="1597"/>
                    <a:pt x="503" y="1597"/>
                  </a:cubicBezTo>
                  <a:cubicBezTo>
                    <a:pt x="477" y="1597"/>
                    <a:pt x="456" y="1575"/>
                    <a:pt x="456" y="1550"/>
                  </a:cubicBezTo>
                  <a:cubicBezTo>
                    <a:pt x="456" y="1524"/>
                    <a:pt x="477" y="1503"/>
                    <a:pt x="503" y="1503"/>
                  </a:cubicBezTo>
                  <a:cubicBezTo>
                    <a:pt x="528" y="1503"/>
                    <a:pt x="550" y="1524"/>
                    <a:pt x="550" y="1550"/>
                  </a:cubicBezTo>
                  <a:close/>
                  <a:moveTo>
                    <a:pt x="550" y="1650"/>
                  </a:moveTo>
                  <a:cubicBezTo>
                    <a:pt x="550" y="1675"/>
                    <a:pt x="528" y="1697"/>
                    <a:pt x="503" y="1697"/>
                  </a:cubicBezTo>
                  <a:cubicBezTo>
                    <a:pt x="477" y="1697"/>
                    <a:pt x="456" y="1675"/>
                    <a:pt x="456" y="1650"/>
                  </a:cubicBezTo>
                  <a:cubicBezTo>
                    <a:pt x="456" y="1624"/>
                    <a:pt x="477" y="1603"/>
                    <a:pt x="503" y="1603"/>
                  </a:cubicBezTo>
                  <a:cubicBezTo>
                    <a:pt x="528" y="1603"/>
                    <a:pt x="550" y="1624"/>
                    <a:pt x="550" y="1650"/>
                  </a:cubicBezTo>
                  <a:close/>
                  <a:moveTo>
                    <a:pt x="550" y="1750"/>
                  </a:moveTo>
                  <a:cubicBezTo>
                    <a:pt x="550" y="1775"/>
                    <a:pt x="528" y="1797"/>
                    <a:pt x="503" y="1797"/>
                  </a:cubicBezTo>
                  <a:cubicBezTo>
                    <a:pt x="477" y="1797"/>
                    <a:pt x="456" y="1775"/>
                    <a:pt x="456" y="1750"/>
                  </a:cubicBezTo>
                  <a:cubicBezTo>
                    <a:pt x="456" y="1724"/>
                    <a:pt x="477" y="1703"/>
                    <a:pt x="503" y="1703"/>
                  </a:cubicBezTo>
                  <a:cubicBezTo>
                    <a:pt x="528" y="1703"/>
                    <a:pt x="550" y="1724"/>
                    <a:pt x="550" y="1750"/>
                  </a:cubicBezTo>
                  <a:close/>
                  <a:moveTo>
                    <a:pt x="550" y="1850"/>
                  </a:moveTo>
                  <a:cubicBezTo>
                    <a:pt x="550" y="1875"/>
                    <a:pt x="528" y="1897"/>
                    <a:pt x="503" y="1897"/>
                  </a:cubicBezTo>
                  <a:cubicBezTo>
                    <a:pt x="477" y="1897"/>
                    <a:pt x="456" y="1875"/>
                    <a:pt x="456" y="1850"/>
                  </a:cubicBezTo>
                  <a:cubicBezTo>
                    <a:pt x="456" y="1824"/>
                    <a:pt x="477" y="1803"/>
                    <a:pt x="503" y="1803"/>
                  </a:cubicBezTo>
                  <a:cubicBezTo>
                    <a:pt x="528" y="1803"/>
                    <a:pt x="550" y="1824"/>
                    <a:pt x="550" y="1850"/>
                  </a:cubicBezTo>
                  <a:close/>
                  <a:moveTo>
                    <a:pt x="550" y="1950"/>
                  </a:moveTo>
                  <a:cubicBezTo>
                    <a:pt x="550" y="1975"/>
                    <a:pt x="528" y="1997"/>
                    <a:pt x="503" y="1997"/>
                  </a:cubicBezTo>
                  <a:cubicBezTo>
                    <a:pt x="477" y="1997"/>
                    <a:pt x="456" y="1975"/>
                    <a:pt x="456" y="1950"/>
                  </a:cubicBezTo>
                  <a:cubicBezTo>
                    <a:pt x="456" y="1924"/>
                    <a:pt x="477" y="1903"/>
                    <a:pt x="503" y="1903"/>
                  </a:cubicBezTo>
                  <a:cubicBezTo>
                    <a:pt x="528" y="1903"/>
                    <a:pt x="550" y="1924"/>
                    <a:pt x="550" y="1950"/>
                  </a:cubicBezTo>
                  <a:close/>
                  <a:moveTo>
                    <a:pt x="550" y="2050"/>
                  </a:moveTo>
                  <a:cubicBezTo>
                    <a:pt x="550" y="2075"/>
                    <a:pt x="528" y="2097"/>
                    <a:pt x="503" y="2097"/>
                  </a:cubicBezTo>
                  <a:cubicBezTo>
                    <a:pt x="477" y="2097"/>
                    <a:pt x="456" y="2075"/>
                    <a:pt x="456" y="2050"/>
                  </a:cubicBezTo>
                  <a:cubicBezTo>
                    <a:pt x="456" y="2024"/>
                    <a:pt x="477" y="2003"/>
                    <a:pt x="503" y="2003"/>
                  </a:cubicBezTo>
                  <a:cubicBezTo>
                    <a:pt x="528" y="2003"/>
                    <a:pt x="550" y="2024"/>
                    <a:pt x="550" y="2050"/>
                  </a:cubicBezTo>
                  <a:close/>
                  <a:moveTo>
                    <a:pt x="550" y="2150"/>
                  </a:moveTo>
                  <a:cubicBezTo>
                    <a:pt x="550" y="2175"/>
                    <a:pt x="528" y="2197"/>
                    <a:pt x="503" y="2197"/>
                  </a:cubicBezTo>
                  <a:cubicBezTo>
                    <a:pt x="477" y="2197"/>
                    <a:pt x="456" y="2175"/>
                    <a:pt x="456" y="2150"/>
                  </a:cubicBezTo>
                  <a:cubicBezTo>
                    <a:pt x="456" y="2124"/>
                    <a:pt x="477" y="2103"/>
                    <a:pt x="503" y="2103"/>
                  </a:cubicBezTo>
                  <a:cubicBezTo>
                    <a:pt x="528" y="2103"/>
                    <a:pt x="550" y="2124"/>
                    <a:pt x="550" y="2150"/>
                  </a:cubicBezTo>
                  <a:close/>
                  <a:moveTo>
                    <a:pt x="550" y="2250"/>
                  </a:moveTo>
                  <a:cubicBezTo>
                    <a:pt x="550" y="2275"/>
                    <a:pt x="528" y="2297"/>
                    <a:pt x="503" y="2297"/>
                  </a:cubicBezTo>
                  <a:cubicBezTo>
                    <a:pt x="477" y="2297"/>
                    <a:pt x="456" y="2275"/>
                    <a:pt x="456" y="2250"/>
                  </a:cubicBezTo>
                  <a:cubicBezTo>
                    <a:pt x="456" y="2224"/>
                    <a:pt x="477" y="2203"/>
                    <a:pt x="503" y="2203"/>
                  </a:cubicBezTo>
                  <a:cubicBezTo>
                    <a:pt x="528" y="2203"/>
                    <a:pt x="550" y="2224"/>
                    <a:pt x="550" y="2250"/>
                  </a:cubicBezTo>
                  <a:close/>
                  <a:moveTo>
                    <a:pt x="550" y="2350"/>
                  </a:moveTo>
                  <a:cubicBezTo>
                    <a:pt x="550" y="2375"/>
                    <a:pt x="528" y="2397"/>
                    <a:pt x="503" y="2397"/>
                  </a:cubicBezTo>
                  <a:cubicBezTo>
                    <a:pt x="477" y="2397"/>
                    <a:pt x="456" y="2375"/>
                    <a:pt x="456" y="2350"/>
                  </a:cubicBezTo>
                  <a:cubicBezTo>
                    <a:pt x="456" y="2324"/>
                    <a:pt x="477" y="2303"/>
                    <a:pt x="503" y="2303"/>
                  </a:cubicBezTo>
                  <a:cubicBezTo>
                    <a:pt x="528" y="2303"/>
                    <a:pt x="550" y="2324"/>
                    <a:pt x="550" y="2350"/>
                  </a:cubicBezTo>
                  <a:close/>
                  <a:moveTo>
                    <a:pt x="550" y="2450"/>
                  </a:moveTo>
                  <a:cubicBezTo>
                    <a:pt x="550" y="2475"/>
                    <a:pt x="528" y="2497"/>
                    <a:pt x="503" y="2497"/>
                  </a:cubicBezTo>
                  <a:cubicBezTo>
                    <a:pt x="477" y="2497"/>
                    <a:pt x="456" y="2475"/>
                    <a:pt x="456" y="2450"/>
                  </a:cubicBezTo>
                  <a:cubicBezTo>
                    <a:pt x="456" y="2424"/>
                    <a:pt x="477" y="2403"/>
                    <a:pt x="503" y="2403"/>
                  </a:cubicBezTo>
                  <a:cubicBezTo>
                    <a:pt x="528" y="2403"/>
                    <a:pt x="550" y="2424"/>
                    <a:pt x="550" y="2450"/>
                  </a:cubicBezTo>
                  <a:close/>
                  <a:moveTo>
                    <a:pt x="550" y="2550"/>
                  </a:moveTo>
                  <a:cubicBezTo>
                    <a:pt x="550" y="2575"/>
                    <a:pt x="528" y="2597"/>
                    <a:pt x="503" y="2597"/>
                  </a:cubicBezTo>
                  <a:cubicBezTo>
                    <a:pt x="477" y="2597"/>
                    <a:pt x="456" y="2575"/>
                    <a:pt x="456" y="2550"/>
                  </a:cubicBezTo>
                  <a:cubicBezTo>
                    <a:pt x="456" y="2524"/>
                    <a:pt x="477" y="2503"/>
                    <a:pt x="503" y="2503"/>
                  </a:cubicBezTo>
                  <a:cubicBezTo>
                    <a:pt x="528" y="2503"/>
                    <a:pt x="550" y="2524"/>
                    <a:pt x="550" y="2550"/>
                  </a:cubicBezTo>
                  <a:close/>
                  <a:moveTo>
                    <a:pt x="550" y="2650"/>
                  </a:moveTo>
                  <a:cubicBezTo>
                    <a:pt x="550" y="2675"/>
                    <a:pt x="528" y="2697"/>
                    <a:pt x="503" y="2697"/>
                  </a:cubicBezTo>
                  <a:cubicBezTo>
                    <a:pt x="477" y="2697"/>
                    <a:pt x="456" y="2675"/>
                    <a:pt x="456" y="2650"/>
                  </a:cubicBezTo>
                  <a:cubicBezTo>
                    <a:pt x="456" y="2624"/>
                    <a:pt x="477" y="2603"/>
                    <a:pt x="503" y="2603"/>
                  </a:cubicBezTo>
                  <a:cubicBezTo>
                    <a:pt x="528" y="2603"/>
                    <a:pt x="550" y="2624"/>
                    <a:pt x="550" y="2650"/>
                  </a:cubicBezTo>
                  <a:close/>
                  <a:moveTo>
                    <a:pt x="550" y="2750"/>
                  </a:moveTo>
                  <a:cubicBezTo>
                    <a:pt x="550" y="2775"/>
                    <a:pt x="528" y="2797"/>
                    <a:pt x="503" y="2797"/>
                  </a:cubicBezTo>
                  <a:cubicBezTo>
                    <a:pt x="477" y="2797"/>
                    <a:pt x="456" y="2775"/>
                    <a:pt x="456" y="2750"/>
                  </a:cubicBezTo>
                  <a:cubicBezTo>
                    <a:pt x="456" y="2724"/>
                    <a:pt x="477" y="2703"/>
                    <a:pt x="503" y="2703"/>
                  </a:cubicBezTo>
                  <a:cubicBezTo>
                    <a:pt x="528" y="2703"/>
                    <a:pt x="550" y="2724"/>
                    <a:pt x="550" y="2750"/>
                  </a:cubicBezTo>
                  <a:close/>
                  <a:moveTo>
                    <a:pt x="550" y="2850"/>
                  </a:moveTo>
                  <a:cubicBezTo>
                    <a:pt x="550" y="2875"/>
                    <a:pt x="528" y="2897"/>
                    <a:pt x="503" y="2897"/>
                  </a:cubicBezTo>
                  <a:cubicBezTo>
                    <a:pt x="477" y="2897"/>
                    <a:pt x="456" y="2875"/>
                    <a:pt x="456" y="2850"/>
                  </a:cubicBezTo>
                  <a:cubicBezTo>
                    <a:pt x="456" y="2824"/>
                    <a:pt x="477" y="2803"/>
                    <a:pt x="503" y="2803"/>
                  </a:cubicBezTo>
                  <a:cubicBezTo>
                    <a:pt x="528" y="2803"/>
                    <a:pt x="550" y="2824"/>
                    <a:pt x="550" y="2850"/>
                  </a:cubicBezTo>
                  <a:close/>
                  <a:moveTo>
                    <a:pt x="550" y="2950"/>
                  </a:moveTo>
                  <a:cubicBezTo>
                    <a:pt x="550" y="2975"/>
                    <a:pt x="528" y="2997"/>
                    <a:pt x="503" y="2997"/>
                  </a:cubicBezTo>
                  <a:cubicBezTo>
                    <a:pt x="477" y="2997"/>
                    <a:pt x="456" y="2975"/>
                    <a:pt x="456" y="2950"/>
                  </a:cubicBezTo>
                  <a:cubicBezTo>
                    <a:pt x="456" y="2924"/>
                    <a:pt x="477" y="2903"/>
                    <a:pt x="503" y="2903"/>
                  </a:cubicBezTo>
                  <a:cubicBezTo>
                    <a:pt x="528" y="2903"/>
                    <a:pt x="550" y="2924"/>
                    <a:pt x="550" y="2950"/>
                  </a:cubicBezTo>
                  <a:close/>
                  <a:moveTo>
                    <a:pt x="550" y="3050"/>
                  </a:moveTo>
                  <a:cubicBezTo>
                    <a:pt x="550" y="3075"/>
                    <a:pt x="528" y="3097"/>
                    <a:pt x="503" y="3097"/>
                  </a:cubicBezTo>
                  <a:cubicBezTo>
                    <a:pt x="477" y="3097"/>
                    <a:pt x="456" y="3075"/>
                    <a:pt x="456" y="3050"/>
                  </a:cubicBezTo>
                  <a:cubicBezTo>
                    <a:pt x="456" y="3024"/>
                    <a:pt x="477" y="3003"/>
                    <a:pt x="503" y="3003"/>
                  </a:cubicBezTo>
                  <a:cubicBezTo>
                    <a:pt x="528" y="3003"/>
                    <a:pt x="550" y="3024"/>
                    <a:pt x="550" y="3050"/>
                  </a:cubicBezTo>
                  <a:close/>
                  <a:moveTo>
                    <a:pt x="550" y="3150"/>
                  </a:moveTo>
                  <a:cubicBezTo>
                    <a:pt x="550" y="3175"/>
                    <a:pt x="528" y="3197"/>
                    <a:pt x="503" y="3197"/>
                  </a:cubicBezTo>
                  <a:cubicBezTo>
                    <a:pt x="477" y="3197"/>
                    <a:pt x="456" y="3175"/>
                    <a:pt x="456" y="3150"/>
                  </a:cubicBezTo>
                  <a:cubicBezTo>
                    <a:pt x="456" y="3124"/>
                    <a:pt x="477" y="3103"/>
                    <a:pt x="503" y="3103"/>
                  </a:cubicBezTo>
                  <a:cubicBezTo>
                    <a:pt x="528" y="3103"/>
                    <a:pt x="550" y="3124"/>
                    <a:pt x="550" y="3150"/>
                  </a:cubicBezTo>
                  <a:close/>
                  <a:moveTo>
                    <a:pt x="550" y="3250"/>
                  </a:moveTo>
                  <a:cubicBezTo>
                    <a:pt x="550" y="3275"/>
                    <a:pt x="528" y="3297"/>
                    <a:pt x="503" y="3297"/>
                  </a:cubicBezTo>
                  <a:cubicBezTo>
                    <a:pt x="477" y="3297"/>
                    <a:pt x="456" y="3275"/>
                    <a:pt x="456" y="3250"/>
                  </a:cubicBezTo>
                  <a:cubicBezTo>
                    <a:pt x="456" y="3224"/>
                    <a:pt x="477" y="3203"/>
                    <a:pt x="503" y="3203"/>
                  </a:cubicBezTo>
                  <a:cubicBezTo>
                    <a:pt x="528" y="3203"/>
                    <a:pt x="550" y="3224"/>
                    <a:pt x="550" y="3250"/>
                  </a:cubicBezTo>
                  <a:close/>
                  <a:moveTo>
                    <a:pt x="550" y="3350"/>
                  </a:moveTo>
                  <a:cubicBezTo>
                    <a:pt x="550" y="3375"/>
                    <a:pt x="528" y="3397"/>
                    <a:pt x="503" y="3397"/>
                  </a:cubicBezTo>
                  <a:cubicBezTo>
                    <a:pt x="477" y="3397"/>
                    <a:pt x="456" y="3375"/>
                    <a:pt x="456" y="3350"/>
                  </a:cubicBezTo>
                  <a:cubicBezTo>
                    <a:pt x="456" y="3324"/>
                    <a:pt x="477" y="3303"/>
                    <a:pt x="503" y="3303"/>
                  </a:cubicBezTo>
                  <a:cubicBezTo>
                    <a:pt x="528" y="3303"/>
                    <a:pt x="550" y="3324"/>
                    <a:pt x="550" y="3350"/>
                  </a:cubicBezTo>
                  <a:close/>
                  <a:moveTo>
                    <a:pt x="550" y="3450"/>
                  </a:moveTo>
                  <a:cubicBezTo>
                    <a:pt x="550" y="3475"/>
                    <a:pt x="528" y="3497"/>
                    <a:pt x="503" y="3497"/>
                  </a:cubicBezTo>
                  <a:cubicBezTo>
                    <a:pt x="477" y="3497"/>
                    <a:pt x="456" y="3475"/>
                    <a:pt x="456" y="3450"/>
                  </a:cubicBezTo>
                  <a:cubicBezTo>
                    <a:pt x="456" y="3424"/>
                    <a:pt x="477" y="3403"/>
                    <a:pt x="503" y="3403"/>
                  </a:cubicBezTo>
                  <a:cubicBezTo>
                    <a:pt x="528" y="3403"/>
                    <a:pt x="550" y="3424"/>
                    <a:pt x="550" y="3450"/>
                  </a:cubicBezTo>
                  <a:close/>
                  <a:moveTo>
                    <a:pt x="550" y="3550"/>
                  </a:moveTo>
                  <a:cubicBezTo>
                    <a:pt x="550" y="3575"/>
                    <a:pt x="528" y="3597"/>
                    <a:pt x="503" y="3597"/>
                  </a:cubicBezTo>
                  <a:cubicBezTo>
                    <a:pt x="477" y="3597"/>
                    <a:pt x="456" y="3575"/>
                    <a:pt x="456" y="3550"/>
                  </a:cubicBezTo>
                  <a:cubicBezTo>
                    <a:pt x="456" y="3524"/>
                    <a:pt x="477" y="3503"/>
                    <a:pt x="503" y="3503"/>
                  </a:cubicBezTo>
                  <a:cubicBezTo>
                    <a:pt x="528" y="3503"/>
                    <a:pt x="550" y="3524"/>
                    <a:pt x="550" y="3550"/>
                  </a:cubicBezTo>
                  <a:close/>
                  <a:moveTo>
                    <a:pt x="550" y="3650"/>
                  </a:moveTo>
                  <a:cubicBezTo>
                    <a:pt x="550" y="3675"/>
                    <a:pt x="528" y="3697"/>
                    <a:pt x="503" y="3697"/>
                  </a:cubicBezTo>
                  <a:cubicBezTo>
                    <a:pt x="477" y="3697"/>
                    <a:pt x="456" y="3675"/>
                    <a:pt x="456" y="3650"/>
                  </a:cubicBezTo>
                  <a:cubicBezTo>
                    <a:pt x="456" y="3624"/>
                    <a:pt x="477" y="3603"/>
                    <a:pt x="503" y="3603"/>
                  </a:cubicBezTo>
                  <a:cubicBezTo>
                    <a:pt x="528" y="3603"/>
                    <a:pt x="550" y="3624"/>
                    <a:pt x="550" y="3650"/>
                  </a:cubicBezTo>
                  <a:close/>
                  <a:moveTo>
                    <a:pt x="550" y="3750"/>
                  </a:moveTo>
                  <a:cubicBezTo>
                    <a:pt x="550" y="3775"/>
                    <a:pt x="528" y="3797"/>
                    <a:pt x="503" y="3797"/>
                  </a:cubicBezTo>
                  <a:cubicBezTo>
                    <a:pt x="477" y="3797"/>
                    <a:pt x="456" y="3775"/>
                    <a:pt x="456" y="3750"/>
                  </a:cubicBezTo>
                  <a:cubicBezTo>
                    <a:pt x="456" y="3724"/>
                    <a:pt x="477" y="3703"/>
                    <a:pt x="503" y="3703"/>
                  </a:cubicBezTo>
                  <a:cubicBezTo>
                    <a:pt x="528" y="3703"/>
                    <a:pt x="550" y="3724"/>
                    <a:pt x="550" y="3750"/>
                  </a:cubicBezTo>
                  <a:close/>
                  <a:moveTo>
                    <a:pt x="550" y="3850"/>
                  </a:moveTo>
                  <a:cubicBezTo>
                    <a:pt x="550" y="3875"/>
                    <a:pt x="528" y="3897"/>
                    <a:pt x="503" y="3897"/>
                  </a:cubicBezTo>
                  <a:cubicBezTo>
                    <a:pt x="477" y="3897"/>
                    <a:pt x="456" y="3875"/>
                    <a:pt x="456" y="3850"/>
                  </a:cubicBezTo>
                  <a:cubicBezTo>
                    <a:pt x="456" y="3824"/>
                    <a:pt x="477" y="3803"/>
                    <a:pt x="503" y="3803"/>
                  </a:cubicBezTo>
                  <a:cubicBezTo>
                    <a:pt x="528" y="3803"/>
                    <a:pt x="550" y="3824"/>
                    <a:pt x="550" y="3850"/>
                  </a:cubicBezTo>
                  <a:close/>
                  <a:moveTo>
                    <a:pt x="550" y="3950"/>
                  </a:moveTo>
                  <a:cubicBezTo>
                    <a:pt x="550" y="3975"/>
                    <a:pt x="528" y="3997"/>
                    <a:pt x="503" y="3997"/>
                  </a:cubicBezTo>
                  <a:cubicBezTo>
                    <a:pt x="477" y="3997"/>
                    <a:pt x="456" y="3975"/>
                    <a:pt x="456" y="3950"/>
                  </a:cubicBezTo>
                  <a:cubicBezTo>
                    <a:pt x="456" y="3924"/>
                    <a:pt x="477" y="3903"/>
                    <a:pt x="503" y="3903"/>
                  </a:cubicBezTo>
                  <a:cubicBezTo>
                    <a:pt x="528" y="3903"/>
                    <a:pt x="550" y="3924"/>
                    <a:pt x="550" y="3950"/>
                  </a:cubicBezTo>
                  <a:close/>
                  <a:moveTo>
                    <a:pt x="550" y="4050"/>
                  </a:moveTo>
                  <a:cubicBezTo>
                    <a:pt x="550" y="4075"/>
                    <a:pt x="528" y="4097"/>
                    <a:pt x="503" y="4097"/>
                  </a:cubicBezTo>
                  <a:cubicBezTo>
                    <a:pt x="477" y="4097"/>
                    <a:pt x="456" y="4075"/>
                    <a:pt x="456" y="4050"/>
                  </a:cubicBezTo>
                  <a:cubicBezTo>
                    <a:pt x="456" y="4024"/>
                    <a:pt x="477" y="4003"/>
                    <a:pt x="503" y="4003"/>
                  </a:cubicBezTo>
                  <a:cubicBezTo>
                    <a:pt x="528" y="4003"/>
                    <a:pt x="550" y="4024"/>
                    <a:pt x="550" y="4050"/>
                  </a:cubicBezTo>
                  <a:close/>
                  <a:moveTo>
                    <a:pt x="550" y="4150"/>
                  </a:moveTo>
                  <a:cubicBezTo>
                    <a:pt x="550" y="4175"/>
                    <a:pt x="528" y="4197"/>
                    <a:pt x="503" y="4197"/>
                  </a:cubicBezTo>
                  <a:cubicBezTo>
                    <a:pt x="477" y="4197"/>
                    <a:pt x="456" y="4175"/>
                    <a:pt x="456" y="4150"/>
                  </a:cubicBezTo>
                  <a:cubicBezTo>
                    <a:pt x="456" y="4124"/>
                    <a:pt x="477" y="4103"/>
                    <a:pt x="503" y="4103"/>
                  </a:cubicBezTo>
                  <a:cubicBezTo>
                    <a:pt x="528" y="4103"/>
                    <a:pt x="550" y="4124"/>
                    <a:pt x="550" y="4150"/>
                  </a:cubicBezTo>
                  <a:close/>
                  <a:moveTo>
                    <a:pt x="550" y="4250"/>
                  </a:moveTo>
                  <a:cubicBezTo>
                    <a:pt x="550" y="4275"/>
                    <a:pt x="528" y="4297"/>
                    <a:pt x="503" y="4297"/>
                  </a:cubicBezTo>
                  <a:cubicBezTo>
                    <a:pt x="477" y="4297"/>
                    <a:pt x="456" y="4275"/>
                    <a:pt x="456" y="4250"/>
                  </a:cubicBezTo>
                  <a:cubicBezTo>
                    <a:pt x="456" y="4224"/>
                    <a:pt x="477" y="4203"/>
                    <a:pt x="503" y="4203"/>
                  </a:cubicBezTo>
                  <a:cubicBezTo>
                    <a:pt x="528" y="4203"/>
                    <a:pt x="550" y="4224"/>
                    <a:pt x="550" y="4250"/>
                  </a:cubicBezTo>
                  <a:close/>
                  <a:moveTo>
                    <a:pt x="550" y="4350"/>
                  </a:moveTo>
                  <a:cubicBezTo>
                    <a:pt x="550" y="4375"/>
                    <a:pt x="528" y="4397"/>
                    <a:pt x="503" y="4397"/>
                  </a:cubicBezTo>
                  <a:cubicBezTo>
                    <a:pt x="477" y="4397"/>
                    <a:pt x="456" y="4375"/>
                    <a:pt x="456" y="4350"/>
                  </a:cubicBezTo>
                  <a:cubicBezTo>
                    <a:pt x="456" y="4324"/>
                    <a:pt x="477" y="4303"/>
                    <a:pt x="503" y="4303"/>
                  </a:cubicBezTo>
                  <a:cubicBezTo>
                    <a:pt x="528" y="4303"/>
                    <a:pt x="550" y="4324"/>
                    <a:pt x="550" y="4350"/>
                  </a:cubicBezTo>
                  <a:close/>
                  <a:moveTo>
                    <a:pt x="550" y="4450"/>
                  </a:moveTo>
                  <a:cubicBezTo>
                    <a:pt x="550" y="4475"/>
                    <a:pt x="528" y="4497"/>
                    <a:pt x="503" y="4497"/>
                  </a:cubicBezTo>
                  <a:cubicBezTo>
                    <a:pt x="477" y="4497"/>
                    <a:pt x="456" y="4475"/>
                    <a:pt x="456" y="4450"/>
                  </a:cubicBezTo>
                  <a:cubicBezTo>
                    <a:pt x="456" y="4424"/>
                    <a:pt x="477" y="4403"/>
                    <a:pt x="503" y="4403"/>
                  </a:cubicBezTo>
                  <a:cubicBezTo>
                    <a:pt x="528" y="4403"/>
                    <a:pt x="550" y="4424"/>
                    <a:pt x="550" y="4450"/>
                  </a:cubicBezTo>
                  <a:close/>
                  <a:moveTo>
                    <a:pt x="550" y="4550"/>
                  </a:moveTo>
                  <a:cubicBezTo>
                    <a:pt x="550" y="4575"/>
                    <a:pt x="528" y="4597"/>
                    <a:pt x="503" y="4597"/>
                  </a:cubicBezTo>
                  <a:cubicBezTo>
                    <a:pt x="477" y="4597"/>
                    <a:pt x="456" y="4575"/>
                    <a:pt x="456" y="4550"/>
                  </a:cubicBezTo>
                  <a:cubicBezTo>
                    <a:pt x="456" y="4524"/>
                    <a:pt x="477" y="4503"/>
                    <a:pt x="503" y="4503"/>
                  </a:cubicBezTo>
                  <a:cubicBezTo>
                    <a:pt x="528" y="4503"/>
                    <a:pt x="550" y="4524"/>
                    <a:pt x="550" y="4550"/>
                  </a:cubicBezTo>
                  <a:close/>
                  <a:moveTo>
                    <a:pt x="550" y="4650"/>
                  </a:moveTo>
                  <a:cubicBezTo>
                    <a:pt x="550" y="4675"/>
                    <a:pt x="528" y="4697"/>
                    <a:pt x="503" y="4697"/>
                  </a:cubicBezTo>
                  <a:cubicBezTo>
                    <a:pt x="477" y="4697"/>
                    <a:pt x="456" y="4675"/>
                    <a:pt x="456" y="4650"/>
                  </a:cubicBezTo>
                  <a:cubicBezTo>
                    <a:pt x="456" y="4624"/>
                    <a:pt x="477" y="4603"/>
                    <a:pt x="503" y="4603"/>
                  </a:cubicBezTo>
                  <a:cubicBezTo>
                    <a:pt x="528" y="4603"/>
                    <a:pt x="550" y="4624"/>
                    <a:pt x="550" y="4650"/>
                  </a:cubicBezTo>
                  <a:close/>
                  <a:moveTo>
                    <a:pt x="550" y="4750"/>
                  </a:moveTo>
                  <a:cubicBezTo>
                    <a:pt x="550" y="4775"/>
                    <a:pt x="528" y="4797"/>
                    <a:pt x="503" y="4797"/>
                  </a:cubicBezTo>
                  <a:cubicBezTo>
                    <a:pt x="477" y="4797"/>
                    <a:pt x="456" y="4775"/>
                    <a:pt x="456" y="4750"/>
                  </a:cubicBezTo>
                  <a:cubicBezTo>
                    <a:pt x="456" y="4724"/>
                    <a:pt x="477" y="4703"/>
                    <a:pt x="503" y="4703"/>
                  </a:cubicBezTo>
                  <a:cubicBezTo>
                    <a:pt x="528" y="4703"/>
                    <a:pt x="550" y="4724"/>
                    <a:pt x="550" y="4750"/>
                  </a:cubicBezTo>
                  <a:close/>
                  <a:moveTo>
                    <a:pt x="550" y="4850"/>
                  </a:moveTo>
                  <a:cubicBezTo>
                    <a:pt x="550" y="4875"/>
                    <a:pt x="528" y="4897"/>
                    <a:pt x="503" y="4897"/>
                  </a:cubicBezTo>
                  <a:cubicBezTo>
                    <a:pt x="477" y="4897"/>
                    <a:pt x="456" y="4875"/>
                    <a:pt x="456" y="4850"/>
                  </a:cubicBezTo>
                  <a:cubicBezTo>
                    <a:pt x="456" y="4824"/>
                    <a:pt x="477" y="4803"/>
                    <a:pt x="503" y="4803"/>
                  </a:cubicBezTo>
                  <a:cubicBezTo>
                    <a:pt x="528" y="4803"/>
                    <a:pt x="550" y="4824"/>
                    <a:pt x="550" y="4850"/>
                  </a:cubicBezTo>
                  <a:close/>
                  <a:moveTo>
                    <a:pt x="550" y="4950"/>
                  </a:moveTo>
                  <a:cubicBezTo>
                    <a:pt x="550" y="4975"/>
                    <a:pt x="528" y="4997"/>
                    <a:pt x="503" y="4997"/>
                  </a:cubicBezTo>
                  <a:cubicBezTo>
                    <a:pt x="477" y="4997"/>
                    <a:pt x="456" y="4975"/>
                    <a:pt x="456" y="4950"/>
                  </a:cubicBezTo>
                  <a:cubicBezTo>
                    <a:pt x="456" y="4924"/>
                    <a:pt x="477" y="4903"/>
                    <a:pt x="503" y="4903"/>
                  </a:cubicBezTo>
                  <a:cubicBezTo>
                    <a:pt x="528" y="4903"/>
                    <a:pt x="550" y="4924"/>
                    <a:pt x="550" y="4950"/>
                  </a:cubicBezTo>
                  <a:close/>
                  <a:moveTo>
                    <a:pt x="550" y="5050"/>
                  </a:moveTo>
                  <a:cubicBezTo>
                    <a:pt x="550" y="5075"/>
                    <a:pt x="528" y="5097"/>
                    <a:pt x="503" y="5097"/>
                  </a:cubicBezTo>
                  <a:cubicBezTo>
                    <a:pt x="477" y="5097"/>
                    <a:pt x="456" y="5075"/>
                    <a:pt x="456" y="5050"/>
                  </a:cubicBezTo>
                  <a:cubicBezTo>
                    <a:pt x="456" y="5024"/>
                    <a:pt x="477" y="5003"/>
                    <a:pt x="503" y="5003"/>
                  </a:cubicBezTo>
                  <a:cubicBezTo>
                    <a:pt x="528" y="5003"/>
                    <a:pt x="550" y="5024"/>
                    <a:pt x="550" y="5050"/>
                  </a:cubicBezTo>
                  <a:close/>
                  <a:moveTo>
                    <a:pt x="550" y="5150"/>
                  </a:moveTo>
                  <a:cubicBezTo>
                    <a:pt x="550" y="5175"/>
                    <a:pt x="528" y="5197"/>
                    <a:pt x="503" y="5197"/>
                  </a:cubicBezTo>
                  <a:cubicBezTo>
                    <a:pt x="477" y="5197"/>
                    <a:pt x="456" y="5175"/>
                    <a:pt x="456" y="5150"/>
                  </a:cubicBezTo>
                  <a:cubicBezTo>
                    <a:pt x="456" y="5124"/>
                    <a:pt x="477" y="5103"/>
                    <a:pt x="503" y="5103"/>
                  </a:cubicBezTo>
                  <a:cubicBezTo>
                    <a:pt x="528" y="5103"/>
                    <a:pt x="550" y="5124"/>
                    <a:pt x="550" y="5150"/>
                  </a:cubicBezTo>
                  <a:close/>
                  <a:moveTo>
                    <a:pt x="550" y="5250"/>
                  </a:moveTo>
                  <a:cubicBezTo>
                    <a:pt x="550" y="5275"/>
                    <a:pt x="528" y="5297"/>
                    <a:pt x="503" y="5297"/>
                  </a:cubicBezTo>
                  <a:cubicBezTo>
                    <a:pt x="477" y="5297"/>
                    <a:pt x="456" y="5275"/>
                    <a:pt x="456" y="5250"/>
                  </a:cubicBezTo>
                  <a:cubicBezTo>
                    <a:pt x="456" y="5224"/>
                    <a:pt x="477" y="5203"/>
                    <a:pt x="503" y="5203"/>
                  </a:cubicBezTo>
                  <a:cubicBezTo>
                    <a:pt x="528" y="5203"/>
                    <a:pt x="550" y="5224"/>
                    <a:pt x="550" y="5250"/>
                  </a:cubicBezTo>
                  <a:close/>
                  <a:moveTo>
                    <a:pt x="550" y="5350"/>
                  </a:moveTo>
                  <a:cubicBezTo>
                    <a:pt x="550" y="5375"/>
                    <a:pt x="528" y="5397"/>
                    <a:pt x="503" y="5397"/>
                  </a:cubicBezTo>
                  <a:cubicBezTo>
                    <a:pt x="477" y="5397"/>
                    <a:pt x="456" y="5375"/>
                    <a:pt x="456" y="5350"/>
                  </a:cubicBezTo>
                  <a:cubicBezTo>
                    <a:pt x="456" y="5324"/>
                    <a:pt x="477" y="5303"/>
                    <a:pt x="503" y="5303"/>
                  </a:cubicBezTo>
                  <a:cubicBezTo>
                    <a:pt x="528" y="5303"/>
                    <a:pt x="550" y="5324"/>
                    <a:pt x="550" y="5350"/>
                  </a:cubicBezTo>
                  <a:close/>
                  <a:moveTo>
                    <a:pt x="550" y="5450"/>
                  </a:moveTo>
                  <a:cubicBezTo>
                    <a:pt x="550" y="5475"/>
                    <a:pt x="528" y="5497"/>
                    <a:pt x="503" y="5497"/>
                  </a:cubicBezTo>
                  <a:cubicBezTo>
                    <a:pt x="477" y="5497"/>
                    <a:pt x="456" y="5475"/>
                    <a:pt x="456" y="5450"/>
                  </a:cubicBezTo>
                  <a:cubicBezTo>
                    <a:pt x="456" y="5424"/>
                    <a:pt x="477" y="5403"/>
                    <a:pt x="503" y="5403"/>
                  </a:cubicBezTo>
                  <a:cubicBezTo>
                    <a:pt x="528" y="5403"/>
                    <a:pt x="550" y="5424"/>
                    <a:pt x="550" y="5450"/>
                  </a:cubicBezTo>
                  <a:close/>
                  <a:moveTo>
                    <a:pt x="550" y="5550"/>
                  </a:moveTo>
                  <a:cubicBezTo>
                    <a:pt x="550" y="5575"/>
                    <a:pt x="528" y="5597"/>
                    <a:pt x="503" y="5597"/>
                  </a:cubicBezTo>
                  <a:cubicBezTo>
                    <a:pt x="477" y="5597"/>
                    <a:pt x="456" y="5575"/>
                    <a:pt x="456" y="5550"/>
                  </a:cubicBezTo>
                  <a:cubicBezTo>
                    <a:pt x="456" y="5524"/>
                    <a:pt x="477" y="5503"/>
                    <a:pt x="503" y="5503"/>
                  </a:cubicBezTo>
                  <a:cubicBezTo>
                    <a:pt x="528" y="5503"/>
                    <a:pt x="550" y="5524"/>
                    <a:pt x="550" y="5550"/>
                  </a:cubicBezTo>
                  <a:close/>
                  <a:moveTo>
                    <a:pt x="550" y="5650"/>
                  </a:moveTo>
                  <a:cubicBezTo>
                    <a:pt x="550" y="5675"/>
                    <a:pt x="528" y="5697"/>
                    <a:pt x="503" y="5697"/>
                  </a:cubicBezTo>
                  <a:cubicBezTo>
                    <a:pt x="477" y="5697"/>
                    <a:pt x="456" y="5675"/>
                    <a:pt x="456" y="5650"/>
                  </a:cubicBezTo>
                  <a:cubicBezTo>
                    <a:pt x="456" y="5624"/>
                    <a:pt x="477" y="5603"/>
                    <a:pt x="503" y="5603"/>
                  </a:cubicBezTo>
                  <a:cubicBezTo>
                    <a:pt x="528" y="5603"/>
                    <a:pt x="550" y="5624"/>
                    <a:pt x="550" y="5650"/>
                  </a:cubicBezTo>
                  <a:close/>
                  <a:moveTo>
                    <a:pt x="550" y="5750"/>
                  </a:moveTo>
                  <a:cubicBezTo>
                    <a:pt x="550" y="5775"/>
                    <a:pt x="528" y="5797"/>
                    <a:pt x="503" y="5797"/>
                  </a:cubicBezTo>
                  <a:cubicBezTo>
                    <a:pt x="477" y="5797"/>
                    <a:pt x="456" y="5775"/>
                    <a:pt x="456" y="5750"/>
                  </a:cubicBezTo>
                  <a:cubicBezTo>
                    <a:pt x="456" y="5724"/>
                    <a:pt x="477" y="5703"/>
                    <a:pt x="503" y="5703"/>
                  </a:cubicBezTo>
                  <a:cubicBezTo>
                    <a:pt x="528" y="5703"/>
                    <a:pt x="550" y="5724"/>
                    <a:pt x="550" y="5750"/>
                  </a:cubicBezTo>
                  <a:close/>
                  <a:moveTo>
                    <a:pt x="550" y="5850"/>
                  </a:moveTo>
                  <a:cubicBezTo>
                    <a:pt x="550" y="5875"/>
                    <a:pt x="528" y="5897"/>
                    <a:pt x="503" y="5897"/>
                  </a:cubicBezTo>
                  <a:cubicBezTo>
                    <a:pt x="477" y="5897"/>
                    <a:pt x="456" y="5875"/>
                    <a:pt x="456" y="5850"/>
                  </a:cubicBezTo>
                  <a:cubicBezTo>
                    <a:pt x="456" y="5824"/>
                    <a:pt x="477" y="5803"/>
                    <a:pt x="503" y="5803"/>
                  </a:cubicBezTo>
                  <a:cubicBezTo>
                    <a:pt x="528" y="5803"/>
                    <a:pt x="550" y="5824"/>
                    <a:pt x="550" y="5850"/>
                  </a:cubicBezTo>
                  <a:close/>
                  <a:moveTo>
                    <a:pt x="550" y="5950"/>
                  </a:moveTo>
                  <a:cubicBezTo>
                    <a:pt x="550" y="5975"/>
                    <a:pt x="528" y="5997"/>
                    <a:pt x="503" y="5997"/>
                  </a:cubicBezTo>
                  <a:cubicBezTo>
                    <a:pt x="477" y="5997"/>
                    <a:pt x="456" y="5975"/>
                    <a:pt x="456" y="5950"/>
                  </a:cubicBezTo>
                  <a:cubicBezTo>
                    <a:pt x="456" y="5924"/>
                    <a:pt x="477" y="5903"/>
                    <a:pt x="503" y="5903"/>
                  </a:cubicBezTo>
                  <a:cubicBezTo>
                    <a:pt x="528" y="5903"/>
                    <a:pt x="550" y="5924"/>
                    <a:pt x="550" y="5950"/>
                  </a:cubicBezTo>
                  <a:close/>
                  <a:moveTo>
                    <a:pt x="550" y="6050"/>
                  </a:moveTo>
                  <a:cubicBezTo>
                    <a:pt x="550" y="6075"/>
                    <a:pt x="528" y="6097"/>
                    <a:pt x="503" y="6097"/>
                  </a:cubicBezTo>
                  <a:cubicBezTo>
                    <a:pt x="477" y="6097"/>
                    <a:pt x="456" y="6075"/>
                    <a:pt x="456" y="6050"/>
                  </a:cubicBezTo>
                  <a:cubicBezTo>
                    <a:pt x="456" y="6024"/>
                    <a:pt x="477" y="6003"/>
                    <a:pt x="503" y="6003"/>
                  </a:cubicBezTo>
                  <a:cubicBezTo>
                    <a:pt x="528" y="6003"/>
                    <a:pt x="550" y="6024"/>
                    <a:pt x="550" y="6050"/>
                  </a:cubicBezTo>
                  <a:close/>
                  <a:moveTo>
                    <a:pt x="550" y="6150"/>
                  </a:moveTo>
                  <a:cubicBezTo>
                    <a:pt x="550" y="6175"/>
                    <a:pt x="528" y="6197"/>
                    <a:pt x="503" y="6197"/>
                  </a:cubicBezTo>
                  <a:cubicBezTo>
                    <a:pt x="477" y="6197"/>
                    <a:pt x="456" y="6175"/>
                    <a:pt x="456" y="6150"/>
                  </a:cubicBezTo>
                  <a:cubicBezTo>
                    <a:pt x="456" y="6124"/>
                    <a:pt x="477" y="6103"/>
                    <a:pt x="503" y="6103"/>
                  </a:cubicBezTo>
                  <a:cubicBezTo>
                    <a:pt x="528" y="6103"/>
                    <a:pt x="550" y="6124"/>
                    <a:pt x="550" y="6150"/>
                  </a:cubicBezTo>
                  <a:close/>
                  <a:moveTo>
                    <a:pt x="550" y="6250"/>
                  </a:moveTo>
                  <a:cubicBezTo>
                    <a:pt x="550" y="6275"/>
                    <a:pt x="528" y="6297"/>
                    <a:pt x="503" y="6297"/>
                  </a:cubicBezTo>
                  <a:cubicBezTo>
                    <a:pt x="477" y="6297"/>
                    <a:pt x="456" y="6275"/>
                    <a:pt x="456" y="6250"/>
                  </a:cubicBezTo>
                  <a:cubicBezTo>
                    <a:pt x="456" y="6224"/>
                    <a:pt x="477" y="6203"/>
                    <a:pt x="503" y="6203"/>
                  </a:cubicBezTo>
                  <a:cubicBezTo>
                    <a:pt x="528" y="6203"/>
                    <a:pt x="550" y="6224"/>
                    <a:pt x="550" y="6250"/>
                  </a:cubicBezTo>
                  <a:close/>
                  <a:moveTo>
                    <a:pt x="550" y="6350"/>
                  </a:moveTo>
                  <a:cubicBezTo>
                    <a:pt x="550" y="6375"/>
                    <a:pt x="528" y="6397"/>
                    <a:pt x="503" y="6397"/>
                  </a:cubicBezTo>
                  <a:cubicBezTo>
                    <a:pt x="477" y="6397"/>
                    <a:pt x="456" y="6375"/>
                    <a:pt x="456" y="6350"/>
                  </a:cubicBezTo>
                  <a:cubicBezTo>
                    <a:pt x="456" y="6324"/>
                    <a:pt x="477" y="6303"/>
                    <a:pt x="503" y="6303"/>
                  </a:cubicBezTo>
                  <a:cubicBezTo>
                    <a:pt x="528" y="6303"/>
                    <a:pt x="550" y="6324"/>
                    <a:pt x="550" y="6350"/>
                  </a:cubicBezTo>
                  <a:close/>
                  <a:moveTo>
                    <a:pt x="550" y="6450"/>
                  </a:moveTo>
                  <a:cubicBezTo>
                    <a:pt x="550" y="6475"/>
                    <a:pt x="528" y="6497"/>
                    <a:pt x="503" y="6497"/>
                  </a:cubicBezTo>
                  <a:cubicBezTo>
                    <a:pt x="477" y="6497"/>
                    <a:pt x="456" y="6475"/>
                    <a:pt x="456" y="6450"/>
                  </a:cubicBezTo>
                  <a:cubicBezTo>
                    <a:pt x="456" y="6424"/>
                    <a:pt x="477" y="6403"/>
                    <a:pt x="503" y="6403"/>
                  </a:cubicBezTo>
                  <a:cubicBezTo>
                    <a:pt x="528" y="6403"/>
                    <a:pt x="550" y="6424"/>
                    <a:pt x="550" y="6450"/>
                  </a:cubicBezTo>
                  <a:close/>
                </a:path>
              </a:pathLst>
            </a:custGeom>
            <a:gradFill rotWithShape="1">
              <a:gsLst>
                <a:gs pos="0">
                  <a:srgbClr val="ECB69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7D5338"/>
              </a:solidFill>
              <a:round/>
            </a:ln>
          </p:spPr>
        </p:sp>
      </p:grpSp>
      <p:grpSp>
        <p:nvGrpSpPr>
          <p:cNvPr id="11" name="!!Membrana interna"/>
          <p:cNvGrpSpPr/>
          <p:nvPr/>
        </p:nvGrpSpPr>
        <p:grpSpPr>
          <a:xfrm>
            <a:off x="5120640" y="914400"/>
            <a:ext cx="502920" cy="5943600"/>
            <a:chOff x="5120640" y="914400"/>
            <a:chExt cx="502920" cy="5943600"/>
          </a:xfrm>
        </p:grpSpPr>
        <p:sp>
          <p:nvSpPr>
            <p:cNvPr id="12" name="Forma 11"/>
            <p:cNvSpPr/>
            <p:nvPr/>
          </p:nvSpPr>
          <p:spPr>
            <a:xfrm>
              <a:off x="5211166" y="914400"/>
              <a:ext cx="321869" cy="5943600"/>
            </a:xfrm>
            <a:prstGeom prst="rect">
              <a:avLst/>
            </a:prstGeom>
            <a:solidFill>
              <a:srgbClr val="FAD7A0"/>
            </a:solidFill>
            <a:ln>
              <a:noFill/>
            </a:ln>
          </p:spPr>
        </p:sp>
        <p:sp>
          <p:nvSpPr>
            <p:cNvPr id="13" name="Forma 12"/>
            <p:cNvSpPr/>
            <p:nvPr/>
          </p:nvSpPr>
          <p:spPr>
            <a:xfrm>
              <a:off x="5120640" y="914400"/>
              <a:ext cx="502920" cy="5943600"/>
            </a:xfrm>
            <a:custGeom>
              <a:avLst/>
              <a:gdLst/>
              <a:ahLst/>
              <a:cxnLst/>
              <a:rect l="0" t="0" r="r" b="b"/>
              <a:pathLst>
                <a:path w="550" h="6500">
                  <a:moveTo>
                    <a:pt x="94" y="50"/>
                  </a:moveTo>
                  <a:cubicBezTo>
                    <a:pt x="94" y="75"/>
                    <a:pt x="72" y="97"/>
                    <a:pt x="47" y="97"/>
                  </a:cubicBezTo>
                  <a:cubicBezTo>
                    <a:pt x="21" y="97"/>
                    <a:pt x="0" y="75"/>
                    <a:pt x="0" y="50"/>
                  </a:cubicBezTo>
                  <a:cubicBezTo>
                    <a:pt x="0" y="24"/>
                    <a:pt x="21" y="3"/>
                    <a:pt x="47" y="3"/>
                  </a:cubicBezTo>
                  <a:cubicBezTo>
                    <a:pt x="72" y="3"/>
                    <a:pt x="94" y="24"/>
                    <a:pt x="94" y="50"/>
                  </a:cubicBezTo>
                  <a:close/>
                  <a:moveTo>
                    <a:pt x="94" y="150"/>
                  </a:moveTo>
                  <a:cubicBezTo>
                    <a:pt x="94" y="175"/>
                    <a:pt x="72" y="197"/>
                    <a:pt x="47" y="197"/>
                  </a:cubicBezTo>
                  <a:cubicBezTo>
                    <a:pt x="21" y="197"/>
                    <a:pt x="0" y="175"/>
                    <a:pt x="0" y="150"/>
                  </a:cubicBezTo>
                  <a:cubicBezTo>
                    <a:pt x="0" y="124"/>
                    <a:pt x="21" y="103"/>
                    <a:pt x="47" y="103"/>
                  </a:cubicBezTo>
                  <a:cubicBezTo>
                    <a:pt x="72" y="103"/>
                    <a:pt x="94" y="124"/>
                    <a:pt x="94" y="150"/>
                  </a:cubicBezTo>
                  <a:close/>
                  <a:moveTo>
                    <a:pt x="94" y="250"/>
                  </a:moveTo>
                  <a:cubicBezTo>
                    <a:pt x="94" y="275"/>
                    <a:pt x="72" y="297"/>
                    <a:pt x="47" y="297"/>
                  </a:cubicBezTo>
                  <a:cubicBezTo>
                    <a:pt x="21" y="297"/>
                    <a:pt x="0" y="275"/>
                    <a:pt x="0" y="250"/>
                  </a:cubicBezTo>
                  <a:cubicBezTo>
                    <a:pt x="0" y="224"/>
                    <a:pt x="21" y="203"/>
                    <a:pt x="47" y="203"/>
                  </a:cubicBezTo>
                  <a:cubicBezTo>
                    <a:pt x="72" y="203"/>
                    <a:pt x="94" y="224"/>
                    <a:pt x="94" y="250"/>
                  </a:cubicBezTo>
                  <a:close/>
                  <a:moveTo>
                    <a:pt x="94" y="350"/>
                  </a:moveTo>
                  <a:cubicBezTo>
                    <a:pt x="94" y="375"/>
                    <a:pt x="72" y="397"/>
                    <a:pt x="47" y="397"/>
                  </a:cubicBezTo>
                  <a:cubicBezTo>
                    <a:pt x="21" y="397"/>
                    <a:pt x="0" y="375"/>
                    <a:pt x="0" y="350"/>
                  </a:cubicBezTo>
                  <a:cubicBezTo>
                    <a:pt x="0" y="324"/>
                    <a:pt x="21" y="303"/>
                    <a:pt x="47" y="303"/>
                  </a:cubicBezTo>
                  <a:cubicBezTo>
                    <a:pt x="72" y="303"/>
                    <a:pt x="94" y="324"/>
                    <a:pt x="94" y="350"/>
                  </a:cubicBezTo>
                  <a:close/>
                  <a:moveTo>
                    <a:pt x="94" y="450"/>
                  </a:moveTo>
                  <a:cubicBezTo>
                    <a:pt x="94" y="475"/>
                    <a:pt x="72" y="497"/>
                    <a:pt x="47" y="497"/>
                  </a:cubicBezTo>
                  <a:cubicBezTo>
                    <a:pt x="21" y="497"/>
                    <a:pt x="0" y="475"/>
                    <a:pt x="0" y="450"/>
                  </a:cubicBezTo>
                  <a:cubicBezTo>
                    <a:pt x="0" y="424"/>
                    <a:pt x="21" y="403"/>
                    <a:pt x="47" y="403"/>
                  </a:cubicBezTo>
                  <a:cubicBezTo>
                    <a:pt x="72" y="403"/>
                    <a:pt x="94" y="424"/>
                    <a:pt x="94" y="450"/>
                  </a:cubicBezTo>
                  <a:close/>
                  <a:moveTo>
                    <a:pt x="94" y="550"/>
                  </a:moveTo>
                  <a:cubicBezTo>
                    <a:pt x="94" y="575"/>
                    <a:pt x="72" y="597"/>
                    <a:pt x="47" y="597"/>
                  </a:cubicBezTo>
                  <a:cubicBezTo>
                    <a:pt x="21" y="597"/>
                    <a:pt x="0" y="575"/>
                    <a:pt x="0" y="550"/>
                  </a:cubicBezTo>
                  <a:cubicBezTo>
                    <a:pt x="0" y="524"/>
                    <a:pt x="21" y="503"/>
                    <a:pt x="47" y="503"/>
                  </a:cubicBezTo>
                  <a:cubicBezTo>
                    <a:pt x="72" y="503"/>
                    <a:pt x="94" y="524"/>
                    <a:pt x="94" y="550"/>
                  </a:cubicBezTo>
                  <a:close/>
                  <a:moveTo>
                    <a:pt x="94" y="650"/>
                  </a:moveTo>
                  <a:cubicBezTo>
                    <a:pt x="94" y="675"/>
                    <a:pt x="72" y="697"/>
                    <a:pt x="47" y="697"/>
                  </a:cubicBezTo>
                  <a:cubicBezTo>
                    <a:pt x="21" y="697"/>
                    <a:pt x="0" y="675"/>
                    <a:pt x="0" y="650"/>
                  </a:cubicBezTo>
                  <a:cubicBezTo>
                    <a:pt x="0" y="624"/>
                    <a:pt x="21" y="603"/>
                    <a:pt x="47" y="603"/>
                  </a:cubicBezTo>
                  <a:cubicBezTo>
                    <a:pt x="72" y="603"/>
                    <a:pt x="94" y="624"/>
                    <a:pt x="94" y="650"/>
                  </a:cubicBezTo>
                  <a:close/>
                  <a:moveTo>
                    <a:pt x="94" y="750"/>
                  </a:moveTo>
                  <a:cubicBezTo>
                    <a:pt x="94" y="775"/>
                    <a:pt x="72" y="797"/>
                    <a:pt x="47" y="797"/>
                  </a:cubicBezTo>
                  <a:cubicBezTo>
                    <a:pt x="21" y="797"/>
                    <a:pt x="0" y="775"/>
                    <a:pt x="0" y="750"/>
                  </a:cubicBezTo>
                  <a:cubicBezTo>
                    <a:pt x="0" y="724"/>
                    <a:pt x="21" y="703"/>
                    <a:pt x="47" y="703"/>
                  </a:cubicBezTo>
                  <a:cubicBezTo>
                    <a:pt x="72" y="703"/>
                    <a:pt x="94" y="724"/>
                    <a:pt x="94" y="750"/>
                  </a:cubicBezTo>
                  <a:close/>
                  <a:moveTo>
                    <a:pt x="94" y="850"/>
                  </a:moveTo>
                  <a:cubicBezTo>
                    <a:pt x="94" y="875"/>
                    <a:pt x="72" y="897"/>
                    <a:pt x="47" y="897"/>
                  </a:cubicBezTo>
                  <a:cubicBezTo>
                    <a:pt x="21" y="897"/>
                    <a:pt x="0" y="875"/>
                    <a:pt x="0" y="850"/>
                  </a:cubicBezTo>
                  <a:cubicBezTo>
                    <a:pt x="0" y="824"/>
                    <a:pt x="21" y="803"/>
                    <a:pt x="47" y="803"/>
                  </a:cubicBezTo>
                  <a:cubicBezTo>
                    <a:pt x="72" y="803"/>
                    <a:pt x="94" y="824"/>
                    <a:pt x="94" y="850"/>
                  </a:cubicBezTo>
                  <a:close/>
                  <a:moveTo>
                    <a:pt x="94" y="950"/>
                  </a:moveTo>
                  <a:cubicBezTo>
                    <a:pt x="94" y="975"/>
                    <a:pt x="72" y="997"/>
                    <a:pt x="47" y="997"/>
                  </a:cubicBezTo>
                  <a:cubicBezTo>
                    <a:pt x="21" y="997"/>
                    <a:pt x="0" y="975"/>
                    <a:pt x="0" y="950"/>
                  </a:cubicBezTo>
                  <a:cubicBezTo>
                    <a:pt x="0" y="924"/>
                    <a:pt x="21" y="903"/>
                    <a:pt x="47" y="903"/>
                  </a:cubicBezTo>
                  <a:cubicBezTo>
                    <a:pt x="72" y="903"/>
                    <a:pt x="94" y="924"/>
                    <a:pt x="94" y="950"/>
                  </a:cubicBezTo>
                  <a:close/>
                  <a:moveTo>
                    <a:pt x="94" y="1050"/>
                  </a:moveTo>
                  <a:cubicBezTo>
                    <a:pt x="94" y="1075"/>
                    <a:pt x="72" y="1097"/>
                    <a:pt x="47" y="1097"/>
                  </a:cubicBezTo>
                  <a:cubicBezTo>
                    <a:pt x="21" y="1097"/>
                    <a:pt x="0" y="1075"/>
                    <a:pt x="0" y="1050"/>
                  </a:cubicBezTo>
                  <a:cubicBezTo>
                    <a:pt x="0" y="1024"/>
                    <a:pt x="21" y="1003"/>
                    <a:pt x="47" y="1003"/>
                  </a:cubicBezTo>
                  <a:cubicBezTo>
                    <a:pt x="72" y="1003"/>
                    <a:pt x="94" y="1024"/>
                    <a:pt x="94" y="1050"/>
                  </a:cubicBezTo>
                  <a:close/>
                  <a:moveTo>
                    <a:pt x="94" y="1150"/>
                  </a:moveTo>
                  <a:cubicBezTo>
                    <a:pt x="94" y="1175"/>
                    <a:pt x="72" y="1197"/>
                    <a:pt x="47" y="1197"/>
                  </a:cubicBezTo>
                  <a:cubicBezTo>
                    <a:pt x="21" y="1197"/>
                    <a:pt x="0" y="1175"/>
                    <a:pt x="0" y="1150"/>
                  </a:cubicBezTo>
                  <a:cubicBezTo>
                    <a:pt x="0" y="1124"/>
                    <a:pt x="21" y="1103"/>
                    <a:pt x="47" y="1103"/>
                  </a:cubicBezTo>
                  <a:cubicBezTo>
                    <a:pt x="72" y="1103"/>
                    <a:pt x="94" y="1124"/>
                    <a:pt x="94" y="1150"/>
                  </a:cubicBezTo>
                  <a:close/>
                  <a:moveTo>
                    <a:pt x="94" y="1250"/>
                  </a:moveTo>
                  <a:cubicBezTo>
                    <a:pt x="94" y="1275"/>
                    <a:pt x="72" y="1297"/>
                    <a:pt x="47" y="1297"/>
                  </a:cubicBezTo>
                  <a:cubicBezTo>
                    <a:pt x="21" y="1297"/>
                    <a:pt x="0" y="1275"/>
                    <a:pt x="0" y="1250"/>
                  </a:cubicBezTo>
                  <a:cubicBezTo>
                    <a:pt x="0" y="1224"/>
                    <a:pt x="21" y="1203"/>
                    <a:pt x="47" y="1203"/>
                  </a:cubicBezTo>
                  <a:cubicBezTo>
                    <a:pt x="72" y="1203"/>
                    <a:pt x="94" y="1224"/>
                    <a:pt x="94" y="1250"/>
                  </a:cubicBezTo>
                  <a:close/>
                  <a:moveTo>
                    <a:pt x="94" y="1350"/>
                  </a:moveTo>
                  <a:cubicBezTo>
                    <a:pt x="94" y="1375"/>
                    <a:pt x="72" y="1397"/>
                    <a:pt x="47" y="1397"/>
                  </a:cubicBezTo>
                  <a:cubicBezTo>
                    <a:pt x="21" y="1397"/>
                    <a:pt x="0" y="1375"/>
                    <a:pt x="0" y="1350"/>
                  </a:cubicBezTo>
                  <a:cubicBezTo>
                    <a:pt x="0" y="1324"/>
                    <a:pt x="21" y="1303"/>
                    <a:pt x="47" y="1303"/>
                  </a:cubicBezTo>
                  <a:cubicBezTo>
                    <a:pt x="72" y="1303"/>
                    <a:pt x="94" y="1324"/>
                    <a:pt x="94" y="1350"/>
                  </a:cubicBezTo>
                  <a:close/>
                  <a:moveTo>
                    <a:pt x="94" y="1450"/>
                  </a:moveTo>
                  <a:cubicBezTo>
                    <a:pt x="94" y="1475"/>
                    <a:pt x="72" y="1497"/>
                    <a:pt x="47" y="1497"/>
                  </a:cubicBezTo>
                  <a:cubicBezTo>
                    <a:pt x="21" y="1497"/>
                    <a:pt x="0" y="1475"/>
                    <a:pt x="0" y="1450"/>
                  </a:cubicBezTo>
                  <a:cubicBezTo>
                    <a:pt x="0" y="1424"/>
                    <a:pt x="21" y="1403"/>
                    <a:pt x="47" y="1403"/>
                  </a:cubicBezTo>
                  <a:cubicBezTo>
                    <a:pt x="72" y="1403"/>
                    <a:pt x="94" y="1424"/>
                    <a:pt x="94" y="1450"/>
                  </a:cubicBezTo>
                  <a:close/>
                  <a:moveTo>
                    <a:pt x="94" y="1550"/>
                  </a:moveTo>
                  <a:cubicBezTo>
                    <a:pt x="94" y="1575"/>
                    <a:pt x="72" y="1597"/>
                    <a:pt x="47" y="1597"/>
                  </a:cubicBezTo>
                  <a:cubicBezTo>
                    <a:pt x="21" y="1597"/>
                    <a:pt x="0" y="1575"/>
                    <a:pt x="0" y="1550"/>
                  </a:cubicBezTo>
                  <a:cubicBezTo>
                    <a:pt x="0" y="1524"/>
                    <a:pt x="21" y="1503"/>
                    <a:pt x="47" y="1503"/>
                  </a:cubicBezTo>
                  <a:cubicBezTo>
                    <a:pt x="72" y="1503"/>
                    <a:pt x="94" y="1524"/>
                    <a:pt x="94" y="1550"/>
                  </a:cubicBezTo>
                  <a:close/>
                  <a:moveTo>
                    <a:pt x="94" y="1650"/>
                  </a:moveTo>
                  <a:cubicBezTo>
                    <a:pt x="94" y="1675"/>
                    <a:pt x="72" y="1697"/>
                    <a:pt x="47" y="1697"/>
                  </a:cubicBezTo>
                  <a:cubicBezTo>
                    <a:pt x="21" y="1697"/>
                    <a:pt x="0" y="1675"/>
                    <a:pt x="0" y="1650"/>
                  </a:cubicBezTo>
                  <a:cubicBezTo>
                    <a:pt x="0" y="1624"/>
                    <a:pt x="21" y="1603"/>
                    <a:pt x="47" y="1603"/>
                  </a:cubicBezTo>
                  <a:cubicBezTo>
                    <a:pt x="72" y="1603"/>
                    <a:pt x="94" y="1624"/>
                    <a:pt x="94" y="1650"/>
                  </a:cubicBezTo>
                  <a:close/>
                  <a:moveTo>
                    <a:pt x="94" y="1750"/>
                  </a:moveTo>
                  <a:cubicBezTo>
                    <a:pt x="94" y="1775"/>
                    <a:pt x="72" y="1797"/>
                    <a:pt x="47" y="1797"/>
                  </a:cubicBezTo>
                  <a:cubicBezTo>
                    <a:pt x="21" y="1797"/>
                    <a:pt x="0" y="1775"/>
                    <a:pt x="0" y="1750"/>
                  </a:cubicBezTo>
                  <a:cubicBezTo>
                    <a:pt x="0" y="1724"/>
                    <a:pt x="21" y="1703"/>
                    <a:pt x="47" y="1703"/>
                  </a:cubicBezTo>
                  <a:cubicBezTo>
                    <a:pt x="72" y="1703"/>
                    <a:pt x="94" y="1724"/>
                    <a:pt x="94" y="1750"/>
                  </a:cubicBezTo>
                  <a:close/>
                  <a:moveTo>
                    <a:pt x="94" y="1850"/>
                  </a:moveTo>
                  <a:cubicBezTo>
                    <a:pt x="94" y="1875"/>
                    <a:pt x="72" y="1897"/>
                    <a:pt x="47" y="1897"/>
                  </a:cubicBezTo>
                  <a:cubicBezTo>
                    <a:pt x="21" y="1897"/>
                    <a:pt x="0" y="1875"/>
                    <a:pt x="0" y="1850"/>
                  </a:cubicBezTo>
                  <a:cubicBezTo>
                    <a:pt x="0" y="1824"/>
                    <a:pt x="21" y="1803"/>
                    <a:pt x="47" y="1803"/>
                  </a:cubicBezTo>
                  <a:cubicBezTo>
                    <a:pt x="72" y="1803"/>
                    <a:pt x="94" y="1824"/>
                    <a:pt x="94" y="1850"/>
                  </a:cubicBezTo>
                  <a:close/>
                  <a:moveTo>
                    <a:pt x="94" y="1950"/>
                  </a:moveTo>
                  <a:cubicBezTo>
                    <a:pt x="94" y="1975"/>
                    <a:pt x="72" y="1997"/>
                    <a:pt x="47" y="1997"/>
                  </a:cubicBezTo>
                  <a:cubicBezTo>
                    <a:pt x="21" y="1997"/>
                    <a:pt x="0" y="1975"/>
                    <a:pt x="0" y="1950"/>
                  </a:cubicBezTo>
                  <a:cubicBezTo>
                    <a:pt x="0" y="1924"/>
                    <a:pt x="21" y="1903"/>
                    <a:pt x="47" y="1903"/>
                  </a:cubicBezTo>
                  <a:cubicBezTo>
                    <a:pt x="72" y="1903"/>
                    <a:pt x="94" y="1924"/>
                    <a:pt x="94" y="1950"/>
                  </a:cubicBezTo>
                  <a:close/>
                  <a:moveTo>
                    <a:pt x="94" y="2050"/>
                  </a:moveTo>
                  <a:cubicBezTo>
                    <a:pt x="94" y="2075"/>
                    <a:pt x="72" y="2097"/>
                    <a:pt x="47" y="2097"/>
                  </a:cubicBezTo>
                  <a:cubicBezTo>
                    <a:pt x="21" y="2097"/>
                    <a:pt x="0" y="2075"/>
                    <a:pt x="0" y="2050"/>
                  </a:cubicBezTo>
                  <a:cubicBezTo>
                    <a:pt x="0" y="2024"/>
                    <a:pt x="21" y="2003"/>
                    <a:pt x="47" y="2003"/>
                  </a:cubicBezTo>
                  <a:cubicBezTo>
                    <a:pt x="72" y="2003"/>
                    <a:pt x="94" y="2024"/>
                    <a:pt x="94" y="2050"/>
                  </a:cubicBezTo>
                  <a:close/>
                  <a:moveTo>
                    <a:pt x="94" y="2150"/>
                  </a:moveTo>
                  <a:cubicBezTo>
                    <a:pt x="94" y="2175"/>
                    <a:pt x="72" y="2197"/>
                    <a:pt x="47" y="2197"/>
                  </a:cubicBezTo>
                  <a:cubicBezTo>
                    <a:pt x="21" y="2197"/>
                    <a:pt x="0" y="2175"/>
                    <a:pt x="0" y="2150"/>
                  </a:cubicBezTo>
                  <a:cubicBezTo>
                    <a:pt x="0" y="2124"/>
                    <a:pt x="21" y="2103"/>
                    <a:pt x="47" y="2103"/>
                  </a:cubicBezTo>
                  <a:cubicBezTo>
                    <a:pt x="72" y="2103"/>
                    <a:pt x="94" y="2124"/>
                    <a:pt x="94" y="2150"/>
                  </a:cubicBezTo>
                  <a:close/>
                  <a:moveTo>
                    <a:pt x="94" y="2250"/>
                  </a:moveTo>
                  <a:cubicBezTo>
                    <a:pt x="94" y="2275"/>
                    <a:pt x="72" y="2297"/>
                    <a:pt x="47" y="2297"/>
                  </a:cubicBezTo>
                  <a:cubicBezTo>
                    <a:pt x="21" y="2297"/>
                    <a:pt x="0" y="2275"/>
                    <a:pt x="0" y="2250"/>
                  </a:cubicBezTo>
                  <a:cubicBezTo>
                    <a:pt x="0" y="2224"/>
                    <a:pt x="21" y="2203"/>
                    <a:pt x="47" y="2203"/>
                  </a:cubicBezTo>
                  <a:cubicBezTo>
                    <a:pt x="72" y="2203"/>
                    <a:pt x="94" y="2224"/>
                    <a:pt x="94" y="2250"/>
                  </a:cubicBezTo>
                  <a:close/>
                  <a:moveTo>
                    <a:pt x="94" y="2350"/>
                  </a:moveTo>
                  <a:cubicBezTo>
                    <a:pt x="94" y="2375"/>
                    <a:pt x="72" y="2397"/>
                    <a:pt x="47" y="2397"/>
                  </a:cubicBezTo>
                  <a:cubicBezTo>
                    <a:pt x="21" y="2397"/>
                    <a:pt x="0" y="2375"/>
                    <a:pt x="0" y="2350"/>
                  </a:cubicBezTo>
                  <a:cubicBezTo>
                    <a:pt x="0" y="2324"/>
                    <a:pt x="21" y="2303"/>
                    <a:pt x="47" y="2303"/>
                  </a:cubicBezTo>
                  <a:cubicBezTo>
                    <a:pt x="72" y="2303"/>
                    <a:pt x="94" y="2324"/>
                    <a:pt x="94" y="2350"/>
                  </a:cubicBezTo>
                  <a:close/>
                  <a:moveTo>
                    <a:pt x="94" y="2450"/>
                  </a:moveTo>
                  <a:cubicBezTo>
                    <a:pt x="94" y="2475"/>
                    <a:pt x="72" y="2497"/>
                    <a:pt x="47" y="2497"/>
                  </a:cubicBezTo>
                  <a:cubicBezTo>
                    <a:pt x="21" y="2497"/>
                    <a:pt x="0" y="2475"/>
                    <a:pt x="0" y="2450"/>
                  </a:cubicBezTo>
                  <a:cubicBezTo>
                    <a:pt x="0" y="2424"/>
                    <a:pt x="21" y="2403"/>
                    <a:pt x="47" y="2403"/>
                  </a:cubicBezTo>
                  <a:cubicBezTo>
                    <a:pt x="72" y="2403"/>
                    <a:pt x="94" y="2424"/>
                    <a:pt x="94" y="2450"/>
                  </a:cubicBezTo>
                  <a:close/>
                  <a:moveTo>
                    <a:pt x="94" y="2550"/>
                  </a:moveTo>
                  <a:cubicBezTo>
                    <a:pt x="94" y="2575"/>
                    <a:pt x="72" y="2597"/>
                    <a:pt x="47" y="2597"/>
                  </a:cubicBezTo>
                  <a:cubicBezTo>
                    <a:pt x="21" y="2597"/>
                    <a:pt x="0" y="2575"/>
                    <a:pt x="0" y="2550"/>
                  </a:cubicBezTo>
                  <a:cubicBezTo>
                    <a:pt x="0" y="2524"/>
                    <a:pt x="21" y="2503"/>
                    <a:pt x="47" y="2503"/>
                  </a:cubicBezTo>
                  <a:cubicBezTo>
                    <a:pt x="72" y="2503"/>
                    <a:pt x="94" y="2524"/>
                    <a:pt x="94" y="2550"/>
                  </a:cubicBezTo>
                  <a:close/>
                  <a:moveTo>
                    <a:pt x="94" y="2650"/>
                  </a:moveTo>
                  <a:cubicBezTo>
                    <a:pt x="94" y="2675"/>
                    <a:pt x="72" y="2697"/>
                    <a:pt x="47" y="2697"/>
                  </a:cubicBezTo>
                  <a:cubicBezTo>
                    <a:pt x="21" y="2697"/>
                    <a:pt x="0" y="2675"/>
                    <a:pt x="0" y="2650"/>
                  </a:cubicBezTo>
                  <a:cubicBezTo>
                    <a:pt x="0" y="2624"/>
                    <a:pt x="21" y="2603"/>
                    <a:pt x="47" y="2603"/>
                  </a:cubicBezTo>
                  <a:cubicBezTo>
                    <a:pt x="72" y="2603"/>
                    <a:pt x="94" y="2624"/>
                    <a:pt x="94" y="2650"/>
                  </a:cubicBezTo>
                  <a:close/>
                  <a:moveTo>
                    <a:pt x="94" y="2750"/>
                  </a:moveTo>
                  <a:cubicBezTo>
                    <a:pt x="94" y="2775"/>
                    <a:pt x="72" y="2797"/>
                    <a:pt x="47" y="2797"/>
                  </a:cubicBezTo>
                  <a:cubicBezTo>
                    <a:pt x="21" y="2797"/>
                    <a:pt x="0" y="2775"/>
                    <a:pt x="0" y="2750"/>
                  </a:cubicBezTo>
                  <a:cubicBezTo>
                    <a:pt x="0" y="2724"/>
                    <a:pt x="21" y="2703"/>
                    <a:pt x="47" y="2703"/>
                  </a:cubicBezTo>
                  <a:cubicBezTo>
                    <a:pt x="72" y="2703"/>
                    <a:pt x="94" y="2724"/>
                    <a:pt x="94" y="2750"/>
                  </a:cubicBezTo>
                  <a:close/>
                  <a:moveTo>
                    <a:pt x="94" y="2850"/>
                  </a:moveTo>
                  <a:cubicBezTo>
                    <a:pt x="94" y="2875"/>
                    <a:pt x="72" y="2897"/>
                    <a:pt x="47" y="2897"/>
                  </a:cubicBezTo>
                  <a:cubicBezTo>
                    <a:pt x="21" y="2897"/>
                    <a:pt x="0" y="2875"/>
                    <a:pt x="0" y="2850"/>
                  </a:cubicBezTo>
                  <a:cubicBezTo>
                    <a:pt x="0" y="2824"/>
                    <a:pt x="21" y="2803"/>
                    <a:pt x="47" y="2803"/>
                  </a:cubicBezTo>
                  <a:cubicBezTo>
                    <a:pt x="72" y="2803"/>
                    <a:pt x="94" y="2824"/>
                    <a:pt x="94" y="2850"/>
                  </a:cubicBezTo>
                  <a:close/>
                  <a:moveTo>
                    <a:pt x="94" y="2950"/>
                  </a:moveTo>
                  <a:cubicBezTo>
                    <a:pt x="94" y="2975"/>
                    <a:pt x="72" y="2997"/>
                    <a:pt x="47" y="2997"/>
                  </a:cubicBezTo>
                  <a:cubicBezTo>
                    <a:pt x="21" y="2997"/>
                    <a:pt x="0" y="2975"/>
                    <a:pt x="0" y="2950"/>
                  </a:cubicBezTo>
                  <a:cubicBezTo>
                    <a:pt x="0" y="2924"/>
                    <a:pt x="21" y="2903"/>
                    <a:pt x="47" y="2903"/>
                  </a:cubicBezTo>
                  <a:cubicBezTo>
                    <a:pt x="72" y="2903"/>
                    <a:pt x="94" y="2924"/>
                    <a:pt x="94" y="2950"/>
                  </a:cubicBezTo>
                  <a:close/>
                  <a:moveTo>
                    <a:pt x="94" y="3050"/>
                  </a:moveTo>
                  <a:cubicBezTo>
                    <a:pt x="94" y="3075"/>
                    <a:pt x="72" y="3097"/>
                    <a:pt x="47" y="3097"/>
                  </a:cubicBezTo>
                  <a:cubicBezTo>
                    <a:pt x="21" y="3097"/>
                    <a:pt x="0" y="3075"/>
                    <a:pt x="0" y="3050"/>
                  </a:cubicBezTo>
                  <a:cubicBezTo>
                    <a:pt x="0" y="3024"/>
                    <a:pt x="21" y="3003"/>
                    <a:pt x="47" y="3003"/>
                  </a:cubicBezTo>
                  <a:cubicBezTo>
                    <a:pt x="72" y="3003"/>
                    <a:pt x="94" y="3024"/>
                    <a:pt x="94" y="3050"/>
                  </a:cubicBezTo>
                  <a:close/>
                  <a:moveTo>
                    <a:pt x="94" y="3150"/>
                  </a:moveTo>
                  <a:cubicBezTo>
                    <a:pt x="94" y="3175"/>
                    <a:pt x="72" y="3197"/>
                    <a:pt x="47" y="3197"/>
                  </a:cubicBezTo>
                  <a:cubicBezTo>
                    <a:pt x="21" y="3197"/>
                    <a:pt x="0" y="3175"/>
                    <a:pt x="0" y="3150"/>
                  </a:cubicBezTo>
                  <a:cubicBezTo>
                    <a:pt x="0" y="3124"/>
                    <a:pt x="21" y="3103"/>
                    <a:pt x="47" y="3103"/>
                  </a:cubicBezTo>
                  <a:cubicBezTo>
                    <a:pt x="72" y="3103"/>
                    <a:pt x="94" y="3124"/>
                    <a:pt x="94" y="3150"/>
                  </a:cubicBezTo>
                  <a:close/>
                  <a:moveTo>
                    <a:pt x="94" y="3250"/>
                  </a:moveTo>
                  <a:cubicBezTo>
                    <a:pt x="94" y="3275"/>
                    <a:pt x="72" y="3297"/>
                    <a:pt x="47" y="3297"/>
                  </a:cubicBezTo>
                  <a:cubicBezTo>
                    <a:pt x="21" y="3297"/>
                    <a:pt x="0" y="3275"/>
                    <a:pt x="0" y="3250"/>
                  </a:cubicBezTo>
                  <a:cubicBezTo>
                    <a:pt x="0" y="3224"/>
                    <a:pt x="21" y="3203"/>
                    <a:pt x="47" y="3203"/>
                  </a:cubicBezTo>
                  <a:cubicBezTo>
                    <a:pt x="72" y="3203"/>
                    <a:pt x="94" y="3224"/>
                    <a:pt x="94" y="3250"/>
                  </a:cubicBezTo>
                  <a:close/>
                  <a:moveTo>
                    <a:pt x="94" y="3350"/>
                  </a:moveTo>
                  <a:cubicBezTo>
                    <a:pt x="94" y="3375"/>
                    <a:pt x="72" y="3397"/>
                    <a:pt x="47" y="3397"/>
                  </a:cubicBezTo>
                  <a:cubicBezTo>
                    <a:pt x="21" y="3397"/>
                    <a:pt x="0" y="3375"/>
                    <a:pt x="0" y="3350"/>
                  </a:cubicBezTo>
                  <a:cubicBezTo>
                    <a:pt x="0" y="3324"/>
                    <a:pt x="21" y="3303"/>
                    <a:pt x="47" y="3303"/>
                  </a:cubicBezTo>
                  <a:cubicBezTo>
                    <a:pt x="72" y="3303"/>
                    <a:pt x="94" y="3324"/>
                    <a:pt x="94" y="3350"/>
                  </a:cubicBezTo>
                  <a:close/>
                  <a:moveTo>
                    <a:pt x="94" y="3450"/>
                  </a:moveTo>
                  <a:cubicBezTo>
                    <a:pt x="94" y="3475"/>
                    <a:pt x="72" y="3497"/>
                    <a:pt x="47" y="3497"/>
                  </a:cubicBezTo>
                  <a:cubicBezTo>
                    <a:pt x="21" y="3497"/>
                    <a:pt x="0" y="3475"/>
                    <a:pt x="0" y="3450"/>
                  </a:cubicBezTo>
                  <a:cubicBezTo>
                    <a:pt x="0" y="3424"/>
                    <a:pt x="21" y="3403"/>
                    <a:pt x="47" y="3403"/>
                  </a:cubicBezTo>
                  <a:cubicBezTo>
                    <a:pt x="72" y="3403"/>
                    <a:pt x="94" y="3424"/>
                    <a:pt x="94" y="3450"/>
                  </a:cubicBezTo>
                  <a:close/>
                  <a:moveTo>
                    <a:pt x="94" y="3550"/>
                  </a:moveTo>
                  <a:cubicBezTo>
                    <a:pt x="94" y="3575"/>
                    <a:pt x="72" y="3597"/>
                    <a:pt x="47" y="3597"/>
                  </a:cubicBezTo>
                  <a:cubicBezTo>
                    <a:pt x="21" y="3597"/>
                    <a:pt x="0" y="3575"/>
                    <a:pt x="0" y="3550"/>
                  </a:cubicBezTo>
                  <a:cubicBezTo>
                    <a:pt x="0" y="3524"/>
                    <a:pt x="21" y="3503"/>
                    <a:pt x="47" y="3503"/>
                  </a:cubicBezTo>
                  <a:cubicBezTo>
                    <a:pt x="72" y="3503"/>
                    <a:pt x="94" y="3524"/>
                    <a:pt x="94" y="3550"/>
                  </a:cubicBezTo>
                  <a:close/>
                  <a:moveTo>
                    <a:pt x="94" y="3650"/>
                  </a:moveTo>
                  <a:cubicBezTo>
                    <a:pt x="94" y="3675"/>
                    <a:pt x="72" y="3697"/>
                    <a:pt x="47" y="3697"/>
                  </a:cubicBezTo>
                  <a:cubicBezTo>
                    <a:pt x="21" y="3697"/>
                    <a:pt x="0" y="3675"/>
                    <a:pt x="0" y="3650"/>
                  </a:cubicBezTo>
                  <a:cubicBezTo>
                    <a:pt x="0" y="3624"/>
                    <a:pt x="21" y="3603"/>
                    <a:pt x="47" y="3603"/>
                  </a:cubicBezTo>
                  <a:cubicBezTo>
                    <a:pt x="72" y="3603"/>
                    <a:pt x="94" y="3624"/>
                    <a:pt x="94" y="3650"/>
                  </a:cubicBezTo>
                  <a:close/>
                  <a:moveTo>
                    <a:pt x="94" y="3750"/>
                  </a:moveTo>
                  <a:cubicBezTo>
                    <a:pt x="94" y="3775"/>
                    <a:pt x="72" y="3797"/>
                    <a:pt x="47" y="3797"/>
                  </a:cubicBezTo>
                  <a:cubicBezTo>
                    <a:pt x="21" y="3797"/>
                    <a:pt x="0" y="3775"/>
                    <a:pt x="0" y="3750"/>
                  </a:cubicBezTo>
                  <a:cubicBezTo>
                    <a:pt x="0" y="3724"/>
                    <a:pt x="21" y="3703"/>
                    <a:pt x="47" y="3703"/>
                  </a:cubicBezTo>
                  <a:cubicBezTo>
                    <a:pt x="72" y="3703"/>
                    <a:pt x="94" y="3724"/>
                    <a:pt x="94" y="3750"/>
                  </a:cubicBezTo>
                  <a:close/>
                  <a:moveTo>
                    <a:pt x="94" y="3850"/>
                  </a:moveTo>
                  <a:cubicBezTo>
                    <a:pt x="94" y="3875"/>
                    <a:pt x="72" y="3897"/>
                    <a:pt x="47" y="3897"/>
                  </a:cubicBezTo>
                  <a:cubicBezTo>
                    <a:pt x="21" y="3897"/>
                    <a:pt x="0" y="3875"/>
                    <a:pt x="0" y="3850"/>
                  </a:cubicBezTo>
                  <a:cubicBezTo>
                    <a:pt x="0" y="3824"/>
                    <a:pt x="21" y="3803"/>
                    <a:pt x="47" y="3803"/>
                  </a:cubicBezTo>
                  <a:cubicBezTo>
                    <a:pt x="72" y="3803"/>
                    <a:pt x="94" y="3824"/>
                    <a:pt x="94" y="3850"/>
                  </a:cubicBezTo>
                  <a:close/>
                  <a:moveTo>
                    <a:pt x="94" y="3950"/>
                  </a:moveTo>
                  <a:cubicBezTo>
                    <a:pt x="94" y="3975"/>
                    <a:pt x="72" y="3997"/>
                    <a:pt x="47" y="3997"/>
                  </a:cubicBezTo>
                  <a:cubicBezTo>
                    <a:pt x="21" y="3997"/>
                    <a:pt x="0" y="3975"/>
                    <a:pt x="0" y="3950"/>
                  </a:cubicBezTo>
                  <a:cubicBezTo>
                    <a:pt x="0" y="3924"/>
                    <a:pt x="21" y="3903"/>
                    <a:pt x="47" y="3903"/>
                  </a:cubicBezTo>
                  <a:cubicBezTo>
                    <a:pt x="72" y="3903"/>
                    <a:pt x="94" y="3924"/>
                    <a:pt x="94" y="3950"/>
                  </a:cubicBezTo>
                  <a:close/>
                  <a:moveTo>
                    <a:pt x="94" y="4050"/>
                  </a:moveTo>
                  <a:cubicBezTo>
                    <a:pt x="94" y="4075"/>
                    <a:pt x="72" y="4097"/>
                    <a:pt x="47" y="4097"/>
                  </a:cubicBezTo>
                  <a:cubicBezTo>
                    <a:pt x="21" y="4097"/>
                    <a:pt x="0" y="4075"/>
                    <a:pt x="0" y="4050"/>
                  </a:cubicBezTo>
                  <a:cubicBezTo>
                    <a:pt x="0" y="4024"/>
                    <a:pt x="21" y="4003"/>
                    <a:pt x="47" y="4003"/>
                  </a:cubicBezTo>
                  <a:cubicBezTo>
                    <a:pt x="72" y="4003"/>
                    <a:pt x="94" y="4024"/>
                    <a:pt x="94" y="4050"/>
                  </a:cubicBezTo>
                  <a:close/>
                  <a:moveTo>
                    <a:pt x="94" y="4150"/>
                  </a:moveTo>
                  <a:cubicBezTo>
                    <a:pt x="94" y="4175"/>
                    <a:pt x="72" y="4197"/>
                    <a:pt x="47" y="4197"/>
                  </a:cubicBezTo>
                  <a:cubicBezTo>
                    <a:pt x="21" y="4197"/>
                    <a:pt x="0" y="4175"/>
                    <a:pt x="0" y="4150"/>
                  </a:cubicBezTo>
                  <a:cubicBezTo>
                    <a:pt x="0" y="4124"/>
                    <a:pt x="21" y="4103"/>
                    <a:pt x="47" y="4103"/>
                  </a:cubicBezTo>
                  <a:cubicBezTo>
                    <a:pt x="72" y="4103"/>
                    <a:pt x="94" y="4124"/>
                    <a:pt x="94" y="4150"/>
                  </a:cubicBezTo>
                  <a:close/>
                  <a:moveTo>
                    <a:pt x="94" y="4250"/>
                  </a:moveTo>
                  <a:cubicBezTo>
                    <a:pt x="94" y="4275"/>
                    <a:pt x="72" y="4297"/>
                    <a:pt x="47" y="4297"/>
                  </a:cubicBezTo>
                  <a:cubicBezTo>
                    <a:pt x="21" y="4297"/>
                    <a:pt x="0" y="4275"/>
                    <a:pt x="0" y="4250"/>
                  </a:cubicBezTo>
                  <a:cubicBezTo>
                    <a:pt x="0" y="4224"/>
                    <a:pt x="21" y="4203"/>
                    <a:pt x="47" y="4203"/>
                  </a:cubicBezTo>
                  <a:cubicBezTo>
                    <a:pt x="72" y="4203"/>
                    <a:pt x="94" y="4224"/>
                    <a:pt x="94" y="4250"/>
                  </a:cubicBezTo>
                  <a:close/>
                  <a:moveTo>
                    <a:pt x="94" y="4350"/>
                  </a:moveTo>
                  <a:cubicBezTo>
                    <a:pt x="94" y="4375"/>
                    <a:pt x="72" y="4397"/>
                    <a:pt x="47" y="4397"/>
                  </a:cubicBezTo>
                  <a:cubicBezTo>
                    <a:pt x="21" y="4397"/>
                    <a:pt x="0" y="4375"/>
                    <a:pt x="0" y="4350"/>
                  </a:cubicBezTo>
                  <a:cubicBezTo>
                    <a:pt x="0" y="4324"/>
                    <a:pt x="21" y="4303"/>
                    <a:pt x="47" y="4303"/>
                  </a:cubicBezTo>
                  <a:cubicBezTo>
                    <a:pt x="72" y="4303"/>
                    <a:pt x="94" y="4324"/>
                    <a:pt x="94" y="4350"/>
                  </a:cubicBezTo>
                  <a:close/>
                  <a:moveTo>
                    <a:pt x="94" y="4450"/>
                  </a:moveTo>
                  <a:cubicBezTo>
                    <a:pt x="94" y="4475"/>
                    <a:pt x="72" y="4497"/>
                    <a:pt x="47" y="4497"/>
                  </a:cubicBezTo>
                  <a:cubicBezTo>
                    <a:pt x="21" y="4497"/>
                    <a:pt x="0" y="4475"/>
                    <a:pt x="0" y="4450"/>
                  </a:cubicBezTo>
                  <a:cubicBezTo>
                    <a:pt x="0" y="4424"/>
                    <a:pt x="21" y="4403"/>
                    <a:pt x="47" y="4403"/>
                  </a:cubicBezTo>
                  <a:cubicBezTo>
                    <a:pt x="72" y="4403"/>
                    <a:pt x="94" y="4424"/>
                    <a:pt x="94" y="4450"/>
                  </a:cubicBezTo>
                  <a:close/>
                  <a:moveTo>
                    <a:pt x="94" y="4550"/>
                  </a:moveTo>
                  <a:cubicBezTo>
                    <a:pt x="94" y="4575"/>
                    <a:pt x="72" y="4597"/>
                    <a:pt x="47" y="4597"/>
                  </a:cubicBezTo>
                  <a:cubicBezTo>
                    <a:pt x="21" y="4597"/>
                    <a:pt x="0" y="4575"/>
                    <a:pt x="0" y="4550"/>
                  </a:cubicBezTo>
                  <a:cubicBezTo>
                    <a:pt x="0" y="4524"/>
                    <a:pt x="21" y="4503"/>
                    <a:pt x="47" y="4503"/>
                  </a:cubicBezTo>
                  <a:cubicBezTo>
                    <a:pt x="72" y="4503"/>
                    <a:pt x="94" y="4524"/>
                    <a:pt x="94" y="4550"/>
                  </a:cubicBezTo>
                  <a:close/>
                  <a:moveTo>
                    <a:pt x="94" y="4650"/>
                  </a:moveTo>
                  <a:cubicBezTo>
                    <a:pt x="94" y="4675"/>
                    <a:pt x="72" y="4697"/>
                    <a:pt x="47" y="4697"/>
                  </a:cubicBezTo>
                  <a:cubicBezTo>
                    <a:pt x="21" y="4697"/>
                    <a:pt x="0" y="4675"/>
                    <a:pt x="0" y="4650"/>
                  </a:cubicBezTo>
                  <a:cubicBezTo>
                    <a:pt x="0" y="4624"/>
                    <a:pt x="21" y="4603"/>
                    <a:pt x="47" y="4603"/>
                  </a:cubicBezTo>
                  <a:cubicBezTo>
                    <a:pt x="72" y="4603"/>
                    <a:pt x="94" y="4624"/>
                    <a:pt x="94" y="4650"/>
                  </a:cubicBezTo>
                  <a:close/>
                  <a:moveTo>
                    <a:pt x="94" y="4750"/>
                  </a:moveTo>
                  <a:cubicBezTo>
                    <a:pt x="94" y="4775"/>
                    <a:pt x="72" y="4797"/>
                    <a:pt x="47" y="4797"/>
                  </a:cubicBezTo>
                  <a:cubicBezTo>
                    <a:pt x="21" y="4797"/>
                    <a:pt x="0" y="4775"/>
                    <a:pt x="0" y="4750"/>
                  </a:cubicBezTo>
                  <a:cubicBezTo>
                    <a:pt x="0" y="4724"/>
                    <a:pt x="21" y="4703"/>
                    <a:pt x="47" y="4703"/>
                  </a:cubicBezTo>
                  <a:cubicBezTo>
                    <a:pt x="72" y="4703"/>
                    <a:pt x="94" y="4724"/>
                    <a:pt x="94" y="4750"/>
                  </a:cubicBezTo>
                  <a:close/>
                  <a:moveTo>
                    <a:pt x="94" y="4850"/>
                  </a:moveTo>
                  <a:cubicBezTo>
                    <a:pt x="94" y="4875"/>
                    <a:pt x="72" y="4897"/>
                    <a:pt x="47" y="4897"/>
                  </a:cubicBezTo>
                  <a:cubicBezTo>
                    <a:pt x="21" y="4897"/>
                    <a:pt x="0" y="4875"/>
                    <a:pt x="0" y="4850"/>
                  </a:cubicBezTo>
                  <a:cubicBezTo>
                    <a:pt x="0" y="4824"/>
                    <a:pt x="21" y="4803"/>
                    <a:pt x="47" y="4803"/>
                  </a:cubicBezTo>
                  <a:cubicBezTo>
                    <a:pt x="72" y="4803"/>
                    <a:pt x="94" y="4824"/>
                    <a:pt x="94" y="4850"/>
                  </a:cubicBezTo>
                  <a:close/>
                  <a:moveTo>
                    <a:pt x="94" y="4950"/>
                  </a:moveTo>
                  <a:cubicBezTo>
                    <a:pt x="94" y="4975"/>
                    <a:pt x="72" y="4997"/>
                    <a:pt x="47" y="4997"/>
                  </a:cubicBezTo>
                  <a:cubicBezTo>
                    <a:pt x="21" y="4997"/>
                    <a:pt x="0" y="4975"/>
                    <a:pt x="0" y="4950"/>
                  </a:cubicBezTo>
                  <a:cubicBezTo>
                    <a:pt x="0" y="4924"/>
                    <a:pt x="21" y="4903"/>
                    <a:pt x="47" y="4903"/>
                  </a:cubicBezTo>
                  <a:cubicBezTo>
                    <a:pt x="72" y="4903"/>
                    <a:pt x="94" y="4924"/>
                    <a:pt x="94" y="4950"/>
                  </a:cubicBezTo>
                  <a:close/>
                  <a:moveTo>
                    <a:pt x="94" y="5050"/>
                  </a:moveTo>
                  <a:cubicBezTo>
                    <a:pt x="94" y="5075"/>
                    <a:pt x="72" y="5097"/>
                    <a:pt x="47" y="5097"/>
                  </a:cubicBezTo>
                  <a:cubicBezTo>
                    <a:pt x="21" y="5097"/>
                    <a:pt x="0" y="5075"/>
                    <a:pt x="0" y="5050"/>
                  </a:cubicBezTo>
                  <a:cubicBezTo>
                    <a:pt x="0" y="5024"/>
                    <a:pt x="21" y="5003"/>
                    <a:pt x="47" y="5003"/>
                  </a:cubicBezTo>
                  <a:cubicBezTo>
                    <a:pt x="72" y="5003"/>
                    <a:pt x="94" y="5024"/>
                    <a:pt x="94" y="5050"/>
                  </a:cubicBezTo>
                  <a:close/>
                  <a:moveTo>
                    <a:pt x="94" y="5150"/>
                  </a:moveTo>
                  <a:cubicBezTo>
                    <a:pt x="94" y="5175"/>
                    <a:pt x="72" y="5197"/>
                    <a:pt x="47" y="5197"/>
                  </a:cubicBezTo>
                  <a:cubicBezTo>
                    <a:pt x="21" y="5197"/>
                    <a:pt x="0" y="5175"/>
                    <a:pt x="0" y="5150"/>
                  </a:cubicBezTo>
                  <a:cubicBezTo>
                    <a:pt x="0" y="5124"/>
                    <a:pt x="21" y="5103"/>
                    <a:pt x="47" y="5103"/>
                  </a:cubicBezTo>
                  <a:cubicBezTo>
                    <a:pt x="72" y="5103"/>
                    <a:pt x="94" y="5124"/>
                    <a:pt x="94" y="5150"/>
                  </a:cubicBezTo>
                  <a:close/>
                  <a:moveTo>
                    <a:pt x="94" y="5250"/>
                  </a:moveTo>
                  <a:cubicBezTo>
                    <a:pt x="94" y="5275"/>
                    <a:pt x="72" y="5297"/>
                    <a:pt x="47" y="5297"/>
                  </a:cubicBezTo>
                  <a:cubicBezTo>
                    <a:pt x="21" y="5297"/>
                    <a:pt x="0" y="5275"/>
                    <a:pt x="0" y="5250"/>
                  </a:cubicBezTo>
                  <a:cubicBezTo>
                    <a:pt x="0" y="5224"/>
                    <a:pt x="21" y="5203"/>
                    <a:pt x="47" y="5203"/>
                  </a:cubicBezTo>
                  <a:cubicBezTo>
                    <a:pt x="72" y="5203"/>
                    <a:pt x="94" y="5224"/>
                    <a:pt x="94" y="5250"/>
                  </a:cubicBezTo>
                  <a:close/>
                  <a:moveTo>
                    <a:pt x="94" y="5350"/>
                  </a:moveTo>
                  <a:cubicBezTo>
                    <a:pt x="94" y="5375"/>
                    <a:pt x="72" y="5397"/>
                    <a:pt x="47" y="5397"/>
                  </a:cubicBezTo>
                  <a:cubicBezTo>
                    <a:pt x="21" y="5397"/>
                    <a:pt x="0" y="5375"/>
                    <a:pt x="0" y="5350"/>
                  </a:cubicBezTo>
                  <a:cubicBezTo>
                    <a:pt x="0" y="5324"/>
                    <a:pt x="21" y="5303"/>
                    <a:pt x="47" y="5303"/>
                  </a:cubicBezTo>
                  <a:cubicBezTo>
                    <a:pt x="72" y="5303"/>
                    <a:pt x="94" y="5324"/>
                    <a:pt x="94" y="5350"/>
                  </a:cubicBezTo>
                  <a:close/>
                  <a:moveTo>
                    <a:pt x="94" y="5450"/>
                  </a:moveTo>
                  <a:cubicBezTo>
                    <a:pt x="94" y="5475"/>
                    <a:pt x="72" y="5497"/>
                    <a:pt x="47" y="5497"/>
                  </a:cubicBezTo>
                  <a:cubicBezTo>
                    <a:pt x="21" y="5497"/>
                    <a:pt x="0" y="5475"/>
                    <a:pt x="0" y="5450"/>
                  </a:cubicBezTo>
                  <a:cubicBezTo>
                    <a:pt x="0" y="5424"/>
                    <a:pt x="21" y="5403"/>
                    <a:pt x="47" y="5403"/>
                  </a:cubicBezTo>
                  <a:cubicBezTo>
                    <a:pt x="72" y="5403"/>
                    <a:pt x="94" y="5424"/>
                    <a:pt x="94" y="5450"/>
                  </a:cubicBezTo>
                  <a:close/>
                  <a:moveTo>
                    <a:pt x="94" y="5550"/>
                  </a:moveTo>
                  <a:cubicBezTo>
                    <a:pt x="94" y="5575"/>
                    <a:pt x="72" y="5597"/>
                    <a:pt x="47" y="5597"/>
                  </a:cubicBezTo>
                  <a:cubicBezTo>
                    <a:pt x="21" y="5597"/>
                    <a:pt x="0" y="5575"/>
                    <a:pt x="0" y="5550"/>
                  </a:cubicBezTo>
                  <a:cubicBezTo>
                    <a:pt x="0" y="5524"/>
                    <a:pt x="21" y="5503"/>
                    <a:pt x="47" y="5503"/>
                  </a:cubicBezTo>
                  <a:cubicBezTo>
                    <a:pt x="72" y="5503"/>
                    <a:pt x="94" y="5524"/>
                    <a:pt x="94" y="5550"/>
                  </a:cubicBezTo>
                  <a:close/>
                  <a:moveTo>
                    <a:pt x="94" y="5650"/>
                  </a:moveTo>
                  <a:cubicBezTo>
                    <a:pt x="94" y="5675"/>
                    <a:pt x="72" y="5697"/>
                    <a:pt x="47" y="5697"/>
                  </a:cubicBezTo>
                  <a:cubicBezTo>
                    <a:pt x="21" y="5697"/>
                    <a:pt x="0" y="5675"/>
                    <a:pt x="0" y="5650"/>
                  </a:cubicBezTo>
                  <a:cubicBezTo>
                    <a:pt x="0" y="5624"/>
                    <a:pt x="21" y="5603"/>
                    <a:pt x="47" y="5603"/>
                  </a:cubicBezTo>
                  <a:cubicBezTo>
                    <a:pt x="72" y="5603"/>
                    <a:pt x="94" y="5624"/>
                    <a:pt x="94" y="5650"/>
                  </a:cubicBezTo>
                  <a:close/>
                  <a:moveTo>
                    <a:pt x="94" y="5750"/>
                  </a:moveTo>
                  <a:cubicBezTo>
                    <a:pt x="94" y="5775"/>
                    <a:pt x="72" y="5797"/>
                    <a:pt x="47" y="5797"/>
                  </a:cubicBezTo>
                  <a:cubicBezTo>
                    <a:pt x="21" y="5797"/>
                    <a:pt x="0" y="5775"/>
                    <a:pt x="0" y="5750"/>
                  </a:cubicBezTo>
                  <a:cubicBezTo>
                    <a:pt x="0" y="5724"/>
                    <a:pt x="21" y="5703"/>
                    <a:pt x="47" y="5703"/>
                  </a:cubicBezTo>
                  <a:cubicBezTo>
                    <a:pt x="72" y="5703"/>
                    <a:pt x="94" y="5724"/>
                    <a:pt x="94" y="5750"/>
                  </a:cubicBezTo>
                  <a:close/>
                  <a:moveTo>
                    <a:pt x="94" y="5850"/>
                  </a:moveTo>
                  <a:cubicBezTo>
                    <a:pt x="94" y="5875"/>
                    <a:pt x="72" y="5897"/>
                    <a:pt x="47" y="5897"/>
                  </a:cubicBezTo>
                  <a:cubicBezTo>
                    <a:pt x="21" y="5897"/>
                    <a:pt x="0" y="5875"/>
                    <a:pt x="0" y="5850"/>
                  </a:cubicBezTo>
                  <a:cubicBezTo>
                    <a:pt x="0" y="5824"/>
                    <a:pt x="21" y="5803"/>
                    <a:pt x="47" y="5803"/>
                  </a:cubicBezTo>
                  <a:cubicBezTo>
                    <a:pt x="72" y="5803"/>
                    <a:pt x="94" y="5824"/>
                    <a:pt x="94" y="5850"/>
                  </a:cubicBezTo>
                  <a:close/>
                  <a:moveTo>
                    <a:pt x="94" y="5950"/>
                  </a:moveTo>
                  <a:cubicBezTo>
                    <a:pt x="94" y="5975"/>
                    <a:pt x="72" y="5997"/>
                    <a:pt x="47" y="5997"/>
                  </a:cubicBezTo>
                  <a:cubicBezTo>
                    <a:pt x="21" y="5997"/>
                    <a:pt x="0" y="5975"/>
                    <a:pt x="0" y="5950"/>
                  </a:cubicBezTo>
                  <a:cubicBezTo>
                    <a:pt x="0" y="5924"/>
                    <a:pt x="21" y="5903"/>
                    <a:pt x="47" y="5903"/>
                  </a:cubicBezTo>
                  <a:cubicBezTo>
                    <a:pt x="72" y="5903"/>
                    <a:pt x="94" y="5924"/>
                    <a:pt x="94" y="5950"/>
                  </a:cubicBezTo>
                  <a:close/>
                  <a:moveTo>
                    <a:pt x="94" y="6050"/>
                  </a:moveTo>
                  <a:cubicBezTo>
                    <a:pt x="94" y="6075"/>
                    <a:pt x="72" y="6097"/>
                    <a:pt x="47" y="6097"/>
                  </a:cubicBezTo>
                  <a:cubicBezTo>
                    <a:pt x="21" y="6097"/>
                    <a:pt x="0" y="6075"/>
                    <a:pt x="0" y="6050"/>
                  </a:cubicBezTo>
                  <a:cubicBezTo>
                    <a:pt x="0" y="6024"/>
                    <a:pt x="21" y="6003"/>
                    <a:pt x="47" y="6003"/>
                  </a:cubicBezTo>
                  <a:cubicBezTo>
                    <a:pt x="72" y="6003"/>
                    <a:pt x="94" y="6024"/>
                    <a:pt x="94" y="6050"/>
                  </a:cubicBezTo>
                  <a:close/>
                  <a:moveTo>
                    <a:pt x="94" y="6150"/>
                  </a:moveTo>
                  <a:cubicBezTo>
                    <a:pt x="94" y="6175"/>
                    <a:pt x="72" y="6197"/>
                    <a:pt x="47" y="6197"/>
                  </a:cubicBezTo>
                  <a:cubicBezTo>
                    <a:pt x="21" y="6197"/>
                    <a:pt x="0" y="6175"/>
                    <a:pt x="0" y="6150"/>
                  </a:cubicBezTo>
                  <a:cubicBezTo>
                    <a:pt x="0" y="6124"/>
                    <a:pt x="21" y="6103"/>
                    <a:pt x="47" y="6103"/>
                  </a:cubicBezTo>
                  <a:cubicBezTo>
                    <a:pt x="72" y="6103"/>
                    <a:pt x="94" y="6124"/>
                    <a:pt x="94" y="6150"/>
                  </a:cubicBezTo>
                  <a:close/>
                  <a:moveTo>
                    <a:pt x="94" y="6250"/>
                  </a:moveTo>
                  <a:cubicBezTo>
                    <a:pt x="94" y="6275"/>
                    <a:pt x="72" y="6297"/>
                    <a:pt x="47" y="6297"/>
                  </a:cubicBezTo>
                  <a:cubicBezTo>
                    <a:pt x="21" y="6297"/>
                    <a:pt x="0" y="6275"/>
                    <a:pt x="0" y="6250"/>
                  </a:cubicBezTo>
                  <a:cubicBezTo>
                    <a:pt x="0" y="6224"/>
                    <a:pt x="21" y="6203"/>
                    <a:pt x="47" y="6203"/>
                  </a:cubicBezTo>
                  <a:cubicBezTo>
                    <a:pt x="72" y="6203"/>
                    <a:pt x="94" y="6224"/>
                    <a:pt x="94" y="6250"/>
                  </a:cubicBezTo>
                  <a:close/>
                  <a:moveTo>
                    <a:pt x="94" y="6350"/>
                  </a:moveTo>
                  <a:cubicBezTo>
                    <a:pt x="94" y="6375"/>
                    <a:pt x="72" y="6397"/>
                    <a:pt x="47" y="6397"/>
                  </a:cubicBezTo>
                  <a:cubicBezTo>
                    <a:pt x="21" y="6397"/>
                    <a:pt x="0" y="6375"/>
                    <a:pt x="0" y="6350"/>
                  </a:cubicBezTo>
                  <a:cubicBezTo>
                    <a:pt x="0" y="6324"/>
                    <a:pt x="21" y="6303"/>
                    <a:pt x="47" y="6303"/>
                  </a:cubicBezTo>
                  <a:cubicBezTo>
                    <a:pt x="72" y="6303"/>
                    <a:pt x="94" y="6324"/>
                    <a:pt x="94" y="6350"/>
                  </a:cubicBezTo>
                  <a:close/>
                  <a:moveTo>
                    <a:pt x="94" y="6450"/>
                  </a:moveTo>
                  <a:cubicBezTo>
                    <a:pt x="94" y="6475"/>
                    <a:pt x="72" y="6497"/>
                    <a:pt x="47" y="6497"/>
                  </a:cubicBezTo>
                  <a:cubicBezTo>
                    <a:pt x="21" y="6497"/>
                    <a:pt x="0" y="6475"/>
                    <a:pt x="0" y="6450"/>
                  </a:cubicBezTo>
                  <a:cubicBezTo>
                    <a:pt x="0" y="6424"/>
                    <a:pt x="21" y="6403"/>
                    <a:pt x="47" y="6403"/>
                  </a:cubicBezTo>
                  <a:cubicBezTo>
                    <a:pt x="72" y="6403"/>
                    <a:pt x="94" y="6424"/>
                    <a:pt x="94" y="6450"/>
                  </a:cubicBezTo>
                  <a:close/>
                  <a:moveTo>
                    <a:pt x="550" y="50"/>
                  </a:moveTo>
                  <a:cubicBezTo>
                    <a:pt x="550" y="75"/>
                    <a:pt x="528" y="97"/>
                    <a:pt x="503" y="97"/>
                  </a:cubicBezTo>
                  <a:cubicBezTo>
                    <a:pt x="477" y="97"/>
                    <a:pt x="456" y="75"/>
                    <a:pt x="456" y="50"/>
                  </a:cubicBezTo>
                  <a:cubicBezTo>
                    <a:pt x="456" y="24"/>
                    <a:pt x="477" y="3"/>
                    <a:pt x="503" y="3"/>
                  </a:cubicBezTo>
                  <a:cubicBezTo>
                    <a:pt x="528" y="3"/>
                    <a:pt x="550" y="24"/>
                    <a:pt x="550" y="50"/>
                  </a:cubicBezTo>
                  <a:close/>
                  <a:moveTo>
                    <a:pt x="550" y="150"/>
                  </a:moveTo>
                  <a:cubicBezTo>
                    <a:pt x="550" y="175"/>
                    <a:pt x="528" y="197"/>
                    <a:pt x="503" y="197"/>
                  </a:cubicBezTo>
                  <a:cubicBezTo>
                    <a:pt x="477" y="197"/>
                    <a:pt x="456" y="175"/>
                    <a:pt x="456" y="150"/>
                  </a:cubicBezTo>
                  <a:cubicBezTo>
                    <a:pt x="456" y="124"/>
                    <a:pt x="477" y="103"/>
                    <a:pt x="503" y="103"/>
                  </a:cubicBezTo>
                  <a:cubicBezTo>
                    <a:pt x="528" y="103"/>
                    <a:pt x="550" y="124"/>
                    <a:pt x="550" y="150"/>
                  </a:cubicBezTo>
                  <a:close/>
                  <a:moveTo>
                    <a:pt x="550" y="250"/>
                  </a:moveTo>
                  <a:cubicBezTo>
                    <a:pt x="550" y="275"/>
                    <a:pt x="528" y="297"/>
                    <a:pt x="503" y="297"/>
                  </a:cubicBezTo>
                  <a:cubicBezTo>
                    <a:pt x="477" y="297"/>
                    <a:pt x="456" y="275"/>
                    <a:pt x="456" y="250"/>
                  </a:cubicBezTo>
                  <a:cubicBezTo>
                    <a:pt x="456" y="224"/>
                    <a:pt x="477" y="203"/>
                    <a:pt x="503" y="203"/>
                  </a:cubicBezTo>
                  <a:cubicBezTo>
                    <a:pt x="528" y="203"/>
                    <a:pt x="550" y="224"/>
                    <a:pt x="550" y="250"/>
                  </a:cubicBezTo>
                  <a:close/>
                  <a:moveTo>
                    <a:pt x="550" y="350"/>
                  </a:moveTo>
                  <a:cubicBezTo>
                    <a:pt x="550" y="375"/>
                    <a:pt x="528" y="397"/>
                    <a:pt x="503" y="397"/>
                  </a:cubicBezTo>
                  <a:cubicBezTo>
                    <a:pt x="477" y="397"/>
                    <a:pt x="456" y="375"/>
                    <a:pt x="456" y="350"/>
                  </a:cubicBezTo>
                  <a:cubicBezTo>
                    <a:pt x="456" y="324"/>
                    <a:pt x="477" y="303"/>
                    <a:pt x="503" y="303"/>
                  </a:cubicBezTo>
                  <a:cubicBezTo>
                    <a:pt x="528" y="303"/>
                    <a:pt x="550" y="324"/>
                    <a:pt x="550" y="350"/>
                  </a:cubicBezTo>
                  <a:close/>
                  <a:moveTo>
                    <a:pt x="550" y="450"/>
                  </a:moveTo>
                  <a:cubicBezTo>
                    <a:pt x="550" y="475"/>
                    <a:pt x="528" y="497"/>
                    <a:pt x="503" y="497"/>
                  </a:cubicBezTo>
                  <a:cubicBezTo>
                    <a:pt x="477" y="497"/>
                    <a:pt x="456" y="475"/>
                    <a:pt x="456" y="450"/>
                  </a:cubicBezTo>
                  <a:cubicBezTo>
                    <a:pt x="456" y="424"/>
                    <a:pt x="477" y="403"/>
                    <a:pt x="503" y="403"/>
                  </a:cubicBezTo>
                  <a:cubicBezTo>
                    <a:pt x="528" y="403"/>
                    <a:pt x="550" y="424"/>
                    <a:pt x="550" y="450"/>
                  </a:cubicBezTo>
                  <a:close/>
                  <a:moveTo>
                    <a:pt x="550" y="550"/>
                  </a:moveTo>
                  <a:cubicBezTo>
                    <a:pt x="550" y="575"/>
                    <a:pt x="528" y="597"/>
                    <a:pt x="503" y="597"/>
                  </a:cubicBezTo>
                  <a:cubicBezTo>
                    <a:pt x="477" y="597"/>
                    <a:pt x="456" y="575"/>
                    <a:pt x="456" y="550"/>
                  </a:cubicBezTo>
                  <a:cubicBezTo>
                    <a:pt x="456" y="524"/>
                    <a:pt x="477" y="503"/>
                    <a:pt x="503" y="503"/>
                  </a:cubicBezTo>
                  <a:cubicBezTo>
                    <a:pt x="528" y="503"/>
                    <a:pt x="550" y="524"/>
                    <a:pt x="550" y="550"/>
                  </a:cubicBezTo>
                  <a:close/>
                  <a:moveTo>
                    <a:pt x="550" y="650"/>
                  </a:moveTo>
                  <a:cubicBezTo>
                    <a:pt x="550" y="675"/>
                    <a:pt x="528" y="697"/>
                    <a:pt x="503" y="697"/>
                  </a:cubicBezTo>
                  <a:cubicBezTo>
                    <a:pt x="477" y="697"/>
                    <a:pt x="456" y="675"/>
                    <a:pt x="456" y="650"/>
                  </a:cubicBezTo>
                  <a:cubicBezTo>
                    <a:pt x="456" y="624"/>
                    <a:pt x="477" y="603"/>
                    <a:pt x="503" y="603"/>
                  </a:cubicBezTo>
                  <a:cubicBezTo>
                    <a:pt x="528" y="603"/>
                    <a:pt x="550" y="624"/>
                    <a:pt x="550" y="650"/>
                  </a:cubicBezTo>
                  <a:close/>
                  <a:moveTo>
                    <a:pt x="550" y="750"/>
                  </a:moveTo>
                  <a:cubicBezTo>
                    <a:pt x="550" y="775"/>
                    <a:pt x="528" y="797"/>
                    <a:pt x="503" y="797"/>
                  </a:cubicBezTo>
                  <a:cubicBezTo>
                    <a:pt x="477" y="797"/>
                    <a:pt x="456" y="775"/>
                    <a:pt x="456" y="750"/>
                  </a:cubicBezTo>
                  <a:cubicBezTo>
                    <a:pt x="456" y="724"/>
                    <a:pt x="477" y="703"/>
                    <a:pt x="503" y="703"/>
                  </a:cubicBezTo>
                  <a:cubicBezTo>
                    <a:pt x="528" y="703"/>
                    <a:pt x="550" y="724"/>
                    <a:pt x="550" y="750"/>
                  </a:cubicBezTo>
                  <a:close/>
                  <a:moveTo>
                    <a:pt x="550" y="850"/>
                  </a:moveTo>
                  <a:cubicBezTo>
                    <a:pt x="550" y="875"/>
                    <a:pt x="528" y="897"/>
                    <a:pt x="503" y="897"/>
                  </a:cubicBezTo>
                  <a:cubicBezTo>
                    <a:pt x="477" y="897"/>
                    <a:pt x="456" y="875"/>
                    <a:pt x="456" y="850"/>
                  </a:cubicBezTo>
                  <a:cubicBezTo>
                    <a:pt x="456" y="824"/>
                    <a:pt x="477" y="803"/>
                    <a:pt x="503" y="803"/>
                  </a:cubicBezTo>
                  <a:cubicBezTo>
                    <a:pt x="528" y="803"/>
                    <a:pt x="550" y="824"/>
                    <a:pt x="550" y="850"/>
                  </a:cubicBezTo>
                  <a:close/>
                  <a:moveTo>
                    <a:pt x="550" y="950"/>
                  </a:moveTo>
                  <a:cubicBezTo>
                    <a:pt x="550" y="975"/>
                    <a:pt x="528" y="997"/>
                    <a:pt x="503" y="997"/>
                  </a:cubicBezTo>
                  <a:cubicBezTo>
                    <a:pt x="477" y="997"/>
                    <a:pt x="456" y="975"/>
                    <a:pt x="456" y="950"/>
                  </a:cubicBezTo>
                  <a:cubicBezTo>
                    <a:pt x="456" y="924"/>
                    <a:pt x="477" y="903"/>
                    <a:pt x="503" y="903"/>
                  </a:cubicBezTo>
                  <a:cubicBezTo>
                    <a:pt x="528" y="903"/>
                    <a:pt x="550" y="924"/>
                    <a:pt x="550" y="950"/>
                  </a:cubicBezTo>
                  <a:close/>
                  <a:moveTo>
                    <a:pt x="550" y="1050"/>
                  </a:moveTo>
                  <a:cubicBezTo>
                    <a:pt x="550" y="1075"/>
                    <a:pt x="528" y="1097"/>
                    <a:pt x="503" y="1097"/>
                  </a:cubicBezTo>
                  <a:cubicBezTo>
                    <a:pt x="477" y="1097"/>
                    <a:pt x="456" y="1075"/>
                    <a:pt x="456" y="1050"/>
                  </a:cubicBezTo>
                  <a:cubicBezTo>
                    <a:pt x="456" y="1024"/>
                    <a:pt x="477" y="1003"/>
                    <a:pt x="503" y="1003"/>
                  </a:cubicBezTo>
                  <a:cubicBezTo>
                    <a:pt x="528" y="1003"/>
                    <a:pt x="550" y="1024"/>
                    <a:pt x="550" y="1050"/>
                  </a:cubicBezTo>
                  <a:close/>
                  <a:moveTo>
                    <a:pt x="550" y="1150"/>
                  </a:moveTo>
                  <a:cubicBezTo>
                    <a:pt x="550" y="1175"/>
                    <a:pt x="528" y="1197"/>
                    <a:pt x="503" y="1197"/>
                  </a:cubicBezTo>
                  <a:cubicBezTo>
                    <a:pt x="477" y="1197"/>
                    <a:pt x="456" y="1175"/>
                    <a:pt x="456" y="1150"/>
                  </a:cubicBezTo>
                  <a:cubicBezTo>
                    <a:pt x="456" y="1124"/>
                    <a:pt x="477" y="1103"/>
                    <a:pt x="503" y="1103"/>
                  </a:cubicBezTo>
                  <a:cubicBezTo>
                    <a:pt x="528" y="1103"/>
                    <a:pt x="550" y="1124"/>
                    <a:pt x="550" y="1150"/>
                  </a:cubicBezTo>
                  <a:close/>
                  <a:moveTo>
                    <a:pt x="550" y="1250"/>
                  </a:moveTo>
                  <a:cubicBezTo>
                    <a:pt x="550" y="1275"/>
                    <a:pt x="528" y="1297"/>
                    <a:pt x="503" y="1297"/>
                  </a:cubicBezTo>
                  <a:cubicBezTo>
                    <a:pt x="477" y="1297"/>
                    <a:pt x="456" y="1275"/>
                    <a:pt x="456" y="1250"/>
                  </a:cubicBezTo>
                  <a:cubicBezTo>
                    <a:pt x="456" y="1224"/>
                    <a:pt x="477" y="1203"/>
                    <a:pt x="503" y="1203"/>
                  </a:cubicBezTo>
                  <a:cubicBezTo>
                    <a:pt x="528" y="1203"/>
                    <a:pt x="550" y="1224"/>
                    <a:pt x="550" y="1250"/>
                  </a:cubicBezTo>
                  <a:close/>
                  <a:moveTo>
                    <a:pt x="550" y="1350"/>
                  </a:moveTo>
                  <a:cubicBezTo>
                    <a:pt x="550" y="1375"/>
                    <a:pt x="528" y="1397"/>
                    <a:pt x="503" y="1397"/>
                  </a:cubicBezTo>
                  <a:cubicBezTo>
                    <a:pt x="477" y="1397"/>
                    <a:pt x="456" y="1375"/>
                    <a:pt x="456" y="1350"/>
                  </a:cubicBezTo>
                  <a:cubicBezTo>
                    <a:pt x="456" y="1324"/>
                    <a:pt x="477" y="1303"/>
                    <a:pt x="503" y="1303"/>
                  </a:cubicBezTo>
                  <a:cubicBezTo>
                    <a:pt x="528" y="1303"/>
                    <a:pt x="550" y="1324"/>
                    <a:pt x="550" y="1350"/>
                  </a:cubicBezTo>
                  <a:close/>
                  <a:moveTo>
                    <a:pt x="550" y="1450"/>
                  </a:moveTo>
                  <a:cubicBezTo>
                    <a:pt x="550" y="1475"/>
                    <a:pt x="528" y="1497"/>
                    <a:pt x="503" y="1497"/>
                  </a:cubicBezTo>
                  <a:cubicBezTo>
                    <a:pt x="477" y="1497"/>
                    <a:pt x="456" y="1475"/>
                    <a:pt x="456" y="1450"/>
                  </a:cubicBezTo>
                  <a:cubicBezTo>
                    <a:pt x="456" y="1424"/>
                    <a:pt x="477" y="1403"/>
                    <a:pt x="503" y="1403"/>
                  </a:cubicBezTo>
                  <a:cubicBezTo>
                    <a:pt x="528" y="1403"/>
                    <a:pt x="550" y="1424"/>
                    <a:pt x="550" y="1450"/>
                  </a:cubicBezTo>
                  <a:close/>
                  <a:moveTo>
                    <a:pt x="550" y="1550"/>
                  </a:moveTo>
                  <a:cubicBezTo>
                    <a:pt x="550" y="1575"/>
                    <a:pt x="528" y="1597"/>
                    <a:pt x="503" y="1597"/>
                  </a:cubicBezTo>
                  <a:cubicBezTo>
                    <a:pt x="477" y="1597"/>
                    <a:pt x="456" y="1575"/>
                    <a:pt x="456" y="1550"/>
                  </a:cubicBezTo>
                  <a:cubicBezTo>
                    <a:pt x="456" y="1524"/>
                    <a:pt x="477" y="1503"/>
                    <a:pt x="503" y="1503"/>
                  </a:cubicBezTo>
                  <a:cubicBezTo>
                    <a:pt x="528" y="1503"/>
                    <a:pt x="550" y="1524"/>
                    <a:pt x="550" y="1550"/>
                  </a:cubicBezTo>
                  <a:close/>
                  <a:moveTo>
                    <a:pt x="550" y="1650"/>
                  </a:moveTo>
                  <a:cubicBezTo>
                    <a:pt x="550" y="1675"/>
                    <a:pt x="528" y="1697"/>
                    <a:pt x="503" y="1697"/>
                  </a:cubicBezTo>
                  <a:cubicBezTo>
                    <a:pt x="477" y="1697"/>
                    <a:pt x="456" y="1675"/>
                    <a:pt x="456" y="1650"/>
                  </a:cubicBezTo>
                  <a:cubicBezTo>
                    <a:pt x="456" y="1624"/>
                    <a:pt x="477" y="1603"/>
                    <a:pt x="503" y="1603"/>
                  </a:cubicBezTo>
                  <a:cubicBezTo>
                    <a:pt x="528" y="1603"/>
                    <a:pt x="550" y="1624"/>
                    <a:pt x="550" y="1650"/>
                  </a:cubicBezTo>
                  <a:close/>
                  <a:moveTo>
                    <a:pt x="550" y="1750"/>
                  </a:moveTo>
                  <a:cubicBezTo>
                    <a:pt x="550" y="1775"/>
                    <a:pt x="528" y="1797"/>
                    <a:pt x="503" y="1797"/>
                  </a:cubicBezTo>
                  <a:cubicBezTo>
                    <a:pt x="477" y="1797"/>
                    <a:pt x="456" y="1775"/>
                    <a:pt x="456" y="1750"/>
                  </a:cubicBezTo>
                  <a:cubicBezTo>
                    <a:pt x="456" y="1724"/>
                    <a:pt x="477" y="1703"/>
                    <a:pt x="503" y="1703"/>
                  </a:cubicBezTo>
                  <a:cubicBezTo>
                    <a:pt x="528" y="1703"/>
                    <a:pt x="550" y="1724"/>
                    <a:pt x="550" y="1750"/>
                  </a:cubicBezTo>
                  <a:close/>
                  <a:moveTo>
                    <a:pt x="550" y="1850"/>
                  </a:moveTo>
                  <a:cubicBezTo>
                    <a:pt x="550" y="1875"/>
                    <a:pt x="528" y="1897"/>
                    <a:pt x="503" y="1897"/>
                  </a:cubicBezTo>
                  <a:cubicBezTo>
                    <a:pt x="477" y="1897"/>
                    <a:pt x="456" y="1875"/>
                    <a:pt x="456" y="1850"/>
                  </a:cubicBezTo>
                  <a:cubicBezTo>
                    <a:pt x="456" y="1824"/>
                    <a:pt x="477" y="1803"/>
                    <a:pt x="503" y="1803"/>
                  </a:cubicBezTo>
                  <a:cubicBezTo>
                    <a:pt x="528" y="1803"/>
                    <a:pt x="550" y="1824"/>
                    <a:pt x="550" y="1850"/>
                  </a:cubicBezTo>
                  <a:close/>
                  <a:moveTo>
                    <a:pt x="550" y="1950"/>
                  </a:moveTo>
                  <a:cubicBezTo>
                    <a:pt x="550" y="1975"/>
                    <a:pt x="528" y="1997"/>
                    <a:pt x="503" y="1997"/>
                  </a:cubicBezTo>
                  <a:cubicBezTo>
                    <a:pt x="477" y="1997"/>
                    <a:pt x="456" y="1975"/>
                    <a:pt x="456" y="1950"/>
                  </a:cubicBezTo>
                  <a:cubicBezTo>
                    <a:pt x="456" y="1924"/>
                    <a:pt x="477" y="1903"/>
                    <a:pt x="503" y="1903"/>
                  </a:cubicBezTo>
                  <a:cubicBezTo>
                    <a:pt x="528" y="1903"/>
                    <a:pt x="550" y="1924"/>
                    <a:pt x="550" y="1950"/>
                  </a:cubicBezTo>
                  <a:close/>
                  <a:moveTo>
                    <a:pt x="550" y="2050"/>
                  </a:moveTo>
                  <a:cubicBezTo>
                    <a:pt x="550" y="2075"/>
                    <a:pt x="528" y="2097"/>
                    <a:pt x="503" y="2097"/>
                  </a:cubicBezTo>
                  <a:cubicBezTo>
                    <a:pt x="477" y="2097"/>
                    <a:pt x="456" y="2075"/>
                    <a:pt x="456" y="2050"/>
                  </a:cubicBezTo>
                  <a:cubicBezTo>
                    <a:pt x="456" y="2024"/>
                    <a:pt x="477" y="2003"/>
                    <a:pt x="503" y="2003"/>
                  </a:cubicBezTo>
                  <a:cubicBezTo>
                    <a:pt x="528" y="2003"/>
                    <a:pt x="550" y="2024"/>
                    <a:pt x="550" y="2050"/>
                  </a:cubicBezTo>
                  <a:close/>
                  <a:moveTo>
                    <a:pt x="550" y="2150"/>
                  </a:moveTo>
                  <a:cubicBezTo>
                    <a:pt x="550" y="2175"/>
                    <a:pt x="528" y="2197"/>
                    <a:pt x="503" y="2197"/>
                  </a:cubicBezTo>
                  <a:cubicBezTo>
                    <a:pt x="477" y="2197"/>
                    <a:pt x="456" y="2175"/>
                    <a:pt x="456" y="2150"/>
                  </a:cubicBezTo>
                  <a:cubicBezTo>
                    <a:pt x="456" y="2124"/>
                    <a:pt x="477" y="2103"/>
                    <a:pt x="503" y="2103"/>
                  </a:cubicBezTo>
                  <a:cubicBezTo>
                    <a:pt x="528" y="2103"/>
                    <a:pt x="550" y="2124"/>
                    <a:pt x="550" y="2150"/>
                  </a:cubicBezTo>
                  <a:close/>
                  <a:moveTo>
                    <a:pt x="550" y="2250"/>
                  </a:moveTo>
                  <a:cubicBezTo>
                    <a:pt x="550" y="2275"/>
                    <a:pt x="528" y="2297"/>
                    <a:pt x="503" y="2297"/>
                  </a:cubicBezTo>
                  <a:cubicBezTo>
                    <a:pt x="477" y="2297"/>
                    <a:pt x="456" y="2275"/>
                    <a:pt x="456" y="2250"/>
                  </a:cubicBezTo>
                  <a:cubicBezTo>
                    <a:pt x="456" y="2224"/>
                    <a:pt x="477" y="2203"/>
                    <a:pt x="503" y="2203"/>
                  </a:cubicBezTo>
                  <a:cubicBezTo>
                    <a:pt x="528" y="2203"/>
                    <a:pt x="550" y="2224"/>
                    <a:pt x="550" y="2250"/>
                  </a:cubicBezTo>
                  <a:close/>
                  <a:moveTo>
                    <a:pt x="550" y="2350"/>
                  </a:moveTo>
                  <a:cubicBezTo>
                    <a:pt x="550" y="2375"/>
                    <a:pt x="528" y="2397"/>
                    <a:pt x="503" y="2397"/>
                  </a:cubicBezTo>
                  <a:cubicBezTo>
                    <a:pt x="477" y="2397"/>
                    <a:pt x="456" y="2375"/>
                    <a:pt x="456" y="2350"/>
                  </a:cubicBezTo>
                  <a:cubicBezTo>
                    <a:pt x="456" y="2324"/>
                    <a:pt x="477" y="2303"/>
                    <a:pt x="503" y="2303"/>
                  </a:cubicBezTo>
                  <a:cubicBezTo>
                    <a:pt x="528" y="2303"/>
                    <a:pt x="550" y="2324"/>
                    <a:pt x="550" y="2350"/>
                  </a:cubicBezTo>
                  <a:close/>
                  <a:moveTo>
                    <a:pt x="550" y="2450"/>
                  </a:moveTo>
                  <a:cubicBezTo>
                    <a:pt x="550" y="2475"/>
                    <a:pt x="528" y="2497"/>
                    <a:pt x="503" y="2497"/>
                  </a:cubicBezTo>
                  <a:cubicBezTo>
                    <a:pt x="477" y="2497"/>
                    <a:pt x="456" y="2475"/>
                    <a:pt x="456" y="2450"/>
                  </a:cubicBezTo>
                  <a:cubicBezTo>
                    <a:pt x="456" y="2424"/>
                    <a:pt x="477" y="2403"/>
                    <a:pt x="503" y="2403"/>
                  </a:cubicBezTo>
                  <a:cubicBezTo>
                    <a:pt x="528" y="2403"/>
                    <a:pt x="550" y="2424"/>
                    <a:pt x="550" y="2450"/>
                  </a:cubicBezTo>
                  <a:close/>
                  <a:moveTo>
                    <a:pt x="550" y="2550"/>
                  </a:moveTo>
                  <a:cubicBezTo>
                    <a:pt x="550" y="2575"/>
                    <a:pt x="528" y="2597"/>
                    <a:pt x="503" y="2597"/>
                  </a:cubicBezTo>
                  <a:cubicBezTo>
                    <a:pt x="477" y="2597"/>
                    <a:pt x="456" y="2575"/>
                    <a:pt x="456" y="2550"/>
                  </a:cubicBezTo>
                  <a:cubicBezTo>
                    <a:pt x="456" y="2524"/>
                    <a:pt x="477" y="2503"/>
                    <a:pt x="503" y="2503"/>
                  </a:cubicBezTo>
                  <a:cubicBezTo>
                    <a:pt x="528" y="2503"/>
                    <a:pt x="550" y="2524"/>
                    <a:pt x="550" y="2550"/>
                  </a:cubicBezTo>
                  <a:close/>
                  <a:moveTo>
                    <a:pt x="550" y="2650"/>
                  </a:moveTo>
                  <a:cubicBezTo>
                    <a:pt x="550" y="2675"/>
                    <a:pt x="528" y="2697"/>
                    <a:pt x="503" y="2697"/>
                  </a:cubicBezTo>
                  <a:cubicBezTo>
                    <a:pt x="477" y="2697"/>
                    <a:pt x="456" y="2675"/>
                    <a:pt x="456" y="2650"/>
                  </a:cubicBezTo>
                  <a:cubicBezTo>
                    <a:pt x="456" y="2624"/>
                    <a:pt x="477" y="2603"/>
                    <a:pt x="503" y="2603"/>
                  </a:cubicBezTo>
                  <a:cubicBezTo>
                    <a:pt x="528" y="2603"/>
                    <a:pt x="550" y="2624"/>
                    <a:pt x="550" y="2650"/>
                  </a:cubicBezTo>
                  <a:close/>
                  <a:moveTo>
                    <a:pt x="550" y="2750"/>
                  </a:moveTo>
                  <a:cubicBezTo>
                    <a:pt x="550" y="2775"/>
                    <a:pt x="528" y="2797"/>
                    <a:pt x="503" y="2797"/>
                  </a:cubicBezTo>
                  <a:cubicBezTo>
                    <a:pt x="477" y="2797"/>
                    <a:pt x="456" y="2775"/>
                    <a:pt x="456" y="2750"/>
                  </a:cubicBezTo>
                  <a:cubicBezTo>
                    <a:pt x="456" y="2724"/>
                    <a:pt x="477" y="2703"/>
                    <a:pt x="503" y="2703"/>
                  </a:cubicBezTo>
                  <a:cubicBezTo>
                    <a:pt x="528" y="2703"/>
                    <a:pt x="550" y="2724"/>
                    <a:pt x="550" y="2750"/>
                  </a:cubicBezTo>
                  <a:close/>
                  <a:moveTo>
                    <a:pt x="550" y="2850"/>
                  </a:moveTo>
                  <a:cubicBezTo>
                    <a:pt x="550" y="2875"/>
                    <a:pt x="528" y="2897"/>
                    <a:pt x="503" y="2897"/>
                  </a:cubicBezTo>
                  <a:cubicBezTo>
                    <a:pt x="477" y="2897"/>
                    <a:pt x="456" y="2875"/>
                    <a:pt x="456" y="2850"/>
                  </a:cubicBezTo>
                  <a:cubicBezTo>
                    <a:pt x="456" y="2824"/>
                    <a:pt x="477" y="2803"/>
                    <a:pt x="503" y="2803"/>
                  </a:cubicBezTo>
                  <a:cubicBezTo>
                    <a:pt x="528" y="2803"/>
                    <a:pt x="550" y="2824"/>
                    <a:pt x="550" y="2850"/>
                  </a:cubicBezTo>
                  <a:close/>
                  <a:moveTo>
                    <a:pt x="550" y="2950"/>
                  </a:moveTo>
                  <a:cubicBezTo>
                    <a:pt x="550" y="2975"/>
                    <a:pt x="528" y="2997"/>
                    <a:pt x="503" y="2997"/>
                  </a:cubicBezTo>
                  <a:cubicBezTo>
                    <a:pt x="477" y="2997"/>
                    <a:pt x="456" y="2975"/>
                    <a:pt x="456" y="2950"/>
                  </a:cubicBezTo>
                  <a:cubicBezTo>
                    <a:pt x="456" y="2924"/>
                    <a:pt x="477" y="2903"/>
                    <a:pt x="503" y="2903"/>
                  </a:cubicBezTo>
                  <a:cubicBezTo>
                    <a:pt x="528" y="2903"/>
                    <a:pt x="550" y="2924"/>
                    <a:pt x="550" y="2950"/>
                  </a:cubicBezTo>
                  <a:close/>
                  <a:moveTo>
                    <a:pt x="550" y="3050"/>
                  </a:moveTo>
                  <a:cubicBezTo>
                    <a:pt x="550" y="3075"/>
                    <a:pt x="528" y="3097"/>
                    <a:pt x="503" y="3097"/>
                  </a:cubicBezTo>
                  <a:cubicBezTo>
                    <a:pt x="477" y="3097"/>
                    <a:pt x="456" y="3075"/>
                    <a:pt x="456" y="3050"/>
                  </a:cubicBezTo>
                  <a:cubicBezTo>
                    <a:pt x="456" y="3024"/>
                    <a:pt x="477" y="3003"/>
                    <a:pt x="503" y="3003"/>
                  </a:cubicBezTo>
                  <a:cubicBezTo>
                    <a:pt x="528" y="3003"/>
                    <a:pt x="550" y="3024"/>
                    <a:pt x="550" y="3050"/>
                  </a:cubicBezTo>
                  <a:close/>
                  <a:moveTo>
                    <a:pt x="550" y="3150"/>
                  </a:moveTo>
                  <a:cubicBezTo>
                    <a:pt x="550" y="3175"/>
                    <a:pt x="528" y="3197"/>
                    <a:pt x="503" y="3197"/>
                  </a:cubicBezTo>
                  <a:cubicBezTo>
                    <a:pt x="477" y="3197"/>
                    <a:pt x="456" y="3175"/>
                    <a:pt x="456" y="3150"/>
                  </a:cubicBezTo>
                  <a:cubicBezTo>
                    <a:pt x="456" y="3124"/>
                    <a:pt x="477" y="3103"/>
                    <a:pt x="503" y="3103"/>
                  </a:cubicBezTo>
                  <a:cubicBezTo>
                    <a:pt x="528" y="3103"/>
                    <a:pt x="550" y="3124"/>
                    <a:pt x="550" y="3150"/>
                  </a:cubicBezTo>
                  <a:close/>
                  <a:moveTo>
                    <a:pt x="550" y="3250"/>
                  </a:moveTo>
                  <a:cubicBezTo>
                    <a:pt x="550" y="3275"/>
                    <a:pt x="528" y="3297"/>
                    <a:pt x="503" y="3297"/>
                  </a:cubicBezTo>
                  <a:cubicBezTo>
                    <a:pt x="477" y="3297"/>
                    <a:pt x="456" y="3275"/>
                    <a:pt x="456" y="3250"/>
                  </a:cubicBezTo>
                  <a:cubicBezTo>
                    <a:pt x="456" y="3224"/>
                    <a:pt x="477" y="3203"/>
                    <a:pt x="503" y="3203"/>
                  </a:cubicBezTo>
                  <a:cubicBezTo>
                    <a:pt x="528" y="3203"/>
                    <a:pt x="550" y="3224"/>
                    <a:pt x="550" y="3250"/>
                  </a:cubicBezTo>
                  <a:close/>
                  <a:moveTo>
                    <a:pt x="550" y="3350"/>
                  </a:moveTo>
                  <a:cubicBezTo>
                    <a:pt x="550" y="3375"/>
                    <a:pt x="528" y="3397"/>
                    <a:pt x="503" y="3397"/>
                  </a:cubicBezTo>
                  <a:cubicBezTo>
                    <a:pt x="477" y="3397"/>
                    <a:pt x="456" y="3375"/>
                    <a:pt x="456" y="3350"/>
                  </a:cubicBezTo>
                  <a:cubicBezTo>
                    <a:pt x="456" y="3324"/>
                    <a:pt x="477" y="3303"/>
                    <a:pt x="503" y="3303"/>
                  </a:cubicBezTo>
                  <a:cubicBezTo>
                    <a:pt x="528" y="3303"/>
                    <a:pt x="550" y="3324"/>
                    <a:pt x="550" y="3350"/>
                  </a:cubicBezTo>
                  <a:close/>
                  <a:moveTo>
                    <a:pt x="550" y="3450"/>
                  </a:moveTo>
                  <a:cubicBezTo>
                    <a:pt x="550" y="3475"/>
                    <a:pt x="528" y="3497"/>
                    <a:pt x="503" y="3497"/>
                  </a:cubicBezTo>
                  <a:cubicBezTo>
                    <a:pt x="477" y="3497"/>
                    <a:pt x="456" y="3475"/>
                    <a:pt x="456" y="3450"/>
                  </a:cubicBezTo>
                  <a:cubicBezTo>
                    <a:pt x="456" y="3424"/>
                    <a:pt x="477" y="3403"/>
                    <a:pt x="503" y="3403"/>
                  </a:cubicBezTo>
                  <a:cubicBezTo>
                    <a:pt x="528" y="3403"/>
                    <a:pt x="550" y="3424"/>
                    <a:pt x="550" y="3450"/>
                  </a:cubicBezTo>
                  <a:close/>
                  <a:moveTo>
                    <a:pt x="550" y="3550"/>
                  </a:moveTo>
                  <a:cubicBezTo>
                    <a:pt x="550" y="3575"/>
                    <a:pt x="528" y="3597"/>
                    <a:pt x="503" y="3597"/>
                  </a:cubicBezTo>
                  <a:cubicBezTo>
                    <a:pt x="477" y="3597"/>
                    <a:pt x="456" y="3575"/>
                    <a:pt x="456" y="3550"/>
                  </a:cubicBezTo>
                  <a:cubicBezTo>
                    <a:pt x="456" y="3524"/>
                    <a:pt x="477" y="3503"/>
                    <a:pt x="503" y="3503"/>
                  </a:cubicBezTo>
                  <a:cubicBezTo>
                    <a:pt x="528" y="3503"/>
                    <a:pt x="550" y="3524"/>
                    <a:pt x="550" y="3550"/>
                  </a:cubicBezTo>
                  <a:close/>
                  <a:moveTo>
                    <a:pt x="550" y="3650"/>
                  </a:moveTo>
                  <a:cubicBezTo>
                    <a:pt x="550" y="3675"/>
                    <a:pt x="528" y="3697"/>
                    <a:pt x="503" y="3697"/>
                  </a:cubicBezTo>
                  <a:cubicBezTo>
                    <a:pt x="477" y="3697"/>
                    <a:pt x="456" y="3675"/>
                    <a:pt x="456" y="3650"/>
                  </a:cubicBezTo>
                  <a:cubicBezTo>
                    <a:pt x="456" y="3624"/>
                    <a:pt x="477" y="3603"/>
                    <a:pt x="503" y="3603"/>
                  </a:cubicBezTo>
                  <a:cubicBezTo>
                    <a:pt x="528" y="3603"/>
                    <a:pt x="550" y="3624"/>
                    <a:pt x="550" y="3650"/>
                  </a:cubicBezTo>
                  <a:close/>
                  <a:moveTo>
                    <a:pt x="550" y="3750"/>
                  </a:moveTo>
                  <a:cubicBezTo>
                    <a:pt x="550" y="3775"/>
                    <a:pt x="528" y="3797"/>
                    <a:pt x="503" y="3797"/>
                  </a:cubicBezTo>
                  <a:cubicBezTo>
                    <a:pt x="477" y="3797"/>
                    <a:pt x="456" y="3775"/>
                    <a:pt x="456" y="3750"/>
                  </a:cubicBezTo>
                  <a:cubicBezTo>
                    <a:pt x="456" y="3724"/>
                    <a:pt x="477" y="3703"/>
                    <a:pt x="503" y="3703"/>
                  </a:cubicBezTo>
                  <a:cubicBezTo>
                    <a:pt x="528" y="3703"/>
                    <a:pt x="550" y="3724"/>
                    <a:pt x="550" y="3750"/>
                  </a:cubicBezTo>
                  <a:close/>
                  <a:moveTo>
                    <a:pt x="550" y="3850"/>
                  </a:moveTo>
                  <a:cubicBezTo>
                    <a:pt x="550" y="3875"/>
                    <a:pt x="528" y="3897"/>
                    <a:pt x="503" y="3897"/>
                  </a:cubicBezTo>
                  <a:cubicBezTo>
                    <a:pt x="477" y="3897"/>
                    <a:pt x="456" y="3875"/>
                    <a:pt x="456" y="3850"/>
                  </a:cubicBezTo>
                  <a:cubicBezTo>
                    <a:pt x="456" y="3824"/>
                    <a:pt x="477" y="3803"/>
                    <a:pt x="503" y="3803"/>
                  </a:cubicBezTo>
                  <a:cubicBezTo>
                    <a:pt x="528" y="3803"/>
                    <a:pt x="550" y="3824"/>
                    <a:pt x="550" y="3850"/>
                  </a:cubicBezTo>
                  <a:close/>
                  <a:moveTo>
                    <a:pt x="550" y="3950"/>
                  </a:moveTo>
                  <a:cubicBezTo>
                    <a:pt x="550" y="3975"/>
                    <a:pt x="528" y="3997"/>
                    <a:pt x="503" y="3997"/>
                  </a:cubicBezTo>
                  <a:cubicBezTo>
                    <a:pt x="477" y="3997"/>
                    <a:pt x="456" y="3975"/>
                    <a:pt x="456" y="3950"/>
                  </a:cubicBezTo>
                  <a:cubicBezTo>
                    <a:pt x="456" y="3924"/>
                    <a:pt x="477" y="3903"/>
                    <a:pt x="503" y="3903"/>
                  </a:cubicBezTo>
                  <a:cubicBezTo>
                    <a:pt x="528" y="3903"/>
                    <a:pt x="550" y="3924"/>
                    <a:pt x="550" y="3950"/>
                  </a:cubicBezTo>
                  <a:close/>
                  <a:moveTo>
                    <a:pt x="550" y="4050"/>
                  </a:moveTo>
                  <a:cubicBezTo>
                    <a:pt x="550" y="4075"/>
                    <a:pt x="528" y="4097"/>
                    <a:pt x="503" y="4097"/>
                  </a:cubicBezTo>
                  <a:cubicBezTo>
                    <a:pt x="477" y="4097"/>
                    <a:pt x="456" y="4075"/>
                    <a:pt x="456" y="4050"/>
                  </a:cubicBezTo>
                  <a:cubicBezTo>
                    <a:pt x="456" y="4024"/>
                    <a:pt x="477" y="4003"/>
                    <a:pt x="503" y="4003"/>
                  </a:cubicBezTo>
                  <a:cubicBezTo>
                    <a:pt x="528" y="4003"/>
                    <a:pt x="550" y="4024"/>
                    <a:pt x="550" y="4050"/>
                  </a:cubicBezTo>
                  <a:close/>
                  <a:moveTo>
                    <a:pt x="550" y="4150"/>
                  </a:moveTo>
                  <a:cubicBezTo>
                    <a:pt x="550" y="4175"/>
                    <a:pt x="528" y="4197"/>
                    <a:pt x="503" y="4197"/>
                  </a:cubicBezTo>
                  <a:cubicBezTo>
                    <a:pt x="477" y="4197"/>
                    <a:pt x="456" y="4175"/>
                    <a:pt x="456" y="4150"/>
                  </a:cubicBezTo>
                  <a:cubicBezTo>
                    <a:pt x="456" y="4124"/>
                    <a:pt x="477" y="4103"/>
                    <a:pt x="503" y="4103"/>
                  </a:cubicBezTo>
                  <a:cubicBezTo>
                    <a:pt x="528" y="4103"/>
                    <a:pt x="550" y="4124"/>
                    <a:pt x="550" y="4150"/>
                  </a:cubicBezTo>
                  <a:close/>
                  <a:moveTo>
                    <a:pt x="550" y="4250"/>
                  </a:moveTo>
                  <a:cubicBezTo>
                    <a:pt x="550" y="4275"/>
                    <a:pt x="528" y="4297"/>
                    <a:pt x="503" y="4297"/>
                  </a:cubicBezTo>
                  <a:cubicBezTo>
                    <a:pt x="477" y="4297"/>
                    <a:pt x="456" y="4275"/>
                    <a:pt x="456" y="4250"/>
                  </a:cubicBezTo>
                  <a:cubicBezTo>
                    <a:pt x="456" y="4224"/>
                    <a:pt x="477" y="4203"/>
                    <a:pt x="503" y="4203"/>
                  </a:cubicBezTo>
                  <a:cubicBezTo>
                    <a:pt x="528" y="4203"/>
                    <a:pt x="550" y="4224"/>
                    <a:pt x="550" y="4250"/>
                  </a:cubicBezTo>
                  <a:close/>
                  <a:moveTo>
                    <a:pt x="550" y="4350"/>
                  </a:moveTo>
                  <a:cubicBezTo>
                    <a:pt x="550" y="4375"/>
                    <a:pt x="528" y="4397"/>
                    <a:pt x="503" y="4397"/>
                  </a:cubicBezTo>
                  <a:cubicBezTo>
                    <a:pt x="477" y="4397"/>
                    <a:pt x="456" y="4375"/>
                    <a:pt x="456" y="4350"/>
                  </a:cubicBezTo>
                  <a:cubicBezTo>
                    <a:pt x="456" y="4324"/>
                    <a:pt x="477" y="4303"/>
                    <a:pt x="503" y="4303"/>
                  </a:cubicBezTo>
                  <a:cubicBezTo>
                    <a:pt x="528" y="4303"/>
                    <a:pt x="550" y="4324"/>
                    <a:pt x="550" y="4350"/>
                  </a:cubicBezTo>
                  <a:close/>
                  <a:moveTo>
                    <a:pt x="550" y="4450"/>
                  </a:moveTo>
                  <a:cubicBezTo>
                    <a:pt x="550" y="4475"/>
                    <a:pt x="528" y="4497"/>
                    <a:pt x="503" y="4497"/>
                  </a:cubicBezTo>
                  <a:cubicBezTo>
                    <a:pt x="477" y="4497"/>
                    <a:pt x="456" y="4475"/>
                    <a:pt x="456" y="4450"/>
                  </a:cubicBezTo>
                  <a:cubicBezTo>
                    <a:pt x="456" y="4424"/>
                    <a:pt x="477" y="4403"/>
                    <a:pt x="503" y="4403"/>
                  </a:cubicBezTo>
                  <a:cubicBezTo>
                    <a:pt x="528" y="4403"/>
                    <a:pt x="550" y="4424"/>
                    <a:pt x="550" y="4450"/>
                  </a:cubicBezTo>
                  <a:close/>
                  <a:moveTo>
                    <a:pt x="550" y="4550"/>
                  </a:moveTo>
                  <a:cubicBezTo>
                    <a:pt x="550" y="4575"/>
                    <a:pt x="528" y="4597"/>
                    <a:pt x="503" y="4597"/>
                  </a:cubicBezTo>
                  <a:cubicBezTo>
                    <a:pt x="477" y="4597"/>
                    <a:pt x="456" y="4575"/>
                    <a:pt x="456" y="4550"/>
                  </a:cubicBezTo>
                  <a:cubicBezTo>
                    <a:pt x="456" y="4524"/>
                    <a:pt x="477" y="4503"/>
                    <a:pt x="503" y="4503"/>
                  </a:cubicBezTo>
                  <a:cubicBezTo>
                    <a:pt x="528" y="4503"/>
                    <a:pt x="550" y="4524"/>
                    <a:pt x="550" y="4550"/>
                  </a:cubicBezTo>
                  <a:close/>
                  <a:moveTo>
                    <a:pt x="550" y="4650"/>
                  </a:moveTo>
                  <a:cubicBezTo>
                    <a:pt x="550" y="4675"/>
                    <a:pt x="528" y="4697"/>
                    <a:pt x="503" y="4697"/>
                  </a:cubicBezTo>
                  <a:cubicBezTo>
                    <a:pt x="477" y="4697"/>
                    <a:pt x="456" y="4675"/>
                    <a:pt x="456" y="4650"/>
                  </a:cubicBezTo>
                  <a:cubicBezTo>
                    <a:pt x="456" y="4624"/>
                    <a:pt x="477" y="4603"/>
                    <a:pt x="503" y="4603"/>
                  </a:cubicBezTo>
                  <a:cubicBezTo>
                    <a:pt x="528" y="4603"/>
                    <a:pt x="550" y="4624"/>
                    <a:pt x="550" y="4650"/>
                  </a:cubicBezTo>
                  <a:close/>
                  <a:moveTo>
                    <a:pt x="550" y="4750"/>
                  </a:moveTo>
                  <a:cubicBezTo>
                    <a:pt x="550" y="4775"/>
                    <a:pt x="528" y="4797"/>
                    <a:pt x="503" y="4797"/>
                  </a:cubicBezTo>
                  <a:cubicBezTo>
                    <a:pt x="477" y="4797"/>
                    <a:pt x="456" y="4775"/>
                    <a:pt x="456" y="4750"/>
                  </a:cubicBezTo>
                  <a:cubicBezTo>
                    <a:pt x="456" y="4724"/>
                    <a:pt x="477" y="4703"/>
                    <a:pt x="503" y="4703"/>
                  </a:cubicBezTo>
                  <a:cubicBezTo>
                    <a:pt x="528" y="4703"/>
                    <a:pt x="550" y="4724"/>
                    <a:pt x="550" y="4750"/>
                  </a:cubicBezTo>
                  <a:close/>
                  <a:moveTo>
                    <a:pt x="550" y="4850"/>
                  </a:moveTo>
                  <a:cubicBezTo>
                    <a:pt x="550" y="4875"/>
                    <a:pt x="528" y="4897"/>
                    <a:pt x="503" y="4897"/>
                  </a:cubicBezTo>
                  <a:cubicBezTo>
                    <a:pt x="477" y="4897"/>
                    <a:pt x="456" y="4875"/>
                    <a:pt x="456" y="4850"/>
                  </a:cubicBezTo>
                  <a:cubicBezTo>
                    <a:pt x="456" y="4824"/>
                    <a:pt x="477" y="4803"/>
                    <a:pt x="503" y="4803"/>
                  </a:cubicBezTo>
                  <a:cubicBezTo>
                    <a:pt x="528" y="4803"/>
                    <a:pt x="550" y="4824"/>
                    <a:pt x="550" y="4850"/>
                  </a:cubicBezTo>
                  <a:close/>
                  <a:moveTo>
                    <a:pt x="550" y="4950"/>
                  </a:moveTo>
                  <a:cubicBezTo>
                    <a:pt x="550" y="4975"/>
                    <a:pt x="528" y="4997"/>
                    <a:pt x="503" y="4997"/>
                  </a:cubicBezTo>
                  <a:cubicBezTo>
                    <a:pt x="477" y="4997"/>
                    <a:pt x="456" y="4975"/>
                    <a:pt x="456" y="4950"/>
                  </a:cubicBezTo>
                  <a:cubicBezTo>
                    <a:pt x="456" y="4924"/>
                    <a:pt x="477" y="4903"/>
                    <a:pt x="503" y="4903"/>
                  </a:cubicBezTo>
                  <a:cubicBezTo>
                    <a:pt x="528" y="4903"/>
                    <a:pt x="550" y="4924"/>
                    <a:pt x="550" y="4950"/>
                  </a:cubicBezTo>
                  <a:close/>
                  <a:moveTo>
                    <a:pt x="550" y="5050"/>
                  </a:moveTo>
                  <a:cubicBezTo>
                    <a:pt x="550" y="5075"/>
                    <a:pt x="528" y="5097"/>
                    <a:pt x="503" y="5097"/>
                  </a:cubicBezTo>
                  <a:cubicBezTo>
                    <a:pt x="477" y="5097"/>
                    <a:pt x="456" y="5075"/>
                    <a:pt x="456" y="5050"/>
                  </a:cubicBezTo>
                  <a:cubicBezTo>
                    <a:pt x="456" y="5024"/>
                    <a:pt x="477" y="5003"/>
                    <a:pt x="503" y="5003"/>
                  </a:cubicBezTo>
                  <a:cubicBezTo>
                    <a:pt x="528" y="5003"/>
                    <a:pt x="550" y="5024"/>
                    <a:pt x="550" y="5050"/>
                  </a:cubicBezTo>
                  <a:close/>
                  <a:moveTo>
                    <a:pt x="550" y="5150"/>
                  </a:moveTo>
                  <a:cubicBezTo>
                    <a:pt x="550" y="5175"/>
                    <a:pt x="528" y="5197"/>
                    <a:pt x="503" y="5197"/>
                  </a:cubicBezTo>
                  <a:cubicBezTo>
                    <a:pt x="477" y="5197"/>
                    <a:pt x="456" y="5175"/>
                    <a:pt x="456" y="5150"/>
                  </a:cubicBezTo>
                  <a:cubicBezTo>
                    <a:pt x="456" y="5124"/>
                    <a:pt x="477" y="5103"/>
                    <a:pt x="503" y="5103"/>
                  </a:cubicBezTo>
                  <a:cubicBezTo>
                    <a:pt x="528" y="5103"/>
                    <a:pt x="550" y="5124"/>
                    <a:pt x="550" y="5150"/>
                  </a:cubicBezTo>
                  <a:close/>
                  <a:moveTo>
                    <a:pt x="550" y="5250"/>
                  </a:moveTo>
                  <a:cubicBezTo>
                    <a:pt x="550" y="5275"/>
                    <a:pt x="528" y="5297"/>
                    <a:pt x="503" y="5297"/>
                  </a:cubicBezTo>
                  <a:cubicBezTo>
                    <a:pt x="477" y="5297"/>
                    <a:pt x="456" y="5275"/>
                    <a:pt x="456" y="5250"/>
                  </a:cubicBezTo>
                  <a:cubicBezTo>
                    <a:pt x="456" y="5224"/>
                    <a:pt x="477" y="5203"/>
                    <a:pt x="503" y="5203"/>
                  </a:cubicBezTo>
                  <a:cubicBezTo>
                    <a:pt x="528" y="5203"/>
                    <a:pt x="550" y="5224"/>
                    <a:pt x="550" y="5250"/>
                  </a:cubicBezTo>
                  <a:close/>
                  <a:moveTo>
                    <a:pt x="550" y="5350"/>
                  </a:moveTo>
                  <a:cubicBezTo>
                    <a:pt x="550" y="5375"/>
                    <a:pt x="528" y="5397"/>
                    <a:pt x="503" y="5397"/>
                  </a:cubicBezTo>
                  <a:cubicBezTo>
                    <a:pt x="477" y="5397"/>
                    <a:pt x="456" y="5375"/>
                    <a:pt x="456" y="5350"/>
                  </a:cubicBezTo>
                  <a:cubicBezTo>
                    <a:pt x="456" y="5324"/>
                    <a:pt x="477" y="5303"/>
                    <a:pt x="503" y="5303"/>
                  </a:cubicBezTo>
                  <a:cubicBezTo>
                    <a:pt x="528" y="5303"/>
                    <a:pt x="550" y="5324"/>
                    <a:pt x="550" y="5350"/>
                  </a:cubicBezTo>
                  <a:close/>
                  <a:moveTo>
                    <a:pt x="550" y="5450"/>
                  </a:moveTo>
                  <a:cubicBezTo>
                    <a:pt x="550" y="5475"/>
                    <a:pt x="528" y="5497"/>
                    <a:pt x="503" y="5497"/>
                  </a:cubicBezTo>
                  <a:cubicBezTo>
                    <a:pt x="477" y="5497"/>
                    <a:pt x="456" y="5475"/>
                    <a:pt x="456" y="5450"/>
                  </a:cubicBezTo>
                  <a:cubicBezTo>
                    <a:pt x="456" y="5424"/>
                    <a:pt x="477" y="5403"/>
                    <a:pt x="503" y="5403"/>
                  </a:cubicBezTo>
                  <a:cubicBezTo>
                    <a:pt x="528" y="5403"/>
                    <a:pt x="550" y="5424"/>
                    <a:pt x="550" y="5450"/>
                  </a:cubicBezTo>
                  <a:close/>
                  <a:moveTo>
                    <a:pt x="550" y="5550"/>
                  </a:moveTo>
                  <a:cubicBezTo>
                    <a:pt x="550" y="5575"/>
                    <a:pt x="528" y="5597"/>
                    <a:pt x="503" y="5597"/>
                  </a:cubicBezTo>
                  <a:cubicBezTo>
                    <a:pt x="477" y="5597"/>
                    <a:pt x="456" y="5575"/>
                    <a:pt x="456" y="5550"/>
                  </a:cubicBezTo>
                  <a:cubicBezTo>
                    <a:pt x="456" y="5524"/>
                    <a:pt x="477" y="5503"/>
                    <a:pt x="503" y="5503"/>
                  </a:cubicBezTo>
                  <a:cubicBezTo>
                    <a:pt x="528" y="5503"/>
                    <a:pt x="550" y="5524"/>
                    <a:pt x="550" y="5550"/>
                  </a:cubicBezTo>
                  <a:close/>
                  <a:moveTo>
                    <a:pt x="550" y="5650"/>
                  </a:moveTo>
                  <a:cubicBezTo>
                    <a:pt x="550" y="5675"/>
                    <a:pt x="528" y="5697"/>
                    <a:pt x="503" y="5697"/>
                  </a:cubicBezTo>
                  <a:cubicBezTo>
                    <a:pt x="477" y="5697"/>
                    <a:pt x="456" y="5675"/>
                    <a:pt x="456" y="5650"/>
                  </a:cubicBezTo>
                  <a:cubicBezTo>
                    <a:pt x="456" y="5624"/>
                    <a:pt x="477" y="5603"/>
                    <a:pt x="503" y="5603"/>
                  </a:cubicBezTo>
                  <a:cubicBezTo>
                    <a:pt x="528" y="5603"/>
                    <a:pt x="550" y="5624"/>
                    <a:pt x="550" y="5650"/>
                  </a:cubicBezTo>
                  <a:close/>
                  <a:moveTo>
                    <a:pt x="550" y="5750"/>
                  </a:moveTo>
                  <a:cubicBezTo>
                    <a:pt x="550" y="5775"/>
                    <a:pt x="528" y="5797"/>
                    <a:pt x="503" y="5797"/>
                  </a:cubicBezTo>
                  <a:cubicBezTo>
                    <a:pt x="477" y="5797"/>
                    <a:pt x="456" y="5775"/>
                    <a:pt x="456" y="5750"/>
                  </a:cubicBezTo>
                  <a:cubicBezTo>
                    <a:pt x="456" y="5724"/>
                    <a:pt x="477" y="5703"/>
                    <a:pt x="503" y="5703"/>
                  </a:cubicBezTo>
                  <a:cubicBezTo>
                    <a:pt x="528" y="5703"/>
                    <a:pt x="550" y="5724"/>
                    <a:pt x="550" y="5750"/>
                  </a:cubicBezTo>
                  <a:close/>
                  <a:moveTo>
                    <a:pt x="550" y="5850"/>
                  </a:moveTo>
                  <a:cubicBezTo>
                    <a:pt x="550" y="5875"/>
                    <a:pt x="528" y="5897"/>
                    <a:pt x="503" y="5897"/>
                  </a:cubicBezTo>
                  <a:cubicBezTo>
                    <a:pt x="477" y="5897"/>
                    <a:pt x="456" y="5875"/>
                    <a:pt x="456" y="5850"/>
                  </a:cubicBezTo>
                  <a:cubicBezTo>
                    <a:pt x="456" y="5824"/>
                    <a:pt x="477" y="5803"/>
                    <a:pt x="503" y="5803"/>
                  </a:cubicBezTo>
                  <a:cubicBezTo>
                    <a:pt x="528" y="5803"/>
                    <a:pt x="550" y="5824"/>
                    <a:pt x="550" y="5850"/>
                  </a:cubicBezTo>
                  <a:close/>
                  <a:moveTo>
                    <a:pt x="550" y="5950"/>
                  </a:moveTo>
                  <a:cubicBezTo>
                    <a:pt x="550" y="5975"/>
                    <a:pt x="528" y="5997"/>
                    <a:pt x="503" y="5997"/>
                  </a:cubicBezTo>
                  <a:cubicBezTo>
                    <a:pt x="477" y="5997"/>
                    <a:pt x="456" y="5975"/>
                    <a:pt x="456" y="5950"/>
                  </a:cubicBezTo>
                  <a:cubicBezTo>
                    <a:pt x="456" y="5924"/>
                    <a:pt x="477" y="5903"/>
                    <a:pt x="503" y="5903"/>
                  </a:cubicBezTo>
                  <a:cubicBezTo>
                    <a:pt x="528" y="5903"/>
                    <a:pt x="550" y="5924"/>
                    <a:pt x="550" y="5950"/>
                  </a:cubicBezTo>
                  <a:close/>
                  <a:moveTo>
                    <a:pt x="550" y="6050"/>
                  </a:moveTo>
                  <a:cubicBezTo>
                    <a:pt x="550" y="6075"/>
                    <a:pt x="528" y="6097"/>
                    <a:pt x="503" y="6097"/>
                  </a:cubicBezTo>
                  <a:cubicBezTo>
                    <a:pt x="477" y="6097"/>
                    <a:pt x="456" y="6075"/>
                    <a:pt x="456" y="6050"/>
                  </a:cubicBezTo>
                  <a:cubicBezTo>
                    <a:pt x="456" y="6024"/>
                    <a:pt x="477" y="6003"/>
                    <a:pt x="503" y="6003"/>
                  </a:cubicBezTo>
                  <a:cubicBezTo>
                    <a:pt x="528" y="6003"/>
                    <a:pt x="550" y="6024"/>
                    <a:pt x="550" y="6050"/>
                  </a:cubicBezTo>
                  <a:close/>
                  <a:moveTo>
                    <a:pt x="550" y="6150"/>
                  </a:moveTo>
                  <a:cubicBezTo>
                    <a:pt x="550" y="6175"/>
                    <a:pt x="528" y="6197"/>
                    <a:pt x="503" y="6197"/>
                  </a:cubicBezTo>
                  <a:cubicBezTo>
                    <a:pt x="477" y="6197"/>
                    <a:pt x="456" y="6175"/>
                    <a:pt x="456" y="6150"/>
                  </a:cubicBezTo>
                  <a:cubicBezTo>
                    <a:pt x="456" y="6124"/>
                    <a:pt x="477" y="6103"/>
                    <a:pt x="503" y="6103"/>
                  </a:cubicBezTo>
                  <a:cubicBezTo>
                    <a:pt x="528" y="6103"/>
                    <a:pt x="550" y="6124"/>
                    <a:pt x="550" y="6150"/>
                  </a:cubicBezTo>
                  <a:close/>
                  <a:moveTo>
                    <a:pt x="550" y="6250"/>
                  </a:moveTo>
                  <a:cubicBezTo>
                    <a:pt x="550" y="6275"/>
                    <a:pt x="528" y="6297"/>
                    <a:pt x="503" y="6297"/>
                  </a:cubicBezTo>
                  <a:cubicBezTo>
                    <a:pt x="477" y="6297"/>
                    <a:pt x="456" y="6275"/>
                    <a:pt x="456" y="6250"/>
                  </a:cubicBezTo>
                  <a:cubicBezTo>
                    <a:pt x="456" y="6224"/>
                    <a:pt x="477" y="6203"/>
                    <a:pt x="503" y="6203"/>
                  </a:cubicBezTo>
                  <a:cubicBezTo>
                    <a:pt x="528" y="6203"/>
                    <a:pt x="550" y="6224"/>
                    <a:pt x="550" y="6250"/>
                  </a:cubicBezTo>
                  <a:close/>
                  <a:moveTo>
                    <a:pt x="550" y="6350"/>
                  </a:moveTo>
                  <a:cubicBezTo>
                    <a:pt x="550" y="6375"/>
                    <a:pt x="528" y="6397"/>
                    <a:pt x="503" y="6397"/>
                  </a:cubicBezTo>
                  <a:cubicBezTo>
                    <a:pt x="477" y="6397"/>
                    <a:pt x="456" y="6375"/>
                    <a:pt x="456" y="6350"/>
                  </a:cubicBezTo>
                  <a:cubicBezTo>
                    <a:pt x="456" y="6324"/>
                    <a:pt x="477" y="6303"/>
                    <a:pt x="503" y="6303"/>
                  </a:cubicBezTo>
                  <a:cubicBezTo>
                    <a:pt x="528" y="6303"/>
                    <a:pt x="550" y="6324"/>
                    <a:pt x="550" y="6350"/>
                  </a:cubicBezTo>
                  <a:close/>
                  <a:moveTo>
                    <a:pt x="550" y="6450"/>
                  </a:moveTo>
                  <a:cubicBezTo>
                    <a:pt x="550" y="6475"/>
                    <a:pt x="528" y="6497"/>
                    <a:pt x="503" y="6497"/>
                  </a:cubicBezTo>
                  <a:cubicBezTo>
                    <a:pt x="477" y="6497"/>
                    <a:pt x="456" y="6475"/>
                    <a:pt x="456" y="6450"/>
                  </a:cubicBezTo>
                  <a:cubicBezTo>
                    <a:pt x="456" y="6424"/>
                    <a:pt x="477" y="6403"/>
                    <a:pt x="503" y="6403"/>
                  </a:cubicBezTo>
                  <a:cubicBezTo>
                    <a:pt x="528" y="6403"/>
                    <a:pt x="550" y="6424"/>
                    <a:pt x="550" y="64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9A61"/>
                </a:gs>
                <a:gs pos="55000">
                  <a:srgbClr val="CA6F1E"/>
                </a:gs>
                <a:gs pos="100000">
                  <a:srgbClr val="A15818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6F3D10"/>
              </a:solidFill>
              <a:round/>
            </a:ln>
          </p:spPr>
        </p:sp>
      </p:grpSp>
      <p:grpSp>
        <p:nvGrpSpPr>
          <p:cNvPr id="14" name="!!VDAC"/>
          <p:cNvGrpSpPr/>
          <p:nvPr/>
        </p:nvGrpSpPr>
        <p:grpSpPr>
          <a:xfrm>
            <a:off x="2926080" y="3063240"/>
            <a:ext cx="731520" cy="1280160"/>
            <a:chOff x="2926080" y="3063240"/>
            <a:chExt cx="731520" cy="1280160"/>
          </a:xfrm>
        </p:grpSpPr>
        <p:sp>
          <p:nvSpPr>
            <p:cNvPr id="15" name="Forma 14"/>
            <p:cNvSpPr/>
            <p:nvPr/>
          </p:nvSpPr>
          <p:spPr>
            <a:xfrm>
              <a:off x="2926080" y="306324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581A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2926080" y="388620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581A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</p:sp>
      </p:grpSp>
      <p:grpSp>
        <p:nvGrpSpPr>
          <p:cNvPr id="17" name="!!MPC"/>
          <p:cNvGrpSpPr/>
          <p:nvPr/>
        </p:nvGrpSpPr>
        <p:grpSpPr>
          <a:xfrm>
            <a:off x="5029200" y="3063240"/>
            <a:ext cx="731520" cy="1280160"/>
            <a:chOff x="5029200" y="3063240"/>
            <a:chExt cx="731520" cy="1280160"/>
          </a:xfrm>
        </p:grpSpPr>
        <p:sp>
          <p:nvSpPr>
            <p:cNvPr id="18" name="Forma 17"/>
            <p:cNvSpPr/>
            <p:nvPr/>
          </p:nvSpPr>
          <p:spPr>
            <a:xfrm>
              <a:off x="5029200" y="306324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5029200" y="388620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</p:sp>
      </p:grpSp>
      <p:sp>
        <p:nvSpPr>
          <p:cNvPr id="20" name="!!Rótulo citoplasma"/>
          <p:cNvSpPr txBox="1"/>
          <p:nvPr/>
        </p:nvSpPr>
        <p:spPr>
          <a:xfrm>
            <a:off x="274320" y="10515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CITOPLASMA</a:t>
            </a:r>
            <a:endParaRPr lang="es-AR" sz="1400" dirty="0">
              <a:latin typeface="Calibri"/>
            </a:endParaRPr>
          </a:p>
        </p:txBody>
      </p:sp>
      <p:sp>
        <p:nvSpPr>
          <p:cNvPr id="21" name="!!Rótulo EIM"/>
          <p:cNvSpPr txBox="1"/>
          <p:nvPr/>
        </p:nvSpPr>
        <p:spPr>
          <a:xfrm>
            <a:off x="3566160" y="10515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ESPACIO</a:t>
            </a:r>
            <a:endParaRPr lang="es-AR" sz="14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INTERMEMBRANA</a:t>
            </a:r>
            <a:endParaRPr lang="es-AR" sz="1400" dirty="0">
              <a:latin typeface="Calibri"/>
            </a:endParaRPr>
          </a:p>
        </p:txBody>
      </p:sp>
      <p:sp>
        <p:nvSpPr>
          <p:cNvPr id="22" name="!!Rótulo matriz"/>
          <p:cNvSpPr txBox="1"/>
          <p:nvPr/>
        </p:nvSpPr>
        <p:spPr>
          <a:xfrm>
            <a:off x="5852160" y="10515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MATRIZ</a:t>
            </a:r>
            <a:endParaRPr lang="es-AR" sz="1400" dirty="0">
              <a:latin typeface="Calibri"/>
            </a:endParaRPr>
          </a:p>
        </p:txBody>
      </p:sp>
      <p:grpSp>
        <p:nvGrpSpPr>
          <p:cNvPr id="23" name="!!Iones"/>
          <p:cNvGrpSpPr/>
          <p:nvPr/>
        </p:nvGrpSpPr>
        <p:grpSpPr>
          <a:xfrm>
            <a:off x="2011680" y="2651760"/>
            <a:ext cx="2743200" cy="2468880"/>
            <a:chOff x="2011680" y="2651760"/>
            <a:chExt cx="2743200" cy="2468880"/>
          </a:xfrm>
        </p:grpSpPr>
        <p:sp>
          <p:nvSpPr>
            <p:cNvPr id="24" name="Forma 23"/>
            <p:cNvSpPr/>
            <p:nvPr/>
          </p:nvSpPr>
          <p:spPr>
            <a:xfrm>
              <a:off x="2286000" y="274320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2560320" y="420624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4114800" y="265176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4480560" y="448056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2011680" y="484632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</p:grpSp>
      <p:grpSp>
        <p:nvGrpSpPr>
          <p:cNvPr id="29" name="!!Orientación"/>
          <p:cNvGrpSpPr/>
          <p:nvPr/>
        </p:nvGrpSpPr>
        <p:grpSpPr>
          <a:xfrm>
            <a:off x="274320" y="4709160"/>
            <a:ext cx="2377440" cy="1600200"/>
            <a:chOff x="274320" y="4709160"/>
            <a:chExt cx="2377440" cy="1600200"/>
          </a:xfrm>
        </p:grpSpPr>
        <p:grpSp>
          <p:nvGrpSpPr>
            <p:cNvPr id="30" name="Mitocondria orientación"/>
            <p:cNvGrpSpPr/>
            <p:nvPr/>
          </p:nvGrpSpPr>
          <p:grpSpPr>
            <a:xfrm>
              <a:off x="274320" y="5120640"/>
              <a:ext cx="2103120" cy="1188720"/>
              <a:chOff x="274320" y="5120640"/>
              <a:chExt cx="2103120" cy="1188720"/>
            </a:xfrm>
          </p:grpSpPr>
          <p:sp>
            <p:nvSpPr>
              <p:cNvPr id="31" name="Membrana externa"/>
              <p:cNvSpPr/>
              <p:nvPr/>
            </p:nvSpPr>
            <p:spPr>
              <a:xfrm>
                <a:off x="274320" y="5120640"/>
                <a:ext cx="2103120" cy="118872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AD7A0"/>
                  </a:gs>
                  <a:gs pos="100000">
                    <a:srgbClr val="EB984E"/>
                  </a:gs>
                </a:gsLst>
                <a:path path="circle">
                  <a:fillToRect l="50000" t="50000" r="50000" b="50000"/>
                </a:path>
              </a:gradFill>
              <a:ln w="38100" cap="rnd">
                <a:solidFill>
                  <a:srgbClr val="784212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2" name="Membrana interna (matriz)"/>
              <p:cNvSpPr/>
              <p:nvPr/>
            </p:nvSpPr>
            <p:spPr>
              <a:xfrm>
                <a:off x="357530" y="5203850"/>
                <a:ext cx="1936699" cy="10222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EF5E7"/>
                  </a:gs>
                  <a:gs pos="100000">
                    <a:srgbClr val="FAD7A0"/>
                  </a:gs>
                </a:gsLst>
                <a:path path="circle">
                  <a:fillToRect l="50000" t="50000" r="50000" b="50000"/>
                </a:path>
              </a:gradFill>
              <a:ln w="44450" cap="rnd">
                <a:solidFill>
                  <a:srgbClr val="A04000"/>
                </a:solidFill>
                <a:round/>
              </a:ln>
            </p:spPr>
          </p:sp>
          <p:sp>
            <p:nvSpPr>
              <p:cNvPr id="33" name="Crestas"/>
              <p:cNvSpPr/>
              <p:nvPr/>
            </p:nvSpPr>
            <p:spPr>
              <a:xfrm>
                <a:off x="357530" y="5203850"/>
                <a:ext cx="1936699" cy="102229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70"/>
                    </a:moveTo>
                    <a:lnTo>
                      <a:pt x="90" y="330"/>
                    </a:lnTo>
                    <a:cubicBezTo>
                      <a:pt x="90" y="380"/>
                      <a:pt x="150" y="380"/>
                      <a:pt x="150" y="330"/>
                    </a:cubicBezTo>
                    <a:lnTo>
                      <a:pt x="150" y="70"/>
                    </a:lnTo>
                  </a:path>
                  <a:path w="1000" h="1000" fill="none">
                    <a:moveTo>
                      <a:pt x="216" y="930"/>
                    </a:moveTo>
                    <a:lnTo>
                      <a:pt x="216" y="670"/>
                    </a:lnTo>
                    <a:cubicBezTo>
                      <a:pt x="216" y="620"/>
                      <a:pt x="276" y="620"/>
                      <a:pt x="276" y="670"/>
                    </a:cubicBezTo>
                    <a:lnTo>
                      <a:pt x="276" y="930"/>
                    </a:lnTo>
                  </a:path>
                  <a:path w="1000" h="1000" fill="none">
                    <a:moveTo>
                      <a:pt x="343" y="70"/>
                    </a:moveTo>
                    <a:lnTo>
                      <a:pt x="343" y="330"/>
                    </a:lnTo>
                    <a:cubicBezTo>
                      <a:pt x="343" y="380"/>
                      <a:pt x="403" y="380"/>
                      <a:pt x="403" y="330"/>
                    </a:cubicBezTo>
                    <a:lnTo>
                      <a:pt x="403" y="70"/>
                    </a:lnTo>
                  </a:path>
                  <a:path w="1000" h="1000" fill="none">
                    <a:moveTo>
                      <a:pt x="470" y="930"/>
                    </a:moveTo>
                    <a:lnTo>
                      <a:pt x="470" y="670"/>
                    </a:lnTo>
                    <a:cubicBezTo>
                      <a:pt x="470" y="620"/>
                      <a:pt x="530" y="620"/>
                      <a:pt x="530" y="670"/>
                    </a:cubicBezTo>
                    <a:lnTo>
                      <a:pt x="530" y="930"/>
                    </a:lnTo>
                  </a:path>
                  <a:path w="1000" h="1000" fill="none">
                    <a:moveTo>
                      <a:pt x="596" y="70"/>
                    </a:moveTo>
                    <a:lnTo>
                      <a:pt x="596" y="330"/>
                    </a:lnTo>
                    <a:cubicBezTo>
                      <a:pt x="596" y="380"/>
                      <a:pt x="656" y="380"/>
                      <a:pt x="656" y="330"/>
                    </a:cubicBezTo>
                    <a:lnTo>
                      <a:pt x="656" y="70"/>
                    </a:lnTo>
                  </a:path>
                  <a:path w="1000" h="1000" fill="none">
                    <a:moveTo>
                      <a:pt x="723" y="930"/>
                    </a:moveTo>
                    <a:lnTo>
                      <a:pt x="723" y="670"/>
                    </a:lnTo>
                    <a:cubicBezTo>
                      <a:pt x="723" y="620"/>
                      <a:pt x="783" y="620"/>
                      <a:pt x="783" y="670"/>
                    </a:cubicBezTo>
                    <a:lnTo>
                      <a:pt x="783" y="930"/>
                    </a:lnTo>
                  </a:path>
                  <a:path w="1000" h="1000" fill="none">
                    <a:moveTo>
                      <a:pt x="850" y="70"/>
                    </a:moveTo>
                    <a:lnTo>
                      <a:pt x="850" y="330"/>
                    </a:lnTo>
                    <a:cubicBezTo>
                      <a:pt x="850" y="380"/>
                      <a:pt x="910" y="380"/>
                      <a:pt x="910" y="330"/>
                    </a:cubicBezTo>
                    <a:lnTo>
                      <a:pt x="910" y="70"/>
                    </a:lnTo>
                  </a:path>
                </a:pathLst>
              </a:custGeom>
              <a:noFill/>
              <a:ln w="38100" cap="rnd">
                <a:solidFill>
                  <a:srgbClr val="A04000"/>
                </a:solidFill>
                <a:round/>
              </a:ln>
            </p:spPr>
          </p:sp>
        </p:grpSp>
        <p:sp>
          <p:nvSpPr>
            <p:cNvPr id="34" name="Forma 33"/>
            <p:cNvSpPr/>
            <p:nvPr/>
          </p:nvSpPr>
          <p:spPr>
            <a:xfrm>
              <a:off x="1691640" y="5257800"/>
              <a:ext cx="502920" cy="502920"/>
            </a:xfrm>
            <a:prstGeom prst="ellipse">
              <a:avLst/>
            </a:prstGeom>
            <a:noFill/>
            <a:ln w="31750" cap="rnd">
              <a:solidFill>
                <a:srgbClr val="C00000"/>
              </a:solidFill>
              <a:round/>
            </a:ln>
          </p:spPr>
        </p:sp>
        <p:sp>
          <p:nvSpPr>
            <p:cNvPr id="35" name="Forma 34"/>
            <p:cNvSpPr txBox="1"/>
            <p:nvPr/>
          </p:nvSpPr>
          <p:spPr>
            <a:xfrm>
              <a:off x="274320" y="470916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zona ampliada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36" name="!!PDH"/>
          <p:cNvGrpSpPr/>
          <p:nvPr/>
        </p:nvGrpSpPr>
        <p:grpSpPr>
          <a:xfrm>
            <a:off x="5852160" y="4846320"/>
            <a:ext cx="2377440" cy="1600200"/>
            <a:chOff x="5852160" y="4846320"/>
            <a:chExt cx="2377440" cy="1600200"/>
          </a:xfrm>
        </p:grpSpPr>
        <p:sp>
          <p:nvSpPr>
            <p:cNvPr id="37" name="E1 mini"/>
            <p:cNvSpPr/>
            <p:nvPr/>
          </p:nvSpPr>
          <p:spPr>
            <a:xfrm>
              <a:off x="6035040" y="4846320"/>
              <a:ext cx="82296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8" name="E2 mini"/>
            <p:cNvSpPr/>
            <p:nvPr/>
          </p:nvSpPr>
          <p:spPr>
            <a:xfrm>
              <a:off x="6675120" y="5257800"/>
              <a:ext cx="914400" cy="8229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910" y="568"/>
                    <a:pt x="915" y="658"/>
                    <a:pt x="885" y="722"/>
                  </a:cubicBezTo>
                  <a:cubicBezTo>
                    <a:pt x="854" y="785"/>
                    <a:pt x="783" y="852"/>
                    <a:pt x="719" y="880"/>
                  </a:cubicBezTo>
                  <a:cubicBezTo>
                    <a:pt x="654" y="907"/>
                    <a:pt x="571" y="889"/>
                    <a:pt x="500" y="886"/>
                  </a:cubicBezTo>
                  <a:cubicBezTo>
                    <a:pt x="428" y="882"/>
                    <a:pt x="355" y="888"/>
                    <a:pt x="291" y="861"/>
                  </a:cubicBezTo>
                  <a:cubicBezTo>
                    <a:pt x="226" y="833"/>
                    <a:pt x="148" y="783"/>
                    <a:pt x="112" y="723"/>
                  </a:cubicBezTo>
                  <a:cubicBezTo>
                    <a:pt x="75" y="662"/>
                    <a:pt x="70" y="574"/>
                    <a:pt x="70" y="500"/>
                  </a:cubicBezTo>
                  <a:cubicBezTo>
                    <a:pt x="69" y="425"/>
                    <a:pt x="75" y="339"/>
                    <a:pt x="110" y="275"/>
                  </a:cubicBezTo>
                  <a:cubicBezTo>
                    <a:pt x="144" y="210"/>
                    <a:pt x="212" y="140"/>
                    <a:pt x="277" y="115"/>
                  </a:cubicBezTo>
                  <a:cubicBezTo>
                    <a:pt x="341" y="89"/>
                    <a:pt x="424" y="122"/>
                    <a:pt x="499" y="122"/>
                  </a:cubicBezTo>
                  <a:cubicBezTo>
                    <a:pt x="573" y="121"/>
                    <a:pt x="669" y="80"/>
                    <a:pt x="723" y="112"/>
                  </a:cubicBezTo>
                  <a:cubicBezTo>
                    <a:pt x="776" y="144"/>
                    <a:pt x="791" y="249"/>
                    <a:pt x="821" y="314"/>
                  </a:cubicBezTo>
                  <a:cubicBezTo>
                    <a:pt x="850" y="378"/>
                    <a:pt x="889" y="432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EDD0"/>
                </a:gs>
                <a:gs pos="55000">
                  <a:srgbClr val="82E0AA"/>
                </a:gs>
                <a:gs pos="100000">
                  <a:srgbClr val="61A87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17055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9" name="E3 mini"/>
            <p:cNvSpPr/>
            <p:nvPr/>
          </p:nvSpPr>
          <p:spPr>
            <a:xfrm>
              <a:off x="7360920" y="4846320"/>
              <a:ext cx="777240" cy="6858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49" y="500"/>
                  </a:moveTo>
                  <a:cubicBezTo>
                    <a:pt x="938" y="573"/>
                    <a:pt x="884" y="634"/>
                    <a:pt x="848" y="701"/>
                  </a:cubicBezTo>
                  <a:cubicBezTo>
                    <a:pt x="811" y="767"/>
                    <a:pt x="790" y="865"/>
                    <a:pt x="732" y="901"/>
                  </a:cubicBezTo>
                  <a:cubicBezTo>
                    <a:pt x="674" y="936"/>
                    <a:pt x="578" y="914"/>
                    <a:pt x="500" y="915"/>
                  </a:cubicBezTo>
                  <a:cubicBezTo>
                    <a:pt x="422" y="916"/>
                    <a:pt x="330" y="938"/>
                    <a:pt x="264" y="907"/>
                  </a:cubicBezTo>
                  <a:cubicBezTo>
                    <a:pt x="197" y="876"/>
                    <a:pt x="143" y="796"/>
                    <a:pt x="103" y="729"/>
                  </a:cubicBezTo>
                  <a:cubicBezTo>
                    <a:pt x="62" y="661"/>
                    <a:pt x="23" y="576"/>
                    <a:pt x="23" y="500"/>
                  </a:cubicBezTo>
                  <a:cubicBezTo>
                    <a:pt x="22" y="423"/>
                    <a:pt x="56" y="333"/>
                    <a:pt x="98" y="268"/>
                  </a:cubicBezTo>
                  <a:cubicBezTo>
                    <a:pt x="139" y="202"/>
                    <a:pt x="206" y="141"/>
                    <a:pt x="273" y="107"/>
                  </a:cubicBezTo>
                  <a:cubicBezTo>
                    <a:pt x="339" y="72"/>
                    <a:pt x="430" y="51"/>
                    <a:pt x="499" y="63"/>
                  </a:cubicBezTo>
                  <a:cubicBezTo>
                    <a:pt x="567" y="74"/>
                    <a:pt x="617" y="143"/>
                    <a:pt x="686" y="176"/>
                  </a:cubicBezTo>
                  <a:cubicBezTo>
                    <a:pt x="755" y="209"/>
                    <a:pt x="869" y="207"/>
                    <a:pt x="913" y="261"/>
                  </a:cubicBezTo>
                  <a:cubicBezTo>
                    <a:pt x="956" y="315"/>
                    <a:pt x="959" y="426"/>
                    <a:pt x="949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BDCF2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26074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0" name="Forma 39"/>
            <p:cNvSpPr txBox="1"/>
            <p:nvPr/>
          </p:nvSpPr>
          <p:spPr>
            <a:xfrm>
              <a:off x="5852160" y="61264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complejo PDH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41" name="!!Piruvato"/>
          <p:cNvSpPr/>
          <p:nvPr/>
        </p:nvSpPr>
        <p:spPr>
          <a:xfrm>
            <a:off x="3657600" y="3401568"/>
            <a:ext cx="1463040" cy="5029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</a:t>
            </a:r>
            <a:endParaRPr lang="es-AR" sz="1500" dirty="0">
              <a:latin typeface="Calibri"/>
            </a:endParaRPr>
          </a:p>
        </p:txBody>
      </p:sp>
      <p:grpSp>
        <p:nvGrpSpPr>
          <p:cNvPr id="42" name="Caja VDAC"/>
          <p:cNvGrpSpPr/>
          <p:nvPr/>
        </p:nvGrpSpPr>
        <p:grpSpPr>
          <a:xfrm>
            <a:off x="8549640" y="1097280"/>
            <a:ext cx="3383280" cy="3383280"/>
            <a:chOff x="8549640" y="1097280"/>
            <a:chExt cx="3383280" cy="3383280"/>
          </a:xfrm>
        </p:grpSpPr>
        <p:sp>
          <p:nvSpPr>
            <p:cNvPr id="43" name="Forma 42"/>
            <p:cNvSpPr/>
            <p:nvPr/>
          </p:nvSpPr>
          <p:spPr>
            <a:xfrm>
              <a:off x="8549640" y="1298448"/>
              <a:ext cx="3383280" cy="31821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Cruza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membrana externa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por el canal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VDAC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(canal de aniones dependiente de voltaje).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es específico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piruvato: entra acoplado al transporte de iones y llega al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espacio intermembrana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8677656" y="1097280"/>
              <a:ext cx="744346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VDAC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181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6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MEMBRANA EXTERNA: CANAL VDAC</a:t>
            </a:r>
            <a:endParaRPr lang="es-AR" sz="26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4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sp>
        <p:nvSpPr>
          <p:cNvPr id="5" name="!!Zona citoplasma"/>
          <p:cNvSpPr/>
          <p:nvPr/>
        </p:nvSpPr>
        <p:spPr>
          <a:xfrm>
            <a:off x="0" y="914400"/>
            <a:ext cx="3017520" cy="5943600"/>
          </a:xfrm>
          <a:prstGeom prst="rect">
            <a:avLst/>
          </a:prstGeom>
          <a:solidFill>
            <a:srgbClr val="FAD7A0">
              <a:alpha val="55000"/>
            </a:srgbClr>
          </a:solidFill>
          <a:ln>
            <a:noFill/>
          </a:ln>
        </p:spPr>
      </p:sp>
      <p:sp>
        <p:nvSpPr>
          <p:cNvPr id="6" name="!!Espacio intermembrana"/>
          <p:cNvSpPr/>
          <p:nvPr/>
        </p:nvSpPr>
        <p:spPr>
          <a:xfrm>
            <a:off x="3520440" y="914400"/>
            <a:ext cx="1600200" cy="5943600"/>
          </a:xfrm>
          <a:prstGeom prst="rect">
            <a:avLst/>
          </a:prstGeom>
          <a:solidFill>
            <a:srgbClr val="FDEBD0">
              <a:alpha val="80000"/>
            </a:srgbClr>
          </a:solidFill>
          <a:ln>
            <a:noFill/>
          </a:ln>
        </p:spPr>
      </p:sp>
      <p:sp>
        <p:nvSpPr>
          <p:cNvPr id="7" name="!!Matriz"/>
          <p:cNvSpPr/>
          <p:nvPr/>
        </p:nvSpPr>
        <p:spPr>
          <a:xfrm>
            <a:off x="5623560" y="914400"/>
            <a:ext cx="2651760" cy="5943600"/>
          </a:xfrm>
          <a:prstGeom prst="rect">
            <a:avLst/>
          </a:prstGeom>
          <a:solidFill>
            <a:srgbClr val="FEF5E7">
              <a:alpha val="100000"/>
            </a:srgbClr>
          </a:solidFill>
          <a:ln>
            <a:noFill/>
          </a:ln>
        </p:spPr>
      </p:sp>
      <p:grpSp>
        <p:nvGrpSpPr>
          <p:cNvPr id="8" name="!!Membrana externa"/>
          <p:cNvGrpSpPr/>
          <p:nvPr/>
        </p:nvGrpSpPr>
        <p:grpSpPr>
          <a:xfrm>
            <a:off x="3017520" y="914400"/>
            <a:ext cx="502920" cy="5943600"/>
            <a:chOff x="3017520" y="914400"/>
            <a:chExt cx="502920" cy="5943600"/>
          </a:xfrm>
        </p:grpSpPr>
        <p:sp>
          <p:nvSpPr>
            <p:cNvPr id="9" name="Forma 8"/>
            <p:cNvSpPr/>
            <p:nvPr/>
          </p:nvSpPr>
          <p:spPr>
            <a:xfrm>
              <a:off x="3108046" y="914400"/>
              <a:ext cx="321869" cy="5943600"/>
            </a:xfrm>
            <a:prstGeom prst="rect">
              <a:avLst/>
            </a:prstGeom>
            <a:solidFill>
              <a:srgbClr val="FDEBD0"/>
            </a:solidFill>
            <a:ln>
              <a:noFill/>
            </a:ln>
          </p:spPr>
        </p:sp>
        <p:sp>
          <p:nvSpPr>
            <p:cNvPr id="10" name="Forma 9"/>
            <p:cNvSpPr/>
            <p:nvPr/>
          </p:nvSpPr>
          <p:spPr>
            <a:xfrm>
              <a:off x="3017520" y="914400"/>
              <a:ext cx="502920" cy="5943600"/>
            </a:xfrm>
            <a:custGeom>
              <a:avLst/>
              <a:gdLst/>
              <a:ahLst/>
              <a:cxnLst/>
              <a:rect l="0" t="0" r="r" b="b"/>
              <a:pathLst>
                <a:path w="550" h="6500">
                  <a:moveTo>
                    <a:pt x="94" y="50"/>
                  </a:moveTo>
                  <a:cubicBezTo>
                    <a:pt x="94" y="75"/>
                    <a:pt x="72" y="97"/>
                    <a:pt x="47" y="97"/>
                  </a:cubicBezTo>
                  <a:cubicBezTo>
                    <a:pt x="21" y="97"/>
                    <a:pt x="0" y="75"/>
                    <a:pt x="0" y="50"/>
                  </a:cubicBezTo>
                  <a:cubicBezTo>
                    <a:pt x="0" y="24"/>
                    <a:pt x="21" y="3"/>
                    <a:pt x="47" y="3"/>
                  </a:cubicBezTo>
                  <a:cubicBezTo>
                    <a:pt x="72" y="3"/>
                    <a:pt x="94" y="24"/>
                    <a:pt x="94" y="50"/>
                  </a:cubicBezTo>
                  <a:close/>
                  <a:moveTo>
                    <a:pt x="94" y="150"/>
                  </a:moveTo>
                  <a:cubicBezTo>
                    <a:pt x="94" y="175"/>
                    <a:pt x="72" y="197"/>
                    <a:pt x="47" y="197"/>
                  </a:cubicBezTo>
                  <a:cubicBezTo>
                    <a:pt x="21" y="197"/>
                    <a:pt x="0" y="175"/>
                    <a:pt x="0" y="150"/>
                  </a:cubicBezTo>
                  <a:cubicBezTo>
                    <a:pt x="0" y="124"/>
                    <a:pt x="21" y="103"/>
                    <a:pt x="47" y="103"/>
                  </a:cubicBezTo>
                  <a:cubicBezTo>
                    <a:pt x="72" y="103"/>
                    <a:pt x="94" y="124"/>
                    <a:pt x="94" y="150"/>
                  </a:cubicBezTo>
                  <a:close/>
                  <a:moveTo>
                    <a:pt x="94" y="250"/>
                  </a:moveTo>
                  <a:cubicBezTo>
                    <a:pt x="94" y="275"/>
                    <a:pt x="72" y="297"/>
                    <a:pt x="47" y="297"/>
                  </a:cubicBezTo>
                  <a:cubicBezTo>
                    <a:pt x="21" y="297"/>
                    <a:pt x="0" y="275"/>
                    <a:pt x="0" y="250"/>
                  </a:cubicBezTo>
                  <a:cubicBezTo>
                    <a:pt x="0" y="224"/>
                    <a:pt x="21" y="203"/>
                    <a:pt x="47" y="203"/>
                  </a:cubicBezTo>
                  <a:cubicBezTo>
                    <a:pt x="72" y="203"/>
                    <a:pt x="94" y="224"/>
                    <a:pt x="94" y="250"/>
                  </a:cubicBezTo>
                  <a:close/>
                  <a:moveTo>
                    <a:pt x="94" y="350"/>
                  </a:moveTo>
                  <a:cubicBezTo>
                    <a:pt x="94" y="375"/>
                    <a:pt x="72" y="397"/>
                    <a:pt x="47" y="397"/>
                  </a:cubicBezTo>
                  <a:cubicBezTo>
                    <a:pt x="21" y="397"/>
                    <a:pt x="0" y="375"/>
                    <a:pt x="0" y="350"/>
                  </a:cubicBezTo>
                  <a:cubicBezTo>
                    <a:pt x="0" y="324"/>
                    <a:pt x="21" y="303"/>
                    <a:pt x="47" y="303"/>
                  </a:cubicBezTo>
                  <a:cubicBezTo>
                    <a:pt x="72" y="303"/>
                    <a:pt x="94" y="324"/>
                    <a:pt x="94" y="350"/>
                  </a:cubicBezTo>
                  <a:close/>
                  <a:moveTo>
                    <a:pt x="94" y="450"/>
                  </a:moveTo>
                  <a:cubicBezTo>
                    <a:pt x="94" y="475"/>
                    <a:pt x="72" y="497"/>
                    <a:pt x="47" y="497"/>
                  </a:cubicBezTo>
                  <a:cubicBezTo>
                    <a:pt x="21" y="497"/>
                    <a:pt x="0" y="475"/>
                    <a:pt x="0" y="450"/>
                  </a:cubicBezTo>
                  <a:cubicBezTo>
                    <a:pt x="0" y="424"/>
                    <a:pt x="21" y="403"/>
                    <a:pt x="47" y="403"/>
                  </a:cubicBezTo>
                  <a:cubicBezTo>
                    <a:pt x="72" y="403"/>
                    <a:pt x="94" y="424"/>
                    <a:pt x="94" y="450"/>
                  </a:cubicBezTo>
                  <a:close/>
                  <a:moveTo>
                    <a:pt x="94" y="550"/>
                  </a:moveTo>
                  <a:cubicBezTo>
                    <a:pt x="94" y="575"/>
                    <a:pt x="72" y="597"/>
                    <a:pt x="47" y="597"/>
                  </a:cubicBezTo>
                  <a:cubicBezTo>
                    <a:pt x="21" y="597"/>
                    <a:pt x="0" y="575"/>
                    <a:pt x="0" y="550"/>
                  </a:cubicBezTo>
                  <a:cubicBezTo>
                    <a:pt x="0" y="524"/>
                    <a:pt x="21" y="503"/>
                    <a:pt x="47" y="503"/>
                  </a:cubicBezTo>
                  <a:cubicBezTo>
                    <a:pt x="72" y="503"/>
                    <a:pt x="94" y="524"/>
                    <a:pt x="94" y="550"/>
                  </a:cubicBezTo>
                  <a:close/>
                  <a:moveTo>
                    <a:pt x="94" y="650"/>
                  </a:moveTo>
                  <a:cubicBezTo>
                    <a:pt x="94" y="675"/>
                    <a:pt x="72" y="697"/>
                    <a:pt x="47" y="697"/>
                  </a:cubicBezTo>
                  <a:cubicBezTo>
                    <a:pt x="21" y="697"/>
                    <a:pt x="0" y="675"/>
                    <a:pt x="0" y="650"/>
                  </a:cubicBezTo>
                  <a:cubicBezTo>
                    <a:pt x="0" y="624"/>
                    <a:pt x="21" y="603"/>
                    <a:pt x="47" y="603"/>
                  </a:cubicBezTo>
                  <a:cubicBezTo>
                    <a:pt x="72" y="603"/>
                    <a:pt x="94" y="624"/>
                    <a:pt x="94" y="650"/>
                  </a:cubicBezTo>
                  <a:close/>
                  <a:moveTo>
                    <a:pt x="94" y="750"/>
                  </a:moveTo>
                  <a:cubicBezTo>
                    <a:pt x="94" y="775"/>
                    <a:pt x="72" y="797"/>
                    <a:pt x="47" y="797"/>
                  </a:cubicBezTo>
                  <a:cubicBezTo>
                    <a:pt x="21" y="797"/>
                    <a:pt x="0" y="775"/>
                    <a:pt x="0" y="750"/>
                  </a:cubicBezTo>
                  <a:cubicBezTo>
                    <a:pt x="0" y="724"/>
                    <a:pt x="21" y="703"/>
                    <a:pt x="47" y="703"/>
                  </a:cubicBezTo>
                  <a:cubicBezTo>
                    <a:pt x="72" y="703"/>
                    <a:pt x="94" y="724"/>
                    <a:pt x="94" y="750"/>
                  </a:cubicBezTo>
                  <a:close/>
                  <a:moveTo>
                    <a:pt x="94" y="850"/>
                  </a:moveTo>
                  <a:cubicBezTo>
                    <a:pt x="94" y="875"/>
                    <a:pt x="72" y="897"/>
                    <a:pt x="47" y="897"/>
                  </a:cubicBezTo>
                  <a:cubicBezTo>
                    <a:pt x="21" y="897"/>
                    <a:pt x="0" y="875"/>
                    <a:pt x="0" y="850"/>
                  </a:cubicBezTo>
                  <a:cubicBezTo>
                    <a:pt x="0" y="824"/>
                    <a:pt x="21" y="803"/>
                    <a:pt x="47" y="803"/>
                  </a:cubicBezTo>
                  <a:cubicBezTo>
                    <a:pt x="72" y="803"/>
                    <a:pt x="94" y="824"/>
                    <a:pt x="94" y="850"/>
                  </a:cubicBezTo>
                  <a:close/>
                  <a:moveTo>
                    <a:pt x="94" y="950"/>
                  </a:moveTo>
                  <a:cubicBezTo>
                    <a:pt x="94" y="975"/>
                    <a:pt x="72" y="997"/>
                    <a:pt x="47" y="997"/>
                  </a:cubicBezTo>
                  <a:cubicBezTo>
                    <a:pt x="21" y="997"/>
                    <a:pt x="0" y="975"/>
                    <a:pt x="0" y="950"/>
                  </a:cubicBezTo>
                  <a:cubicBezTo>
                    <a:pt x="0" y="924"/>
                    <a:pt x="21" y="903"/>
                    <a:pt x="47" y="903"/>
                  </a:cubicBezTo>
                  <a:cubicBezTo>
                    <a:pt x="72" y="903"/>
                    <a:pt x="94" y="924"/>
                    <a:pt x="94" y="950"/>
                  </a:cubicBezTo>
                  <a:close/>
                  <a:moveTo>
                    <a:pt x="94" y="1050"/>
                  </a:moveTo>
                  <a:cubicBezTo>
                    <a:pt x="94" y="1075"/>
                    <a:pt x="72" y="1097"/>
                    <a:pt x="47" y="1097"/>
                  </a:cubicBezTo>
                  <a:cubicBezTo>
                    <a:pt x="21" y="1097"/>
                    <a:pt x="0" y="1075"/>
                    <a:pt x="0" y="1050"/>
                  </a:cubicBezTo>
                  <a:cubicBezTo>
                    <a:pt x="0" y="1024"/>
                    <a:pt x="21" y="1003"/>
                    <a:pt x="47" y="1003"/>
                  </a:cubicBezTo>
                  <a:cubicBezTo>
                    <a:pt x="72" y="1003"/>
                    <a:pt x="94" y="1024"/>
                    <a:pt x="94" y="1050"/>
                  </a:cubicBezTo>
                  <a:close/>
                  <a:moveTo>
                    <a:pt x="94" y="1150"/>
                  </a:moveTo>
                  <a:cubicBezTo>
                    <a:pt x="94" y="1175"/>
                    <a:pt x="72" y="1197"/>
                    <a:pt x="47" y="1197"/>
                  </a:cubicBezTo>
                  <a:cubicBezTo>
                    <a:pt x="21" y="1197"/>
                    <a:pt x="0" y="1175"/>
                    <a:pt x="0" y="1150"/>
                  </a:cubicBezTo>
                  <a:cubicBezTo>
                    <a:pt x="0" y="1124"/>
                    <a:pt x="21" y="1103"/>
                    <a:pt x="47" y="1103"/>
                  </a:cubicBezTo>
                  <a:cubicBezTo>
                    <a:pt x="72" y="1103"/>
                    <a:pt x="94" y="1124"/>
                    <a:pt x="94" y="1150"/>
                  </a:cubicBezTo>
                  <a:close/>
                  <a:moveTo>
                    <a:pt x="94" y="1250"/>
                  </a:moveTo>
                  <a:cubicBezTo>
                    <a:pt x="94" y="1275"/>
                    <a:pt x="72" y="1297"/>
                    <a:pt x="47" y="1297"/>
                  </a:cubicBezTo>
                  <a:cubicBezTo>
                    <a:pt x="21" y="1297"/>
                    <a:pt x="0" y="1275"/>
                    <a:pt x="0" y="1250"/>
                  </a:cubicBezTo>
                  <a:cubicBezTo>
                    <a:pt x="0" y="1224"/>
                    <a:pt x="21" y="1203"/>
                    <a:pt x="47" y="1203"/>
                  </a:cubicBezTo>
                  <a:cubicBezTo>
                    <a:pt x="72" y="1203"/>
                    <a:pt x="94" y="1224"/>
                    <a:pt x="94" y="1250"/>
                  </a:cubicBezTo>
                  <a:close/>
                  <a:moveTo>
                    <a:pt x="94" y="1350"/>
                  </a:moveTo>
                  <a:cubicBezTo>
                    <a:pt x="94" y="1375"/>
                    <a:pt x="72" y="1397"/>
                    <a:pt x="47" y="1397"/>
                  </a:cubicBezTo>
                  <a:cubicBezTo>
                    <a:pt x="21" y="1397"/>
                    <a:pt x="0" y="1375"/>
                    <a:pt x="0" y="1350"/>
                  </a:cubicBezTo>
                  <a:cubicBezTo>
                    <a:pt x="0" y="1324"/>
                    <a:pt x="21" y="1303"/>
                    <a:pt x="47" y="1303"/>
                  </a:cubicBezTo>
                  <a:cubicBezTo>
                    <a:pt x="72" y="1303"/>
                    <a:pt x="94" y="1324"/>
                    <a:pt x="94" y="1350"/>
                  </a:cubicBezTo>
                  <a:close/>
                  <a:moveTo>
                    <a:pt x="94" y="1450"/>
                  </a:moveTo>
                  <a:cubicBezTo>
                    <a:pt x="94" y="1475"/>
                    <a:pt x="72" y="1497"/>
                    <a:pt x="47" y="1497"/>
                  </a:cubicBezTo>
                  <a:cubicBezTo>
                    <a:pt x="21" y="1497"/>
                    <a:pt x="0" y="1475"/>
                    <a:pt x="0" y="1450"/>
                  </a:cubicBezTo>
                  <a:cubicBezTo>
                    <a:pt x="0" y="1424"/>
                    <a:pt x="21" y="1403"/>
                    <a:pt x="47" y="1403"/>
                  </a:cubicBezTo>
                  <a:cubicBezTo>
                    <a:pt x="72" y="1403"/>
                    <a:pt x="94" y="1424"/>
                    <a:pt x="94" y="1450"/>
                  </a:cubicBezTo>
                  <a:close/>
                  <a:moveTo>
                    <a:pt x="94" y="1550"/>
                  </a:moveTo>
                  <a:cubicBezTo>
                    <a:pt x="94" y="1575"/>
                    <a:pt x="72" y="1597"/>
                    <a:pt x="47" y="1597"/>
                  </a:cubicBezTo>
                  <a:cubicBezTo>
                    <a:pt x="21" y="1597"/>
                    <a:pt x="0" y="1575"/>
                    <a:pt x="0" y="1550"/>
                  </a:cubicBezTo>
                  <a:cubicBezTo>
                    <a:pt x="0" y="1524"/>
                    <a:pt x="21" y="1503"/>
                    <a:pt x="47" y="1503"/>
                  </a:cubicBezTo>
                  <a:cubicBezTo>
                    <a:pt x="72" y="1503"/>
                    <a:pt x="94" y="1524"/>
                    <a:pt x="94" y="1550"/>
                  </a:cubicBezTo>
                  <a:close/>
                  <a:moveTo>
                    <a:pt x="94" y="1650"/>
                  </a:moveTo>
                  <a:cubicBezTo>
                    <a:pt x="94" y="1675"/>
                    <a:pt x="72" y="1697"/>
                    <a:pt x="47" y="1697"/>
                  </a:cubicBezTo>
                  <a:cubicBezTo>
                    <a:pt x="21" y="1697"/>
                    <a:pt x="0" y="1675"/>
                    <a:pt x="0" y="1650"/>
                  </a:cubicBezTo>
                  <a:cubicBezTo>
                    <a:pt x="0" y="1624"/>
                    <a:pt x="21" y="1603"/>
                    <a:pt x="47" y="1603"/>
                  </a:cubicBezTo>
                  <a:cubicBezTo>
                    <a:pt x="72" y="1603"/>
                    <a:pt x="94" y="1624"/>
                    <a:pt x="94" y="1650"/>
                  </a:cubicBezTo>
                  <a:close/>
                  <a:moveTo>
                    <a:pt x="94" y="1750"/>
                  </a:moveTo>
                  <a:cubicBezTo>
                    <a:pt x="94" y="1775"/>
                    <a:pt x="72" y="1797"/>
                    <a:pt x="47" y="1797"/>
                  </a:cubicBezTo>
                  <a:cubicBezTo>
                    <a:pt x="21" y="1797"/>
                    <a:pt x="0" y="1775"/>
                    <a:pt x="0" y="1750"/>
                  </a:cubicBezTo>
                  <a:cubicBezTo>
                    <a:pt x="0" y="1724"/>
                    <a:pt x="21" y="1703"/>
                    <a:pt x="47" y="1703"/>
                  </a:cubicBezTo>
                  <a:cubicBezTo>
                    <a:pt x="72" y="1703"/>
                    <a:pt x="94" y="1724"/>
                    <a:pt x="94" y="1750"/>
                  </a:cubicBezTo>
                  <a:close/>
                  <a:moveTo>
                    <a:pt x="94" y="1850"/>
                  </a:moveTo>
                  <a:cubicBezTo>
                    <a:pt x="94" y="1875"/>
                    <a:pt x="72" y="1897"/>
                    <a:pt x="47" y="1897"/>
                  </a:cubicBezTo>
                  <a:cubicBezTo>
                    <a:pt x="21" y="1897"/>
                    <a:pt x="0" y="1875"/>
                    <a:pt x="0" y="1850"/>
                  </a:cubicBezTo>
                  <a:cubicBezTo>
                    <a:pt x="0" y="1824"/>
                    <a:pt x="21" y="1803"/>
                    <a:pt x="47" y="1803"/>
                  </a:cubicBezTo>
                  <a:cubicBezTo>
                    <a:pt x="72" y="1803"/>
                    <a:pt x="94" y="1824"/>
                    <a:pt x="94" y="1850"/>
                  </a:cubicBezTo>
                  <a:close/>
                  <a:moveTo>
                    <a:pt x="94" y="1950"/>
                  </a:moveTo>
                  <a:cubicBezTo>
                    <a:pt x="94" y="1975"/>
                    <a:pt x="72" y="1997"/>
                    <a:pt x="47" y="1997"/>
                  </a:cubicBezTo>
                  <a:cubicBezTo>
                    <a:pt x="21" y="1997"/>
                    <a:pt x="0" y="1975"/>
                    <a:pt x="0" y="1950"/>
                  </a:cubicBezTo>
                  <a:cubicBezTo>
                    <a:pt x="0" y="1924"/>
                    <a:pt x="21" y="1903"/>
                    <a:pt x="47" y="1903"/>
                  </a:cubicBezTo>
                  <a:cubicBezTo>
                    <a:pt x="72" y="1903"/>
                    <a:pt x="94" y="1924"/>
                    <a:pt x="94" y="1950"/>
                  </a:cubicBezTo>
                  <a:close/>
                  <a:moveTo>
                    <a:pt x="94" y="2050"/>
                  </a:moveTo>
                  <a:cubicBezTo>
                    <a:pt x="94" y="2075"/>
                    <a:pt x="72" y="2097"/>
                    <a:pt x="47" y="2097"/>
                  </a:cubicBezTo>
                  <a:cubicBezTo>
                    <a:pt x="21" y="2097"/>
                    <a:pt x="0" y="2075"/>
                    <a:pt x="0" y="2050"/>
                  </a:cubicBezTo>
                  <a:cubicBezTo>
                    <a:pt x="0" y="2024"/>
                    <a:pt x="21" y="2003"/>
                    <a:pt x="47" y="2003"/>
                  </a:cubicBezTo>
                  <a:cubicBezTo>
                    <a:pt x="72" y="2003"/>
                    <a:pt x="94" y="2024"/>
                    <a:pt x="94" y="2050"/>
                  </a:cubicBezTo>
                  <a:close/>
                  <a:moveTo>
                    <a:pt x="94" y="2150"/>
                  </a:moveTo>
                  <a:cubicBezTo>
                    <a:pt x="94" y="2175"/>
                    <a:pt x="72" y="2197"/>
                    <a:pt x="47" y="2197"/>
                  </a:cubicBezTo>
                  <a:cubicBezTo>
                    <a:pt x="21" y="2197"/>
                    <a:pt x="0" y="2175"/>
                    <a:pt x="0" y="2150"/>
                  </a:cubicBezTo>
                  <a:cubicBezTo>
                    <a:pt x="0" y="2124"/>
                    <a:pt x="21" y="2103"/>
                    <a:pt x="47" y="2103"/>
                  </a:cubicBezTo>
                  <a:cubicBezTo>
                    <a:pt x="72" y="2103"/>
                    <a:pt x="94" y="2124"/>
                    <a:pt x="94" y="2150"/>
                  </a:cubicBezTo>
                  <a:close/>
                  <a:moveTo>
                    <a:pt x="94" y="2250"/>
                  </a:moveTo>
                  <a:cubicBezTo>
                    <a:pt x="94" y="2275"/>
                    <a:pt x="72" y="2297"/>
                    <a:pt x="47" y="2297"/>
                  </a:cubicBezTo>
                  <a:cubicBezTo>
                    <a:pt x="21" y="2297"/>
                    <a:pt x="0" y="2275"/>
                    <a:pt x="0" y="2250"/>
                  </a:cubicBezTo>
                  <a:cubicBezTo>
                    <a:pt x="0" y="2224"/>
                    <a:pt x="21" y="2203"/>
                    <a:pt x="47" y="2203"/>
                  </a:cubicBezTo>
                  <a:cubicBezTo>
                    <a:pt x="72" y="2203"/>
                    <a:pt x="94" y="2224"/>
                    <a:pt x="94" y="2250"/>
                  </a:cubicBezTo>
                  <a:close/>
                  <a:moveTo>
                    <a:pt x="94" y="2350"/>
                  </a:moveTo>
                  <a:cubicBezTo>
                    <a:pt x="94" y="2375"/>
                    <a:pt x="72" y="2397"/>
                    <a:pt x="47" y="2397"/>
                  </a:cubicBezTo>
                  <a:cubicBezTo>
                    <a:pt x="21" y="2397"/>
                    <a:pt x="0" y="2375"/>
                    <a:pt x="0" y="2350"/>
                  </a:cubicBezTo>
                  <a:cubicBezTo>
                    <a:pt x="0" y="2324"/>
                    <a:pt x="21" y="2303"/>
                    <a:pt x="47" y="2303"/>
                  </a:cubicBezTo>
                  <a:cubicBezTo>
                    <a:pt x="72" y="2303"/>
                    <a:pt x="94" y="2324"/>
                    <a:pt x="94" y="2350"/>
                  </a:cubicBezTo>
                  <a:close/>
                  <a:moveTo>
                    <a:pt x="94" y="2450"/>
                  </a:moveTo>
                  <a:cubicBezTo>
                    <a:pt x="94" y="2475"/>
                    <a:pt x="72" y="2497"/>
                    <a:pt x="47" y="2497"/>
                  </a:cubicBezTo>
                  <a:cubicBezTo>
                    <a:pt x="21" y="2497"/>
                    <a:pt x="0" y="2475"/>
                    <a:pt x="0" y="2450"/>
                  </a:cubicBezTo>
                  <a:cubicBezTo>
                    <a:pt x="0" y="2424"/>
                    <a:pt x="21" y="2403"/>
                    <a:pt x="47" y="2403"/>
                  </a:cubicBezTo>
                  <a:cubicBezTo>
                    <a:pt x="72" y="2403"/>
                    <a:pt x="94" y="2424"/>
                    <a:pt x="94" y="2450"/>
                  </a:cubicBezTo>
                  <a:close/>
                  <a:moveTo>
                    <a:pt x="94" y="2550"/>
                  </a:moveTo>
                  <a:cubicBezTo>
                    <a:pt x="94" y="2575"/>
                    <a:pt x="72" y="2597"/>
                    <a:pt x="47" y="2597"/>
                  </a:cubicBezTo>
                  <a:cubicBezTo>
                    <a:pt x="21" y="2597"/>
                    <a:pt x="0" y="2575"/>
                    <a:pt x="0" y="2550"/>
                  </a:cubicBezTo>
                  <a:cubicBezTo>
                    <a:pt x="0" y="2524"/>
                    <a:pt x="21" y="2503"/>
                    <a:pt x="47" y="2503"/>
                  </a:cubicBezTo>
                  <a:cubicBezTo>
                    <a:pt x="72" y="2503"/>
                    <a:pt x="94" y="2524"/>
                    <a:pt x="94" y="2550"/>
                  </a:cubicBezTo>
                  <a:close/>
                  <a:moveTo>
                    <a:pt x="94" y="2650"/>
                  </a:moveTo>
                  <a:cubicBezTo>
                    <a:pt x="94" y="2675"/>
                    <a:pt x="72" y="2697"/>
                    <a:pt x="47" y="2697"/>
                  </a:cubicBezTo>
                  <a:cubicBezTo>
                    <a:pt x="21" y="2697"/>
                    <a:pt x="0" y="2675"/>
                    <a:pt x="0" y="2650"/>
                  </a:cubicBezTo>
                  <a:cubicBezTo>
                    <a:pt x="0" y="2624"/>
                    <a:pt x="21" y="2603"/>
                    <a:pt x="47" y="2603"/>
                  </a:cubicBezTo>
                  <a:cubicBezTo>
                    <a:pt x="72" y="2603"/>
                    <a:pt x="94" y="2624"/>
                    <a:pt x="94" y="2650"/>
                  </a:cubicBezTo>
                  <a:close/>
                  <a:moveTo>
                    <a:pt x="94" y="2750"/>
                  </a:moveTo>
                  <a:cubicBezTo>
                    <a:pt x="94" y="2775"/>
                    <a:pt x="72" y="2797"/>
                    <a:pt x="47" y="2797"/>
                  </a:cubicBezTo>
                  <a:cubicBezTo>
                    <a:pt x="21" y="2797"/>
                    <a:pt x="0" y="2775"/>
                    <a:pt x="0" y="2750"/>
                  </a:cubicBezTo>
                  <a:cubicBezTo>
                    <a:pt x="0" y="2724"/>
                    <a:pt x="21" y="2703"/>
                    <a:pt x="47" y="2703"/>
                  </a:cubicBezTo>
                  <a:cubicBezTo>
                    <a:pt x="72" y="2703"/>
                    <a:pt x="94" y="2724"/>
                    <a:pt x="94" y="2750"/>
                  </a:cubicBezTo>
                  <a:close/>
                  <a:moveTo>
                    <a:pt x="94" y="2850"/>
                  </a:moveTo>
                  <a:cubicBezTo>
                    <a:pt x="94" y="2875"/>
                    <a:pt x="72" y="2897"/>
                    <a:pt x="47" y="2897"/>
                  </a:cubicBezTo>
                  <a:cubicBezTo>
                    <a:pt x="21" y="2897"/>
                    <a:pt x="0" y="2875"/>
                    <a:pt x="0" y="2850"/>
                  </a:cubicBezTo>
                  <a:cubicBezTo>
                    <a:pt x="0" y="2824"/>
                    <a:pt x="21" y="2803"/>
                    <a:pt x="47" y="2803"/>
                  </a:cubicBezTo>
                  <a:cubicBezTo>
                    <a:pt x="72" y="2803"/>
                    <a:pt x="94" y="2824"/>
                    <a:pt x="94" y="2850"/>
                  </a:cubicBezTo>
                  <a:close/>
                  <a:moveTo>
                    <a:pt x="94" y="2950"/>
                  </a:moveTo>
                  <a:cubicBezTo>
                    <a:pt x="94" y="2975"/>
                    <a:pt x="72" y="2997"/>
                    <a:pt x="47" y="2997"/>
                  </a:cubicBezTo>
                  <a:cubicBezTo>
                    <a:pt x="21" y="2997"/>
                    <a:pt x="0" y="2975"/>
                    <a:pt x="0" y="2950"/>
                  </a:cubicBezTo>
                  <a:cubicBezTo>
                    <a:pt x="0" y="2924"/>
                    <a:pt x="21" y="2903"/>
                    <a:pt x="47" y="2903"/>
                  </a:cubicBezTo>
                  <a:cubicBezTo>
                    <a:pt x="72" y="2903"/>
                    <a:pt x="94" y="2924"/>
                    <a:pt x="94" y="2950"/>
                  </a:cubicBezTo>
                  <a:close/>
                  <a:moveTo>
                    <a:pt x="94" y="3050"/>
                  </a:moveTo>
                  <a:cubicBezTo>
                    <a:pt x="94" y="3075"/>
                    <a:pt x="72" y="3097"/>
                    <a:pt x="47" y="3097"/>
                  </a:cubicBezTo>
                  <a:cubicBezTo>
                    <a:pt x="21" y="3097"/>
                    <a:pt x="0" y="3075"/>
                    <a:pt x="0" y="3050"/>
                  </a:cubicBezTo>
                  <a:cubicBezTo>
                    <a:pt x="0" y="3024"/>
                    <a:pt x="21" y="3003"/>
                    <a:pt x="47" y="3003"/>
                  </a:cubicBezTo>
                  <a:cubicBezTo>
                    <a:pt x="72" y="3003"/>
                    <a:pt x="94" y="3024"/>
                    <a:pt x="94" y="3050"/>
                  </a:cubicBezTo>
                  <a:close/>
                  <a:moveTo>
                    <a:pt x="94" y="3150"/>
                  </a:moveTo>
                  <a:cubicBezTo>
                    <a:pt x="94" y="3175"/>
                    <a:pt x="72" y="3197"/>
                    <a:pt x="47" y="3197"/>
                  </a:cubicBezTo>
                  <a:cubicBezTo>
                    <a:pt x="21" y="3197"/>
                    <a:pt x="0" y="3175"/>
                    <a:pt x="0" y="3150"/>
                  </a:cubicBezTo>
                  <a:cubicBezTo>
                    <a:pt x="0" y="3124"/>
                    <a:pt x="21" y="3103"/>
                    <a:pt x="47" y="3103"/>
                  </a:cubicBezTo>
                  <a:cubicBezTo>
                    <a:pt x="72" y="3103"/>
                    <a:pt x="94" y="3124"/>
                    <a:pt x="94" y="3150"/>
                  </a:cubicBezTo>
                  <a:close/>
                  <a:moveTo>
                    <a:pt x="94" y="3250"/>
                  </a:moveTo>
                  <a:cubicBezTo>
                    <a:pt x="94" y="3275"/>
                    <a:pt x="72" y="3297"/>
                    <a:pt x="47" y="3297"/>
                  </a:cubicBezTo>
                  <a:cubicBezTo>
                    <a:pt x="21" y="3297"/>
                    <a:pt x="0" y="3275"/>
                    <a:pt x="0" y="3250"/>
                  </a:cubicBezTo>
                  <a:cubicBezTo>
                    <a:pt x="0" y="3224"/>
                    <a:pt x="21" y="3203"/>
                    <a:pt x="47" y="3203"/>
                  </a:cubicBezTo>
                  <a:cubicBezTo>
                    <a:pt x="72" y="3203"/>
                    <a:pt x="94" y="3224"/>
                    <a:pt x="94" y="3250"/>
                  </a:cubicBezTo>
                  <a:close/>
                  <a:moveTo>
                    <a:pt x="94" y="3350"/>
                  </a:moveTo>
                  <a:cubicBezTo>
                    <a:pt x="94" y="3375"/>
                    <a:pt x="72" y="3397"/>
                    <a:pt x="47" y="3397"/>
                  </a:cubicBezTo>
                  <a:cubicBezTo>
                    <a:pt x="21" y="3397"/>
                    <a:pt x="0" y="3375"/>
                    <a:pt x="0" y="3350"/>
                  </a:cubicBezTo>
                  <a:cubicBezTo>
                    <a:pt x="0" y="3324"/>
                    <a:pt x="21" y="3303"/>
                    <a:pt x="47" y="3303"/>
                  </a:cubicBezTo>
                  <a:cubicBezTo>
                    <a:pt x="72" y="3303"/>
                    <a:pt x="94" y="3324"/>
                    <a:pt x="94" y="3350"/>
                  </a:cubicBezTo>
                  <a:close/>
                  <a:moveTo>
                    <a:pt x="94" y="3450"/>
                  </a:moveTo>
                  <a:cubicBezTo>
                    <a:pt x="94" y="3475"/>
                    <a:pt x="72" y="3497"/>
                    <a:pt x="47" y="3497"/>
                  </a:cubicBezTo>
                  <a:cubicBezTo>
                    <a:pt x="21" y="3497"/>
                    <a:pt x="0" y="3475"/>
                    <a:pt x="0" y="3450"/>
                  </a:cubicBezTo>
                  <a:cubicBezTo>
                    <a:pt x="0" y="3424"/>
                    <a:pt x="21" y="3403"/>
                    <a:pt x="47" y="3403"/>
                  </a:cubicBezTo>
                  <a:cubicBezTo>
                    <a:pt x="72" y="3403"/>
                    <a:pt x="94" y="3424"/>
                    <a:pt x="94" y="3450"/>
                  </a:cubicBezTo>
                  <a:close/>
                  <a:moveTo>
                    <a:pt x="94" y="3550"/>
                  </a:moveTo>
                  <a:cubicBezTo>
                    <a:pt x="94" y="3575"/>
                    <a:pt x="72" y="3597"/>
                    <a:pt x="47" y="3597"/>
                  </a:cubicBezTo>
                  <a:cubicBezTo>
                    <a:pt x="21" y="3597"/>
                    <a:pt x="0" y="3575"/>
                    <a:pt x="0" y="3550"/>
                  </a:cubicBezTo>
                  <a:cubicBezTo>
                    <a:pt x="0" y="3524"/>
                    <a:pt x="21" y="3503"/>
                    <a:pt x="47" y="3503"/>
                  </a:cubicBezTo>
                  <a:cubicBezTo>
                    <a:pt x="72" y="3503"/>
                    <a:pt x="94" y="3524"/>
                    <a:pt x="94" y="3550"/>
                  </a:cubicBezTo>
                  <a:close/>
                  <a:moveTo>
                    <a:pt x="94" y="3650"/>
                  </a:moveTo>
                  <a:cubicBezTo>
                    <a:pt x="94" y="3675"/>
                    <a:pt x="72" y="3697"/>
                    <a:pt x="47" y="3697"/>
                  </a:cubicBezTo>
                  <a:cubicBezTo>
                    <a:pt x="21" y="3697"/>
                    <a:pt x="0" y="3675"/>
                    <a:pt x="0" y="3650"/>
                  </a:cubicBezTo>
                  <a:cubicBezTo>
                    <a:pt x="0" y="3624"/>
                    <a:pt x="21" y="3603"/>
                    <a:pt x="47" y="3603"/>
                  </a:cubicBezTo>
                  <a:cubicBezTo>
                    <a:pt x="72" y="3603"/>
                    <a:pt x="94" y="3624"/>
                    <a:pt x="94" y="3650"/>
                  </a:cubicBezTo>
                  <a:close/>
                  <a:moveTo>
                    <a:pt x="94" y="3750"/>
                  </a:moveTo>
                  <a:cubicBezTo>
                    <a:pt x="94" y="3775"/>
                    <a:pt x="72" y="3797"/>
                    <a:pt x="47" y="3797"/>
                  </a:cubicBezTo>
                  <a:cubicBezTo>
                    <a:pt x="21" y="3797"/>
                    <a:pt x="0" y="3775"/>
                    <a:pt x="0" y="3750"/>
                  </a:cubicBezTo>
                  <a:cubicBezTo>
                    <a:pt x="0" y="3724"/>
                    <a:pt x="21" y="3703"/>
                    <a:pt x="47" y="3703"/>
                  </a:cubicBezTo>
                  <a:cubicBezTo>
                    <a:pt x="72" y="3703"/>
                    <a:pt x="94" y="3724"/>
                    <a:pt x="94" y="3750"/>
                  </a:cubicBezTo>
                  <a:close/>
                  <a:moveTo>
                    <a:pt x="94" y="3850"/>
                  </a:moveTo>
                  <a:cubicBezTo>
                    <a:pt x="94" y="3875"/>
                    <a:pt x="72" y="3897"/>
                    <a:pt x="47" y="3897"/>
                  </a:cubicBezTo>
                  <a:cubicBezTo>
                    <a:pt x="21" y="3897"/>
                    <a:pt x="0" y="3875"/>
                    <a:pt x="0" y="3850"/>
                  </a:cubicBezTo>
                  <a:cubicBezTo>
                    <a:pt x="0" y="3824"/>
                    <a:pt x="21" y="3803"/>
                    <a:pt x="47" y="3803"/>
                  </a:cubicBezTo>
                  <a:cubicBezTo>
                    <a:pt x="72" y="3803"/>
                    <a:pt x="94" y="3824"/>
                    <a:pt x="94" y="3850"/>
                  </a:cubicBezTo>
                  <a:close/>
                  <a:moveTo>
                    <a:pt x="94" y="3950"/>
                  </a:moveTo>
                  <a:cubicBezTo>
                    <a:pt x="94" y="3975"/>
                    <a:pt x="72" y="3997"/>
                    <a:pt x="47" y="3997"/>
                  </a:cubicBezTo>
                  <a:cubicBezTo>
                    <a:pt x="21" y="3997"/>
                    <a:pt x="0" y="3975"/>
                    <a:pt x="0" y="3950"/>
                  </a:cubicBezTo>
                  <a:cubicBezTo>
                    <a:pt x="0" y="3924"/>
                    <a:pt x="21" y="3903"/>
                    <a:pt x="47" y="3903"/>
                  </a:cubicBezTo>
                  <a:cubicBezTo>
                    <a:pt x="72" y="3903"/>
                    <a:pt x="94" y="3924"/>
                    <a:pt x="94" y="3950"/>
                  </a:cubicBezTo>
                  <a:close/>
                  <a:moveTo>
                    <a:pt x="94" y="4050"/>
                  </a:moveTo>
                  <a:cubicBezTo>
                    <a:pt x="94" y="4075"/>
                    <a:pt x="72" y="4097"/>
                    <a:pt x="47" y="4097"/>
                  </a:cubicBezTo>
                  <a:cubicBezTo>
                    <a:pt x="21" y="4097"/>
                    <a:pt x="0" y="4075"/>
                    <a:pt x="0" y="4050"/>
                  </a:cubicBezTo>
                  <a:cubicBezTo>
                    <a:pt x="0" y="4024"/>
                    <a:pt x="21" y="4003"/>
                    <a:pt x="47" y="4003"/>
                  </a:cubicBezTo>
                  <a:cubicBezTo>
                    <a:pt x="72" y="4003"/>
                    <a:pt x="94" y="4024"/>
                    <a:pt x="94" y="4050"/>
                  </a:cubicBezTo>
                  <a:close/>
                  <a:moveTo>
                    <a:pt x="94" y="4150"/>
                  </a:moveTo>
                  <a:cubicBezTo>
                    <a:pt x="94" y="4175"/>
                    <a:pt x="72" y="4197"/>
                    <a:pt x="47" y="4197"/>
                  </a:cubicBezTo>
                  <a:cubicBezTo>
                    <a:pt x="21" y="4197"/>
                    <a:pt x="0" y="4175"/>
                    <a:pt x="0" y="4150"/>
                  </a:cubicBezTo>
                  <a:cubicBezTo>
                    <a:pt x="0" y="4124"/>
                    <a:pt x="21" y="4103"/>
                    <a:pt x="47" y="4103"/>
                  </a:cubicBezTo>
                  <a:cubicBezTo>
                    <a:pt x="72" y="4103"/>
                    <a:pt x="94" y="4124"/>
                    <a:pt x="94" y="4150"/>
                  </a:cubicBezTo>
                  <a:close/>
                  <a:moveTo>
                    <a:pt x="94" y="4250"/>
                  </a:moveTo>
                  <a:cubicBezTo>
                    <a:pt x="94" y="4275"/>
                    <a:pt x="72" y="4297"/>
                    <a:pt x="47" y="4297"/>
                  </a:cubicBezTo>
                  <a:cubicBezTo>
                    <a:pt x="21" y="4297"/>
                    <a:pt x="0" y="4275"/>
                    <a:pt x="0" y="4250"/>
                  </a:cubicBezTo>
                  <a:cubicBezTo>
                    <a:pt x="0" y="4224"/>
                    <a:pt x="21" y="4203"/>
                    <a:pt x="47" y="4203"/>
                  </a:cubicBezTo>
                  <a:cubicBezTo>
                    <a:pt x="72" y="4203"/>
                    <a:pt x="94" y="4224"/>
                    <a:pt x="94" y="4250"/>
                  </a:cubicBezTo>
                  <a:close/>
                  <a:moveTo>
                    <a:pt x="94" y="4350"/>
                  </a:moveTo>
                  <a:cubicBezTo>
                    <a:pt x="94" y="4375"/>
                    <a:pt x="72" y="4397"/>
                    <a:pt x="47" y="4397"/>
                  </a:cubicBezTo>
                  <a:cubicBezTo>
                    <a:pt x="21" y="4397"/>
                    <a:pt x="0" y="4375"/>
                    <a:pt x="0" y="4350"/>
                  </a:cubicBezTo>
                  <a:cubicBezTo>
                    <a:pt x="0" y="4324"/>
                    <a:pt x="21" y="4303"/>
                    <a:pt x="47" y="4303"/>
                  </a:cubicBezTo>
                  <a:cubicBezTo>
                    <a:pt x="72" y="4303"/>
                    <a:pt x="94" y="4324"/>
                    <a:pt x="94" y="4350"/>
                  </a:cubicBezTo>
                  <a:close/>
                  <a:moveTo>
                    <a:pt x="94" y="4450"/>
                  </a:moveTo>
                  <a:cubicBezTo>
                    <a:pt x="94" y="4475"/>
                    <a:pt x="72" y="4497"/>
                    <a:pt x="47" y="4497"/>
                  </a:cubicBezTo>
                  <a:cubicBezTo>
                    <a:pt x="21" y="4497"/>
                    <a:pt x="0" y="4475"/>
                    <a:pt x="0" y="4450"/>
                  </a:cubicBezTo>
                  <a:cubicBezTo>
                    <a:pt x="0" y="4424"/>
                    <a:pt x="21" y="4403"/>
                    <a:pt x="47" y="4403"/>
                  </a:cubicBezTo>
                  <a:cubicBezTo>
                    <a:pt x="72" y="4403"/>
                    <a:pt x="94" y="4424"/>
                    <a:pt x="94" y="4450"/>
                  </a:cubicBezTo>
                  <a:close/>
                  <a:moveTo>
                    <a:pt x="94" y="4550"/>
                  </a:moveTo>
                  <a:cubicBezTo>
                    <a:pt x="94" y="4575"/>
                    <a:pt x="72" y="4597"/>
                    <a:pt x="47" y="4597"/>
                  </a:cubicBezTo>
                  <a:cubicBezTo>
                    <a:pt x="21" y="4597"/>
                    <a:pt x="0" y="4575"/>
                    <a:pt x="0" y="4550"/>
                  </a:cubicBezTo>
                  <a:cubicBezTo>
                    <a:pt x="0" y="4524"/>
                    <a:pt x="21" y="4503"/>
                    <a:pt x="47" y="4503"/>
                  </a:cubicBezTo>
                  <a:cubicBezTo>
                    <a:pt x="72" y="4503"/>
                    <a:pt x="94" y="4524"/>
                    <a:pt x="94" y="4550"/>
                  </a:cubicBezTo>
                  <a:close/>
                  <a:moveTo>
                    <a:pt x="94" y="4650"/>
                  </a:moveTo>
                  <a:cubicBezTo>
                    <a:pt x="94" y="4675"/>
                    <a:pt x="72" y="4697"/>
                    <a:pt x="47" y="4697"/>
                  </a:cubicBezTo>
                  <a:cubicBezTo>
                    <a:pt x="21" y="4697"/>
                    <a:pt x="0" y="4675"/>
                    <a:pt x="0" y="4650"/>
                  </a:cubicBezTo>
                  <a:cubicBezTo>
                    <a:pt x="0" y="4624"/>
                    <a:pt x="21" y="4603"/>
                    <a:pt x="47" y="4603"/>
                  </a:cubicBezTo>
                  <a:cubicBezTo>
                    <a:pt x="72" y="4603"/>
                    <a:pt x="94" y="4624"/>
                    <a:pt x="94" y="4650"/>
                  </a:cubicBezTo>
                  <a:close/>
                  <a:moveTo>
                    <a:pt x="94" y="4750"/>
                  </a:moveTo>
                  <a:cubicBezTo>
                    <a:pt x="94" y="4775"/>
                    <a:pt x="72" y="4797"/>
                    <a:pt x="47" y="4797"/>
                  </a:cubicBezTo>
                  <a:cubicBezTo>
                    <a:pt x="21" y="4797"/>
                    <a:pt x="0" y="4775"/>
                    <a:pt x="0" y="4750"/>
                  </a:cubicBezTo>
                  <a:cubicBezTo>
                    <a:pt x="0" y="4724"/>
                    <a:pt x="21" y="4703"/>
                    <a:pt x="47" y="4703"/>
                  </a:cubicBezTo>
                  <a:cubicBezTo>
                    <a:pt x="72" y="4703"/>
                    <a:pt x="94" y="4724"/>
                    <a:pt x="94" y="4750"/>
                  </a:cubicBezTo>
                  <a:close/>
                  <a:moveTo>
                    <a:pt x="94" y="4850"/>
                  </a:moveTo>
                  <a:cubicBezTo>
                    <a:pt x="94" y="4875"/>
                    <a:pt x="72" y="4897"/>
                    <a:pt x="47" y="4897"/>
                  </a:cubicBezTo>
                  <a:cubicBezTo>
                    <a:pt x="21" y="4897"/>
                    <a:pt x="0" y="4875"/>
                    <a:pt x="0" y="4850"/>
                  </a:cubicBezTo>
                  <a:cubicBezTo>
                    <a:pt x="0" y="4824"/>
                    <a:pt x="21" y="4803"/>
                    <a:pt x="47" y="4803"/>
                  </a:cubicBezTo>
                  <a:cubicBezTo>
                    <a:pt x="72" y="4803"/>
                    <a:pt x="94" y="4824"/>
                    <a:pt x="94" y="4850"/>
                  </a:cubicBezTo>
                  <a:close/>
                  <a:moveTo>
                    <a:pt x="94" y="4950"/>
                  </a:moveTo>
                  <a:cubicBezTo>
                    <a:pt x="94" y="4975"/>
                    <a:pt x="72" y="4997"/>
                    <a:pt x="47" y="4997"/>
                  </a:cubicBezTo>
                  <a:cubicBezTo>
                    <a:pt x="21" y="4997"/>
                    <a:pt x="0" y="4975"/>
                    <a:pt x="0" y="4950"/>
                  </a:cubicBezTo>
                  <a:cubicBezTo>
                    <a:pt x="0" y="4924"/>
                    <a:pt x="21" y="4903"/>
                    <a:pt x="47" y="4903"/>
                  </a:cubicBezTo>
                  <a:cubicBezTo>
                    <a:pt x="72" y="4903"/>
                    <a:pt x="94" y="4924"/>
                    <a:pt x="94" y="4950"/>
                  </a:cubicBezTo>
                  <a:close/>
                  <a:moveTo>
                    <a:pt x="94" y="5050"/>
                  </a:moveTo>
                  <a:cubicBezTo>
                    <a:pt x="94" y="5075"/>
                    <a:pt x="72" y="5097"/>
                    <a:pt x="47" y="5097"/>
                  </a:cubicBezTo>
                  <a:cubicBezTo>
                    <a:pt x="21" y="5097"/>
                    <a:pt x="0" y="5075"/>
                    <a:pt x="0" y="5050"/>
                  </a:cubicBezTo>
                  <a:cubicBezTo>
                    <a:pt x="0" y="5024"/>
                    <a:pt x="21" y="5003"/>
                    <a:pt x="47" y="5003"/>
                  </a:cubicBezTo>
                  <a:cubicBezTo>
                    <a:pt x="72" y="5003"/>
                    <a:pt x="94" y="5024"/>
                    <a:pt x="94" y="5050"/>
                  </a:cubicBezTo>
                  <a:close/>
                  <a:moveTo>
                    <a:pt x="94" y="5150"/>
                  </a:moveTo>
                  <a:cubicBezTo>
                    <a:pt x="94" y="5175"/>
                    <a:pt x="72" y="5197"/>
                    <a:pt x="47" y="5197"/>
                  </a:cubicBezTo>
                  <a:cubicBezTo>
                    <a:pt x="21" y="5197"/>
                    <a:pt x="0" y="5175"/>
                    <a:pt x="0" y="5150"/>
                  </a:cubicBezTo>
                  <a:cubicBezTo>
                    <a:pt x="0" y="5124"/>
                    <a:pt x="21" y="5103"/>
                    <a:pt x="47" y="5103"/>
                  </a:cubicBezTo>
                  <a:cubicBezTo>
                    <a:pt x="72" y="5103"/>
                    <a:pt x="94" y="5124"/>
                    <a:pt x="94" y="5150"/>
                  </a:cubicBezTo>
                  <a:close/>
                  <a:moveTo>
                    <a:pt x="94" y="5250"/>
                  </a:moveTo>
                  <a:cubicBezTo>
                    <a:pt x="94" y="5275"/>
                    <a:pt x="72" y="5297"/>
                    <a:pt x="47" y="5297"/>
                  </a:cubicBezTo>
                  <a:cubicBezTo>
                    <a:pt x="21" y="5297"/>
                    <a:pt x="0" y="5275"/>
                    <a:pt x="0" y="5250"/>
                  </a:cubicBezTo>
                  <a:cubicBezTo>
                    <a:pt x="0" y="5224"/>
                    <a:pt x="21" y="5203"/>
                    <a:pt x="47" y="5203"/>
                  </a:cubicBezTo>
                  <a:cubicBezTo>
                    <a:pt x="72" y="5203"/>
                    <a:pt x="94" y="5224"/>
                    <a:pt x="94" y="5250"/>
                  </a:cubicBezTo>
                  <a:close/>
                  <a:moveTo>
                    <a:pt x="94" y="5350"/>
                  </a:moveTo>
                  <a:cubicBezTo>
                    <a:pt x="94" y="5375"/>
                    <a:pt x="72" y="5397"/>
                    <a:pt x="47" y="5397"/>
                  </a:cubicBezTo>
                  <a:cubicBezTo>
                    <a:pt x="21" y="5397"/>
                    <a:pt x="0" y="5375"/>
                    <a:pt x="0" y="5350"/>
                  </a:cubicBezTo>
                  <a:cubicBezTo>
                    <a:pt x="0" y="5324"/>
                    <a:pt x="21" y="5303"/>
                    <a:pt x="47" y="5303"/>
                  </a:cubicBezTo>
                  <a:cubicBezTo>
                    <a:pt x="72" y="5303"/>
                    <a:pt x="94" y="5324"/>
                    <a:pt x="94" y="5350"/>
                  </a:cubicBezTo>
                  <a:close/>
                  <a:moveTo>
                    <a:pt x="94" y="5450"/>
                  </a:moveTo>
                  <a:cubicBezTo>
                    <a:pt x="94" y="5475"/>
                    <a:pt x="72" y="5497"/>
                    <a:pt x="47" y="5497"/>
                  </a:cubicBezTo>
                  <a:cubicBezTo>
                    <a:pt x="21" y="5497"/>
                    <a:pt x="0" y="5475"/>
                    <a:pt x="0" y="5450"/>
                  </a:cubicBezTo>
                  <a:cubicBezTo>
                    <a:pt x="0" y="5424"/>
                    <a:pt x="21" y="5403"/>
                    <a:pt x="47" y="5403"/>
                  </a:cubicBezTo>
                  <a:cubicBezTo>
                    <a:pt x="72" y="5403"/>
                    <a:pt x="94" y="5424"/>
                    <a:pt x="94" y="5450"/>
                  </a:cubicBezTo>
                  <a:close/>
                  <a:moveTo>
                    <a:pt x="94" y="5550"/>
                  </a:moveTo>
                  <a:cubicBezTo>
                    <a:pt x="94" y="5575"/>
                    <a:pt x="72" y="5597"/>
                    <a:pt x="47" y="5597"/>
                  </a:cubicBezTo>
                  <a:cubicBezTo>
                    <a:pt x="21" y="5597"/>
                    <a:pt x="0" y="5575"/>
                    <a:pt x="0" y="5550"/>
                  </a:cubicBezTo>
                  <a:cubicBezTo>
                    <a:pt x="0" y="5524"/>
                    <a:pt x="21" y="5503"/>
                    <a:pt x="47" y="5503"/>
                  </a:cubicBezTo>
                  <a:cubicBezTo>
                    <a:pt x="72" y="5503"/>
                    <a:pt x="94" y="5524"/>
                    <a:pt x="94" y="5550"/>
                  </a:cubicBezTo>
                  <a:close/>
                  <a:moveTo>
                    <a:pt x="94" y="5650"/>
                  </a:moveTo>
                  <a:cubicBezTo>
                    <a:pt x="94" y="5675"/>
                    <a:pt x="72" y="5697"/>
                    <a:pt x="47" y="5697"/>
                  </a:cubicBezTo>
                  <a:cubicBezTo>
                    <a:pt x="21" y="5697"/>
                    <a:pt x="0" y="5675"/>
                    <a:pt x="0" y="5650"/>
                  </a:cubicBezTo>
                  <a:cubicBezTo>
                    <a:pt x="0" y="5624"/>
                    <a:pt x="21" y="5603"/>
                    <a:pt x="47" y="5603"/>
                  </a:cubicBezTo>
                  <a:cubicBezTo>
                    <a:pt x="72" y="5603"/>
                    <a:pt x="94" y="5624"/>
                    <a:pt x="94" y="5650"/>
                  </a:cubicBezTo>
                  <a:close/>
                  <a:moveTo>
                    <a:pt x="94" y="5750"/>
                  </a:moveTo>
                  <a:cubicBezTo>
                    <a:pt x="94" y="5775"/>
                    <a:pt x="72" y="5797"/>
                    <a:pt x="47" y="5797"/>
                  </a:cubicBezTo>
                  <a:cubicBezTo>
                    <a:pt x="21" y="5797"/>
                    <a:pt x="0" y="5775"/>
                    <a:pt x="0" y="5750"/>
                  </a:cubicBezTo>
                  <a:cubicBezTo>
                    <a:pt x="0" y="5724"/>
                    <a:pt x="21" y="5703"/>
                    <a:pt x="47" y="5703"/>
                  </a:cubicBezTo>
                  <a:cubicBezTo>
                    <a:pt x="72" y="5703"/>
                    <a:pt x="94" y="5724"/>
                    <a:pt x="94" y="5750"/>
                  </a:cubicBezTo>
                  <a:close/>
                  <a:moveTo>
                    <a:pt x="94" y="5850"/>
                  </a:moveTo>
                  <a:cubicBezTo>
                    <a:pt x="94" y="5875"/>
                    <a:pt x="72" y="5897"/>
                    <a:pt x="47" y="5897"/>
                  </a:cubicBezTo>
                  <a:cubicBezTo>
                    <a:pt x="21" y="5897"/>
                    <a:pt x="0" y="5875"/>
                    <a:pt x="0" y="5850"/>
                  </a:cubicBezTo>
                  <a:cubicBezTo>
                    <a:pt x="0" y="5824"/>
                    <a:pt x="21" y="5803"/>
                    <a:pt x="47" y="5803"/>
                  </a:cubicBezTo>
                  <a:cubicBezTo>
                    <a:pt x="72" y="5803"/>
                    <a:pt x="94" y="5824"/>
                    <a:pt x="94" y="5850"/>
                  </a:cubicBezTo>
                  <a:close/>
                  <a:moveTo>
                    <a:pt x="94" y="5950"/>
                  </a:moveTo>
                  <a:cubicBezTo>
                    <a:pt x="94" y="5975"/>
                    <a:pt x="72" y="5997"/>
                    <a:pt x="47" y="5997"/>
                  </a:cubicBezTo>
                  <a:cubicBezTo>
                    <a:pt x="21" y="5997"/>
                    <a:pt x="0" y="5975"/>
                    <a:pt x="0" y="5950"/>
                  </a:cubicBezTo>
                  <a:cubicBezTo>
                    <a:pt x="0" y="5924"/>
                    <a:pt x="21" y="5903"/>
                    <a:pt x="47" y="5903"/>
                  </a:cubicBezTo>
                  <a:cubicBezTo>
                    <a:pt x="72" y="5903"/>
                    <a:pt x="94" y="5924"/>
                    <a:pt x="94" y="5950"/>
                  </a:cubicBezTo>
                  <a:close/>
                  <a:moveTo>
                    <a:pt x="94" y="6050"/>
                  </a:moveTo>
                  <a:cubicBezTo>
                    <a:pt x="94" y="6075"/>
                    <a:pt x="72" y="6097"/>
                    <a:pt x="47" y="6097"/>
                  </a:cubicBezTo>
                  <a:cubicBezTo>
                    <a:pt x="21" y="6097"/>
                    <a:pt x="0" y="6075"/>
                    <a:pt x="0" y="6050"/>
                  </a:cubicBezTo>
                  <a:cubicBezTo>
                    <a:pt x="0" y="6024"/>
                    <a:pt x="21" y="6003"/>
                    <a:pt x="47" y="6003"/>
                  </a:cubicBezTo>
                  <a:cubicBezTo>
                    <a:pt x="72" y="6003"/>
                    <a:pt x="94" y="6024"/>
                    <a:pt x="94" y="6050"/>
                  </a:cubicBezTo>
                  <a:close/>
                  <a:moveTo>
                    <a:pt x="94" y="6150"/>
                  </a:moveTo>
                  <a:cubicBezTo>
                    <a:pt x="94" y="6175"/>
                    <a:pt x="72" y="6197"/>
                    <a:pt x="47" y="6197"/>
                  </a:cubicBezTo>
                  <a:cubicBezTo>
                    <a:pt x="21" y="6197"/>
                    <a:pt x="0" y="6175"/>
                    <a:pt x="0" y="6150"/>
                  </a:cubicBezTo>
                  <a:cubicBezTo>
                    <a:pt x="0" y="6124"/>
                    <a:pt x="21" y="6103"/>
                    <a:pt x="47" y="6103"/>
                  </a:cubicBezTo>
                  <a:cubicBezTo>
                    <a:pt x="72" y="6103"/>
                    <a:pt x="94" y="6124"/>
                    <a:pt x="94" y="6150"/>
                  </a:cubicBezTo>
                  <a:close/>
                  <a:moveTo>
                    <a:pt x="94" y="6250"/>
                  </a:moveTo>
                  <a:cubicBezTo>
                    <a:pt x="94" y="6275"/>
                    <a:pt x="72" y="6297"/>
                    <a:pt x="47" y="6297"/>
                  </a:cubicBezTo>
                  <a:cubicBezTo>
                    <a:pt x="21" y="6297"/>
                    <a:pt x="0" y="6275"/>
                    <a:pt x="0" y="6250"/>
                  </a:cubicBezTo>
                  <a:cubicBezTo>
                    <a:pt x="0" y="6224"/>
                    <a:pt x="21" y="6203"/>
                    <a:pt x="47" y="6203"/>
                  </a:cubicBezTo>
                  <a:cubicBezTo>
                    <a:pt x="72" y="6203"/>
                    <a:pt x="94" y="6224"/>
                    <a:pt x="94" y="6250"/>
                  </a:cubicBezTo>
                  <a:close/>
                  <a:moveTo>
                    <a:pt x="94" y="6350"/>
                  </a:moveTo>
                  <a:cubicBezTo>
                    <a:pt x="94" y="6375"/>
                    <a:pt x="72" y="6397"/>
                    <a:pt x="47" y="6397"/>
                  </a:cubicBezTo>
                  <a:cubicBezTo>
                    <a:pt x="21" y="6397"/>
                    <a:pt x="0" y="6375"/>
                    <a:pt x="0" y="6350"/>
                  </a:cubicBezTo>
                  <a:cubicBezTo>
                    <a:pt x="0" y="6324"/>
                    <a:pt x="21" y="6303"/>
                    <a:pt x="47" y="6303"/>
                  </a:cubicBezTo>
                  <a:cubicBezTo>
                    <a:pt x="72" y="6303"/>
                    <a:pt x="94" y="6324"/>
                    <a:pt x="94" y="6350"/>
                  </a:cubicBezTo>
                  <a:close/>
                  <a:moveTo>
                    <a:pt x="94" y="6450"/>
                  </a:moveTo>
                  <a:cubicBezTo>
                    <a:pt x="94" y="6475"/>
                    <a:pt x="72" y="6497"/>
                    <a:pt x="47" y="6497"/>
                  </a:cubicBezTo>
                  <a:cubicBezTo>
                    <a:pt x="21" y="6497"/>
                    <a:pt x="0" y="6475"/>
                    <a:pt x="0" y="6450"/>
                  </a:cubicBezTo>
                  <a:cubicBezTo>
                    <a:pt x="0" y="6424"/>
                    <a:pt x="21" y="6403"/>
                    <a:pt x="47" y="6403"/>
                  </a:cubicBezTo>
                  <a:cubicBezTo>
                    <a:pt x="72" y="6403"/>
                    <a:pt x="94" y="6424"/>
                    <a:pt x="94" y="6450"/>
                  </a:cubicBezTo>
                  <a:close/>
                  <a:moveTo>
                    <a:pt x="550" y="50"/>
                  </a:moveTo>
                  <a:cubicBezTo>
                    <a:pt x="550" y="75"/>
                    <a:pt x="528" y="97"/>
                    <a:pt x="503" y="97"/>
                  </a:cubicBezTo>
                  <a:cubicBezTo>
                    <a:pt x="477" y="97"/>
                    <a:pt x="456" y="75"/>
                    <a:pt x="456" y="50"/>
                  </a:cubicBezTo>
                  <a:cubicBezTo>
                    <a:pt x="456" y="24"/>
                    <a:pt x="477" y="3"/>
                    <a:pt x="503" y="3"/>
                  </a:cubicBezTo>
                  <a:cubicBezTo>
                    <a:pt x="528" y="3"/>
                    <a:pt x="550" y="24"/>
                    <a:pt x="550" y="50"/>
                  </a:cubicBezTo>
                  <a:close/>
                  <a:moveTo>
                    <a:pt x="550" y="150"/>
                  </a:moveTo>
                  <a:cubicBezTo>
                    <a:pt x="550" y="175"/>
                    <a:pt x="528" y="197"/>
                    <a:pt x="503" y="197"/>
                  </a:cubicBezTo>
                  <a:cubicBezTo>
                    <a:pt x="477" y="197"/>
                    <a:pt x="456" y="175"/>
                    <a:pt x="456" y="150"/>
                  </a:cubicBezTo>
                  <a:cubicBezTo>
                    <a:pt x="456" y="124"/>
                    <a:pt x="477" y="103"/>
                    <a:pt x="503" y="103"/>
                  </a:cubicBezTo>
                  <a:cubicBezTo>
                    <a:pt x="528" y="103"/>
                    <a:pt x="550" y="124"/>
                    <a:pt x="550" y="150"/>
                  </a:cubicBezTo>
                  <a:close/>
                  <a:moveTo>
                    <a:pt x="550" y="250"/>
                  </a:moveTo>
                  <a:cubicBezTo>
                    <a:pt x="550" y="275"/>
                    <a:pt x="528" y="297"/>
                    <a:pt x="503" y="297"/>
                  </a:cubicBezTo>
                  <a:cubicBezTo>
                    <a:pt x="477" y="297"/>
                    <a:pt x="456" y="275"/>
                    <a:pt x="456" y="250"/>
                  </a:cubicBezTo>
                  <a:cubicBezTo>
                    <a:pt x="456" y="224"/>
                    <a:pt x="477" y="203"/>
                    <a:pt x="503" y="203"/>
                  </a:cubicBezTo>
                  <a:cubicBezTo>
                    <a:pt x="528" y="203"/>
                    <a:pt x="550" y="224"/>
                    <a:pt x="550" y="250"/>
                  </a:cubicBezTo>
                  <a:close/>
                  <a:moveTo>
                    <a:pt x="550" y="350"/>
                  </a:moveTo>
                  <a:cubicBezTo>
                    <a:pt x="550" y="375"/>
                    <a:pt x="528" y="397"/>
                    <a:pt x="503" y="397"/>
                  </a:cubicBezTo>
                  <a:cubicBezTo>
                    <a:pt x="477" y="397"/>
                    <a:pt x="456" y="375"/>
                    <a:pt x="456" y="350"/>
                  </a:cubicBezTo>
                  <a:cubicBezTo>
                    <a:pt x="456" y="324"/>
                    <a:pt x="477" y="303"/>
                    <a:pt x="503" y="303"/>
                  </a:cubicBezTo>
                  <a:cubicBezTo>
                    <a:pt x="528" y="303"/>
                    <a:pt x="550" y="324"/>
                    <a:pt x="550" y="350"/>
                  </a:cubicBezTo>
                  <a:close/>
                  <a:moveTo>
                    <a:pt x="550" y="450"/>
                  </a:moveTo>
                  <a:cubicBezTo>
                    <a:pt x="550" y="475"/>
                    <a:pt x="528" y="497"/>
                    <a:pt x="503" y="497"/>
                  </a:cubicBezTo>
                  <a:cubicBezTo>
                    <a:pt x="477" y="497"/>
                    <a:pt x="456" y="475"/>
                    <a:pt x="456" y="450"/>
                  </a:cubicBezTo>
                  <a:cubicBezTo>
                    <a:pt x="456" y="424"/>
                    <a:pt x="477" y="403"/>
                    <a:pt x="503" y="403"/>
                  </a:cubicBezTo>
                  <a:cubicBezTo>
                    <a:pt x="528" y="403"/>
                    <a:pt x="550" y="424"/>
                    <a:pt x="550" y="450"/>
                  </a:cubicBezTo>
                  <a:close/>
                  <a:moveTo>
                    <a:pt x="550" y="550"/>
                  </a:moveTo>
                  <a:cubicBezTo>
                    <a:pt x="550" y="575"/>
                    <a:pt x="528" y="597"/>
                    <a:pt x="503" y="597"/>
                  </a:cubicBezTo>
                  <a:cubicBezTo>
                    <a:pt x="477" y="597"/>
                    <a:pt x="456" y="575"/>
                    <a:pt x="456" y="550"/>
                  </a:cubicBezTo>
                  <a:cubicBezTo>
                    <a:pt x="456" y="524"/>
                    <a:pt x="477" y="503"/>
                    <a:pt x="503" y="503"/>
                  </a:cubicBezTo>
                  <a:cubicBezTo>
                    <a:pt x="528" y="503"/>
                    <a:pt x="550" y="524"/>
                    <a:pt x="550" y="550"/>
                  </a:cubicBezTo>
                  <a:close/>
                  <a:moveTo>
                    <a:pt x="550" y="650"/>
                  </a:moveTo>
                  <a:cubicBezTo>
                    <a:pt x="550" y="675"/>
                    <a:pt x="528" y="697"/>
                    <a:pt x="503" y="697"/>
                  </a:cubicBezTo>
                  <a:cubicBezTo>
                    <a:pt x="477" y="697"/>
                    <a:pt x="456" y="675"/>
                    <a:pt x="456" y="650"/>
                  </a:cubicBezTo>
                  <a:cubicBezTo>
                    <a:pt x="456" y="624"/>
                    <a:pt x="477" y="603"/>
                    <a:pt x="503" y="603"/>
                  </a:cubicBezTo>
                  <a:cubicBezTo>
                    <a:pt x="528" y="603"/>
                    <a:pt x="550" y="624"/>
                    <a:pt x="550" y="650"/>
                  </a:cubicBezTo>
                  <a:close/>
                  <a:moveTo>
                    <a:pt x="550" y="750"/>
                  </a:moveTo>
                  <a:cubicBezTo>
                    <a:pt x="550" y="775"/>
                    <a:pt x="528" y="797"/>
                    <a:pt x="503" y="797"/>
                  </a:cubicBezTo>
                  <a:cubicBezTo>
                    <a:pt x="477" y="797"/>
                    <a:pt x="456" y="775"/>
                    <a:pt x="456" y="750"/>
                  </a:cubicBezTo>
                  <a:cubicBezTo>
                    <a:pt x="456" y="724"/>
                    <a:pt x="477" y="703"/>
                    <a:pt x="503" y="703"/>
                  </a:cubicBezTo>
                  <a:cubicBezTo>
                    <a:pt x="528" y="703"/>
                    <a:pt x="550" y="724"/>
                    <a:pt x="550" y="750"/>
                  </a:cubicBezTo>
                  <a:close/>
                  <a:moveTo>
                    <a:pt x="550" y="850"/>
                  </a:moveTo>
                  <a:cubicBezTo>
                    <a:pt x="550" y="875"/>
                    <a:pt x="528" y="897"/>
                    <a:pt x="503" y="897"/>
                  </a:cubicBezTo>
                  <a:cubicBezTo>
                    <a:pt x="477" y="897"/>
                    <a:pt x="456" y="875"/>
                    <a:pt x="456" y="850"/>
                  </a:cubicBezTo>
                  <a:cubicBezTo>
                    <a:pt x="456" y="824"/>
                    <a:pt x="477" y="803"/>
                    <a:pt x="503" y="803"/>
                  </a:cubicBezTo>
                  <a:cubicBezTo>
                    <a:pt x="528" y="803"/>
                    <a:pt x="550" y="824"/>
                    <a:pt x="550" y="850"/>
                  </a:cubicBezTo>
                  <a:close/>
                  <a:moveTo>
                    <a:pt x="550" y="950"/>
                  </a:moveTo>
                  <a:cubicBezTo>
                    <a:pt x="550" y="975"/>
                    <a:pt x="528" y="997"/>
                    <a:pt x="503" y="997"/>
                  </a:cubicBezTo>
                  <a:cubicBezTo>
                    <a:pt x="477" y="997"/>
                    <a:pt x="456" y="975"/>
                    <a:pt x="456" y="950"/>
                  </a:cubicBezTo>
                  <a:cubicBezTo>
                    <a:pt x="456" y="924"/>
                    <a:pt x="477" y="903"/>
                    <a:pt x="503" y="903"/>
                  </a:cubicBezTo>
                  <a:cubicBezTo>
                    <a:pt x="528" y="903"/>
                    <a:pt x="550" y="924"/>
                    <a:pt x="550" y="950"/>
                  </a:cubicBezTo>
                  <a:close/>
                  <a:moveTo>
                    <a:pt x="550" y="1050"/>
                  </a:moveTo>
                  <a:cubicBezTo>
                    <a:pt x="550" y="1075"/>
                    <a:pt x="528" y="1097"/>
                    <a:pt x="503" y="1097"/>
                  </a:cubicBezTo>
                  <a:cubicBezTo>
                    <a:pt x="477" y="1097"/>
                    <a:pt x="456" y="1075"/>
                    <a:pt x="456" y="1050"/>
                  </a:cubicBezTo>
                  <a:cubicBezTo>
                    <a:pt x="456" y="1024"/>
                    <a:pt x="477" y="1003"/>
                    <a:pt x="503" y="1003"/>
                  </a:cubicBezTo>
                  <a:cubicBezTo>
                    <a:pt x="528" y="1003"/>
                    <a:pt x="550" y="1024"/>
                    <a:pt x="550" y="1050"/>
                  </a:cubicBezTo>
                  <a:close/>
                  <a:moveTo>
                    <a:pt x="550" y="1150"/>
                  </a:moveTo>
                  <a:cubicBezTo>
                    <a:pt x="550" y="1175"/>
                    <a:pt x="528" y="1197"/>
                    <a:pt x="503" y="1197"/>
                  </a:cubicBezTo>
                  <a:cubicBezTo>
                    <a:pt x="477" y="1197"/>
                    <a:pt x="456" y="1175"/>
                    <a:pt x="456" y="1150"/>
                  </a:cubicBezTo>
                  <a:cubicBezTo>
                    <a:pt x="456" y="1124"/>
                    <a:pt x="477" y="1103"/>
                    <a:pt x="503" y="1103"/>
                  </a:cubicBezTo>
                  <a:cubicBezTo>
                    <a:pt x="528" y="1103"/>
                    <a:pt x="550" y="1124"/>
                    <a:pt x="550" y="1150"/>
                  </a:cubicBezTo>
                  <a:close/>
                  <a:moveTo>
                    <a:pt x="550" y="1250"/>
                  </a:moveTo>
                  <a:cubicBezTo>
                    <a:pt x="550" y="1275"/>
                    <a:pt x="528" y="1297"/>
                    <a:pt x="503" y="1297"/>
                  </a:cubicBezTo>
                  <a:cubicBezTo>
                    <a:pt x="477" y="1297"/>
                    <a:pt x="456" y="1275"/>
                    <a:pt x="456" y="1250"/>
                  </a:cubicBezTo>
                  <a:cubicBezTo>
                    <a:pt x="456" y="1224"/>
                    <a:pt x="477" y="1203"/>
                    <a:pt x="503" y="1203"/>
                  </a:cubicBezTo>
                  <a:cubicBezTo>
                    <a:pt x="528" y="1203"/>
                    <a:pt x="550" y="1224"/>
                    <a:pt x="550" y="1250"/>
                  </a:cubicBezTo>
                  <a:close/>
                  <a:moveTo>
                    <a:pt x="550" y="1350"/>
                  </a:moveTo>
                  <a:cubicBezTo>
                    <a:pt x="550" y="1375"/>
                    <a:pt x="528" y="1397"/>
                    <a:pt x="503" y="1397"/>
                  </a:cubicBezTo>
                  <a:cubicBezTo>
                    <a:pt x="477" y="1397"/>
                    <a:pt x="456" y="1375"/>
                    <a:pt x="456" y="1350"/>
                  </a:cubicBezTo>
                  <a:cubicBezTo>
                    <a:pt x="456" y="1324"/>
                    <a:pt x="477" y="1303"/>
                    <a:pt x="503" y="1303"/>
                  </a:cubicBezTo>
                  <a:cubicBezTo>
                    <a:pt x="528" y="1303"/>
                    <a:pt x="550" y="1324"/>
                    <a:pt x="550" y="1350"/>
                  </a:cubicBezTo>
                  <a:close/>
                  <a:moveTo>
                    <a:pt x="550" y="1450"/>
                  </a:moveTo>
                  <a:cubicBezTo>
                    <a:pt x="550" y="1475"/>
                    <a:pt x="528" y="1497"/>
                    <a:pt x="503" y="1497"/>
                  </a:cubicBezTo>
                  <a:cubicBezTo>
                    <a:pt x="477" y="1497"/>
                    <a:pt x="456" y="1475"/>
                    <a:pt x="456" y="1450"/>
                  </a:cubicBezTo>
                  <a:cubicBezTo>
                    <a:pt x="456" y="1424"/>
                    <a:pt x="477" y="1403"/>
                    <a:pt x="503" y="1403"/>
                  </a:cubicBezTo>
                  <a:cubicBezTo>
                    <a:pt x="528" y="1403"/>
                    <a:pt x="550" y="1424"/>
                    <a:pt x="550" y="1450"/>
                  </a:cubicBezTo>
                  <a:close/>
                  <a:moveTo>
                    <a:pt x="550" y="1550"/>
                  </a:moveTo>
                  <a:cubicBezTo>
                    <a:pt x="550" y="1575"/>
                    <a:pt x="528" y="1597"/>
                    <a:pt x="503" y="1597"/>
                  </a:cubicBezTo>
                  <a:cubicBezTo>
                    <a:pt x="477" y="1597"/>
                    <a:pt x="456" y="1575"/>
                    <a:pt x="456" y="1550"/>
                  </a:cubicBezTo>
                  <a:cubicBezTo>
                    <a:pt x="456" y="1524"/>
                    <a:pt x="477" y="1503"/>
                    <a:pt x="503" y="1503"/>
                  </a:cubicBezTo>
                  <a:cubicBezTo>
                    <a:pt x="528" y="1503"/>
                    <a:pt x="550" y="1524"/>
                    <a:pt x="550" y="1550"/>
                  </a:cubicBezTo>
                  <a:close/>
                  <a:moveTo>
                    <a:pt x="550" y="1650"/>
                  </a:moveTo>
                  <a:cubicBezTo>
                    <a:pt x="550" y="1675"/>
                    <a:pt x="528" y="1697"/>
                    <a:pt x="503" y="1697"/>
                  </a:cubicBezTo>
                  <a:cubicBezTo>
                    <a:pt x="477" y="1697"/>
                    <a:pt x="456" y="1675"/>
                    <a:pt x="456" y="1650"/>
                  </a:cubicBezTo>
                  <a:cubicBezTo>
                    <a:pt x="456" y="1624"/>
                    <a:pt x="477" y="1603"/>
                    <a:pt x="503" y="1603"/>
                  </a:cubicBezTo>
                  <a:cubicBezTo>
                    <a:pt x="528" y="1603"/>
                    <a:pt x="550" y="1624"/>
                    <a:pt x="550" y="1650"/>
                  </a:cubicBezTo>
                  <a:close/>
                  <a:moveTo>
                    <a:pt x="550" y="1750"/>
                  </a:moveTo>
                  <a:cubicBezTo>
                    <a:pt x="550" y="1775"/>
                    <a:pt x="528" y="1797"/>
                    <a:pt x="503" y="1797"/>
                  </a:cubicBezTo>
                  <a:cubicBezTo>
                    <a:pt x="477" y="1797"/>
                    <a:pt x="456" y="1775"/>
                    <a:pt x="456" y="1750"/>
                  </a:cubicBezTo>
                  <a:cubicBezTo>
                    <a:pt x="456" y="1724"/>
                    <a:pt x="477" y="1703"/>
                    <a:pt x="503" y="1703"/>
                  </a:cubicBezTo>
                  <a:cubicBezTo>
                    <a:pt x="528" y="1703"/>
                    <a:pt x="550" y="1724"/>
                    <a:pt x="550" y="1750"/>
                  </a:cubicBezTo>
                  <a:close/>
                  <a:moveTo>
                    <a:pt x="550" y="1850"/>
                  </a:moveTo>
                  <a:cubicBezTo>
                    <a:pt x="550" y="1875"/>
                    <a:pt x="528" y="1897"/>
                    <a:pt x="503" y="1897"/>
                  </a:cubicBezTo>
                  <a:cubicBezTo>
                    <a:pt x="477" y="1897"/>
                    <a:pt x="456" y="1875"/>
                    <a:pt x="456" y="1850"/>
                  </a:cubicBezTo>
                  <a:cubicBezTo>
                    <a:pt x="456" y="1824"/>
                    <a:pt x="477" y="1803"/>
                    <a:pt x="503" y="1803"/>
                  </a:cubicBezTo>
                  <a:cubicBezTo>
                    <a:pt x="528" y="1803"/>
                    <a:pt x="550" y="1824"/>
                    <a:pt x="550" y="1850"/>
                  </a:cubicBezTo>
                  <a:close/>
                  <a:moveTo>
                    <a:pt x="550" y="1950"/>
                  </a:moveTo>
                  <a:cubicBezTo>
                    <a:pt x="550" y="1975"/>
                    <a:pt x="528" y="1997"/>
                    <a:pt x="503" y="1997"/>
                  </a:cubicBezTo>
                  <a:cubicBezTo>
                    <a:pt x="477" y="1997"/>
                    <a:pt x="456" y="1975"/>
                    <a:pt x="456" y="1950"/>
                  </a:cubicBezTo>
                  <a:cubicBezTo>
                    <a:pt x="456" y="1924"/>
                    <a:pt x="477" y="1903"/>
                    <a:pt x="503" y="1903"/>
                  </a:cubicBezTo>
                  <a:cubicBezTo>
                    <a:pt x="528" y="1903"/>
                    <a:pt x="550" y="1924"/>
                    <a:pt x="550" y="1950"/>
                  </a:cubicBezTo>
                  <a:close/>
                  <a:moveTo>
                    <a:pt x="550" y="2050"/>
                  </a:moveTo>
                  <a:cubicBezTo>
                    <a:pt x="550" y="2075"/>
                    <a:pt x="528" y="2097"/>
                    <a:pt x="503" y="2097"/>
                  </a:cubicBezTo>
                  <a:cubicBezTo>
                    <a:pt x="477" y="2097"/>
                    <a:pt x="456" y="2075"/>
                    <a:pt x="456" y="2050"/>
                  </a:cubicBezTo>
                  <a:cubicBezTo>
                    <a:pt x="456" y="2024"/>
                    <a:pt x="477" y="2003"/>
                    <a:pt x="503" y="2003"/>
                  </a:cubicBezTo>
                  <a:cubicBezTo>
                    <a:pt x="528" y="2003"/>
                    <a:pt x="550" y="2024"/>
                    <a:pt x="550" y="2050"/>
                  </a:cubicBezTo>
                  <a:close/>
                  <a:moveTo>
                    <a:pt x="550" y="2150"/>
                  </a:moveTo>
                  <a:cubicBezTo>
                    <a:pt x="550" y="2175"/>
                    <a:pt x="528" y="2197"/>
                    <a:pt x="503" y="2197"/>
                  </a:cubicBezTo>
                  <a:cubicBezTo>
                    <a:pt x="477" y="2197"/>
                    <a:pt x="456" y="2175"/>
                    <a:pt x="456" y="2150"/>
                  </a:cubicBezTo>
                  <a:cubicBezTo>
                    <a:pt x="456" y="2124"/>
                    <a:pt x="477" y="2103"/>
                    <a:pt x="503" y="2103"/>
                  </a:cubicBezTo>
                  <a:cubicBezTo>
                    <a:pt x="528" y="2103"/>
                    <a:pt x="550" y="2124"/>
                    <a:pt x="550" y="2150"/>
                  </a:cubicBezTo>
                  <a:close/>
                  <a:moveTo>
                    <a:pt x="550" y="2250"/>
                  </a:moveTo>
                  <a:cubicBezTo>
                    <a:pt x="550" y="2275"/>
                    <a:pt x="528" y="2297"/>
                    <a:pt x="503" y="2297"/>
                  </a:cubicBezTo>
                  <a:cubicBezTo>
                    <a:pt x="477" y="2297"/>
                    <a:pt x="456" y="2275"/>
                    <a:pt x="456" y="2250"/>
                  </a:cubicBezTo>
                  <a:cubicBezTo>
                    <a:pt x="456" y="2224"/>
                    <a:pt x="477" y="2203"/>
                    <a:pt x="503" y="2203"/>
                  </a:cubicBezTo>
                  <a:cubicBezTo>
                    <a:pt x="528" y="2203"/>
                    <a:pt x="550" y="2224"/>
                    <a:pt x="550" y="2250"/>
                  </a:cubicBezTo>
                  <a:close/>
                  <a:moveTo>
                    <a:pt x="550" y="2350"/>
                  </a:moveTo>
                  <a:cubicBezTo>
                    <a:pt x="550" y="2375"/>
                    <a:pt x="528" y="2397"/>
                    <a:pt x="503" y="2397"/>
                  </a:cubicBezTo>
                  <a:cubicBezTo>
                    <a:pt x="477" y="2397"/>
                    <a:pt x="456" y="2375"/>
                    <a:pt x="456" y="2350"/>
                  </a:cubicBezTo>
                  <a:cubicBezTo>
                    <a:pt x="456" y="2324"/>
                    <a:pt x="477" y="2303"/>
                    <a:pt x="503" y="2303"/>
                  </a:cubicBezTo>
                  <a:cubicBezTo>
                    <a:pt x="528" y="2303"/>
                    <a:pt x="550" y="2324"/>
                    <a:pt x="550" y="2350"/>
                  </a:cubicBezTo>
                  <a:close/>
                  <a:moveTo>
                    <a:pt x="550" y="2450"/>
                  </a:moveTo>
                  <a:cubicBezTo>
                    <a:pt x="550" y="2475"/>
                    <a:pt x="528" y="2497"/>
                    <a:pt x="503" y="2497"/>
                  </a:cubicBezTo>
                  <a:cubicBezTo>
                    <a:pt x="477" y="2497"/>
                    <a:pt x="456" y="2475"/>
                    <a:pt x="456" y="2450"/>
                  </a:cubicBezTo>
                  <a:cubicBezTo>
                    <a:pt x="456" y="2424"/>
                    <a:pt x="477" y="2403"/>
                    <a:pt x="503" y="2403"/>
                  </a:cubicBezTo>
                  <a:cubicBezTo>
                    <a:pt x="528" y="2403"/>
                    <a:pt x="550" y="2424"/>
                    <a:pt x="550" y="2450"/>
                  </a:cubicBezTo>
                  <a:close/>
                  <a:moveTo>
                    <a:pt x="550" y="2550"/>
                  </a:moveTo>
                  <a:cubicBezTo>
                    <a:pt x="550" y="2575"/>
                    <a:pt x="528" y="2597"/>
                    <a:pt x="503" y="2597"/>
                  </a:cubicBezTo>
                  <a:cubicBezTo>
                    <a:pt x="477" y="2597"/>
                    <a:pt x="456" y="2575"/>
                    <a:pt x="456" y="2550"/>
                  </a:cubicBezTo>
                  <a:cubicBezTo>
                    <a:pt x="456" y="2524"/>
                    <a:pt x="477" y="2503"/>
                    <a:pt x="503" y="2503"/>
                  </a:cubicBezTo>
                  <a:cubicBezTo>
                    <a:pt x="528" y="2503"/>
                    <a:pt x="550" y="2524"/>
                    <a:pt x="550" y="2550"/>
                  </a:cubicBezTo>
                  <a:close/>
                  <a:moveTo>
                    <a:pt x="550" y="2650"/>
                  </a:moveTo>
                  <a:cubicBezTo>
                    <a:pt x="550" y="2675"/>
                    <a:pt x="528" y="2697"/>
                    <a:pt x="503" y="2697"/>
                  </a:cubicBezTo>
                  <a:cubicBezTo>
                    <a:pt x="477" y="2697"/>
                    <a:pt x="456" y="2675"/>
                    <a:pt x="456" y="2650"/>
                  </a:cubicBezTo>
                  <a:cubicBezTo>
                    <a:pt x="456" y="2624"/>
                    <a:pt x="477" y="2603"/>
                    <a:pt x="503" y="2603"/>
                  </a:cubicBezTo>
                  <a:cubicBezTo>
                    <a:pt x="528" y="2603"/>
                    <a:pt x="550" y="2624"/>
                    <a:pt x="550" y="2650"/>
                  </a:cubicBezTo>
                  <a:close/>
                  <a:moveTo>
                    <a:pt x="550" y="2750"/>
                  </a:moveTo>
                  <a:cubicBezTo>
                    <a:pt x="550" y="2775"/>
                    <a:pt x="528" y="2797"/>
                    <a:pt x="503" y="2797"/>
                  </a:cubicBezTo>
                  <a:cubicBezTo>
                    <a:pt x="477" y="2797"/>
                    <a:pt x="456" y="2775"/>
                    <a:pt x="456" y="2750"/>
                  </a:cubicBezTo>
                  <a:cubicBezTo>
                    <a:pt x="456" y="2724"/>
                    <a:pt x="477" y="2703"/>
                    <a:pt x="503" y="2703"/>
                  </a:cubicBezTo>
                  <a:cubicBezTo>
                    <a:pt x="528" y="2703"/>
                    <a:pt x="550" y="2724"/>
                    <a:pt x="550" y="2750"/>
                  </a:cubicBezTo>
                  <a:close/>
                  <a:moveTo>
                    <a:pt x="550" y="2850"/>
                  </a:moveTo>
                  <a:cubicBezTo>
                    <a:pt x="550" y="2875"/>
                    <a:pt x="528" y="2897"/>
                    <a:pt x="503" y="2897"/>
                  </a:cubicBezTo>
                  <a:cubicBezTo>
                    <a:pt x="477" y="2897"/>
                    <a:pt x="456" y="2875"/>
                    <a:pt x="456" y="2850"/>
                  </a:cubicBezTo>
                  <a:cubicBezTo>
                    <a:pt x="456" y="2824"/>
                    <a:pt x="477" y="2803"/>
                    <a:pt x="503" y="2803"/>
                  </a:cubicBezTo>
                  <a:cubicBezTo>
                    <a:pt x="528" y="2803"/>
                    <a:pt x="550" y="2824"/>
                    <a:pt x="550" y="2850"/>
                  </a:cubicBezTo>
                  <a:close/>
                  <a:moveTo>
                    <a:pt x="550" y="2950"/>
                  </a:moveTo>
                  <a:cubicBezTo>
                    <a:pt x="550" y="2975"/>
                    <a:pt x="528" y="2997"/>
                    <a:pt x="503" y="2997"/>
                  </a:cubicBezTo>
                  <a:cubicBezTo>
                    <a:pt x="477" y="2997"/>
                    <a:pt x="456" y="2975"/>
                    <a:pt x="456" y="2950"/>
                  </a:cubicBezTo>
                  <a:cubicBezTo>
                    <a:pt x="456" y="2924"/>
                    <a:pt x="477" y="2903"/>
                    <a:pt x="503" y="2903"/>
                  </a:cubicBezTo>
                  <a:cubicBezTo>
                    <a:pt x="528" y="2903"/>
                    <a:pt x="550" y="2924"/>
                    <a:pt x="550" y="2950"/>
                  </a:cubicBezTo>
                  <a:close/>
                  <a:moveTo>
                    <a:pt x="550" y="3050"/>
                  </a:moveTo>
                  <a:cubicBezTo>
                    <a:pt x="550" y="3075"/>
                    <a:pt x="528" y="3097"/>
                    <a:pt x="503" y="3097"/>
                  </a:cubicBezTo>
                  <a:cubicBezTo>
                    <a:pt x="477" y="3097"/>
                    <a:pt x="456" y="3075"/>
                    <a:pt x="456" y="3050"/>
                  </a:cubicBezTo>
                  <a:cubicBezTo>
                    <a:pt x="456" y="3024"/>
                    <a:pt x="477" y="3003"/>
                    <a:pt x="503" y="3003"/>
                  </a:cubicBezTo>
                  <a:cubicBezTo>
                    <a:pt x="528" y="3003"/>
                    <a:pt x="550" y="3024"/>
                    <a:pt x="550" y="3050"/>
                  </a:cubicBezTo>
                  <a:close/>
                  <a:moveTo>
                    <a:pt x="550" y="3150"/>
                  </a:moveTo>
                  <a:cubicBezTo>
                    <a:pt x="550" y="3175"/>
                    <a:pt x="528" y="3197"/>
                    <a:pt x="503" y="3197"/>
                  </a:cubicBezTo>
                  <a:cubicBezTo>
                    <a:pt x="477" y="3197"/>
                    <a:pt x="456" y="3175"/>
                    <a:pt x="456" y="3150"/>
                  </a:cubicBezTo>
                  <a:cubicBezTo>
                    <a:pt x="456" y="3124"/>
                    <a:pt x="477" y="3103"/>
                    <a:pt x="503" y="3103"/>
                  </a:cubicBezTo>
                  <a:cubicBezTo>
                    <a:pt x="528" y="3103"/>
                    <a:pt x="550" y="3124"/>
                    <a:pt x="550" y="3150"/>
                  </a:cubicBezTo>
                  <a:close/>
                  <a:moveTo>
                    <a:pt x="550" y="3250"/>
                  </a:moveTo>
                  <a:cubicBezTo>
                    <a:pt x="550" y="3275"/>
                    <a:pt x="528" y="3297"/>
                    <a:pt x="503" y="3297"/>
                  </a:cubicBezTo>
                  <a:cubicBezTo>
                    <a:pt x="477" y="3297"/>
                    <a:pt x="456" y="3275"/>
                    <a:pt x="456" y="3250"/>
                  </a:cubicBezTo>
                  <a:cubicBezTo>
                    <a:pt x="456" y="3224"/>
                    <a:pt x="477" y="3203"/>
                    <a:pt x="503" y="3203"/>
                  </a:cubicBezTo>
                  <a:cubicBezTo>
                    <a:pt x="528" y="3203"/>
                    <a:pt x="550" y="3224"/>
                    <a:pt x="550" y="3250"/>
                  </a:cubicBezTo>
                  <a:close/>
                  <a:moveTo>
                    <a:pt x="550" y="3350"/>
                  </a:moveTo>
                  <a:cubicBezTo>
                    <a:pt x="550" y="3375"/>
                    <a:pt x="528" y="3397"/>
                    <a:pt x="503" y="3397"/>
                  </a:cubicBezTo>
                  <a:cubicBezTo>
                    <a:pt x="477" y="3397"/>
                    <a:pt x="456" y="3375"/>
                    <a:pt x="456" y="3350"/>
                  </a:cubicBezTo>
                  <a:cubicBezTo>
                    <a:pt x="456" y="3324"/>
                    <a:pt x="477" y="3303"/>
                    <a:pt x="503" y="3303"/>
                  </a:cubicBezTo>
                  <a:cubicBezTo>
                    <a:pt x="528" y="3303"/>
                    <a:pt x="550" y="3324"/>
                    <a:pt x="550" y="3350"/>
                  </a:cubicBezTo>
                  <a:close/>
                  <a:moveTo>
                    <a:pt x="550" y="3450"/>
                  </a:moveTo>
                  <a:cubicBezTo>
                    <a:pt x="550" y="3475"/>
                    <a:pt x="528" y="3497"/>
                    <a:pt x="503" y="3497"/>
                  </a:cubicBezTo>
                  <a:cubicBezTo>
                    <a:pt x="477" y="3497"/>
                    <a:pt x="456" y="3475"/>
                    <a:pt x="456" y="3450"/>
                  </a:cubicBezTo>
                  <a:cubicBezTo>
                    <a:pt x="456" y="3424"/>
                    <a:pt x="477" y="3403"/>
                    <a:pt x="503" y="3403"/>
                  </a:cubicBezTo>
                  <a:cubicBezTo>
                    <a:pt x="528" y="3403"/>
                    <a:pt x="550" y="3424"/>
                    <a:pt x="550" y="3450"/>
                  </a:cubicBezTo>
                  <a:close/>
                  <a:moveTo>
                    <a:pt x="550" y="3550"/>
                  </a:moveTo>
                  <a:cubicBezTo>
                    <a:pt x="550" y="3575"/>
                    <a:pt x="528" y="3597"/>
                    <a:pt x="503" y="3597"/>
                  </a:cubicBezTo>
                  <a:cubicBezTo>
                    <a:pt x="477" y="3597"/>
                    <a:pt x="456" y="3575"/>
                    <a:pt x="456" y="3550"/>
                  </a:cubicBezTo>
                  <a:cubicBezTo>
                    <a:pt x="456" y="3524"/>
                    <a:pt x="477" y="3503"/>
                    <a:pt x="503" y="3503"/>
                  </a:cubicBezTo>
                  <a:cubicBezTo>
                    <a:pt x="528" y="3503"/>
                    <a:pt x="550" y="3524"/>
                    <a:pt x="550" y="3550"/>
                  </a:cubicBezTo>
                  <a:close/>
                  <a:moveTo>
                    <a:pt x="550" y="3650"/>
                  </a:moveTo>
                  <a:cubicBezTo>
                    <a:pt x="550" y="3675"/>
                    <a:pt x="528" y="3697"/>
                    <a:pt x="503" y="3697"/>
                  </a:cubicBezTo>
                  <a:cubicBezTo>
                    <a:pt x="477" y="3697"/>
                    <a:pt x="456" y="3675"/>
                    <a:pt x="456" y="3650"/>
                  </a:cubicBezTo>
                  <a:cubicBezTo>
                    <a:pt x="456" y="3624"/>
                    <a:pt x="477" y="3603"/>
                    <a:pt x="503" y="3603"/>
                  </a:cubicBezTo>
                  <a:cubicBezTo>
                    <a:pt x="528" y="3603"/>
                    <a:pt x="550" y="3624"/>
                    <a:pt x="550" y="3650"/>
                  </a:cubicBezTo>
                  <a:close/>
                  <a:moveTo>
                    <a:pt x="550" y="3750"/>
                  </a:moveTo>
                  <a:cubicBezTo>
                    <a:pt x="550" y="3775"/>
                    <a:pt x="528" y="3797"/>
                    <a:pt x="503" y="3797"/>
                  </a:cubicBezTo>
                  <a:cubicBezTo>
                    <a:pt x="477" y="3797"/>
                    <a:pt x="456" y="3775"/>
                    <a:pt x="456" y="3750"/>
                  </a:cubicBezTo>
                  <a:cubicBezTo>
                    <a:pt x="456" y="3724"/>
                    <a:pt x="477" y="3703"/>
                    <a:pt x="503" y="3703"/>
                  </a:cubicBezTo>
                  <a:cubicBezTo>
                    <a:pt x="528" y="3703"/>
                    <a:pt x="550" y="3724"/>
                    <a:pt x="550" y="3750"/>
                  </a:cubicBezTo>
                  <a:close/>
                  <a:moveTo>
                    <a:pt x="550" y="3850"/>
                  </a:moveTo>
                  <a:cubicBezTo>
                    <a:pt x="550" y="3875"/>
                    <a:pt x="528" y="3897"/>
                    <a:pt x="503" y="3897"/>
                  </a:cubicBezTo>
                  <a:cubicBezTo>
                    <a:pt x="477" y="3897"/>
                    <a:pt x="456" y="3875"/>
                    <a:pt x="456" y="3850"/>
                  </a:cubicBezTo>
                  <a:cubicBezTo>
                    <a:pt x="456" y="3824"/>
                    <a:pt x="477" y="3803"/>
                    <a:pt x="503" y="3803"/>
                  </a:cubicBezTo>
                  <a:cubicBezTo>
                    <a:pt x="528" y="3803"/>
                    <a:pt x="550" y="3824"/>
                    <a:pt x="550" y="3850"/>
                  </a:cubicBezTo>
                  <a:close/>
                  <a:moveTo>
                    <a:pt x="550" y="3950"/>
                  </a:moveTo>
                  <a:cubicBezTo>
                    <a:pt x="550" y="3975"/>
                    <a:pt x="528" y="3997"/>
                    <a:pt x="503" y="3997"/>
                  </a:cubicBezTo>
                  <a:cubicBezTo>
                    <a:pt x="477" y="3997"/>
                    <a:pt x="456" y="3975"/>
                    <a:pt x="456" y="3950"/>
                  </a:cubicBezTo>
                  <a:cubicBezTo>
                    <a:pt x="456" y="3924"/>
                    <a:pt x="477" y="3903"/>
                    <a:pt x="503" y="3903"/>
                  </a:cubicBezTo>
                  <a:cubicBezTo>
                    <a:pt x="528" y="3903"/>
                    <a:pt x="550" y="3924"/>
                    <a:pt x="550" y="3950"/>
                  </a:cubicBezTo>
                  <a:close/>
                  <a:moveTo>
                    <a:pt x="550" y="4050"/>
                  </a:moveTo>
                  <a:cubicBezTo>
                    <a:pt x="550" y="4075"/>
                    <a:pt x="528" y="4097"/>
                    <a:pt x="503" y="4097"/>
                  </a:cubicBezTo>
                  <a:cubicBezTo>
                    <a:pt x="477" y="4097"/>
                    <a:pt x="456" y="4075"/>
                    <a:pt x="456" y="4050"/>
                  </a:cubicBezTo>
                  <a:cubicBezTo>
                    <a:pt x="456" y="4024"/>
                    <a:pt x="477" y="4003"/>
                    <a:pt x="503" y="4003"/>
                  </a:cubicBezTo>
                  <a:cubicBezTo>
                    <a:pt x="528" y="4003"/>
                    <a:pt x="550" y="4024"/>
                    <a:pt x="550" y="4050"/>
                  </a:cubicBezTo>
                  <a:close/>
                  <a:moveTo>
                    <a:pt x="550" y="4150"/>
                  </a:moveTo>
                  <a:cubicBezTo>
                    <a:pt x="550" y="4175"/>
                    <a:pt x="528" y="4197"/>
                    <a:pt x="503" y="4197"/>
                  </a:cubicBezTo>
                  <a:cubicBezTo>
                    <a:pt x="477" y="4197"/>
                    <a:pt x="456" y="4175"/>
                    <a:pt x="456" y="4150"/>
                  </a:cubicBezTo>
                  <a:cubicBezTo>
                    <a:pt x="456" y="4124"/>
                    <a:pt x="477" y="4103"/>
                    <a:pt x="503" y="4103"/>
                  </a:cubicBezTo>
                  <a:cubicBezTo>
                    <a:pt x="528" y="4103"/>
                    <a:pt x="550" y="4124"/>
                    <a:pt x="550" y="4150"/>
                  </a:cubicBezTo>
                  <a:close/>
                  <a:moveTo>
                    <a:pt x="550" y="4250"/>
                  </a:moveTo>
                  <a:cubicBezTo>
                    <a:pt x="550" y="4275"/>
                    <a:pt x="528" y="4297"/>
                    <a:pt x="503" y="4297"/>
                  </a:cubicBezTo>
                  <a:cubicBezTo>
                    <a:pt x="477" y="4297"/>
                    <a:pt x="456" y="4275"/>
                    <a:pt x="456" y="4250"/>
                  </a:cubicBezTo>
                  <a:cubicBezTo>
                    <a:pt x="456" y="4224"/>
                    <a:pt x="477" y="4203"/>
                    <a:pt x="503" y="4203"/>
                  </a:cubicBezTo>
                  <a:cubicBezTo>
                    <a:pt x="528" y="4203"/>
                    <a:pt x="550" y="4224"/>
                    <a:pt x="550" y="4250"/>
                  </a:cubicBezTo>
                  <a:close/>
                  <a:moveTo>
                    <a:pt x="550" y="4350"/>
                  </a:moveTo>
                  <a:cubicBezTo>
                    <a:pt x="550" y="4375"/>
                    <a:pt x="528" y="4397"/>
                    <a:pt x="503" y="4397"/>
                  </a:cubicBezTo>
                  <a:cubicBezTo>
                    <a:pt x="477" y="4397"/>
                    <a:pt x="456" y="4375"/>
                    <a:pt x="456" y="4350"/>
                  </a:cubicBezTo>
                  <a:cubicBezTo>
                    <a:pt x="456" y="4324"/>
                    <a:pt x="477" y="4303"/>
                    <a:pt x="503" y="4303"/>
                  </a:cubicBezTo>
                  <a:cubicBezTo>
                    <a:pt x="528" y="4303"/>
                    <a:pt x="550" y="4324"/>
                    <a:pt x="550" y="4350"/>
                  </a:cubicBezTo>
                  <a:close/>
                  <a:moveTo>
                    <a:pt x="550" y="4450"/>
                  </a:moveTo>
                  <a:cubicBezTo>
                    <a:pt x="550" y="4475"/>
                    <a:pt x="528" y="4497"/>
                    <a:pt x="503" y="4497"/>
                  </a:cubicBezTo>
                  <a:cubicBezTo>
                    <a:pt x="477" y="4497"/>
                    <a:pt x="456" y="4475"/>
                    <a:pt x="456" y="4450"/>
                  </a:cubicBezTo>
                  <a:cubicBezTo>
                    <a:pt x="456" y="4424"/>
                    <a:pt x="477" y="4403"/>
                    <a:pt x="503" y="4403"/>
                  </a:cubicBezTo>
                  <a:cubicBezTo>
                    <a:pt x="528" y="4403"/>
                    <a:pt x="550" y="4424"/>
                    <a:pt x="550" y="4450"/>
                  </a:cubicBezTo>
                  <a:close/>
                  <a:moveTo>
                    <a:pt x="550" y="4550"/>
                  </a:moveTo>
                  <a:cubicBezTo>
                    <a:pt x="550" y="4575"/>
                    <a:pt x="528" y="4597"/>
                    <a:pt x="503" y="4597"/>
                  </a:cubicBezTo>
                  <a:cubicBezTo>
                    <a:pt x="477" y="4597"/>
                    <a:pt x="456" y="4575"/>
                    <a:pt x="456" y="4550"/>
                  </a:cubicBezTo>
                  <a:cubicBezTo>
                    <a:pt x="456" y="4524"/>
                    <a:pt x="477" y="4503"/>
                    <a:pt x="503" y="4503"/>
                  </a:cubicBezTo>
                  <a:cubicBezTo>
                    <a:pt x="528" y="4503"/>
                    <a:pt x="550" y="4524"/>
                    <a:pt x="550" y="4550"/>
                  </a:cubicBezTo>
                  <a:close/>
                  <a:moveTo>
                    <a:pt x="550" y="4650"/>
                  </a:moveTo>
                  <a:cubicBezTo>
                    <a:pt x="550" y="4675"/>
                    <a:pt x="528" y="4697"/>
                    <a:pt x="503" y="4697"/>
                  </a:cubicBezTo>
                  <a:cubicBezTo>
                    <a:pt x="477" y="4697"/>
                    <a:pt x="456" y="4675"/>
                    <a:pt x="456" y="4650"/>
                  </a:cubicBezTo>
                  <a:cubicBezTo>
                    <a:pt x="456" y="4624"/>
                    <a:pt x="477" y="4603"/>
                    <a:pt x="503" y="4603"/>
                  </a:cubicBezTo>
                  <a:cubicBezTo>
                    <a:pt x="528" y="4603"/>
                    <a:pt x="550" y="4624"/>
                    <a:pt x="550" y="4650"/>
                  </a:cubicBezTo>
                  <a:close/>
                  <a:moveTo>
                    <a:pt x="550" y="4750"/>
                  </a:moveTo>
                  <a:cubicBezTo>
                    <a:pt x="550" y="4775"/>
                    <a:pt x="528" y="4797"/>
                    <a:pt x="503" y="4797"/>
                  </a:cubicBezTo>
                  <a:cubicBezTo>
                    <a:pt x="477" y="4797"/>
                    <a:pt x="456" y="4775"/>
                    <a:pt x="456" y="4750"/>
                  </a:cubicBezTo>
                  <a:cubicBezTo>
                    <a:pt x="456" y="4724"/>
                    <a:pt x="477" y="4703"/>
                    <a:pt x="503" y="4703"/>
                  </a:cubicBezTo>
                  <a:cubicBezTo>
                    <a:pt x="528" y="4703"/>
                    <a:pt x="550" y="4724"/>
                    <a:pt x="550" y="4750"/>
                  </a:cubicBezTo>
                  <a:close/>
                  <a:moveTo>
                    <a:pt x="550" y="4850"/>
                  </a:moveTo>
                  <a:cubicBezTo>
                    <a:pt x="550" y="4875"/>
                    <a:pt x="528" y="4897"/>
                    <a:pt x="503" y="4897"/>
                  </a:cubicBezTo>
                  <a:cubicBezTo>
                    <a:pt x="477" y="4897"/>
                    <a:pt x="456" y="4875"/>
                    <a:pt x="456" y="4850"/>
                  </a:cubicBezTo>
                  <a:cubicBezTo>
                    <a:pt x="456" y="4824"/>
                    <a:pt x="477" y="4803"/>
                    <a:pt x="503" y="4803"/>
                  </a:cubicBezTo>
                  <a:cubicBezTo>
                    <a:pt x="528" y="4803"/>
                    <a:pt x="550" y="4824"/>
                    <a:pt x="550" y="4850"/>
                  </a:cubicBezTo>
                  <a:close/>
                  <a:moveTo>
                    <a:pt x="550" y="4950"/>
                  </a:moveTo>
                  <a:cubicBezTo>
                    <a:pt x="550" y="4975"/>
                    <a:pt x="528" y="4997"/>
                    <a:pt x="503" y="4997"/>
                  </a:cubicBezTo>
                  <a:cubicBezTo>
                    <a:pt x="477" y="4997"/>
                    <a:pt x="456" y="4975"/>
                    <a:pt x="456" y="4950"/>
                  </a:cubicBezTo>
                  <a:cubicBezTo>
                    <a:pt x="456" y="4924"/>
                    <a:pt x="477" y="4903"/>
                    <a:pt x="503" y="4903"/>
                  </a:cubicBezTo>
                  <a:cubicBezTo>
                    <a:pt x="528" y="4903"/>
                    <a:pt x="550" y="4924"/>
                    <a:pt x="550" y="4950"/>
                  </a:cubicBezTo>
                  <a:close/>
                  <a:moveTo>
                    <a:pt x="550" y="5050"/>
                  </a:moveTo>
                  <a:cubicBezTo>
                    <a:pt x="550" y="5075"/>
                    <a:pt x="528" y="5097"/>
                    <a:pt x="503" y="5097"/>
                  </a:cubicBezTo>
                  <a:cubicBezTo>
                    <a:pt x="477" y="5097"/>
                    <a:pt x="456" y="5075"/>
                    <a:pt x="456" y="5050"/>
                  </a:cubicBezTo>
                  <a:cubicBezTo>
                    <a:pt x="456" y="5024"/>
                    <a:pt x="477" y="5003"/>
                    <a:pt x="503" y="5003"/>
                  </a:cubicBezTo>
                  <a:cubicBezTo>
                    <a:pt x="528" y="5003"/>
                    <a:pt x="550" y="5024"/>
                    <a:pt x="550" y="5050"/>
                  </a:cubicBezTo>
                  <a:close/>
                  <a:moveTo>
                    <a:pt x="550" y="5150"/>
                  </a:moveTo>
                  <a:cubicBezTo>
                    <a:pt x="550" y="5175"/>
                    <a:pt x="528" y="5197"/>
                    <a:pt x="503" y="5197"/>
                  </a:cubicBezTo>
                  <a:cubicBezTo>
                    <a:pt x="477" y="5197"/>
                    <a:pt x="456" y="5175"/>
                    <a:pt x="456" y="5150"/>
                  </a:cubicBezTo>
                  <a:cubicBezTo>
                    <a:pt x="456" y="5124"/>
                    <a:pt x="477" y="5103"/>
                    <a:pt x="503" y="5103"/>
                  </a:cubicBezTo>
                  <a:cubicBezTo>
                    <a:pt x="528" y="5103"/>
                    <a:pt x="550" y="5124"/>
                    <a:pt x="550" y="5150"/>
                  </a:cubicBezTo>
                  <a:close/>
                  <a:moveTo>
                    <a:pt x="550" y="5250"/>
                  </a:moveTo>
                  <a:cubicBezTo>
                    <a:pt x="550" y="5275"/>
                    <a:pt x="528" y="5297"/>
                    <a:pt x="503" y="5297"/>
                  </a:cubicBezTo>
                  <a:cubicBezTo>
                    <a:pt x="477" y="5297"/>
                    <a:pt x="456" y="5275"/>
                    <a:pt x="456" y="5250"/>
                  </a:cubicBezTo>
                  <a:cubicBezTo>
                    <a:pt x="456" y="5224"/>
                    <a:pt x="477" y="5203"/>
                    <a:pt x="503" y="5203"/>
                  </a:cubicBezTo>
                  <a:cubicBezTo>
                    <a:pt x="528" y="5203"/>
                    <a:pt x="550" y="5224"/>
                    <a:pt x="550" y="5250"/>
                  </a:cubicBezTo>
                  <a:close/>
                  <a:moveTo>
                    <a:pt x="550" y="5350"/>
                  </a:moveTo>
                  <a:cubicBezTo>
                    <a:pt x="550" y="5375"/>
                    <a:pt x="528" y="5397"/>
                    <a:pt x="503" y="5397"/>
                  </a:cubicBezTo>
                  <a:cubicBezTo>
                    <a:pt x="477" y="5397"/>
                    <a:pt x="456" y="5375"/>
                    <a:pt x="456" y="5350"/>
                  </a:cubicBezTo>
                  <a:cubicBezTo>
                    <a:pt x="456" y="5324"/>
                    <a:pt x="477" y="5303"/>
                    <a:pt x="503" y="5303"/>
                  </a:cubicBezTo>
                  <a:cubicBezTo>
                    <a:pt x="528" y="5303"/>
                    <a:pt x="550" y="5324"/>
                    <a:pt x="550" y="5350"/>
                  </a:cubicBezTo>
                  <a:close/>
                  <a:moveTo>
                    <a:pt x="550" y="5450"/>
                  </a:moveTo>
                  <a:cubicBezTo>
                    <a:pt x="550" y="5475"/>
                    <a:pt x="528" y="5497"/>
                    <a:pt x="503" y="5497"/>
                  </a:cubicBezTo>
                  <a:cubicBezTo>
                    <a:pt x="477" y="5497"/>
                    <a:pt x="456" y="5475"/>
                    <a:pt x="456" y="5450"/>
                  </a:cubicBezTo>
                  <a:cubicBezTo>
                    <a:pt x="456" y="5424"/>
                    <a:pt x="477" y="5403"/>
                    <a:pt x="503" y="5403"/>
                  </a:cubicBezTo>
                  <a:cubicBezTo>
                    <a:pt x="528" y="5403"/>
                    <a:pt x="550" y="5424"/>
                    <a:pt x="550" y="5450"/>
                  </a:cubicBezTo>
                  <a:close/>
                  <a:moveTo>
                    <a:pt x="550" y="5550"/>
                  </a:moveTo>
                  <a:cubicBezTo>
                    <a:pt x="550" y="5575"/>
                    <a:pt x="528" y="5597"/>
                    <a:pt x="503" y="5597"/>
                  </a:cubicBezTo>
                  <a:cubicBezTo>
                    <a:pt x="477" y="5597"/>
                    <a:pt x="456" y="5575"/>
                    <a:pt x="456" y="5550"/>
                  </a:cubicBezTo>
                  <a:cubicBezTo>
                    <a:pt x="456" y="5524"/>
                    <a:pt x="477" y="5503"/>
                    <a:pt x="503" y="5503"/>
                  </a:cubicBezTo>
                  <a:cubicBezTo>
                    <a:pt x="528" y="5503"/>
                    <a:pt x="550" y="5524"/>
                    <a:pt x="550" y="5550"/>
                  </a:cubicBezTo>
                  <a:close/>
                  <a:moveTo>
                    <a:pt x="550" y="5650"/>
                  </a:moveTo>
                  <a:cubicBezTo>
                    <a:pt x="550" y="5675"/>
                    <a:pt x="528" y="5697"/>
                    <a:pt x="503" y="5697"/>
                  </a:cubicBezTo>
                  <a:cubicBezTo>
                    <a:pt x="477" y="5697"/>
                    <a:pt x="456" y="5675"/>
                    <a:pt x="456" y="5650"/>
                  </a:cubicBezTo>
                  <a:cubicBezTo>
                    <a:pt x="456" y="5624"/>
                    <a:pt x="477" y="5603"/>
                    <a:pt x="503" y="5603"/>
                  </a:cubicBezTo>
                  <a:cubicBezTo>
                    <a:pt x="528" y="5603"/>
                    <a:pt x="550" y="5624"/>
                    <a:pt x="550" y="5650"/>
                  </a:cubicBezTo>
                  <a:close/>
                  <a:moveTo>
                    <a:pt x="550" y="5750"/>
                  </a:moveTo>
                  <a:cubicBezTo>
                    <a:pt x="550" y="5775"/>
                    <a:pt x="528" y="5797"/>
                    <a:pt x="503" y="5797"/>
                  </a:cubicBezTo>
                  <a:cubicBezTo>
                    <a:pt x="477" y="5797"/>
                    <a:pt x="456" y="5775"/>
                    <a:pt x="456" y="5750"/>
                  </a:cubicBezTo>
                  <a:cubicBezTo>
                    <a:pt x="456" y="5724"/>
                    <a:pt x="477" y="5703"/>
                    <a:pt x="503" y="5703"/>
                  </a:cubicBezTo>
                  <a:cubicBezTo>
                    <a:pt x="528" y="5703"/>
                    <a:pt x="550" y="5724"/>
                    <a:pt x="550" y="5750"/>
                  </a:cubicBezTo>
                  <a:close/>
                  <a:moveTo>
                    <a:pt x="550" y="5850"/>
                  </a:moveTo>
                  <a:cubicBezTo>
                    <a:pt x="550" y="5875"/>
                    <a:pt x="528" y="5897"/>
                    <a:pt x="503" y="5897"/>
                  </a:cubicBezTo>
                  <a:cubicBezTo>
                    <a:pt x="477" y="5897"/>
                    <a:pt x="456" y="5875"/>
                    <a:pt x="456" y="5850"/>
                  </a:cubicBezTo>
                  <a:cubicBezTo>
                    <a:pt x="456" y="5824"/>
                    <a:pt x="477" y="5803"/>
                    <a:pt x="503" y="5803"/>
                  </a:cubicBezTo>
                  <a:cubicBezTo>
                    <a:pt x="528" y="5803"/>
                    <a:pt x="550" y="5824"/>
                    <a:pt x="550" y="5850"/>
                  </a:cubicBezTo>
                  <a:close/>
                  <a:moveTo>
                    <a:pt x="550" y="5950"/>
                  </a:moveTo>
                  <a:cubicBezTo>
                    <a:pt x="550" y="5975"/>
                    <a:pt x="528" y="5997"/>
                    <a:pt x="503" y="5997"/>
                  </a:cubicBezTo>
                  <a:cubicBezTo>
                    <a:pt x="477" y="5997"/>
                    <a:pt x="456" y="5975"/>
                    <a:pt x="456" y="5950"/>
                  </a:cubicBezTo>
                  <a:cubicBezTo>
                    <a:pt x="456" y="5924"/>
                    <a:pt x="477" y="5903"/>
                    <a:pt x="503" y="5903"/>
                  </a:cubicBezTo>
                  <a:cubicBezTo>
                    <a:pt x="528" y="5903"/>
                    <a:pt x="550" y="5924"/>
                    <a:pt x="550" y="5950"/>
                  </a:cubicBezTo>
                  <a:close/>
                  <a:moveTo>
                    <a:pt x="550" y="6050"/>
                  </a:moveTo>
                  <a:cubicBezTo>
                    <a:pt x="550" y="6075"/>
                    <a:pt x="528" y="6097"/>
                    <a:pt x="503" y="6097"/>
                  </a:cubicBezTo>
                  <a:cubicBezTo>
                    <a:pt x="477" y="6097"/>
                    <a:pt x="456" y="6075"/>
                    <a:pt x="456" y="6050"/>
                  </a:cubicBezTo>
                  <a:cubicBezTo>
                    <a:pt x="456" y="6024"/>
                    <a:pt x="477" y="6003"/>
                    <a:pt x="503" y="6003"/>
                  </a:cubicBezTo>
                  <a:cubicBezTo>
                    <a:pt x="528" y="6003"/>
                    <a:pt x="550" y="6024"/>
                    <a:pt x="550" y="6050"/>
                  </a:cubicBezTo>
                  <a:close/>
                  <a:moveTo>
                    <a:pt x="550" y="6150"/>
                  </a:moveTo>
                  <a:cubicBezTo>
                    <a:pt x="550" y="6175"/>
                    <a:pt x="528" y="6197"/>
                    <a:pt x="503" y="6197"/>
                  </a:cubicBezTo>
                  <a:cubicBezTo>
                    <a:pt x="477" y="6197"/>
                    <a:pt x="456" y="6175"/>
                    <a:pt x="456" y="6150"/>
                  </a:cubicBezTo>
                  <a:cubicBezTo>
                    <a:pt x="456" y="6124"/>
                    <a:pt x="477" y="6103"/>
                    <a:pt x="503" y="6103"/>
                  </a:cubicBezTo>
                  <a:cubicBezTo>
                    <a:pt x="528" y="6103"/>
                    <a:pt x="550" y="6124"/>
                    <a:pt x="550" y="6150"/>
                  </a:cubicBezTo>
                  <a:close/>
                  <a:moveTo>
                    <a:pt x="550" y="6250"/>
                  </a:moveTo>
                  <a:cubicBezTo>
                    <a:pt x="550" y="6275"/>
                    <a:pt x="528" y="6297"/>
                    <a:pt x="503" y="6297"/>
                  </a:cubicBezTo>
                  <a:cubicBezTo>
                    <a:pt x="477" y="6297"/>
                    <a:pt x="456" y="6275"/>
                    <a:pt x="456" y="6250"/>
                  </a:cubicBezTo>
                  <a:cubicBezTo>
                    <a:pt x="456" y="6224"/>
                    <a:pt x="477" y="6203"/>
                    <a:pt x="503" y="6203"/>
                  </a:cubicBezTo>
                  <a:cubicBezTo>
                    <a:pt x="528" y="6203"/>
                    <a:pt x="550" y="6224"/>
                    <a:pt x="550" y="6250"/>
                  </a:cubicBezTo>
                  <a:close/>
                  <a:moveTo>
                    <a:pt x="550" y="6350"/>
                  </a:moveTo>
                  <a:cubicBezTo>
                    <a:pt x="550" y="6375"/>
                    <a:pt x="528" y="6397"/>
                    <a:pt x="503" y="6397"/>
                  </a:cubicBezTo>
                  <a:cubicBezTo>
                    <a:pt x="477" y="6397"/>
                    <a:pt x="456" y="6375"/>
                    <a:pt x="456" y="6350"/>
                  </a:cubicBezTo>
                  <a:cubicBezTo>
                    <a:pt x="456" y="6324"/>
                    <a:pt x="477" y="6303"/>
                    <a:pt x="503" y="6303"/>
                  </a:cubicBezTo>
                  <a:cubicBezTo>
                    <a:pt x="528" y="6303"/>
                    <a:pt x="550" y="6324"/>
                    <a:pt x="550" y="6350"/>
                  </a:cubicBezTo>
                  <a:close/>
                  <a:moveTo>
                    <a:pt x="550" y="6450"/>
                  </a:moveTo>
                  <a:cubicBezTo>
                    <a:pt x="550" y="6475"/>
                    <a:pt x="528" y="6497"/>
                    <a:pt x="503" y="6497"/>
                  </a:cubicBezTo>
                  <a:cubicBezTo>
                    <a:pt x="477" y="6497"/>
                    <a:pt x="456" y="6475"/>
                    <a:pt x="456" y="6450"/>
                  </a:cubicBezTo>
                  <a:cubicBezTo>
                    <a:pt x="456" y="6424"/>
                    <a:pt x="477" y="6403"/>
                    <a:pt x="503" y="6403"/>
                  </a:cubicBezTo>
                  <a:cubicBezTo>
                    <a:pt x="528" y="6403"/>
                    <a:pt x="550" y="6424"/>
                    <a:pt x="550" y="6450"/>
                  </a:cubicBezTo>
                  <a:close/>
                </a:path>
              </a:pathLst>
            </a:custGeom>
            <a:gradFill rotWithShape="1">
              <a:gsLst>
                <a:gs pos="0">
                  <a:srgbClr val="ECB69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7D5338"/>
              </a:solidFill>
              <a:round/>
            </a:ln>
          </p:spPr>
        </p:sp>
      </p:grpSp>
      <p:grpSp>
        <p:nvGrpSpPr>
          <p:cNvPr id="11" name="!!Membrana interna"/>
          <p:cNvGrpSpPr/>
          <p:nvPr/>
        </p:nvGrpSpPr>
        <p:grpSpPr>
          <a:xfrm>
            <a:off x="5120640" y="914400"/>
            <a:ext cx="502920" cy="5943600"/>
            <a:chOff x="5120640" y="914400"/>
            <a:chExt cx="502920" cy="5943600"/>
          </a:xfrm>
        </p:grpSpPr>
        <p:sp>
          <p:nvSpPr>
            <p:cNvPr id="12" name="Forma 11"/>
            <p:cNvSpPr/>
            <p:nvPr/>
          </p:nvSpPr>
          <p:spPr>
            <a:xfrm>
              <a:off x="5211166" y="914400"/>
              <a:ext cx="321869" cy="5943600"/>
            </a:xfrm>
            <a:prstGeom prst="rect">
              <a:avLst/>
            </a:prstGeom>
            <a:solidFill>
              <a:srgbClr val="FAD7A0"/>
            </a:solidFill>
            <a:ln>
              <a:noFill/>
            </a:ln>
          </p:spPr>
        </p:sp>
        <p:sp>
          <p:nvSpPr>
            <p:cNvPr id="13" name="Forma 12"/>
            <p:cNvSpPr/>
            <p:nvPr/>
          </p:nvSpPr>
          <p:spPr>
            <a:xfrm>
              <a:off x="5120640" y="914400"/>
              <a:ext cx="502920" cy="5943600"/>
            </a:xfrm>
            <a:custGeom>
              <a:avLst/>
              <a:gdLst/>
              <a:ahLst/>
              <a:cxnLst/>
              <a:rect l="0" t="0" r="r" b="b"/>
              <a:pathLst>
                <a:path w="550" h="6500">
                  <a:moveTo>
                    <a:pt x="94" y="50"/>
                  </a:moveTo>
                  <a:cubicBezTo>
                    <a:pt x="94" y="75"/>
                    <a:pt x="72" y="97"/>
                    <a:pt x="47" y="97"/>
                  </a:cubicBezTo>
                  <a:cubicBezTo>
                    <a:pt x="21" y="97"/>
                    <a:pt x="0" y="75"/>
                    <a:pt x="0" y="50"/>
                  </a:cubicBezTo>
                  <a:cubicBezTo>
                    <a:pt x="0" y="24"/>
                    <a:pt x="21" y="3"/>
                    <a:pt x="47" y="3"/>
                  </a:cubicBezTo>
                  <a:cubicBezTo>
                    <a:pt x="72" y="3"/>
                    <a:pt x="94" y="24"/>
                    <a:pt x="94" y="50"/>
                  </a:cubicBezTo>
                  <a:close/>
                  <a:moveTo>
                    <a:pt x="94" y="150"/>
                  </a:moveTo>
                  <a:cubicBezTo>
                    <a:pt x="94" y="175"/>
                    <a:pt x="72" y="197"/>
                    <a:pt x="47" y="197"/>
                  </a:cubicBezTo>
                  <a:cubicBezTo>
                    <a:pt x="21" y="197"/>
                    <a:pt x="0" y="175"/>
                    <a:pt x="0" y="150"/>
                  </a:cubicBezTo>
                  <a:cubicBezTo>
                    <a:pt x="0" y="124"/>
                    <a:pt x="21" y="103"/>
                    <a:pt x="47" y="103"/>
                  </a:cubicBezTo>
                  <a:cubicBezTo>
                    <a:pt x="72" y="103"/>
                    <a:pt x="94" y="124"/>
                    <a:pt x="94" y="150"/>
                  </a:cubicBezTo>
                  <a:close/>
                  <a:moveTo>
                    <a:pt x="94" y="250"/>
                  </a:moveTo>
                  <a:cubicBezTo>
                    <a:pt x="94" y="275"/>
                    <a:pt x="72" y="297"/>
                    <a:pt x="47" y="297"/>
                  </a:cubicBezTo>
                  <a:cubicBezTo>
                    <a:pt x="21" y="297"/>
                    <a:pt x="0" y="275"/>
                    <a:pt x="0" y="250"/>
                  </a:cubicBezTo>
                  <a:cubicBezTo>
                    <a:pt x="0" y="224"/>
                    <a:pt x="21" y="203"/>
                    <a:pt x="47" y="203"/>
                  </a:cubicBezTo>
                  <a:cubicBezTo>
                    <a:pt x="72" y="203"/>
                    <a:pt x="94" y="224"/>
                    <a:pt x="94" y="250"/>
                  </a:cubicBezTo>
                  <a:close/>
                  <a:moveTo>
                    <a:pt x="94" y="350"/>
                  </a:moveTo>
                  <a:cubicBezTo>
                    <a:pt x="94" y="375"/>
                    <a:pt x="72" y="397"/>
                    <a:pt x="47" y="397"/>
                  </a:cubicBezTo>
                  <a:cubicBezTo>
                    <a:pt x="21" y="397"/>
                    <a:pt x="0" y="375"/>
                    <a:pt x="0" y="350"/>
                  </a:cubicBezTo>
                  <a:cubicBezTo>
                    <a:pt x="0" y="324"/>
                    <a:pt x="21" y="303"/>
                    <a:pt x="47" y="303"/>
                  </a:cubicBezTo>
                  <a:cubicBezTo>
                    <a:pt x="72" y="303"/>
                    <a:pt x="94" y="324"/>
                    <a:pt x="94" y="350"/>
                  </a:cubicBezTo>
                  <a:close/>
                  <a:moveTo>
                    <a:pt x="94" y="450"/>
                  </a:moveTo>
                  <a:cubicBezTo>
                    <a:pt x="94" y="475"/>
                    <a:pt x="72" y="497"/>
                    <a:pt x="47" y="497"/>
                  </a:cubicBezTo>
                  <a:cubicBezTo>
                    <a:pt x="21" y="497"/>
                    <a:pt x="0" y="475"/>
                    <a:pt x="0" y="450"/>
                  </a:cubicBezTo>
                  <a:cubicBezTo>
                    <a:pt x="0" y="424"/>
                    <a:pt x="21" y="403"/>
                    <a:pt x="47" y="403"/>
                  </a:cubicBezTo>
                  <a:cubicBezTo>
                    <a:pt x="72" y="403"/>
                    <a:pt x="94" y="424"/>
                    <a:pt x="94" y="450"/>
                  </a:cubicBezTo>
                  <a:close/>
                  <a:moveTo>
                    <a:pt x="94" y="550"/>
                  </a:moveTo>
                  <a:cubicBezTo>
                    <a:pt x="94" y="575"/>
                    <a:pt x="72" y="597"/>
                    <a:pt x="47" y="597"/>
                  </a:cubicBezTo>
                  <a:cubicBezTo>
                    <a:pt x="21" y="597"/>
                    <a:pt x="0" y="575"/>
                    <a:pt x="0" y="550"/>
                  </a:cubicBezTo>
                  <a:cubicBezTo>
                    <a:pt x="0" y="524"/>
                    <a:pt x="21" y="503"/>
                    <a:pt x="47" y="503"/>
                  </a:cubicBezTo>
                  <a:cubicBezTo>
                    <a:pt x="72" y="503"/>
                    <a:pt x="94" y="524"/>
                    <a:pt x="94" y="550"/>
                  </a:cubicBezTo>
                  <a:close/>
                  <a:moveTo>
                    <a:pt x="94" y="650"/>
                  </a:moveTo>
                  <a:cubicBezTo>
                    <a:pt x="94" y="675"/>
                    <a:pt x="72" y="697"/>
                    <a:pt x="47" y="697"/>
                  </a:cubicBezTo>
                  <a:cubicBezTo>
                    <a:pt x="21" y="697"/>
                    <a:pt x="0" y="675"/>
                    <a:pt x="0" y="650"/>
                  </a:cubicBezTo>
                  <a:cubicBezTo>
                    <a:pt x="0" y="624"/>
                    <a:pt x="21" y="603"/>
                    <a:pt x="47" y="603"/>
                  </a:cubicBezTo>
                  <a:cubicBezTo>
                    <a:pt x="72" y="603"/>
                    <a:pt x="94" y="624"/>
                    <a:pt x="94" y="650"/>
                  </a:cubicBezTo>
                  <a:close/>
                  <a:moveTo>
                    <a:pt x="94" y="750"/>
                  </a:moveTo>
                  <a:cubicBezTo>
                    <a:pt x="94" y="775"/>
                    <a:pt x="72" y="797"/>
                    <a:pt x="47" y="797"/>
                  </a:cubicBezTo>
                  <a:cubicBezTo>
                    <a:pt x="21" y="797"/>
                    <a:pt x="0" y="775"/>
                    <a:pt x="0" y="750"/>
                  </a:cubicBezTo>
                  <a:cubicBezTo>
                    <a:pt x="0" y="724"/>
                    <a:pt x="21" y="703"/>
                    <a:pt x="47" y="703"/>
                  </a:cubicBezTo>
                  <a:cubicBezTo>
                    <a:pt x="72" y="703"/>
                    <a:pt x="94" y="724"/>
                    <a:pt x="94" y="750"/>
                  </a:cubicBezTo>
                  <a:close/>
                  <a:moveTo>
                    <a:pt x="94" y="850"/>
                  </a:moveTo>
                  <a:cubicBezTo>
                    <a:pt x="94" y="875"/>
                    <a:pt x="72" y="897"/>
                    <a:pt x="47" y="897"/>
                  </a:cubicBezTo>
                  <a:cubicBezTo>
                    <a:pt x="21" y="897"/>
                    <a:pt x="0" y="875"/>
                    <a:pt x="0" y="850"/>
                  </a:cubicBezTo>
                  <a:cubicBezTo>
                    <a:pt x="0" y="824"/>
                    <a:pt x="21" y="803"/>
                    <a:pt x="47" y="803"/>
                  </a:cubicBezTo>
                  <a:cubicBezTo>
                    <a:pt x="72" y="803"/>
                    <a:pt x="94" y="824"/>
                    <a:pt x="94" y="850"/>
                  </a:cubicBezTo>
                  <a:close/>
                  <a:moveTo>
                    <a:pt x="94" y="950"/>
                  </a:moveTo>
                  <a:cubicBezTo>
                    <a:pt x="94" y="975"/>
                    <a:pt x="72" y="997"/>
                    <a:pt x="47" y="997"/>
                  </a:cubicBezTo>
                  <a:cubicBezTo>
                    <a:pt x="21" y="997"/>
                    <a:pt x="0" y="975"/>
                    <a:pt x="0" y="950"/>
                  </a:cubicBezTo>
                  <a:cubicBezTo>
                    <a:pt x="0" y="924"/>
                    <a:pt x="21" y="903"/>
                    <a:pt x="47" y="903"/>
                  </a:cubicBezTo>
                  <a:cubicBezTo>
                    <a:pt x="72" y="903"/>
                    <a:pt x="94" y="924"/>
                    <a:pt x="94" y="950"/>
                  </a:cubicBezTo>
                  <a:close/>
                  <a:moveTo>
                    <a:pt x="94" y="1050"/>
                  </a:moveTo>
                  <a:cubicBezTo>
                    <a:pt x="94" y="1075"/>
                    <a:pt x="72" y="1097"/>
                    <a:pt x="47" y="1097"/>
                  </a:cubicBezTo>
                  <a:cubicBezTo>
                    <a:pt x="21" y="1097"/>
                    <a:pt x="0" y="1075"/>
                    <a:pt x="0" y="1050"/>
                  </a:cubicBezTo>
                  <a:cubicBezTo>
                    <a:pt x="0" y="1024"/>
                    <a:pt x="21" y="1003"/>
                    <a:pt x="47" y="1003"/>
                  </a:cubicBezTo>
                  <a:cubicBezTo>
                    <a:pt x="72" y="1003"/>
                    <a:pt x="94" y="1024"/>
                    <a:pt x="94" y="1050"/>
                  </a:cubicBezTo>
                  <a:close/>
                  <a:moveTo>
                    <a:pt x="94" y="1150"/>
                  </a:moveTo>
                  <a:cubicBezTo>
                    <a:pt x="94" y="1175"/>
                    <a:pt x="72" y="1197"/>
                    <a:pt x="47" y="1197"/>
                  </a:cubicBezTo>
                  <a:cubicBezTo>
                    <a:pt x="21" y="1197"/>
                    <a:pt x="0" y="1175"/>
                    <a:pt x="0" y="1150"/>
                  </a:cubicBezTo>
                  <a:cubicBezTo>
                    <a:pt x="0" y="1124"/>
                    <a:pt x="21" y="1103"/>
                    <a:pt x="47" y="1103"/>
                  </a:cubicBezTo>
                  <a:cubicBezTo>
                    <a:pt x="72" y="1103"/>
                    <a:pt x="94" y="1124"/>
                    <a:pt x="94" y="1150"/>
                  </a:cubicBezTo>
                  <a:close/>
                  <a:moveTo>
                    <a:pt x="94" y="1250"/>
                  </a:moveTo>
                  <a:cubicBezTo>
                    <a:pt x="94" y="1275"/>
                    <a:pt x="72" y="1297"/>
                    <a:pt x="47" y="1297"/>
                  </a:cubicBezTo>
                  <a:cubicBezTo>
                    <a:pt x="21" y="1297"/>
                    <a:pt x="0" y="1275"/>
                    <a:pt x="0" y="1250"/>
                  </a:cubicBezTo>
                  <a:cubicBezTo>
                    <a:pt x="0" y="1224"/>
                    <a:pt x="21" y="1203"/>
                    <a:pt x="47" y="1203"/>
                  </a:cubicBezTo>
                  <a:cubicBezTo>
                    <a:pt x="72" y="1203"/>
                    <a:pt x="94" y="1224"/>
                    <a:pt x="94" y="1250"/>
                  </a:cubicBezTo>
                  <a:close/>
                  <a:moveTo>
                    <a:pt x="94" y="1350"/>
                  </a:moveTo>
                  <a:cubicBezTo>
                    <a:pt x="94" y="1375"/>
                    <a:pt x="72" y="1397"/>
                    <a:pt x="47" y="1397"/>
                  </a:cubicBezTo>
                  <a:cubicBezTo>
                    <a:pt x="21" y="1397"/>
                    <a:pt x="0" y="1375"/>
                    <a:pt x="0" y="1350"/>
                  </a:cubicBezTo>
                  <a:cubicBezTo>
                    <a:pt x="0" y="1324"/>
                    <a:pt x="21" y="1303"/>
                    <a:pt x="47" y="1303"/>
                  </a:cubicBezTo>
                  <a:cubicBezTo>
                    <a:pt x="72" y="1303"/>
                    <a:pt x="94" y="1324"/>
                    <a:pt x="94" y="1350"/>
                  </a:cubicBezTo>
                  <a:close/>
                  <a:moveTo>
                    <a:pt x="94" y="1450"/>
                  </a:moveTo>
                  <a:cubicBezTo>
                    <a:pt x="94" y="1475"/>
                    <a:pt x="72" y="1497"/>
                    <a:pt x="47" y="1497"/>
                  </a:cubicBezTo>
                  <a:cubicBezTo>
                    <a:pt x="21" y="1497"/>
                    <a:pt x="0" y="1475"/>
                    <a:pt x="0" y="1450"/>
                  </a:cubicBezTo>
                  <a:cubicBezTo>
                    <a:pt x="0" y="1424"/>
                    <a:pt x="21" y="1403"/>
                    <a:pt x="47" y="1403"/>
                  </a:cubicBezTo>
                  <a:cubicBezTo>
                    <a:pt x="72" y="1403"/>
                    <a:pt x="94" y="1424"/>
                    <a:pt x="94" y="1450"/>
                  </a:cubicBezTo>
                  <a:close/>
                  <a:moveTo>
                    <a:pt x="94" y="1550"/>
                  </a:moveTo>
                  <a:cubicBezTo>
                    <a:pt x="94" y="1575"/>
                    <a:pt x="72" y="1597"/>
                    <a:pt x="47" y="1597"/>
                  </a:cubicBezTo>
                  <a:cubicBezTo>
                    <a:pt x="21" y="1597"/>
                    <a:pt x="0" y="1575"/>
                    <a:pt x="0" y="1550"/>
                  </a:cubicBezTo>
                  <a:cubicBezTo>
                    <a:pt x="0" y="1524"/>
                    <a:pt x="21" y="1503"/>
                    <a:pt x="47" y="1503"/>
                  </a:cubicBezTo>
                  <a:cubicBezTo>
                    <a:pt x="72" y="1503"/>
                    <a:pt x="94" y="1524"/>
                    <a:pt x="94" y="1550"/>
                  </a:cubicBezTo>
                  <a:close/>
                  <a:moveTo>
                    <a:pt x="94" y="1650"/>
                  </a:moveTo>
                  <a:cubicBezTo>
                    <a:pt x="94" y="1675"/>
                    <a:pt x="72" y="1697"/>
                    <a:pt x="47" y="1697"/>
                  </a:cubicBezTo>
                  <a:cubicBezTo>
                    <a:pt x="21" y="1697"/>
                    <a:pt x="0" y="1675"/>
                    <a:pt x="0" y="1650"/>
                  </a:cubicBezTo>
                  <a:cubicBezTo>
                    <a:pt x="0" y="1624"/>
                    <a:pt x="21" y="1603"/>
                    <a:pt x="47" y="1603"/>
                  </a:cubicBezTo>
                  <a:cubicBezTo>
                    <a:pt x="72" y="1603"/>
                    <a:pt x="94" y="1624"/>
                    <a:pt x="94" y="1650"/>
                  </a:cubicBezTo>
                  <a:close/>
                  <a:moveTo>
                    <a:pt x="94" y="1750"/>
                  </a:moveTo>
                  <a:cubicBezTo>
                    <a:pt x="94" y="1775"/>
                    <a:pt x="72" y="1797"/>
                    <a:pt x="47" y="1797"/>
                  </a:cubicBezTo>
                  <a:cubicBezTo>
                    <a:pt x="21" y="1797"/>
                    <a:pt x="0" y="1775"/>
                    <a:pt x="0" y="1750"/>
                  </a:cubicBezTo>
                  <a:cubicBezTo>
                    <a:pt x="0" y="1724"/>
                    <a:pt x="21" y="1703"/>
                    <a:pt x="47" y="1703"/>
                  </a:cubicBezTo>
                  <a:cubicBezTo>
                    <a:pt x="72" y="1703"/>
                    <a:pt x="94" y="1724"/>
                    <a:pt x="94" y="1750"/>
                  </a:cubicBezTo>
                  <a:close/>
                  <a:moveTo>
                    <a:pt x="94" y="1850"/>
                  </a:moveTo>
                  <a:cubicBezTo>
                    <a:pt x="94" y="1875"/>
                    <a:pt x="72" y="1897"/>
                    <a:pt x="47" y="1897"/>
                  </a:cubicBezTo>
                  <a:cubicBezTo>
                    <a:pt x="21" y="1897"/>
                    <a:pt x="0" y="1875"/>
                    <a:pt x="0" y="1850"/>
                  </a:cubicBezTo>
                  <a:cubicBezTo>
                    <a:pt x="0" y="1824"/>
                    <a:pt x="21" y="1803"/>
                    <a:pt x="47" y="1803"/>
                  </a:cubicBezTo>
                  <a:cubicBezTo>
                    <a:pt x="72" y="1803"/>
                    <a:pt x="94" y="1824"/>
                    <a:pt x="94" y="1850"/>
                  </a:cubicBezTo>
                  <a:close/>
                  <a:moveTo>
                    <a:pt x="94" y="1950"/>
                  </a:moveTo>
                  <a:cubicBezTo>
                    <a:pt x="94" y="1975"/>
                    <a:pt x="72" y="1997"/>
                    <a:pt x="47" y="1997"/>
                  </a:cubicBezTo>
                  <a:cubicBezTo>
                    <a:pt x="21" y="1997"/>
                    <a:pt x="0" y="1975"/>
                    <a:pt x="0" y="1950"/>
                  </a:cubicBezTo>
                  <a:cubicBezTo>
                    <a:pt x="0" y="1924"/>
                    <a:pt x="21" y="1903"/>
                    <a:pt x="47" y="1903"/>
                  </a:cubicBezTo>
                  <a:cubicBezTo>
                    <a:pt x="72" y="1903"/>
                    <a:pt x="94" y="1924"/>
                    <a:pt x="94" y="1950"/>
                  </a:cubicBezTo>
                  <a:close/>
                  <a:moveTo>
                    <a:pt x="94" y="2050"/>
                  </a:moveTo>
                  <a:cubicBezTo>
                    <a:pt x="94" y="2075"/>
                    <a:pt x="72" y="2097"/>
                    <a:pt x="47" y="2097"/>
                  </a:cubicBezTo>
                  <a:cubicBezTo>
                    <a:pt x="21" y="2097"/>
                    <a:pt x="0" y="2075"/>
                    <a:pt x="0" y="2050"/>
                  </a:cubicBezTo>
                  <a:cubicBezTo>
                    <a:pt x="0" y="2024"/>
                    <a:pt x="21" y="2003"/>
                    <a:pt x="47" y="2003"/>
                  </a:cubicBezTo>
                  <a:cubicBezTo>
                    <a:pt x="72" y="2003"/>
                    <a:pt x="94" y="2024"/>
                    <a:pt x="94" y="2050"/>
                  </a:cubicBezTo>
                  <a:close/>
                  <a:moveTo>
                    <a:pt x="94" y="2150"/>
                  </a:moveTo>
                  <a:cubicBezTo>
                    <a:pt x="94" y="2175"/>
                    <a:pt x="72" y="2197"/>
                    <a:pt x="47" y="2197"/>
                  </a:cubicBezTo>
                  <a:cubicBezTo>
                    <a:pt x="21" y="2197"/>
                    <a:pt x="0" y="2175"/>
                    <a:pt x="0" y="2150"/>
                  </a:cubicBezTo>
                  <a:cubicBezTo>
                    <a:pt x="0" y="2124"/>
                    <a:pt x="21" y="2103"/>
                    <a:pt x="47" y="2103"/>
                  </a:cubicBezTo>
                  <a:cubicBezTo>
                    <a:pt x="72" y="2103"/>
                    <a:pt x="94" y="2124"/>
                    <a:pt x="94" y="2150"/>
                  </a:cubicBezTo>
                  <a:close/>
                  <a:moveTo>
                    <a:pt x="94" y="2250"/>
                  </a:moveTo>
                  <a:cubicBezTo>
                    <a:pt x="94" y="2275"/>
                    <a:pt x="72" y="2297"/>
                    <a:pt x="47" y="2297"/>
                  </a:cubicBezTo>
                  <a:cubicBezTo>
                    <a:pt x="21" y="2297"/>
                    <a:pt x="0" y="2275"/>
                    <a:pt x="0" y="2250"/>
                  </a:cubicBezTo>
                  <a:cubicBezTo>
                    <a:pt x="0" y="2224"/>
                    <a:pt x="21" y="2203"/>
                    <a:pt x="47" y="2203"/>
                  </a:cubicBezTo>
                  <a:cubicBezTo>
                    <a:pt x="72" y="2203"/>
                    <a:pt x="94" y="2224"/>
                    <a:pt x="94" y="2250"/>
                  </a:cubicBezTo>
                  <a:close/>
                  <a:moveTo>
                    <a:pt x="94" y="2350"/>
                  </a:moveTo>
                  <a:cubicBezTo>
                    <a:pt x="94" y="2375"/>
                    <a:pt x="72" y="2397"/>
                    <a:pt x="47" y="2397"/>
                  </a:cubicBezTo>
                  <a:cubicBezTo>
                    <a:pt x="21" y="2397"/>
                    <a:pt x="0" y="2375"/>
                    <a:pt x="0" y="2350"/>
                  </a:cubicBezTo>
                  <a:cubicBezTo>
                    <a:pt x="0" y="2324"/>
                    <a:pt x="21" y="2303"/>
                    <a:pt x="47" y="2303"/>
                  </a:cubicBezTo>
                  <a:cubicBezTo>
                    <a:pt x="72" y="2303"/>
                    <a:pt x="94" y="2324"/>
                    <a:pt x="94" y="2350"/>
                  </a:cubicBezTo>
                  <a:close/>
                  <a:moveTo>
                    <a:pt x="94" y="2450"/>
                  </a:moveTo>
                  <a:cubicBezTo>
                    <a:pt x="94" y="2475"/>
                    <a:pt x="72" y="2497"/>
                    <a:pt x="47" y="2497"/>
                  </a:cubicBezTo>
                  <a:cubicBezTo>
                    <a:pt x="21" y="2497"/>
                    <a:pt x="0" y="2475"/>
                    <a:pt x="0" y="2450"/>
                  </a:cubicBezTo>
                  <a:cubicBezTo>
                    <a:pt x="0" y="2424"/>
                    <a:pt x="21" y="2403"/>
                    <a:pt x="47" y="2403"/>
                  </a:cubicBezTo>
                  <a:cubicBezTo>
                    <a:pt x="72" y="2403"/>
                    <a:pt x="94" y="2424"/>
                    <a:pt x="94" y="2450"/>
                  </a:cubicBezTo>
                  <a:close/>
                  <a:moveTo>
                    <a:pt x="94" y="2550"/>
                  </a:moveTo>
                  <a:cubicBezTo>
                    <a:pt x="94" y="2575"/>
                    <a:pt x="72" y="2597"/>
                    <a:pt x="47" y="2597"/>
                  </a:cubicBezTo>
                  <a:cubicBezTo>
                    <a:pt x="21" y="2597"/>
                    <a:pt x="0" y="2575"/>
                    <a:pt x="0" y="2550"/>
                  </a:cubicBezTo>
                  <a:cubicBezTo>
                    <a:pt x="0" y="2524"/>
                    <a:pt x="21" y="2503"/>
                    <a:pt x="47" y="2503"/>
                  </a:cubicBezTo>
                  <a:cubicBezTo>
                    <a:pt x="72" y="2503"/>
                    <a:pt x="94" y="2524"/>
                    <a:pt x="94" y="2550"/>
                  </a:cubicBezTo>
                  <a:close/>
                  <a:moveTo>
                    <a:pt x="94" y="2650"/>
                  </a:moveTo>
                  <a:cubicBezTo>
                    <a:pt x="94" y="2675"/>
                    <a:pt x="72" y="2697"/>
                    <a:pt x="47" y="2697"/>
                  </a:cubicBezTo>
                  <a:cubicBezTo>
                    <a:pt x="21" y="2697"/>
                    <a:pt x="0" y="2675"/>
                    <a:pt x="0" y="2650"/>
                  </a:cubicBezTo>
                  <a:cubicBezTo>
                    <a:pt x="0" y="2624"/>
                    <a:pt x="21" y="2603"/>
                    <a:pt x="47" y="2603"/>
                  </a:cubicBezTo>
                  <a:cubicBezTo>
                    <a:pt x="72" y="2603"/>
                    <a:pt x="94" y="2624"/>
                    <a:pt x="94" y="2650"/>
                  </a:cubicBezTo>
                  <a:close/>
                  <a:moveTo>
                    <a:pt x="94" y="2750"/>
                  </a:moveTo>
                  <a:cubicBezTo>
                    <a:pt x="94" y="2775"/>
                    <a:pt x="72" y="2797"/>
                    <a:pt x="47" y="2797"/>
                  </a:cubicBezTo>
                  <a:cubicBezTo>
                    <a:pt x="21" y="2797"/>
                    <a:pt x="0" y="2775"/>
                    <a:pt x="0" y="2750"/>
                  </a:cubicBezTo>
                  <a:cubicBezTo>
                    <a:pt x="0" y="2724"/>
                    <a:pt x="21" y="2703"/>
                    <a:pt x="47" y="2703"/>
                  </a:cubicBezTo>
                  <a:cubicBezTo>
                    <a:pt x="72" y="2703"/>
                    <a:pt x="94" y="2724"/>
                    <a:pt x="94" y="2750"/>
                  </a:cubicBezTo>
                  <a:close/>
                  <a:moveTo>
                    <a:pt x="94" y="2850"/>
                  </a:moveTo>
                  <a:cubicBezTo>
                    <a:pt x="94" y="2875"/>
                    <a:pt x="72" y="2897"/>
                    <a:pt x="47" y="2897"/>
                  </a:cubicBezTo>
                  <a:cubicBezTo>
                    <a:pt x="21" y="2897"/>
                    <a:pt x="0" y="2875"/>
                    <a:pt x="0" y="2850"/>
                  </a:cubicBezTo>
                  <a:cubicBezTo>
                    <a:pt x="0" y="2824"/>
                    <a:pt x="21" y="2803"/>
                    <a:pt x="47" y="2803"/>
                  </a:cubicBezTo>
                  <a:cubicBezTo>
                    <a:pt x="72" y="2803"/>
                    <a:pt x="94" y="2824"/>
                    <a:pt x="94" y="2850"/>
                  </a:cubicBezTo>
                  <a:close/>
                  <a:moveTo>
                    <a:pt x="94" y="2950"/>
                  </a:moveTo>
                  <a:cubicBezTo>
                    <a:pt x="94" y="2975"/>
                    <a:pt x="72" y="2997"/>
                    <a:pt x="47" y="2997"/>
                  </a:cubicBezTo>
                  <a:cubicBezTo>
                    <a:pt x="21" y="2997"/>
                    <a:pt x="0" y="2975"/>
                    <a:pt x="0" y="2950"/>
                  </a:cubicBezTo>
                  <a:cubicBezTo>
                    <a:pt x="0" y="2924"/>
                    <a:pt x="21" y="2903"/>
                    <a:pt x="47" y="2903"/>
                  </a:cubicBezTo>
                  <a:cubicBezTo>
                    <a:pt x="72" y="2903"/>
                    <a:pt x="94" y="2924"/>
                    <a:pt x="94" y="2950"/>
                  </a:cubicBezTo>
                  <a:close/>
                  <a:moveTo>
                    <a:pt x="94" y="3050"/>
                  </a:moveTo>
                  <a:cubicBezTo>
                    <a:pt x="94" y="3075"/>
                    <a:pt x="72" y="3097"/>
                    <a:pt x="47" y="3097"/>
                  </a:cubicBezTo>
                  <a:cubicBezTo>
                    <a:pt x="21" y="3097"/>
                    <a:pt x="0" y="3075"/>
                    <a:pt x="0" y="3050"/>
                  </a:cubicBezTo>
                  <a:cubicBezTo>
                    <a:pt x="0" y="3024"/>
                    <a:pt x="21" y="3003"/>
                    <a:pt x="47" y="3003"/>
                  </a:cubicBezTo>
                  <a:cubicBezTo>
                    <a:pt x="72" y="3003"/>
                    <a:pt x="94" y="3024"/>
                    <a:pt x="94" y="3050"/>
                  </a:cubicBezTo>
                  <a:close/>
                  <a:moveTo>
                    <a:pt x="94" y="3150"/>
                  </a:moveTo>
                  <a:cubicBezTo>
                    <a:pt x="94" y="3175"/>
                    <a:pt x="72" y="3197"/>
                    <a:pt x="47" y="3197"/>
                  </a:cubicBezTo>
                  <a:cubicBezTo>
                    <a:pt x="21" y="3197"/>
                    <a:pt x="0" y="3175"/>
                    <a:pt x="0" y="3150"/>
                  </a:cubicBezTo>
                  <a:cubicBezTo>
                    <a:pt x="0" y="3124"/>
                    <a:pt x="21" y="3103"/>
                    <a:pt x="47" y="3103"/>
                  </a:cubicBezTo>
                  <a:cubicBezTo>
                    <a:pt x="72" y="3103"/>
                    <a:pt x="94" y="3124"/>
                    <a:pt x="94" y="3150"/>
                  </a:cubicBezTo>
                  <a:close/>
                  <a:moveTo>
                    <a:pt x="94" y="3250"/>
                  </a:moveTo>
                  <a:cubicBezTo>
                    <a:pt x="94" y="3275"/>
                    <a:pt x="72" y="3297"/>
                    <a:pt x="47" y="3297"/>
                  </a:cubicBezTo>
                  <a:cubicBezTo>
                    <a:pt x="21" y="3297"/>
                    <a:pt x="0" y="3275"/>
                    <a:pt x="0" y="3250"/>
                  </a:cubicBezTo>
                  <a:cubicBezTo>
                    <a:pt x="0" y="3224"/>
                    <a:pt x="21" y="3203"/>
                    <a:pt x="47" y="3203"/>
                  </a:cubicBezTo>
                  <a:cubicBezTo>
                    <a:pt x="72" y="3203"/>
                    <a:pt x="94" y="3224"/>
                    <a:pt x="94" y="3250"/>
                  </a:cubicBezTo>
                  <a:close/>
                  <a:moveTo>
                    <a:pt x="94" y="3350"/>
                  </a:moveTo>
                  <a:cubicBezTo>
                    <a:pt x="94" y="3375"/>
                    <a:pt x="72" y="3397"/>
                    <a:pt x="47" y="3397"/>
                  </a:cubicBezTo>
                  <a:cubicBezTo>
                    <a:pt x="21" y="3397"/>
                    <a:pt x="0" y="3375"/>
                    <a:pt x="0" y="3350"/>
                  </a:cubicBezTo>
                  <a:cubicBezTo>
                    <a:pt x="0" y="3324"/>
                    <a:pt x="21" y="3303"/>
                    <a:pt x="47" y="3303"/>
                  </a:cubicBezTo>
                  <a:cubicBezTo>
                    <a:pt x="72" y="3303"/>
                    <a:pt x="94" y="3324"/>
                    <a:pt x="94" y="3350"/>
                  </a:cubicBezTo>
                  <a:close/>
                  <a:moveTo>
                    <a:pt x="94" y="3450"/>
                  </a:moveTo>
                  <a:cubicBezTo>
                    <a:pt x="94" y="3475"/>
                    <a:pt x="72" y="3497"/>
                    <a:pt x="47" y="3497"/>
                  </a:cubicBezTo>
                  <a:cubicBezTo>
                    <a:pt x="21" y="3497"/>
                    <a:pt x="0" y="3475"/>
                    <a:pt x="0" y="3450"/>
                  </a:cubicBezTo>
                  <a:cubicBezTo>
                    <a:pt x="0" y="3424"/>
                    <a:pt x="21" y="3403"/>
                    <a:pt x="47" y="3403"/>
                  </a:cubicBezTo>
                  <a:cubicBezTo>
                    <a:pt x="72" y="3403"/>
                    <a:pt x="94" y="3424"/>
                    <a:pt x="94" y="3450"/>
                  </a:cubicBezTo>
                  <a:close/>
                  <a:moveTo>
                    <a:pt x="94" y="3550"/>
                  </a:moveTo>
                  <a:cubicBezTo>
                    <a:pt x="94" y="3575"/>
                    <a:pt x="72" y="3597"/>
                    <a:pt x="47" y="3597"/>
                  </a:cubicBezTo>
                  <a:cubicBezTo>
                    <a:pt x="21" y="3597"/>
                    <a:pt x="0" y="3575"/>
                    <a:pt x="0" y="3550"/>
                  </a:cubicBezTo>
                  <a:cubicBezTo>
                    <a:pt x="0" y="3524"/>
                    <a:pt x="21" y="3503"/>
                    <a:pt x="47" y="3503"/>
                  </a:cubicBezTo>
                  <a:cubicBezTo>
                    <a:pt x="72" y="3503"/>
                    <a:pt x="94" y="3524"/>
                    <a:pt x="94" y="3550"/>
                  </a:cubicBezTo>
                  <a:close/>
                  <a:moveTo>
                    <a:pt x="94" y="3650"/>
                  </a:moveTo>
                  <a:cubicBezTo>
                    <a:pt x="94" y="3675"/>
                    <a:pt x="72" y="3697"/>
                    <a:pt x="47" y="3697"/>
                  </a:cubicBezTo>
                  <a:cubicBezTo>
                    <a:pt x="21" y="3697"/>
                    <a:pt x="0" y="3675"/>
                    <a:pt x="0" y="3650"/>
                  </a:cubicBezTo>
                  <a:cubicBezTo>
                    <a:pt x="0" y="3624"/>
                    <a:pt x="21" y="3603"/>
                    <a:pt x="47" y="3603"/>
                  </a:cubicBezTo>
                  <a:cubicBezTo>
                    <a:pt x="72" y="3603"/>
                    <a:pt x="94" y="3624"/>
                    <a:pt x="94" y="3650"/>
                  </a:cubicBezTo>
                  <a:close/>
                  <a:moveTo>
                    <a:pt x="94" y="3750"/>
                  </a:moveTo>
                  <a:cubicBezTo>
                    <a:pt x="94" y="3775"/>
                    <a:pt x="72" y="3797"/>
                    <a:pt x="47" y="3797"/>
                  </a:cubicBezTo>
                  <a:cubicBezTo>
                    <a:pt x="21" y="3797"/>
                    <a:pt x="0" y="3775"/>
                    <a:pt x="0" y="3750"/>
                  </a:cubicBezTo>
                  <a:cubicBezTo>
                    <a:pt x="0" y="3724"/>
                    <a:pt x="21" y="3703"/>
                    <a:pt x="47" y="3703"/>
                  </a:cubicBezTo>
                  <a:cubicBezTo>
                    <a:pt x="72" y="3703"/>
                    <a:pt x="94" y="3724"/>
                    <a:pt x="94" y="3750"/>
                  </a:cubicBezTo>
                  <a:close/>
                  <a:moveTo>
                    <a:pt x="94" y="3850"/>
                  </a:moveTo>
                  <a:cubicBezTo>
                    <a:pt x="94" y="3875"/>
                    <a:pt x="72" y="3897"/>
                    <a:pt x="47" y="3897"/>
                  </a:cubicBezTo>
                  <a:cubicBezTo>
                    <a:pt x="21" y="3897"/>
                    <a:pt x="0" y="3875"/>
                    <a:pt x="0" y="3850"/>
                  </a:cubicBezTo>
                  <a:cubicBezTo>
                    <a:pt x="0" y="3824"/>
                    <a:pt x="21" y="3803"/>
                    <a:pt x="47" y="3803"/>
                  </a:cubicBezTo>
                  <a:cubicBezTo>
                    <a:pt x="72" y="3803"/>
                    <a:pt x="94" y="3824"/>
                    <a:pt x="94" y="3850"/>
                  </a:cubicBezTo>
                  <a:close/>
                  <a:moveTo>
                    <a:pt x="94" y="3950"/>
                  </a:moveTo>
                  <a:cubicBezTo>
                    <a:pt x="94" y="3975"/>
                    <a:pt x="72" y="3997"/>
                    <a:pt x="47" y="3997"/>
                  </a:cubicBezTo>
                  <a:cubicBezTo>
                    <a:pt x="21" y="3997"/>
                    <a:pt x="0" y="3975"/>
                    <a:pt x="0" y="3950"/>
                  </a:cubicBezTo>
                  <a:cubicBezTo>
                    <a:pt x="0" y="3924"/>
                    <a:pt x="21" y="3903"/>
                    <a:pt x="47" y="3903"/>
                  </a:cubicBezTo>
                  <a:cubicBezTo>
                    <a:pt x="72" y="3903"/>
                    <a:pt x="94" y="3924"/>
                    <a:pt x="94" y="3950"/>
                  </a:cubicBezTo>
                  <a:close/>
                  <a:moveTo>
                    <a:pt x="94" y="4050"/>
                  </a:moveTo>
                  <a:cubicBezTo>
                    <a:pt x="94" y="4075"/>
                    <a:pt x="72" y="4097"/>
                    <a:pt x="47" y="4097"/>
                  </a:cubicBezTo>
                  <a:cubicBezTo>
                    <a:pt x="21" y="4097"/>
                    <a:pt x="0" y="4075"/>
                    <a:pt x="0" y="4050"/>
                  </a:cubicBezTo>
                  <a:cubicBezTo>
                    <a:pt x="0" y="4024"/>
                    <a:pt x="21" y="4003"/>
                    <a:pt x="47" y="4003"/>
                  </a:cubicBezTo>
                  <a:cubicBezTo>
                    <a:pt x="72" y="4003"/>
                    <a:pt x="94" y="4024"/>
                    <a:pt x="94" y="4050"/>
                  </a:cubicBezTo>
                  <a:close/>
                  <a:moveTo>
                    <a:pt x="94" y="4150"/>
                  </a:moveTo>
                  <a:cubicBezTo>
                    <a:pt x="94" y="4175"/>
                    <a:pt x="72" y="4197"/>
                    <a:pt x="47" y="4197"/>
                  </a:cubicBezTo>
                  <a:cubicBezTo>
                    <a:pt x="21" y="4197"/>
                    <a:pt x="0" y="4175"/>
                    <a:pt x="0" y="4150"/>
                  </a:cubicBezTo>
                  <a:cubicBezTo>
                    <a:pt x="0" y="4124"/>
                    <a:pt x="21" y="4103"/>
                    <a:pt x="47" y="4103"/>
                  </a:cubicBezTo>
                  <a:cubicBezTo>
                    <a:pt x="72" y="4103"/>
                    <a:pt x="94" y="4124"/>
                    <a:pt x="94" y="4150"/>
                  </a:cubicBezTo>
                  <a:close/>
                  <a:moveTo>
                    <a:pt x="94" y="4250"/>
                  </a:moveTo>
                  <a:cubicBezTo>
                    <a:pt x="94" y="4275"/>
                    <a:pt x="72" y="4297"/>
                    <a:pt x="47" y="4297"/>
                  </a:cubicBezTo>
                  <a:cubicBezTo>
                    <a:pt x="21" y="4297"/>
                    <a:pt x="0" y="4275"/>
                    <a:pt x="0" y="4250"/>
                  </a:cubicBezTo>
                  <a:cubicBezTo>
                    <a:pt x="0" y="4224"/>
                    <a:pt x="21" y="4203"/>
                    <a:pt x="47" y="4203"/>
                  </a:cubicBezTo>
                  <a:cubicBezTo>
                    <a:pt x="72" y="4203"/>
                    <a:pt x="94" y="4224"/>
                    <a:pt x="94" y="4250"/>
                  </a:cubicBezTo>
                  <a:close/>
                  <a:moveTo>
                    <a:pt x="94" y="4350"/>
                  </a:moveTo>
                  <a:cubicBezTo>
                    <a:pt x="94" y="4375"/>
                    <a:pt x="72" y="4397"/>
                    <a:pt x="47" y="4397"/>
                  </a:cubicBezTo>
                  <a:cubicBezTo>
                    <a:pt x="21" y="4397"/>
                    <a:pt x="0" y="4375"/>
                    <a:pt x="0" y="4350"/>
                  </a:cubicBezTo>
                  <a:cubicBezTo>
                    <a:pt x="0" y="4324"/>
                    <a:pt x="21" y="4303"/>
                    <a:pt x="47" y="4303"/>
                  </a:cubicBezTo>
                  <a:cubicBezTo>
                    <a:pt x="72" y="4303"/>
                    <a:pt x="94" y="4324"/>
                    <a:pt x="94" y="4350"/>
                  </a:cubicBezTo>
                  <a:close/>
                  <a:moveTo>
                    <a:pt x="94" y="4450"/>
                  </a:moveTo>
                  <a:cubicBezTo>
                    <a:pt x="94" y="4475"/>
                    <a:pt x="72" y="4497"/>
                    <a:pt x="47" y="4497"/>
                  </a:cubicBezTo>
                  <a:cubicBezTo>
                    <a:pt x="21" y="4497"/>
                    <a:pt x="0" y="4475"/>
                    <a:pt x="0" y="4450"/>
                  </a:cubicBezTo>
                  <a:cubicBezTo>
                    <a:pt x="0" y="4424"/>
                    <a:pt x="21" y="4403"/>
                    <a:pt x="47" y="4403"/>
                  </a:cubicBezTo>
                  <a:cubicBezTo>
                    <a:pt x="72" y="4403"/>
                    <a:pt x="94" y="4424"/>
                    <a:pt x="94" y="4450"/>
                  </a:cubicBezTo>
                  <a:close/>
                  <a:moveTo>
                    <a:pt x="94" y="4550"/>
                  </a:moveTo>
                  <a:cubicBezTo>
                    <a:pt x="94" y="4575"/>
                    <a:pt x="72" y="4597"/>
                    <a:pt x="47" y="4597"/>
                  </a:cubicBezTo>
                  <a:cubicBezTo>
                    <a:pt x="21" y="4597"/>
                    <a:pt x="0" y="4575"/>
                    <a:pt x="0" y="4550"/>
                  </a:cubicBezTo>
                  <a:cubicBezTo>
                    <a:pt x="0" y="4524"/>
                    <a:pt x="21" y="4503"/>
                    <a:pt x="47" y="4503"/>
                  </a:cubicBezTo>
                  <a:cubicBezTo>
                    <a:pt x="72" y="4503"/>
                    <a:pt x="94" y="4524"/>
                    <a:pt x="94" y="4550"/>
                  </a:cubicBezTo>
                  <a:close/>
                  <a:moveTo>
                    <a:pt x="94" y="4650"/>
                  </a:moveTo>
                  <a:cubicBezTo>
                    <a:pt x="94" y="4675"/>
                    <a:pt x="72" y="4697"/>
                    <a:pt x="47" y="4697"/>
                  </a:cubicBezTo>
                  <a:cubicBezTo>
                    <a:pt x="21" y="4697"/>
                    <a:pt x="0" y="4675"/>
                    <a:pt x="0" y="4650"/>
                  </a:cubicBezTo>
                  <a:cubicBezTo>
                    <a:pt x="0" y="4624"/>
                    <a:pt x="21" y="4603"/>
                    <a:pt x="47" y="4603"/>
                  </a:cubicBezTo>
                  <a:cubicBezTo>
                    <a:pt x="72" y="4603"/>
                    <a:pt x="94" y="4624"/>
                    <a:pt x="94" y="4650"/>
                  </a:cubicBezTo>
                  <a:close/>
                  <a:moveTo>
                    <a:pt x="94" y="4750"/>
                  </a:moveTo>
                  <a:cubicBezTo>
                    <a:pt x="94" y="4775"/>
                    <a:pt x="72" y="4797"/>
                    <a:pt x="47" y="4797"/>
                  </a:cubicBezTo>
                  <a:cubicBezTo>
                    <a:pt x="21" y="4797"/>
                    <a:pt x="0" y="4775"/>
                    <a:pt x="0" y="4750"/>
                  </a:cubicBezTo>
                  <a:cubicBezTo>
                    <a:pt x="0" y="4724"/>
                    <a:pt x="21" y="4703"/>
                    <a:pt x="47" y="4703"/>
                  </a:cubicBezTo>
                  <a:cubicBezTo>
                    <a:pt x="72" y="4703"/>
                    <a:pt x="94" y="4724"/>
                    <a:pt x="94" y="4750"/>
                  </a:cubicBezTo>
                  <a:close/>
                  <a:moveTo>
                    <a:pt x="94" y="4850"/>
                  </a:moveTo>
                  <a:cubicBezTo>
                    <a:pt x="94" y="4875"/>
                    <a:pt x="72" y="4897"/>
                    <a:pt x="47" y="4897"/>
                  </a:cubicBezTo>
                  <a:cubicBezTo>
                    <a:pt x="21" y="4897"/>
                    <a:pt x="0" y="4875"/>
                    <a:pt x="0" y="4850"/>
                  </a:cubicBezTo>
                  <a:cubicBezTo>
                    <a:pt x="0" y="4824"/>
                    <a:pt x="21" y="4803"/>
                    <a:pt x="47" y="4803"/>
                  </a:cubicBezTo>
                  <a:cubicBezTo>
                    <a:pt x="72" y="4803"/>
                    <a:pt x="94" y="4824"/>
                    <a:pt x="94" y="4850"/>
                  </a:cubicBezTo>
                  <a:close/>
                  <a:moveTo>
                    <a:pt x="94" y="4950"/>
                  </a:moveTo>
                  <a:cubicBezTo>
                    <a:pt x="94" y="4975"/>
                    <a:pt x="72" y="4997"/>
                    <a:pt x="47" y="4997"/>
                  </a:cubicBezTo>
                  <a:cubicBezTo>
                    <a:pt x="21" y="4997"/>
                    <a:pt x="0" y="4975"/>
                    <a:pt x="0" y="4950"/>
                  </a:cubicBezTo>
                  <a:cubicBezTo>
                    <a:pt x="0" y="4924"/>
                    <a:pt x="21" y="4903"/>
                    <a:pt x="47" y="4903"/>
                  </a:cubicBezTo>
                  <a:cubicBezTo>
                    <a:pt x="72" y="4903"/>
                    <a:pt x="94" y="4924"/>
                    <a:pt x="94" y="4950"/>
                  </a:cubicBezTo>
                  <a:close/>
                  <a:moveTo>
                    <a:pt x="94" y="5050"/>
                  </a:moveTo>
                  <a:cubicBezTo>
                    <a:pt x="94" y="5075"/>
                    <a:pt x="72" y="5097"/>
                    <a:pt x="47" y="5097"/>
                  </a:cubicBezTo>
                  <a:cubicBezTo>
                    <a:pt x="21" y="5097"/>
                    <a:pt x="0" y="5075"/>
                    <a:pt x="0" y="5050"/>
                  </a:cubicBezTo>
                  <a:cubicBezTo>
                    <a:pt x="0" y="5024"/>
                    <a:pt x="21" y="5003"/>
                    <a:pt x="47" y="5003"/>
                  </a:cubicBezTo>
                  <a:cubicBezTo>
                    <a:pt x="72" y="5003"/>
                    <a:pt x="94" y="5024"/>
                    <a:pt x="94" y="5050"/>
                  </a:cubicBezTo>
                  <a:close/>
                  <a:moveTo>
                    <a:pt x="94" y="5150"/>
                  </a:moveTo>
                  <a:cubicBezTo>
                    <a:pt x="94" y="5175"/>
                    <a:pt x="72" y="5197"/>
                    <a:pt x="47" y="5197"/>
                  </a:cubicBezTo>
                  <a:cubicBezTo>
                    <a:pt x="21" y="5197"/>
                    <a:pt x="0" y="5175"/>
                    <a:pt x="0" y="5150"/>
                  </a:cubicBezTo>
                  <a:cubicBezTo>
                    <a:pt x="0" y="5124"/>
                    <a:pt x="21" y="5103"/>
                    <a:pt x="47" y="5103"/>
                  </a:cubicBezTo>
                  <a:cubicBezTo>
                    <a:pt x="72" y="5103"/>
                    <a:pt x="94" y="5124"/>
                    <a:pt x="94" y="5150"/>
                  </a:cubicBezTo>
                  <a:close/>
                  <a:moveTo>
                    <a:pt x="94" y="5250"/>
                  </a:moveTo>
                  <a:cubicBezTo>
                    <a:pt x="94" y="5275"/>
                    <a:pt x="72" y="5297"/>
                    <a:pt x="47" y="5297"/>
                  </a:cubicBezTo>
                  <a:cubicBezTo>
                    <a:pt x="21" y="5297"/>
                    <a:pt x="0" y="5275"/>
                    <a:pt x="0" y="5250"/>
                  </a:cubicBezTo>
                  <a:cubicBezTo>
                    <a:pt x="0" y="5224"/>
                    <a:pt x="21" y="5203"/>
                    <a:pt x="47" y="5203"/>
                  </a:cubicBezTo>
                  <a:cubicBezTo>
                    <a:pt x="72" y="5203"/>
                    <a:pt x="94" y="5224"/>
                    <a:pt x="94" y="5250"/>
                  </a:cubicBezTo>
                  <a:close/>
                  <a:moveTo>
                    <a:pt x="94" y="5350"/>
                  </a:moveTo>
                  <a:cubicBezTo>
                    <a:pt x="94" y="5375"/>
                    <a:pt x="72" y="5397"/>
                    <a:pt x="47" y="5397"/>
                  </a:cubicBezTo>
                  <a:cubicBezTo>
                    <a:pt x="21" y="5397"/>
                    <a:pt x="0" y="5375"/>
                    <a:pt x="0" y="5350"/>
                  </a:cubicBezTo>
                  <a:cubicBezTo>
                    <a:pt x="0" y="5324"/>
                    <a:pt x="21" y="5303"/>
                    <a:pt x="47" y="5303"/>
                  </a:cubicBezTo>
                  <a:cubicBezTo>
                    <a:pt x="72" y="5303"/>
                    <a:pt x="94" y="5324"/>
                    <a:pt x="94" y="5350"/>
                  </a:cubicBezTo>
                  <a:close/>
                  <a:moveTo>
                    <a:pt x="94" y="5450"/>
                  </a:moveTo>
                  <a:cubicBezTo>
                    <a:pt x="94" y="5475"/>
                    <a:pt x="72" y="5497"/>
                    <a:pt x="47" y="5497"/>
                  </a:cubicBezTo>
                  <a:cubicBezTo>
                    <a:pt x="21" y="5497"/>
                    <a:pt x="0" y="5475"/>
                    <a:pt x="0" y="5450"/>
                  </a:cubicBezTo>
                  <a:cubicBezTo>
                    <a:pt x="0" y="5424"/>
                    <a:pt x="21" y="5403"/>
                    <a:pt x="47" y="5403"/>
                  </a:cubicBezTo>
                  <a:cubicBezTo>
                    <a:pt x="72" y="5403"/>
                    <a:pt x="94" y="5424"/>
                    <a:pt x="94" y="5450"/>
                  </a:cubicBezTo>
                  <a:close/>
                  <a:moveTo>
                    <a:pt x="94" y="5550"/>
                  </a:moveTo>
                  <a:cubicBezTo>
                    <a:pt x="94" y="5575"/>
                    <a:pt x="72" y="5597"/>
                    <a:pt x="47" y="5597"/>
                  </a:cubicBezTo>
                  <a:cubicBezTo>
                    <a:pt x="21" y="5597"/>
                    <a:pt x="0" y="5575"/>
                    <a:pt x="0" y="5550"/>
                  </a:cubicBezTo>
                  <a:cubicBezTo>
                    <a:pt x="0" y="5524"/>
                    <a:pt x="21" y="5503"/>
                    <a:pt x="47" y="5503"/>
                  </a:cubicBezTo>
                  <a:cubicBezTo>
                    <a:pt x="72" y="5503"/>
                    <a:pt x="94" y="5524"/>
                    <a:pt x="94" y="5550"/>
                  </a:cubicBezTo>
                  <a:close/>
                  <a:moveTo>
                    <a:pt x="94" y="5650"/>
                  </a:moveTo>
                  <a:cubicBezTo>
                    <a:pt x="94" y="5675"/>
                    <a:pt x="72" y="5697"/>
                    <a:pt x="47" y="5697"/>
                  </a:cubicBezTo>
                  <a:cubicBezTo>
                    <a:pt x="21" y="5697"/>
                    <a:pt x="0" y="5675"/>
                    <a:pt x="0" y="5650"/>
                  </a:cubicBezTo>
                  <a:cubicBezTo>
                    <a:pt x="0" y="5624"/>
                    <a:pt x="21" y="5603"/>
                    <a:pt x="47" y="5603"/>
                  </a:cubicBezTo>
                  <a:cubicBezTo>
                    <a:pt x="72" y="5603"/>
                    <a:pt x="94" y="5624"/>
                    <a:pt x="94" y="5650"/>
                  </a:cubicBezTo>
                  <a:close/>
                  <a:moveTo>
                    <a:pt x="94" y="5750"/>
                  </a:moveTo>
                  <a:cubicBezTo>
                    <a:pt x="94" y="5775"/>
                    <a:pt x="72" y="5797"/>
                    <a:pt x="47" y="5797"/>
                  </a:cubicBezTo>
                  <a:cubicBezTo>
                    <a:pt x="21" y="5797"/>
                    <a:pt x="0" y="5775"/>
                    <a:pt x="0" y="5750"/>
                  </a:cubicBezTo>
                  <a:cubicBezTo>
                    <a:pt x="0" y="5724"/>
                    <a:pt x="21" y="5703"/>
                    <a:pt x="47" y="5703"/>
                  </a:cubicBezTo>
                  <a:cubicBezTo>
                    <a:pt x="72" y="5703"/>
                    <a:pt x="94" y="5724"/>
                    <a:pt x="94" y="5750"/>
                  </a:cubicBezTo>
                  <a:close/>
                  <a:moveTo>
                    <a:pt x="94" y="5850"/>
                  </a:moveTo>
                  <a:cubicBezTo>
                    <a:pt x="94" y="5875"/>
                    <a:pt x="72" y="5897"/>
                    <a:pt x="47" y="5897"/>
                  </a:cubicBezTo>
                  <a:cubicBezTo>
                    <a:pt x="21" y="5897"/>
                    <a:pt x="0" y="5875"/>
                    <a:pt x="0" y="5850"/>
                  </a:cubicBezTo>
                  <a:cubicBezTo>
                    <a:pt x="0" y="5824"/>
                    <a:pt x="21" y="5803"/>
                    <a:pt x="47" y="5803"/>
                  </a:cubicBezTo>
                  <a:cubicBezTo>
                    <a:pt x="72" y="5803"/>
                    <a:pt x="94" y="5824"/>
                    <a:pt x="94" y="5850"/>
                  </a:cubicBezTo>
                  <a:close/>
                  <a:moveTo>
                    <a:pt x="94" y="5950"/>
                  </a:moveTo>
                  <a:cubicBezTo>
                    <a:pt x="94" y="5975"/>
                    <a:pt x="72" y="5997"/>
                    <a:pt x="47" y="5997"/>
                  </a:cubicBezTo>
                  <a:cubicBezTo>
                    <a:pt x="21" y="5997"/>
                    <a:pt x="0" y="5975"/>
                    <a:pt x="0" y="5950"/>
                  </a:cubicBezTo>
                  <a:cubicBezTo>
                    <a:pt x="0" y="5924"/>
                    <a:pt x="21" y="5903"/>
                    <a:pt x="47" y="5903"/>
                  </a:cubicBezTo>
                  <a:cubicBezTo>
                    <a:pt x="72" y="5903"/>
                    <a:pt x="94" y="5924"/>
                    <a:pt x="94" y="5950"/>
                  </a:cubicBezTo>
                  <a:close/>
                  <a:moveTo>
                    <a:pt x="94" y="6050"/>
                  </a:moveTo>
                  <a:cubicBezTo>
                    <a:pt x="94" y="6075"/>
                    <a:pt x="72" y="6097"/>
                    <a:pt x="47" y="6097"/>
                  </a:cubicBezTo>
                  <a:cubicBezTo>
                    <a:pt x="21" y="6097"/>
                    <a:pt x="0" y="6075"/>
                    <a:pt x="0" y="6050"/>
                  </a:cubicBezTo>
                  <a:cubicBezTo>
                    <a:pt x="0" y="6024"/>
                    <a:pt x="21" y="6003"/>
                    <a:pt x="47" y="6003"/>
                  </a:cubicBezTo>
                  <a:cubicBezTo>
                    <a:pt x="72" y="6003"/>
                    <a:pt x="94" y="6024"/>
                    <a:pt x="94" y="6050"/>
                  </a:cubicBezTo>
                  <a:close/>
                  <a:moveTo>
                    <a:pt x="94" y="6150"/>
                  </a:moveTo>
                  <a:cubicBezTo>
                    <a:pt x="94" y="6175"/>
                    <a:pt x="72" y="6197"/>
                    <a:pt x="47" y="6197"/>
                  </a:cubicBezTo>
                  <a:cubicBezTo>
                    <a:pt x="21" y="6197"/>
                    <a:pt x="0" y="6175"/>
                    <a:pt x="0" y="6150"/>
                  </a:cubicBezTo>
                  <a:cubicBezTo>
                    <a:pt x="0" y="6124"/>
                    <a:pt x="21" y="6103"/>
                    <a:pt x="47" y="6103"/>
                  </a:cubicBezTo>
                  <a:cubicBezTo>
                    <a:pt x="72" y="6103"/>
                    <a:pt x="94" y="6124"/>
                    <a:pt x="94" y="6150"/>
                  </a:cubicBezTo>
                  <a:close/>
                  <a:moveTo>
                    <a:pt x="94" y="6250"/>
                  </a:moveTo>
                  <a:cubicBezTo>
                    <a:pt x="94" y="6275"/>
                    <a:pt x="72" y="6297"/>
                    <a:pt x="47" y="6297"/>
                  </a:cubicBezTo>
                  <a:cubicBezTo>
                    <a:pt x="21" y="6297"/>
                    <a:pt x="0" y="6275"/>
                    <a:pt x="0" y="6250"/>
                  </a:cubicBezTo>
                  <a:cubicBezTo>
                    <a:pt x="0" y="6224"/>
                    <a:pt x="21" y="6203"/>
                    <a:pt x="47" y="6203"/>
                  </a:cubicBezTo>
                  <a:cubicBezTo>
                    <a:pt x="72" y="6203"/>
                    <a:pt x="94" y="6224"/>
                    <a:pt x="94" y="6250"/>
                  </a:cubicBezTo>
                  <a:close/>
                  <a:moveTo>
                    <a:pt x="94" y="6350"/>
                  </a:moveTo>
                  <a:cubicBezTo>
                    <a:pt x="94" y="6375"/>
                    <a:pt x="72" y="6397"/>
                    <a:pt x="47" y="6397"/>
                  </a:cubicBezTo>
                  <a:cubicBezTo>
                    <a:pt x="21" y="6397"/>
                    <a:pt x="0" y="6375"/>
                    <a:pt x="0" y="6350"/>
                  </a:cubicBezTo>
                  <a:cubicBezTo>
                    <a:pt x="0" y="6324"/>
                    <a:pt x="21" y="6303"/>
                    <a:pt x="47" y="6303"/>
                  </a:cubicBezTo>
                  <a:cubicBezTo>
                    <a:pt x="72" y="6303"/>
                    <a:pt x="94" y="6324"/>
                    <a:pt x="94" y="6350"/>
                  </a:cubicBezTo>
                  <a:close/>
                  <a:moveTo>
                    <a:pt x="94" y="6450"/>
                  </a:moveTo>
                  <a:cubicBezTo>
                    <a:pt x="94" y="6475"/>
                    <a:pt x="72" y="6497"/>
                    <a:pt x="47" y="6497"/>
                  </a:cubicBezTo>
                  <a:cubicBezTo>
                    <a:pt x="21" y="6497"/>
                    <a:pt x="0" y="6475"/>
                    <a:pt x="0" y="6450"/>
                  </a:cubicBezTo>
                  <a:cubicBezTo>
                    <a:pt x="0" y="6424"/>
                    <a:pt x="21" y="6403"/>
                    <a:pt x="47" y="6403"/>
                  </a:cubicBezTo>
                  <a:cubicBezTo>
                    <a:pt x="72" y="6403"/>
                    <a:pt x="94" y="6424"/>
                    <a:pt x="94" y="6450"/>
                  </a:cubicBezTo>
                  <a:close/>
                  <a:moveTo>
                    <a:pt x="550" y="50"/>
                  </a:moveTo>
                  <a:cubicBezTo>
                    <a:pt x="550" y="75"/>
                    <a:pt x="528" y="97"/>
                    <a:pt x="503" y="97"/>
                  </a:cubicBezTo>
                  <a:cubicBezTo>
                    <a:pt x="477" y="97"/>
                    <a:pt x="456" y="75"/>
                    <a:pt x="456" y="50"/>
                  </a:cubicBezTo>
                  <a:cubicBezTo>
                    <a:pt x="456" y="24"/>
                    <a:pt x="477" y="3"/>
                    <a:pt x="503" y="3"/>
                  </a:cubicBezTo>
                  <a:cubicBezTo>
                    <a:pt x="528" y="3"/>
                    <a:pt x="550" y="24"/>
                    <a:pt x="550" y="50"/>
                  </a:cubicBezTo>
                  <a:close/>
                  <a:moveTo>
                    <a:pt x="550" y="150"/>
                  </a:moveTo>
                  <a:cubicBezTo>
                    <a:pt x="550" y="175"/>
                    <a:pt x="528" y="197"/>
                    <a:pt x="503" y="197"/>
                  </a:cubicBezTo>
                  <a:cubicBezTo>
                    <a:pt x="477" y="197"/>
                    <a:pt x="456" y="175"/>
                    <a:pt x="456" y="150"/>
                  </a:cubicBezTo>
                  <a:cubicBezTo>
                    <a:pt x="456" y="124"/>
                    <a:pt x="477" y="103"/>
                    <a:pt x="503" y="103"/>
                  </a:cubicBezTo>
                  <a:cubicBezTo>
                    <a:pt x="528" y="103"/>
                    <a:pt x="550" y="124"/>
                    <a:pt x="550" y="150"/>
                  </a:cubicBezTo>
                  <a:close/>
                  <a:moveTo>
                    <a:pt x="550" y="250"/>
                  </a:moveTo>
                  <a:cubicBezTo>
                    <a:pt x="550" y="275"/>
                    <a:pt x="528" y="297"/>
                    <a:pt x="503" y="297"/>
                  </a:cubicBezTo>
                  <a:cubicBezTo>
                    <a:pt x="477" y="297"/>
                    <a:pt x="456" y="275"/>
                    <a:pt x="456" y="250"/>
                  </a:cubicBezTo>
                  <a:cubicBezTo>
                    <a:pt x="456" y="224"/>
                    <a:pt x="477" y="203"/>
                    <a:pt x="503" y="203"/>
                  </a:cubicBezTo>
                  <a:cubicBezTo>
                    <a:pt x="528" y="203"/>
                    <a:pt x="550" y="224"/>
                    <a:pt x="550" y="250"/>
                  </a:cubicBezTo>
                  <a:close/>
                  <a:moveTo>
                    <a:pt x="550" y="350"/>
                  </a:moveTo>
                  <a:cubicBezTo>
                    <a:pt x="550" y="375"/>
                    <a:pt x="528" y="397"/>
                    <a:pt x="503" y="397"/>
                  </a:cubicBezTo>
                  <a:cubicBezTo>
                    <a:pt x="477" y="397"/>
                    <a:pt x="456" y="375"/>
                    <a:pt x="456" y="350"/>
                  </a:cubicBezTo>
                  <a:cubicBezTo>
                    <a:pt x="456" y="324"/>
                    <a:pt x="477" y="303"/>
                    <a:pt x="503" y="303"/>
                  </a:cubicBezTo>
                  <a:cubicBezTo>
                    <a:pt x="528" y="303"/>
                    <a:pt x="550" y="324"/>
                    <a:pt x="550" y="350"/>
                  </a:cubicBezTo>
                  <a:close/>
                  <a:moveTo>
                    <a:pt x="550" y="450"/>
                  </a:moveTo>
                  <a:cubicBezTo>
                    <a:pt x="550" y="475"/>
                    <a:pt x="528" y="497"/>
                    <a:pt x="503" y="497"/>
                  </a:cubicBezTo>
                  <a:cubicBezTo>
                    <a:pt x="477" y="497"/>
                    <a:pt x="456" y="475"/>
                    <a:pt x="456" y="450"/>
                  </a:cubicBezTo>
                  <a:cubicBezTo>
                    <a:pt x="456" y="424"/>
                    <a:pt x="477" y="403"/>
                    <a:pt x="503" y="403"/>
                  </a:cubicBezTo>
                  <a:cubicBezTo>
                    <a:pt x="528" y="403"/>
                    <a:pt x="550" y="424"/>
                    <a:pt x="550" y="450"/>
                  </a:cubicBezTo>
                  <a:close/>
                  <a:moveTo>
                    <a:pt x="550" y="550"/>
                  </a:moveTo>
                  <a:cubicBezTo>
                    <a:pt x="550" y="575"/>
                    <a:pt x="528" y="597"/>
                    <a:pt x="503" y="597"/>
                  </a:cubicBezTo>
                  <a:cubicBezTo>
                    <a:pt x="477" y="597"/>
                    <a:pt x="456" y="575"/>
                    <a:pt x="456" y="550"/>
                  </a:cubicBezTo>
                  <a:cubicBezTo>
                    <a:pt x="456" y="524"/>
                    <a:pt x="477" y="503"/>
                    <a:pt x="503" y="503"/>
                  </a:cubicBezTo>
                  <a:cubicBezTo>
                    <a:pt x="528" y="503"/>
                    <a:pt x="550" y="524"/>
                    <a:pt x="550" y="550"/>
                  </a:cubicBezTo>
                  <a:close/>
                  <a:moveTo>
                    <a:pt x="550" y="650"/>
                  </a:moveTo>
                  <a:cubicBezTo>
                    <a:pt x="550" y="675"/>
                    <a:pt x="528" y="697"/>
                    <a:pt x="503" y="697"/>
                  </a:cubicBezTo>
                  <a:cubicBezTo>
                    <a:pt x="477" y="697"/>
                    <a:pt x="456" y="675"/>
                    <a:pt x="456" y="650"/>
                  </a:cubicBezTo>
                  <a:cubicBezTo>
                    <a:pt x="456" y="624"/>
                    <a:pt x="477" y="603"/>
                    <a:pt x="503" y="603"/>
                  </a:cubicBezTo>
                  <a:cubicBezTo>
                    <a:pt x="528" y="603"/>
                    <a:pt x="550" y="624"/>
                    <a:pt x="550" y="650"/>
                  </a:cubicBezTo>
                  <a:close/>
                  <a:moveTo>
                    <a:pt x="550" y="750"/>
                  </a:moveTo>
                  <a:cubicBezTo>
                    <a:pt x="550" y="775"/>
                    <a:pt x="528" y="797"/>
                    <a:pt x="503" y="797"/>
                  </a:cubicBezTo>
                  <a:cubicBezTo>
                    <a:pt x="477" y="797"/>
                    <a:pt x="456" y="775"/>
                    <a:pt x="456" y="750"/>
                  </a:cubicBezTo>
                  <a:cubicBezTo>
                    <a:pt x="456" y="724"/>
                    <a:pt x="477" y="703"/>
                    <a:pt x="503" y="703"/>
                  </a:cubicBezTo>
                  <a:cubicBezTo>
                    <a:pt x="528" y="703"/>
                    <a:pt x="550" y="724"/>
                    <a:pt x="550" y="750"/>
                  </a:cubicBezTo>
                  <a:close/>
                  <a:moveTo>
                    <a:pt x="550" y="850"/>
                  </a:moveTo>
                  <a:cubicBezTo>
                    <a:pt x="550" y="875"/>
                    <a:pt x="528" y="897"/>
                    <a:pt x="503" y="897"/>
                  </a:cubicBezTo>
                  <a:cubicBezTo>
                    <a:pt x="477" y="897"/>
                    <a:pt x="456" y="875"/>
                    <a:pt x="456" y="850"/>
                  </a:cubicBezTo>
                  <a:cubicBezTo>
                    <a:pt x="456" y="824"/>
                    <a:pt x="477" y="803"/>
                    <a:pt x="503" y="803"/>
                  </a:cubicBezTo>
                  <a:cubicBezTo>
                    <a:pt x="528" y="803"/>
                    <a:pt x="550" y="824"/>
                    <a:pt x="550" y="850"/>
                  </a:cubicBezTo>
                  <a:close/>
                  <a:moveTo>
                    <a:pt x="550" y="950"/>
                  </a:moveTo>
                  <a:cubicBezTo>
                    <a:pt x="550" y="975"/>
                    <a:pt x="528" y="997"/>
                    <a:pt x="503" y="997"/>
                  </a:cubicBezTo>
                  <a:cubicBezTo>
                    <a:pt x="477" y="997"/>
                    <a:pt x="456" y="975"/>
                    <a:pt x="456" y="950"/>
                  </a:cubicBezTo>
                  <a:cubicBezTo>
                    <a:pt x="456" y="924"/>
                    <a:pt x="477" y="903"/>
                    <a:pt x="503" y="903"/>
                  </a:cubicBezTo>
                  <a:cubicBezTo>
                    <a:pt x="528" y="903"/>
                    <a:pt x="550" y="924"/>
                    <a:pt x="550" y="950"/>
                  </a:cubicBezTo>
                  <a:close/>
                  <a:moveTo>
                    <a:pt x="550" y="1050"/>
                  </a:moveTo>
                  <a:cubicBezTo>
                    <a:pt x="550" y="1075"/>
                    <a:pt x="528" y="1097"/>
                    <a:pt x="503" y="1097"/>
                  </a:cubicBezTo>
                  <a:cubicBezTo>
                    <a:pt x="477" y="1097"/>
                    <a:pt x="456" y="1075"/>
                    <a:pt x="456" y="1050"/>
                  </a:cubicBezTo>
                  <a:cubicBezTo>
                    <a:pt x="456" y="1024"/>
                    <a:pt x="477" y="1003"/>
                    <a:pt x="503" y="1003"/>
                  </a:cubicBezTo>
                  <a:cubicBezTo>
                    <a:pt x="528" y="1003"/>
                    <a:pt x="550" y="1024"/>
                    <a:pt x="550" y="1050"/>
                  </a:cubicBezTo>
                  <a:close/>
                  <a:moveTo>
                    <a:pt x="550" y="1150"/>
                  </a:moveTo>
                  <a:cubicBezTo>
                    <a:pt x="550" y="1175"/>
                    <a:pt x="528" y="1197"/>
                    <a:pt x="503" y="1197"/>
                  </a:cubicBezTo>
                  <a:cubicBezTo>
                    <a:pt x="477" y="1197"/>
                    <a:pt x="456" y="1175"/>
                    <a:pt x="456" y="1150"/>
                  </a:cubicBezTo>
                  <a:cubicBezTo>
                    <a:pt x="456" y="1124"/>
                    <a:pt x="477" y="1103"/>
                    <a:pt x="503" y="1103"/>
                  </a:cubicBezTo>
                  <a:cubicBezTo>
                    <a:pt x="528" y="1103"/>
                    <a:pt x="550" y="1124"/>
                    <a:pt x="550" y="1150"/>
                  </a:cubicBezTo>
                  <a:close/>
                  <a:moveTo>
                    <a:pt x="550" y="1250"/>
                  </a:moveTo>
                  <a:cubicBezTo>
                    <a:pt x="550" y="1275"/>
                    <a:pt x="528" y="1297"/>
                    <a:pt x="503" y="1297"/>
                  </a:cubicBezTo>
                  <a:cubicBezTo>
                    <a:pt x="477" y="1297"/>
                    <a:pt x="456" y="1275"/>
                    <a:pt x="456" y="1250"/>
                  </a:cubicBezTo>
                  <a:cubicBezTo>
                    <a:pt x="456" y="1224"/>
                    <a:pt x="477" y="1203"/>
                    <a:pt x="503" y="1203"/>
                  </a:cubicBezTo>
                  <a:cubicBezTo>
                    <a:pt x="528" y="1203"/>
                    <a:pt x="550" y="1224"/>
                    <a:pt x="550" y="1250"/>
                  </a:cubicBezTo>
                  <a:close/>
                  <a:moveTo>
                    <a:pt x="550" y="1350"/>
                  </a:moveTo>
                  <a:cubicBezTo>
                    <a:pt x="550" y="1375"/>
                    <a:pt x="528" y="1397"/>
                    <a:pt x="503" y="1397"/>
                  </a:cubicBezTo>
                  <a:cubicBezTo>
                    <a:pt x="477" y="1397"/>
                    <a:pt x="456" y="1375"/>
                    <a:pt x="456" y="1350"/>
                  </a:cubicBezTo>
                  <a:cubicBezTo>
                    <a:pt x="456" y="1324"/>
                    <a:pt x="477" y="1303"/>
                    <a:pt x="503" y="1303"/>
                  </a:cubicBezTo>
                  <a:cubicBezTo>
                    <a:pt x="528" y="1303"/>
                    <a:pt x="550" y="1324"/>
                    <a:pt x="550" y="1350"/>
                  </a:cubicBezTo>
                  <a:close/>
                  <a:moveTo>
                    <a:pt x="550" y="1450"/>
                  </a:moveTo>
                  <a:cubicBezTo>
                    <a:pt x="550" y="1475"/>
                    <a:pt x="528" y="1497"/>
                    <a:pt x="503" y="1497"/>
                  </a:cubicBezTo>
                  <a:cubicBezTo>
                    <a:pt x="477" y="1497"/>
                    <a:pt x="456" y="1475"/>
                    <a:pt x="456" y="1450"/>
                  </a:cubicBezTo>
                  <a:cubicBezTo>
                    <a:pt x="456" y="1424"/>
                    <a:pt x="477" y="1403"/>
                    <a:pt x="503" y="1403"/>
                  </a:cubicBezTo>
                  <a:cubicBezTo>
                    <a:pt x="528" y="1403"/>
                    <a:pt x="550" y="1424"/>
                    <a:pt x="550" y="1450"/>
                  </a:cubicBezTo>
                  <a:close/>
                  <a:moveTo>
                    <a:pt x="550" y="1550"/>
                  </a:moveTo>
                  <a:cubicBezTo>
                    <a:pt x="550" y="1575"/>
                    <a:pt x="528" y="1597"/>
                    <a:pt x="503" y="1597"/>
                  </a:cubicBezTo>
                  <a:cubicBezTo>
                    <a:pt x="477" y="1597"/>
                    <a:pt x="456" y="1575"/>
                    <a:pt x="456" y="1550"/>
                  </a:cubicBezTo>
                  <a:cubicBezTo>
                    <a:pt x="456" y="1524"/>
                    <a:pt x="477" y="1503"/>
                    <a:pt x="503" y="1503"/>
                  </a:cubicBezTo>
                  <a:cubicBezTo>
                    <a:pt x="528" y="1503"/>
                    <a:pt x="550" y="1524"/>
                    <a:pt x="550" y="1550"/>
                  </a:cubicBezTo>
                  <a:close/>
                  <a:moveTo>
                    <a:pt x="550" y="1650"/>
                  </a:moveTo>
                  <a:cubicBezTo>
                    <a:pt x="550" y="1675"/>
                    <a:pt x="528" y="1697"/>
                    <a:pt x="503" y="1697"/>
                  </a:cubicBezTo>
                  <a:cubicBezTo>
                    <a:pt x="477" y="1697"/>
                    <a:pt x="456" y="1675"/>
                    <a:pt x="456" y="1650"/>
                  </a:cubicBezTo>
                  <a:cubicBezTo>
                    <a:pt x="456" y="1624"/>
                    <a:pt x="477" y="1603"/>
                    <a:pt x="503" y="1603"/>
                  </a:cubicBezTo>
                  <a:cubicBezTo>
                    <a:pt x="528" y="1603"/>
                    <a:pt x="550" y="1624"/>
                    <a:pt x="550" y="1650"/>
                  </a:cubicBezTo>
                  <a:close/>
                  <a:moveTo>
                    <a:pt x="550" y="1750"/>
                  </a:moveTo>
                  <a:cubicBezTo>
                    <a:pt x="550" y="1775"/>
                    <a:pt x="528" y="1797"/>
                    <a:pt x="503" y="1797"/>
                  </a:cubicBezTo>
                  <a:cubicBezTo>
                    <a:pt x="477" y="1797"/>
                    <a:pt x="456" y="1775"/>
                    <a:pt x="456" y="1750"/>
                  </a:cubicBezTo>
                  <a:cubicBezTo>
                    <a:pt x="456" y="1724"/>
                    <a:pt x="477" y="1703"/>
                    <a:pt x="503" y="1703"/>
                  </a:cubicBezTo>
                  <a:cubicBezTo>
                    <a:pt x="528" y="1703"/>
                    <a:pt x="550" y="1724"/>
                    <a:pt x="550" y="1750"/>
                  </a:cubicBezTo>
                  <a:close/>
                  <a:moveTo>
                    <a:pt x="550" y="1850"/>
                  </a:moveTo>
                  <a:cubicBezTo>
                    <a:pt x="550" y="1875"/>
                    <a:pt x="528" y="1897"/>
                    <a:pt x="503" y="1897"/>
                  </a:cubicBezTo>
                  <a:cubicBezTo>
                    <a:pt x="477" y="1897"/>
                    <a:pt x="456" y="1875"/>
                    <a:pt x="456" y="1850"/>
                  </a:cubicBezTo>
                  <a:cubicBezTo>
                    <a:pt x="456" y="1824"/>
                    <a:pt x="477" y="1803"/>
                    <a:pt x="503" y="1803"/>
                  </a:cubicBezTo>
                  <a:cubicBezTo>
                    <a:pt x="528" y="1803"/>
                    <a:pt x="550" y="1824"/>
                    <a:pt x="550" y="1850"/>
                  </a:cubicBezTo>
                  <a:close/>
                  <a:moveTo>
                    <a:pt x="550" y="1950"/>
                  </a:moveTo>
                  <a:cubicBezTo>
                    <a:pt x="550" y="1975"/>
                    <a:pt x="528" y="1997"/>
                    <a:pt x="503" y="1997"/>
                  </a:cubicBezTo>
                  <a:cubicBezTo>
                    <a:pt x="477" y="1997"/>
                    <a:pt x="456" y="1975"/>
                    <a:pt x="456" y="1950"/>
                  </a:cubicBezTo>
                  <a:cubicBezTo>
                    <a:pt x="456" y="1924"/>
                    <a:pt x="477" y="1903"/>
                    <a:pt x="503" y="1903"/>
                  </a:cubicBezTo>
                  <a:cubicBezTo>
                    <a:pt x="528" y="1903"/>
                    <a:pt x="550" y="1924"/>
                    <a:pt x="550" y="1950"/>
                  </a:cubicBezTo>
                  <a:close/>
                  <a:moveTo>
                    <a:pt x="550" y="2050"/>
                  </a:moveTo>
                  <a:cubicBezTo>
                    <a:pt x="550" y="2075"/>
                    <a:pt x="528" y="2097"/>
                    <a:pt x="503" y="2097"/>
                  </a:cubicBezTo>
                  <a:cubicBezTo>
                    <a:pt x="477" y="2097"/>
                    <a:pt x="456" y="2075"/>
                    <a:pt x="456" y="2050"/>
                  </a:cubicBezTo>
                  <a:cubicBezTo>
                    <a:pt x="456" y="2024"/>
                    <a:pt x="477" y="2003"/>
                    <a:pt x="503" y="2003"/>
                  </a:cubicBezTo>
                  <a:cubicBezTo>
                    <a:pt x="528" y="2003"/>
                    <a:pt x="550" y="2024"/>
                    <a:pt x="550" y="2050"/>
                  </a:cubicBezTo>
                  <a:close/>
                  <a:moveTo>
                    <a:pt x="550" y="2150"/>
                  </a:moveTo>
                  <a:cubicBezTo>
                    <a:pt x="550" y="2175"/>
                    <a:pt x="528" y="2197"/>
                    <a:pt x="503" y="2197"/>
                  </a:cubicBezTo>
                  <a:cubicBezTo>
                    <a:pt x="477" y="2197"/>
                    <a:pt x="456" y="2175"/>
                    <a:pt x="456" y="2150"/>
                  </a:cubicBezTo>
                  <a:cubicBezTo>
                    <a:pt x="456" y="2124"/>
                    <a:pt x="477" y="2103"/>
                    <a:pt x="503" y="2103"/>
                  </a:cubicBezTo>
                  <a:cubicBezTo>
                    <a:pt x="528" y="2103"/>
                    <a:pt x="550" y="2124"/>
                    <a:pt x="550" y="2150"/>
                  </a:cubicBezTo>
                  <a:close/>
                  <a:moveTo>
                    <a:pt x="550" y="2250"/>
                  </a:moveTo>
                  <a:cubicBezTo>
                    <a:pt x="550" y="2275"/>
                    <a:pt x="528" y="2297"/>
                    <a:pt x="503" y="2297"/>
                  </a:cubicBezTo>
                  <a:cubicBezTo>
                    <a:pt x="477" y="2297"/>
                    <a:pt x="456" y="2275"/>
                    <a:pt x="456" y="2250"/>
                  </a:cubicBezTo>
                  <a:cubicBezTo>
                    <a:pt x="456" y="2224"/>
                    <a:pt x="477" y="2203"/>
                    <a:pt x="503" y="2203"/>
                  </a:cubicBezTo>
                  <a:cubicBezTo>
                    <a:pt x="528" y="2203"/>
                    <a:pt x="550" y="2224"/>
                    <a:pt x="550" y="2250"/>
                  </a:cubicBezTo>
                  <a:close/>
                  <a:moveTo>
                    <a:pt x="550" y="2350"/>
                  </a:moveTo>
                  <a:cubicBezTo>
                    <a:pt x="550" y="2375"/>
                    <a:pt x="528" y="2397"/>
                    <a:pt x="503" y="2397"/>
                  </a:cubicBezTo>
                  <a:cubicBezTo>
                    <a:pt x="477" y="2397"/>
                    <a:pt x="456" y="2375"/>
                    <a:pt x="456" y="2350"/>
                  </a:cubicBezTo>
                  <a:cubicBezTo>
                    <a:pt x="456" y="2324"/>
                    <a:pt x="477" y="2303"/>
                    <a:pt x="503" y="2303"/>
                  </a:cubicBezTo>
                  <a:cubicBezTo>
                    <a:pt x="528" y="2303"/>
                    <a:pt x="550" y="2324"/>
                    <a:pt x="550" y="2350"/>
                  </a:cubicBezTo>
                  <a:close/>
                  <a:moveTo>
                    <a:pt x="550" y="2450"/>
                  </a:moveTo>
                  <a:cubicBezTo>
                    <a:pt x="550" y="2475"/>
                    <a:pt x="528" y="2497"/>
                    <a:pt x="503" y="2497"/>
                  </a:cubicBezTo>
                  <a:cubicBezTo>
                    <a:pt x="477" y="2497"/>
                    <a:pt x="456" y="2475"/>
                    <a:pt x="456" y="2450"/>
                  </a:cubicBezTo>
                  <a:cubicBezTo>
                    <a:pt x="456" y="2424"/>
                    <a:pt x="477" y="2403"/>
                    <a:pt x="503" y="2403"/>
                  </a:cubicBezTo>
                  <a:cubicBezTo>
                    <a:pt x="528" y="2403"/>
                    <a:pt x="550" y="2424"/>
                    <a:pt x="550" y="2450"/>
                  </a:cubicBezTo>
                  <a:close/>
                  <a:moveTo>
                    <a:pt x="550" y="2550"/>
                  </a:moveTo>
                  <a:cubicBezTo>
                    <a:pt x="550" y="2575"/>
                    <a:pt x="528" y="2597"/>
                    <a:pt x="503" y="2597"/>
                  </a:cubicBezTo>
                  <a:cubicBezTo>
                    <a:pt x="477" y="2597"/>
                    <a:pt x="456" y="2575"/>
                    <a:pt x="456" y="2550"/>
                  </a:cubicBezTo>
                  <a:cubicBezTo>
                    <a:pt x="456" y="2524"/>
                    <a:pt x="477" y="2503"/>
                    <a:pt x="503" y="2503"/>
                  </a:cubicBezTo>
                  <a:cubicBezTo>
                    <a:pt x="528" y="2503"/>
                    <a:pt x="550" y="2524"/>
                    <a:pt x="550" y="2550"/>
                  </a:cubicBezTo>
                  <a:close/>
                  <a:moveTo>
                    <a:pt x="550" y="2650"/>
                  </a:moveTo>
                  <a:cubicBezTo>
                    <a:pt x="550" y="2675"/>
                    <a:pt x="528" y="2697"/>
                    <a:pt x="503" y="2697"/>
                  </a:cubicBezTo>
                  <a:cubicBezTo>
                    <a:pt x="477" y="2697"/>
                    <a:pt x="456" y="2675"/>
                    <a:pt x="456" y="2650"/>
                  </a:cubicBezTo>
                  <a:cubicBezTo>
                    <a:pt x="456" y="2624"/>
                    <a:pt x="477" y="2603"/>
                    <a:pt x="503" y="2603"/>
                  </a:cubicBezTo>
                  <a:cubicBezTo>
                    <a:pt x="528" y="2603"/>
                    <a:pt x="550" y="2624"/>
                    <a:pt x="550" y="2650"/>
                  </a:cubicBezTo>
                  <a:close/>
                  <a:moveTo>
                    <a:pt x="550" y="2750"/>
                  </a:moveTo>
                  <a:cubicBezTo>
                    <a:pt x="550" y="2775"/>
                    <a:pt x="528" y="2797"/>
                    <a:pt x="503" y="2797"/>
                  </a:cubicBezTo>
                  <a:cubicBezTo>
                    <a:pt x="477" y="2797"/>
                    <a:pt x="456" y="2775"/>
                    <a:pt x="456" y="2750"/>
                  </a:cubicBezTo>
                  <a:cubicBezTo>
                    <a:pt x="456" y="2724"/>
                    <a:pt x="477" y="2703"/>
                    <a:pt x="503" y="2703"/>
                  </a:cubicBezTo>
                  <a:cubicBezTo>
                    <a:pt x="528" y="2703"/>
                    <a:pt x="550" y="2724"/>
                    <a:pt x="550" y="2750"/>
                  </a:cubicBezTo>
                  <a:close/>
                  <a:moveTo>
                    <a:pt x="550" y="2850"/>
                  </a:moveTo>
                  <a:cubicBezTo>
                    <a:pt x="550" y="2875"/>
                    <a:pt x="528" y="2897"/>
                    <a:pt x="503" y="2897"/>
                  </a:cubicBezTo>
                  <a:cubicBezTo>
                    <a:pt x="477" y="2897"/>
                    <a:pt x="456" y="2875"/>
                    <a:pt x="456" y="2850"/>
                  </a:cubicBezTo>
                  <a:cubicBezTo>
                    <a:pt x="456" y="2824"/>
                    <a:pt x="477" y="2803"/>
                    <a:pt x="503" y="2803"/>
                  </a:cubicBezTo>
                  <a:cubicBezTo>
                    <a:pt x="528" y="2803"/>
                    <a:pt x="550" y="2824"/>
                    <a:pt x="550" y="2850"/>
                  </a:cubicBezTo>
                  <a:close/>
                  <a:moveTo>
                    <a:pt x="550" y="2950"/>
                  </a:moveTo>
                  <a:cubicBezTo>
                    <a:pt x="550" y="2975"/>
                    <a:pt x="528" y="2997"/>
                    <a:pt x="503" y="2997"/>
                  </a:cubicBezTo>
                  <a:cubicBezTo>
                    <a:pt x="477" y="2997"/>
                    <a:pt x="456" y="2975"/>
                    <a:pt x="456" y="2950"/>
                  </a:cubicBezTo>
                  <a:cubicBezTo>
                    <a:pt x="456" y="2924"/>
                    <a:pt x="477" y="2903"/>
                    <a:pt x="503" y="2903"/>
                  </a:cubicBezTo>
                  <a:cubicBezTo>
                    <a:pt x="528" y="2903"/>
                    <a:pt x="550" y="2924"/>
                    <a:pt x="550" y="2950"/>
                  </a:cubicBezTo>
                  <a:close/>
                  <a:moveTo>
                    <a:pt x="550" y="3050"/>
                  </a:moveTo>
                  <a:cubicBezTo>
                    <a:pt x="550" y="3075"/>
                    <a:pt x="528" y="3097"/>
                    <a:pt x="503" y="3097"/>
                  </a:cubicBezTo>
                  <a:cubicBezTo>
                    <a:pt x="477" y="3097"/>
                    <a:pt x="456" y="3075"/>
                    <a:pt x="456" y="3050"/>
                  </a:cubicBezTo>
                  <a:cubicBezTo>
                    <a:pt x="456" y="3024"/>
                    <a:pt x="477" y="3003"/>
                    <a:pt x="503" y="3003"/>
                  </a:cubicBezTo>
                  <a:cubicBezTo>
                    <a:pt x="528" y="3003"/>
                    <a:pt x="550" y="3024"/>
                    <a:pt x="550" y="3050"/>
                  </a:cubicBezTo>
                  <a:close/>
                  <a:moveTo>
                    <a:pt x="550" y="3150"/>
                  </a:moveTo>
                  <a:cubicBezTo>
                    <a:pt x="550" y="3175"/>
                    <a:pt x="528" y="3197"/>
                    <a:pt x="503" y="3197"/>
                  </a:cubicBezTo>
                  <a:cubicBezTo>
                    <a:pt x="477" y="3197"/>
                    <a:pt x="456" y="3175"/>
                    <a:pt x="456" y="3150"/>
                  </a:cubicBezTo>
                  <a:cubicBezTo>
                    <a:pt x="456" y="3124"/>
                    <a:pt x="477" y="3103"/>
                    <a:pt x="503" y="3103"/>
                  </a:cubicBezTo>
                  <a:cubicBezTo>
                    <a:pt x="528" y="3103"/>
                    <a:pt x="550" y="3124"/>
                    <a:pt x="550" y="3150"/>
                  </a:cubicBezTo>
                  <a:close/>
                  <a:moveTo>
                    <a:pt x="550" y="3250"/>
                  </a:moveTo>
                  <a:cubicBezTo>
                    <a:pt x="550" y="3275"/>
                    <a:pt x="528" y="3297"/>
                    <a:pt x="503" y="3297"/>
                  </a:cubicBezTo>
                  <a:cubicBezTo>
                    <a:pt x="477" y="3297"/>
                    <a:pt x="456" y="3275"/>
                    <a:pt x="456" y="3250"/>
                  </a:cubicBezTo>
                  <a:cubicBezTo>
                    <a:pt x="456" y="3224"/>
                    <a:pt x="477" y="3203"/>
                    <a:pt x="503" y="3203"/>
                  </a:cubicBezTo>
                  <a:cubicBezTo>
                    <a:pt x="528" y="3203"/>
                    <a:pt x="550" y="3224"/>
                    <a:pt x="550" y="3250"/>
                  </a:cubicBezTo>
                  <a:close/>
                  <a:moveTo>
                    <a:pt x="550" y="3350"/>
                  </a:moveTo>
                  <a:cubicBezTo>
                    <a:pt x="550" y="3375"/>
                    <a:pt x="528" y="3397"/>
                    <a:pt x="503" y="3397"/>
                  </a:cubicBezTo>
                  <a:cubicBezTo>
                    <a:pt x="477" y="3397"/>
                    <a:pt x="456" y="3375"/>
                    <a:pt x="456" y="3350"/>
                  </a:cubicBezTo>
                  <a:cubicBezTo>
                    <a:pt x="456" y="3324"/>
                    <a:pt x="477" y="3303"/>
                    <a:pt x="503" y="3303"/>
                  </a:cubicBezTo>
                  <a:cubicBezTo>
                    <a:pt x="528" y="3303"/>
                    <a:pt x="550" y="3324"/>
                    <a:pt x="550" y="3350"/>
                  </a:cubicBezTo>
                  <a:close/>
                  <a:moveTo>
                    <a:pt x="550" y="3450"/>
                  </a:moveTo>
                  <a:cubicBezTo>
                    <a:pt x="550" y="3475"/>
                    <a:pt x="528" y="3497"/>
                    <a:pt x="503" y="3497"/>
                  </a:cubicBezTo>
                  <a:cubicBezTo>
                    <a:pt x="477" y="3497"/>
                    <a:pt x="456" y="3475"/>
                    <a:pt x="456" y="3450"/>
                  </a:cubicBezTo>
                  <a:cubicBezTo>
                    <a:pt x="456" y="3424"/>
                    <a:pt x="477" y="3403"/>
                    <a:pt x="503" y="3403"/>
                  </a:cubicBezTo>
                  <a:cubicBezTo>
                    <a:pt x="528" y="3403"/>
                    <a:pt x="550" y="3424"/>
                    <a:pt x="550" y="3450"/>
                  </a:cubicBezTo>
                  <a:close/>
                  <a:moveTo>
                    <a:pt x="550" y="3550"/>
                  </a:moveTo>
                  <a:cubicBezTo>
                    <a:pt x="550" y="3575"/>
                    <a:pt x="528" y="3597"/>
                    <a:pt x="503" y="3597"/>
                  </a:cubicBezTo>
                  <a:cubicBezTo>
                    <a:pt x="477" y="3597"/>
                    <a:pt x="456" y="3575"/>
                    <a:pt x="456" y="3550"/>
                  </a:cubicBezTo>
                  <a:cubicBezTo>
                    <a:pt x="456" y="3524"/>
                    <a:pt x="477" y="3503"/>
                    <a:pt x="503" y="3503"/>
                  </a:cubicBezTo>
                  <a:cubicBezTo>
                    <a:pt x="528" y="3503"/>
                    <a:pt x="550" y="3524"/>
                    <a:pt x="550" y="3550"/>
                  </a:cubicBezTo>
                  <a:close/>
                  <a:moveTo>
                    <a:pt x="550" y="3650"/>
                  </a:moveTo>
                  <a:cubicBezTo>
                    <a:pt x="550" y="3675"/>
                    <a:pt x="528" y="3697"/>
                    <a:pt x="503" y="3697"/>
                  </a:cubicBezTo>
                  <a:cubicBezTo>
                    <a:pt x="477" y="3697"/>
                    <a:pt x="456" y="3675"/>
                    <a:pt x="456" y="3650"/>
                  </a:cubicBezTo>
                  <a:cubicBezTo>
                    <a:pt x="456" y="3624"/>
                    <a:pt x="477" y="3603"/>
                    <a:pt x="503" y="3603"/>
                  </a:cubicBezTo>
                  <a:cubicBezTo>
                    <a:pt x="528" y="3603"/>
                    <a:pt x="550" y="3624"/>
                    <a:pt x="550" y="3650"/>
                  </a:cubicBezTo>
                  <a:close/>
                  <a:moveTo>
                    <a:pt x="550" y="3750"/>
                  </a:moveTo>
                  <a:cubicBezTo>
                    <a:pt x="550" y="3775"/>
                    <a:pt x="528" y="3797"/>
                    <a:pt x="503" y="3797"/>
                  </a:cubicBezTo>
                  <a:cubicBezTo>
                    <a:pt x="477" y="3797"/>
                    <a:pt x="456" y="3775"/>
                    <a:pt x="456" y="3750"/>
                  </a:cubicBezTo>
                  <a:cubicBezTo>
                    <a:pt x="456" y="3724"/>
                    <a:pt x="477" y="3703"/>
                    <a:pt x="503" y="3703"/>
                  </a:cubicBezTo>
                  <a:cubicBezTo>
                    <a:pt x="528" y="3703"/>
                    <a:pt x="550" y="3724"/>
                    <a:pt x="550" y="3750"/>
                  </a:cubicBezTo>
                  <a:close/>
                  <a:moveTo>
                    <a:pt x="550" y="3850"/>
                  </a:moveTo>
                  <a:cubicBezTo>
                    <a:pt x="550" y="3875"/>
                    <a:pt x="528" y="3897"/>
                    <a:pt x="503" y="3897"/>
                  </a:cubicBezTo>
                  <a:cubicBezTo>
                    <a:pt x="477" y="3897"/>
                    <a:pt x="456" y="3875"/>
                    <a:pt x="456" y="3850"/>
                  </a:cubicBezTo>
                  <a:cubicBezTo>
                    <a:pt x="456" y="3824"/>
                    <a:pt x="477" y="3803"/>
                    <a:pt x="503" y="3803"/>
                  </a:cubicBezTo>
                  <a:cubicBezTo>
                    <a:pt x="528" y="3803"/>
                    <a:pt x="550" y="3824"/>
                    <a:pt x="550" y="3850"/>
                  </a:cubicBezTo>
                  <a:close/>
                  <a:moveTo>
                    <a:pt x="550" y="3950"/>
                  </a:moveTo>
                  <a:cubicBezTo>
                    <a:pt x="550" y="3975"/>
                    <a:pt x="528" y="3997"/>
                    <a:pt x="503" y="3997"/>
                  </a:cubicBezTo>
                  <a:cubicBezTo>
                    <a:pt x="477" y="3997"/>
                    <a:pt x="456" y="3975"/>
                    <a:pt x="456" y="3950"/>
                  </a:cubicBezTo>
                  <a:cubicBezTo>
                    <a:pt x="456" y="3924"/>
                    <a:pt x="477" y="3903"/>
                    <a:pt x="503" y="3903"/>
                  </a:cubicBezTo>
                  <a:cubicBezTo>
                    <a:pt x="528" y="3903"/>
                    <a:pt x="550" y="3924"/>
                    <a:pt x="550" y="3950"/>
                  </a:cubicBezTo>
                  <a:close/>
                  <a:moveTo>
                    <a:pt x="550" y="4050"/>
                  </a:moveTo>
                  <a:cubicBezTo>
                    <a:pt x="550" y="4075"/>
                    <a:pt x="528" y="4097"/>
                    <a:pt x="503" y="4097"/>
                  </a:cubicBezTo>
                  <a:cubicBezTo>
                    <a:pt x="477" y="4097"/>
                    <a:pt x="456" y="4075"/>
                    <a:pt x="456" y="4050"/>
                  </a:cubicBezTo>
                  <a:cubicBezTo>
                    <a:pt x="456" y="4024"/>
                    <a:pt x="477" y="4003"/>
                    <a:pt x="503" y="4003"/>
                  </a:cubicBezTo>
                  <a:cubicBezTo>
                    <a:pt x="528" y="4003"/>
                    <a:pt x="550" y="4024"/>
                    <a:pt x="550" y="4050"/>
                  </a:cubicBezTo>
                  <a:close/>
                  <a:moveTo>
                    <a:pt x="550" y="4150"/>
                  </a:moveTo>
                  <a:cubicBezTo>
                    <a:pt x="550" y="4175"/>
                    <a:pt x="528" y="4197"/>
                    <a:pt x="503" y="4197"/>
                  </a:cubicBezTo>
                  <a:cubicBezTo>
                    <a:pt x="477" y="4197"/>
                    <a:pt x="456" y="4175"/>
                    <a:pt x="456" y="4150"/>
                  </a:cubicBezTo>
                  <a:cubicBezTo>
                    <a:pt x="456" y="4124"/>
                    <a:pt x="477" y="4103"/>
                    <a:pt x="503" y="4103"/>
                  </a:cubicBezTo>
                  <a:cubicBezTo>
                    <a:pt x="528" y="4103"/>
                    <a:pt x="550" y="4124"/>
                    <a:pt x="550" y="4150"/>
                  </a:cubicBezTo>
                  <a:close/>
                  <a:moveTo>
                    <a:pt x="550" y="4250"/>
                  </a:moveTo>
                  <a:cubicBezTo>
                    <a:pt x="550" y="4275"/>
                    <a:pt x="528" y="4297"/>
                    <a:pt x="503" y="4297"/>
                  </a:cubicBezTo>
                  <a:cubicBezTo>
                    <a:pt x="477" y="4297"/>
                    <a:pt x="456" y="4275"/>
                    <a:pt x="456" y="4250"/>
                  </a:cubicBezTo>
                  <a:cubicBezTo>
                    <a:pt x="456" y="4224"/>
                    <a:pt x="477" y="4203"/>
                    <a:pt x="503" y="4203"/>
                  </a:cubicBezTo>
                  <a:cubicBezTo>
                    <a:pt x="528" y="4203"/>
                    <a:pt x="550" y="4224"/>
                    <a:pt x="550" y="4250"/>
                  </a:cubicBezTo>
                  <a:close/>
                  <a:moveTo>
                    <a:pt x="550" y="4350"/>
                  </a:moveTo>
                  <a:cubicBezTo>
                    <a:pt x="550" y="4375"/>
                    <a:pt x="528" y="4397"/>
                    <a:pt x="503" y="4397"/>
                  </a:cubicBezTo>
                  <a:cubicBezTo>
                    <a:pt x="477" y="4397"/>
                    <a:pt x="456" y="4375"/>
                    <a:pt x="456" y="4350"/>
                  </a:cubicBezTo>
                  <a:cubicBezTo>
                    <a:pt x="456" y="4324"/>
                    <a:pt x="477" y="4303"/>
                    <a:pt x="503" y="4303"/>
                  </a:cubicBezTo>
                  <a:cubicBezTo>
                    <a:pt x="528" y="4303"/>
                    <a:pt x="550" y="4324"/>
                    <a:pt x="550" y="4350"/>
                  </a:cubicBezTo>
                  <a:close/>
                  <a:moveTo>
                    <a:pt x="550" y="4450"/>
                  </a:moveTo>
                  <a:cubicBezTo>
                    <a:pt x="550" y="4475"/>
                    <a:pt x="528" y="4497"/>
                    <a:pt x="503" y="4497"/>
                  </a:cubicBezTo>
                  <a:cubicBezTo>
                    <a:pt x="477" y="4497"/>
                    <a:pt x="456" y="4475"/>
                    <a:pt x="456" y="4450"/>
                  </a:cubicBezTo>
                  <a:cubicBezTo>
                    <a:pt x="456" y="4424"/>
                    <a:pt x="477" y="4403"/>
                    <a:pt x="503" y="4403"/>
                  </a:cubicBezTo>
                  <a:cubicBezTo>
                    <a:pt x="528" y="4403"/>
                    <a:pt x="550" y="4424"/>
                    <a:pt x="550" y="4450"/>
                  </a:cubicBezTo>
                  <a:close/>
                  <a:moveTo>
                    <a:pt x="550" y="4550"/>
                  </a:moveTo>
                  <a:cubicBezTo>
                    <a:pt x="550" y="4575"/>
                    <a:pt x="528" y="4597"/>
                    <a:pt x="503" y="4597"/>
                  </a:cubicBezTo>
                  <a:cubicBezTo>
                    <a:pt x="477" y="4597"/>
                    <a:pt x="456" y="4575"/>
                    <a:pt x="456" y="4550"/>
                  </a:cubicBezTo>
                  <a:cubicBezTo>
                    <a:pt x="456" y="4524"/>
                    <a:pt x="477" y="4503"/>
                    <a:pt x="503" y="4503"/>
                  </a:cubicBezTo>
                  <a:cubicBezTo>
                    <a:pt x="528" y="4503"/>
                    <a:pt x="550" y="4524"/>
                    <a:pt x="550" y="4550"/>
                  </a:cubicBezTo>
                  <a:close/>
                  <a:moveTo>
                    <a:pt x="550" y="4650"/>
                  </a:moveTo>
                  <a:cubicBezTo>
                    <a:pt x="550" y="4675"/>
                    <a:pt x="528" y="4697"/>
                    <a:pt x="503" y="4697"/>
                  </a:cubicBezTo>
                  <a:cubicBezTo>
                    <a:pt x="477" y="4697"/>
                    <a:pt x="456" y="4675"/>
                    <a:pt x="456" y="4650"/>
                  </a:cubicBezTo>
                  <a:cubicBezTo>
                    <a:pt x="456" y="4624"/>
                    <a:pt x="477" y="4603"/>
                    <a:pt x="503" y="4603"/>
                  </a:cubicBezTo>
                  <a:cubicBezTo>
                    <a:pt x="528" y="4603"/>
                    <a:pt x="550" y="4624"/>
                    <a:pt x="550" y="4650"/>
                  </a:cubicBezTo>
                  <a:close/>
                  <a:moveTo>
                    <a:pt x="550" y="4750"/>
                  </a:moveTo>
                  <a:cubicBezTo>
                    <a:pt x="550" y="4775"/>
                    <a:pt x="528" y="4797"/>
                    <a:pt x="503" y="4797"/>
                  </a:cubicBezTo>
                  <a:cubicBezTo>
                    <a:pt x="477" y="4797"/>
                    <a:pt x="456" y="4775"/>
                    <a:pt x="456" y="4750"/>
                  </a:cubicBezTo>
                  <a:cubicBezTo>
                    <a:pt x="456" y="4724"/>
                    <a:pt x="477" y="4703"/>
                    <a:pt x="503" y="4703"/>
                  </a:cubicBezTo>
                  <a:cubicBezTo>
                    <a:pt x="528" y="4703"/>
                    <a:pt x="550" y="4724"/>
                    <a:pt x="550" y="4750"/>
                  </a:cubicBezTo>
                  <a:close/>
                  <a:moveTo>
                    <a:pt x="550" y="4850"/>
                  </a:moveTo>
                  <a:cubicBezTo>
                    <a:pt x="550" y="4875"/>
                    <a:pt x="528" y="4897"/>
                    <a:pt x="503" y="4897"/>
                  </a:cubicBezTo>
                  <a:cubicBezTo>
                    <a:pt x="477" y="4897"/>
                    <a:pt x="456" y="4875"/>
                    <a:pt x="456" y="4850"/>
                  </a:cubicBezTo>
                  <a:cubicBezTo>
                    <a:pt x="456" y="4824"/>
                    <a:pt x="477" y="4803"/>
                    <a:pt x="503" y="4803"/>
                  </a:cubicBezTo>
                  <a:cubicBezTo>
                    <a:pt x="528" y="4803"/>
                    <a:pt x="550" y="4824"/>
                    <a:pt x="550" y="4850"/>
                  </a:cubicBezTo>
                  <a:close/>
                  <a:moveTo>
                    <a:pt x="550" y="4950"/>
                  </a:moveTo>
                  <a:cubicBezTo>
                    <a:pt x="550" y="4975"/>
                    <a:pt x="528" y="4997"/>
                    <a:pt x="503" y="4997"/>
                  </a:cubicBezTo>
                  <a:cubicBezTo>
                    <a:pt x="477" y="4997"/>
                    <a:pt x="456" y="4975"/>
                    <a:pt x="456" y="4950"/>
                  </a:cubicBezTo>
                  <a:cubicBezTo>
                    <a:pt x="456" y="4924"/>
                    <a:pt x="477" y="4903"/>
                    <a:pt x="503" y="4903"/>
                  </a:cubicBezTo>
                  <a:cubicBezTo>
                    <a:pt x="528" y="4903"/>
                    <a:pt x="550" y="4924"/>
                    <a:pt x="550" y="4950"/>
                  </a:cubicBezTo>
                  <a:close/>
                  <a:moveTo>
                    <a:pt x="550" y="5050"/>
                  </a:moveTo>
                  <a:cubicBezTo>
                    <a:pt x="550" y="5075"/>
                    <a:pt x="528" y="5097"/>
                    <a:pt x="503" y="5097"/>
                  </a:cubicBezTo>
                  <a:cubicBezTo>
                    <a:pt x="477" y="5097"/>
                    <a:pt x="456" y="5075"/>
                    <a:pt x="456" y="5050"/>
                  </a:cubicBezTo>
                  <a:cubicBezTo>
                    <a:pt x="456" y="5024"/>
                    <a:pt x="477" y="5003"/>
                    <a:pt x="503" y="5003"/>
                  </a:cubicBezTo>
                  <a:cubicBezTo>
                    <a:pt x="528" y="5003"/>
                    <a:pt x="550" y="5024"/>
                    <a:pt x="550" y="5050"/>
                  </a:cubicBezTo>
                  <a:close/>
                  <a:moveTo>
                    <a:pt x="550" y="5150"/>
                  </a:moveTo>
                  <a:cubicBezTo>
                    <a:pt x="550" y="5175"/>
                    <a:pt x="528" y="5197"/>
                    <a:pt x="503" y="5197"/>
                  </a:cubicBezTo>
                  <a:cubicBezTo>
                    <a:pt x="477" y="5197"/>
                    <a:pt x="456" y="5175"/>
                    <a:pt x="456" y="5150"/>
                  </a:cubicBezTo>
                  <a:cubicBezTo>
                    <a:pt x="456" y="5124"/>
                    <a:pt x="477" y="5103"/>
                    <a:pt x="503" y="5103"/>
                  </a:cubicBezTo>
                  <a:cubicBezTo>
                    <a:pt x="528" y="5103"/>
                    <a:pt x="550" y="5124"/>
                    <a:pt x="550" y="5150"/>
                  </a:cubicBezTo>
                  <a:close/>
                  <a:moveTo>
                    <a:pt x="550" y="5250"/>
                  </a:moveTo>
                  <a:cubicBezTo>
                    <a:pt x="550" y="5275"/>
                    <a:pt x="528" y="5297"/>
                    <a:pt x="503" y="5297"/>
                  </a:cubicBezTo>
                  <a:cubicBezTo>
                    <a:pt x="477" y="5297"/>
                    <a:pt x="456" y="5275"/>
                    <a:pt x="456" y="5250"/>
                  </a:cubicBezTo>
                  <a:cubicBezTo>
                    <a:pt x="456" y="5224"/>
                    <a:pt x="477" y="5203"/>
                    <a:pt x="503" y="5203"/>
                  </a:cubicBezTo>
                  <a:cubicBezTo>
                    <a:pt x="528" y="5203"/>
                    <a:pt x="550" y="5224"/>
                    <a:pt x="550" y="5250"/>
                  </a:cubicBezTo>
                  <a:close/>
                  <a:moveTo>
                    <a:pt x="550" y="5350"/>
                  </a:moveTo>
                  <a:cubicBezTo>
                    <a:pt x="550" y="5375"/>
                    <a:pt x="528" y="5397"/>
                    <a:pt x="503" y="5397"/>
                  </a:cubicBezTo>
                  <a:cubicBezTo>
                    <a:pt x="477" y="5397"/>
                    <a:pt x="456" y="5375"/>
                    <a:pt x="456" y="5350"/>
                  </a:cubicBezTo>
                  <a:cubicBezTo>
                    <a:pt x="456" y="5324"/>
                    <a:pt x="477" y="5303"/>
                    <a:pt x="503" y="5303"/>
                  </a:cubicBezTo>
                  <a:cubicBezTo>
                    <a:pt x="528" y="5303"/>
                    <a:pt x="550" y="5324"/>
                    <a:pt x="550" y="5350"/>
                  </a:cubicBezTo>
                  <a:close/>
                  <a:moveTo>
                    <a:pt x="550" y="5450"/>
                  </a:moveTo>
                  <a:cubicBezTo>
                    <a:pt x="550" y="5475"/>
                    <a:pt x="528" y="5497"/>
                    <a:pt x="503" y="5497"/>
                  </a:cubicBezTo>
                  <a:cubicBezTo>
                    <a:pt x="477" y="5497"/>
                    <a:pt x="456" y="5475"/>
                    <a:pt x="456" y="5450"/>
                  </a:cubicBezTo>
                  <a:cubicBezTo>
                    <a:pt x="456" y="5424"/>
                    <a:pt x="477" y="5403"/>
                    <a:pt x="503" y="5403"/>
                  </a:cubicBezTo>
                  <a:cubicBezTo>
                    <a:pt x="528" y="5403"/>
                    <a:pt x="550" y="5424"/>
                    <a:pt x="550" y="5450"/>
                  </a:cubicBezTo>
                  <a:close/>
                  <a:moveTo>
                    <a:pt x="550" y="5550"/>
                  </a:moveTo>
                  <a:cubicBezTo>
                    <a:pt x="550" y="5575"/>
                    <a:pt x="528" y="5597"/>
                    <a:pt x="503" y="5597"/>
                  </a:cubicBezTo>
                  <a:cubicBezTo>
                    <a:pt x="477" y="5597"/>
                    <a:pt x="456" y="5575"/>
                    <a:pt x="456" y="5550"/>
                  </a:cubicBezTo>
                  <a:cubicBezTo>
                    <a:pt x="456" y="5524"/>
                    <a:pt x="477" y="5503"/>
                    <a:pt x="503" y="5503"/>
                  </a:cubicBezTo>
                  <a:cubicBezTo>
                    <a:pt x="528" y="5503"/>
                    <a:pt x="550" y="5524"/>
                    <a:pt x="550" y="5550"/>
                  </a:cubicBezTo>
                  <a:close/>
                  <a:moveTo>
                    <a:pt x="550" y="5650"/>
                  </a:moveTo>
                  <a:cubicBezTo>
                    <a:pt x="550" y="5675"/>
                    <a:pt x="528" y="5697"/>
                    <a:pt x="503" y="5697"/>
                  </a:cubicBezTo>
                  <a:cubicBezTo>
                    <a:pt x="477" y="5697"/>
                    <a:pt x="456" y="5675"/>
                    <a:pt x="456" y="5650"/>
                  </a:cubicBezTo>
                  <a:cubicBezTo>
                    <a:pt x="456" y="5624"/>
                    <a:pt x="477" y="5603"/>
                    <a:pt x="503" y="5603"/>
                  </a:cubicBezTo>
                  <a:cubicBezTo>
                    <a:pt x="528" y="5603"/>
                    <a:pt x="550" y="5624"/>
                    <a:pt x="550" y="5650"/>
                  </a:cubicBezTo>
                  <a:close/>
                  <a:moveTo>
                    <a:pt x="550" y="5750"/>
                  </a:moveTo>
                  <a:cubicBezTo>
                    <a:pt x="550" y="5775"/>
                    <a:pt x="528" y="5797"/>
                    <a:pt x="503" y="5797"/>
                  </a:cubicBezTo>
                  <a:cubicBezTo>
                    <a:pt x="477" y="5797"/>
                    <a:pt x="456" y="5775"/>
                    <a:pt x="456" y="5750"/>
                  </a:cubicBezTo>
                  <a:cubicBezTo>
                    <a:pt x="456" y="5724"/>
                    <a:pt x="477" y="5703"/>
                    <a:pt x="503" y="5703"/>
                  </a:cubicBezTo>
                  <a:cubicBezTo>
                    <a:pt x="528" y="5703"/>
                    <a:pt x="550" y="5724"/>
                    <a:pt x="550" y="5750"/>
                  </a:cubicBezTo>
                  <a:close/>
                  <a:moveTo>
                    <a:pt x="550" y="5850"/>
                  </a:moveTo>
                  <a:cubicBezTo>
                    <a:pt x="550" y="5875"/>
                    <a:pt x="528" y="5897"/>
                    <a:pt x="503" y="5897"/>
                  </a:cubicBezTo>
                  <a:cubicBezTo>
                    <a:pt x="477" y="5897"/>
                    <a:pt x="456" y="5875"/>
                    <a:pt x="456" y="5850"/>
                  </a:cubicBezTo>
                  <a:cubicBezTo>
                    <a:pt x="456" y="5824"/>
                    <a:pt x="477" y="5803"/>
                    <a:pt x="503" y="5803"/>
                  </a:cubicBezTo>
                  <a:cubicBezTo>
                    <a:pt x="528" y="5803"/>
                    <a:pt x="550" y="5824"/>
                    <a:pt x="550" y="5850"/>
                  </a:cubicBezTo>
                  <a:close/>
                  <a:moveTo>
                    <a:pt x="550" y="5950"/>
                  </a:moveTo>
                  <a:cubicBezTo>
                    <a:pt x="550" y="5975"/>
                    <a:pt x="528" y="5997"/>
                    <a:pt x="503" y="5997"/>
                  </a:cubicBezTo>
                  <a:cubicBezTo>
                    <a:pt x="477" y="5997"/>
                    <a:pt x="456" y="5975"/>
                    <a:pt x="456" y="5950"/>
                  </a:cubicBezTo>
                  <a:cubicBezTo>
                    <a:pt x="456" y="5924"/>
                    <a:pt x="477" y="5903"/>
                    <a:pt x="503" y="5903"/>
                  </a:cubicBezTo>
                  <a:cubicBezTo>
                    <a:pt x="528" y="5903"/>
                    <a:pt x="550" y="5924"/>
                    <a:pt x="550" y="5950"/>
                  </a:cubicBezTo>
                  <a:close/>
                  <a:moveTo>
                    <a:pt x="550" y="6050"/>
                  </a:moveTo>
                  <a:cubicBezTo>
                    <a:pt x="550" y="6075"/>
                    <a:pt x="528" y="6097"/>
                    <a:pt x="503" y="6097"/>
                  </a:cubicBezTo>
                  <a:cubicBezTo>
                    <a:pt x="477" y="6097"/>
                    <a:pt x="456" y="6075"/>
                    <a:pt x="456" y="6050"/>
                  </a:cubicBezTo>
                  <a:cubicBezTo>
                    <a:pt x="456" y="6024"/>
                    <a:pt x="477" y="6003"/>
                    <a:pt x="503" y="6003"/>
                  </a:cubicBezTo>
                  <a:cubicBezTo>
                    <a:pt x="528" y="6003"/>
                    <a:pt x="550" y="6024"/>
                    <a:pt x="550" y="6050"/>
                  </a:cubicBezTo>
                  <a:close/>
                  <a:moveTo>
                    <a:pt x="550" y="6150"/>
                  </a:moveTo>
                  <a:cubicBezTo>
                    <a:pt x="550" y="6175"/>
                    <a:pt x="528" y="6197"/>
                    <a:pt x="503" y="6197"/>
                  </a:cubicBezTo>
                  <a:cubicBezTo>
                    <a:pt x="477" y="6197"/>
                    <a:pt x="456" y="6175"/>
                    <a:pt x="456" y="6150"/>
                  </a:cubicBezTo>
                  <a:cubicBezTo>
                    <a:pt x="456" y="6124"/>
                    <a:pt x="477" y="6103"/>
                    <a:pt x="503" y="6103"/>
                  </a:cubicBezTo>
                  <a:cubicBezTo>
                    <a:pt x="528" y="6103"/>
                    <a:pt x="550" y="6124"/>
                    <a:pt x="550" y="6150"/>
                  </a:cubicBezTo>
                  <a:close/>
                  <a:moveTo>
                    <a:pt x="550" y="6250"/>
                  </a:moveTo>
                  <a:cubicBezTo>
                    <a:pt x="550" y="6275"/>
                    <a:pt x="528" y="6297"/>
                    <a:pt x="503" y="6297"/>
                  </a:cubicBezTo>
                  <a:cubicBezTo>
                    <a:pt x="477" y="6297"/>
                    <a:pt x="456" y="6275"/>
                    <a:pt x="456" y="6250"/>
                  </a:cubicBezTo>
                  <a:cubicBezTo>
                    <a:pt x="456" y="6224"/>
                    <a:pt x="477" y="6203"/>
                    <a:pt x="503" y="6203"/>
                  </a:cubicBezTo>
                  <a:cubicBezTo>
                    <a:pt x="528" y="6203"/>
                    <a:pt x="550" y="6224"/>
                    <a:pt x="550" y="6250"/>
                  </a:cubicBezTo>
                  <a:close/>
                  <a:moveTo>
                    <a:pt x="550" y="6350"/>
                  </a:moveTo>
                  <a:cubicBezTo>
                    <a:pt x="550" y="6375"/>
                    <a:pt x="528" y="6397"/>
                    <a:pt x="503" y="6397"/>
                  </a:cubicBezTo>
                  <a:cubicBezTo>
                    <a:pt x="477" y="6397"/>
                    <a:pt x="456" y="6375"/>
                    <a:pt x="456" y="6350"/>
                  </a:cubicBezTo>
                  <a:cubicBezTo>
                    <a:pt x="456" y="6324"/>
                    <a:pt x="477" y="6303"/>
                    <a:pt x="503" y="6303"/>
                  </a:cubicBezTo>
                  <a:cubicBezTo>
                    <a:pt x="528" y="6303"/>
                    <a:pt x="550" y="6324"/>
                    <a:pt x="550" y="6350"/>
                  </a:cubicBezTo>
                  <a:close/>
                  <a:moveTo>
                    <a:pt x="550" y="6450"/>
                  </a:moveTo>
                  <a:cubicBezTo>
                    <a:pt x="550" y="6475"/>
                    <a:pt x="528" y="6497"/>
                    <a:pt x="503" y="6497"/>
                  </a:cubicBezTo>
                  <a:cubicBezTo>
                    <a:pt x="477" y="6497"/>
                    <a:pt x="456" y="6475"/>
                    <a:pt x="456" y="6450"/>
                  </a:cubicBezTo>
                  <a:cubicBezTo>
                    <a:pt x="456" y="6424"/>
                    <a:pt x="477" y="6403"/>
                    <a:pt x="503" y="6403"/>
                  </a:cubicBezTo>
                  <a:cubicBezTo>
                    <a:pt x="528" y="6403"/>
                    <a:pt x="550" y="6424"/>
                    <a:pt x="550" y="64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9A61"/>
                </a:gs>
                <a:gs pos="55000">
                  <a:srgbClr val="CA6F1E"/>
                </a:gs>
                <a:gs pos="100000">
                  <a:srgbClr val="A15818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6F3D10"/>
              </a:solidFill>
              <a:round/>
            </a:ln>
          </p:spPr>
        </p:sp>
      </p:grpSp>
      <p:grpSp>
        <p:nvGrpSpPr>
          <p:cNvPr id="14" name="!!VDAC"/>
          <p:cNvGrpSpPr/>
          <p:nvPr/>
        </p:nvGrpSpPr>
        <p:grpSpPr>
          <a:xfrm>
            <a:off x="2926080" y="3063240"/>
            <a:ext cx="731520" cy="1280160"/>
            <a:chOff x="2926080" y="3063240"/>
            <a:chExt cx="731520" cy="1280160"/>
          </a:xfrm>
        </p:grpSpPr>
        <p:sp>
          <p:nvSpPr>
            <p:cNvPr id="15" name="Forma 14"/>
            <p:cNvSpPr/>
            <p:nvPr/>
          </p:nvSpPr>
          <p:spPr>
            <a:xfrm>
              <a:off x="2926080" y="306324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581A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2926080" y="388620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DCDED"/>
                </a:gs>
                <a:gs pos="55000">
                  <a:srgbClr val="5DADE2"/>
                </a:gs>
                <a:gs pos="100000">
                  <a:srgbClr val="4581A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</p:sp>
      </p:grpSp>
      <p:grpSp>
        <p:nvGrpSpPr>
          <p:cNvPr id="17" name="!!MPC"/>
          <p:cNvGrpSpPr/>
          <p:nvPr/>
        </p:nvGrpSpPr>
        <p:grpSpPr>
          <a:xfrm>
            <a:off x="5029200" y="3063240"/>
            <a:ext cx="731520" cy="1280160"/>
            <a:chOff x="5029200" y="3063240"/>
            <a:chExt cx="731520" cy="1280160"/>
          </a:xfrm>
        </p:grpSpPr>
        <p:sp>
          <p:nvSpPr>
            <p:cNvPr id="18" name="Forma 17"/>
            <p:cNvSpPr/>
            <p:nvPr/>
          </p:nvSpPr>
          <p:spPr>
            <a:xfrm>
              <a:off x="5029200" y="306324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5029200" y="3886200"/>
              <a:ext cx="731520" cy="45720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</p:sp>
      </p:grpSp>
      <p:sp>
        <p:nvSpPr>
          <p:cNvPr id="20" name="!!Rótulo citoplasma"/>
          <p:cNvSpPr txBox="1"/>
          <p:nvPr/>
        </p:nvSpPr>
        <p:spPr>
          <a:xfrm>
            <a:off x="274320" y="10515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CITOPLASMA</a:t>
            </a:r>
            <a:endParaRPr lang="es-AR" sz="1400" dirty="0">
              <a:latin typeface="Calibri"/>
            </a:endParaRPr>
          </a:p>
        </p:txBody>
      </p:sp>
      <p:sp>
        <p:nvSpPr>
          <p:cNvPr id="21" name="!!Rótulo EIM"/>
          <p:cNvSpPr txBox="1"/>
          <p:nvPr/>
        </p:nvSpPr>
        <p:spPr>
          <a:xfrm>
            <a:off x="3566160" y="1051560"/>
            <a:ext cx="150876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ESPACIO</a:t>
            </a:r>
            <a:endParaRPr lang="es-AR" sz="14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INTERMEMBRANA</a:t>
            </a:r>
            <a:endParaRPr lang="es-AR" sz="1400" dirty="0">
              <a:latin typeface="Calibri"/>
            </a:endParaRPr>
          </a:p>
        </p:txBody>
      </p:sp>
      <p:sp>
        <p:nvSpPr>
          <p:cNvPr id="22" name="!!Rótulo matriz"/>
          <p:cNvSpPr txBox="1"/>
          <p:nvPr/>
        </p:nvSpPr>
        <p:spPr>
          <a:xfrm>
            <a:off x="5852160" y="105156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MATRIZ</a:t>
            </a:r>
            <a:endParaRPr lang="es-AR" sz="1400" dirty="0">
              <a:latin typeface="Calibri"/>
            </a:endParaRPr>
          </a:p>
        </p:txBody>
      </p:sp>
      <p:grpSp>
        <p:nvGrpSpPr>
          <p:cNvPr id="23" name="!!Iones"/>
          <p:cNvGrpSpPr/>
          <p:nvPr/>
        </p:nvGrpSpPr>
        <p:grpSpPr>
          <a:xfrm>
            <a:off x="2011680" y="2651760"/>
            <a:ext cx="2743200" cy="2468880"/>
            <a:chOff x="2011680" y="2651760"/>
            <a:chExt cx="2743200" cy="2468880"/>
          </a:xfrm>
        </p:grpSpPr>
        <p:sp>
          <p:nvSpPr>
            <p:cNvPr id="24" name="Forma 23"/>
            <p:cNvSpPr/>
            <p:nvPr/>
          </p:nvSpPr>
          <p:spPr>
            <a:xfrm>
              <a:off x="2286000" y="274320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2560320" y="420624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4114800" y="265176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4480560" y="448056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2011680" y="4846320"/>
              <a:ext cx="274320" cy="274320"/>
            </a:xfrm>
            <a:prstGeom prst="ellipse">
              <a:avLst/>
            </a:prstGeom>
            <a:gradFill rotWithShape="1">
              <a:gsLst>
                <a:gs pos="0">
                  <a:srgbClr val="CFAFDC"/>
                </a:gs>
                <a:gs pos="55000">
                  <a:srgbClr val="AF7AC5"/>
                </a:gs>
                <a:gs pos="100000">
                  <a:srgbClr val="8C619D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C3483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±</a:t>
              </a:r>
              <a:endParaRPr lang="es-AR" sz="1000" dirty="0">
                <a:latin typeface="Calibri"/>
              </a:endParaRPr>
            </a:p>
          </p:txBody>
        </p:sp>
      </p:grpSp>
      <p:grpSp>
        <p:nvGrpSpPr>
          <p:cNvPr id="29" name="!!Orientación"/>
          <p:cNvGrpSpPr/>
          <p:nvPr/>
        </p:nvGrpSpPr>
        <p:grpSpPr>
          <a:xfrm>
            <a:off x="274320" y="4709160"/>
            <a:ext cx="2377440" cy="1600200"/>
            <a:chOff x="274320" y="4709160"/>
            <a:chExt cx="2377440" cy="1600200"/>
          </a:xfrm>
        </p:grpSpPr>
        <p:grpSp>
          <p:nvGrpSpPr>
            <p:cNvPr id="30" name="Mitocondria orientación"/>
            <p:cNvGrpSpPr/>
            <p:nvPr/>
          </p:nvGrpSpPr>
          <p:grpSpPr>
            <a:xfrm>
              <a:off x="274320" y="5120640"/>
              <a:ext cx="2103120" cy="1188720"/>
              <a:chOff x="274320" y="5120640"/>
              <a:chExt cx="2103120" cy="1188720"/>
            </a:xfrm>
          </p:grpSpPr>
          <p:sp>
            <p:nvSpPr>
              <p:cNvPr id="31" name="Membrana externa"/>
              <p:cNvSpPr/>
              <p:nvPr/>
            </p:nvSpPr>
            <p:spPr>
              <a:xfrm>
                <a:off x="274320" y="5120640"/>
                <a:ext cx="2103120" cy="118872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AD7A0"/>
                  </a:gs>
                  <a:gs pos="100000">
                    <a:srgbClr val="EB984E"/>
                  </a:gs>
                </a:gsLst>
                <a:path path="circle">
                  <a:fillToRect l="50000" t="50000" r="50000" b="50000"/>
                </a:path>
              </a:gradFill>
              <a:ln w="38100" cap="rnd">
                <a:solidFill>
                  <a:srgbClr val="784212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2" name="Membrana interna (matriz)"/>
              <p:cNvSpPr/>
              <p:nvPr/>
            </p:nvSpPr>
            <p:spPr>
              <a:xfrm>
                <a:off x="357530" y="5203850"/>
                <a:ext cx="1936699" cy="102229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EF5E7"/>
                  </a:gs>
                  <a:gs pos="100000">
                    <a:srgbClr val="FAD7A0"/>
                  </a:gs>
                </a:gsLst>
                <a:path path="circle">
                  <a:fillToRect l="50000" t="50000" r="50000" b="50000"/>
                </a:path>
              </a:gradFill>
              <a:ln w="44450" cap="rnd">
                <a:solidFill>
                  <a:srgbClr val="A04000"/>
                </a:solidFill>
                <a:round/>
              </a:ln>
            </p:spPr>
          </p:sp>
          <p:sp>
            <p:nvSpPr>
              <p:cNvPr id="33" name="Crestas"/>
              <p:cNvSpPr/>
              <p:nvPr/>
            </p:nvSpPr>
            <p:spPr>
              <a:xfrm>
                <a:off x="357530" y="5203850"/>
                <a:ext cx="1936699" cy="102229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70"/>
                    </a:moveTo>
                    <a:lnTo>
                      <a:pt x="90" y="330"/>
                    </a:lnTo>
                    <a:cubicBezTo>
                      <a:pt x="90" y="380"/>
                      <a:pt x="150" y="380"/>
                      <a:pt x="150" y="330"/>
                    </a:cubicBezTo>
                    <a:lnTo>
                      <a:pt x="150" y="70"/>
                    </a:lnTo>
                  </a:path>
                  <a:path w="1000" h="1000" fill="none">
                    <a:moveTo>
                      <a:pt x="216" y="930"/>
                    </a:moveTo>
                    <a:lnTo>
                      <a:pt x="216" y="670"/>
                    </a:lnTo>
                    <a:cubicBezTo>
                      <a:pt x="216" y="620"/>
                      <a:pt x="276" y="620"/>
                      <a:pt x="276" y="670"/>
                    </a:cubicBezTo>
                    <a:lnTo>
                      <a:pt x="276" y="930"/>
                    </a:lnTo>
                  </a:path>
                  <a:path w="1000" h="1000" fill="none">
                    <a:moveTo>
                      <a:pt x="343" y="70"/>
                    </a:moveTo>
                    <a:lnTo>
                      <a:pt x="343" y="330"/>
                    </a:lnTo>
                    <a:cubicBezTo>
                      <a:pt x="343" y="380"/>
                      <a:pt x="403" y="380"/>
                      <a:pt x="403" y="330"/>
                    </a:cubicBezTo>
                    <a:lnTo>
                      <a:pt x="403" y="70"/>
                    </a:lnTo>
                  </a:path>
                  <a:path w="1000" h="1000" fill="none">
                    <a:moveTo>
                      <a:pt x="470" y="930"/>
                    </a:moveTo>
                    <a:lnTo>
                      <a:pt x="470" y="670"/>
                    </a:lnTo>
                    <a:cubicBezTo>
                      <a:pt x="470" y="620"/>
                      <a:pt x="530" y="620"/>
                      <a:pt x="530" y="670"/>
                    </a:cubicBezTo>
                    <a:lnTo>
                      <a:pt x="530" y="930"/>
                    </a:lnTo>
                  </a:path>
                  <a:path w="1000" h="1000" fill="none">
                    <a:moveTo>
                      <a:pt x="596" y="70"/>
                    </a:moveTo>
                    <a:lnTo>
                      <a:pt x="596" y="330"/>
                    </a:lnTo>
                    <a:cubicBezTo>
                      <a:pt x="596" y="380"/>
                      <a:pt x="656" y="380"/>
                      <a:pt x="656" y="330"/>
                    </a:cubicBezTo>
                    <a:lnTo>
                      <a:pt x="656" y="70"/>
                    </a:lnTo>
                  </a:path>
                  <a:path w="1000" h="1000" fill="none">
                    <a:moveTo>
                      <a:pt x="723" y="930"/>
                    </a:moveTo>
                    <a:lnTo>
                      <a:pt x="723" y="670"/>
                    </a:lnTo>
                    <a:cubicBezTo>
                      <a:pt x="723" y="620"/>
                      <a:pt x="783" y="620"/>
                      <a:pt x="783" y="670"/>
                    </a:cubicBezTo>
                    <a:lnTo>
                      <a:pt x="783" y="930"/>
                    </a:lnTo>
                  </a:path>
                  <a:path w="1000" h="1000" fill="none">
                    <a:moveTo>
                      <a:pt x="850" y="70"/>
                    </a:moveTo>
                    <a:lnTo>
                      <a:pt x="850" y="330"/>
                    </a:lnTo>
                    <a:cubicBezTo>
                      <a:pt x="850" y="380"/>
                      <a:pt x="910" y="380"/>
                      <a:pt x="910" y="330"/>
                    </a:cubicBezTo>
                    <a:lnTo>
                      <a:pt x="910" y="70"/>
                    </a:lnTo>
                  </a:path>
                </a:pathLst>
              </a:custGeom>
              <a:noFill/>
              <a:ln w="38100" cap="rnd">
                <a:solidFill>
                  <a:srgbClr val="A04000"/>
                </a:solidFill>
                <a:round/>
              </a:ln>
            </p:spPr>
          </p:sp>
        </p:grpSp>
        <p:sp>
          <p:nvSpPr>
            <p:cNvPr id="34" name="Forma 33"/>
            <p:cNvSpPr/>
            <p:nvPr/>
          </p:nvSpPr>
          <p:spPr>
            <a:xfrm>
              <a:off x="1691640" y="5257800"/>
              <a:ext cx="502920" cy="502920"/>
            </a:xfrm>
            <a:prstGeom prst="ellipse">
              <a:avLst/>
            </a:prstGeom>
            <a:noFill/>
            <a:ln w="31750" cap="rnd">
              <a:solidFill>
                <a:srgbClr val="C00000"/>
              </a:solidFill>
              <a:round/>
            </a:ln>
          </p:spPr>
        </p:sp>
        <p:sp>
          <p:nvSpPr>
            <p:cNvPr id="35" name="Forma 34"/>
            <p:cNvSpPr txBox="1"/>
            <p:nvPr/>
          </p:nvSpPr>
          <p:spPr>
            <a:xfrm>
              <a:off x="274320" y="470916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zona ampliada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36" name="!!PDH"/>
          <p:cNvGrpSpPr/>
          <p:nvPr/>
        </p:nvGrpSpPr>
        <p:grpSpPr>
          <a:xfrm>
            <a:off x="5852160" y="4846320"/>
            <a:ext cx="2377440" cy="1600200"/>
            <a:chOff x="5852160" y="4846320"/>
            <a:chExt cx="2377440" cy="1600200"/>
          </a:xfrm>
        </p:grpSpPr>
        <p:sp>
          <p:nvSpPr>
            <p:cNvPr id="37" name="E1 mini"/>
            <p:cNvSpPr/>
            <p:nvPr/>
          </p:nvSpPr>
          <p:spPr>
            <a:xfrm>
              <a:off x="6035040" y="4846320"/>
              <a:ext cx="82296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8" name="E2 mini"/>
            <p:cNvSpPr/>
            <p:nvPr/>
          </p:nvSpPr>
          <p:spPr>
            <a:xfrm>
              <a:off x="6675120" y="5257800"/>
              <a:ext cx="914400" cy="8229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910" y="568"/>
                    <a:pt x="915" y="658"/>
                    <a:pt x="885" y="722"/>
                  </a:cubicBezTo>
                  <a:cubicBezTo>
                    <a:pt x="854" y="785"/>
                    <a:pt x="783" y="852"/>
                    <a:pt x="719" y="880"/>
                  </a:cubicBezTo>
                  <a:cubicBezTo>
                    <a:pt x="654" y="907"/>
                    <a:pt x="571" y="889"/>
                    <a:pt x="500" y="886"/>
                  </a:cubicBezTo>
                  <a:cubicBezTo>
                    <a:pt x="428" y="882"/>
                    <a:pt x="355" y="888"/>
                    <a:pt x="291" y="861"/>
                  </a:cubicBezTo>
                  <a:cubicBezTo>
                    <a:pt x="226" y="833"/>
                    <a:pt x="148" y="783"/>
                    <a:pt x="112" y="723"/>
                  </a:cubicBezTo>
                  <a:cubicBezTo>
                    <a:pt x="75" y="662"/>
                    <a:pt x="70" y="574"/>
                    <a:pt x="70" y="500"/>
                  </a:cubicBezTo>
                  <a:cubicBezTo>
                    <a:pt x="69" y="425"/>
                    <a:pt x="75" y="339"/>
                    <a:pt x="110" y="275"/>
                  </a:cubicBezTo>
                  <a:cubicBezTo>
                    <a:pt x="144" y="210"/>
                    <a:pt x="212" y="140"/>
                    <a:pt x="277" y="115"/>
                  </a:cubicBezTo>
                  <a:cubicBezTo>
                    <a:pt x="341" y="89"/>
                    <a:pt x="424" y="122"/>
                    <a:pt x="499" y="122"/>
                  </a:cubicBezTo>
                  <a:cubicBezTo>
                    <a:pt x="573" y="121"/>
                    <a:pt x="669" y="80"/>
                    <a:pt x="723" y="112"/>
                  </a:cubicBezTo>
                  <a:cubicBezTo>
                    <a:pt x="776" y="144"/>
                    <a:pt x="791" y="249"/>
                    <a:pt x="821" y="314"/>
                  </a:cubicBezTo>
                  <a:cubicBezTo>
                    <a:pt x="850" y="378"/>
                    <a:pt x="889" y="432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EDD0"/>
                </a:gs>
                <a:gs pos="55000">
                  <a:srgbClr val="82E0AA"/>
                </a:gs>
                <a:gs pos="100000">
                  <a:srgbClr val="61A87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17055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9" name="E3 mini"/>
            <p:cNvSpPr/>
            <p:nvPr/>
          </p:nvSpPr>
          <p:spPr>
            <a:xfrm>
              <a:off x="7360920" y="4846320"/>
              <a:ext cx="777240" cy="6858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49" y="500"/>
                  </a:moveTo>
                  <a:cubicBezTo>
                    <a:pt x="938" y="573"/>
                    <a:pt x="884" y="634"/>
                    <a:pt x="848" y="701"/>
                  </a:cubicBezTo>
                  <a:cubicBezTo>
                    <a:pt x="811" y="767"/>
                    <a:pt x="790" y="865"/>
                    <a:pt x="732" y="901"/>
                  </a:cubicBezTo>
                  <a:cubicBezTo>
                    <a:pt x="674" y="936"/>
                    <a:pt x="578" y="914"/>
                    <a:pt x="500" y="915"/>
                  </a:cubicBezTo>
                  <a:cubicBezTo>
                    <a:pt x="422" y="916"/>
                    <a:pt x="330" y="938"/>
                    <a:pt x="264" y="907"/>
                  </a:cubicBezTo>
                  <a:cubicBezTo>
                    <a:pt x="197" y="876"/>
                    <a:pt x="143" y="796"/>
                    <a:pt x="103" y="729"/>
                  </a:cubicBezTo>
                  <a:cubicBezTo>
                    <a:pt x="62" y="661"/>
                    <a:pt x="23" y="576"/>
                    <a:pt x="23" y="500"/>
                  </a:cubicBezTo>
                  <a:cubicBezTo>
                    <a:pt x="22" y="423"/>
                    <a:pt x="56" y="333"/>
                    <a:pt x="98" y="268"/>
                  </a:cubicBezTo>
                  <a:cubicBezTo>
                    <a:pt x="139" y="202"/>
                    <a:pt x="206" y="141"/>
                    <a:pt x="273" y="107"/>
                  </a:cubicBezTo>
                  <a:cubicBezTo>
                    <a:pt x="339" y="72"/>
                    <a:pt x="430" y="51"/>
                    <a:pt x="499" y="63"/>
                  </a:cubicBezTo>
                  <a:cubicBezTo>
                    <a:pt x="567" y="74"/>
                    <a:pt x="617" y="143"/>
                    <a:pt x="686" y="176"/>
                  </a:cubicBezTo>
                  <a:cubicBezTo>
                    <a:pt x="755" y="209"/>
                    <a:pt x="869" y="207"/>
                    <a:pt x="913" y="261"/>
                  </a:cubicBezTo>
                  <a:cubicBezTo>
                    <a:pt x="956" y="315"/>
                    <a:pt x="959" y="426"/>
                    <a:pt x="949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BDCF2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26074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0" name="Forma 39"/>
            <p:cNvSpPr txBox="1"/>
            <p:nvPr/>
          </p:nvSpPr>
          <p:spPr>
            <a:xfrm>
              <a:off x="5852160" y="6126480"/>
              <a:ext cx="23774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complejo PDH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41" name="!!Piruvato"/>
          <p:cNvSpPr/>
          <p:nvPr/>
        </p:nvSpPr>
        <p:spPr>
          <a:xfrm>
            <a:off x="6126480" y="3401568"/>
            <a:ext cx="1463040" cy="5029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</a:t>
            </a:r>
            <a:endParaRPr lang="es-AR" sz="1500" dirty="0">
              <a:latin typeface="Calibri"/>
            </a:endParaRPr>
          </a:p>
        </p:txBody>
      </p:sp>
      <p:grpSp>
        <p:nvGrpSpPr>
          <p:cNvPr id="42" name="Caja MPC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43" name="Forma 42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Cruza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membrana interna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por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MPC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(Mitochondrial Pyruvate Carrier),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específico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para el piruvato, hacia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matriz mitocondrial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8677656" y="1097280"/>
              <a:ext cx="672254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MPC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5" name="Siguiente PDH"/>
          <p:cNvSpPr/>
          <p:nvPr/>
        </p:nvSpPr>
        <p:spPr>
          <a:xfrm>
            <a:off x="8549640" y="4434840"/>
            <a:ext cx="3383280" cy="20116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la matriz lo espera el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complejo piruvato deshidrogenasa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MEMBRANA INTERNA: TRANSPORTADOR MPC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4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Tabla enzimas PDH fila 0"/>
          <p:cNvGrpSpPr/>
          <p:nvPr/>
        </p:nvGrpSpPr>
        <p:grpSpPr>
          <a:xfrm>
            <a:off x="365760" y="1097280"/>
            <a:ext cx="11567160" cy="868680"/>
            <a:chOff x="365760" y="1097280"/>
            <a:chExt cx="11567160" cy="86868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91440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Enzima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280160" y="1097280"/>
              <a:ext cx="329184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Nombre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4572000" y="1097280"/>
              <a:ext cx="292608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Cofactor esencial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7498080" y="1097280"/>
              <a:ext cx="443484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Reacción que cataliza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0" name="Tabla enzimas PDH fila 1"/>
          <p:cNvGrpSpPr/>
          <p:nvPr/>
        </p:nvGrpSpPr>
        <p:grpSpPr>
          <a:xfrm>
            <a:off x="365760" y="1965960"/>
            <a:ext cx="11567160" cy="868680"/>
            <a:chOff x="365760" y="1965960"/>
            <a:chExt cx="11567160" cy="868680"/>
          </a:xfrm>
        </p:grpSpPr>
        <p:sp>
          <p:nvSpPr>
            <p:cNvPr id="11" name="Forma 10"/>
            <p:cNvSpPr/>
            <p:nvPr/>
          </p:nvSpPr>
          <p:spPr>
            <a:xfrm>
              <a:off x="365760" y="1965960"/>
              <a:ext cx="91440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1280160" y="1965960"/>
              <a:ext cx="329184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 deshidrogenasa (componente descarboxilante)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4572000" y="1965960"/>
              <a:ext cx="292608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TPP (tiamina pirofosfato, vitamina B</a:t>
              </a:r>
              <a:r>
                <a:rPr lang="es-AR" sz="15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7498080" y="1965960"/>
              <a:ext cx="443484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Descarboxilación oxidativa: sale CO</a:t>
              </a:r>
              <a:r>
                <a:rPr lang="es-AR" sz="15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queda un fragmento de 2 C.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5" name="Tabla enzimas PDH fila 2"/>
          <p:cNvGrpSpPr/>
          <p:nvPr/>
        </p:nvGrpSpPr>
        <p:grpSpPr>
          <a:xfrm>
            <a:off x="365760" y="2834640"/>
            <a:ext cx="11567160" cy="868680"/>
            <a:chOff x="365760" y="2834640"/>
            <a:chExt cx="11567160" cy="868680"/>
          </a:xfrm>
        </p:grpSpPr>
        <p:sp>
          <p:nvSpPr>
            <p:cNvPr id="16" name="Forma 15"/>
            <p:cNvSpPr/>
            <p:nvPr/>
          </p:nvSpPr>
          <p:spPr>
            <a:xfrm>
              <a:off x="365760" y="2834640"/>
              <a:ext cx="91440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1280160" y="2834640"/>
              <a:ext cx="329184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Dihidrolipoil transacetilasa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4572000" y="2834640"/>
              <a:ext cx="292608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lipoico + CoA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7498080" y="2834640"/>
              <a:ext cx="443484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Transfiere el acetilo a la CoA → acetil-CoA.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0" name="Tabla enzimas PDH fila 3"/>
          <p:cNvGrpSpPr/>
          <p:nvPr/>
        </p:nvGrpSpPr>
        <p:grpSpPr>
          <a:xfrm>
            <a:off x="365760" y="3703320"/>
            <a:ext cx="11567160" cy="868680"/>
            <a:chOff x="365760" y="3703320"/>
            <a:chExt cx="11567160" cy="868680"/>
          </a:xfrm>
        </p:grpSpPr>
        <p:sp>
          <p:nvSpPr>
            <p:cNvPr id="21" name="Forma 20"/>
            <p:cNvSpPr/>
            <p:nvPr/>
          </p:nvSpPr>
          <p:spPr>
            <a:xfrm>
              <a:off x="365760" y="3703320"/>
              <a:ext cx="91440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1280160" y="3703320"/>
              <a:ext cx="329184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Dihidrolipoil deshidrogenasa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4572000" y="3703320"/>
              <a:ext cx="292608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 y NAD</a:t>
              </a:r>
              <a:r>
                <a:rPr lang="es-AR" sz="15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7498080" y="3703320"/>
              <a:ext cx="443484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Reoxida el lipoato de E2: FAD → FADH</a:t>
              </a:r>
              <a:r>
                <a:rPr lang="es-AR" sz="15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NAD</a:t>
              </a:r>
              <a:r>
                <a:rPr lang="es-AR" sz="15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NADH.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5" name="Mini complejo"/>
          <p:cNvGrpSpPr/>
          <p:nvPr/>
        </p:nvGrpSpPr>
        <p:grpSpPr>
          <a:xfrm>
            <a:off x="548640" y="4983480"/>
            <a:ext cx="3749040" cy="1554480"/>
            <a:chOff x="548640" y="4983480"/>
            <a:chExt cx="3749040" cy="1554480"/>
          </a:xfrm>
        </p:grpSpPr>
        <p:sp>
          <p:nvSpPr>
            <p:cNvPr id="26" name="E1 tabla"/>
            <p:cNvSpPr/>
            <p:nvPr/>
          </p:nvSpPr>
          <p:spPr>
            <a:xfrm>
              <a:off x="548640" y="4983480"/>
              <a:ext cx="1280160" cy="10972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7" name="E2 tabla"/>
            <p:cNvSpPr/>
            <p:nvPr/>
          </p:nvSpPr>
          <p:spPr>
            <a:xfrm>
              <a:off x="1691640" y="5257800"/>
              <a:ext cx="1463040" cy="12801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910" y="568"/>
                    <a:pt x="915" y="658"/>
                    <a:pt x="885" y="722"/>
                  </a:cubicBezTo>
                  <a:cubicBezTo>
                    <a:pt x="854" y="785"/>
                    <a:pt x="783" y="852"/>
                    <a:pt x="719" y="880"/>
                  </a:cubicBezTo>
                  <a:cubicBezTo>
                    <a:pt x="654" y="907"/>
                    <a:pt x="571" y="889"/>
                    <a:pt x="500" y="886"/>
                  </a:cubicBezTo>
                  <a:cubicBezTo>
                    <a:pt x="428" y="882"/>
                    <a:pt x="355" y="888"/>
                    <a:pt x="291" y="861"/>
                  </a:cubicBezTo>
                  <a:cubicBezTo>
                    <a:pt x="226" y="833"/>
                    <a:pt x="148" y="783"/>
                    <a:pt x="112" y="723"/>
                  </a:cubicBezTo>
                  <a:cubicBezTo>
                    <a:pt x="75" y="662"/>
                    <a:pt x="70" y="574"/>
                    <a:pt x="70" y="500"/>
                  </a:cubicBezTo>
                  <a:cubicBezTo>
                    <a:pt x="69" y="425"/>
                    <a:pt x="75" y="339"/>
                    <a:pt x="110" y="275"/>
                  </a:cubicBezTo>
                  <a:cubicBezTo>
                    <a:pt x="144" y="210"/>
                    <a:pt x="212" y="140"/>
                    <a:pt x="277" y="115"/>
                  </a:cubicBezTo>
                  <a:cubicBezTo>
                    <a:pt x="341" y="89"/>
                    <a:pt x="424" y="122"/>
                    <a:pt x="499" y="122"/>
                  </a:cubicBezTo>
                  <a:cubicBezTo>
                    <a:pt x="573" y="121"/>
                    <a:pt x="669" y="80"/>
                    <a:pt x="723" y="112"/>
                  </a:cubicBezTo>
                  <a:cubicBezTo>
                    <a:pt x="776" y="144"/>
                    <a:pt x="791" y="249"/>
                    <a:pt x="821" y="314"/>
                  </a:cubicBezTo>
                  <a:cubicBezTo>
                    <a:pt x="850" y="378"/>
                    <a:pt x="889" y="432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EDD0"/>
                </a:gs>
                <a:gs pos="55000">
                  <a:srgbClr val="82E0AA"/>
                </a:gs>
                <a:gs pos="100000">
                  <a:srgbClr val="61A87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17055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8" name="E3 tabla"/>
            <p:cNvSpPr/>
            <p:nvPr/>
          </p:nvSpPr>
          <p:spPr>
            <a:xfrm>
              <a:off x="3017520" y="4983480"/>
              <a:ext cx="1280160" cy="10972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49" y="500"/>
                  </a:moveTo>
                  <a:cubicBezTo>
                    <a:pt x="938" y="573"/>
                    <a:pt x="884" y="634"/>
                    <a:pt x="848" y="701"/>
                  </a:cubicBezTo>
                  <a:cubicBezTo>
                    <a:pt x="811" y="767"/>
                    <a:pt x="790" y="865"/>
                    <a:pt x="732" y="901"/>
                  </a:cubicBezTo>
                  <a:cubicBezTo>
                    <a:pt x="674" y="936"/>
                    <a:pt x="578" y="914"/>
                    <a:pt x="500" y="915"/>
                  </a:cubicBezTo>
                  <a:cubicBezTo>
                    <a:pt x="422" y="916"/>
                    <a:pt x="330" y="938"/>
                    <a:pt x="264" y="907"/>
                  </a:cubicBezTo>
                  <a:cubicBezTo>
                    <a:pt x="197" y="876"/>
                    <a:pt x="143" y="796"/>
                    <a:pt x="103" y="729"/>
                  </a:cubicBezTo>
                  <a:cubicBezTo>
                    <a:pt x="62" y="661"/>
                    <a:pt x="23" y="576"/>
                    <a:pt x="23" y="500"/>
                  </a:cubicBezTo>
                  <a:cubicBezTo>
                    <a:pt x="22" y="423"/>
                    <a:pt x="56" y="333"/>
                    <a:pt x="98" y="268"/>
                  </a:cubicBezTo>
                  <a:cubicBezTo>
                    <a:pt x="139" y="202"/>
                    <a:pt x="206" y="141"/>
                    <a:pt x="273" y="107"/>
                  </a:cubicBezTo>
                  <a:cubicBezTo>
                    <a:pt x="339" y="72"/>
                    <a:pt x="430" y="51"/>
                    <a:pt x="499" y="63"/>
                  </a:cubicBezTo>
                  <a:cubicBezTo>
                    <a:pt x="567" y="74"/>
                    <a:pt x="617" y="143"/>
                    <a:pt x="686" y="176"/>
                  </a:cubicBezTo>
                  <a:cubicBezTo>
                    <a:pt x="755" y="209"/>
                    <a:pt x="869" y="207"/>
                    <a:pt x="913" y="261"/>
                  </a:cubicBezTo>
                  <a:cubicBezTo>
                    <a:pt x="956" y="315"/>
                    <a:pt x="959" y="426"/>
                    <a:pt x="949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BBDCF2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426074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9" name="Regla deshidrogenasas"/>
          <p:cNvGrpSpPr/>
          <p:nvPr/>
        </p:nvGrpSpPr>
        <p:grpSpPr>
          <a:xfrm>
            <a:off x="4572000" y="4800600"/>
            <a:ext cx="3749040" cy="1554480"/>
            <a:chOff x="4572000" y="4800600"/>
            <a:chExt cx="3749040" cy="1554480"/>
          </a:xfrm>
        </p:grpSpPr>
        <p:sp>
          <p:nvSpPr>
            <p:cNvPr id="30" name="Forma 29"/>
            <p:cNvSpPr/>
            <p:nvPr/>
          </p:nvSpPr>
          <p:spPr>
            <a:xfrm>
              <a:off x="4572000" y="5001768"/>
              <a:ext cx="3749040" cy="13533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Enzimas «-deshidrogenasa»: se produce una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coenzima reducida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(NADH o FADH</a:t>
              </a:r>
              <a:r>
                <a:rPr lang="es-AR" sz="16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). En el complejo PDH, además, sale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lang="es-AR" sz="16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(3 C → 2 C).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4700016" y="4800600"/>
              <a:ext cx="297445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REGLA DE LAS DESHIDROGENASAS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2" name="Rigor deshidrogenasas"/>
          <p:cNvGrpSpPr/>
          <p:nvPr/>
        </p:nvGrpSpPr>
        <p:grpSpPr>
          <a:xfrm>
            <a:off x="8503920" y="4800600"/>
            <a:ext cx="3429000" cy="1554480"/>
            <a:chOff x="8503920" y="4800600"/>
            <a:chExt cx="3429000" cy="1554480"/>
          </a:xfrm>
        </p:grpSpPr>
        <p:sp>
          <p:nvSpPr>
            <p:cNvPr id="33" name="Forma 32"/>
            <p:cNvSpPr/>
            <p:nvPr/>
          </p:nvSpPr>
          <p:spPr>
            <a:xfrm>
              <a:off x="8503920" y="5001768"/>
              <a:ext cx="3429000" cy="13533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liberación de CO</a:t>
              </a:r>
              <a:r>
                <a:rPr lang="es-AR" sz="13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es universal</a:t>
              </a: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las deshidrogenasas: ocurre en las </a:t>
              </a: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descarboxilaciones oxidativas</a:t>
              </a: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(como la PDH), no en todas (p. ej., malato deshidrogenasa).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8631936" y="480060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LAS TRES ENZIMAS DEL COMPLEJO Y SUS COFACTORES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Mitocondria vistazo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0" name="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1" name="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2" name="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3" name="Brazo lipoílo"/>
          <p:cNvSpPr/>
          <p:nvPr/>
        </p:nvSpPr>
        <p:spPr>
          <a:xfrm>
            <a:off x="4069080" y="3063240"/>
            <a:ext cx="9144" cy="1417320"/>
          </a:xfrm>
          <a:custGeom>
            <a:avLst/>
            <a:gdLst/>
            <a:ahLst/>
            <a:cxnLst/>
            <a:rect l="0" t="0" r="r" b="b"/>
            <a:pathLst>
              <a:path w="10" h="1550" fill="none">
                <a:moveTo>
                  <a:pt x="0" y="1550"/>
                </a:moveTo>
                <a:lnTo>
                  <a:pt x="0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4" name="Lipoato"/>
          <p:cNvSpPr/>
          <p:nvPr/>
        </p:nvSpPr>
        <p:spPr>
          <a:xfrm>
            <a:off x="3794760" y="27889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5" name="FAD vistazo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6" name="Piruvato vistazo"/>
          <p:cNvSpPr/>
          <p:nvPr/>
        </p:nvSpPr>
        <p:spPr>
          <a:xfrm>
            <a:off x="320040" y="1600200"/>
            <a:ext cx="1828800" cy="4389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 (3 C)</a:t>
            </a:r>
            <a:endParaRPr lang="es-AR" sz="1400" dirty="0">
              <a:latin typeface="Calibri"/>
            </a:endParaRPr>
          </a:p>
        </p:txBody>
      </p:sp>
      <p:sp>
        <p:nvSpPr>
          <p:cNvPr id="17" name="CO2 vistazo"/>
          <p:cNvSpPr/>
          <p:nvPr/>
        </p:nvSpPr>
        <p:spPr>
          <a:xfrm>
            <a:off x="914400" y="205740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8" name="Fragmento 2C vistazo"/>
          <p:cNvSpPr/>
          <p:nvPr/>
        </p:nvSpPr>
        <p:spPr>
          <a:xfrm>
            <a:off x="1600200" y="2606040"/>
            <a:ext cx="73152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EBC9B"/>
              </a:gs>
              <a:gs pos="55000">
                <a:srgbClr val="E59866"/>
              </a:gs>
              <a:gs pos="100000">
                <a:srgbClr val="B77951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24C3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 C</a:t>
            </a:r>
            <a:endParaRPr lang="es-AR" sz="1400" dirty="0">
              <a:latin typeface="Calibri"/>
            </a:endParaRPr>
          </a:p>
        </p:txBody>
      </p:sp>
      <p:sp>
        <p:nvSpPr>
          <p:cNvPr id="19" name="CoA vistazo"/>
          <p:cNvSpPr/>
          <p:nvPr/>
        </p:nvSpPr>
        <p:spPr>
          <a:xfrm>
            <a:off x="822960" y="576072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E4B4"/>
              </a:gs>
              <a:gs pos="55000">
                <a:srgbClr val="58D68D"/>
              </a:gs>
              <a:gs pos="100000">
                <a:srgbClr val="46AB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C6B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CoA</a:t>
            </a:r>
            <a:endParaRPr lang="es-AR" sz="1400" dirty="0">
              <a:latin typeface="Calibri"/>
            </a:endParaRPr>
          </a:p>
        </p:txBody>
      </p:sp>
      <p:sp>
        <p:nvSpPr>
          <p:cNvPr id="20" name="Acetil-CoA vistazo"/>
          <p:cNvSpPr/>
          <p:nvPr/>
        </p:nvSpPr>
        <p:spPr>
          <a:xfrm>
            <a:off x="2788920" y="5715000"/>
            <a:ext cx="173736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500" dirty="0">
              <a:latin typeface="Calibri"/>
            </a:endParaRPr>
          </a:p>
        </p:txBody>
      </p:sp>
      <p:sp>
        <p:nvSpPr>
          <p:cNvPr id="21" name="NAD+ vistazo"/>
          <p:cNvSpPr/>
          <p:nvPr/>
        </p:nvSpPr>
        <p:spPr>
          <a:xfrm>
            <a:off x="6858000" y="4937760"/>
            <a:ext cx="100584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FD6F0"/>
              </a:gs>
              <a:gs pos="55000">
                <a:srgbClr val="85C1E9"/>
              </a:gs>
              <a:gs pos="100000">
                <a:srgbClr val="6A9AB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26074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NAD</a:t>
            </a:r>
            <a:r>
              <a:rPr lang="es-AR" sz="14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22" name="NADH vistazo"/>
          <p:cNvSpPr/>
          <p:nvPr/>
        </p:nvSpPr>
        <p:spPr>
          <a:xfrm>
            <a:off x="6858000" y="4937760"/>
            <a:ext cx="100584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98B4"/>
              </a:gs>
              <a:gs pos="55000">
                <a:srgbClr val="1F618D"/>
              </a:gs>
              <a:gs pos="100000">
                <a:srgbClr val="184D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0F30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NADH</a:t>
            </a:r>
            <a:endParaRPr lang="es-AR" sz="1400" dirty="0">
              <a:latin typeface="Calibri"/>
            </a:endParaRPr>
          </a:p>
        </p:txBody>
      </p:sp>
      <p:grpSp>
        <p:nvGrpSpPr>
          <p:cNvPr id="23" name="Caja E1 vistazo"/>
          <p:cNvGrpSpPr/>
          <p:nvPr/>
        </p:nvGrpSpPr>
        <p:grpSpPr>
          <a:xfrm>
            <a:off x="8549640" y="1097280"/>
            <a:ext cx="3383280" cy="1965960"/>
            <a:chOff x="8549640" y="1097280"/>
            <a:chExt cx="3383280" cy="1965960"/>
          </a:xfrm>
        </p:grpSpPr>
        <p:sp>
          <p:nvSpPr>
            <p:cNvPr id="24" name="Forma 23"/>
            <p:cNvSpPr/>
            <p:nvPr/>
          </p:nvSpPr>
          <p:spPr>
            <a:xfrm>
              <a:off x="8549640" y="1298448"/>
              <a:ext cx="3383280" cy="17647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(con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TPP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vitamina B</a:t>
              </a:r>
              <a:r>
                <a:rPr lang="es-AR" sz="18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quita el CO</a:t>
              </a:r>
              <a:r>
                <a:rPr lang="es-AR" sz="18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piruvato (3 C) queda como un fragmento de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 C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unido al TPP.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77656" y="1097280"/>
              <a:ext cx="258924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PRIMERA TRANSFORMACIÓN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6" name="Caja E2 vistazo"/>
          <p:cNvGrpSpPr/>
          <p:nvPr/>
        </p:nvGrpSpPr>
        <p:grpSpPr>
          <a:xfrm>
            <a:off x="8549640" y="3200400"/>
            <a:ext cx="3383280" cy="1600200"/>
            <a:chOff x="8549640" y="3200400"/>
            <a:chExt cx="3383280" cy="1600200"/>
          </a:xfrm>
        </p:grpSpPr>
        <p:sp>
          <p:nvSpPr>
            <p:cNvPr id="27" name="Forma 26"/>
            <p:cNvSpPr/>
            <p:nvPr/>
          </p:nvSpPr>
          <p:spPr>
            <a:xfrm>
              <a:off x="8549640" y="3401568"/>
              <a:ext cx="3383280" cy="139903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(ácido lipoico + CoA) transfiere el grupo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 la CoA →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acetil-CoA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8677656" y="3200400"/>
              <a:ext cx="159038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TRANSFERENCIA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9" name="Balance vistazo"/>
          <p:cNvGrpSpPr/>
          <p:nvPr/>
        </p:nvGrpSpPr>
        <p:grpSpPr>
          <a:xfrm>
            <a:off x="8549640" y="4937760"/>
            <a:ext cx="3383280" cy="1508760"/>
            <a:chOff x="8549640" y="4937760"/>
            <a:chExt cx="3383280" cy="1508760"/>
          </a:xfrm>
        </p:grpSpPr>
        <p:sp>
          <p:nvSpPr>
            <p:cNvPr id="30" name="Forma 29"/>
            <p:cNvSpPr/>
            <p:nvPr/>
          </p:nvSpPr>
          <p:spPr>
            <a:xfrm>
              <a:off x="8549640" y="5138928"/>
              <a:ext cx="3383280" cy="130759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 + NAD</a:t>
              </a:r>
              <a:r>
                <a:rPr lang="es-AR" sz="18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+ CoA →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acetil-CoA + NADH + CO</a:t>
              </a:r>
              <a:r>
                <a:rPr lang="es-AR" sz="18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8677656" y="4937760"/>
              <a:ext cx="103179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BALANCE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COMPLEJO PDH: EL MECANISMO EN DIEZ PASOS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3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38 0.1400 E" pathEditMode="relative" ptsTypes="">
                                      <p:cBhvr>
                                        <p:cTn id="52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7" y="7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3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"/>
                            </p:stCondLst>
                            <p:childTnLst>
                              <p:par>
                                <p:cTn id="5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"/>
                            </p:stCondLst>
                            <p:childTnLst>
                              <p:par>
                                <p:cTn id="6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50 -0.1200 E" pathEditMode="relative" ptsTypes="">
                                      <p:cBhvr>
                                        <p:cTn id="69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" y="-6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63 0.1267 E" pathEditMode="relative" ptsTypes="">
                                      <p:cBhvr>
                                        <p:cTn id="78" dur="9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12" y="6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"/>
                            </p:stCondLst>
                            <p:childTnLst>
                              <p:par>
                                <p:cTn id="80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3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25 -0.0067 E" pathEditMode="relative" ptsTypes="">
                                      <p:cBhvr>
                                        <p:cTn id="89" dur="9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25" y="-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400"/>
                            </p:stCondLst>
                            <p:childTnLst>
                              <p:par>
                                <p:cTn id="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9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9" dur="3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"/>
                            </p:stCondLst>
                            <p:childTnLst>
                              <p:par>
                                <p:cTn id="111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4AC0D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8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300"/>
                            </p:stCondLst>
                            <p:childTnLst>
                              <p:par>
                                <p:cTn id="12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800"/>
                            </p:stCondLst>
                            <p:childTnLst>
                              <p:par>
                                <p:cTn id="127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D03F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8" dur="3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0" dur="3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2" dur="3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7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4069080" y="3063240"/>
            <a:ext cx="9144" cy="1417320"/>
          </a:xfrm>
          <a:custGeom>
            <a:avLst/>
            <a:gdLst/>
            <a:ahLst/>
            <a:cxnLst/>
            <a:rect l="0" t="0" r="r" b="b"/>
            <a:pathLst>
              <a:path w="10" h="1550" fill="none">
                <a:moveTo>
                  <a:pt x="0" y="1550"/>
                </a:moveTo>
                <a:lnTo>
                  <a:pt x="0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3794760" y="27889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Sustrato"/>
          <p:cNvSpPr/>
          <p:nvPr/>
        </p:nvSpPr>
        <p:spPr>
          <a:xfrm>
            <a:off x="320040" y="1600200"/>
            <a:ext cx="1828800" cy="4389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 (3 C)</a:t>
            </a:r>
            <a:endParaRPr lang="es-AR" sz="1400" dirty="0">
              <a:latin typeface="Calibri"/>
            </a:endParaRPr>
          </a:p>
        </p:txBody>
      </p:sp>
      <p:grpSp>
        <p:nvGrpSpPr>
          <p:cNvPr id="18" name="Caja PDH1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9" name="Forma 18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es una enzima: son tres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(E1, E2, E3) organizadas en un complejo multienzimático en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matriz mitocondrial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8677656" y="1097280"/>
              <a:ext cx="115518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COMPLEJO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Cofactores PDH1"/>
          <p:cNvGrpSpPr/>
          <p:nvPr/>
        </p:nvGrpSpPr>
        <p:grpSpPr>
          <a:xfrm>
            <a:off x="8549640" y="4069080"/>
            <a:ext cx="3383280" cy="2377440"/>
            <a:chOff x="8549640" y="4069080"/>
            <a:chExt cx="3383280" cy="2377440"/>
          </a:xfrm>
        </p:grpSpPr>
        <p:sp>
          <p:nvSpPr>
            <p:cNvPr id="22" name="Forma 21"/>
            <p:cNvSpPr/>
            <p:nvPr/>
          </p:nvSpPr>
          <p:spPr>
            <a:xfrm>
              <a:off x="8549640" y="42702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TPP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· E2: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lipoico + CoA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· E3: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 + NAD</a:t>
              </a:r>
              <a:r>
                <a:rPr lang="es-AR" sz="20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4069080"/>
              <a:ext cx="131664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COFACTORES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COMPLEJO PDH: TRES ENZIMAS EN LA MATRIZ MITOCONDRIAL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4069080" y="3063240"/>
            <a:ext cx="9144" cy="1417320"/>
          </a:xfrm>
          <a:custGeom>
            <a:avLst/>
            <a:gdLst/>
            <a:ahLst/>
            <a:cxnLst/>
            <a:rect l="0" t="0" r="r" b="b"/>
            <a:pathLst>
              <a:path w="10" h="1550" fill="none">
                <a:moveTo>
                  <a:pt x="0" y="1550"/>
                </a:moveTo>
                <a:lnTo>
                  <a:pt x="0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3794760" y="27889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Sustrato"/>
          <p:cNvSpPr/>
          <p:nvPr/>
        </p:nvSpPr>
        <p:spPr>
          <a:xfrm>
            <a:off x="685800" y="2514600"/>
            <a:ext cx="1828800" cy="4389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 (3 C)</a:t>
            </a:r>
            <a:endParaRPr lang="es-AR" sz="1400" dirty="0">
              <a:latin typeface="Calibri"/>
            </a:endParaRPr>
          </a:p>
        </p:txBody>
      </p:sp>
      <p:grpSp>
        <p:nvGrpSpPr>
          <p:cNvPr id="18" name="Caja PDH2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19" name="Forma 18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DE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 el componente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descarboxilante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complejo. Su cofactor es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pirofosfato de tiamina (TPP)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derivado de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vitamina B</a:t>
              </a:r>
              <a:r>
                <a:rPr lang="es-AR" sz="19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sin él la reacción es imposible.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8677656" y="1097280"/>
              <a:ext cx="496586" cy="384048"/>
            </a:xfrm>
            <a:prstGeom prst="rect">
              <a:avLst/>
            </a:prstGeom>
            <a:solidFill>
              <a:srgbClr val="E59866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Rigor E1"/>
          <p:cNvGrpSpPr/>
          <p:nvPr/>
        </p:nvGrpSpPr>
        <p:grpSpPr>
          <a:xfrm>
            <a:off x="8549640" y="4434840"/>
            <a:ext cx="3383280" cy="2011680"/>
            <a:chOff x="8549640" y="4434840"/>
            <a:chExt cx="3383280" cy="2011680"/>
          </a:xfrm>
        </p:grpSpPr>
        <p:sp>
          <p:nvSpPr>
            <p:cNvPr id="22" name="Forma 21"/>
            <p:cNvSpPr/>
            <p:nvPr/>
          </p:nvSpPr>
          <p:spPr>
            <a:xfrm>
              <a:off x="8549640" y="4636008"/>
              <a:ext cx="3383280" cy="18105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Nombre de E1: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 deshidrogenasa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(componente E1). «Piruvato descarboxilasa» designa otra enzima.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44348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LLEGADA DEL PIRUVATO A E1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" dur="3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0" grpId="0" animBg="1"/>
    </p:bld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4069080" y="3063240"/>
            <a:ext cx="9144" cy="1417320"/>
          </a:xfrm>
          <a:custGeom>
            <a:avLst/>
            <a:gdLst/>
            <a:ahLst/>
            <a:cxnLst/>
            <a:rect l="0" t="0" r="r" b="b"/>
            <a:pathLst>
              <a:path w="10" h="1550" fill="none">
                <a:moveTo>
                  <a:pt x="0" y="1550"/>
                </a:moveTo>
                <a:lnTo>
                  <a:pt x="0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3794760" y="27889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Sustrato"/>
          <p:cNvSpPr/>
          <p:nvPr/>
        </p:nvSpPr>
        <p:spPr>
          <a:xfrm>
            <a:off x="411480" y="2514600"/>
            <a:ext cx="2377440" cy="4389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EBC9B"/>
              </a:gs>
              <a:gs pos="55000">
                <a:srgbClr val="E59866"/>
              </a:gs>
              <a:gs pos="100000">
                <a:srgbClr val="B77951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24C3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Hidroxietil-TPP (2 C)</a:t>
            </a:r>
            <a:endParaRPr lang="es-AR" sz="1400" dirty="0">
              <a:latin typeface="Calibri"/>
            </a:endParaRPr>
          </a:p>
        </p:txBody>
      </p:sp>
      <p:sp>
        <p:nvSpPr>
          <p:cNvPr id="18" name="!!CO2"/>
          <p:cNvSpPr/>
          <p:nvPr/>
        </p:nvSpPr>
        <p:spPr>
          <a:xfrm>
            <a:off x="685800" y="187452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grpSp>
        <p:nvGrpSpPr>
          <p:cNvPr id="19" name="Caja PDH3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20" name="Forma 19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DE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E1 quita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grupo carboxilo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sale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</a:t>
              </a:r>
              <a:r>
                <a:rPr lang="es-AR" sz="19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queda un fragmento de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 carbonos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unido al TPP. El carbono «perdido» (3 C → 2 C) es el CO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8677656" y="1097280"/>
              <a:ext cx="1887947" cy="384048"/>
            </a:xfrm>
            <a:prstGeom prst="rect">
              <a:avLst/>
            </a:prstGeom>
            <a:solidFill>
              <a:srgbClr val="E59866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DESCARBOXILACIÓN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DESCARBOXILACIÓN DEL PIRUVATO EN E1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3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2926080" y="3611880"/>
            <a:ext cx="1143000" cy="868680"/>
          </a:xfrm>
          <a:custGeom>
            <a:avLst/>
            <a:gdLst/>
            <a:ahLst/>
            <a:cxnLst/>
            <a:rect l="0" t="0" r="r" b="b"/>
            <a:pathLst>
              <a:path w="1250" h="950" fill="none">
                <a:moveTo>
                  <a:pt x="1250" y="950"/>
                </a:moveTo>
                <a:lnTo>
                  <a:pt x="0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2651760" y="333756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Sustrato"/>
          <p:cNvSpPr/>
          <p:nvPr/>
        </p:nvSpPr>
        <p:spPr>
          <a:xfrm>
            <a:off x="2194560" y="2834640"/>
            <a:ext cx="1554480" cy="4389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Acetilo (2 C)</a:t>
            </a:r>
            <a:endParaRPr lang="es-AR" sz="1400" dirty="0">
              <a:latin typeface="Calibri"/>
            </a:endParaRPr>
          </a:p>
        </p:txBody>
      </p:sp>
      <p:sp>
        <p:nvSpPr>
          <p:cNvPr id="18" name="!!CO2"/>
          <p:cNvSpPr/>
          <p:nvPr/>
        </p:nvSpPr>
        <p:spPr>
          <a:xfrm>
            <a:off x="6903720" y="233172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grpSp>
        <p:nvGrpSpPr>
          <p:cNvPr id="19" name="Caja PDH4"/>
          <p:cNvGrpSpPr/>
          <p:nvPr/>
        </p:nvGrpSpPr>
        <p:grpSpPr>
          <a:xfrm>
            <a:off x="8549640" y="1097280"/>
            <a:ext cx="3383280" cy="3291840"/>
            <a:chOff x="8549640" y="1097280"/>
            <a:chExt cx="3383280" cy="3291840"/>
          </a:xfrm>
        </p:grpSpPr>
        <p:sp>
          <p:nvSpPr>
            <p:cNvPr id="20" name="Forma 19"/>
            <p:cNvSpPr/>
            <p:nvPr/>
          </p:nvSpPr>
          <p:spPr>
            <a:xfrm>
              <a:off x="8549640" y="1298448"/>
              <a:ext cx="3383280" cy="309067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 (transacetilasa)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usa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lipoico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como un brazo que «barre» como un ventilador: recoge el fragmento de E1 y lo lleva como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grupo acetilo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8677656" y="1097280"/>
              <a:ext cx="1774183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E2: BRAZO LIPOÍLO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2" name="Rigor PDH4"/>
          <p:cNvGrpSpPr/>
          <p:nvPr/>
        </p:nvGrpSpPr>
        <p:grpSpPr>
          <a:xfrm>
            <a:off x="8549640" y="4617720"/>
            <a:ext cx="3383280" cy="1828800"/>
            <a:chOff x="8549640" y="4617720"/>
            <a:chExt cx="3383280" cy="1828800"/>
          </a:xfrm>
        </p:grpSpPr>
        <p:sp>
          <p:nvSpPr>
            <p:cNvPr id="23" name="Forma 22"/>
            <p:cNvSpPr/>
            <p:nvPr/>
          </p:nvSpPr>
          <p:spPr>
            <a:xfrm>
              <a:off x="8549640" y="4818888"/>
              <a:ext cx="3383280" cy="162763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 pasar al lipoato, el fragmento se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 acetilo; el lipoato queda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reducido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8677656" y="461772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TRANSFERENCIA DEL GRUPO DE 2 C AL BRAZO LIPOÍLO DE E2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3611880" y="4480560"/>
            <a:ext cx="457200" cy="1325880"/>
          </a:xfrm>
          <a:custGeom>
            <a:avLst/>
            <a:gdLst/>
            <a:ahLst/>
            <a:cxnLst/>
            <a:rect l="0" t="0" r="r" b="b"/>
            <a:pathLst>
              <a:path w="500" h="1449" fill="none">
                <a:moveTo>
                  <a:pt x="500" y="0"/>
                </a:moveTo>
                <a:lnTo>
                  <a:pt x="0" y="1449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3337560" y="55321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HS SH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Sustrato"/>
          <p:cNvSpPr/>
          <p:nvPr/>
        </p:nvSpPr>
        <p:spPr>
          <a:xfrm>
            <a:off x="2834640" y="5623560"/>
            <a:ext cx="1554480" cy="4389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Acetilo (2 C)</a:t>
            </a:r>
            <a:endParaRPr lang="es-AR" sz="1400" dirty="0">
              <a:latin typeface="Calibri"/>
            </a:endParaRPr>
          </a:p>
        </p:txBody>
      </p:sp>
      <p:sp>
        <p:nvSpPr>
          <p:cNvPr id="18" name="!!CO2"/>
          <p:cNvSpPr/>
          <p:nvPr/>
        </p:nvSpPr>
        <p:spPr>
          <a:xfrm>
            <a:off x="6903720" y="233172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9" name="CoA libre"/>
          <p:cNvSpPr/>
          <p:nvPr/>
        </p:nvSpPr>
        <p:spPr>
          <a:xfrm>
            <a:off x="731520" y="5623560"/>
            <a:ext cx="868680" cy="43891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2E4B4"/>
              </a:gs>
              <a:gs pos="55000">
                <a:srgbClr val="58D68D"/>
              </a:gs>
              <a:gs pos="100000">
                <a:srgbClr val="46AB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C6B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CoA</a:t>
            </a:r>
            <a:endParaRPr lang="es-AR" sz="1400" dirty="0">
              <a:latin typeface="Calibri"/>
            </a:endParaRPr>
          </a:p>
        </p:txBody>
      </p:sp>
      <p:sp>
        <p:nvSpPr>
          <p:cNvPr id="20" name="!!AcetilCoA"/>
          <p:cNvSpPr/>
          <p:nvPr/>
        </p:nvSpPr>
        <p:spPr>
          <a:xfrm>
            <a:off x="2697480" y="5623560"/>
            <a:ext cx="178308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500" dirty="0">
              <a:latin typeface="Calibri"/>
            </a:endParaRPr>
          </a:p>
        </p:txBody>
      </p:sp>
      <p:grpSp>
        <p:nvGrpSpPr>
          <p:cNvPr id="21" name="Caja PDH5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22" name="Forma 21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coenzima 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«atrapa» el acetilo: E2 forma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acetil-CoA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El brazo lipoílo queda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reducido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(–SH HS–).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1097280"/>
              <a:ext cx="1190589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ACETIL-CoA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181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6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FORMACIÓN DEL ACETIL-CoA EN E2</a:t>
            </a:r>
            <a:endParaRPr lang="es-AR" sz="26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3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 animBg="1"/>
      <p:bldP spid="20" grpId="0" animBg="1"/>
      <p:bldP spid="15" grpId="0" animBg="1"/>
    </p:bld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3611880" y="4480560"/>
            <a:ext cx="457200" cy="1325880"/>
          </a:xfrm>
          <a:custGeom>
            <a:avLst/>
            <a:gdLst/>
            <a:ahLst/>
            <a:cxnLst/>
            <a:rect l="0" t="0" r="r" b="b"/>
            <a:pathLst>
              <a:path w="500" h="1449" fill="none">
                <a:moveTo>
                  <a:pt x="500" y="0"/>
                </a:moveTo>
                <a:lnTo>
                  <a:pt x="0" y="1449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3337560" y="55321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HS SH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CO2"/>
          <p:cNvSpPr/>
          <p:nvPr/>
        </p:nvSpPr>
        <p:spPr>
          <a:xfrm>
            <a:off x="6903720" y="233172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8" name="!!AcetilCoA"/>
          <p:cNvSpPr/>
          <p:nvPr/>
        </p:nvSpPr>
        <p:spPr>
          <a:xfrm>
            <a:off x="6035040" y="1508760"/>
            <a:ext cx="173736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500" dirty="0">
              <a:latin typeface="Calibri"/>
            </a:endParaRPr>
          </a:p>
        </p:txBody>
      </p:sp>
      <p:grpSp>
        <p:nvGrpSpPr>
          <p:cNvPr id="19" name="Caja PDH6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20" name="Forma 19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acetil-CoA abandona el complejo. Para un nuevo ciclo,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E2 debe volver a oxidarse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ese es el trabajo de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8677656" y="1097280"/>
              <a:ext cx="1190756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LIBERACIÓN DEL ACETIL-CoA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4069080" y="3703320"/>
            <a:ext cx="1280160" cy="777240"/>
          </a:xfrm>
          <a:custGeom>
            <a:avLst/>
            <a:gdLst/>
            <a:ahLst/>
            <a:cxnLst/>
            <a:rect l="0" t="0" r="r" b="b"/>
            <a:pathLst>
              <a:path w="1399" h="850" fill="none">
                <a:moveTo>
                  <a:pt x="0" y="850"/>
                </a:moveTo>
                <a:lnTo>
                  <a:pt x="1399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5074920" y="342900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3C961"/>
              </a:gs>
              <a:gs pos="55000">
                <a:srgbClr val="D4AC0D"/>
              </a:gs>
              <a:gs pos="100000">
                <a:srgbClr val="A9890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A560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FADH</a:t>
            </a:r>
            <a:r>
              <a:rPr lang="es-AR" sz="1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200" dirty="0">
              <a:latin typeface="Calibri"/>
            </a:endParaRPr>
          </a:p>
        </p:txBody>
      </p:sp>
      <p:sp>
        <p:nvSpPr>
          <p:cNvPr id="17" name="!!CO2"/>
          <p:cNvSpPr/>
          <p:nvPr/>
        </p:nvSpPr>
        <p:spPr>
          <a:xfrm>
            <a:off x="6903720" y="233172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8" name="!!AcetilCoA"/>
          <p:cNvSpPr/>
          <p:nvPr/>
        </p:nvSpPr>
        <p:spPr>
          <a:xfrm>
            <a:off x="6035040" y="1508760"/>
            <a:ext cx="173736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500" dirty="0">
              <a:latin typeface="Calibri"/>
            </a:endParaRPr>
          </a:p>
        </p:txBody>
      </p:sp>
      <p:grpSp>
        <p:nvGrpSpPr>
          <p:cNvPr id="19" name="Caja PDH7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0" name="Forma 19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E3 (dihidrolipoil deshidrogenasa)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reoxida el lipoato: los electrones pasan al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que se reduce 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FADH</a:t>
              </a:r>
              <a:r>
                <a:rPr lang="es-AR" sz="19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8677656" y="1097280"/>
              <a:ext cx="496586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E3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2" name="!!NAD"/>
          <p:cNvSpPr/>
          <p:nvPr/>
        </p:nvSpPr>
        <p:spPr>
          <a:xfrm>
            <a:off x="6720840" y="4892040"/>
            <a:ext cx="10972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FD6F0"/>
              </a:gs>
              <a:gs pos="55000">
                <a:srgbClr val="85C1E9"/>
              </a:gs>
              <a:gs pos="100000">
                <a:srgbClr val="6A9AB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26074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NAD</a:t>
            </a:r>
            <a:r>
              <a:rPr lang="es-AR" sz="14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lang="es-AR" sz="14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E3 REOXIDA EL BRAZO LIPOÍLO: FAD → FADH</a:t>
            </a:r>
            <a:r>
              <a:rPr lang="es-AR" sz="20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2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2" grpId="0" animBg="1"/>
    </p:bld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4069080" y="3703320"/>
            <a:ext cx="1280160" cy="777240"/>
          </a:xfrm>
          <a:custGeom>
            <a:avLst/>
            <a:gdLst/>
            <a:ahLst/>
            <a:cxnLst/>
            <a:rect l="0" t="0" r="r" b="b"/>
            <a:pathLst>
              <a:path w="1399" h="850" fill="none">
                <a:moveTo>
                  <a:pt x="0" y="850"/>
                </a:moveTo>
                <a:lnTo>
                  <a:pt x="1399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5074920" y="342900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CO2"/>
          <p:cNvSpPr/>
          <p:nvPr/>
        </p:nvSpPr>
        <p:spPr>
          <a:xfrm>
            <a:off x="6903720" y="233172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8" name="!!AcetilCoA"/>
          <p:cNvSpPr/>
          <p:nvPr/>
        </p:nvSpPr>
        <p:spPr>
          <a:xfrm>
            <a:off x="6035040" y="1508760"/>
            <a:ext cx="173736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500" dirty="0">
              <a:latin typeface="Calibri"/>
            </a:endParaRPr>
          </a:p>
        </p:txBody>
      </p:sp>
      <p:sp>
        <p:nvSpPr>
          <p:cNvPr id="19" name="!!NAD"/>
          <p:cNvSpPr/>
          <p:nvPr/>
        </p:nvSpPr>
        <p:spPr>
          <a:xfrm>
            <a:off x="6720840" y="4892040"/>
            <a:ext cx="10972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98B4"/>
              </a:gs>
              <a:gs pos="55000">
                <a:srgbClr val="1F618D"/>
              </a:gs>
              <a:gs pos="100000">
                <a:srgbClr val="184D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0F30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NADH</a:t>
            </a:r>
            <a:endParaRPr lang="es-AR" sz="1400" dirty="0">
              <a:latin typeface="Calibri"/>
            </a:endParaRPr>
          </a:p>
        </p:txBody>
      </p:sp>
      <p:grpSp>
        <p:nvGrpSpPr>
          <p:cNvPr id="20" name="Caja PDH8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21" name="Forma 20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FADH</a:t>
              </a:r>
              <a:r>
                <a:rPr lang="es-AR" sz="19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cede sus electrones al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195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NADH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E3 vuelve a tener FAD y E2 queda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oxidada y lista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para un nuevo ciclo.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8677656" y="1097280"/>
              <a:ext cx="782455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NADH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3" name="Rigor FAD"/>
          <p:cNvGrpSpPr/>
          <p:nvPr/>
        </p:nvGrpSpPr>
        <p:grpSpPr>
          <a:xfrm>
            <a:off x="8549640" y="4343400"/>
            <a:ext cx="3383280" cy="2103120"/>
            <a:chOff x="8549640" y="4343400"/>
            <a:chExt cx="3383280" cy="2103120"/>
          </a:xfrm>
        </p:grpSpPr>
        <p:sp>
          <p:nvSpPr>
            <p:cNvPr id="24" name="Forma 23"/>
            <p:cNvSpPr/>
            <p:nvPr/>
          </p:nvSpPr>
          <p:spPr>
            <a:xfrm>
              <a:off x="8549640" y="4544568"/>
              <a:ext cx="3383280" cy="190195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FAD permanece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unido a E3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actúa como intermediario interno; el aceptor final del complejo es el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175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77656" y="434340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FORMACIÓN DE NADH: REGENERACIÓN DE E3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4069080" y="3063240"/>
            <a:ext cx="9144" cy="1417320"/>
          </a:xfrm>
          <a:custGeom>
            <a:avLst/>
            <a:gdLst/>
            <a:ahLst/>
            <a:cxnLst/>
            <a:rect l="0" t="0" r="r" b="b"/>
            <a:pathLst>
              <a:path w="10" h="1550" fill="none">
                <a:moveTo>
                  <a:pt x="0" y="1550"/>
                </a:moveTo>
                <a:lnTo>
                  <a:pt x="0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3794760" y="27889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CO2"/>
          <p:cNvSpPr/>
          <p:nvPr/>
        </p:nvSpPr>
        <p:spPr>
          <a:xfrm>
            <a:off x="6355080" y="269748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8" name="!!AcetilCoA"/>
          <p:cNvSpPr/>
          <p:nvPr/>
        </p:nvSpPr>
        <p:spPr>
          <a:xfrm>
            <a:off x="6035040" y="1600200"/>
            <a:ext cx="173736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500" dirty="0">
              <a:latin typeface="Calibri"/>
            </a:endParaRPr>
          </a:p>
        </p:txBody>
      </p:sp>
      <p:sp>
        <p:nvSpPr>
          <p:cNvPr id="19" name="!!NAD"/>
          <p:cNvSpPr/>
          <p:nvPr/>
        </p:nvSpPr>
        <p:spPr>
          <a:xfrm>
            <a:off x="6355080" y="2148840"/>
            <a:ext cx="10972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98B4"/>
              </a:gs>
              <a:gs pos="55000">
                <a:srgbClr val="1F618D"/>
              </a:gs>
              <a:gs pos="100000">
                <a:srgbClr val="184D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0F30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NADH</a:t>
            </a:r>
            <a:endParaRPr lang="es-AR" sz="1400" dirty="0">
              <a:latin typeface="Calibri"/>
            </a:endParaRPr>
          </a:p>
        </p:txBody>
      </p:sp>
      <p:grpSp>
        <p:nvGrpSpPr>
          <p:cNvPr id="20" name="Caja PDH9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1" name="Forma 20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cada piruvato:</a:t>
              </a:r>
              <a:endParaRPr lang="es-AR" sz="2200" dirty="0">
                <a:latin typeface="Calibri"/>
              </a:endParaRPr>
            </a:p>
            <a:p>
              <a:pPr algn="l" marL="209550" indent="-2095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 acetil-CoA</a:t>
              </a:r>
              <a:endParaRPr lang="es-AR" sz="2200" dirty="0">
                <a:latin typeface="Calibri"/>
              </a:endParaRPr>
            </a:p>
            <a:p>
              <a:pPr algn="l" marL="209550" indent="-2095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 NADH</a:t>
              </a:r>
              <a:endParaRPr lang="es-AR" sz="2200" dirty="0">
                <a:latin typeface="Calibri"/>
              </a:endParaRPr>
            </a:p>
            <a:p>
              <a:pPr algn="l" marL="209550" indent="-2095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 CO</a:t>
              </a:r>
              <a:r>
                <a:rPr lang="es-AR" sz="22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8677656" y="1097280"/>
              <a:ext cx="1280976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PRODUCTOS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PRODUCTOS DEL COMPLEJO PDH</a:t>
            </a:r>
            <a:endParaRPr lang="es-AR" sz="2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" dur="3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3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7" grpId="0" animBg="1"/>
    </p:bld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Mitocondria"/>
          <p:cNvGrpSpPr/>
          <p:nvPr/>
        </p:nvGrpSpPr>
        <p:grpSpPr>
          <a:xfrm>
            <a:off x="-411480" y="914400"/>
            <a:ext cx="8732520" cy="5806440"/>
            <a:chOff x="-411480" y="914400"/>
            <a:chExt cx="8732520" cy="5806440"/>
          </a:xfrm>
        </p:grpSpPr>
        <p:sp>
          <p:nvSpPr>
            <p:cNvPr id="6" name="Membrana externa"/>
            <p:cNvSpPr/>
            <p:nvPr/>
          </p:nvSpPr>
          <p:spPr>
            <a:xfrm>
              <a:off x="-411480" y="914400"/>
              <a:ext cx="8732520" cy="5806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7A0"/>
                </a:gs>
                <a:gs pos="100000">
                  <a:srgbClr val="EB984E"/>
                </a:gs>
              </a:gsLst>
              <a:path path="circle">
                <a:fillToRect l="50000" t="50000" r="50000" b="50000"/>
              </a:path>
            </a:gradFill>
            <a:ln w="38100" cap="rnd">
              <a:solidFill>
                <a:srgbClr val="7842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embrana interna (matriz)"/>
            <p:cNvSpPr/>
            <p:nvPr/>
          </p:nvSpPr>
          <p:spPr>
            <a:xfrm>
              <a:off x="-5029" y="1320851"/>
              <a:ext cx="7919618" cy="49935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EF5E7"/>
                </a:gs>
                <a:gs pos="100000">
                  <a:srgbClr val="FAD7A0"/>
                </a:gs>
              </a:gsLst>
              <a:path path="circle">
                <a:fillToRect l="50000" t="50000" r="50000" b="50000"/>
              </a:path>
            </a:gradFill>
            <a:ln w="44450" cap="rnd">
              <a:solidFill>
                <a:srgbClr val="A04000"/>
              </a:solidFill>
              <a:round/>
            </a:ln>
          </p:spPr>
        </p:sp>
        <p:sp>
          <p:nvSpPr>
            <p:cNvPr id="8" name="Crestas"/>
            <p:cNvSpPr/>
            <p:nvPr/>
          </p:nvSpPr>
          <p:spPr>
            <a:xfrm>
              <a:off x="-5029" y="1320851"/>
              <a:ext cx="7919618" cy="499353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70"/>
                  </a:moveTo>
                  <a:lnTo>
                    <a:pt x="90" y="135"/>
                  </a:lnTo>
                  <a:cubicBezTo>
                    <a:pt x="90" y="185"/>
                    <a:pt x="150" y="185"/>
                    <a:pt x="150" y="135"/>
                  </a:cubicBezTo>
                  <a:lnTo>
                    <a:pt x="150" y="70"/>
                  </a:lnTo>
                </a:path>
                <a:path w="1000" h="1000" fill="none">
                  <a:moveTo>
                    <a:pt x="216" y="930"/>
                  </a:moveTo>
                  <a:lnTo>
                    <a:pt x="216" y="865"/>
                  </a:lnTo>
                  <a:cubicBezTo>
                    <a:pt x="216" y="815"/>
                    <a:pt x="276" y="815"/>
                    <a:pt x="276" y="865"/>
                  </a:cubicBezTo>
                  <a:lnTo>
                    <a:pt x="276" y="930"/>
                  </a:lnTo>
                </a:path>
                <a:path w="1000" h="1000" fill="none">
                  <a:moveTo>
                    <a:pt x="343" y="70"/>
                  </a:moveTo>
                  <a:lnTo>
                    <a:pt x="343" y="135"/>
                  </a:lnTo>
                  <a:cubicBezTo>
                    <a:pt x="343" y="185"/>
                    <a:pt x="403" y="185"/>
                    <a:pt x="403" y="135"/>
                  </a:cubicBezTo>
                  <a:lnTo>
                    <a:pt x="403" y="70"/>
                  </a:lnTo>
                </a:path>
                <a:path w="1000" h="1000" fill="none">
                  <a:moveTo>
                    <a:pt x="470" y="930"/>
                  </a:moveTo>
                  <a:lnTo>
                    <a:pt x="470" y="865"/>
                  </a:lnTo>
                  <a:cubicBezTo>
                    <a:pt x="470" y="815"/>
                    <a:pt x="530" y="815"/>
                    <a:pt x="530" y="865"/>
                  </a:cubicBezTo>
                  <a:lnTo>
                    <a:pt x="530" y="930"/>
                  </a:lnTo>
                </a:path>
                <a:path w="1000" h="1000" fill="none">
                  <a:moveTo>
                    <a:pt x="596" y="70"/>
                  </a:moveTo>
                  <a:lnTo>
                    <a:pt x="596" y="135"/>
                  </a:lnTo>
                  <a:cubicBezTo>
                    <a:pt x="596" y="185"/>
                    <a:pt x="656" y="185"/>
                    <a:pt x="656" y="135"/>
                  </a:cubicBezTo>
                  <a:lnTo>
                    <a:pt x="656" y="70"/>
                  </a:lnTo>
                </a:path>
                <a:path w="1000" h="1000" fill="none">
                  <a:moveTo>
                    <a:pt x="723" y="930"/>
                  </a:moveTo>
                  <a:lnTo>
                    <a:pt x="723" y="865"/>
                  </a:lnTo>
                  <a:cubicBezTo>
                    <a:pt x="723" y="815"/>
                    <a:pt x="783" y="815"/>
                    <a:pt x="783" y="865"/>
                  </a:cubicBezTo>
                  <a:lnTo>
                    <a:pt x="783" y="930"/>
                  </a:lnTo>
                </a:path>
                <a:path w="1000" h="1000" fill="none">
                  <a:moveTo>
                    <a:pt x="850" y="70"/>
                  </a:moveTo>
                  <a:lnTo>
                    <a:pt x="850" y="135"/>
                  </a:lnTo>
                  <a:cubicBezTo>
                    <a:pt x="850" y="185"/>
                    <a:pt x="910" y="185"/>
                    <a:pt x="910" y="135"/>
                  </a:cubicBezTo>
                  <a:lnTo>
                    <a:pt x="910" y="70"/>
                  </a:lnTo>
                </a:path>
              </a:pathLst>
            </a:custGeom>
            <a:noFill/>
            <a:ln w="38100" cap="rnd">
              <a:solidFill>
                <a:srgbClr val="A04000"/>
              </a:solidFill>
              <a:round/>
            </a:ln>
          </p:spPr>
        </p:sp>
      </p:grpSp>
      <p:sp>
        <p:nvSpPr>
          <p:cNvPr id="9" name="!!Rótulo matriz"/>
          <p:cNvSpPr txBox="1"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784212"/>
                </a:solidFill>
                <a:latin typeface="Calibri"/>
                <a:ea typeface="Calibri"/>
                <a:cs typeface="Calibri"/>
                <a:sym typeface="Calibri"/>
              </a:rPr>
              <a:t>MATRIZ MITOCONDRIAL</a:t>
            </a:r>
            <a:endParaRPr lang="es-AR" sz="1300" dirty="0">
              <a:latin typeface="Calibri"/>
            </a:endParaRPr>
          </a:p>
        </p:txBody>
      </p:sp>
      <p:sp>
        <p:nvSpPr>
          <p:cNvPr id="10" name="!!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11" name="!!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12" name="!!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13" name="!!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14" name="!!Brazo lipoílo"/>
          <p:cNvSpPr/>
          <p:nvPr/>
        </p:nvSpPr>
        <p:spPr>
          <a:xfrm>
            <a:off x="4069080" y="3063240"/>
            <a:ext cx="9144" cy="1417320"/>
          </a:xfrm>
          <a:custGeom>
            <a:avLst/>
            <a:gdLst/>
            <a:ahLst/>
            <a:cxnLst/>
            <a:rect l="0" t="0" r="r" b="b"/>
            <a:pathLst>
              <a:path w="10" h="1550" fill="none">
                <a:moveTo>
                  <a:pt x="0" y="1550"/>
                </a:moveTo>
                <a:lnTo>
                  <a:pt x="0" y="0"/>
                </a:ln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15" name="!!Lipoato"/>
          <p:cNvSpPr/>
          <p:nvPr/>
        </p:nvSpPr>
        <p:spPr>
          <a:xfrm>
            <a:off x="3794760" y="2788920"/>
            <a:ext cx="548640" cy="548640"/>
          </a:xfrm>
          <a:prstGeom prst="ellipse">
            <a:avLst/>
          </a:prstGeom>
          <a:gradFill rotWithShape="1">
            <a:gsLst>
              <a:gs pos="0">
                <a:srgbClr val="FAEBAF"/>
              </a:gs>
              <a:gs pos="55000">
                <a:srgbClr val="F7DC6F"/>
              </a:gs>
              <a:gs pos="100000">
                <a:srgbClr val="C5B058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S–S</a:t>
            </a:r>
            <a:endParaRPr lang="es-AR" sz="950" dirty="0">
              <a:latin typeface="Calibri"/>
            </a:endParaRPr>
          </a:p>
        </p:txBody>
      </p:sp>
      <p:sp>
        <p:nvSpPr>
          <p:cNvPr id="16" name="!!FAD"/>
          <p:cNvSpPr/>
          <p:nvPr/>
        </p:nvSpPr>
        <p:spPr>
          <a:xfrm>
            <a:off x="5623560" y="4160520"/>
            <a:ext cx="9601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FAD</a:t>
            </a:r>
            <a:endParaRPr lang="es-AR" sz="1200" dirty="0">
              <a:latin typeface="Calibri"/>
            </a:endParaRPr>
          </a:p>
        </p:txBody>
      </p:sp>
      <p:sp>
        <p:nvSpPr>
          <p:cNvPr id="17" name="!!CO2"/>
          <p:cNvSpPr/>
          <p:nvPr/>
        </p:nvSpPr>
        <p:spPr>
          <a:xfrm>
            <a:off x="6355080" y="2697480"/>
            <a:ext cx="8686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AC4C5"/>
              </a:gs>
              <a:gs pos="55000">
                <a:srgbClr val="95A5A6"/>
              </a:gs>
              <a:gs pos="100000">
                <a:srgbClr val="77848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4A5253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r>
              <a:rPr lang="es-AR" sz="14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400" dirty="0">
              <a:latin typeface="Calibri"/>
            </a:endParaRPr>
          </a:p>
        </p:txBody>
      </p:sp>
      <p:sp>
        <p:nvSpPr>
          <p:cNvPr id="18" name="!!AcetilCoA"/>
          <p:cNvSpPr/>
          <p:nvPr/>
        </p:nvSpPr>
        <p:spPr>
          <a:xfrm>
            <a:off x="6035040" y="1600200"/>
            <a:ext cx="173736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0BA60"/>
              </a:gs>
              <a:gs pos="55000">
                <a:srgbClr val="B7950B"/>
              </a:gs>
              <a:gs pos="100000">
                <a:srgbClr val="92770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B4A0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Acetil-CoA</a:t>
            </a:r>
            <a:endParaRPr lang="es-AR" sz="1500" dirty="0">
              <a:latin typeface="Calibri"/>
            </a:endParaRPr>
          </a:p>
        </p:txBody>
      </p:sp>
      <p:sp>
        <p:nvSpPr>
          <p:cNvPr id="19" name="!!NAD"/>
          <p:cNvSpPr/>
          <p:nvPr/>
        </p:nvSpPr>
        <p:spPr>
          <a:xfrm>
            <a:off x="6355080" y="2148840"/>
            <a:ext cx="10972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98B4"/>
              </a:gs>
              <a:gs pos="55000">
                <a:srgbClr val="1F618D"/>
              </a:gs>
              <a:gs pos="100000">
                <a:srgbClr val="184D7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0F3046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NADH</a:t>
            </a:r>
            <a:endParaRPr lang="es-AR" sz="1400" dirty="0">
              <a:latin typeface="Calibri"/>
            </a:endParaRPr>
          </a:p>
        </p:txBody>
      </p:sp>
      <p:sp>
        <p:nvSpPr>
          <p:cNvPr id="20" name="Ecuación global"/>
          <p:cNvSpPr/>
          <p:nvPr/>
        </p:nvSpPr>
        <p:spPr>
          <a:xfrm>
            <a:off x="457200" y="1188720"/>
            <a:ext cx="7680960" cy="9144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Piruvato + NAD</a:t>
            </a:r>
            <a:r>
              <a:rPr lang="es-AR" sz="22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+ CoA → Acetil-CoA + NADH + CO</a:t>
            </a:r>
            <a:r>
              <a:rPr lang="es-AR" sz="2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2200" dirty="0">
              <a:latin typeface="Calibri"/>
            </a:endParaRPr>
          </a:p>
        </p:txBody>
      </p:sp>
      <p:grpSp>
        <p:nvGrpSpPr>
          <p:cNvPr id="21" name="Caja PDH10"/>
          <p:cNvGrpSpPr/>
          <p:nvPr/>
        </p:nvGrpSpPr>
        <p:grpSpPr>
          <a:xfrm>
            <a:off x="8549640" y="1097280"/>
            <a:ext cx="3383280" cy="2560320"/>
            <a:chOff x="8549640" y="1097280"/>
            <a:chExt cx="3383280" cy="2560320"/>
          </a:xfrm>
        </p:grpSpPr>
        <p:sp>
          <p:nvSpPr>
            <p:cNvPr id="22" name="Forma 21"/>
            <p:cNvSpPr/>
            <p:nvPr/>
          </p:nvSpPr>
          <p:spPr>
            <a:xfrm>
              <a:off x="8549640" y="1298448"/>
              <a:ext cx="3383280" cy="235915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Reacción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irreversible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una vez formado el acetil-CoA, no puede volver a piruvato. Ocurre en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matriz mitocondrial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1097280"/>
              <a:ext cx="1379384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IRREVERSIBLE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4" name="Punto de control PDH"/>
          <p:cNvSpPr/>
          <p:nvPr/>
        </p:nvSpPr>
        <p:spPr>
          <a:xfrm>
            <a:off x="8549640" y="3886200"/>
            <a:ext cx="3383280" cy="2560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punto de control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más importante entre la glucólisis y el ciclo de Krebs.</a:t>
            </a:r>
            <a:endParaRPr lang="es-AR" sz="20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95528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BALANCE GLOBAL DEL COMPLEJO PDH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</p:bld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E1"/>
          <p:cNvSpPr/>
          <p:nvPr/>
        </p:nvSpPr>
        <p:spPr>
          <a:xfrm>
            <a:off x="1371600" y="3017520"/>
            <a:ext cx="1737360" cy="15544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1800" dirty="0">
              <a:latin typeface="Calibri"/>
            </a:endParaRPr>
          </a:p>
        </p:txBody>
      </p:sp>
      <p:sp>
        <p:nvSpPr>
          <p:cNvPr id="6" name="E2"/>
          <p:cNvSpPr/>
          <p:nvPr/>
        </p:nvSpPr>
        <p:spPr>
          <a:xfrm>
            <a:off x="3017520" y="3566160"/>
            <a:ext cx="210312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1800" dirty="0">
              <a:latin typeface="Calibri"/>
            </a:endParaRPr>
          </a:p>
        </p:txBody>
      </p:sp>
      <p:sp>
        <p:nvSpPr>
          <p:cNvPr id="7" name="E3"/>
          <p:cNvSpPr/>
          <p:nvPr/>
        </p:nvSpPr>
        <p:spPr>
          <a:xfrm>
            <a:off x="5120640" y="3017520"/>
            <a:ext cx="1645920" cy="1463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1800" dirty="0">
              <a:latin typeface="Calibri"/>
            </a:endParaRPr>
          </a:p>
        </p:txBody>
      </p:sp>
      <p:sp>
        <p:nvSpPr>
          <p:cNvPr id="8" name="TPP"/>
          <p:cNvSpPr/>
          <p:nvPr/>
        </p:nvSpPr>
        <p:spPr>
          <a:xfrm>
            <a:off x="1508760" y="4224528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TPP</a:t>
            </a:r>
            <a:endParaRPr lang="es-AR" sz="1200" dirty="0">
              <a:latin typeface="Calibri"/>
            </a:endParaRPr>
          </a:p>
        </p:txBody>
      </p:sp>
      <p:sp>
        <p:nvSpPr>
          <p:cNvPr id="9" name="Sin TPP"/>
          <p:cNvSpPr txBox="1"/>
          <p:nvPr/>
        </p:nvSpPr>
        <p:spPr>
          <a:xfrm>
            <a:off x="1417320" y="411480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s-AR" sz="3000" dirty="0">
              <a:latin typeface="Calibri"/>
            </a:endParaRPr>
          </a:p>
        </p:txBody>
      </p:sp>
      <p:grpSp>
        <p:nvGrpSpPr>
          <p:cNvPr id="10" name="Acumulación"/>
          <p:cNvGrpSpPr/>
          <p:nvPr/>
        </p:nvGrpSpPr>
        <p:grpSpPr>
          <a:xfrm>
            <a:off x="274320" y="1188720"/>
            <a:ext cx="5852160" cy="932688"/>
            <a:chOff x="274320" y="1188720"/>
            <a:chExt cx="5852160" cy="932688"/>
          </a:xfrm>
        </p:grpSpPr>
        <p:sp>
          <p:nvSpPr>
            <p:cNvPr id="11" name="Pir acum 0"/>
            <p:cNvSpPr/>
            <p:nvPr/>
          </p:nvSpPr>
          <p:spPr>
            <a:xfrm>
              <a:off x="274320" y="1188720"/>
              <a:ext cx="8686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050" dirty="0">
                <a:latin typeface="Calibri"/>
              </a:endParaRPr>
            </a:p>
          </p:txBody>
        </p:sp>
        <p:sp>
          <p:nvSpPr>
            <p:cNvPr id="12" name="Pir acum 1"/>
            <p:cNvSpPr/>
            <p:nvPr/>
          </p:nvSpPr>
          <p:spPr>
            <a:xfrm>
              <a:off x="1188720" y="1188720"/>
              <a:ext cx="8686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050" dirty="0">
                <a:latin typeface="Calibri"/>
              </a:endParaRPr>
            </a:p>
          </p:txBody>
        </p:sp>
        <p:sp>
          <p:nvSpPr>
            <p:cNvPr id="13" name="Pir acum 2"/>
            <p:cNvSpPr/>
            <p:nvPr/>
          </p:nvSpPr>
          <p:spPr>
            <a:xfrm>
              <a:off x="2103120" y="1188720"/>
              <a:ext cx="8686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050" dirty="0">
                <a:latin typeface="Calibri"/>
              </a:endParaRPr>
            </a:p>
          </p:txBody>
        </p:sp>
        <p:sp>
          <p:nvSpPr>
            <p:cNvPr id="14" name="Pir acum 3"/>
            <p:cNvSpPr/>
            <p:nvPr/>
          </p:nvSpPr>
          <p:spPr>
            <a:xfrm>
              <a:off x="274320" y="1737360"/>
              <a:ext cx="8686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050" dirty="0">
                <a:latin typeface="Calibri"/>
              </a:endParaRPr>
            </a:p>
          </p:txBody>
        </p:sp>
        <p:sp>
          <p:nvSpPr>
            <p:cNvPr id="15" name="Pir acum 4"/>
            <p:cNvSpPr/>
            <p:nvPr/>
          </p:nvSpPr>
          <p:spPr>
            <a:xfrm>
              <a:off x="1188720" y="1737360"/>
              <a:ext cx="8686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050" dirty="0">
                <a:latin typeface="Calibri"/>
              </a:endParaRPr>
            </a:p>
          </p:txBody>
        </p:sp>
        <p:sp>
          <p:nvSpPr>
            <p:cNvPr id="16" name="Lac acum 0"/>
            <p:cNvSpPr/>
            <p:nvPr/>
          </p:nvSpPr>
          <p:spPr>
            <a:xfrm>
              <a:off x="3291840" y="1371600"/>
              <a:ext cx="9144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71368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Lactato</a:t>
              </a:r>
              <a:endParaRPr lang="es-AR" sz="1050" dirty="0">
                <a:latin typeface="Calibri"/>
              </a:endParaRPr>
            </a:p>
          </p:txBody>
        </p:sp>
        <p:sp>
          <p:nvSpPr>
            <p:cNvPr id="17" name="Lac acum 1"/>
            <p:cNvSpPr/>
            <p:nvPr/>
          </p:nvSpPr>
          <p:spPr>
            <a:xfrm>
              <a:off x="4251960" y="1371600"/>
              <a:ext cx="9144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71368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Lactato</a:t>
              </a:r>
              <a:endParaRPr lang="es-AR" sz="1050" dirty="0">
                <a:latin typeface="Calibri"/>
              </a:endParaRPr>
            </a:p>
          </p:txBody>
        </p:sp>
        <p:sp>
          <p:nvSpPr>
            <p:cNvPr id="18" name="Lac acum 2"/>
            <p:cNvSpPr/>
            <p:nvPr/>
          </p:nvSpPr>
          <p:spPr>
            <a:xfrm>
              <a:off x="5212080" y="1371600"/>
              <a:ext cx="9144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71368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Lactato</a:t>
              </a:r>
              <a:endParaRPr lang="es-AR" sz="1050" dirty="0">
                <a:latin typeface="Calibri"/>
              </a:endParaRPr>
            </a:p>
          </p:txBody>
        </p:sp>
      </p:grpSp>
      <p:grpSp>
        <p:nvGrpSpPr>
          <p:cNvPr id="19" name="Sin acetil-CoA"/>
          <p:cNvGrpSpPr/>
          <p:nvPr/>
        </p:nvGrpSpPr>
        <p:grpSpPr>
          <a:xfrm>
            <a:off x="4617720" y="5623560"/>
            <a:ext cx="2011680" cy="640080"/>
            <a:chOff x="4617720" y="5623560"/>
            <a:chExt cx="2011680" cy="640080"/>
          </a:xfrm>
        </p:grpSpPr>
        <p:sp>
          <p:nvSpPr>
            <p:cNvPr id="20" name="Ficha Acetil-CoA"/>
            <p:cNvSpPr/>
            <p:nvPr/>
          </p:nvSpPr>
          <p:spPr>
            <a:xfrm>
              <a:off x="4754880" y="5715000"/>
              <a:ext cx="173736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3E7E7"/>
                </a:gs>
                <a:gs pos="55000">
                  <a:srgbClr val="D5DBDB"/>
                </a:gs>
                <a:gs pos="100000">
                  <a:srgbClr val="AAAFAF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A6D6D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Acetil-CoA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1" name="Forma 20"/>
            <p:cNvSpPr txBox="1"/>
            <p:nvPr/>
          </p:nvSpPr>
          <p:spPr>
            <a:xfrm>
              <a:off x="4617720" y="5623560"/>
              <a:ext cx="20116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lang="es-AR" sz="2800" dirty="0">
                <a:latin typeface="Calibri"/>
              </a:endParaRPr>
            </a:p>
          </p:txBody>
        </p:sp>
      </p:grpSp>
      <p:grpSp>
        <p:nvGrpSpPr>
          <p:cNvPr id="22" name="Mecanismo B1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3" name="Forma 22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tiamina (B</a:t>
              </a:r>
              <a:r>
                <a:rPr lang="es-AR" sz="19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 complejo PDH no funciona: no se convierte piruvato en acetil-CoA → se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acumulan piruvato y lactato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8677656" y="1097280"/>
              <a:ext cx="132475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MECANISMO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5" name="Clínica B1"/>
          <p:cNvGrpSpPr/>
          <p:nvPr/>
        </p:nvGrpSpPr>
        <p:grpSpPr>
          <a:xfrm>
            <a:off x="8549640" y="4069080"/>
            <a:ext cx="3383280" cy="2377440"/>
            <a:chOff x="8549640" y="4069080"/>
            <a:chExt cx="3383280" cy="2377440"/>
          </a:xfrm>
        </p:grpSpPr>
        <p:sp>
          <p:nvSpPr>
            <p:cNvPr id="26" name="Forma 25"/>
            <p:cNvSpPr/>
            <p:nvPr/>
          </p:nvSpPr>
          <p:spPr>
            <a:xfrm>
              <a:off x="8549640" y="42702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Cuadro clínico vinculado: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Wernicke-Korsakoff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muy relacionado con el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alcoholismo crónico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8677656" y="4069080"/>
              <a:ext cx="92313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CLÍNICA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DÉFICIT DE VITAMINA B</a:t>
            </a:r>
            <a:r>
              <a:rPr lang="es-AR" sz="18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1</a:t>
            </a: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: EL COMPLEJO SE DETIENE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C9CA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sp>
        <p:nvSpPr>
          <p:cNvPr id="5" name="!!E1"/>
          <p:cNvSpPr/>
          <p:nvPr/>
        </p:nvSpPr>
        <p:spPr>
          <a:xfrm>
            <a:off x="2377440" y="2377440"/>
            <a:ext cx="1920240" cy="16916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F0C6AA"/>
              </a:gs>
              <a:gs pos="55000">
                <a:srgbClr val="E59866"/>
              </a:gs>
              <a:gs pos="100000">
                <a:srgbClr val="AB724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24C33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2000" dirty="0">
              <a:latin typeface="Calibri"/>
            </a:endParaRPr>
          </a:p>
        </p:txBody>
      </p:sp>
      <p:sp>
        <p:nvSpPr>
          <p:cNvPr id="6" name="!!E2"/>
          <p:cNvSpPr/>
          <p:nvPr/>
        </p:nvSpPr>
        <p:spPr>
          <a:xfrm>
            <a:off x="4023360" y="3017520"/>
            <a:ext cx="2194560" cy="19202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BAEDD0"/>
              </a:gs>
              <a:gs pos="55000">
                <a:srgbClr val="82E0AA"/>
              </a:gs>
              <a:gs pos="100000">
                <a:srgbClr val="61A87F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1705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2000" dirty="0">
              <a:latin typeface="Calibri"/>
            </a:endParaRPr>
          </a:p>
        </p:txBody>
      </p:sp>
      <p:sp>
        <p:nvSpPr>
          <p:cNvPr id="7" name="!!E3"/>
          <p:cNvSpPr/>
          <p:nvPr/>
        </p:nvSpPr>
        <p:spPr>
          <a:xfrm>
            <a:off x="5852160" y="2377440"/>
            <a:ext cx="1783080" cy="1600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BBDCF2"/>
              </a:gs>
              <a:gs pos="55000">
                <a:srgbClr val="85C1E9"/>
              </a:gs>
              <a:gs pos="100000">
                <a:srgbClr val="6390AE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426074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2000" dirty="0">
              <a:latin typeface="Calibri"/>
            </a:endParaRPr>
          </a:p>
        </p:txBody>
      </p:sp>
      <p:sp>
        <p:nvSpPr>
          <p:cNvPr id="8" name="!!Estado complejo"/>
          <p:cNvSpPr/>
          <p:nvPr/>
        </p:nvSpPr>
        <p:spPr>
          <a:xfrm>
            <a:off x="2103120" y="2011680"/>
            <a:ext cx="5852160" cy="3200400"/>
          </a:xfrm>
          <a:prstGeom prst="ellipse">
            <a:avLst/>
          </a:prstGeom>
          <a:noFill/>
          <a:ln w="50800" cap="rnd">
            <a:solidFill>
              <a:srgbClr val="00A84F"/>
            </a:solidFill>
            <a:prstDash val="dash"/>
            <a:round/>
          </a:ln>
        </p:spPr>
      </p:sp>
      <p:sp>
        <p:nvSpPr>
          <p:cNvPr id="9" name="!!Rótulo estado"/>
          <p:cNvSpPr/>
          <p:nvPr/>
        </p:nvSpPr>
        <p:spPr>
          <a:xfrm>
            <a:off x="3246120" y="5349240"/>
            <a:ext cx="2651760" cy="640080"/>
          </a:xfrm>
          <a:prstGeom prst="rect">
            <a:avLst/>
          </a:prstGeom>
          <a:solidFill>
            <a:srgbClr val="4E7A3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ACTIVO</a:t>
            </a:r>
            <a:endParaRPr lang="es-AR" sz="2200" dirty="0">
              <a:latin typeface="Calibri"/>
            </a:endParaRPr>
          </a:p>
        </p:txBody>
      </p:sp>
      <p:sp>
        <p:nvSpPr>
          <p:cNvPr id="10" name="!!PDH quinasa"/>
          <p:cNvSpPr/>
          <p:nvPr/>
        </p:nvSpPr>
        <p:spPr>
          <a:xfrm>
            <a:off x="274320" y="1097280"/>
            <a:ext cx="1737360" cy="1280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11" y="500"/>
                </a:moveTo>
                <a:cubicBezTo>
                  <a:pt x="912" y="563"/>
                  <a:pt x="869" y="633"/>
                  <a:pt x="836" y="694"/>
                </a:cubicBezTo>
                <a:cubicBezTo>
                  <a:pt x="802" y="754"/>
                  <a:pt x="766" y="819"/>
                  <a:pt x="710" y="863"/>
                </a:cubicBezTo>
                <a:cubicBezTo>
                  <a:pt x="654" y="906"/>
                  <a:pt x="566" y="959"/>
                  <a:pt x="500" y="953"/>
                </a:cubicBezTo>
                <a:cubicBezTo>
                  <a:pt x="433" y="946"/>
                  <a:pt x="366" y="869"/>
                  <a:pt x="312" y="825"/>
                </a:cubicBezTo>
                <a:cubicBezTo>
                  <a:pt x="257" y="781"/>
                  <a:pt x="218" y="743"/>
                  <a:pt x="171" y="689"/>
                </a:cubicBezTo>
                <a:cubicBezTo>
                  <a:pt x="123" y="634"/>
                  <a:pt x="33" y="568"/>
                  <a:pt x="25" y="500"/>
                </a:cubicBezTo>
                <a:cubicBezTo>
                  <a:pt x="16" y="432"/>
                  <a:pt x="72" y="336"/>
                  <a:pt x="120" y="281"/>
                </a:cubicBezTo>
                <a:cubicBezTo>
                  <a:pt x="167" y="225"/>
                  <a:pt x="244" y="201"/>
                  <a:pt x="308" y="169"/>
                </a:cubicBezTo>
                <a:cubicBezTo>
                  <a:pt x="371" y="136"/>
                  <a:pt x="430" y="93"/>
                  <a:pt x="499" y="84"/>
                </a:cubicBezTo>
                <a:cubicBezTo>
                  <a:pt x="568" y="75"/>
                  <a:pt x="667" y="77"/>
                  <a:pt x="722" y="115"/>
                </a:cubicBezTo>
                <a:cubicBezTo>
                  <a:pt x="776" y="152"/>
                  <a:pt x="794" y="246"/>
                  <a:pt x="826" y="311"/>
                </a:cubicBezTo>
                <a:cubicBezTo>
                  <a:pt x="857" y="375"/>
                  <a:pt x="909" y="436"/>
                  <a:pt x="911" y="500"/>
                </a:cubicBezTo>
                <a:close/>
              </a:path>
            </a:pathLst>
          </a:cu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B78430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A5820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PDH</a:t>
            </a:r>
            <a:endParaRPr lang="es-AR" sz="14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quinasa</a:t>
            </a:r>
            <a:endParaRPr lang="es-AR" sz="1400" dirty="0">
              <a:latin typeface="Calibri"/>
            </a:endParaRPr>
          </a:p>
        </p:txBody>
      </p:sp>
      <p:sp>
        <p:nvSpPr>
          <p:cNvPr id="11" name="!!PDH fosfatasa"/>
          <p:cNvSpPr/>
          <p:nvPr/>
        </p:nvSpPr>
        <p:spPr>
          <a:xfrm>
            <a:off x="274320" y="4297680"/>
            <a:ext cx="1737360" cy="1280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99" y="500"/>
                </a:moveTo>
                <a:cubicBezTo>
                  <a:pt x="896" y="571"/>
                  <a:pt x="892" y="647"/>
                  <a:pt x="861" y="708"/>
                </a:cubicBezTo>
                <a:cubicBezTo>
                  <a:pt x="829" y="768"/>
                  <a:pt x="769" y="831"/>
                  <a:pt x="709" y="861"/>
                </a:cubicBezTo>
                <a:cubicBezTo>
                  <a:pt x="648" y="890"/>
                  <a:pt x="567" y="889"/>
                  <a:pt x="500" y="886"/>
                </a:cubicBezTo>
                <a:cubicBezTo>
                  <a:pt x="432" y="882"/>
                  <a:pt x="369" y="867"/>
                  <a:pt x="303" y="841"/>
                </a:cubicBezTo>
                <a:cubicBezTo>
                  <a:pt x="236" y="815"/>
                  <a:pt x="130" y="786"/>
                  <a:pt x="101" y="730"/>
                </a:cubicBezTo>
                <a:cubicBezTo>
                  <a:pt x="71" y="673"/>
                  <a:pt x="113" y="570"/>
                  <a:pt x="125" y="500"/>
                </a:cubicBezTo>
                <a:cubicBezTo>
                  <a:pt x="136" y="430"/>
                  <a:pt x="139" y="366"/>
                  <a:pt x="170" y="310"/>
                </a:cubicBezTo>
                <a:cubicBezTo>
                  <a:pt x="200" y="254"/>
                  <a:pt x="251" y="199"/>
                  <a:pt x="306" y="164"/>
                </a:cubicBezTo>
                <a:cubicBezTo>
                  <a:pt x="360" y="128"/>
                  <a:pt x="427" y="111"/>
                  <a:pt x="499" y="99"/>
                </a:cubicBezTo>
                <a:cubicBezTo>
                  <a:pt x="570" y="86"/>
                  <a:pt x="673" y="59"/>
                  <a:pt x="736" y="90"/>
                </a:cubicBezTo>
                <a:cubicBezTo>
                  <a:pt x="798" y="120"/>
                  <a:pt x="847" y="213"/>
                  <a:pt x="875" y="282"/>
                </a:cubicBezTo>
                <a:cubicBezTo>
                  <a:pt x="902" y="350"/>
                  <a:pt x="901" y="429"/>
                  <a:pt x="899" y="500"/>
                </a:cubicBezTo>
                <a:close/>
              </a:path>
            </a:pathLst>
          </a:custGeom>
          <a:gradFill rotWithShape="1">
            <a:gsLst>
              <a:gs pos="0">
                <a:srgbClr val="D2E8F7"/>
              </a:gs>
              <a:gs pos="55000">
                <a:srgbClr val="AED6F1"/>
              </a:gs>
              <a:gs pos="100000">
                <a:srgbClr val="82A0B4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576B78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PDH</a:t>
            </a:r>
            <a:endParaRPr lang="es-AR" sz="14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fosfatasa</a:t>
            </a:r>
            <a:endParaRPr lang="es-AR" sz="1400" dirty="0">
              <a:latin typeface="Calibri"/>
            </a:endParaRPr>
          </a:p>
        </p:txBody>
      </p:sp>
      <p:sp>
        <p:nvSpPr>
          <p:cNvPr id="12" name="!!Fosfato"/>
          <p:cNvSpPr/>
          <p:nvPr/>
        </p:nvSpPr>
        <p:spPr>
          <a:xfrm>
            <a:off x="1691640" y="1234440"/>
            <a:ext cx="457200" cy="457200"/>
          </a:xfrm>
          <a:prstGeom prst="ellipse">
            <a:avLst/>
          </a:prstGeom>
          <a:gradFill rotWithShape="1">
            <a:gsLst>
              <a:gs pos="0">
                <a:srgbClr val="F7C370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s-AR" sz="1600" dirty="0">
              <a:latin typeface="Calibri"/>
            </a:endParaRPr>
          </a:p>
        </p:txBody>
      </p:sp>
      <p:grpSp>
        <p:nvGrpSpPr>
          <p:cNvPr id="13" name="Caja quinasa"/>
          <p:cNvGrpSpPr/>
          <p:nvPr/>
        </p:nvGrpSpPr>
        <p:grpSpPr>
          <a:xfrm>
            <a:off x="8549640" y="1097280"/>
            <a:ext cx="3383280" cy="2377440"/>
            <a:chOff x="8549640" y="1097280"/>
            <a:chExt cx="3383280" cy="2377440"/>
          </a:xfrm>
        </p:grpSpPr>
        <p:sp>
          <p:nvSpPr>
            <p:cNvPr id="14" name="Forma 13"/>
            <p:cNvSpPr/>
            <p:nvPr/>
          </p:nvSpPr>
          <p:spPr>
            <a:xfrm>
              <a:off x="8549640" y="12984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PDH-quinasa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fosforila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 complejo (E1) → lo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inactiva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8677656" y="1097280"/>
              <a:ext cx="104580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QUINASA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6" name="Caja fosfatasa"/>
          <p:cNvGrpSpPr/>
          <p:nvPr/>
        </p:nvGrpSpPr>
        <p:grpSpPr>
          <a:xfrm>
            <a:off x="8549640" y="3703320"/>
            <a:ext cx="3383280" cy="2743200"/>
            <a:chOff x="8549640" y="3703320"/>
            <a:chExt cx="3383280" cy="2743200"/>
          </a:xfrm>
        </p:grpSpPr>
        <p:sp>
          <p:nvSpPr>
            <p:cNvPr id="17" name="Forma 16"/>
            <p:cNvSpPr/>
            <p:nvPr/>
          </p:nvSpPr>
          <p:spPr>
            <a:xfrm>
              <a:off x="8549640" y="390448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PDH-fosfatasa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desfosforila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 complejo → lo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Regla: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fosforilado = inactivo; desfosforilado = activo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8677656" y="3703320"/>
              <a:ext cx="1173337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FOSFATASA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REGULACIÓN COVALENTE: COMPLEJO ACTIVO (DESFOSFORILADO)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1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109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1" grpId="0" animBg="1"/>
    </p:bld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sp>
        <p:nvSpPr>
          <p:cNvPr id="5" name="!!E1"/>
          <p:cNvSpPr/>
          <p:nvPr/>
        </p:nvSpPr>
        <p:spPr>
          <a:xfrm>
            <a:off x="2377440" y="2377440"/>
            <a:ext cx="1920240" cy="16916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87" y="500"/>
                </a:moveTo>
                <a:cubicBezTo>
                  <a:pt x="888" y="572"/>
                  <a:pt x="906" y="652"/>
                  <a:pt x="882" y="721"/>
                </a:cubicBezTo>
                <a:cubicBezTo>
                  <a:pt x="857" y="789"/>
                  <a:pt x="802" y="871"/>
                  <a:pt x="739" y="913"/>
                </a:cubicBezTo>
                <a:cubicBezTo>
                  <a:pt x="675" y="954"/>
                  <a:pt x="578" y="973"/>
                  <a:pt x="500" y="972"/>
                </a:cubicBezTo>
                <a:cubicBezTo>
                  <a:pt x="421" y="970"/>
                  <a:pt x="320" y="951"/>
                  <a:pt x="266" y="904"/>
                </a:cubicBezTo>
                <a:cubicBezTo>
                  <a:pt x="211" y="856"/>
                  <a:pt x="200" y="756"/>
                  <a:pt x="172" y="689"/>
                </a:cubicBezTo>
                <a:cubicBezTo>
                  <a:pt x="144" y="621"/>
                  <a:pt x="99" y="563"/>
                  <a:pt x="98" y="500"/>
                </a:cubicBezTo>
                <a:cubicBezTo>
                  <a:pt x="97" y="436"/>
                  <a:pt x="135" y="369"/>
                  <a:pt x="166" y="307"/>
                </a:cubicBezTo>
                <a:cubicBezTo>
                  <a:pt x="196" y="244"/>
                  <a:pt x="227" y="170"/>
                  <a:pt x="283" y="125"/>
                </a:cubicBezTo>
                <a:cubicBezTo>
                  <a:pt x="338" y="79"/>
                  <a:pt x="427" y="32"/>
                  <a:pt x="499" y="33"/>
                </a:cubicBezTo>
                <a:cubicBezTo>
                  <a:pt x="570" y="33"/>
                  <a:pt x="650" y="88"/>
                  <a:pt x="713" y="130"/>
                </a:cubicBezTo>
                <a:cubicBezTo>
                  <a:pt x="775" y="171"/>
                  <a:pt x="843" y="222"/>
                  <a:pt x="872" y="284"/>
                </a:cubicBezTo>
                <a:cubicBezTo>
                  <a:pt x="901" y="345"/>
                  <a:pt x="885" y="427"/>
                  <a:pt x="887" y="500"/>
                </a:cubicBezTo>
                <a:close/>
              </a:path>
            </a:pathLst>
          </a:custGeom>
          <a:gradFill rotWithShape="1">
            <a:gsLst>
              <a:gs pos="0">
                <a:srgbClr val="DBE1E1"/>
              </a:gs>
              <a:gs pos="55000">
                <a:srgbClr val="BFC9CA"/>
              </a:gs>
              <a:gs pos="100000">
                <a:srgbClr val="8F9697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5F6465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lang="es-AR" sz="2000" dirty="0">
              <a:latin typeface="Calibri"/>
            </a:endParaRPr>
          </a:p>
        </p:txBody>
      </p:sp>
      <p:sp>
        <p:nvSpPr>
          <p:cNvPr id="6" name="!!E2"/>
          <p:cNvSpPr/>
          <p:nvPr/>
        </p:nvSpPr>
        <p:spPr>
          <a:xfrm>
            <a:off x="4023360" y="3017520"/>
            <a:ext cx="2194560" cy="19202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910" y="568"/>
                  <a:pt x="915" y="658"/>
                  <a:pt x="885" y="722"/>
                </a:cubicBezTo>
                <a:cubicBezTo>
                  <a:pt x="854" y="785"/>
                  <a:pt x="783" y="852"/>
                  <a:pt x="719" y="880"/>
                </a:cubicBezTo>
                <a:cubicBezTo>
                  <a:pt x="654" y="907"/>
                  <a:pt x="571" y="889"/>
                  <a:pt x="500" y="886"/>
                </a:cubicBezTo>
                <a:cubicBezTo>
                  <a:pt x="428" y="882"/>
                  <a:pt x="355" y="888"/>
                  <a:pt x="291" y="861"/>
                </a:cubicBezTo>
                <a:cubicBezTo>
                  <a:pt x="226" y="833"/>
                  <a:pt x="148" y="783"/>
                  <a:pt x="112" y="723"/>
                </a:cubicBezTo>
                <a:cubicBezTo>
                  <a:pt x="75" y="662"/>
                  <a:pt x="70" y="574"/>
                  <a:pt x="70" y="500"/>
                </a:cubicBezTo>
                <a:cubicBezTo>
                  <a:pt x="69" y="425"/>
                  <a:pt x="75" y="339"/>
                  <a:pt x="110" y="275"/>
                </a:cubicBezTo>
                <a:cubicBezTo>
                  <a:pt x="144" y="210"/>
                  <a:pt x="212" y="140"/>
                  <a:pt x="277" y="115"/>
                </a:cubicBezTo>
                <a:cubicBezTo>
                  <a:pt x="341" y="89"/>
                  <a:pt x="424" y="122"/>
                  <a:pt x="499" y="122"/>
                </a:cubicBezTo>
                <a:cubicBezTo>
                  <a:pt x="573" y="121"/>
                  <a:pt x="669" y="80"/>
                  <a:pt x="723" y="112"/>
                </a:cubicBezTo>
                <a:cubicBezTo>
                  <a:pt x="776" y="144"/>
                  <a:pt x="791" y="249"/>
                  <a:pt x="821" y="314"/>
                </a:cubicBezTo>
                <a:cubicBezTo>
                  <a:pt x="850" y="378"/>
                  <a:pt x="889" y="432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E7EBEB"/>
              </a:gs>
              <a:gs pos="55000">
                <a:srgbClr val="D5DBDB"/>
              </a:gs>
              <a:gs pos="100000">
                <a:srgbClr val="9FA4A4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6A6D6D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lang="es-AR" sz="2000" dirty="0">
              <a:latin typeface="Calibri"/>
            </a:endParaRPr>
          </a:p>
        </p:txBody>
      </p:sp>
      <p:sp>
        <p:nvSpPr>
          <p:cNvPr id="7" name="!!E3"/>
          <p:cNvSpPr/>
          <p:nvPr/>
        </p:nvSpPr>
        <p:spPr>
          <a:xfrm>
            <a:off x="5852160" y="2377440"/>
            <a:ext cx="1783080" cy="1600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49" y="500"/>
                </a:moveTo>
                <a:cubicBezTo>
                  <a:pt x="938" y="573"/>
                  <a:pt x="884" y="634"/>
                  <a:pt x="848" y="701"/>
                </a:cubicBezTo>
                <a:cubicBezTo>
                  <a:pt x="811" y="767"/>
                  <a:pt x="790" y="865"/>
                  <a:pt x="732" y="901"/>
                </a:cubicBezTo>
                <a:cubicBezTo>
                  <a:pt x="674" y="936"/>
                  <a:pt x="578" y="914"/>
                  <a:pt x="500" y="915"/>
                </a:cubicBezTo>
                <a:cubicBezTo>
                  <a:pt x="422" y="916"/>
                  <a:pt x="330" y="938"/>
                  <a:pt x="264" y="907"/>
                </a:cubicBezTo>
                <a:cubicBezTo>
                  <a:pt x="197" y="876"/>
                  <a:pt x="143" y="796"/>
                  <a:pt x="103" y="729"/>
                </a:cubicBezTo>
                <a:cubicBezTo>
                  <a:pt x="62" y="661"/>
                  <a:pt x="23" y="576"/>
                  <a:pt x="23" y="500"/>
                </a:cubicBezTo>
                <a:cubicBezTo>
                  <a:pt x="22" y="423"/>
                  <a:pt x="56" y="333"/>
                  <a:pt x="98" y="268"/>
                </a:cubicBezTo>
                <a:cubicBezTo>
                  <a:pt x="139" y="202"/>
                  <a:pt x="206" y="141"/>
                  <a:pt x="273" y="107"/>
                </a:cubicBezTo>
                <a:cubicBezTo>
                  <a:pt x="339" y="72"/>
                  <a:pt x="430" y="51"/>
                  <a:pt x="499" y="63"/>
                </a:cubicBezTo>
                <a:cubicBezTo>
                  <a:pt x="567" y="74"/>
                  <a:pt x="617" y="143"/>
                  <a:pt x="686" y="176"/>
                </a:cubicBezTo>
                <a:cubicBezTo>
                  <a:pt x="755" y="209"/>
                  <a:pt x="869" y="207"/>
                  <a:pt x="913" y="261"/>
                </a:cubicBezTo>
                <a:cubicBezTo>
                  <a:pt x="956" y="315"/>
                  <a:pt x="959" y="426"/>
                  <a:pt x="949" y="500"/>
                </a:cubicBezTo>
                <a:close/>
              </a:path>
            </a:pathLst>
          </a:custGeom>
          <a:gradFill rotWithShape="1">
            <a:gsLst>
              <a:gs pos="0">
                <a:srgbClr val="E2E5E5"/>
              </a:gs>
              <a:gs pos="55000">
                <a:srgbClr val="CCD1D1"/>
              </a:gs>
              <a:gs pos="100000">
                <a:srgbClr val="999C9C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666868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lang="es-AR" sz="2000" dirty="0">
              <a:latin typeface="Calibri"/>
            </a:endParaRPr>
          </a:p>
        </p:txBody>
      </p:sp>
      <p:sp>
        <p:nvSpPr>
          <p:cNvPr id="8" name="!!Estado complejo"/>
          <p:cNvSpPr/>
          <p:nvPr/>
        </p:nvSpPr>
        <p:spPr>
          <a:xfrm>
            <a:off x="2103120" y="2011680"/>
            <a:ext cx="5852160" cy="3200400"/>
          </a:xfrm>
          <a:prstGeom prst="ellipse">
            <a:avLst/>
          </a:prstGeom>
          <a:noFill/>
          <a:ln w="50800" cap="rnd">
            <a:solidFill>
              <a:srgbClr val="7F8C8D"/>
            </a:solidFill>
            <a:prstDash val="dash"/>
            <a:round/>
          </a:ln>
        </p:spPr>
      </p:sp>
      <p:sp>
        <p:nvSpPr>
          <p:cNvPr id="9" name="!!Rótulo estado"/>
          <p:cNvSpPr/>
          <p:nvPr/>
        </p:nvSpPr>
        <p:spPr>
          <a:xfrm>
            <a:off x="3246120" y="5349240"/>
            <a:ext cx="2651760" cy="640080"/>
          </a:xfrm>
          <a:prstGeom prst="rect">
            <a:avLst/>
          </a:prstGeom>
          <a:solidFill>
            <a:srgbClr val="7F8C8D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INACTIVO</a:t>
            </a:r>
            <a:endParaRPr lang="es-AR" sz="2200" dirty="0">
              <a:latin typeface="Calibri"/>
            </a:endParaRPr>
          </a:p>
        </p:txBody>
      </p:sp>
      <p:sp>
        <p:nvSpPr>
          <p:cNvPr id="10" name="!!PDH quinasa"/>
          <p:cNvSpPr/>
          <p:nvPr/>
        </p:nvSpPr>
        <p:spPr>
          <a:xfrm>
            <a:off x="274320" y="1097280"/>
            <a:ext cx="1737360" cy="1280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11" y="500"/>
                </a:moveTo>
                <a:cubicBezTo>
                  <a:pt x="912" y="563"/>
                  <a:pt x="869" y="633"/>
                  <a:pt x="836" y="694"/>
                </a:cubicBezTo>
                <a:cubicBezTo>
                  <a:pt x="802" y="754"/>
                  <a:pt x="766" y="819"/>
                  <a:pt x="710" y="863"/>
                </a:cubicBezTo>
                <a:cubicBezTo>
                  <a:pt x="654" y="906"/>
                  <a:pt x="566" y="959"/>
                  <a:pt x="500" y="953"/>
                </a:cubicBezTo>
                <a:cubicBezTo>
                  <a:pt x="433" y="946"/>
                  <a:pt x="366" y="869"/>
                  <a:pt x="312" y="825"/>
                </a:cubicBezTo>
                <a:cubicBezTo>
                  <a:pt x="257" y="781"/>
                  <a:pt x="218" y="743"/>
                  <a:pt x="171" y="689"/>
                </a:cubicBezTo>
                <a:cubicBezTo>
                  <a:pt x="123" y="634"/>
                  <a:pt x="33" y="568"/>
                  <a:pt x="25" y="500"/>
                </a:cubicBezTo>
                <a:cubicBezTo>
                  <a:pt x="16" y="432"/>
                  <a:pt x="72" y="336"/>
                  <a:pt x="120" y="281"/>
                </a:cubicBezTo>
                <a:cubicBezTo>
                  <a:pt x="167" y="225"/>
                  <a:pt x="244" y="201"/>
                  <a:pt x="308" y="169"/>
                </a:cubicBezTo>
                <a:cubicBezTo>
                  <a:pt x="371" y="136"/>
                  <a:pt x="430" y="93"/>
                  <a:pt x="499" y="84"/>
                </a:cubicBezTo>
                <a:cubicBezTo>
                  <a:pt x="568" y="75"/>
                  <a:pt x="667" y="77"/>
                  <a:pt x="722" y="115"/>
                </a:cubicBezTo>
                <a:cubicBezTo>
                  <a:pt x="776" y="152"/>
                  <a:pt x="794" y="246"/>
                  <a:pt x="826" y="311"/>
                </a:cubicBezTo>
                <a:cubicBezTo>
                  <a:pt x="857" y="375"/>
                  <a:pt x="909" y="436"/>
                  <a:pt x="911" y="500"/>
                </a:cubicBezTo>
                <a:close/>
              </a:path>
            </a:pathLst>
          </a:cu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B78430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A5820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PDH</a:t>
            </a:r>
            <a:endParaRPr lang="es-AR" sz="14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quinasa</a:t>
            </a:r>
            <a:endParaRPr lang="es-AR" sz="1400" dirty="0">
              <a:latin typeface="Calibri"/>
            </a:endParaRPr>
          </a:p>
        </p:txBody>
      </p:sp>
      <p:sp>
        <p:nvSpPr>
          <p:cNvPr id="11" name="!!PDH fosfatasa"/>
          <p:cNvSpPr/>
          <p:nvPr/>
        </p:nvSpPr>
        <p:spPr>
          <a:xfrm>
            <a:off x="274320" y="4297680"/>
            <a:ext cx="1737360" cy="1280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99" y="500"/>
                </a:moveTo>
                <a:cubicBezTo>
                  <a:pt x="896" y="571"/>
                  <a:pt x="892" y="647"/>
                  <a:pt x="861" y="708"/>
                </a:cubicBezTo>
                <a:cubicBezTo>
                  <a:pt x="829" y="768"/>
                  <a:pt x="769" y="831"/>
                  <a:pt x="709" y="861"/>
                </a:cubicBezTo>
                <a:cubicBezTo>
                  <a:pt x="648" y="890"/>
                  <a:pt x="567" y="889"/>
                  <a:pt x="500" y="886"/>
                </a:cubicBezTo>
                <a:cubicBezTo>
                  <a:pt x="432" y="882"/>
                  <a:pt x="369" y="867"/>
                  <a:pt x="303" y="841"/>
                </a:cubicBezTo>
                <a:cubicBezTo>
                  <a:pt x="236" y="815"/>
                  <a:pt x="130" y="786"/>
                  <a:pt x="101" y="730"/>
                </a:cubicBezTo>
                <a:cubicBezTo>
                  <a:pt x="71" y="673"/>
                  <a:pt x="113" y="570"/>
                  <a:pt x="125" y="500"/>
                </a:cubicBezTo>
                <a:cubicBezTo>
                  <a:pt x="136" y="430"/>
                  <a:pt x="139" y="366"/>
                  <a:pt x="170" y="310"/>
                </a:cubicBezTo>
                <a:cubicBezTo>
                  <a:pt x="200" y="254"/>
                  <a:pt x="251" y="199"/>
                  <a:pt x="306" y="164"/>
                </a:cubicBezTo>
                <a:cubicBezTo>
                  <a:pt x="360" y="128"/>
                  <a:pt x="427" y="111"/>
                  <a:pt x="499" y="99"/>
                </a:cubicBezTo>
                <a:cubicBezTo>
                  <a:pt x="570" y="86"/>
                  <a:pt x="673" y="59"/>
                  <a:pt x="736" y="90"/>
                </a:cubicBezTo>
                <a:cubicBezTo>
                  <a:pt x="798" y="120"/>
                  <a:pt x="847" y="213"/>
                  <a:pt x="875" y="282"/>
                </a:cubicBezTo>
                <a:cubicBezTo>
                  <a:pt x="902" y="350"/>
                  <a:pt x="901" y="429"/>
                  <a:pt x="899" y="500"/>
                </a:cubicBezTo>
                <a:close/>
              </a:path>
            </a:pathLst>
          </a:custGeom>
          <a:gradFill rotWithShape="1">
            <a:gsLst>
              <a:gs pos="0">
                <a:srgbClr val="D2E8F7"/>
              </a:gs>
              <a:gs pos="55000">
                <a:srgbClr val="AED6F1"/>
              </a:gs>
              <a:gs pos="100000">
                <a:srgbClr val="82A0B4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576B78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PDH</a:t>
            </a:r>
            <a:endParaRPr lang="es-AR" sz="14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fosfatasa</a:t>
            </a:r>
            <a:endParaRPr lang="es-AR" sz="1400" dirty="0">
              <a:latin typeface="Calibri"/>
            </a:endParaRPr>
          </a:p>
        </p:txBody>
      </p:sp>
      <p:sp>
        <p:nvSpPr>
          <p:cNvPr id="12" name="!!Fosfato"/>
          <p:cNvSpPr/>
          <p:nvPr/>
        </p:nvSpPr>
        <p:spPr>
          <a:xfrm>
            <a:off x="2514600" y="2240280"/>
            <a:ext cx="457200" cy="457200"/>
          </a:xfrm>
          <a:prstGeom prst="ellipse">
            <a:avLst/>
          </a:prstGeom>
          <a:gradFill rotWithShape="1">
            <a:gsLst>
              <a:gs pos="0">
                <a:srgbClr val="F7C370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s-AR" sz="1600" dirty="0">
              <a:latin typeface="Calibri"/>
            </a:endParaRPr>
          </a:p>
        </p:txBody>
      </p:sp>
      <p:grpSp>
        <p:nvGrpSpPr>
          <p:cNvPr id="13" name="Caja inactivo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14" name="Forma 13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el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fosfato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unido a E1, el complejo deja de convertir piruvato en acetil-CoA: la glucosa no avanza hacia el ciclo de Krebs.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8677656" y="1097280"/>
              <a:ext cx="1069512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INACTIVO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6" name="Reactivación"/>
          <p:cNvSpPr/>
          <p:nvPr/>
        </p:nvSpPr>
        <p:spPr>
          <a:xfrm>
            <a:off x="8549640" y="4343400"/>
            <a:ext cx="3383280" cy="210312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fosfatasa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puede retirar el fosfato y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reactivarlo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REGULACIÓN COVALENTE: COMPLEJO INACTIVO (FOSFORILADO)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1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3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6" grpId="0" animBg="1"/>
    </p:bld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EAF5EA"/>
          </a:solidFill>
          <a:ln>
            <a:noFill/>
          </a:ln>
        </p:spPr>
      </p:sp>
      <p:grpSp>
        <p:nvGrpSpPr>
          <p:cNvPr id="6" name="Tabla moduladores fila 0"/>
          <p:cNvGrpSpPr/>
          <p:nvPr/>
        </p:nvGrpSpPr>
        <p:grpSpPr>
          <a:xfrm>
            <a:off x="365760" y="1097280"/>
            <a:ext cx="11475720" cy="566928"/>
            <a:chOff x="365760" y="1097280"/>
            <a:chExt cx="11475720" cy="566928"/>
          </a:xfrm>
        </p:grpSpPr>
        <p:sp>
          <p:nvSpPr>
            <p:cNvPr id="7" name="Forma 6"/>
            <p:cNvSpPr/>
            <p:nvPr/>
          </p:nvSpPr>
          <p:spPr>
            <a:xfrm>
              <a:off x="365760" y="1097280"/>
              <a:ext cx="201168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Modulador (abundancia)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2377440" y="1097280"/>
              <a:ext cx="31089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Efecto sobre la quinasa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5486400" y="1097280"/>
              <a:ext cx="19202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7406640" y="1097280"/>
              <a:ext cx="44348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Lógica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1" name="Tabla moduladores fila 1"/>
          <p:cNvGrpSpPr/>
          <p:nvPr/>
        </p:nvGrpSpPr>
        <p:grpSpPr>
          <a:xfrm>
            <a:off x="365760" y="1664208"/>
            <a:ext cx="11475720" cy="566928"/>
            <a:chOff x="365760" y="1664208"/>
            <a:chExt cx="11475720" cy="566928"/>
          </a:xfrm>
        </p:grpSpPr>
        <p:sp>
          <p:nvSpPr>
            <p:cNvPr id="12" name="Forma 11"/>
            <p:cNvSpPr/>
            <p:nvPr/>
          </p:nvSpPr>
          <p:spPr>
            <a:xfrm>
              <a:off x="365760" y="1664208"/>
              <a:ext cx="20116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2377440" y="1664208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5486400" y="1664208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inactivo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7406640" y="1664208"/>
              <a:ext cx="4434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Ya hay energía: no se necesita más acetil-CoA.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6" name="Tabla moduladores fila 2"/>
          <p:cNvGrpSpPr/>
          <p:nvPr/>
        </p:nvGrpSpPr>
        <p:grpSpPr>
          <a:xfrm>
            <a:off x="365760" y="2231136"/>
            <a:ext cx="11475720" cy="566928"/>
            <a:chOff x="365760" y="2231136"/>
            <a:chExt cx="11475720" cy="566928"/>
          </a:xfrm>
        </p:grpSpPr>
        <p:sp>
          <p:nvSpPr>
            <p:cNvPr id="17" name="Forma 16"/>
            <p:cNvSpPr/>
            <p:nvPr/>
          </p:nvSpPr>
          <p:spPr>
            <a:xfrm>
              <a:off x="365760" y="2231136"/>
              <a:ext cx="20116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NADH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2377440" y="2231136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5486400" y="2231136"/>
              <a:ext cx="19202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inactivo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7406640" y="2231136"/>
              <a:ext cx="4434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 producto del complejo: retroalimentación negativa.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Tabla moduladores fila 3"/>
          <p:cNvGrpSpPr/>
          <p:nvPr/>
        </p:nvGrpSpPr>
        <p:grpSpPr>
          <a:xfrm>
            <a:off x="365760" y="2798064"/>
            <a:ext cx="11475720" cy="566928"/>
            <a:chOff x="365760" y="2798064"/>
            <a:chExt cx="11475720" cy="566928"/>
          </a:xfrm>
        </p:grpSpPr>
        <p:sp>
          <p:nvSpPr>
            <p:cNvPr id="22" name="Forma 21"/>
            <p:cNvSpPr/>
            <p:nvPr/>
          </p:nvSpPr>
          <p:spPr>
            <a:xfrm>
              <a:off x="365760" y="2798064"/>
              <a:ext cx="20116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Acetil-CoA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2377440" y="2798064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 (y además inhibe el complejo directamente)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486400" y="2798064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inactivo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7406640" y="2798064"/>
              <a:ext cx="4434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Doble freno por exceso de producto.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6" name="Tabla moduladores fila 4"/>
          <p:cNvGrpSpPr/>
          <p:nvPr/>
        </p:nvGrpSpPr>
        <p:grpSpPr>
          <a:xfrm>
            <a:off x="365760" y="3364992"/>
            <a:ext cx="11475720" cy="566928"/>
            <a:chOff x="365760" y="3364992"/>
            <a:chExt cx="11475720" cy="566928"/>
          </a:xfrm>
        </p:grpSpPr>
        <p:sp>
          <p:nvSpPr>
            <p:cNvPr id="27" name="Forma 26"/>
            <p:cNvSpPr/>
            <p:nvPr/>
          </p:nvSpPr>
          <p:spPr>
            <a:xfrm>
              <a:off x="365760" y="3364992"/>
              <a:ext cx="20116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ADP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2377440" y="3364992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Inhibe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5486400" y="3364992"/>
              <a:ext cx="19202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7406640" y="3364992"/>
              <a:ext cx="4434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Poco ATP: se necesita energía.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1" name="Tabla moduladores fila 5"/>
          <p:cNvGrpSpPr/>
          <p:nvPr/>
        </p:nvGrpSpPr>
        <p:grpSpPr>
          <a:xfrm>
            <a:off x="365760" y="3931920"/>
            <a:ext cx="11475720" cy="566928"/>
            <a:chOff x="365760" y="3931920"/>
            <a:chExt cx="11475720" cy="566928"/>
          </a:xfrm>
        </p:grpSpPr>
        <p:sp>
          <p:nvSpPr>
            <p:cNvPr id="32" name="Forma 31"/>
            <p:cNvSpPr/>
            <p:nvPr/>
          </p:nvSpPr>
          <p:spPr>
            <a:xfrm>
              <a:off x="365760" y="3931920"/>
              <a:ext cx="20116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14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2377440" y="3931920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Inhibe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5486400" y="3931920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7406640" y="3931920"/>
              <a:ext cx="4434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Hay aceptor de electrones disponible.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6" name="Tabla moduladores fila 6"/>
          <p:cNvGrpSpPr/>
          <p:nvPr/>
        </p:nvGrpSpPr>
        <p:grpSpPr>
          <a:xfrm>
            <a:off x="365760" y="4498848"/>
            <a:ext cx="11475720" cy="566928"/>
            <a:chOff x="365760" y="4498848"/>
            <a:chExt cx="11475720" cy="566928"/>
          </a:xfrm>
        </p:grpSpPr>
        <p:sp>
          <p:nvSpPr>
            <p:cNvPr id="37" name="Forma 36"/>
            <p:cNvSpPr/>
            <p:nvPr/>
          </p:nvSpPr>
          <p:spPr>
            <a:xfrm>
              <a:off x="365760" y="4498848"/>
              <a:ext cx="20116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CoA libre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2377440" y="4498848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Inhibe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5486400" y="4498848"/>
              <a:ext cx="19202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0" name="Forma 39"/>
            <p:cNvSpPr/>
            <p:nvPr/>
          </p:nvSpPr>
          <p:spPr>
            <a:xfrm>
              <a:off x="7406640" y="4498848"/>
              <a:ext cx="4434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Hay sustrato disponible.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1" name="Tabla moduladores fila 7"/>
          <p:cNvGrpSpPr/>
          <p:nvPr/>
        </p:nvGrpSpPr>
        <p:grpSpPr>
          <a:xfrm>
            <a:off x="365760" y="5065776"/>
            <a:ext cx="11475720" cy="566928"/>
            <a:chOff x="365760" y="5065776"/>
            <a:chExt cx="11475720" cy="566928"/>
          </a:xfrm>
        </p:grpSpPr>
        <p:sp>
          <p:nvSpPr>
            <p:cNvPr id="42" name="Forma 41"/>
            <p:cNvSpPr/>
            <p:nvPr/>
          </p:nvSpPr>
          <p:spPr>
            <a:xfrm>
              <a:off x="365760" y="5065776"/>
              <a:ext cx="20116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2377440" y="5065776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Inhibe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5486400" y="5065776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5" name="Forma 44"/>
            <p:cNvSpPr/>
            <p:nvPr/>
          </p:nvSpPr>
          <p:spPr>
            <a:xfrm>
              <a:off x="7406640" y="5065776"/>
              <a:ext cx="4434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Hay sustrato para procesar.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6" name="Lógica moduladores"/>
          <p:cNvSpPr/>
          <p:nvPr/>
        </p:nvSpPr>
        <p:spPr>
          <a:xfrm>
            <a:off x="365760" y="5815584"/>
            <a:ext cx="11475720" cy="539496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Mucho producto</a:t>
            </a: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(ATP, NADH, acetil-CoA) → frena · </a:t>
            </a: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mucho sustrato o necesidad de energía</a:t>
            </a: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(ADP, NAD</a:t>
            </a:r>
            <a:r>
              <a:rPr lang="es-AR" sz="1600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CoA, piruvato) → activa.</a:t>
            </a:r>
            <a:endParaRPr lang="es-AR" sz="16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6181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6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MODULADORES DE LA PDH-QUINASA</a:t>
            </a:r>
            <a:endParaRPr lang="es-AR" sz="26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A9CF86"/>
          </a:solidFill>
          <a:ln>
            <a:noFill/>
          </a:ln>
        </p:spPr>
      </p:sp>
      <p:grpSp>
        <p:nvGrpSpPr>
          <p:cNvPr id="5" name="Señal 1"/>
          <p:cNvGrpSpPr/>
          <p:nvPr/>
        </p:nvGrpSpPr>
        <p:grpSpPr>
          <a:xfrm>
            <a:off x="365760" y="1097280"/>
            <a:ext cx="9281160" cy="960120"/>
            <a:chOff x="365760" y="1097280"/>
            <a:chExt cx="9281160" cy="960120"/>
          </a:xfrm>
        </p:grpSpPr>
        <p:sp>
          <p:nvSpPr>
            <p:cNvPr id="6" name="Rótulo Hipoxia (bajo O2)"/>
            <p:cNvSpPr/>
            <p:nvPr/>
          </p:nvSpPr>
          <p:spPr>
            <a:xfrm>
              <a:off x="365760" y="1325880"/>
              <a:ext cx="3566160" cy="548640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Hipoxia (bajo O</a:t>
              </a:r>
              <a:r>
                <a:rPr lang="es-AR" sz="1400" b="1" baseline="-25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4160520" y="1097280"/>
              <a:ext cx="5486400" cy="96012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 la quinasa (vía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HIF-1α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→ complejo inactivo: sin O</a:t>
              </a:r>
              <a:r>
                <a:rPr lang="es-AR" sz="16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no funcionan el ciclo de Krebs ni la cadena respiratoria.</a:t>
              </a:r>
              <a:endParaRPr lang="es-AR" sz="1650" dirty="0">
                <a:latin typeface="Calibri"/>
              </a:endParaRPr>
            </a:p>
          </p:txBody>
        </p:sp>
      </p:grpSp>
      <p:grpSp>
        <p:nvGrpSpPr>
          <p:cNvPr id="8" name="Señal 2"/>
          <p:cNvGrpSpPr/>
          <p:nvPr/>
        </p:nvGrpSpPr>
        <p:grpSpPr>
          <a:xfrm>
            <a:off x="365760" y="2176272"/>
            <a:ext cx="9281160" cy="960120"/>
            <a:chOff x="365760" y="2176272"/>
            <a:chExt cx="9281160" cy="960120"/>
          </a:xfrm>
        </p:grpSpPr>
        <p:sp>
          <p:nvSpPr>
            <p:cNvPr id="9" name="Rótulo Ayuno prolongado"/>
            <p:cNvSpPr/>
            <p:nvPr/>
          </p:nvSpPr>
          <p:spPr>
            <a:xfrm>
              <a:off x="365760" y="2404872"/>
              <a:ext cx="3566160" cy="548640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Ayuno prolongado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160520" y="2176272"/>
              <a:ext cx="5486400" cy="96012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 la quinasa → frena el metabolismo oxidativo de la glucosa.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1" name="Señal 3"/>
          <p:cNvGrpSpPr/>
          <p:nvPr/>
        </p:nvGrpSpPr>
        <p:grpSpPr>
          <a:xfrm>
            <a:off x="365760" y="3255264"/>
            <a:ext cx="9281160" cy="960120"/>
            <a:chOff x="365760" y="3255264"/>
            <a:chExt cx="9281160" cy="960120"/>
          </a:xfrm>
        </p:grpSpPr>
        <p:sp>
          <p:nvSpPr>
            <p:cNvPr id="12" name="Rótulo Corticoides (uso farma"/>
            <p:cNvSpPr/>
            <p:nvPr/>
          </p:nvSpPr>
          <p:spPr>
            <a:xfrm>
              <a:off x="365760" y="3483864"/>
              <a:ext cx="3566160" cy="548640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Corticoides (uso farmacológico)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4160520" y="3255264"/>
              <a:ext cx="5486400" cy="96012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Activan la quinasa → inhiben el metabolismo glucídico oxidativo.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4" name="Señal 4"/>
          <p:cNvGrpSpPr/>
          <p:nvPr/>
        </p:nvGrpSpPr>
        <p:grpSpPr>
          <a:xfrm>
            <a:off x="365760" y="4334256"/>
            <a:ext cx="9281160" cy="960120"/>
            <a:chOff x="365760" y="4334256"/>
            <a:chExt cx="9281160" cy="960120"/>
          </a:xfrm>
        </p:grpSpPr>
        <p:sp>
          <p:nvSpPr>
            <p:cNvPr id="15" name="Rótulo Insulina (post-ingesta"/>
            <p:cNvSpPr/>
            <p:nvPr/>
          </p:nvSpPr>
          <p:spPr>
            <a:xfrm>
              <a:off x="365760" y="4562856"/>
              <a:ext cx="3566160" cy="548640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Insulina (post-ingesta)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4160520" y="4334256"/>
              <a:ext cx="5486400" cy="96012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Inhibe la quinasa →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 complejo: después de comer se metaboliza la glucosa.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7" name="Señal 5"/>
          <p:cNvGrpSpPr/>
          <p:nvPr/>
        </p:nvGrpSpPr>
        <p:grpSpPr>
          <a:xfrm>
            <a:off x="365760" y="5413248"/>
            <a:ext cx="9281160" cy="960120"/>
            <a:chOff x="365760" y="5413248"/>
            <a:chExt cx="9281160" cy="960120"/>
          </a:xfrm>
        </p:grpSpPr>
        <p:sp>
          <p:nvSpPr>
            <p:cNvPr id="18" name="Rótulo Calcio (Ca2+)"/>
            <p:cNvSpPr/>
            <p:nvPr/>
          </p:nvSpPr>
          <p:spPr>
            <a:xfrm>
              <a:off x="365760" y="5641848"/>
              <a:ext cx="3566160" cy="548640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Calcio (Ca</a:t>
              </a:r>
              <a:r>
                <a:rPr lang="es-AR" sz="1400" b="1" baseline="30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4160520" y="5413248"/>
              <a:ext cx="5486400" cy="96012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 la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fosfatasa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activa el complejo. Muy importante en el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músculo cardíaco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durante la contracción.</a:t>
              </a:r>
              <a:endParaRPr lang="es-AR" sz="1650" dirty="0">
                <a:latin typeface="Calibri"/>
              </a:endParaRPr>
            </a:p>
          </p:txBody>
        </p:sp>
      </p:grpSp>
      <p:grpSp>
        <p:nvGrpSpPr>
          <p:cNvPr id="20" name="Corazón PDH"/>
          <p:cNvGrpSpPr/>
          <p:nvPr/>
        </p:nvGrpSpPr>
        <p:grpSpPr>
          <a:xfrm>
            <a:off x="9829800" y="4206240"/>
            <a:ext cx="2011680" cy="2212848"/>
            <a:chOff x="9829800" y="4206240"/>
            <a:chExt cx="2011680" cy="2212848"/>
          </a:xfrm>
        </p:grpSpPr>
        <p:sp>
          <p:nvSpPr>
            <p:cNvPr id="21" name="Aorta"/>
            <p:cNvSpPr/>
            <p:nvPr/>
          </p:nvSpPr>
          <p:spPr>
            <a:xfrm>
              <a:off x="10594238" y="4206240"/>
              <a:ext cx="643738" cy="70811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22" name="Arteria pulmonar"/>
            <p:cNvSpPr/>
            <p:nvPr/>
          </p:nvSpPr>
          <p:spPr>
            <a:xfrm>
              <a:off x="10272370" y="4427525"/>
              <a:ext cx="442570" cy="55321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23" name="Miocardio"/>
            <p:cNvSpPr/>
            <p:nvPr/>
          </p:nvSpPr>
          <p:spPr>
            <a:xfrm>
              <a:off x="9829800" y="4604553"/>
              <a:ext cx="2011680" cy="1814535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4" name="Aurícula derecha"/>
            <p:cNvSpPr/>
            <p:nvPr/>
          </p:nvSpPr>
          <p:spPr>
            <a:xfrm>
              <a:off x="9910267" y="4870094"/>
              <a:ext cx="563270" cy="61959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25" name="!!ArteriaCoronaria izquierda"/>
          <p:cNvSpPr/>
          <p:nvPr/>
        </p:nvSpPr>
        <p:spPr>
          <a:xfrm>
            <a:off x="9829800" y="4604553"/>
            <a:ext cx="2011680" cy="1814535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26" name="!!ArteriaCoronaria derecha"/>
          <p:cNvSpPr/>
          <p:nvPr/>
        </p:nvSpPr>
        <p:spPr>
          <a:xfrm>
            <a:off x="9829800" y="4604553"/>
            <a:ext cx="2011680" cy="1814535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grpSp>
        <p:nvGrpSpPr>
          <p:cNvPr id="27" name="Rigor señales"/>
          <p:cNvGrpSpPr/>
          <p:nvPr/>
        </p:nvGrpSpPr>
        <p:grpSpPr>
          <a:xfrm>
            <a:off x="9829800" y="1097280"/>
            <a:ext cx="2103120" cy="2926080"/>
            <a:chOff x="9829800" y="1097280"/>
            <a:chExt cx="2103120" cy="2926080"/>
          </a:xfrm>
        </p:grpSpPr>
        <p:sp>
          <p:nvSpPr>
            <p:cNvPr id="28" name="Forma 27"/>
            <p:cNvSpPr/>
            <p:nvPr/>
          </p:nvSpPr>
          <p:spPr>
            <a:xfrm>
              <a:off x="9829800" y="1298448"/>
              <a:ext cx="2103120" cy="27249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HIF-1α actúa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induciendo la expresión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quinasa; la insulina actúa sobre todo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activando la fosfatasa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995781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SEÑALES FISIOLÓGICAS QUE REGULAN EL COMPLEJO PDH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!!Balanza"/>
          <p:cNvGrpSpPr/>
          <p:nvPr/>
        </p:nvGrpSpPr>
        <p:grpSpPr>
          <a:xfrm>
            <a:off x="548640" y="3291840"/>
            <a:ext cx="7223760" cy="2743200"/>
            <a:chOff x="548640" y="3291840"/>
            <a:chExt cx="7223760" cy="2743200"/>
          </a:xfrm>
        </p:grpSpPr>
        <p:sp>
          <p:nvSpPr>
            <p:cNvPr id="6" name="Forma 5"/>
            <p:cNvSpPr/>
            <p:nvPr/>
          </p:nvSpPr>
          <p:spPr>
            <a:xfrm>
              <a:off x="3749040" y="4754880"/>
              <a:ext cx="822960" cy="1280160"/>
            </a:xfrm>
            <a:prstGeom prst="triangle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914400" y="4526280"/>
              <a:ext cx="6492240" cy="18288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8" name="Forma 7"/>
            <p:cNvSpPr/>
            <p:nvPr/>
          </p:nvSpPr>
          <p:spPr>
            <a:xfrm>
              <a:off x="548640" y="3291840"/>
              <a:ext cx="2377440" cy="1234440"/>
            </a:xfrm>
            <a:prstGeom prst="roundRect">
              <a:avLst>
                <a:gd name="adj" fmla="val 30000"/>
              </a:avLst>
            </a:prstGeom>
            <a:solidFill>
              <a:srgbClr val="D5F5E3">
                <a:alpha val="80000"/>
              </a:srgbClr>
            </a:soli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5394960" y="3291840"/>
              <a:ext cx="2377440" cy="1234440"/>
            </a:xfrm>
            <a:prstGeom prst="roundRect">
              <a:avLst>
                <a:gd name="adj" fmla="val 30000"/>
              </a:avLst>
            </a:prstGeom>
            <a:solidFill>
              <a:srgbClr val="FADBD8">
                <a:alpha val="80000"/>
              </a:srgbClr>
            </a:solidFill>
            <a:ln w="19050" cap="rnd">
              <a:solidFill>
                <a:srgbClr val="1E1E1E"/>
              </a:solidFill>
              <a:round/>
            </a:ln>
          </p:spPr>
        </p:sp>
      </p:grpSp>
      <p:grpSp>
        <p:nvGrpSpPr>
          <p:cNvPr id="10" name="Sustratos"/>
          <p:cNvGrpSpPr/>
          <p:nvPr/>
        </p:nvGrpSpPr>
        <p:grpSpPr>
          <a:xfrm>
            <a:off x="640080" y="3383280"/>
            <a:ext cx="2194560" cy="960120"/>
            <a:chOff x="640080" y="3383280"/>
            <a:chExt cx="2194560" cy="960120"/>
          </a:xfrm>
        </p:grpSpPr>
        <p:sp>
          <p:nvSpPr>
            <p:cNvPr id="11" name="Ficha Piruvato"/>
            <p:cNvSpPr/>
            <p:nvPr/>
          </p:nvSpPr>
          <p:spPr>
            <a:xfrm>
              <a:off x="640080" y="3383280"/>
              <a:ext cx="10515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2" name="Ficha CoA"/>
            <p:cNvSpPr/>
            <p:nvPr/>
          </p:nvSpPr>
          <p:spPr>
            <a:xfrm>
              <a:off x="1783080" y="3383280"/>
              <a:ext cx="10515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3" name="Ficha NAD+"/>
            <p:cNvSpPr/>
            <p:nvPr/>
          </p:nvSpPr>
          <p:spPr>
            <a:xfrm>
              <a:off x="640080" y="3931920"/>
              <a:ext cx="10515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FD6F0"/>
                </a:gs>
                <a:gs pos="55000">
                  <a:srgbClr val="85C1E9"/>
                </a:gs>
                <a:gs pos="100000">
                  <a:srgbClr val="6A9AB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26074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NAD</a:t>
              </a:r>
              <a:r>
                <a:rPr lang="es-AR" sz="1200" b="1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4" name="Ficha ADP"/>
            <p:cNvSpPr/>
            <p:nvPr/>
          </p:nvSpPr>
          <p:spPr>
            <a:xfrm>
              <a:off x="1783080" y="3931920"/>
              <a:ext cx="10515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8A2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C6238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ADP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15" name="Productos"/>
          <p:cNvGrpSpPr/>
          <p:nvPr/>
        </p:nvGrpSpPr>
        <p:grpSpPr>
          <a:xfrm>
            <a:off x="5486400" y="3383280"/>
            <a:ext cx="2240280" cy="960120"/>
            <a:chOff x="5486400" y="3383280"/>
            <a:chExt cx="2240280" cy="960120"/>
          </a:xfrm>
        </p:grpSpPr>
        <p:sp>
          <p:nvSpPr>
            <p:cNvPr id="16" name="Ficha Acetil-CoA"/>
            <p:cNvSpPr/>
            <p:nvPr/>
          </p:nvSpPr>
          <p:spPr>
            <a:xfrm>
              <a:off x="5486400" y="3383280"/>
              <a:ext cx="109728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0BA60"/>
                </a:gs>
                <a:gs pos="55000">
                  <a:srgbClr val="B7950B"/>
                </a:gs>
                <a:gs pos="100000">
                  <a:srgbClr val="927708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5B4A0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Acetil-CoA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17" name="Ficha NADH"/>
            <p:cNvSpPr/>
            <p:nvPr/>
          </p:nvSpPr>
          <p:spPr>
            <a:xfrm>
              <a:off x="6629400" y="3383280"/>
              <a:ext cx="109728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D98B4"/>
                </a:gs>
                <a:gs pos="55000">
                  <a:srgbClr val="1F618D"/>
                </a:gs>
                <a:gs pos="100000">
                  <a:srgbClr val="184D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F30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NADH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18" name="Ficha ATP"/>
            <p:cNvSpPr/>
            <p:nvPr/>
          </p:nvSpPr>
          <p:spPr>
            <a:xfrm>
              <a:off x="5486400" y="3931920"/>
              <a:ext cx="109728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D659"/>
                </a:gs>
                <a:gs pos="55000">
                  <a:srgbClr val="FFC000"/>
                </a:gs>
                <a:gs pos="100000">
                  <a:srgbClr val="CC990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600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</a:t>
              </a:r>
              <a:endParaRPr lang="es-AR" sz="1150" dirty="0">
                <a:latin typeface="Calibri"/>
              </a:endParaRPr>
            </a:p>
          </p:txBody>
        </p:sp>
      </p:grpSp>
      <p:sp>
        <p:nvSpPr>
          <p:cNvPr id="19" name="Mucho sustrato"/>
          <p:cNvSpPr/>
          <p:nvPr/>
        </p:nvSpPr>
        <p:spPr>
          <a:xfrm>
            <a:off x="365760" y="1097280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Mucho sustrato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activa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la vía (activa el complejo / inhibe la quinasa).</a:t>
            </a:r>
            <a:endParaRPr lang="es-AR" sz="2050" dirty="0">
              <a:latin typeface="Calibri"/>
            </a:endParaRPr>
          </a:p>
        </p:txBody>
      </p:sp>
      <p:sp>
        <p:nvSpPr>
          <p:cNvPr id="20" name="Mucho producto"/>
          <p:cNvSpPr/>
          <p:nvPr/>
        </p:nvSpPr>
        <p:spPr>
          <a:xfrm>
            <a:off x="4343400" y="1097280"/>
            <a:ext cx="3657600" cy="19202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Mucho producto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frena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la vía (frena el complejo / activa la quinasa).</a:t>
            </a:r>
            <a:endParaRPr lang="es-AR" sz="2050" dirty="0">
              <a:latin typeface="Calibri"/>
            </a:endParaRPr>
          </a:p>
        </p:txBody>
      </p:sp>
      <p:grpSp>
        <p:nvGrpSpPr>
          <p:cNvPr id="21" name="Principio retro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22" name="Forma 21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retroalimentación negativa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que asegura el equilibrio metabólico: la vía responde a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relación entre lo que entra y lo que sale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1097280"/>
              <a:ext cx="111210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PRINCIPIO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PRINCIPIO GENERAL: SUSTRATO FRENTE A PRODUCTO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Tabla resumen PDH fila 0"/>
          <p:cNvGrpSpPr/>
          <p:nvPr/>
        </p:nvGrpSpPr>
        <p:grpSpPr>
          <a:xfrm>
            <a:off x="3246120" y="1143000"/>
            <a:ext cx="6217920" cy="822960"/>
            <a:chOff x="3246120" y="1143000"/>
            <a:chExt cx="6217920" cy="822960"/>
          </a:xfrm>
        </p:grpSpPr>
        <p:sp>
          <p:nvSpPr>
            <p:cNvPr id="7" name="Forma 6"/>
            <p:cNvSpPr/>
            <p:nvPr/>
          </p:nvSpPr>
          <p:spPr>
            <a:xfrm>
              <a:off x="3246120" y="1143000"/>
              <a:ext cx="164592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endParaRPr lang="es-AR" sz="15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4892040" y="1143000"/>
              <a:ext cx="251460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PDH-QUINASA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7406640" y="1143000"/>
              <a:ext cx="205740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PDH-FOSFATASA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0" name="Tabla resumen PDH fila 1"/>
          <p:cNvGrpSpPr/>
          <p:nvPr/>
        </p:nvGrpSpPr>
        <p:grpSpPr>
          <a:xfrm>
            <a:off x="3246120" y="1965960"/>
            <a:ext cx="6217920" cy="822960"/>
            <a:chOff x="3246120" y="1965960"/>
            <a:chExt cx="6217920" cy="822960"/>
          </a:xfrm>
        </p:grpSpPr>
        <p:sp>
          <p:nvSpPr>
            <p:cNvPr id="11" name="Forma 10"/>
            <p:cNvSpPr/>
            <p:nvPr/>
          </p:nvSpPr>
          <p:spPr>
            <a:xfrm>
              <a:off x="3246120" y="1965960"/>
              <a:ext cx="164592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Mecanismo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4892040" y="1965960"/>
              <a:ext cx="2514600" cy="822960"/>
            </a:xfrm>
            <a:prstGeom prst="rect">
              <a:avLst/>
            </a:prstGeom>
            <a:solidFill>
              <a:srgbClr val="FDEBD0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Fosforila el complejo (E1)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7406640" y="1965960"/>
              <a:ext cx="2057400" cy="822960"/>
            </a:xfrm>
            <a:prstGeom prst="rect">
              <a:avLst/>
            </a:prstGeom>
            <a:solidFill>
              <a:srgbClr val="EAF2F8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Desfosforila el complejo (E1)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4" name="Tabla resumen PDH fila 2"/>
          <p:cNvGrpSpPr/>
          <p:nvPr/>
        </p:nvGrpSpPr>
        <p:grpSpPr>
          <a:xfrm>
            <a:off x="3246120" y="2788920"/>
            <a:ext cx="6217920" cy="822960"/>
            <a:chOff x="3246120" y="2788920"/>
            <a:chExt cx="6217920" cy="822960"/>
          </a:xfrm>
        </p:grpSpPr>
        <p:sp>
          <p:nvSpPr>
            <p:cNvPr id="15" name="Forma 14"/>
            <p:cNvSpPr/>
            <p:nvPr/>
          </p:nvSpPr>
          <p:spPr>
            <a:xfrm>
              <a:off x="3246120" y="2788920"/>
              <a:ext cx="1645920" cy="82296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Efecto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4892040" y="2788920"/>
              <a:ext cx="2514600" cy="822960"/>
            </a:xfrm>
            <a:prstGeom prst="rect">
              <a:avLst/>
            </a:prstGeom>
            <a:solidFill>
              <a:srgbClr val="FDEBD0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inactivo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7406640" y="2788920"/>
              <a:ext cx="2057400" cy="822960"/>
            </a:xfrm>
            <a:prstGeom prst="rect">
              <a:avLst/>
            </a:prstGeom>
            <a:solidFill>
              <a:srgbClr val="EAF2F8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activo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8" name="Tabla resumen PDH fila 3"/>
          <p:cNvGrpSpPr/>
          <p:nvPr/>
        </p:nvGrpSpPr>
        <p:grpSpPr>
          <a:xfrm>
            <a:off x="3246120" y="3611880"/>
            <a:ext cx="6217920" cy="822960"/>
            <a:chOff x="3246120" y="3611880"/>
            <a:chExt cx="6217920" cy="822960"/>
          </a:xfrm>
        </p:grpSpPr>
        <p:sp>
          <p:nvSpPr>
            <p:cNvPr id="19" name="Forma 18"/>
            <p:cNvSpPr/>
            <p:nvPr/>
          </p:nvSpPr>
          <p:spPr>
            <a:xfrm>
              <a:off x="3246120" y="3611880"/>
              <a:ext cx="164592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activan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4892040" y="3611880"/>
              <a:ext cx="2514600" cy="822960"/>
            </a:xfrm>
            <a:prstGeom prst="rect">
              <a:avLst/>
            </a:prstGeom>
            <a:solidFill>
              <a:srgbClr val="FDEBD0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ATP, NADH, acetil-CoA, hipoxia (HIF-1α), ayuno, corticoides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7406640" y="3611880"/>
              <a:ext cx="2057400" cy="822960"/>
            </a:xfrm>
            <a:prstGeom prst="rect">
              <a:avLst/>
            </a:prstGeom>
            <a:solidFill>
              <a:srgbClr val="EAF2F8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</a:t>
              </a:r>
              <a:r>
                <a:rPr lang="es-AR" sz="15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insulina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2" name="Tabla resumen PDH fila 4"/>
          <p:cNvGrpSpPr/>
          <p:nvPr/>
        </p:nvGrpSpPr>
        <p:grpSpPr>
          <a:xfrm>
            <a:off x="3246120" y="4434840"/>
            <a:ext cx="6217920" cy="822960"/>
            <a:chOff x="3246120" y="4434840"/>
            <a:chExt cx="6217920" cy="822960"/>
          </a:xfrm>
        </p:grpSpPr>
        <p:sp>
          <p:nvSpPr>
            <p:cNvPr id="23" name="Forma 22"/>
            <p:cNvSpPr/>
            <p:nvPr/>
          </p:nvSpPr>
          <p:spPr>
            <a:xfrm>
              <a:off x="3246120" y="4434840"/>
              <a:ext cx="1645920" cy="82296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inhiben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4892040" y="4434840"/>
              <a:ext cx="2514600" cy="822960"/>
            </a:xfrm>
            <a:prstGeom prst="rect">
              <a:avLst/>
            </a:prstGeom>
            <a:solidFill>
              <a:srgbClr val="FDEBD0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ADP, NAD</a:t>
              </a:r>
              <a:r>
                <a:rPr lang="es-AR" sz="15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CoA libre, piruvato, insulina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7406640" y="4434840"/>
              <a:ext cx="2057400" cy="822960"/>
            </a:xfrm>
            <a:prstGeom prst="rect">
              <a:avLst/>
            </a:prstGeom>
            <a:solidFill>
              <a:srgbClr val="EAF2F8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26" name="Nota insulina"/>
          <p:cNvSpPr/>
          <p:nvPr/>
        </p:nvSpPr>
        <p:spPr>
          <a:xfrm>
            <a:off x="3246120" y="5440680"/>
            <a:ext cx="6217920" cy="9144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insulina</a:t>
            </a: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figura en ambas columnas: inhibe a la quinasa y favorece a la fosfatasa; en los dos casos el resultado es un complejo </a:t>
            </a: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activo</a:t>
            </a: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600" dirty="0">
              <a:latin typeface="Calibri"/>
            </a:endParaRPr>
          </a:p>
        </p:txBody>
      </p:sp>
      <p:sp>
        <p:nvSpPr>
          <p:cNvPr id="27" name="Quinasa resumen"/>
          <p:cNvSpPr/>
          <p:nvPr/>
        </p:nvSpPr>
        <p:spPr>
          <a:xfrm>
            <a:off x="457200" y="1371600"/>
            <a:ext cx="2194560" cy="1737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11" y="500"/>
                </a:moveTo>
                <a:cubicBezTo>
                  <a:pt x="912" y="563"/>
                  <a:pt x="869" y="633"/>
                  <a:pt x="836" y="694"/>
                </a:cubicBezTo>
                <a:cubicBezTo>
                  <a:pt x="802" y="754"/>
                  <a:pt x="766" y="819"/>
                  <a:pt x="710" y="863"/>
                </a:cubicBezTo>
                <a:cubicBezTo>
                  <a:pt x="654" y="906"/>
                  <a:pt x="566" y="959"/>
                  <a:pt x="500" y="953"/>
                </a:cubicBezTo>
                <a:cubicBezTo>
                  <a:pt x="433" y="946"/>
                  <a:pt x="366" y="869"/>
                  <a:pt x="312" y="825"/>
                </a:cubicBezTo>
                <a:cubicBezTo>
                  <a:pt x="257" y="781"/>
                  <a:pt x="218" y="743"/>
                  <a:pt x="171" y="689"/>
                </a:cubicBezTo>
                <a:cubicBezTo>
                  <a:pt x="123" y="634"/>
                  <a:pt x="33" y="568"/>
                  <a:pt x="25" y="500"/>
                </a:cubicBezTo>
                <a:cubicBezTo>
                  <a:pt x="16" y="432"/>
                  <a:pt x="72" y="336"/>
                  <a:pt x="120" y="281"/>
                </a:cubicBezTo>
                <a:cubicBezTo>
                  <a:pt x="167" y="225"/>
                  <a:pt x="244" y="201"/>
                  <a:pt x="308" y="169"/>
                </a:cubicBezTo>
                <a:cubicBezTo>
                  <a:pt x="371" y="136"/>
                  <a:pt x="430" y="93"/>
                  <a:pt x="499" y="84"/>
                </a:cubicBezTo>
                <a:cubicBezTo>
                  <a:pt x="568" y="75"/>
                  <a:pt x="667" y="77"/>
                  <a:pt x="722" y="115"/>
                </a:cubicBezTo>
                <a:cubicBezTo>
                  <a:pt x="776" y="152"/>
                  <a:pt x="794" y="246"/>
                  <a:pt x="826" y="311"/>
                </a:cubicBezTo>
                <a:cubicBezTo>
                  <a:pt x="857" y="375"/>
                  <a:pt x="909" y="436"/>
                  <a:pt x="911" y="500"/>
                </a:cubicBezTo>
                <a:close/>
              </a:path>
            </a:pathLst>
          </a:cu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B78430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A5820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PDH</a:t>
            </a:r>
            <a:endParaRPr lang="es-AR" sz="16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quinasa</a:t>
            </a:r>
            <a:endParaRPr lang="es-AR" sz="1600" dirty="0">
              <a:latin typeface="Calibri"/>
            </a:endParaRPr>
          </a:p>
        </p:txBody>
      </p:sp>
      <p:sp>
        <p:nvSpPr>
          <p:cNvPr id="28" name="Fosfatasa resumen"/>
          <p:cNvSpPr/>
          <p:nvPr/>
        </p:nvSpPr>
        <p:spPr>
          <a:xfrm>
            <a:off x="457200" y="3931920"/>
            <a:ext cx="2194560" cy="1737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99" y="500"/>
                </a:moveTo>
                <a:cubicBezTo>
                  <a:pt x="896" y="571"/>
                  <a:pt x="892" y="647"/>
                  <a:pt x="861" y="708"/>
                </a:cubicBezTo>
                <a:cubicBezTo>
                  <a:pt x="829" y="768"/>
                  <a:pt x="769" y="831"/>
                  <a:pt x="709" y="861"/>
                </a:cubicBezTo>
                <a:cubicBezTo>
                  <a:pt x="648" y="890"/>
                  <a:pt x="567" y="889"/>
                  <a:pt x="500" y="886"/>
                </a:cubicBezTo>
                <a:cubicBezTo>
                  <a:pt x="432" y="882"/>
                  <a:pt x="369" y="867"/>
                  <a:pt x="303" y="841"/>
                </a:cubicBezTo>
                <a:cubicBezTo>
                  <a:pt x="236" y="815"/>
                  <a:pt x="130" y="786"/>
                  <a:pt x="101" y="730"/>
                </a:cubicBezTo>
                <a:cubicBezTo>
                  <a:pt x="71" y="673"/>
                  <a:pt x="113" y="570"/>
                  <a:pt x="125" y="500"/>
                </a:cubicBezTo>
                <a:cubicBezTo>
                  <a:pt x="136" y="430"/>
                  <a:pt x="139" y="366"/>
                  <a:pt x="170" y="310"/>
                </a:cubicBezTo>
                <a:cubicBezTo>
                  <a:pt x="200" y="254"/>
                  <a:pt x="251" y="199"/>
                  <a:pt x="306" y="164"/>
                </a:cubicBezTo>
                <a:cubicBezTo>
                  <a:pt x="360" y="128"/>
                  <a:pt x="427" y="111"/>
                  <a:pt x="499" y="99"/>
                </a:cubicBezTo>
                <a:cubicBezTo>
                  <a:pt x="570" y="86"/>
                  <a:pt x="673" y="59"/>
                  <a:pt x="736" y="90"/>
                </a:cubicBezTo>
                <a:cubicBezTo>
                  <a:pt x="798" y="120"/>
                  <a:pt x="847" y="213"/>
                  <a:pt x="875" y="282"/>
                </a:cubicBezTo>
                <a:cubicBezTo>
                  <a:pt x="902" y="350"/>
                  <a:pt x="901" y="429"/>
                  <a:pt x="899" y="500"/>
                </a:cubicBezTo>
                <a:close/>
              </a:path>
            </a:pathLst>
          </a:custGeom>
          <a:gradFill rotWithShape="1">
            <a:gsLst>
              <a:gs pos="0">
                <a:srgbClr val="D2E8F7"/>
              </a:gs>
              <a:gs pos="55000">
                <a:srgbClr val="AED6F1"/>
              </a:gs>
              <a:gs pos="100000">
                <a:srgbClr val="82A0B4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576B78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PDH</a:t>
            </a:r>
            <a:endParaRPr lang="es-AR" sz="16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fosfatasa</a:t>
            </a:r>
            <a:endParaRPr lang="es-AR" sz="1600" dirty="0">
              <a:latin typeface="Calibri"/>
            </a:endParaRPr>
          </a:p>
        </p:txBody>
      </p:sp>
      <p:sp>
        <p:nvSpPr>
          <p:cNvPr id="29" name="Regla de oro PDH"/>
          <p:cNvSpPr/>
          <p:nvPr/>
        </p:nvSpPr>
        <p:spPr>
          <a:xfrm>
            <a:off x="9646920" y="1143000"/>
            <a:ext cx="2286000" cy="530352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Fosforilado = inactivo</a:t>
            </a: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endParaRPr lang="es-AR" sz="2200" dirty="0">
              <a:latin typeface="Calibri"/>
            </a:endParaRPr>
          </a:p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Desfosforilado = activo</a:t>
            </a:r>
            <a:endParaRPr lang="es-AR" sz="22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RESUMEN: PDH-QUINASA FRENTE A PDH-FOSFATASA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715582" y="182880"/>
            <a:ext cx="220179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 · METABOLISMO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6" grpId="0" animBg="1"/>
      <p:bldP spid="29" grpId="0" animBg="1"/>
    </p:bld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F9393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4" name="Unidad"/>
          <p:cNvSpPr/>
          <p:nvPr/>
        </p:nvSpPr>
        <p:spPr>
          <a:xfrm>
            <a:off x="457200" y="411480"/>
            <a:ext cx="1460447" cy="41910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</a:t>
            </a:r>
            <a:endParaRPr lang="es-AR" sz="2000" dirty="0">
              <a:latin typeface="Calibri"/>
            </a:endParaRPr>
          </a:p>
        </p:txBody>
      </p:sp>
      <p:sp>
        <p:nvSpPr>
          <p:cNvPr id="5" name="Título unidad"/>
          <p:cNvSpPr txBox="1"/>
          <p:nvPr/>
        </p:nvSpPr>
        <p:spPr>
          <a:xfrm>
            <a:off x="365760" y="96012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"/>
              </a:lnSpc>
              <a:spcAft>
                <a:spcPts val="300"/>
              </a:spcAft>
              <a:buNone/>
            </a:pPr>
            <a:r>
              <a:rPr lang="es-AR" sz="3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BIOQUÍMICA CLÍNICA DE LAS ANEMIAS</a:t>
            </a:r>
            <a:endParaRPr lang="es-AR" sz="3400" dirty="0">
              <a:latin typeface="Segoe Print"/>
            </a:endParaRPr>
          </a:p>
        </p:txBody>
      </p:sp>
      <p:sp>
        <p:nvSpPr>
          <p:cNvPr id="6" name="Subtítulo unidad"/>
          <p:cNvSpPr txBox="1"/>
          <p:nvPr/>
        </p:nvSpPr>
        <p:spPr>
          <a:xfrm>
            <a:off x="411480" y="33832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Del transporte de oxígeno a la lectura del hemograma</a:t>
            </a:r>
            <a:endParaRPr lang="es-AR" sz="1800" dirty="0">
              <a:latin typeface="Calibri"/>
            </a:endParaRPr>
          </a:p>
        </p:txBody>
      </p:sp>
      <p:grpSp>
        <p:nvGrpSpPr>
          <p:cNvPr id="7" name="Temario"/>
          <p:cNvGrpSpPr/>
          <p:nvPr/>
        </p:nvGrpSpPr>
        <p:grpSpPr>
          <a:xfrm>
            <a:off x="411480" y="4023360"/>
            <a:ext cx="5486400" cy="2514600"/>
            <a:chOff x="411480" y="4023360"/>
            <a:chExt cx="5486400" cy="2514600"/>
          </a:xfrm>
        </p:grpSpPr>
        <p:sp>
          <p:nvSpPr>
            <p:cNvPr id="8" name="Forma 7"/>
            <p:cNvSpPr/>
            <p:nvPr/>
          </p:nvSpPr>
          <p:spPr>
            <a:xfrm>
              <a:off x="41148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Definición y hemoglobina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Volumen plasmático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Manifestaciones clínicas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Severidad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Índices hematimétricos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320040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Clasificación morfológica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 y clasificación fisiopatológica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 megaloblástica y vitamina B</a:t>
              </a:r>
              <a:r>
                <a:rPr lang="es-AR" sz="15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Biomarcadores: LDH, bilirrubina, Coombs, VSG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Casos clínicos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0" name="Arte unidad III"/>
          <p:cNvGrpSpPr/>
          <p:nvPr/>
        </p:nvGrpSpPr>
        <p:grpSpPr>
          <a:xfrm>
            <a:off x="6217920" y="548640"/>
            <a:ext cx="5760720" cy="5577840"/>
            <a:chOff x="6217920" y="548640"/>
            <a:chExt cx="5760720" cy="5577840"/>
          </a:xfrm>
        </p:grpSpPr>
        <p:grpSp>
          <p:nvGrpSpPr>
            <p:cNvPr id="11" name="Vaso div"/>
            <p:cNvGrpSpPr/>
            <p:nvPr/>
          </p:nvGrpSpPr>
          <p:grpSpPr>
            <a:xfrm>
              <a:off x="6217920" y="548640"/>
              <a:ext cx="5760720" cy="1188720"/>
              <a:chOff x="6217920" y="548640"/>
              <a:chExt cx="5760720" cy="1188720"/>
            </a:xfrm>
          </p:grpSpPr>
          <p:sp>
            <p:nvSpPr>
              <p:cNvPr id="12" name="Forma 11"/>
              <p:cNvSpPr/>
              <p:nvPr/>
            </p:nvSpPr>
            <p:spPr>
              <a:xfrm>
                <a:off x="6217920" y="548640"/>
                <a:ext cx="5760720" cy="118872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7C251B"/>
                  </a:gs>
                  <a:gs pos="30000">
                    <a:srgbClr val="D2746A"/>
                  </a:gs>
                  <a:gs pos="55000">
                    <a:srgbClr val="C0392B"/>
                  </a:gs>
                  <a:gs pos="100000">
                    <a:srgbClr val="7C251B"/>
                  </a:gs>
                </a:gsLst>
                <a:lin ang="5400000" scaled="0"/>
              </a:gradFill>
              <a:ln w="15875" cap="rnd">
                <a:solidFill>
                  <a:srgbClr val="6E1A12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13" name="Forma 12"/>
              <p:cNvSpPr/>
              <p:nvPr/>
            </p:nvSpPr>
            <p:spPr>
              <a:xfrm>
                <a:off x="6396228" y="762610"/>
                <a:ext cx="5404104" cy="7607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2B8B0"/>
                  </a:gs>
                  <a:gs pos="50000">
                    <a:srgbClr val="F8D3CD"/>
                  </a:gs>
                  <a:gs pos="100000">
                    <a:srgbClr val="EBA59C"/>
                  </a:gs>
                </a:gsLst>
                <a:lin ang="5400000" scaled="0"/>
              </a:gradFill>
              <a:ln w="9525" cap="rnd">
                <a:solidFill>
                  <a:srgbClr val="A93226"/>
                </a:solidFill>
                <a:round/>
              </a:ln>
            </p:spPr>
          </p:sp>
          <p:sp>
            <p:nvSpPr>
              <p:cNvPr id="14" name="Eritrocito"/>
              <p:cNvSpPr/>
              <p:nvPr/>
            </p:nvSpPr>
            <p:spPr>
              <a:xfrm>
                <a:off x="6804450" y="1127495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  <p:sp>
            <p:nvSpPr>
              <p:cNvPr id="15" name="Eritrocito_2"/>
              <p:cNvSpPr/>
              <p:nvPr/>
            </p:nvSpPr>
            <p:spPr>
              <a:xfrm>
                <a:off x="7189354" y="871042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  <p:sp>
            <p:nvSpPr>
              <p:cNvPr id="16" name="Eritrocito_3"/>
              <p:cNvSpPr/>
              <p:nvPr/>
            </p:nvSpPr>
            <p:spPr>
              <a:xfrm>
                <a:off x="7977899" y="1064536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  <p:sp>
            <p:nvSpPr>
              <p:cNvPr id="17" name="Eritrocito_4"/>
              <p:cNvSpPr/>
              <p:nvPr/>
            </p:nvSpPr>
            <p:spPr>
              <a:xfrm>
                <a:off x="8539252" y="937392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  <p:sp>
            <p:nvSpPr>
              <p:cNvPr id="18" name="Eritrocito_5"/>
              <p:cNvSpPr/>
              <p:nvPr/>
            </p:nvSpPr>
            <p:spPr>
              <a:xfrm>
                <a:off x="9125130" y="1026149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  <p:sp>
            <p:nvSpPr>
              <p:cNvPr id="19" name="Eritrocito_6"/>
              <p:cNvSpPr/>
              <p:nvPr/>
            </p:nvSpPr>
            <p:spPr>
              <a:xfrm>
                <a:off x="9720398" y="892888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  <p:sp>
            <p:nvSpPr>
              <p:cNvPr id="20" name="Eritrocito_7"/>
              <p:cNvSpPr/>
              <p:nvPr/>
            </p:nvSpPr>
            <p:spPr>
              <a:xfrm>
                <a:off x="10285415" y="962770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  <p:sp>
            <p:nvSpPr>
              <p:cNvPr id="21" name="Eritrocito_8"/>
              <p:cNvSpPr/>
              <p:nvPr/>
            </p:nvSpPr>
            <p:spPr>
              <a:xfrm>
                <a:off x="10956937" y="1141460"/>
                <a:ext cx="499262" cy="499262"/>
              </a:xfrm>
              <a:prstGeom prst="ellipse">
                <a:avLst/>
              </a:prstGeom>
              <a:gradFill rotWithShape="1">
                <a:gsLst>
                  <a:gs pos="0">
                    <a:srgbClr val="E06A5F"/>
                  </a:gs>
                  <a:gs pos="38000">
                    <a:srgbClr val="EF8C80"/>
                  </a:gs>
                  <a:gs pos="72000">
                    <a:srgbClr val="C9372C"/>
                  </a:gs>
                  <a:gs pos="100000">
                    <a:srgbClr val="7B1F17"/>
                  </a:gs>
                </a:gsLst>
                <a:path path="circle">
                  <a:fillToRect l="50000" t="50000" r="50000" b="50000"/>
                </a:path>
              </a:gradFill>
              <a:ln w="9525" cap="rnd">
                <a:solidFill>
                  <a:srgbClr val="6E1A12"/>
                </a:solidFill>
                <a:round/>
              </a:ln>
            </p:spPr>
          </p:sp>
        </p:grpSp>
        <p:sp>
          <p:nvSpPr>
            <p:cNvPr id="22" name="GR div 0"/>
            <p:cNvSpPr/>
            <p:nvPr/>
          </p:nvSpPr>
          <p:spPr>
            <a:xfrm>
              <a:off x="6400800" y="2194560"/>
              <a:ext cx="1463040" cy="14630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3" name="GR div 1"/>
            <p:cNvSpPr/>
            <p:nvPr/>
          </p:nvSpPr>
          <p:spPr>
            <a:xfrm>
              <a:off x="7818120" y="2194560"/>
              <a:ext cx="1188720" cy="118872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4" name="GR div 2"/>
            <p:cNvSpPr/>
            <p:nvPr/>
          </p:nvSpPr>
          <p:spPr>
            <a:xfrm>
              <a:off x="9235440" y="2194560"/>
              <a:ext cx="1005840" cy="1005840"/>
            </a:xfrm>
            <a:prstGeom prst="ellipse">
              <a:avLst/>
            </a:prstGeom>
            <a:gradFill rotWithShape="1">
              <a:gsLst>
                <a:gs pos="0">
                  <a:srgbClr val="E35D52"/>
                </a:gs>
                <a:gs pos="55000">
                  <a:srgbClr val="B8261C"/>
                </a:gs>
                <a:gs pos="100000">
                  <a:srgbClr val="6E1510"/>
                </a:gs>
              </a:gsLst>
              <a:path path="circle">
                <a:fillToRect l="38000" t="32000" r="62000" b="68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5" name="GR div 3"/>
            <p:cNvSpPr/>
            <p:nvPr/>
          </p:nvSpPr>
          <p:spPr>
            <a:xfrm>
              <a:off x="10652760" y="2194560"/>
              <a:ext cx="1280160" cy="1280160"/>
            </a:xfrm>
            <a:prstGeom prst="ellipse">
              <a:avLst/>
            </a:prstGeom>
            <a:gradFill rotWithShape="1">
              <a:gsLst>
                <a:gs pos="0">
                  <a:srgbClr val="E3B4CF"/>
                </a:gs>
                <a:gs pos="30000">
                  <a:srgbClr val="E3B4CF"/>
                </a:gs>
                <a:gs pos="60000">
                  <a:srgbClr val="BB729D"/>
                </a:gs>
                <a:gs pos="100000">
                  <a:srgbClr val="723A5B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26" name="Hb div"/>
            <p:cNvGrpSpPr/>
            <p:nvPr/>
          </p:nvGrpSpPr>
          <p:grpSpPr>
            <a:xfrm>
              <a:off x="6510528" y="4041648"/>
              <a:ext cx="1609344" cy="1609344"/>
              <a:chOff x="6510528" y="4041648"/>
              <a:chExt cx="1609344" cy="1609344"/>
            </a:xfrm>
          </p:grpSpPr>
          <p:sp>
            <p:nvSpPr>
              <p:cNvPr id="27" name="Forma 26"/>
              <p:cNvSpPr/>
              <p:nvPr/>
            </p:nvSpPr>
            <p:spPr>
              <a:xfrm>
                <a:off x="6510528" y="4041648"/>
                <a:ext cx="877824" cy="877824"/>
              </a:xfrm>
              <a:prstGeom prst="ellipse">
                <a:avLst/>
              </a:prstGeom>
              <a:gradFill rotWithShape="1">
                <a:gsLst>
                  <a:gs pos="0">
                    <a:srgbClr val="EFABAB"/>
                  </a:gs>
                  <a:gs pos="55000">
                    <a:srgbClr val="E57373"/>
                  </a:gs>
                  <a:gs pos="100000">
                    <a:srgbClr val="AB5656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23939"/>
                </a:solidFill>
                <a:round/>
              </a:ln>
            </p:spPr>
            <p:txBody>
              <a:bodyPr wrap="square" lIns="0" tIns="91440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60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</a:t>
                </a:r>
                <a:endParaRPr lang="es-AR" sz="2600" dirty="0">
                  <a:latin typeface="Calibri"/>
                </a:endParaRPr>
              </a:p>
            </p:txBody>
          </p:sp>
          <p:sp>
            <p:nvSpPr>
              <p:cNvPr id="28" name="Forma 27"/>
              <p:cNvSpPr/>
              <p:nvPr/>
            </p:nvSpPr>
            <p:spPr>
              <a:xfrm>
                <a:off x="6821424" y="4517136"/>
                <a:ext cx="256032" cy="256032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29" name="Forma 28"/>
              <p:cNvSpPr/>
              <p:nvPr/>
            </p:nvSpPr>
            <p:spPr>
              <a:xfrm>
                <a:off x="7242048" y="4041648"/>
                <a:ext cx="877824" cy="877824"/>
              </a:xfrm>
              <a:prstGeom prst="ellipse">
                <a:avLst/>
              </a:prstGeom>
              <a:gradFill rotWithShape="1">
                <a:gsLst>
                  <a:gs pos="0">
                    <a:srgbClr val="F9CF8D"/>
                  </a:gs>
                  <a:gs pos="55000">
                    <a:srgbClr val="F5B041"/>
                  </a:gs>
                  <a:gs pos="100000">
                    <a:srgbClr val="B78430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A5820"/>
                </a:solidFill>
                <a:round/>
              </a:ln>
            </p:spPr>
            <p:txBody>
              <a:bodyPr wrap="square" lIns="0" tIns="91440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60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β</a:t>
                </a:r>
                <a:endParaRPr lang="es-AR" sz="2600" dirty="0">
                  <a:latin typeface="Calibri"/>
                </a:endParaRPr>
              </a:p>
            </p:txBody>
          </p:sp>
          <p:sp>
            <p:nvSpPr>
              <p:cNvPr id="30" name="Forma 29"/>
              <p:cNvSpPr/>
              <p:nvPr/>
            </p:nvSpPr>
            <p:spPr>
              <a:xfrm>
                <a:off x="7552944" y="4517136"/>
                <a:ext cx="256032" cy="256032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6510528" y="4773168"/>
                <a:ext cx="877824" cy="877824"/>
              </a:xfrm>
              <a:prstGeom prst="ellipse">
                <a:avLst/>
              </a:prstGeom>
              <a:gradFill rotWithShape="1">
                <a:gsLst>
                  <a:gs pos="0">
                    <a:srgbClr val="F9CF8D"/>
                  </a:gs>
                  <a:gs pos="55000">
                    <a:srgbClr val="F5B041"/>
                  </a:gs>
                  <a:gs pos="100000">
                    <a:srgbClr val="B78430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A5820"/>
                </a:solidFill>
                <a:round/>
              </a:ln>
            </p:spPr>
            <p:txBody>
              <a:bodyPr wrap="square" lIns="0" tIns="91440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60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β</a:t>
                </a:r>
                <a:endParaRPr lang="es-AR" sz="2600" dirty="0">
                  <a:latin typeface="Calibri"/>
                </a:endParaRPr>
              </a:p>
            </p:txBody>
          </p:sp>
          <p:sp>
            <p:nvSpPr>
              <p:cNvPr id="32" name="Forma 31"/>
              <p:cNvSpPr/>
              <p:nvPr/>
            </p:nvSpPr>
            <p:spPr>
              <a:xfrm>
                <a:off x="6821424" y="5248656"/>
                <a:ext cx="256032" cy="256032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33" name="Forma 32"/>
              <p:cNvSpPr/>
              <p:nvPr/>
            </p:nvSpPr>
            <p:spPr>
              <a:xfrm>
                <a:off x="7242048" y="4773168"/>
                <a:ext cx="877824" cy="877824"/>
              </a:xfrm>
              <a:prstGeom prst="ellipse">
                <a:avLst/>
              </a:prstGeom>
              <a:gradFill rotWithShape="1">
                <a:gsLst>
                  <a:gs pos="0">
                    <a:srgbClr val="EFABAB"/>
                  </a:gs>
                  <a:gs pos="55000">
                    <a:srgbClr val="E57373"/>
                  </a:gs>
                  <a:gs pos="100000">
                    <a:srgbClr val="AB5656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23939"/>
                </a:solidFill>
                <a:round/>
              </a:ln>
            </p:spPr>
            <p:txBody>
              <a:bodyPr wrap="square" lIns="0" tIns="91440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60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</a:t>
                </a:r>
                <a:endParaRPr lang="es-AR" sz="2600" dirty="0">
                  <a:latin typeface="Calibri"/>
                </a:endParaRPr>
              </a:p>
            </p:txBody>
          </p:sp>
          <p:sp>
            <p:nvSpPr>
              <p:cNvPr id="34" name="Forma 33"/>
              <p:cNvSpPr/>
              <p:nvPr/>
            </p:nvSpPr>
            <p:spPr>
              <a:xfrm>
                <a:off x="7552944" y="5248656"/>
                <a:ext cx="256032" cy="256032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</p:grpSp>
        <p:grpSp>
          <p:nvGrpSpPr>
            <p:cNvPr id="35" name="Médula div"/>
            <p:cNvGrpSpPr/>
            <p:nvPr/>
          </p:nvGrpSpPr>
          <p:grpSpPr>
            <a:xfrm>
              <a:off x="8595360" y="3840480"/>
              <a:ext cx="3291840" cy="2286000"/>
              <a:chOff x="8595360" y="3840480"/>
              <a:chExt cx="3291840" cy="2286000"/>
            </a:xfrm>
          </p:grpSpPr>
          <p:sp>
            <p:nvSpPr>
              <p:cNvPr id="36" name="Hueso"/>
              <p:cNvSpPr/>
              <p:nvPr/>
            </p:nvSpPr>
            <p:spPr>
              <a:xfrm>
                <a:off x="8595360" y="3840480"/>
                <a:ext cx="3291840" cy="2286000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6DDCC"/>
                  </a:gs>
                  <a:gs pos="100000">
                    <a:srgbClr val="EDBB99"/>
                  </a:gs>
                </a:gsLst>
                <a:lin ang="5400000" scaled="0"/>
              </a:gradFill>
              <a:ln w="25400" cap="rnd">
                <a:solidFill>
                  <a:srgbClr val="873600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7" name="Médula"/>
              <p:cNvSpPr/>
              <p:nvPr/>
            </p:nvSpPr>
            <p:spPr>
              <a:xfrm>
                <a:off x="8792870" y="4114800"/>
                <a:ext cx="2896819" cy="1737360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9E79F"/>
                  </a:gs>
                  <a:gs pos="100000">
                    <a:srgbClr val="F5B7B1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A04000"/>
                </a:solidFill>
                <a:round/>
              </a:ln>
            </p:spPr>
          </p:sp>
          <p:sp>
            <p:nvSpPr>
              <p:cNvPr id="38" name="Forma 37"/>
              <p:cNvSpPr/>
              <p:nvPr/>
            </p:nvSpPr>
            <p:spPr>
              <a:xfrm>
                <a:off x="9585720" y="5044145"/>
                <a:ext cx="225166" cy="225166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9653270" y="5111695"/>
                <a:ext cx="90066" cy="9006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10555807" y="4387559"/>
                <a:ext cx="184385" cy="184385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41" name="Forma 40"/>
              <p:cNvSpPr/>
              <p:nvPr/>
            </p:nvSpPr>
            <p:spPr>
              <a:xfrm>
                <a:off x="10611122" y="4442875"/>
                <a:ext cx="73754" cy="73754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2" name="Forma 41"/>
              <p:cNvSpPr/>
              <p:nvPr/>
            </p:nvSpPr>
            <p:spPr>
              <a:xfrm>
                <a:off x="9639232" y="4619088"/>
                <a:ext cx="296682" cy="296682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9728237" y="4708093"/>
                <a:ext cx="118673" cy="118673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10343788" y="5051554"/>
                <a:ext cx="228272" cy="228272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45" name="Forma 44"/>
              <p:cNvSpPr/>
              <p:nvPr/>
            </p:nvSpPr>
            <p:spPr>
              <a:xfrm>
                <a:off x="10412270" y="5120036"/>
                <a:ext cx="91309" cy="91309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6" name="Forma 45"/>
              <p:cNvSpPr/>
              <p:nvPr/>
            </p:nvSpPr>
            <p:spPr>
              <a:xfrm>
                <a:off x="9570603" y="4505645"/>
                <a:ext cx="288703" cy="288703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47" name="Forma 46"/>
              <p:cNvSpPr/>
              <p:nvPr/>
            </p:nvSpPr>
            <p:spPr>
              <a:xfrm>
                <a:off x="9657214" y="4592256"/>
                <a:ext cx="115481" cy="115481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8" name="Forma 47"/>
              <p:cNvSpPr/>
              <p:nvPr/>
            </p:nvSpPr>
            <p:spPr>
              <a:xfrm>
                <a:off x="10844844" y="5218588"/>
                <a:ext cx="190199" cy="190199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49" name="Forma 48"/>
              <p:cNvSpPr/>
              <p:nvPr/>
            </p:nvSpPr>
            <p:spPr>
              <a:xfrm>
                <a:off x="10901903" y="5275648"/>
                <a:ext cx="76080" cy="76080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50" name="Forma 49"/>
              <p:cNvSpPr/>
              <p:nvPr/>
            </p:nvSpPr>
            <p:spPr>
              <a:xfrm>
                <a:off x="9744092" y="4340216"/>
                <a:ext cx="281810" cy="281810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>
                <a:off x="9828635" y="4424759"/>
                <a:ext cx="112724" cy="112724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52" name="Forma 51"/>
              <p:cNvSpPr/>
              <p:nvPr/>
            </p:nvSpPr>
            <p:spPr>
              <a:xfrm>
                <a:off x="10478324" y="5559767"/>
                <a:ext cx="227184" cy="227184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53" name="Forma 52"/>
              <p:cNvSpPr/>
              <p:nvPr/>
            </p:nvSpPr>
            <p:spPr>
              <a:xfrm>
                <a:off x="10546479" y="5627922"/>
                <a:ext cx="90873" cy="90873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54" name="Forma 53"/>
              <p:cNvSpPr/>
              <p:nvPr/>
            </p:nvSpPr>
            <p:spPr>
              <a:xfrm>
                <a:off x="9978500" y="5396206"/>
                <a:ext cx="233700" cy="233700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55" name="Forma 54"/>
              <p:cNvSpPr/>
              <p:nvPr/>
            </p:nvSpPr>
            <p:spPr>
              <a:xfrm>
                <a:off x="10048610" y="5466317"/>
                <a:ext cx="93480" cy="93480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56" name="Forma 55"/>
              <p:cNvSpPr/>
              <p:nvPr/>
            </p:nvSpPr>
            <p:spPr>
              <a:xfrm>
                <a:off x="11189128" y="4431348"/>
                <a:ext cx="198421" cy="198421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57" name="Forma 56"/>
              <p:cNvSpPr/>
              <p:nvPr/>
            </p:nvSpPr>
            <p:spPr>
              <a:xfrm>
                <a:off x="11248654" y="4490875"/>
                <a:ext cx="79368" cy="79368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58" name="Forma 57"/>
              <p:cNvSpPr/>
              <p:nvPr/>
            </p:nvSpPr>
            <p:spPr>
              <a:xfrm>
                <a:off x="9635798" y="5219452"/>
                <a:ext cx="271917" cy="271917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59" name="Forma 58"/>
              <p:cNvSpPr/>
              <p:nvPr/>
            </p:nvSpPr>
            <p:spPr>
              <a:xfrm>
                <a:off x="9717373" y="5301027"/>
                <a:ext cx="108767" cy="108767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60" name="Forma 59"/>
              <p:cNvSpPr/>
              <p:nvPr/>
            </p:nvSpPr>
            <p:spPr>
              <a:xfrm>
                <a:off x="10044009" y="5440877"/>
                <a:ext cx="248491" cy="248491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61" name="Forma 60"/>
              <p:cNvSpPr/>
              <p:nvPr/>
            </p:nvSpPr>
            <p:spPr>
              <a:xfrm>
                <a:off x="10118557" y="5515424"/>
                <a:ext cx="99396" cy="9939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62" name="Forma 61"/>
              <p:cNvSpPr/>
              <p:nvPr/>
            </p:nvSpPr>
            <p:spPr>
              <a:xfrm>
                <a:off x="10452061" y="5537883"/>
                <a:ext cx="260831" cy="260831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63" name="Forma 62"/>
              <p:cNvSpPr/>
              <p:nvPr/>
            </p:nvSpPr>
            <p:spPr>
              <a:xfrm>
                <a:off x="10530310" y="5616132"/>
                <a:ext cx="104332" cy="104332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64" name="Forma 63"/>
              <p:cNvSpPr/>
              <p:nvPr/>
            </p:nvSpPr>
            <p:spPr>
              <a:xfrm>
                <a:off x="11132922" y="5656921"/>
                <a:ext cx="259607" cy="259607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65" name="Forma 64"/>
              <p:cNvSpPr/>
              <p:nvPr/>
            </p:nvSpPr>
            <p:spPr>
              <a:xfrm>
                <a:off x="11210804" y="5734803"/>
                <a:ext cx="103843" cy="103843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</p:grpSp>
      </p:grpSp>
      <p:sp>
        <p:nvSpPr>
          <p:cNvPr id="6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Pulmones"/>
          <p:cNvGrpSpPr/>
          <p:nvPr/>
        </p:nvGrpSpPr>
        <p:grpSpPr>
          <a:xfrm>
            <a:off x="411480" y="1371600"/>
            <a:ext cx="2286000" cy="2240280"/>
            <a:chOff x="411480" y="1371600"/>
            <a:chExt cx="2286000" cy="2240280"/>
          </a:xfrm>
        </p:grpSpPr>
        <p:sp>
          <p:nvSpPr>
            <p:cNvPr id="6" name="Forma 5"/>
            <p:cNvSpPr/>
            <p:nvPr/>
          </p:nvSpPr>
          <p:spPr>
            <a:xfrm>
              <a:off x="411480" y="1371600"/>
              <a:ext cx="1097280" cy="18288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616" y="16"/>
                    <a:pt x="816" y="83"/>
                    <a:pt x="900" y="200"/>
                  </a:cubicBezTo>
                  <a:cubicBezTo>
                    <a:pt x="983" y="316"/>
                    <a:pt x="1033" y="566"/>
                    <a:pt x="1000" y="700"/>
                  </a:cubicBezTo>
                  <a:cubicBezTo>
                    <a:pt x="966" y="833"/>
                    <a:pt x="833" y="958"/>
                    <a:pt x="700" y="1000"/>
                  </a:cubicBezTo>
                  <a:cubicBezTo>
                    <a:pt x="566" y="1041"/>
                    <a:pt x="316" y="1033"/>
                    <a:pt x="200" y="950"/>
                  </a:cubicBezTo>
                  <a:cubicBezTo>
                    <a:pt x="83" y="866"/>
                    <a:pt x="0" y="641"/>
                    <a:pt x="0" y="500"/>
                  </a:cubicBezTo>
                  <a:cubicBezTo>
                    <a:pt x="0" y="358"/>
                    <a:pt x="116" y="183"/>
                    <a:pt x="200" y="100"/>
                  </a:cubicBezTo>
                  <a:cubicBezTo>
                    <a:pt x="283" y="16"/>
                    <a:pt x="383" y="-16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922B21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1600200" y="1371600"/>
              <a:ext cx="1097280" cy="18288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616" y="16"/>
                    <a:pt x="816" y="83"/>
                    <a:pt x="900" y="200"/>
                  </a:cubicBezTo>
                  <a:cubicBezTo>
                    <a:pt x="983" y="316"/>
                    <a:pt x="1033" y="566"/>
                    <a:pt x="1000" y="700"/>
                  </a:cubicBezTo>
                  <a:cubicBezTo>
                    <a:pt x="966" y="833"/>
                    <a:pt x="833" y="958"/>
                    <a:pt x="700" y="1000"/>
                  </a:cubicBezTo>
                  <a:cubicBezTo>
                    <a:pt x="566" y="1041"/>
                    <a:pt x="316" y="1033"/>
                    <a:pt x="200" y="950"/>
                  </a:cubicBezTo>
                  <a:cubicBezTo>
                    <a:pt x="83" y="866"/>
                    <a:pt x="0" y="641"/>
                    <a:pt x="0" y="500"/>
                  </a:cubicBezTo>
                  <a:cubicBezTo>
                    <a:pt x="0" y="358"/>
                    <a:pt x="116" y="183"/>
                    <a:pt x="200" y="100"/>
                  </a:cubicBezTo>
                  <a:cubicBezTo>
                    <a:pt x="283" y="16"/>
                    <a:pt x="383" y="-16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922B21"/>
              </a:solidFill>
              <a:round/>
            </a:ln>
          </p:spPr>
        </p:sp>
        <p:sp>
          <p:nvSpPr>
            <p:cNvPr id="8" name="Forma 7"/>
            <p:cNvSpPr txBox="1"/>
            <p:nvPr/>
          </p:nvSpPr>
          <p:spPr>
            <a:xfrm>
              <a:off x="411480" y="3246120"/>
              <a:ext cx="22860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922B21"/>
                  </a:solidFill>
                  <a:latin typeface="Calibri"/>
                  <a:ea typeface="Calibri"/>
                  <a:cs typeface="Calibri"/>
                  <a:sym typeface="Calibri"/>
                </a:rPr>
                <a:t>pulmones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9" name="!!Vaso sanguíneo"/>
          <p:cNvGrpSpPr/>
          <p:nvPr/>
        </p:nvGrpSpPr>
        <p:grpSpPr>
          <a:xfrm>
            <a:off x="2834640" y="1920240"/>
            <a:ext cx="3291840" cy="822960"/>
            <a:chOff x="2834640" y="1920240"/>
            <a:chExt cx="3291840" cy="822960"/>
          </a:xfrm>
        </p:grpSpPr>
        <p:sp>
          <p:nvSpPr>
            <p:cNvPr id="10" name="Forma 9"/>
            <p:cNvSpPr/>
            <p:nvPr/>
          </p:nvSpPr>
          <p:spPr>
            <a:xfrm>
              <a:off x="2834640" y="1920240"/>
              <a:ext cx="3291840" cy="8229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1" name="Forma 10"/>
            <p:cNvSpPr/>
            <p:nvPr/>
          </p:nvSpPr>
          <p:spPr>
            <a:xfrm>
              <a:off x="2958084" y="2068373"/>
              <a:ext cx="3044952" cy="52669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12" name="Eritrocito"/>
            <p:cNvSpPr/>
            <p:nvPr/>
          </p:nvSpPr>
          <p:spPr>
            <a:xfrm>
              <a:off x="3417220" y="2320986"/>
              <a:ext cx="345643" cy="34564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3" name="Eritrocito_2"/>
            <p:cNvSpPr/>
            <p:nvPr/>
          </p:nvSpPr>
          <p:spPr>
            <a:xfrm>
              <a:off x="3979209" y="2143442"/>
              <a:ext cx="345643" cy="34564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4" name="Eritrocito_3"/>
            <p:cNvSpPr/>
            <p:nvPr/>
          </p:nvSpPr>
          <p:spPr>
            <a:xfrm>
              <a:off x="5130544" y="2277398"/>
              <a:ext cx="345643" cy="34564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15" name="!!Tejidos"/>
          <p:cNvGrpSpPr/>
          <p:nvPr/>
        </p:nvGrpSpPr>
        <p:grpSpPr>
          <a:xfrm>
            <a:off x="6309360" y="1463040"/>
            <a:ext cx="1737360" cy="1783080"/>
            <a:chOff x="6309360" y="1463040"/>
            <a:chExt cx="1737360" cy="1783080"/>
          </a:xfrm>
        </p:grpSpPr>
        <p:sp>
          <p:nvSpPr>
            <p:cNvPr id="16" name="Forma 15"/>
            <p:cNvSpPr/>
            <p:nvPr/>
          </p:nvSpPr>
          <p:spPr>
            <a:xfrm>
              <a:off x="6355080" y="1463040"/>
              <a:ext cx="502920" cy="64008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1">
              <a:gsLst>
                <a:gs pos="0">
                  <a:srgbClr val="F9DFCA"/>
                </a:gs>
                <a:gs pos="55000">
                  <a:srgbClr val="F5CBA7"/>
                </a:gs>
                <a:gs pos="100000">
                  <a:srgbClr val="C4A285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6903720" y="1463040"/>
              <a:ext cx="502920" cy="64008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1">
              <a:gsLst>
                <a:gs pos="0">
                  <a:srgbClr val="F9DFCA"/>
                </a:gs>
                <a:gs pos="55000">
                  <a:srgbClr val="F5CBA7"/>
                </a:gs>
                <a:gs pos="100000">
                  <a:srgbClr val="C4A285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7452360" y="1463040"/>
              <a:ext cx="502920" cy="64008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1">
              <a:gsLst>
                <a:gs pos="0">
                  <a:srgbClr val="F9DFCA"/>
                </a:gs>
                <a:gs pos="55000">
                  <a:srgbClr val="F5CBA7"/>
                </a:gs>
                <a:gs pos="100000">
                  <a:srgbClr val="C4A285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6355080" y="2148840"/>
              <a:ext cx="502920" cy="64008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1">
              <a:gsLst>
                <a:gs pos="0">
                  <a:srgbClr val="F9DFCA"/>
                </a:gs>
                <a:gs pos="55000">
                  <a:srgbClr val="F5CBA7"/>
                </a:gs>
                <a:gs pos="100000">
                  <a:srgbClr val="C4A285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6903720" y="2148840"/>
              <a:ext cx="502920" cy="64008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1">
              <a:gsLst>
                <a:gs pos="0">
                  <a:srgbClr val="F9DFCA"/>
                </a:gs>
                <a:gs pos="55000">
                  <a:srgbClr val="F5CBA7"/>
                </a:gs>
                <a:gs pos="100000">
                  <a:srgbClr val="C4A285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7452360" y="2148840"/>
              <a:ext cx="502920" cy="64008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1">
              <a:gsLst>
                <a:gs pos="0">
                  <a:srgbClr val="F9DFCA"/>
                </a:gs>
                <a:gs pos="55000">
                  <a:srgbClr val="F5CBA7"/>
                </a:gs>
                <a:gs pos="100000">
                  <a:srgbClr val="C4A285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22" name="Forma 21"/>
            <p:cNvSpPr txBox="1"/>
            <p:nvPr/>
          </p:nvSpPr>
          <p:spPr>
            <a:xfrm>
              <a:off x="6309360" y="2880360"/>
              <a:ext cx="17373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A04000"/>
                  </a:solidFill>
                  <a:latin typeface="Calibri"/>
                  <a:ea typeface="Calibri"/>
                  <a:cs typeface="Calibri"/>
                  <a:sym typeface="Calibri"/>
                </a:rPr>
                <a:t>tejidos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3" name="O2 0"/>
          <p:cNvSpPr/>
          <p:nvPr/>
        </p:nvSpPr>
        <p:spPr>
          <a:xfrm>
            <a:off x="3017520" y="1417320"/>
            <a:ext cx="6400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200" dirty="0">
              <a:latin typeface="Calibri"/>
            </a:endParaRPr>
          </a:p>
        </p:txBody>
      </p:sp>
      <p:sp>
        <p:nvSpPr>
          <p:cNvPr id="24" name="O2 1"/>
          <p:cNvSpPr/>
          <p:nvPr/>
        </p:nvSpPr>
        <p:spPr>
          <a:xfrm>
            <a:off x="4023360" y="1417320"/>
            <a:ext cx="6400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200" dirty="0">
              <a:latin typeface="Calibri"/>
            </a:endParaRPr>
          </a:p>
        </p:txBody>
      </p:sp>
      <p:sp>
        <p:nvSpPr>
          <p:cNvPr id="25" name="O2 2"/>
          <p:cNvSpPr/>
          <p:nvPr/>
        </p:nvSpPr>
        <p:spPr>
          <a:xfrm>
            <a:off x="5029200" y="1417320"/>
            <a:ext cx="64008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2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200" dirty="0">
              <a:latin typeface="Calibri"/>
            </a:endParaRPr>
          </a:p>
        </p:txBody>
      </p:sp>
      <p:sp>
        <p:nvSpPr>
          <p:cNvPr id="26" name="Definición anemia"/>
          <p:cNvSpPr/>
          <p:nvPr/>
        </p:nvSpPr>
        <p:spPr>
          <a:xfrm>
            <a:off x="411480" y="3840480"/>
            <a:ext cx="7589520" cy="12801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Síndrome clínico caracterizado por el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descenso de la masa eritrocitaria circulante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de forma que resulta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insuficiente para sustentar el transporte de O</a:t>
            </a:r>
            <a:r>
              <a:rPr lang="es-AR" sz="20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 los tejidos.</a:t>
            </a:r>
            <a:endParaRPr lang="es-AR" sz="2050" dirty="0">
              <a:latin typeface="Calibri"/>
            </a:endParaRPr>
          </a:p>
        </p:txBody>
      </p:sp>
      <p:sp>
        <p:nvSpPr>
          <p:cNvPr id="27" name="Síndrome"/>
          <p:cNvSpPr/>
          <p:nvPr/>
        </p:nvSpPr>
        <p:spPr>
          <a:xfrm>
            <a:off x="411480" y="5303520"/>
            <a:ext cx="75895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 un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síndrome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no una enfermedad en sí misma: un conjunto de signos y síntomas con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múltiples causas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posibles.</a:t>
            </a:r>
            <a:endParaRPr lang="es-AR" sz="2050" dirty="0">
              <a:latin typeface="Calibri"/>
            </a:endParaRPr>
          </a:p>
        </p:txBody>
      </p:sp>
      <p:grpSp>
        <p:nvGrpSpPr>
          <p:cNvPr id="28" name="Concepto Hb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29" name="Forma 28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anemia se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define y diagnostica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por los valores de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8677656" y="1097280"/>
              <a:ext cx="168494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CONCEPTO CLAVE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1" name="!!Hemoglobina"/>
          <p:cNvGrpSpPr/>
          <p:nvPr/>
        </p:nvGrpSpPr>
        <p:grpSpPr>
          <a:xfrm>
            <a:off x="9442094" y="4458614"/>
            <a:ext cx="1689811" cy="1689811"/>
            <a:chOff x="9442094" y="4458614"/>
            <a:chExt cx="1689811" cy="1689811"/>
          </a:xfrm>
        </p:grpSpPr>
        <p:sp>
          <p:nvSpPr>
            <p:cNvPr id="32" name="Forma 31"/>
            <p:cNvSpPr/>
            <p:nvPr/>
          </p:nvSpPr>
          <p:spPr>
            <a:xfrm>
              <a:off x="9442094" y="4458614"/>
              <a:ext cx="921715" cy="921715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96012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3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273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9768535" y="4957877"/>
              <a:ext cx="268834" cy="268834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10210190" y="4458614"/>
              <a:ext cx="921715" cy="921715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96012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3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273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10536631" y="4957877"/>
              <a:ext cx="268834" cy="268834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36" name="Forma 35"/>
            <p:cNvSpPr/>
            <p:nvPr/>
          </p:nvSpPr>
          <p:spPr>
            <a:xfrm>
              <a:off x="9442094" y="5226710"/>
              <a:ext cx="921715" cy="921715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96012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3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273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9768535" y="5725973"/>
              <a:ext cx="268834" cy="268834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38" name="Forma 37"/>
            <p:cNvSpPr/>
            <p:nvPr/>
          </p:nvSpPr>
          <p:spPr>
            <a:xfrm>
              <a:off x="10210190" y="5226710"/>
              <a:ext cx="921715" cy="921715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96012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73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273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10536631" y="5725973"/>
              <a:ext cx="268834" cy="268834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ANEMIA: UNA MASA ERITROCITARIA INSUFICIENTE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4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50 0.0400 E" pathEditMode="relative" ptsTypes="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50" y="20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025 0.0400 E" pathEditMode="relative" ptsTypes="">
                                      <p:cBhvr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25" y="200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200 0.0400 E" pathEditMode="relative" ptsTypes="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0" y="2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6" name="Criterio Hb"/>
          <p:cNvSpPr/>
          <p:nvPr/>
        </p:nvSpPr>
        <p:spPr>
          <a:xfrm>
            <a:off x="3246120" y="1097280"/>
            <a:ext cx="5943600" cy="132588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Hemoglobina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criterio que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define y diagnostica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la anemia.</a:t>
            </a:r>
            <a:endParaRPr lang="es-AR" sz="2200" dirty="0">
              <a:latin typeface="Calibri"/>
            </a:endParaRPr>
          </a:p>
        </p:txBody>
      </p:sp>
      <p:sp>
        <p:nvSpPr>
          <p:cNvPr id="7" name="No Hto"/>
          <p:cNvSpPr/>
          <p:nvPr/>
        </p:nvSpPr>
        <p:spPr>
          <a:xfrm>
            <a:off x="3246120" y="2606040"/>
            <a:ext cx="5943600" cy="13258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Hematocrito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no se usa como criterio diagnóstico porque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varía con el estado de hidratación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8" name="No recuento"/>
          <p:cNvSpPr/>
          <p:nvPr/>
        </p:nvSpPr>
        <p:spPr>
          <a:xfrm>
            <a:off x="3246120" y="4114800"/>
            <a:ext cx="5943600" cy="13258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Recuento de glóbulos rojos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puede haber eritrocitos disminuidos sin anemia y viceversa.</a:t>
            </a:r>
            <a:endParaRPr lang="es-AR" sz="2050" dirty="0">
              <a:latin typeface="Calibri"/>
            </a:endParaRPr>
          </a:p>
        </p:txBody>
      </p:sp>
      <p:sp>
        <p:nvSpPr>
          <p:cNvPr id="9" name="Talasemia ejemplo"/>
          <p:cNvSpPr/>
          <p:nvPr/>
        </p:nvSpPr>
        <p:spPr>
          <a:xfrm>
            <a:off x="3246120" y="5577840"/>
            <a:ext cx="5943600" cy="8686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Ejemplo: en la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talasemia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puede haber recuento normal con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Hb baja → anemia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grpSp>
        <p:nvGrpSpPr>
          <p:cNvPr id="10" name="Tubo hematocrito"/>
          <p:cNvGrpSpPr/>
          <p:nvPr/>
        </p:nvGrpSpPr>
        <p:grpSpPr>
          <a:xfrm>
            <a:off x="497434" y="1280160"/>
            <a:ext cx="742493" cy="2560320"/>
            <a:chOff x="497434" y="1280160"/>
            <a:chExt cx="742493" cy="2560320"/>
          </a:xfrm>
        </p:grpSpPr>
        <p:grpSp>
          <p:nvGrpSpPr>
            <p:cNvPr id="11" name="Tubo Hto"/>
            <p:cNvGrpSpPr/>
            <p:nvPr/>
          </p:nvGrpSpPr>
          <p:grpSpPr>
            <a:xfrm>
              <a:off x="497434" y="1280160"/>
              <a:ext cx="742493" cy="2560320"/>
              <a:chOff x="497434" y="1280160"/>
              <a:chExt cx="742493" cy="2560320"/>
            </a:xfrm>
          </p:grpSpPr>
          <p:sp>
            <p:nvSpPr>
              <p:cNvPr id="12" name="Vidrio"/>
              <p:cNvSpPr/>
              <p:nvPr/>
            </p:nvSpPr>
            <p:spPr>
              <a:xfrm>
                <a:off x="548640" y="1536192"/>
                <a:ext cx="640080" cy="230428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3" name="Tapón"/>
              <p:cNvSpPr/>
              <p:nvPr/>
            </p:nvSpPr>
            <p:spPr>
              <a:xfrm>
                <a:off x="497434" y="1280160"/>
                <a:ext cx="742493" cy="307238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14" name="Brillo"/>
              <p:cNvSpPr/>
              <p:nvPr/>
            </p:nvSpPr>
            <p:spPr>
              <a:xfrm>
                <a:off x="638251" y="1689811"/>
                <a:ext cx="76810" cy="179222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15" name="r1"/>
            <p:cNvSpPr/>
            <p:nvPr/>
          </p:nvSpPr>
          <p:spPr>
            <a:xfrm>
              <a:off x="580644" y="2821473"/>
              <a:ext cx="576072" cy="96780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16" name="p1"/>
            <p:cNvSpPr/>
            <p:nvPr/>
          </p:nvSpPr>
          <p:spPr>
            <a:xfrm>
              <a:off x="580644" y="2025725"/>
              <a:ext cx="576072" cy="795747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</p:grpSp>
      <p:grpSp>
        <p:nvGrpSpPr>
          <p:cNvPr id="17" name="Hb criterio"/>
          <p:cNvGrpSpPr/>
          <p:nvPr/>
        </p:nvGrpSpPr>
        <p:grpSpPr>
          <a:xfrm>
            <a:off x="1539850" y="1448410"/>
            <a:ext cx="1126541" cy="1126541"/>
            <a:chOff x="1539850" y="1448410"/>
            <a:chExt cx="1126541" cy="1126541"/>
          </a:xfrm>
        </p:grpSpPr>
        <p:sp>
          <p:nvSpPr>
            <p:cNvPr id="18" name="Forma 17"/>
            <p:cNvSpPr/>
            <p:nvPr/>
          </p:nvSpPr>
          <p:spPr>
            <a:xfrm>
              <a:off x="1539850" y="1448410"/>
              <a:ext cx="614477" cy="614477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6400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182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1757477" y="1781251"/>
              <a:ext cx="179222" cy="179222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2051914" y="1448410"/>
              <a:ext cx="614477" cy="614477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6400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182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2269541" y="1781251"/>
              <a:ext cx="179222" cy="179222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1539850" y="1960474"/>
              <a:ext cx="614477" cy="614477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6400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182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1757477" y="2293315"/>
              <a:ext cx="179222" cy="179222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2051914" y="1960474"/>
              <a:ext cx="614477" cy="614477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64008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2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182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2269541" y="2293315"/>
              <a:ext cx="179222" cy="179222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</p:grpSp>
      <p:grpSp>
        <p:nvGrpSpPr>
          <p:cNvPr id="26" name="Recuento"/>
          <p:cNvGrpSpPr/>
          <p:nvPr/>
        </p:nvGrpSpPr>
        <p:grpSpPr>
          <a:xfrm>
            <a:off x="411480" y="4206240"/>
            <a:ext cx="2240280" cy="1463040"/>
            <a:chOff x="411480" y="4206240"/>
            <a:chExt cx="2240280" cy="1463040"/>
          </a:xfrm>
        </p:grpSpPr>
        <p:sp>
          <p:nvSpPr>
            <p:cNvPr id="27" name="GR talasemia 0"/>
            <p:cNvSpPr/>
            <p:nvPr/>
          </p:nvSpPr>
          <p:spPr>
            <a:xfrm>
              <a:off x="411480" y="4206240"/>
              <a:ext cx="685800" cy="68580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8" name="GR talasemia 1"/>
            <p:cNvSpPr/>
            <p:nvPr/>
          </p:nvSpPr>
          <p:spPr>
            <a:xfrm>
              <a:off x="1188720" y="4206240"/>
              <a:ext cx="685800" cy="6858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9" name="GR talasemia 2"/>
            <p:cNvSpPr/>
            <p:nvPr/>
          </p:nvSpPr>
          <p:spPr>
            <a:xfrm>
              <a:off x="1965960" y="4206240"/>
              <a:ext cx="685800" cy="68580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0" name="GR talasemia 3"/>
            <p:cNvSpPr/>
            <p:nvPr/>
          </p:nvSpPr>
          <p:spPr>
            <a:xfrm>
              <a:off x="411480" y="4983480"/>
              <a:ext cx="685800" cy="6858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1" name="GR talasemia 4"/>
            <p:cNvSpPr/>
            <p:nvPr/>
          </p:nvSpPr>
          <p:spPr>
            <a:xfrm>
              <a:off x="1188720" y="4983480"/>
              <a:ext cx="685800" cy="68580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2" name="GR talasemia 5"/>
            <p:cNvSpPr/>
            <p:nvPr/>
          </p:nvSpPr>
          <p:spPr>
            <a:xfrm>
              <a:off x="1965960" y="4983480"/>
              <a:ext cx="685800" cy="6858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grpSp>
        <p:nvGrpSpPr>
          <p:cNvPr id="33" name="Rigor talasemia"/>
          <p:cNvGrpSpPr/>
          <p:nvPr/>
        </p:nvGrpSpPr>
        <p:grpSpPr>
          <a:xfrm>
            <a:off x="9418320" y="1097280"/>
            <a:ext cx="2514600" cy="5349240"/>
            <a:chOff x="9418320" y="1097280"/>
            <a:chExt cx="2514600" cy="5349240"/>
          </a:xfrm>
        </p:grpSpPr>
        <p:sp>
          <p:nvSpPr>
            <p:cNvPr id="34" name="Forma 33"/>
            <p:cNvSpPr/>
            <p:nvPr/>
          </p:nvSpPr>
          <p:spPr>
            <a:xfrm>
              <a:off x="9418320" y="1298448"/>
              <a:ext cx="251460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la talasemia es frecuente que el recuento sea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incluso alto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con eritrocitos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microcíticos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Hb baja: por eso el recuento no define la anemia.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954633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¿POR QUÉ HEMOGLOBINA Y NO HEMATOCRITO NI RECUENTO?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Tabla Hb fila 0"/>
          <p:cNvGrpSpPr/>
          <p:nvPr/>
        </p:nvGrpSpPr>
        <p:grpSpPr>
          <a:xfrm>
            <a:off x="4572000" y="1097280"/>
            <a:ext cx="7315200" cy="530352"/>
            <a:chOff x="4572000" y="1097280"/>
            <a:chExt cx="7315200" cy="530352"/>
          </a:xfrm>
        </p:grpSpPr>
        <p:sp>
          <p:nvSpPr>
            <p:cNvPr id="6" name="Forma 5"/>
            <p:cNvSpPr/>
            <p:nvPr/>
          </p:nvSpPr>
          <p:spPr>
            <a:xfrm>
              <a:off x="4572000" y="1097280"/>
              <a:ext cx="4206240" cy="530352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Grupo / condición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8778240" y="1097280"/>
              <a:ext cx="3108960" cy="530352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Anemia si Hb (g/dL)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8" name="Tabla Hb fila 1"/>
          <p:cNvGrpSpPr/>
          <p:nvPr/>
        </p:nvGrpSpPr>
        <p:grpSpPr>
          <a:xfrm>
            <a:off x="4572000" y="1627632"/>
            <a:ext cx="7315200" cy="530352"/>
            <a:chOff x="4572000" y="1627632"/>
            <a:chExt cx="7315200" cy="530352"/>
          </a:xfrm>
        </p:grpSpPr>
        <p:sp>
          <p:nvSpPr>
            <p:cNvPr id="9" name="Forma 8"/>
            <p:cNvSpPr/>
            <p:nvPr/>
          </p:nvSpPr>
          <p:spPr>
            <a:xfrm>
              <a:off x="4572000" y="1627632"/>
              <a:ext cx="4206240" cy="53035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Hombre adulto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8778240" y="1627632"/>
              <a:ext cx="3108960" cy="53035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13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1" name="Tabla Hb fila 2"/>
          <p:cNvGrpSpPr/>
          <p:nvPr/>
        </p:nvGrpSpPr>
        <p:grpSpPr>
          <a:xfrm>
            <a:off x="4572000" y="2157984"/>
            <a:ext cx="7315200" cy="530352"/>
            <a:chOff x="4572000" y="2157984"/>
            <a:chExt cx="7315200" cy="530352"/>
          </a:xfrm>
        </p:grpSpPr>
        <p:sp>
          <p:nvSpPr>
            <p:cNvPr id="12" name="Forma 11"/>
            <p:cNvSpPr/>
            <p:nvPr/>
          </p:nvSpPr>
          <p:spPr>
            <a:xfrm>
              <a:off x="4572000" y="2157984"/>
              <a:ext cx="4206240" cy="53035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Mujer adulta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8778240" y="2157984"/>
              <a:ext cx="3108960" cy="53035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12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4" name="Tabla Hb fila 3"/>
          <p:cNvGrpSpPr/>
          <p:nvPr/>
        </p:nvGrpSpPr>
        <p:grpSpPr>
          <a:xfrm>
            <a:off x="4572000" y="2688336"/>
            <a:ext cx="7315200" cy="530352"/>
            <a:chOff x="4572000" y="2688336"/>
            <a:chExt cx="7315200" cy="530352"/>
          </a:xfrm>
        </p:grpSpPr>
        <p:sp>
          <p:nvSpPr>
            <p:cNvPr id="15" name="Forma 14"/>
            <p:cNvSpPr/>
            <p:nvPr/>
          </p:nvSpPr>
          <p:spPr>
            <a:xfrm>
              <a:off x="4572000" y="2688336"/>
              <a:ext cx="4206240" cy="53035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Embarazada / hemodilución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8778240" y="2688336"/>
              <a:ext cx="3108960" cy="53035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11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7" name="Tabla Hb fila 4"/>
          <p:cNvGrpSpPr/>
          <p:nvPr/>
        </p:nvGrpSpPr>
        <p:grpSpPr>
          <a:xfrm>
            <a:off x="4572000" y="3218688"/>
            <a:ext cx="7315200" cy="530352"/>
            <a:chOff x="4572000" y="3218688"/>
            <a:chExt cx="7315200" cy="530352"/>
          </a:xfrm>
        </p:grpSpPr>
        <p:sp>
          <p:nvSpPr>
            <p:cNvPr id="18" name="Forma 17"/>
            <p:cNvSpPr/>
            <p:nvPr/>
          </p:nvSpPr>
          <p:spPr>
            <a:xfrm>
              <a:off x="4572000" y="3218688"/>
              <a:ext cx="4206240" cy="53035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Recién nacido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778240" y="3218688"/>
              <a:ext cx="3108960" cy="53035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13,5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0" name="Tabla Hb fila 5"/>
          <p:cNvGrpSpPr/>
          <p:nvPr/>
        </p:nvGrpSpPr>
        <p:grpSpPr>
          <a:xfrm>
            <a:off x="4572000" y="3749040"/>
            <a:ext cx="7315200" cy="530352"/>
            <a:chOff x="4572000" y="3749040"/>
            <a:chExt cx="7315200" cy="530352"/>
          </a:xfrm>
        </p:grpSpPr>
        <p:sp>
          <p:nvSpPr>
            <p:cNvPr id="21" name="Forma 20"/>
            <p:cNvSpPr/>
            <p:nvPr/>
          </p:nvSpPr>
          <p:spPr>
            <a:xfrm>
              <a:off x="4572000" y="3749040"/>
              <a:ext cx="4206240" cy="53035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Hasta 3 meses de vida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8778240" y="3749040"/>
              <a:ext cx="3108960" cy="530352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9,5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3" name="Tabla Hb fila 6"/>
          <p:cNvGrpSpPr/>
          <p:nvPr/>
        </p:nvGrpSpPr>
        <p:grpSpPr>
          <a:xfrm>
            <a:off x="4572000" y="4279392"/>
            <a:ext cx="7315200" cy="530352"/>
            <a:chOff x="4572000" y="4279392"/>
            <a:chExt cx="7315200" cy="530352"/>
          </a:xfrm>
        </p:grpSpPr>
        <p:sp>
          <p:nvSpPr>
            <p:cNvPr id="24" name="Forma 23"/>
            <p:cNvSpPr/>
            <p:nvPr/>
          </p:nvSpPr>
          <p:spPr>
            <a:xfrm>
              <a:off x="4572000" y="4279392"/>
              <a:ext cx="4206240" cy="53035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Niños hasta la pubertad (~12 años)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778240" y="4279392"/>
              <a:ext cx="3108960" cy="530352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11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6" name="Siluetas"/>
          <p:cNvGrpSpPr/>
          <p:nvPr/>
        </p:nvGrpSpPr>
        <p:grpSpPr>
          <a:xfrm>
            <a:off x="411480" y="1280160"/>
            <a:ext cx="3931920" cy="4343400"/>
            <a:chOff x="411480" y="1280160"/>
            <a:chExt cx="3931920" cy="4343400"/>
          </a:xfrm>
        </p:grpSpPr>
        <p:grpSp>
          <p:nvGrpSpPr>
            <p:cNvPr id="27" name="Silueta 0"/>
            <p:cNvGrpSpPr/>
            <p:nvPr/>
          </p:nvGrpSpPr>
          <p:grpSpPr>
            <a:xfrm>
              <a:off x="411480" y="1280160"/>
              <a:ext cx="1408176" cy="2011680"/>
              <a:chOff x="411480" y="1280160"/>
              <a:chExt cx="1408176" cy="2011680"/>
            </a:xfrm>
          </p:grpSpPr>
          <p:sp>
            <p:nvSpPr>
              <p:cNvPr id="28" name="Forma 27"/>
              <p:cNvSpPr/>
              <p:nvPr/>
            </p:nvSpPr>
            <p:spPr>
              <a:xfrm>
                <a:off x="773582" y="1280160"/>
                <a:ext cx="683971" cy="683971"/>
              </a:xfrm>
              <a:prstGeom prst="ellipse">
                <a:avLst/>
              </a:prstGeom>
              <a:solidFill>
                <a:srgbClr val="5D6D7E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29" name="Forma 28"/>
              <p:cNvSpPr/>
              <p:nvPr/>
            </p:nvSpPr>
            <p:spPr>
              <a:xfrm rot="-5400000">
                <a:off x="411480" y="2044598"/>
                <a:ext cx="1408176" cy="1247242"/>
              </a:xfrm>
              <a:prstGeom prst="flowChartDelay">
                <a:avLst/>
              </a:prstGeom>
              <a:solidFill>
                <a:srgbClr val="5D6D7E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30" name="Silueta 1"/>
            <p:cNvGrpSpPr/>
            <p:nvPr/>
          </p:nvGrpSpPr>
          <p:grpSpPr>
            <a:xfrm>
              <a:off x="1737360" y="1463040"/>
              <a:ext cx="1280160" cy="1828800"/>
              <a:chOff x="1737360" y="1463040"/>
              <a:chExt cx="1280160" cy="1828800"/>
            </a:xfrm>
          </p:grpSpPr>
          <p:sp>
            <p:nvSpPr>
              <p:cNvPr id="31" name="Forma 30"/>
              <p:cNvSpPr/>
              <p:nvPr/>
            </p:nvSpPr>
            <p:spPr>
              <a:xfrm>
                <a:off x="2066544" y="1463040"/>
                <a:ext cx="621792" cy="621792"/>
              </a:xfrm>
              <a:prstGeom prst="ellipse">
                <a:avLst/>
              </a:prstGeom>
              <a:solidFill>
                <a:srgbClr val="C0392B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32" name="Forma 31"/>
              <p:cNvSpPr/>
              <p:nvPr/>
            </p:nvSpPr>
            <p:spPr>
              <a:xfrm rot="-5400000">
                <a:off x="1737360" y="2157984"/>
                <a:ext cx="1280160" cy="1133856"/>
              </a:xfrm>
              <a:prstGeom prst="flowChartDelay">
                <a:avLst/>
              </a:prstGeom>
              <a:solidFill>
                <a:srgbClr val="C0392B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33" name="Silueta 2"/>
            <p:cNvGrpSpPr/>
            <p:nvPr/>
          </p:nvGrpSpPr>
          <p:grpSpPr>
            <a:xfrm>
              <a:off x="3063240" y="1463040"/>
              <a:ext cx="1280160" cy="1828800"/>
              <a:chOff x="3063240" y="1463040"/>
              <a:chExt cx="1280160" cy="1828800"/>
            </a:xfrm>
          </p:grpSpPr>
          <p:sp>
            <p:nvSpPr>
              <p:cNvPr id="34" name="Forma 33"/>
              <p:cNvSpPr/>
              <p:nvPr/>
            </p:nvSpPr>
            <p:spPr>
              <a:xfrm>
                <a:off x="3392424" y="1463040"/>
                <a:ext cx="621792" cy="621792"/>
              </a:xfrm>
              <a:prstGeom prst="ellipse">
                <a:avLst/>
              </a:prstGeom>
              <a:solidFill>
                <a:srgbClr val="AF7AC5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 rot="-5400000">
                <a:off x="3063240" y="2157984"/>
                <a:ext cx="1280160" cy="1133856"/>
              </a:xfrm>
              <a:prstGeom prst="flowChartDelay">
                <a:avLst/>
              </a:prstGeom>
              <a:solidFill>
                <a:srgbClr val="AF7AC5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36" name="Silueta 3"/>
            <p:cNvGrpSpPr/>
            <p:nvPr/>
          </p:nvGrpSpPr>
          <p:grpSpPr>
            <a:xfrm>
              <a:off x="411480" y="4892040"/>
              <a:ext cx="512064" cy="731520"/>
              <a:chOff x="411480" y="4892040"/>
              <a:chExt cx="512064" cy="731520"/>
            </a:xfrm>
          </p:grpSpPr>
          <p:sp>
            <p:nvSpPr>
              <p:cNvPr id="37" name="Forma 36"/>
              <p:cNvSpPr/>
              <p:nvPr/>
            </p:nvSpPr>
            <p:spPr>
              <a:xfrm>
                <a:off x="543154" y="4892040"/>
                <a:ext cx="248717" cy="248717"/>
              </a:xfrm>
              <a:prstGeom prst="ellipse">
                <a:avLst/>
              </a:prstGeom>
              <a:solidFill>
                <a:srgbClr val="F5B041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38" name="Forma 37"/>
              <p:cNvSpPr/>
              <p:nvPr/>
            </p:nvSpPr>
            <p:spPr>
              <a:xfrm rot="-5400000">
                <a:off x="411480" y="5170018"/>
                <a:ext cx="512064" cy="453542"/>
              </a:xfrm>
              <a:prstGeom prst="flowChartDelay">
                <a:avLst/>
              </a:prstGeom>
              <a:solidFill>
                <a:srgbClr val="F5B041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39" name="Silueta 4"/>
            <p:cNvGrpSpPr/>
            <p:nvPr/>
          </p:nvGrpSpPr>
          <p:grpSpPr>
            <a:xfrm>
              <a:off x="1737360" y="4709160"/>
              <a:ext cx="640080" cy="914400"/>
              <a:chOff x="1737360" y="4709160"/>
              <a:chExt cx="640080" cy="914400"/>
            </a:xfrm>
          </p:grpSpPr>
          <p:sp>
            <p:nvSpPr>
              <p:cNvPr id="40" name="Forma 39"/>
              <p:cNvSpPr/>
              <p:nvPr/>
            </p:nvSpPr>
            <p:spPr>
              <a:xfrm>
                <a:off x="1901952" y="4709160"/>
                <a:ext cx="310896" cy="310896"/>
              </a:xfrm>
              <a:prstGeom prst="ellipse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41" name="Forma 40"/>
              <p:cNvSpPr/>
              <p:nvPr/>
            </p:nvSpPr>
            <p:spPr>
              <a:xfrm rot="-5400000">
                <a:off x="1737360" y="5056632"/>
                <a:ext cx="640080" cy="566928"/>
              </a:xfrm>
              <a:prstGeom prst="flowChartDelay">
                <a:avLst/>
              </a:prstGeom>
              <a:solidFill>
                <a:srgbClr val="58D68D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grpSp>
          <p:nvGrpSpPr>
            <p:cNvPr id="42" name="Silueta 5"/>
            <p:cNvGrpSpPr/>
            <p:nvPr/>
          </p:nvGrpSpPr>
          <p:grpSpPr>
            <a:xfrm>
              <a:off x="3063240" y="4251960"/>
              <a:ext cx="960120" cy="1371600"/>
              <a:chOff x="3063240" y="4251960"/>
              <a:chExt cx="960120" cy="1371600"/>
            </a:xfrm>
          </p:grpSpPr>
          <p:sp>
            <p:nvSpPr>
              <p:cNvPr id="43" name="Forma 42"/>
              <p:cNvSpPr/>
              <p:nvPr/>
            </p:nvSpPr>
            <p:spPr>
              <a:xfrm>
                <a:off x="3310128" y="4251960"/>
                <a:ext cx="466344" cy="466344"/>
              </a:xfrm>
              <a:prstGeom prst="ellipse">
                <a:avLst/>
              </a:prstGeom>
              <a:solidFill>
                <a:srgbClr val="2E86C1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44" name="Forma 43"/>
              <p:cNvSpPr/>
              <p:nvPr/>
            </p:nvSpPr>
            <p:spPr>
              <a:xfrm rot="-5400000">
                <a:off x="3063240" y="4773168"/>
                <a:ext cx="960120" cy="850392"/>
              </a:xfrm>
              <a:prstGeom prst="flowChartDelay">
                <a:avLst/>
              </a:prstGeom>
              <a:solidFill>
                <a:srgbClr val="2E86C1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</p:grpSp>
      <p:sp>
        <p:nvSpPr>
          <p:cNvPr id="45" name="Nota 95"/>
          <p:cNvSpPr/>
          <p:nvPr/>
        </p:nvSpPr>
        <p:spPr>
          <a:xfrm>
            <a:off x="365760" y="5623560"/>
            <a:ext cx="3931920" cy="8229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intervalos abarcan al </a:t>
            </a:r>
            <a:r>
              <a:rPr lang="es-AR" sz="19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95 %</a:t>
            </a:r>
            <a:r>
              <a:rPr lang="es-AR" sz="19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los sanos.</a:t>
            </a:r>
            <a:endParaRPr lang="es-AR" sz="1900" dirty="0">
              <a:latin typeface="Calibri"/>
            </a:endParaRPr>
          </a:p>
        </p:txBody>
      </p:sp>
      <p:grpSp>
        <p:nvGrpSpPr>
          <p:cNvPr id="46" name="Rigor umbrales"/>
          <p:cNvGrpSpPr/>
          <p:nvPr/>
        </p:nvGrpSpPr>
        <p:grpSpPr>
          <a:xfrm>
            <a:off x="4572000" y="4992624"/>
            <a:ext cx="7315200" cy="1362456"/>
            <a:chOff x="4572000" y="4992624"/>
            <a:chExt cx="7315200" cy="1362456"/>
          </a:xfrm>
        </p:grpSpPr>
        <p:sp>
          <p:nvSpPr>
            <p:cNvPr id="47" name="Forma 46"/>
            <p:cNvSpPr/>
            <p:nvPr/>
          </p:nvSpPr>
          <p:spPr>
            <a:xfrm>
              <a:off x="4572000" y="5193792"/>
              <a:ext cx="7315200" cy="1161288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Son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umbrales de referencia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un único valor no diagnostica todas las situaciones; se interpretan con la edad, el sexo, el embarazo, la altitud y el volumen plasmático.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48" name="Forma 47"/>
            <p:cNvSpPr/>
            <p:nvPr/>
          </p:nvSpPr>
          <p:spPr>
            <a:xfrm>
              <a:off x="4700016" y="4992624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VALORES DE HEMOGLOBINA POR DEBAJO DE LOS CUALES HAY ANEMIA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4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!!Volumen plasmático"/>
          <p:cNvSpPr/>
          <p:nvPr/>
        </p:nvSpPr>
        <p:spPr>
          <a:xfrm>
            <a:off x="914400" y="2834640"/>
            <a:ext cx="3840480" cy="32918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CF3CF"/>
              </a:gs>
              <a:gs pos="100000">
                <a:srgbClr val="F9E79F"/>
              </a:gs>
            </a:gsLst>
            <a:lin ang="5400000" scaled="0"/>
          </a:gradFill>
          <a:ln w="25400" cap="rnd">
            <a:solidFill>
              <a:srgbClr val="B7950B"/>
            </a:solidFill>
            <a:round/>
          </a:ln>
        </p:spPr>
      </p:sp>
      <p:sp>
        <p:nvSpPr>
          <p:cNvPr id="6" name="!!Eritrocito 1"/>
          <p:cNvSpPr/>
          <p:nvPr/>
        </p:nvSpPr>
        <p:spPr>
          <a:xfrm>
            <a:off x="1375258" y="332841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7" name="!!Eritrocito 2"/>
          <p:cNvSpPr/>
          <p:nvPr/>
        </p:nvSpPr>
        <p:spPr>
          <a:xfrm>
            <a:off x="2181758" y="332841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8" name="!!Eritrocito 3"/>
          <p:cNvSpPr/>
          <p:nvPr/>
        </p:nvSpPr>
        <p:spPr>
          <a:xfrm>
            <a:off x="2988259" y="332841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9" name="!!Eritrocito 4"/>
          <p:cNvSpPr/>
          <p:nvPr/>
        </p:nvSpPr>
        <p:spPr>
          <a:xfrm>
            <a:off x="3794760" y="332841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0" name="!!Eritrocito 5"/>
          <p:cNvSpPr/>
          <p:nvPr/>
        </p:nvSpPr>
        <p:spPr>
          <a:xfrm>
            <a:off x="1375258" y="4250131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1" name="!!Eritrocito 6"/>
          <p:cNvSpPr/>
          <p:nvPr/>
        </p:nvSpPr>
        <p:spPr>
          <a:xfrm>
            <a:off x="2181758" y="4250131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2" name="!!Eritrocito 7"/>
          <p:cNvSpPr/>
          <p:nvPr/>
        </p:nvSpPr>
        <p:spPr>
          <a:xfrm>
            <a:off x="2988259" y="4250131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3" name="!!Eritrocito 8"/>
          <p:cNvSpPr/>
          <p:nvPr/>
        </p:nvSpPr>
        <p:spPr>
          <a:xfrm>
            <a:off x="3794760" y="4250131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4" name="!!Eritrocito 9"/>
          <p:cNvSpPr/>
          <p:nvPr/>
        </p:nvSpPr>
        <p:spPr>
          <a:xfrm>
            <a:off x="1375258" y="517184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5" name="!!Eritrocito 10"/>
          <p:cNvSpPr/>
          <p:nvPr/>
        </p:nvSpPr>
        <p:spPr>
          <a:xfrm>
            <a:off x="2181758" y="517184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6" name="!!Eritrocito 11"/>
          <p:cNvSpPr/>
          <p:nvPr/>
        </p:nvSpPr>
        <p:spPr>
          <a:xfrm>
            <a:off x="2988259" y="517184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7" name="!!Eritrocito 12"/>
          <p:cNvSpPr/>
          <p:nvPr/>
        </p:nvSpPr>
        <p:spPr>
          <a:xfrm>
            <a:off x="3794760" y="5171846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8" name="!!Lectura Hb"/>
          <p:cNvSpPr/>
          <p:nvPr/>
        </p:nvSpPr>
        <p:spPr>
          <a:xfrm>
            <a:off x="1280160" y="6236208"/>
            <a:ext cx="3108960" cy="314325"/>
          </a:xfrm>
          <a:prstGeom prst="rect">
            <a:avLst/>
          </a:prstGeom>
          <a:solidFill>
            <a:srgbClr val="4E7A3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Hb medida: referencia</a:t>
            </a:r>
            <a:endParaRPr lang="es-AR" sz="1500" dirty="0">
              <a:latin typeface="Calibri"/>
            </a:endParaRPr>
          </a:p>
        </p:txBody>
      </p:sp>
      <p:grpSp>
        <p:nvGrpSpPr>
          <p:cNvPr id="19" name="!!Medidor Hb"/>
          <p:cNvGrpSpPr/>
          <p:nvPr/>
        </p:nvGrpSpPr>
        <p:grpSpPr>
          <a:xfrm>
            <a:off x="5212080" y="1280160"/>
            <a:ext cx="1280160" cy="5257800"/>
            <a:chOff x="5212080" y="1280160"/>
            <a:chExt cx="1280160" cy="5257800"/>
          </a:xfrm>
        </p:grpSpPr>
        <p:sp>
          <p:nvSpPr>
            <p:cNvPr id="20" name="Forma 19"/>
            <p:cNvSpPr/>
            <p:nvPr/>
          </p:nvSpPr>
          <p:spPr>
            <a:xfrm>
              <a:off x="5486400" y="1280160"/>
              <a:ext cx="731520" cy="484632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5559552" y="3461004"/>
              <a:ext cx="585216" cy="259232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74C3C"/>
                </a:gs>
                <a:gs pos="100000">
                  <a:srgbClr val="922B21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" name="Forma 21"/>
            <p:cNvSpPr txBox="1"/>
            <p:nvPr/>
          </p:nvSpPr>
          <p:spPr>
            <a:xfrm>
              <a:off x="5212080" y="6217920"/>
              <a:ext cx="12801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3" name="Caja VP1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4" name="Forma 23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Hb es una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depende de la masa de eritrocitos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y del volumen de plasma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que están diluidos.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77656" y="1097280"/>
              <a:ext cx="167671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65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VOLUMEN PLASMÁTICO NORMAL</a:t>
            </a:r>
            <a:endParaRPr lang="es-AR" sz="2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119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!!Volumen plasmático"/>
          <p:cNvSpPr/>
          <p:nvPr/>
        </p:nvSpPr>
        <p:spPr>
          <a:xfrm>
            <a:off x="914400" y="1280160"/>
            <a:ext cx="3840480" cy="48463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CF3CF"/>
              </a:gs>
              <a:gs pos="100000">
                <a:srgbClr val="F9E79F"/>
              </a:gs>
            </a:gsLst>
            <a:lin ang="5400000" scaled="0"/>
          </a:gradFill>
          <a:ln w="25400" cap="rnd">
            <a:solidFill>
              <a:srgbClr val="B7950B"/>
            </a:solidFill>
            <a:round/>
          </a:ln>
        </p:spPr>
      </p:sp>
      <p:sp>
        <p:nvSpPr>
          <p:cNvPr id="6" name="!!Eritrocito 1"/>
          <p:cNvSpPr/>
          <p:nvPr/>
        </p:nvSpPr>
        <p:spPr>
          <a:xfrm>
            <a:off x="1375258" y="200710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7" name="!!Eritrocito 2"/>
          <p:cNvSpPr/>
          <p:nvPr/>
        </p:nvSpPr>
        <p:spPr>
          <a:xfrm>
            <a:off x="2181758" y="200710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8" name="!!Eritrocito 3"/>
          <p:cNvSpPr/>
          <p:nvPr/>
        </p:nvSpPr>
        <p:spPr>
          <a:xfrm>
            <a:off x="2988259" y="200710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9" name="!!Eritrocito 4"/>
          <p:cNvSpPr/>
          <p:nvPr/>
        </p:nvSpPr>
        <p:spPr>
          <a:xfrm>
            <a:off x="3794760" y="200710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0" name="!!Eritrocito 5"/>
          <p:cNvSpPr/>
          <p:nvPr/>
        </p:nvSpPr>
        <p:spPr>
          <a:xfrm>
            <a:off x="1375258" y="336407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1" name="!!Eritrocito 6"/>
          <p:cNvSpPr/>
          <p:nvPr/>
        </p:nvSpPr>
        <p:spPr>
          <a:xfrm>
            <a:off x="2181758" y="336407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2" name="!!Eritrocito 7"/>
          <p:cNvSpPr/>
          <p:nvPr/>
        </p:nvSpPr>
        <p:spPr>
          <a:xfrm>
            <a:off x="2988259" y="336407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3" name="!!Eritrocito 8"/>
          <p:cNvSpPr/>
          <p:nvPr/>
        </p:nvSpPr>
        <p:spPr>
          <a:xfrm>
            <a:off x="3794760" y="3364078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4" name="!!Eritrocito 9"/>
          <p:cNvSpPr/>
          <p:nvPr/>
        </p:nvSpPr>
        <p:spPr>
          <a:xfrm>
            <a:off x="1375258" y="4721047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5" name="!!Eritrocito 10"/>
          <p:cNvSpPr/>
          <p:nvPr/>
        </p:nvSpPr>
        <p:spPr>
          <a:xfrm>
            <a:off x="2181758" y="4721047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6" name="!!Eritrocito 11"/>
          <p:cNvSpPr/>
          <p:nvPr/>
        </p:nvSpPr>
        <p:spPr>
          <a:xfrm>
            <a:off x="2988259" y="4721047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7" name="!!Eritrocito 12"/>
          <p:cNvSpPr/>
          <p:nvPr/>
        </p:nvSpPr>
        <p:spPr>
          <a:xfrm>
            <a:off x="3794760" y="4721047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8" name="!!Lectura Hb"/>
          <p:cNvSpPr/>
          <p:nvPr/>
        </p:nvSpPr>
        <p:spPr>
          <a:xfrm>
            <a:off x="1280160" y="6236208"/>
            <a:ext cx="3108960" cy="31432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Hb aparentemente baja</a:t>
            </a:r>
            <a:endParaRPr lang="es-AR" sz="1500" dirty="0">
              <a:latin typeface="Calibri"/>
            </a:endParaRPr>
          </a:p>
        </p:txBody>
      </p:sp>
      <p:grpSp>
        <p:nvGrpSpPr>
          <p:cNvPr id="19" name="!!Medidor Hb"/>
          <p:cNvGrpSpPr/>
          <p:nvPr/>
        </p:nvGrpSpPr>
        <p:grpSpPr>
          <a:xfrm>
            <a:off x="5212080" y="1280160"/>
            <a:ext cx="1280160" cy="5257800"/>
            <a:chOff x="5212080" y="1280160"/>
            <a:chExt cx="1280160" cy="5257800"/>
          </a:xfrm>
        </p:grpSpPr>
        <p:sp>
          <p:nvSpPr>
            <p:cNvPr id="20" name="Forma 19"/>
            <p:cNvSpPr/>
            <p:nvPr/>
          </p:nvSpPr>
          <p:spPr>
            <a:xfrm>
              <a:off x="5486400" y="1280160"/>
              <a:ext cx="731520" cy="484632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5559552" y="4430268"/>
              <a:ext cx="585216" cy="16230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74C3C"/>
                </a:gs>
                <a:gs pos="100000">
                  <a:srgbClr val="922B21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" name="Forma 21"/>
            <p:cNvSpPr txBox="1"/>
            <p:nvPr/>
          </p:nvSpPr>
          <p:spPr>
            <a:xfrm>
              <a:off x="5212080" y="6217920"/>
              <a:ext cx="12801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3" name="Caja VP2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24" name="Forma 23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DE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volumen plasmático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los mismos eritrocitos quedan más diluidos → Hb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aparentemente baja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(umbral en embarazo: &lt; 11 g/dL).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77656" y="1097280"/>
              <a:ext cx="121207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EMBARAZO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EMBARAZO: HEMODILUCIÓN FISIOLÓGICA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!!Volumen plasmático"/>
          <p:cNvSpPr/>
          <p:nvPr/>
        </p:nvSpPr>
        <p:spPr>
          <a:xfrm>
            <a:off x="914400" y="3840480"/>
            <a:ext cx="3840480" cy="2286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CF3CF"/>
              </a:gs>
              <a:gs pos="100000">
                <a:srgbClr val="F9E79F"/>
              </a:gs>
            </a:gsLst>
            <a:lin ang="5400000" scaled="0"/>
          </a:gradFill>
          <a:ln w="25400" cap="rnd">
            <a:solidFill>
              <a:srgbClr val="B7950B"/>
            </a:solidFill>
            <a:round/>
          </a:ln>
        </p:spPr>
      </p:sp>
      <p:sp>
        <p:nvSpPr>
          <p:cNvPr id="6" name="!!Eritrocito 1"/>
          <p:cNvSpPr/>
          <p:nvPr/>
        </p:nvSpPr>
        <p:spPr>
          <a:xfrm>
            <a:off x="1375258" y="418338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7" name="!!Eritrocito 2"/>
          <p:cNvSpPr/>
          <p:nvPr/>
        </p:nvSpPr>
        <p:spPr>
          <a:xfrm>
            <a:off x="2181758" y="418338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8" name="!!Eritrocito 3"/>
          <p:cNvSpPr/>
          <p:nvPr/>
        </p:nvSpPr>
        <p:spPr>
          <a:xfrm>
            <a:off x="2988259" y="418338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9" name="!!Eritrocito 4"/>
          <p:cNvSpPr/>
          <p:nvPr/>
        </p:nvSpPr>
        <p:spPr>
          <a:xfrm>
            <a:off x="3794760" y="418338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0" name="!!Eritrocito 5"/>
          <p:cNvSpPr/>
          <p:nvPr/>
        </p:nvSpPr>
        <p:spPr>
          <a:xfrm>
            <a:off x="1375258" y="482346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1" name="!!Eritrocito 6"/>
          <p:cNvSpPr/>
          <p:nvPr/>
        </p:nvSpPr>
        <p:spPr>
          <a:xfrm>
            <a:off x="2181758" y="482346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2" name="!!Eritrocito 7"/>
          <p:cNvSpPr/>
          <p:nvPr/>
        </p:nvSpPr>
        <p:spPr>
          <a:xfrm>
            <a:off x="2988259" y="482346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3" name="!!Eritrocito 8"/>
          <p:cNvSpPr/>
          <p:nvPr/>
        </p:nvSpPr>
        <p:spPr>
          <a:xfrm>
            <a:off x="3794760" y="482346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4" name="!!Eritrocito 9"/>
          <p:cNvSpPr/>
          <p:nvPr/>
        </p:nvSpPr>
        <p:spPr>
          <a:xfrm>
            <a:off x="1375258" y="546354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5" name="!!Eritrocito 10"/>
          <p:cNvSpPr/>
          <p:nvPr/>
        </p:nvSpPr>
        <p:spPr>
          <a:xfrm>
            <a:off x="2181758" y="546354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6" name="!!Eritrocito 11"/>
          <p:cNvSpPr/>
          <p:nvPr/>
        </p:nvSpPr>
        <p:spPr>
          <a:xfrm>
            <a:off x="2988259" y="546354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7" name="!!Eritrocito 12"/>
          <p:cNvSpPr/>
          <p:nvPr/>
        </p:nvSpPr>
        <p:spPr>
          <a:xfrm>
            <a:off x="3794760" y="5463540"/>
            <a:ext cx="502920" cy="5029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8" name="!!Lectura Hb"/>
          <p:cNvSpPr/>
          <p:nvPr/>
        </p:nvSpPr>
        <p:spPr>
          <a:xfrm>
            <a:off x="1280160" y="6236208"/>
            <a:ext cx="3108960" cy="31432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Hb falsamente elevada</a:t>
            </a:r>
            <a:endParaRPr lang="es-AR" sz="1500" dirty="0">
              <a:latin typeface="Calibri"/>
            </a:endParaRPr>
          </a:p>
        </p:txBody>
      </p:sp>
      <p:grpSp>
        <p:nvGrpSpPr>
          <p:cNvPr id="19" name="!!Medidor Hb"/>
          <p:cNvGrpSpPr/>
          <p:nvPr/>
        </p:nvGrpSpPr>
        <p:grpSpPr>
          <a:xfrm>
            <a:off x="5212080" y="1280160"/>
            <a:ext cx="1280160" cy="5257800"/>
            <a:chOff x="5212080" y="1280160"/>
            <a:chExt cx="1280160" cy="5257800"/>
          </a:xfrm>
        </p:grpSpPr>
        <p:sp>
          <p:nvSpPr>
            <p:cNvPr id="20" name="Forma 19"/>
            <p:cNvSpPr/>
            <p:nvPr/>
          </p:nvSpPr>
          <p:spPr>
            <a:xfrm>
              <a:off x="5486400" y="1280160"/>
              <a:ext cx="731520" cy="484632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5559552" y="2491740"/>
              <a:ext cx="585216" cy="35615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74C3C"/>
                </a:gs>
                <a:gs pos="100000">
                  <a:srgbClr val="922B21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" name="Forma 21"/>
            <p:cNvSpPr txBox="1"/>
            <p:nvPr/>
          </p:nvSpPr>
          <p:spPr>
            <a:xfrm>
              <a:off x="5212080" y="6217920"/>
              <a:ext cx="12801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3" name="Caja VP3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4" name="Forma 23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Menor volumen plasmático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(síndrome diarreico, diálisis) → Hb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falsamente elevada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puede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enmascarar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una anemia real.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77656" y="1097280"/>
              <a:ext cx="1681463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DESHIDRATACIÓN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DESHIDRATACIÓN: HEMOCONCENTRACIÓN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Condición Embarazo"/>
          <p:cNvGrpSpPr/>
          <p:nvPr/>
        </p:nvGrpSpPr>
        <p:grpSpPr>
          <a:xfrm>
            <a:off x="411480" y="1143000"/>
            <a:ext cx="3794760" cy="2468880"/>
            <a:chOff x="411480" y="1143000"/>
            <a:chExt cx="3794760" cy="2468880"/>
          </a:xfrm>
        </p:grpSpPr>
        <p:sp>
          <p:nvSpPr>
            <p:cNvPr id="6" name="Forma 5"/>
            <p:cNvSpPr/>
            <p:nvPr/>
          </p:nvSpPr>
          <p:spPr>
            <a:xfrm>
              <a:off x="411480" y="1344168"/>
              <a:ext cx="3794760" cy="2267712"/>
            </a:xfrm>
            <a:prstGeom prst="roundRect">
              <a:avLst>
                <a:gd name="adj" fmla="val 9000"/>
              </a:avLst>
            </a:prstGeom>
            <a:solidFill>
              <a:srgbClr val="FDE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Mayor volumen plasmático → hemodilución → Hb aparentemente baja.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539496" y="1143000"/>
              <a:ext cx="121207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EMBARAZO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8" name="Condición Deshidrataci"/>
          <p:cNvGrpSpPr/>
          <p:nvPr/>
        </p:nvGrpSpPr>
        <p:grpSpPr>
          <a:xfrm>
            <a:off x="4389120" y="1143000"/>
            <a:ext cx="3794760" cy="2468880"/>
            <a:chOff x="4389120" y="1143000"/>
            <a:chExt cx="3794760" cy="2468880"/>
          </a:xfrm>
        </p:grpSpPr>
        <p:sp>
          <p:nvSpPr>
            <p:cNvPr id="9" name="Forma 8"/>
            <p:cNvSpPr/>
            <p:nvPr/>
          </p:nvSpPr>
          <p:spPr>
            <a:xfrm>
              <a:off x="4389120" y="1344168"/>
              <a:ext cx="3794760" cy="226771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Síndrome diarreico, diálisis: menor volumen → Hb falsamente elevada.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517136" y="1143000"/>
              <a:ext cx="168146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DESHIDRATACIÓN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1" name="Condición Insuficienci"/>
          <p:cNvGrpSpPr/>
          <p:nvPr/>
        </p:nvGrpSpPr>
        <p:grpSpPr>
          <a:xfrm>
            <a:off x="411480" y="3840480"/>
            <a:ext cx="3794760" cy="2468880"/>
            <a:chOff x="411480" y="3840480"/>
            <a:chExt cx="3794760" cy="2468880"/>
          </a:xfrm>
        </p:grpSpPr>
        <p:sp>
          <p:nvSpPr>
            <p:cNvPr id="12" name="Forma 11"/>
            <p:cNvSpPr/>
            <p:nvPr/>
          </p:nvSpPr>
          <p:spPr>
            <a:xfrm>
              <a:off x="411480" y="4041648"/>
              <a:ext cx="3794760" cy="2267712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Modifican el volumen plasmático.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539496" y="3840480"/>
              <a:ext cx="361188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INSUFICIENCIA RENAL AGUDA O CARDÍACA CONGESTIVA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14" name="Condición Hemorragia a"/>
          <p:cNvGrpSpPr/>
          <p:nvPr/>
        </p:nvGrpSpPr>
        <p:grpSpPr>
          <a:xfrm>
            <a:off x="4389120" y="3840480"/>
            <a:ext cx="3794760" cy="2468880"/>
            <a:chOff x="4389120" y="3840480"/>
            <a:chExt cx="3794760" cy="2468880"/>
          </a:xfrm>
        </p:grpSpPr>
        <p:sp>
          <p:nvSpPr>
            <p:cNvPr id="15" name="Forma 14"/>
            <p:cNvSpPr/>
            <p:nvPr/>
          </p:nvSpPr>
          <p:spPr>
            <a:xfrm>
              <a:off x="4389120" y="4041648"/>
              <a:ext cx="3794760" cy="226771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Alteran la concentración de Hb en sangre.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4517136" y="3840480"/>
              <a:ext cx="361188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HEMORRAGIA AGUDA, NEOPLASIAS, EDEMA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Riñón cond"/>
          <p:cNvGrpSpPr/>
          <p:nvPr/>
        </p:nvGrpSpPr>
        <p:grpSpPr>
          <a:xfrm>
            <a:off x="8686800" y="1188720"/>
            <a:ext cx="1188720" cy="1664208"/>
            <a:chOff x="8686800" y="1188720"/>
            <a:chExt cx="1188720" cy="1664208"/>
          </a:xfrm>
        </p:grpSpPr>
        <p:sp>
          <p:nvSpPr>
            <p:cNvPr id="18" name="Forma 17"/>
            <p:cNvSpPr/>
            <p:nvPr/>
          </p:nvSpPr>
          <p:spPr>
            <a:xfrm>
              <a:off x="8686800" y="118872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350" y="30"/>
                  </a:moveTo>
                  <a:cubicBezTo>
                    <a:pt x="398" y="30"/>
                    <a:pt x="471" y="31"/>
                    <a:pt x="520" y="60"/>
                  </a:cubicBezTo>
                  <a:cubicBezTo>
                    <a:pt x="568" y="88"/>
                    <a:pt x="613" y="143"/>
                    <a:pt x="640" y="200"/>
                  </a:cubicBezTo>
                  <a:cubicBezTo>
                    <a:pt x="666" y="256"/>
                    <a:pt x="676" y="330"/>
                    <a:pt x="680" y="400"/>
                  </a:cubicBezTo>
                  <a:cubicBezTo>
                    <a:pt x="683" y="470"/>
                    <a:pt x="676" y="550"/>
                    <a:pt x="660" y="620"/>
                  </a:cubicBezTo>
                  <a:cubicBezTo>
                    <a:pt x="643" y="690"/>
                    <a:pt x="620" y="763"/>
                    <a:pt x="580" y="820"/>
                  </a:cubicBezTo>
                  <a:cubicBezTo>
                    <a:pt x="540" y="876"/>
                    <a:pt x="475" y="936"/>
                    <a:pt x="420" y="960"/>
                  </a:cubicBezTo>
                  <a:cubicBezTo>
                    <a:pt x="365" y="983"/>
                    <a:pt x="296" y="976"/>
                    <a:pt x="250" y="960"/>
                  </a:cubicBezTo>
                  <a:cubicBezTo>
                    <a:pt x="203" y="943"/>
                    <a:pt x="163" y="903"/>
                    <a:pt x="140" y="860"/>
                  </a:cubicBezTo>
                  <a:cubicBezTo>
                    <a:pt x="116" y="816"/>
                    <a:pt x="105" y="743"/>
                    <a:pt x="110" y="700"/>
                  </a:cubicBezTo>
                  <a:cubicBezTo>
                    <a:pt x="115" y="656"/>
                    <a:pt x="143" y="623"/>
                    <a:pt x="170" y="600"/>
                  </a:cubicBezTo>
                  <a:cubicBezTo>
                    <a:pt x="196" y="576"/>
                    <a:pt x="248" y="576"/>
                    <a:pt x="270" y="560"/>
                  </a:cubicBezTo>
                  <a:cubicBezTo>
                    <a:pt x="291" y="543"/>
                    <a:pt x="301" y="521"/>
                    <a:pt x="300" y="500"/>
                  </a:cubicBezTo>
                  <a:cubicBezTo>
                    <a:pt x="298" y="478"/>
                    <a:pt x="283" y="446"/>
                    <a:pt x="260" y="430"/>
                  </a:cubicBezTo>
                  <a:cubicBezTo>
                    <a:pt x="236" y="413"/>
                    <a:pt x="186" y="421"/>
                    <a:pt x="160" y="400"/>
                  </a:cubicBezTo>
                  <a:cubicBezTo>
                    <a:pt x="133" y="378"/>
                    <a:pt x="103" y="341"/>
                    <a:pt x="100" y="300"/>
                  </a:cubicBezTo>
                  <a:cubicBezTo>
                    <a:pt x="96" y="258"/>
                    <a:pt x="118" y="190"/>
                    <a:pt x="140" y="150"/>
                  </a:cubicBezTo>
                  <a:cubicBezTo>
                    <a:pt x="161" y="110"/>
                    <a:pt x="195" y="80"/>
                    <a:pt x="230" y="60"/>
                  </a:cubicBezTo>
                  <a:cubicBezTo>
                    <a:pt x="265" y="40"/>
                    <a:pt x="301" y="30"/>
                    <a:pt x="350" y="3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4F1A14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9" name="Forma 18"/>
            <p:cNvSpPr/>
            <p:nvPr/>
          </p:nvSpPr>
          <p:spPr>
            <a:xfrm>
              <a:off x="8686800" y="118872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440" y="150"/>
                  </a:moveTo>
                  <a:lnTo>
                    <a:pt x="530" y="270"/>
                  </a:lnTo>
                  <a:lnTo>
                    <a:pt x="380" y="290"/>
                  </a:lnTo>
                  <a:close/>
                </a:path>
                <a:path w="700" h="1000">
                  <a:moveTo>
                    <a:pt x="520" y="350"/>
                  </a:moveTo>
                  <a:lnTo>
                    <a:pt x="610" y="470"/>
                  </a:lnTo>
                  <a:lnTo>
                    <a:pt x="460" y="490"/>
                  </a:lnTo>
                  <a:close/>
                </a:path>
                <a:path w="700" h="1000">
                  <a:moveTo>
                    <a:pt x="500" y="570"/>
                  </a:moveTo>
                  <a:lnTo>
                    <a:pt x="590" y="690"/>
                  </a:lnTo>
                  <a:lnTo>
                    <a:pt x="440" y="710"/>
                  </a:lnTo>
                  <a:close/>
                </a:path>
                <a:path w="700" h="1000">
                  <a:moveTo>
                    <a:pt x="380" y="750"/>
                  </a:moveTo>
                  <a:lnTo>
                    <a:pt x="470" y="870"/>
                  </a:lnTo>
                  <a:lnTo>
                    <a:pt x="320" y="890"/>
                  </a:lnTo>
                  <a:close/>
                </a:path>
              </a:pathLst>
            </a:custGeom>
            <a:solidFill>
              <a:srgbClr val="7B2820"/>
            </a:solidFill>
            <a:ln w="9525" cap="rnd">
              <a:solidFill>
                <a:srgbClr val="4F1A14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8686800" y="118872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300" y="470"/>
                  </a:moveTo>
                  <a:cubicBezTo>
                    <a:pt x="313" y="440"/>
                    <a:pt x="360" y="375"/>
                    <a:pt x="380" y="380"/>
                  </a:cubicBezTo>
                  <a:cubicBezTo>
                    <a:pt x="400" y="385"/>
                    <a:pt x="420" y="460"/>
                    <a:pt x="420" y="500"/>
                  </a:cubicBezTo>
                  <a:cubicBezTo>
                    <a:pt x="420" y="540"/>
                    <a:pt x="400" y="610"/>
                    <a:pt x="380" y="620"/>
                  </a:cubicBezTo>
                  <a:cubicBezTo>
                    <a:pt x="360" y="630"/>
                    <a:pt x="313" y="585"/>
                    <a:pt x="300" y="560"/>
                  </a:cubicBezTo>
                  <a:cubicBezTo>
                    <a:pt x="286" y="535"/>
                    <a:pt x="286" y="500"/>
                    <a:pt x="300" y="470"/>
                  </a:cubicBezTo>
                  <a:close/>
                </a:path>
              </a:pathLst>
            </a:custGeom>
            <a:solidFill>
              <a:srgbClr val="F5CBA7"/>
            </a:soli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8686800" y="1188720"/>
              <a:ext cx="1188720" cy="1664208"/>
            </a:xfrm>
            <a:custGeom>
              <a:avLst/>
              <a:gdLst/>
              <a:ahLst/>
              <a:cxnLst/>
              <a:rect l="0" t="0" r="r" b="b"/>
              <a:pathLst>
                <a:path w="700" h="1000" fill="none">
                  <a:moveTo>
                    <a:pt x="300" y="520"/>
                  </a:moveTo>
                  <a:cubicBezTo>
                    <a:pt x="220" y="560"/>
                    <a:pt x="200" y="700"/>
                    <a:pt x="230" y="1000"/>
                  </a:cubicBezTo>
                </a:path>
              </a:pathLst>
            </a:custGeom>
            <a:noFill/>
            <a:ln w="63500" cap="rnd">
              <a:solidFill>
                <a:srgbClr val="E59866"/>
              </a:solidFill>
              <a:round/>
            </a:ln>
          </p:spPr>
        </p:sp>
      </p:grpSp>
      <p:grpSp>
        <p:nvGrpSpPr>
          <p:cNvPr id="22" name="Corazón cond"/>
          <p:cNvGrpSpPr/>
          <p:nvPr/>
        </p:nvGrpSpPr>
        <p:grpSpPr>
          <a:xfrm>
            <a:off x="10195560" y="1143000"/>
            <a:ext cx="1554480" cy="1709928"/>
            <a:chOff x="10195560" y="1143000"/>
            <a:chExt cx="1554480" cy="1709928"/>
          </a:xfrm>
        </p:grpSpPr>
        <p:sp>
          <p:nvSpPr>
            <p:cNvPr id="23" name="Aorta"/>
            <p:cNvSpPr/>
            <p:nvPr/>
          </p:nvSpPr>
          <p:spPr>
            <a:xfrm>
              <a:off x="10786262" y="1143000"/>
              <a:ext cx="497434" cy="54717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24" name="Arteria pulmonar"/>
            <p:cNvSpPr/>
            <p:nvPr/>
          </p:nvSpPr>
          <p:spPr>
            <a:xfrm>
              <a:off x="10537546" y="1313993"/>
              <a:ext cx="341986" cy="42748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25" name="Miocardio"/>
            <p:cNvSpPr/>
            <p:nvPr/>
          </p:nvSpPr>
          <p:spPr>
            <a:xfrm>
              <a:off x="10195560" y="1450787"/>
              <a:ext cx="1554480" cy="140214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6" name="Aurícula derecha"/>
            <p:cNvSpPr/>
            <p:nvPr/>
          </p:nvSpPr>
          <p:spPr>
            <a:xfrm>
              <a:off x="10257739" y="1655978"/>
              <a:ext cx="435254" cy="4787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27" name="!!ArteriaCoronaria izquierda"/>
          <p:cNvSpPr/>
          <p:nvPr/>
        </p:nvSpPr>
        <p:spPr>
          <a:xfrm>
            <a:off x="10195560" y="1450787"/>
            <a:ext cx="1554480" cy="1402141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28" name="!!ArteriaCoronaria derecha"/>
          <p:cNvSpPr/>
          <p:nvPr/>
        </p:nvSpPr>
        <p:spPr>
          <a:xfrm>
            <a:off x="10195560" y="1450787"/>
            <a:ext cx="1554480" cy="1402141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29" name="Pregunta volumen"/>
          <p:cNvSpPr/>
          <p:nvPr/>
        </p:nvSpPr>
        <p:spPr>
          <a:xfrm>
            <a:off x="8412480" y="3931920"/>
            <a:ext cx="3520440" cy="2514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Antes de rotular una anemia, preguntá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cómo está el volumen plasmático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paciente.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OTRAS CONDICIONES QUE MODIFICAN LA HEMOGLOBINA MEDIDA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Ejes instalación"/>
          <p:cNvGrpSpPr/>
          <p:nvPr/>
        </p:nvGrpSpPr>
        <p:grpSpPr>
          <a:xfrm>
            <a:off x="685800" y="1005840"/>
            <a:ext cx="7269480" cy="4764024"/>
            <a:chOff x="685800" y="1005840"/>
            <a:chExt cx="7269480" cy="4764024"/>
          </a:xfrm>
        </p:grpSpPr>
        <p:sp>
          <p:nvSpPr>
            <p:cNvPr id="6" name="Flecha 5_2"/>
            <p:cNvSpPr/>
            <p:nvPr/>
          </p:nvSpPr>
          <p:spPr>
            <a:xfrm>
              <a:off x="731520" y="1371600"/>
              <a:ext cx="9144" cy="4023360"/>
            </a:xfrm>
            <a:custGeom>
              <a:avLst/>
              <a:gdLst/>
              <a:ahLst/>
              <a:cxnLst/>
              <a:rect l="0" t="0" r="r" b="b"/>
              <a:pathLst>
                <a:path w="10" h="4400" fill="none">
                  <a:moveTo>
                    <a:pt x="0" y="44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731520" y="5394960"/>
              <a:ext cx="7223760" cy="9144"/>
            </a:xfrm>
            <a:custGeom>
              <a:avLst/>
              <a:gdLst/>
              <a:ahLst/>
              <a:cxnLst/>
              <a:rect l="0" t="0" r="r" b="b"/>
              <a:pathLst>
                <a:path w="7899" h="10" fill="none">
                  <a:moveTo>
                    <a:pt x="0" y="0"/>
                  </a:moveTo>
                  <a:lnTo>
                    <a:pt x="78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5120640" y="544982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tiempo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685800" y="100584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 (g/dL)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Instalación lenta"/>
          <p:cNvSpPr/>
          <p:nvPr/>
        </p:nvSpPr>
        <p:spPr>
          <a:xfrm>
            <a:off x="731520" y="1463040"/>
            <a:ext cx="7132320" cy="393192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125"/>
                </a:moveTo>
                <a:cubicBezTo>
                  <a:pt x="45" y="143"/>
                  <a:pt x="210" y="184"/>
                  <a:pt x="300" y="250"/>
                </a:cubicBezTo>
                <a:cubicBezTo>
                  <a:pt x="390" y="315"/>
                  <a:pt x="495" y="482"/>
                  <a:pt x="600" y="562"/>
                </a:cubicBezTo>
                <a:cubicBezTo>
                  <a:pt x="705" y="641"/>
                  <a:pt x="940" y="748"/>
                  <a:pt x="1000" y="781"/>
                </a:cubicBezTo>
              </a:path>
            </a:pathLst>
          </a:custGeom>
          <a:noFill/>
          <a:ln w="57150" cap="rnd">
            <a:solidFill>
              <a:srgbClr val="1F3864"/>
            </a:solidFill>
            <a:round/>
          </a:ln>
        </p:spPr>
      </p:sp>
      <p:sp>
        <p:nvSpPr>
          <p:cNvPr id="11" name="Instalación aguda"/>
          <p:cNvSpPr/>
          <p:nvPr/>
        </p:nvSpPr>
        <p:spPr>
          <a:xfrm>
            <a:off x="731520" y="1463040"/>
            <a:ext cx="7132320" cy="393192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125"/>
                </a:moveTo>
                <a:cubicBezTo>
                  <a:pt x="12" y="126"/>
                  <a:pt x="57" y="62"/>
                  <a:pt x="80" y="137"/>
                </a:cubicBezTo>
                <a:cubicBezTo>
                  <a:pt x="102" y="212"/>
                  <a:pt x="129" y="551"/>
                  <a:pt x="150" y="625"/>
                </a:cubicBezTo>
                <a:cubicBezTo>
                  <a:pt x="171" y="698"/>
                  <a:pt x="209" y="625"/>
                  <a:pt x="220" y="625"/>
                </a:cubicBezTo>
              </a:path>
            </a:pathLst>
          </a:custGeom>
          <a:noFill/>
          <a:ln w="57150" cap="rnd">
            <a:solidFill>
              <a:srgbClr val="C00000"/>
            </a:solidFill>
            <a:round/>
          </a:ln>
        </p:spPr>
      </p:sp>
      <p:sp>
        <p:nvSpPr>
          <p:cNvPr id="12" name="Rótulo lenta"/>
          <p:cNvSpPr/>
          <p:nvPr/>
        </p:nvSpPr>
        <p:spPr>
          <a:xfrm>
            <a:off x="5394960" y="4206240"/>
            <a:ext cx="2155493" cy="29337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lenta (crónica): 3–4 g/dL</a:t>
            </a:r>
            <a:endParaRPr lang="es-AR" sz="1400" dirty="0">
              <a:latin typeface="Calibri"/>
            </a:endParaRPr>
          </a:p>
        </p:txBody>
      </p:sp>
      <p:sp>
        <p:nvSpPr>
          <p:cNvPr id="13" name="Rótulo aguda"/>
          <p:cNvSpPr/>
          <p:nvPr/>
        </p:nvSpPr>
        <p:spPr>
          <a:xfrm>
            <a:off x="1828800" y="3291840"/>
            <a:ext cx="1774049" cy="293370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aguda: 14 → 6 g/dL</a:t>
            </a:r>
            <a:endParaRPr lang="es-AR" sz="1400" dirty="0">
              <a:latin typeface="Calibri"/>
            </a:endParaRPr>
          </a:p>
        </p:txBody>
      </p:sp>
      <p:grpSp>
        <p:nvGrpSpPr>
          <p:cNvPr id="14" name="Lenta"/>
          <p:cNvGrpSpPr/>
          <p:nvPr/>
        </p:nvGrpSpPr>
        <p:grpSpPr>
          <a:xfrm>
            <a:off x="8549640" y="1097280"/>
            <a:ext cx="3383280" cy="2560320"/>
            <a:chOff x="8549640" y="1097280"/>
            <a:chExt cx="3383280" cy="2560320"/>
          </a:xfrm>
        </p:grpSpPr>
        <p:sp>
          <p:nvSpPr>
            <p:cNvPr id="15" name="Forma 16"/>
            <p:cNvSpPr/>
            <p:nvPr/>
          </p:nvSpPr>
          <p:spPr>
            <a:xfrm>
              <a:off x="8549640" y="1298448"/>
              <a:ext cx="3383280" cy="235915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Instalación lenta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organismo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compensa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progresivamente; un paciente puede caminar y hablar con Hb de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3–4 g/dL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6" name="Forma 17"/>
            <p:cNvSpPr/>
            <p:nvPr/>
          </p:nvSpPr>
          <p:spPr>
            <a:xfrm>
              <a:off x="8677656" y="1097280"/>
              <a:ext cx="102394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CRÓNICA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Aguda"/>
          <p:cNvGrpSpPr/>
          <p:nvPr/>
        </p:nvGrpSpPr>
        <p:grpSpPr>
          <a:xfrm>
            <a:off x="8549640" y="3886200"/>
            <a:ext cx="3383280" cy="2560320"/>
            <a:chOff x="8549640" y="3886200"/>
            <a:chExt cx="3383280" cy="2560320"/>
          </a:xfrm>
        </p:grpSpPr>
        <p:sp>
          <p:nvSpPr>
            <p:cNvPr id="18" name="Forma 19"/>
            <p:cNvSpPr/>
            <p:nvPr/>
          </p:nvSpPr>
          <p:spPr>
            <a:xfrm>
              <a:off x="8549640" y="4087368"/>
              <a:ext cx="3383280" cy="235915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Instalación aguda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síntomas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dramáticos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una caída brusca de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14 a 6 g/dL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genera todas las manifestaciones posibles.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9" name="Forma 20"/>
            <p:cNvSpPr/>
            <p:nvPr/>
          </p:nvSpPr>
          <p:spPr>
            <a:xfrm>
              <a:off x="8677656" y="3886200"/>
              <a:ext cx="888989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AGUDA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0" name="Variedad"/>
          <p:cNvSpPr/>
          <p:nvPr/>
        </p:nvSpPr>
        <p:spPr>
          <a:xfrm>
            <a:off x="548640" y="5715000"/>
            <a:ext cx="7315200" cy="7315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anemia es uno de los síndromes con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mayor variedad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manifestaciones clínicas.</a:t>
            </a:r>
            <a:endParaRPr lang="es-AR" sz="16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 VELOCIDAD DE INSTALACIÓN DEFINE LA INTENSIDAD DE LOS SÍNTOMAS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1" grpId="0" animBg="1"/>
      <p:bldP spid="13" grpId="0" animBg="1"/>
      <p:bldP spid="20" grpId="0" animBg="1"/>
    </p:bld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9393"/>
          </a:solidFill>
          <a:ln>
            <a:noFill/>
          </a:ln>
        </p:spPr>
      </p:sp>
      <p:grpSp>
        <p:nvGrpSpPr>
          <p:cNvPr id="6" name="!!Paciente"/>
          <p:cNvGrpSpPr/>
          <p:nvPr/>
        </p:nvGrpSpPr>
        <p:grpSpPr>
          <a:xfrm>
            <a:off x="4480560" y="1005840"/>
            <a:ext cx="2697480" cy="5394960"/>
            <a:chOff x="4480560" y="1005840"/>
            <a:chExt cx="2697480" cy="5394960"/>
          </a:xfrm>
        </p:grpSpPr>
        <p:sp>
          <p:nvSpPr>
            <p:cNvPr id="7" name="Forma 6"/>
            <p:cNvSpPr/>
            <p:nvPr/>
          </p:nvSpPr>
          <p:spPr>
            <a:xfrm>
              <a:off x="44805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44805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grpSp>
        <p:nvGrpSpPr>
          <p:cNvPr id="9" name="Manifestación 1"/>
          <p:cNvGrpSpPr/>
          <p:nvPr/>
        </p:nvGrpSpPr>
        <p:grpSpPr>
          <a:xfrm>
            <a:off x="320040" y="1097280"/>
            <a:ext cx="5669280" cy="2249424"/>
            <a:chOff x="320040" y="1097280"/>
            <a:chExt cx="5669280" cy="2249424"/>
          </a:xfrm>
        </p:grpSpPr>
        <p:sp>
          <p:nvSpPr>
            <p:cNvPr id="10" name="Forma 9"/>
            <p:cNvSpPr/>
            <p:nvPr/>
          </p:nvSpPr>
          <p:spPr>
            <a:xfrm>
              <a:off x="320040" y="109728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Astenia / adinamia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Falta de O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para el metabolismo energético celular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1" name="Flecha 10_2"/>
            <p:cNvSpPr/>
            <p:nvPr/>
          </p:nvSpPr>
          <p:spPr>
            <a:xfrm>
              <a:off x="4480560" y="1874520"/>
              <a:ext cx="1426464" cy="1389888"/>
            </a:xfrm>
            <a:custGeom>
              <a:avLst/>
              <a:gdLst/>
              <a:ahLst/>
              <a:cxnLst/>
              <a:rect l="0" t="0" r="r" b="b"/>
              <a:pathLst>
                <a:path w="1560" h="1520" fill="none">
                  <a:moveTo>
                    <a:pt x="0" y="0"/>
                  </a:moveTo>
                  <a:lnTo>
                    <a:pt x="1560" y="152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12" name="Forma 12"/>
            <p:cNvSpPr/>
            <p:nvPr/>
          </p:nvSpPr>
          <p:spPr>
            <a:xfrm>
              <a:off x="5824728" y="3182112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13" name="Manifestación 2"/>
          <p:cNvGrpSpPr/>
          <p:nvPr/>
        </p:nvGrpSpPr>
        <p:grpSpPr>
          <a:xfrm>
            <a:off x="5715000" y="1097280"/>
            <a:ext cx="6126480" cy="1901952"/>
            <a:chOff x="5715000" y="1097280"/>
            <a:chExt cx="6126480" cy="1901952"/>
          </a:xfrm>
        </p:grpSpPr>
        <p:sp>
          <p:nvSpPr>
            <p:cNvPr id="14" name="Forma 14"/>
            <p:cNvSpPr/>
            <p:nvPr/>
          </p:nvSpPr>
          <p:spPr>
            <a:xfrm>
              <a:off x="7680960" y="109728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Disnea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Hipoxia tisular y compensación ventilatoria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5" name="Flecha 15_2"/>
            <p:cNvSpPr/>
            <p:nvPr/>
          </p:nvSpPr>
          <p:spPr>
            <a:xfrm>
              <a:off x="5797296" y="1874520"/>
              <a:ext cx="1883664" cy="1042416"/>
            </a:xfrm>
            <a:custGeom>
              <a:avLst/>
              <a:gdLst/>
              <a:ahLst/>
              <a:cxnLst/>
              <a:rect l="0" t="0" r="r" b="b"/>
              <a:pathLst>
                <a:path w="2060" h="1140" fill="none">
                  <a:moveTo>
                    <a:pt x="2060" y="0"/>
                  </a:moveTo>
                  <a:lnTo>
                    <a:pt x="0" y="114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16" name="Forma 17"/>
            <p:cNvSpPr/>
            <p:nvPr/>
          </p:nvSpPr>
          <p:spPr>
            <a:xfrm>
              <a:off x="5715000" y="2834640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17" name="Manifestación 3"/>
          <p:cNvGrpSpPr/>
          <p:nvPr/>
        </p:nvGrpSpPr>
        <p:grpSpPr>
          <a:xfrm>
            <a:off x="320040" y="2880360"/>
            <a:ext cx="5614416" cy="1600200"/>
            <a:chOff x="320040" y="2880360"/>
            <a:chExt cx="5614416" cy="1600200"/>
          </a:xfrm>
        </p:grpSpPr>
        <p:sp>
          <p:nvSpPr>
            <p:cNvPr id="18" name="Forma 19"/>
            <p:cNvSpPr/>
            <p:nvPr/>
          </p:nvSpPr>
          <p:spPr>
            <a:xfrm>
              <a:off x="320040" y="288036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Taquicardia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corazón compensa bombeando más flujo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9" name="Flecha 20_2"/>
            <p:cNvSpPr/>
            <p:nvPr/>
          </p:nvSpPr>
          <p:spPr>
            <a:xfrm>
              <a:off x="4480560" y="3394710"/>
              <a:ext cx="1371600" cy="262890"/>
            </a:xfrm>
            <a:custGeom>
              <a:avLst/>
              <a:gdLst/>
              <a:ahLst/>
              <a:cxnLst/>
              <a:rect l="0" t="0" r="r" b="b"/>
              <a:pathLst>
                <a:path w="1500" h="287" fill="none">
                  <a:moveTo>
                    <a:pt x="0" y="287"/>
                  </a:moveTo>
                  <a:lnTo>
                    <a:pt x="1500" y="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20" name="Forma 22"/>
            <p:cNvSpPr/>
            <p:nvPr/>
          </p:nvSpPr>
          <p:spPr>
            <a:xfrm>
              <a:off x="5769864" y="3312414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21" name="Manifestación 4"/>
          <p:cNvGrpSpPr/>
          <p:nvPr/>
        </p:nvGrpSpPr>
        <p:grpSpPr>
          <a:xfrm>
            <a:off x="5769864" y="2880360"/>
            <a:ext cx="6071616" cy="1600200"/>
            <a:chOff x="5769864" y="2880360"/>
            <a:chExt cx="6071616" cy="1600200"/>
          </a:xfrm>
        </p:grpSpPr>
        <p:sp>
          <p:nvSpPr>
            <p:cNvPr id="22" name="Forma 24"/>
            <p:cNvSpPr/>
            <p:nvPr/>
          </p:nvSpPr>
          <p:spPr>
            <a:xfrm>
              <a:off x="7680960" y="288036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Hipotensión (en hemorragias)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Pérdida de volumen sanguíneo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lecha 25_2"/>
            <p:cNvSpPr/>
            <p:nvPr/>
          </p:nvSpPr>
          <p:spPr>
            <a:xfrm>
              <a:off x="5852160" y="3611880"/>
              <a:ext cx="1828800" cy="45720"/>
            </a:xfrm>
            <a:custGeom>
              <a:avLst/>
              <a:gdLst/>
              <a:ahLst/>
              <a:cxnLst/>
              <a:rect l="0" t="0" r="r" b="b"/>
              <a:pathLst>
                <a:path w="2000" h="50" fill="none">
                  <a:moveTo>
                    <a:pt x="2000" y="50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24" name="Forma 27"/>
            <p:cNvSpPr/>
            <p:nvPr/>
          </p:nvSpPr>
          <p:spPr>
            <a:xfrm>
              <a:off x="5769864" y="3529584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25" name="Manifestación 5"/>
          <p:cNvGrpSpPr/>
          <p:nvPr/>
        </p:nvGrpSpPr>
        <p:grpSpPr>
          <a:xfrm>
            <a:off x="320040" y="2183130"/>
            <a:ext cx="5559552" cy="4080510"/>
            <a:chOff x="320040" y="2183130"/>
            <a:chExt cx="5559552" cy="4080510"/>
          </a:xfrm>
        </p:grpSpPr>
        <p:sp>
          <p:nvSpPr>
            <p:cNvPr id="26" name="Forma 29"/>
            <p:cNvSpPr/>
            <p:nvPr/>
          </p:nvSpPr>
          <p:spPr>
            <a:xfrm>
              <a:off x="320040" y="466344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Mareos y vértigo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cerebro es el primero en resentir la hipoxia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7" name="Flecha 30_2"/>
            <p:cNvSpPr/>
            <p:nvPr/>
          </p:nvSpPr>
          <p:spPr>
            <a:xfrm>
              <a:off x="4480560" y="2265426"/>
              <a:ext cx="1316736" cy="3175254"/>
            </a:xfrm>
            <a:custGeom>
              <a:avLst/>
              <a:gdLst/>
              <a:ahLst/>
              <a:cxnLst/>
              <a:rect l="0" t="0" r="r" b="b"/>
              <a:pathLst>
                <a:path w="1440" h="3472" fill="none">
                  <a:moveTo>
                    <a:pt x="0" y="3472"/>
                  </a:moveTo>
                  <a:lnTo>
                    <a:pt x="1440" y="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28" name="Forma 32"/>
            <p:cNvSpPr/>
            <p:nvPr/>
          </p:nvSpPr>
          <p:spPr>
            <a:xfrm>
              <a:off x="5715000" y="2183130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29" name="Manifestación 6"/>
          <p:cNvGrpSpPr/>
          <p:nvPr/>
        </p:nvGrpSpPr>
        <p:grpSpPr>
          <a:xfrm>
            <a:off x="5715000" y="2226564"/>
            <a:ext cx="6126480" cy="4037076"/>
            <a:chOff x="5715000" y="2226564"/>
            <a:chExt cx="6126480" cy="4037076"/>
          </a:xfrm>
        </p:grpSpPr>
        <p:sp>
          <p:nvSpPr>
            <p:cNvPr id="30" name="Forma 34"/>
            <p:cNvSpPr/>
            <p:nvPr/>
          </p:nvSpPr>
          <p:spPr>
            <a:xfrm>
              <a:off x="7680960" y="466344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Somnolencia, confusión, irritabilidad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Hipoxia cerebral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1" name="Flecha 35_2"/>
            <p:cNvSpPr/>
            <p:nvPr/>
          </p:nvSpPr>
          <p:spPr>
            <a:xfrm>
              <a:off x="5797296" y="2308860"/>
              <a:ext cx="1883664" cy="3131820"/>
            </a:xfrm>
            <a:custGeom>
              <a:avLst/>
              <a:gdLst/>
              <a:ahLst/>
              <a:cxnLst/>
              <a:rect l="0" t="0" r="r" b="b"/>
              <a:pathLst>
                <a:path w="2060" h="3424" fill="none">
                  <a:moveTo>
                    <a:pt x="2060" y="3424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32" name="Forma 37"/>
            <p:cNvSpPr/>
            <p:nvPr/>
          </p:nvSpPr>
          <p:spPr>
            <a:xfrm>
              <a:off x="5715000" y="2226564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MANIFESTACIONES CLÍNICAS (I): OXÍGENO Y COMPENSACIÓN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9393"/>
          </a:solidFill>
          <a:ln>
            <a:noFill/>
          </a:ln>
        </p:spPr>
      </p:sp>
      <p:grpSp>
        <p:nvGrpSpPr>
          <p:cNvPr id="6" name="!!Paciente"/>
          <p:cNvGrpSpPr/>
          <p:nvPr/>
        </p:nvGrpSpPr>
        <p:grpSpPr>
          <a:xfrm>
            <a:off x="4480560" y="1005840"/>
            <a:ext cx="2697480" cy="5394960"/>
            <a:chOff x="4480560" y="1005840"/>
            <a:chExt cx="2697480" cy="5394960"/>
          </a:xfrm>
        </p:grpSpPr>
        <p:sp>
          <p:nvSpPr>
            <p:cNvPr id="7" name="Forma 6"/>
            <p:cNvSpPr/>
            <p:nvPr/>
          </p:nvSpPr>
          <p:spPr>
            <a:xfrm>
              <a:off x="44805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44805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grpSp>
        <p:nvGrpSpPr>
          <p:cNvPr id="9" name="Manifestación 1"/>
          <p:cNvGrpSpPr/>
          <p:nvPr/>
        </p:nvGrpSpPr>
        <p:grpSpPr>
          <a:xfrm>
            <a:off x="320040" y="1097280"/>
            <a:ext cx="5532120" cy="1600200"/>
            <a:chOff x="320040" y="1097280"/>
            <a:chExt cx="5532120" cy="1600200"/>
          </a:xfrm>
        </p:grpSpPr>
        <p:sp>
          <p:nvSpPr>
            <p:cNvPr id="10" name="Forma 9"/>
            <p:cNvSpPr/>
            <p:nvPr/>
          </p:nvSpPr>
          <p:spPr>
            <a:xfrm>
              <a:off x="320040" y="109728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Palidez de piel y mucosas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Vasoconstricción periférica y menos Hb visible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1" name="Flecha 10_2"/>
            <p:cNvSpPr/>
            <p:nvPr/>
          </p:nvSpPr>
          <p:spPr>
            <a:xfrm>
              <a:off x="4480560" y="1874520"/>
              <a:ext cx="1289304" cy="651510"/>
            </a:xfrm>
            <a:custGeom>
              <a:avLst/>
              <a:gdLst/>
              <a:ahLst/>
              <a:cxnLst/>
              <a:rect l="0" t="0" r="r" b="b"/>
              <a:pathLst>
                <a:path w="1410" h="712" fill="none">
                  <a:moveTo>
                    <a:pt x="0" y="0"/>
                  </a:moveTo>
                  <a:lnTo>
                    <a:pt x="1410" y="712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12" name="Forma 12"/>
            <p:cNvSpPr/>
            <p:nvPr/>
          </p:nvSpPr>
          <p:spPr>
            <a:xfrm>
              <a:off x="5687568" y="2443734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13" name="Manifestación 2"/>
          <p:cNvGrpSpPr/>
          <p:nvPr/>
        </p:nvGrpSpPr>
        <p:grpSpPr>
          <a:xfrm>
            <a:off x="5330952" y="1097280"/>
            <a:ext cx="6510528" cy="3639312"/>
            <a:chOff x="5330952" y="1097280"/>
            <a:chExt cx="6510528" cy="3639312"/>
          </a:xfrm>
        </p:grpSpPr>
        <p:sp>
          <p:nvSpPr>
            <p:cNvPr id="14" name="Forma 14"/>
            <p:cNvSpPr/>
            <p:nvPr/>
          </p:nvSpPr>
          <p:spPr>
            <a:xfrm>
              <a:off x="7680960" y="109728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Manos frías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Redistribución del flujo hacia órganos vitales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5" name="Flecha 15_2"/>
            <p:cNvSpPr/>
            <p:nvPr/>
          </p:nvSpPr>
          <p:spPr>
            <a:xfrm>
              <a:off x="5413248" y="1874520"/>
              <a:ext cx="2267712" cy="2779776"/>
            </a:xfrm>
            <a:custGeom>
              <a:avLst/>
              <a:gdLst/>
              <a:ahLst/>
              <a:cxnLst/>
              <a:rect l="0" t="0" r="r" b="b"/>
              <a:pathLst>
                <a:path w="2480" h="3040" fill="none">
                  <a:moveTo>
                    <a:pt x="2480" y="0"/>
                  </a:moveTo>
                  <a:lnTo>
                    <a:pt x="0" y="304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16" name="Forma 17"/>
            <p:cNvSpPr/>
            <p:nvPr/>
          </p:nvSpPr>
          <p:spPr>
            <a:xfrm>
              <a:off x="5330952" y="4572000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17" name="Manifestación 3"/>
          <p:cNvGrpSpPr/>
          <p:nvPr/>
        </p:nvGrpSpPr>
        <p:grpSpPr>
          <a:xfrm>
            <a:off x="320040" y="2880360"/>
            <a:ext cx="5120640" cy="2029968"/>
            <a:chOff x="320040" y="2880360"/>
            <a:chExt cx="5120640" cy="2029968"/>
          </a:xfrm>
        </p:grpSpPr>
        <p:sp>
          <p:nvSpPr>
            <p:cNvPr id="18" name="Forma 19"/>
            <p:cNvSpPr/>
            <p:nvPr/>
          </p:nvSpPr>
          <p:spPr>
            <a:xfrm>
              <a:off x="320040" y="288036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Uñas frágiles, pelo seco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Déficit crónico de O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nutrientes periféricos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9" name="Flecha 20_2"/>
            <p:cNvSpPr/>
            <p:nvPr/>
          </p:nvSpPr>
          <p:spPr>
            <a:xfrm>
              <a:off x="4480560" y="3657600"/>
              <a:ext cx="877824" cy="1170432"/>
            </a:xfrm>
            <a:custGeom>
              <a:avLst/>
              <a:gdLst/>
              <a:ahLst/>
              <a:cxnLst/>
              <a:rect l="0" t="0" r="r" b="b"/>
              <a:pathLst>
                <a:path w="960" h="1279" fill="none">
                  <a:moveTo>
                    <a:pt x="0" y="0"/>
                  </a:moveTo>
                  <a:lnTo>
                    <a:pt x="960" y="1279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20" name="Forma 22"/>
            <p:cNvSpPr/>
            <p:nvPr/>
          </p:nvSpPr>
          <p:spPr>
            <a:xfrm>
              <a:off x="5276088" y="4745736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21" name="Manifestación 4"/>
          <p:cNvGrpSpPr/>
          <p:nvPr/>
        </p:nvGrpSpPr>
        <p:grpSpPr>
          <a:xfrm>
            <a:off x="5769864" y="2880360"/>
            <a:ext cx="6071616" cy="1600200"/>
            <a:chOff x="5769864" y="2880360"/>
            <a:chExt cx="6071616" cy="1600200"/>
          </a:xfrm>
        </p:grpSpPr>
        <p:sp>
          <p:nvSpPr>
            <p:cNvPr id="22" name="Forma 24"/>
            <p:cNvSpPr/>
            <p:nvPr/>
          </p:nvSpPr>
          <p:spPr>
            <a:xfrm>
              <a:off x="7680960" y="288036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Menor diuresis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Reducción del flujo renal por hipoperfusión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3" name="Flecha 25_2"/>
            <p:cNvSpPr/>
            <p:nvPr/>
          </p:nvSpPr>
          <p:spPr>
            <a:xfrm>
              <a:off x="5852160" y="3657600"/>
              <a:ext cx="1828800" cy="388620"/>
            </a:xfrm>
            <a:custGeom>
              <a:avLst/>
              <a:gdLst/>
              <a:ahLst/>
              <a:cxnLst/>
              <a:rect l="0" t="0" r="r" b="b"/>
              <a:pathLst>
                <a:path w="2000" h="424" fill="none">
                  <a:moveTo>
                    <a:pt x="2000" y="0"/>
                  </a:moveTo>
                  <a:lnTo>
                    <a:pt x="0" y="424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24" name="Forma 27"/>
            <p:cNvSpPr/>
            <p:nvPr/>
          </p:nvSpPr>
          <p:spPr>
            <a:xfrm>
              <a:off x="5769864" y="3963924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25" name="Manifestación 5"/>
          <p:cNvGrpSpPr/>
          <p:nvPr/>
        </p:nvGrpSpPr>
        <p:grpSpPr>
          <a:xfrm>
            <a:off x="320040" y="3268980"/>
            <a:ext cx="5614416" cy="2994660"/>
            <a:chOff x="320040" y="3268980"/>
            <a:chExt cx="5614416" cy="2994660"/>
          </a:xfrm>
        </p:grpSpPr>
        <p:sp>
          <p:nvSpPr>
            <p:cNvPr id="26" name="Forma 29"/>
            <p:cNvSpPr/>
            <p:nvPr/>
          </p:nvSpPr>
          <p:spPr>
            <a:xfrm>
              <a:off x="320040" y="466344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torácico · menor deseo sexual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Estrés cardiorrespiratorio · hipoxia y redistribución del flujo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7" name="Flecha 30_2"/>
            <p:cNvSpPr/>
            <p:nvPr/>
          </p:nvSpPr>
          <p:spPr>
            <a:xfrm>
              <a:off x="4480560" y="3351276"/>
              <a:ext cx="1371600" cy="2089404"/>
            </a:xfrm>
            <a:custGeom>
              <a:avLst/>
              <a:gdLst/>
              <a:ahLst/>
              <a:cxnLst/>
              <a:rect l="0" t="0" r="r" b="b"/>
              <a:pathLst>
                <a:path w="1500" h="2284" fill="none">
                  <a:moveTo>
                    <a:pt x="0" y="2284"/>
                  </a:moveTo>
                  <a:lnTo>
                    <a:pt x="1500" y="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28" name="Forma 32"/>
            <p:cNvSpPr/>
            <p:nvPr/>
          </p:nvSpPr>
          <p:spPr>
            <a:xfrm>
              <a:off x="5769864" y="3268980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grpSp>
        <p:nvGrpSpPr>
          <p:cNvPr id="29" name="Manifestación 6"/>
          <p:cNvGrpSpPr/>
          <p:nvPr/>
        </p:nvGrpSpPr>
        <p:grpSpPr>
          <a:xfrm>
            <a:off x="5934456" y="3703320"/>
            <a:ext cx="5907024" cy="2560320"/>
            <a:chOff x="5934456" y="3703320"/>
            <a:chExt cx="5907024" cy="2560320"/>
          </a:xfrm>
        </p:grpSpPr>
        <p:sp>
          <p:nvSpPr>
            <p:cNvPr id="30" name="Forma 34"/>
            <p:cNvSpPr/>
            <p:nvPr/>
          </p:nvSpPr>
          <p:spPr>
            <a:xfrm>
              <a:off x="7680960" y="4663440"/>
              <a:ext cx="4160520" cy="1600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Ictericia · esplenomegalia (hemólisis)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Aumento de bilirrubina · hipertrofia del bazo por mayor destrucción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1" name="Flecha 35_2"/>
            <p:cNvSpPr/>
            <p:nvPr/>
          </p:nvSpPr>
          <p:spPr>
            <a:xfrm>
              <a:off x="6016752" y="3785616"/>
              <a:ext cx="1664208" cy="1655064"/>
            </a:xfrm>
            <a:custGeom>
              <a:avLst/>
              <a:gdLst/>
              <a:ahLst/>
              <a:cxnLst/>
              <a:rect l="0" t="0" r="r" b="b"/>
              <a:pathLst>
                <a:path w="1820" h="1809" fill="none">
                  <a:moveTo>
                    <a:pt x="1820" y="1809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32" name="Forma 37"/>
            <p:cNvSpPr/>
            <p:nvPr/>
          </p:nvSpPr>
          <p:spPr>
            <a:xfrm>
              <a:off x="5934456" y="3703320"/>
              <a:ext cx="164592" cy="16459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MANIFESTACIONES CLÍNICAS (II): REDISTRIBUCIÓN Y HEMÓLISIS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Grado 0"/>
          <p:cNvGrpSpPr/>
          <p:nvPr/>
        </p:nvGrpSpPr>
        <p:grpSpPr>
          <a:xfrm>
            <a:off x="411480" y="1143000"/>
            <a:ext cx="4526280" cy="777240"/>
            <a:chOff x="411480" y="1143000"/>
            <a:chExt cx="4526280" cy="777240"/>
          </a:xfrm>
        </p:grpSpPr>
        <p:sp>
          <p:nvSpPr>
            <p:cNvPr id="6" name="Forma 5"/>
            <p:cNvSpPr/>
            <p:nvPr/>
          </p:nvSpPr>
          <p:spPr>
            <a:xfrm>
              <a:off x="411480" y="1143000"/>
              <a:ext cx="1783080" cy="777240"/>
            </a:xfrm>
            <a:prstGeom prst="rect">
              <a:avLst/>
            </a:prstGeom>
            <a:solidFill>
              <a:srgbClr val="D5F5E3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≥ 12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194560" y="1143000"/>
              <a:ext cx="2743200" cy="777240"/>
            </a:xfrm>
            <a:prstGeom prst="rect">
              <a:avLst/>
            </a:prstGeom>
            <a:solidFill>
              <a:srgbClr val="D5F5E3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(ref. mujer adulta)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8" name="Grado 1"/>
          <p:cNvGrpSpPr/>
          <p:nvPr/>
        </p:nvGrpSpPr>
        <p:grpSpPr>
          <a:xfrm>
            <a:off x="411480" y="2011680"/>
            <a:ext cx="4526280" cy="777240"/>
            <a:chOff x="411480" y="2011680"/>
            <a:chExt cx="4526280" cy="777240"/>
          </a:xfrm>
        </p:grpSpPr>
        <p:sp>
          <p:nvSpPr>
            <p:cNvPr id="9" name="Forma 8"/>
            <p:cNvSpPr/>
            <p:nvPr/>
          </p:nvSpPr>
          <p:spPr>
            <a:xfrm>
              <a:off x="411480" y="2011680"/>
              <a:ext cx="1783080" cy="777240"/>
            </a:xfrm>
            <a:prstGeom prst="rect">
              <a:avLst/>
            </a:prstGeom>
            <a:solidFill>
              <a:srgbClr val="FCF3C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9,5 – 11,9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2194560" y="2011680"/>
              <a:ext cx="2743200" cy="777240"/>
            </a:xfrm>
            <a:prstGeom prst="rect">
              <a:avLst/>
            </a:prstGeom>
            <a:solidFill>
              <a:srgbClr val="FCF3CF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Leve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1" name="Grado 2"/>
          <p:cNvGrpSpPr/>
          <p:nvPr/>
        </p:nvGrpSpPr>
        <p:grpSpPr>
          <a:xfrm>
            <a:off x="411480" y="2880360"/>
            <a:ext cx="4526280" cy="777240"/>
            <a:chOff x="411480" y="2880360"/>
            <a:chExt cx="4526280" cy="777240"/>
          </a:xfrm>
        </p:grpSpPr>
        <p:sp>
          <p:nvSpPr>
            <p:cNvPr id="12" name="Forma 11"/>
            <p:cNvSpPr/>
            <p:nvPr/>
          </p:nvSpPr>
          <p:spPr>
            <a:xfrm>
              <a:off x="411480" y="2880360"/>
              <a:ext cx="1783080" cy="777240"/>
            </a:xfrm>
            <a:prstGeom prst="rect">
              <a:avLst/>
            </a:prstGeom>
            <a:solidFill>
              <a:srgbClr val="FAD7A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 – 9,4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2194560" y="2880360"/>
              <a:ext cx="2743200" cy="777240"/>
            </a:xfrm>
            <a:prstGeom prst="rect">
              <a:avLst/>
            </a:prstGeom>
            <a:solidFill>
              <a:srgbClr val="FAD7A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Moderada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4" name="Grado 3"/>
          <p:cNvGrpSpPr/>
          <p:nvPr/>
        </p:nvGrpSpPr>
        <p:grpSpPr>
          <a:xfrm>
            <a:off x="411480" y="3749040"/>
            <a:ext cx="4526280" cy="777240"/>
            <a:chOff x="411480" y="3749040"/>
            <a:chExt cx="4526280" cy="777240"/>
          </a:xfrm>
        </p:grpSpPr>
        <p:sp>
          <p:nvSpPr>
            <p:cNvPr id="15" name="Forma 14"/>
            <p:cNvSpPr/>
            <p:nvPr/>
          </p:nvSpPr>
          <p:spPr>
            <a:xfrm>
              <a:off x="411480" y="3749040"/>
              <a:ext cx="1783080" cy="777240"/>
            </a:xfrm>
            <a:prstGeom prst="rect">
              <a:avLst/>
            </a:prstGeom>
            <a:solidFill>
              <a:srgbClr val="F1948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6,5 – 7,9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2194560" y="3749040"/>
              <a:ext cx="2743200" cy="777240"/>
            </a:xfrm>
            <a:prstGeom prst="rect">
              <a:avLst/>
            </a:prstGeom>
            <a:solidFill>
              <a:srgbClr val="F1948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Severa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7" name="Grado 4"/>
          <p:cNvGrpSpPr/>
          <p:nvPr/>
        </p:nvGrpSpPr>
        <p:grpSpPr>
          <a:xfrm>
            <a:off x="411480" y="4617720"/>
            <a:ext cx="4526280" cy="777240"/>
            <a:chOff x="411480" y="4617720"/>
            <a:chExt cx="4526280" cy="777240"/>
          </a:xfrm>
        </p:grpSpPr>
        <p:sp>
          <p:nvSpPr>
            <p:cNvPr id="18" name="Forma 17"/>
            <p:cNvSpPr/>
            <p:nvPr/>
          </p:nvSpPr>
          <p:spPr>
            <a:xfrm>
              <a:off x="411480" y="4617720"/>
              <a:ext cx="1783080" cy="777240"/>
            </a:xfrm>
            <a:prstGeom prst="rect">
              <a:avLst/>
            </a:prstGeom>
            <a:solidFill>
              <a:srgbClr val="C0392B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&lt; 6,5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2194560" y="4617720"/>
              <a:ext cx="2743200" cy="777240"/>
            </a:xfrm>
            <a:prstGeom prst="rect">
              <a:avLst/>
            </a:prstGeom>
            <a:solidFill>
              <a:srgbClr val="C0392B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Grave / compromiso vital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20" name="Unidad severidad"/>
          <p:cNvSpPr txBox="1"/>
          <p:nvPr/>
        </p:nvSpPr>
        <p:spPr>
          <a:xfrm>
            <a:off x="411480" y="5532120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valores de Hb en g/dL</a:t>
            </a:r>
            <a:endParaRPr lang="es-AR" sz="1300" dirty="0">
              <a:latin typeface="Calibri"/>
            </a:endParaRPr>
          </a:p>
        </p:txBody>
      </p:sp>
      <p:grpSp>
        <p:nvGrpSpPr>
          <p:cNvPr id="21" name="Transfusión"/>
          <p:cNvGrpSpPr/>
          <p:nvPr/>
        </p:nvGrpSpPr>
        <p:grpSpPr>
          <a:xfrm>
            <a:off x="5257800" y="1097280"/>
            <a:ext cx="3108960" cy="2331720"/>
            <a:chOff x="5257800" y="1097280"/>
            <a:chExt cx="3108960" cy="2331720"/>
          </a:xfrm>
        </p:grpSpPr>
        <p:sp>
          <p:nvSpPr>
            <p:cNvPr id="22" name="Forma 21"/>
            <p:cNvSpPr/>
            <p:nvPr/>
          </p:nvSpPr>
          <p:spPr>
            <a:xfrm>
              <a:off x="5257800" y="1298448"/>
              <a:ext cx="3108960" cy="213055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Indicación de transfusión cuando la Hb cae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debajo de 7 g/dL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Cada unidad eleva la Hb ≈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 g/dL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el hematocrito ≈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3 %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5385816" y="1097280"/>
              <a:ext cx="1427556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TRANSFUSIÓN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4" name="Hto Hb"/>
          <p:cNvSpPr/>
          <p:nvPr/>
        </p:nvSpPr>
        <p:spPr>
          <a:xfrm>
            <a:off x="5257800" y="3657600"/>
            <a:ext cx="310896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Hto ≈ Hb × 3</a:t>
            </a:r>
            <a:endParaRPr lang="es-AR" sz="20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Hb 7 → Hto ≈ 21 % (normal ~45 %).</a:t>
            </a:r>
            <a:endParaRPr lang="es-AR" sz="2050" dirty="0">
              <a:latin typeface="Calibri"/>
            </a:endParaRPr>
          </a:p>
        </p:txBody>
      </p:sp>
      <p:grpSp>
        <p:nvGrpSpPr>
          <p:cNvPr id="25" name="Bolsa de sangre"/>
          <p:cNvGrpSpPr/>
          <p:nvPr/>
        </p:nvGrpSpPr>
        <p:grpSpPr>
          <a:xfrm>
            <a:off x="6035040" y="5577840"/>
            <a:ext cx="1371600" cy="868680"/>
            <a:chOff x="6035040" y="5577840"/>
            <a:chExt cx="1371600" cy="868680"/>
          </a:xfrm>
        </p:grpSpPr>
        <p:sp>
          <p:nvSpPr>
            <p:cNvPr id="26" name="Forma 25"/>
            <p:cNvSpPr/>
            <p:nvPr/>
          </p:nvSpPr>
          <p:spPr>
            <a:xfrm>
              <a:off x="6035040" y="5577840"/>
              <a:ext cx="1371600" cy="868680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7" name="Rigor transfusión"/>
          <p:cNvGrpSpPr/>
          <p:nvPr/>
        </p:nvGrpSpPr>
        <p:grpSpPr>
          <a:xfrm>
            <a:off x="8595360" y="1097280"/>
            <a:ext cx="3337560" cy="5349240"/>
            <a:chOff x="8595360" y="1097280"/>
            <a:chExt cx="3337560" cy="5349240"/>
          </a:xfrm>
        </p:grpSpPr>
        <p:sp>
          <p:nvSpPr>
            <p:cNvPr id="28" name="Forma 27"/>
            <p:cNvSpPr/>
            <p:nvPr/>
          </p:nvSpPr>
          <p:spPr>
            <a:xfrm>
              <a:off x="8595360" y="1298448"/>
              <a:ext cx="333756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umbral de 7 g/dL es una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estrategia restrictiva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para pacientes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estables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la decisión de transfundir se individualiza (enfermedad cardiovascular, sangrado activo, síntomas). Las escalas de severidad varían según la fuente (p. ej., OMS).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872337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SEVERIDAD DE LA ANEMIA Y TRANSFUSIÓN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</p:bld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D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Canal de flujo"/>
          <p:cNvSpPr/>
          <p:nvPr/>
        </p:nvSpPr>
        <p:spPr>
          <a:xfrm>
            <a:off x="457200" y="2743200"/>
            <a:ext cx="749808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AF2F8"/>
              </a:gs>
              <a:gs pos="100000">
                <a:srgbClr val="D6EAF8"/>
              </a:gs>
            </a:gsLst>
            <a:lin ang="5400000" scaled="0"/>
          </a:gradFill>
          <a:ln w="25400" cap="rnd">
            <a:solidFill>
              <a:srgbClr val="1F618D"/>
            </a:solidFill>
            <a:round/>
          </a:ln>
        </p:spPr>
      </p:sp>
      <p:grpSp>
        <p:nvGrpSpPr>
          <p:cNvPr id="6" name="Láser"/>
          <p:cNvGrpSpPr/>
          <p:nvPr/>
        </p:nvGrpSpPr>
        <p:grpSpPr>
          <a:xfrm>
            <a:off x="3840480" y="914400"/>
            <a:ext cx="914400" cy="2011680"/>
            <a:chOff x="3840480" y="914400"/>
            <a:chExt cx="914400" cy="2011680"/>
          </a:xfrm>
        </p:grpSpPr>
        <p:sp>
          <p:nvSpPr>
            <p:cNvPr id="7" name="Forma 6"/>
            <p:cNvSpPr/>
            <p:nvPr/>
          </p:nvSpPr>
          <p:spPr>
            <a:xfrm>
              <a:off x="3840480" y="914400"/>
              <a:ext cx="914400" cy="731520"/>
            </a:xfrm>
            <a:prstGeom prst="rect">
              <a:avLst/>
            </a:prstGeom>
            <a:gradFill rotWithShape="1">
              <a:gsLst>
                <a:gs pos="0">
                  <a:srgbClr val="A5AEAF"/>
                </a:gs>
                <a:gs pos="55000">
                  <a:srgbClr val="7F8C8D"/>
                </a:gs>
                <a:gs pos="100000">
                  <a:srgbClr val="586262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8" name="Flecha 7_2"/>
            <p:cNvSpPr/>
            <p:nvPr/>
          </p:nvSpPr>
          <p:spPr>
            <a:xfrm>
              <a:off x="4297680" y="1645920"/>
              <a:ext cx="9144" cy="1280160"/>
            </a:xfrm>
            <a:custGeom>
              <a:avLst/>
              <a:gdLst/>
              <a:ahLst/>
              <a:cxnLst/>
              <a:rect l="0" t="0" r="r" b="b"/>
              <a:pathLst>
                <a:path w="10" h="1400" fill="none">
                  <a:moveTo>
                    <a:pt x="0" y="0"/>
                  </a:moveTo>
                  <a:lnTo>
                    <a:pt x="0" y="1400"/>
                  </a:lnTo>
                </a:path>
              </a:pathLst>
            </a:custGeom>
            <a:noFill/>
            <a:ln w="63500" cap="rnd">
              <a:solidFill>
                <a:srgbClr val="E74C3C"/>
              </a:solidFill>
              <a:round/>
            </a:ln>
          </p:spPr>
        </p:sp>
      </p:grpSp>
      <p:grpSp>
        <p:nvGrpSpPr>
          <p:cNvPr id="9" name="Detector"/>
          <p:cNvGrpSpPr/>
          <p:nvPr/>
        </p:nvGrpSpPr>
        <p:grpSpPr>
          <a:xfrm>
            <a:off x="3840480" y="4114800"/>
            <a:ext cx="914400" cy="640080"/>
            <a:chOff x="3840480" y="4114800"/>
            <a:chExt cx="914400" cy="640080"/>
          </a:xfrm>
        </p:grpSpPr>
        <p:sp>
          <p:nvSpPr>
            <p:cNvPr id="10" name="Forma 10"/>
            <p:cNvSpPr/>
            <p:nvPr/>
          </p:nvSpPr>
          <p:spPr>
            <a:xfrm>
              <a:off x="3840480" y="4114800"/>
              <a:ext cx="914400" cy="640080"/>
            </a:xfrm>
            <a:prstGeom prst="rect">
              <a:avLst/>
            </a:prstGeom>
            <a:gradFill rotWithShape="1">
              <a:gsLst>
                <a:gs pos="0">
                  <a:srgbClr val="707F8E"/>
                </a:gs>
                <a:gs pos="55000">
                  <a:srgbClr val="34495E"/>
                </a:gs>
                <a:gs pos="100000">
                  <a:srgbClr val="243341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detector</a:t>
              </a:r>
              <a:endParaRPr lang="es-AR" sz="1100" dirty="0">
                <a:latin typeface="Calibri"/>
              </a:endParaRPr>
            </a:p>
          </p:txBody>
        </p:sp>
      </p:grpSp>
      <p:sp>
        <p:nvSpPr>
          <p:cNvPr id="11" name="GR flujo 0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2" name="GR flujo 1"/>
          <p:cNvSpPr/>
          <p:nvPr/>
        </p:nvSpPr>
        <p:spPr>
          <a:xfrm>
            <a:off x="685800" y="2880360"/>
            <a:ext cx="548640" cy="54864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3" name="GR flujo 2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gradFill rotWithShape="1">
            <a:gsLst>
              <a:gs pos="0">
                <a:srgbClr val="FBE3DE"/>
              </a:gs>
              <a:gs pos="62000">
                <a:srgbClr val="FBE3DE"/>
              </a:gs>
              <a:gs pos="92000">
                <a:srgbClr val="DE7B72"/>
              </a:gs>
              <a:gs pos="100000">
                <a:srgbClr val="8D413A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4" name="GR flujo 3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15" name="Principio contador"/>
          <p:cNvSpPr/>
          <p:nvPr/>
        </p:nvSpPr>
        <p:spPr>
          <a:xfrm>
            <a:off x="457200" y="4983480"/>
            <a:ext cx="749808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Por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impedancia eléctrica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citometría de flujo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el equipo hace pasar los glóbulos rojos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uno a uno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la distorsión de la luz indica el tamaño. Calcula promedios con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millones de células por segundo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grpSp>
        <p:nvGrpSpPr>
          <p:cNvPr id="16" name="Def índices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17" name="Forma 17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índices hematimétricos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son parámetros calculados automáticamente que describen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morfología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los eritrocitos y permiten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clasificar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 anemia.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8" name="Forma 18"/>
            <p:cNvSpPr/>
            <p:nvPr/>
          </p:nvSpPr>
          <p:spPr>
            <a:xfrm>
              <a:off x="8677656" y="1097280"/>
              <a:ext cx="92743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ÍNDICES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9" name="Lista índices"/>
          <p:cNvSpPr/>
          <p:nvPr/>
        </p:nvSpPr>
        <p:spPr>
          <a:xfrm>
            <a:off x="8549640" y="4434840"/>
            <a:ext cx="3383280" cy="20116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VCM · HCM · CHCM · RDW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(y el hematocrito calculado)</a:t>
            </a:r>
            <a:endParaRPr lang="es-AR" sz="22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CONTADOR HEMATOLÓGICO: ERITROCITOS DE A UNO FRENTE AL LÁSER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20000" decel="2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475 0.0000 E" pathEditMode="relative" ptsTypes="">
                                      <p:cBhvr>
                                        <p:cTn id="17" dur="1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19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5025 0.0000 E" pathEditMode="relative" ptsTypes="">
                                      <p:cBhvr>
                                        <p:cTn id="20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2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575 0.0000 E" pathEditMode="relative" ptsTypes="">
                                      <p:cBhvr>
                                        <p:cTn id="23" dur="1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7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300"/>
                            </p:stCondLst>
                            <p:childTnLst>
                              <p:par>
                                <p:cTn id="25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125 0.0000 E" pathEditMode="relative" ptsTypes="">
                                      <p:cBhvr>
                                        <p:cTn id="26" dur="1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animBg="1"/>
    </p:bld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VCM Microcítico"/>
          <p:cNvGrpSpPr/>
          <p:nvPr/>
        </p:nvGrpSpPr>
        <p:grpSpPr>
          <a:xfrm>
            <a:off x="3017520" y="2194560"/>
            <a:ext cx="1828800" cy="2560320"/>
            <a:chOff x="3017520" y="2194560"/>
            <a:chExt cx="1828800" cy="2560320"/>
          </a:xfrm>
        </p:grpSpPr>
        <p:sp>
          <p:nvSpPr>
            <p:cNvPr id="7" name="GR Microcítico"/>
            <p:cNvSpPr/>
            <p:nvPr/>
          </p:nvSpPr>
          <p:spPr>
            <a:xfrm>
              <a:off x="3383280" y="2194560"/>
              <a:ext cx="1097280" cy="109728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8" name="Rótulo Microcítico"/>
            <p:cNvSpPr/>
            <p:nvPr/>
          </p:nvSpPr>
          <p:spPr>
            <a:xfrm>
              <a:off x="3017520" y="3840480"/>
              <a:ext cx="1828800" cy="314325"/>
            </a:xfrm>
            <a:prstGeom prst="rect">
              <a:avLst/>
            </a:prstGeom>
            <a:solidFill>
              <a:srgbClr val="D8E6F2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Microcítico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9" name="Forma 8"/>
            <p:cNvSpPr txBox="1"/>
            <p:nvPr/>
          </p:nvSpPr>
          <p:spPr>
            <a:xfrm>
              <a:off x="3017520" y="4343400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80 fL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0" name="VCM Normocítico"/>
          <p:cNvGrpSpPr/>
          <p:nvPr/>
        </p:nvGrpSpPr>
        <p:grpSpPr>
          <a:xfrm>
            <a:off x="5029200" y="2011680"/>
            <a:ext cx="1828800" cy="2743200"/>
            <a:chOff x="5029200" y="2011680"/>
            <a:chExt cx="1828800" cy="2743200"/>
          </a:xfrm>
        </p:grpSpPr>
        <p:sp>
          <p:nvSpPr>
            <p:cNvPr id="11" name="GR Normocítico"/>
            <p:cNvSpPr/>
            <p:nvPr/>
          </p:nvSpPr>
          <p:spPr>
            <a:xfrm>
              <a:off x="5212080" y="2011680"/>
              <a:ext cx="1463040" cy="14630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2" name="Rótulo Normocítico"/>
            <p:cNvSpPr/>
            <p:nvPr/>
          </p:nvSpPr>
          <p:spPr>
            <a:xfrm>
              <a:off x="5029200" y="3840480"/>
              <a:ext cx="1828800" cy="314325"/>
            </a:xfrm>
            <a:prstGeom prst="rect">
              <a:avLst/>
            </a:prstGeom>
            <a:solidFill>
              <a:srgbClr val="D5F5E3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Normocítico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3" name="Forma 12"/>
            <p:cNvSpPr txBox="1"/>
            <p:nvPr/>
          </p:nvSpPr>
          <p:spPr>
            <a:xfrm>
              <a:off x="5029200" y="4343400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 – 100 fL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4" name="VCM Macrocítico"/>
          <p:cNvGrpSpPr/>
          <p:nvPr/>
        </p:nvGrpSpPr>
        <p:grpSpPr>
          <a:xfrm>
            <a:off x="6995160" y="1783080"/>
            <a:ext cx="1920240" cy="2971800"/>
            <a:chOff x="6995160" y="1783080"/>
            <a:chExt cx="1920240" cy="2971800"/>
          </a:xfrm>
        </p:grpSpPr>
        <p:sp>
          <p:nvSpPr>
            <p:cNvPr id="15" name="GR Macrocítico"/>
            <p:cNvSpPr/>
            <p:nvPr/>
          </p:nvSpPr>
          <p:spPr>
            <a:xfrm>
              <a:off x="6995160" y="1783080"/>
              <a:ext cx="1920240" cy="19202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6" name="Rótulo Macrocítico"/>
            <p:cNvSpPr/>
            <p:nvPr/>
          </p:nvSpPr>
          <p:spPr>
            <a:xfrm>
              <a:off x="7040880" y="3840480"/>
              <a:ext cx="1828800" cy="314325"/>
            </a:xfrm>
            <a:prstGeom prst="rect">
              <a:avLst/>
            </a:prstGeom>
            <a:solidFill>
              <a:srgbClr val="FDE4E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Macrocítico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7" name="Forma 16"/>
            <p:cNvSpPr txBox="1"/>
            <p:nvPr/>
          </p:nvSpPr>
          <p:spPr>
            <a:xfrm>
              <a:off x="7040880" y="4343400"/>
              <a:ext cx="18288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 100 fL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18" name="Escala fL"/>
          <p:cNvGrpSpPr/>
          <p:nvPr/>
        </p:nvGrpSpPr>
        <p:grpSpPr>
          <a:xfrm>
            <a:off x="3017520" y="4983480"/>
            <a:ext cx="6035040" cy="822960"/>
            <a:chOff x="3017520" y="4983480"/>
            <a:chExt cx="6035040" cy="822960"/>
          </a:xfrm>
        </p:grpSpPr>
        <p:sp>
          <p:nvSpPr>
            <p:cNvPr id="19" name="Forma 18"/>
            <p:cNvSpPr/>
            <p:nvPr/>
          </p:nvSpPr>
          <p:spPr>
            <a:xfrm>
              <a:off x="3017520" y="5074920"/>
              <a:ext cx="6035040" cy="320040"/>
            </a:xfrm>
            <a:prstGeom prst="rect">
              <a:avLst/>
            </a:prstGeom>
            <a:gradFill rotWithShape="1">
              <a:gsLst>
                <a:gs pos="0">
                  <a:srgbClr val="D8E6F2"/>
                </a:gs>
                <a:gs pos="50000">
                  <a:srgbClr val="D5F5E3"/>
                </a:gs>
                <a:gs pos="100000">
                  <a:srgbClr val="FDE4E4"/>
                </a:gs>
              </a:gsLst>
              <a:lin ang="0" scaled="0"/>
            </a:gra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0" name="Flecha 19_2"/>
            <p:cNvSpPr/>
            <p:nvPr/>
          </p:nvSpPr>
          <p:spPr>
            <a:xfrm>
              <a:off x="4937760" y="4983480"/>
              <a:ext cx="9144" cy="502920"/>
            </a:xfrm>
            <a:custGeom>
              <a:avLst/>
              <a:gdLst/>
              <a:ahLst/>
              <a:cxnLst/>
              <a:rect l="0" t="0" r="r" b="b"/>
              <a:pathLst>
                <a:path w="10" h="549" fill="none">
                  <a:moveTo>
                    <a:pt x="0" y="0"/>
                  </a:moveTo>
                  <a:lnTo>
                    <a:pt x="0" y="549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21" name="Forma 21"/>
            <p:cNvSpPr txBox="1"/>
            <p:nvPr/>
          </p:nvSpPr>
          <p:spPr>
            <a:xfrm>
              <a:off x="4572000" y="5486400"/>
              <a:ext cx="7315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2" name="Flecha 22_2"/>
            <p:cNvSpPr/>
            <p:nvPr/>
          </p:nvSpPr>
          <p:spPr>
            <a:xfrm>
              <a:off x="6949440" y="4983480"/>
              <a:ext cx="9144" cy="502920"/>
            </a:xfrm>
            <a:custGeom>
              <a:avLst/>
              <a:gdLst/>
              <a:ahLst/>
              <a:cxnLst/>
              <a:rect l="0" t="0" r="r" b="b"/>
              <a:pathLst>
                <a:path w="10" h="549" fill="none">
                  <a:moveTo>
                    <a:pt x="0" y="0"/>
                  </a:moveTo>
                  <a:lnTo>
                    <a:pt x="0" y="549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23" name="Forma 24"/>
            <p:cNvSpPr txBox="1"/>
            <p:nvPr/>
          </p:nvSpPr>
          <p:spPr>
            <a:xfrm>
              <a:off x="6583680" y="5486400"/>
              <a:ext cx="73152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4" name="Def VCM"/>
          <p:cNvSpPr/>
          <p:nvPr/>
        </p:nvSpPr>
        <p:spPr>
          <a:xfrm>
            <a:off x="320040" y="1097280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Volumen corpuscular medio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volumen promedio de los eritrocitos.</a:t>
            </a:r>
            <a:endParaRPr lang="es-AR" sz="2000" dirty="0">
              <a:latin typeface="Calibri"/>
            </a:endParaRPr>
          </a:p>
        </p:txBody>
      </p:sp>
      <p:sp>
        <p:nvSpPr>
          <p:cNvPr id="25" name="Unidad fL"/>
          <p:cNvSpPr/>
          <p:nvPr/>
        </p:nvSpPr>
        <p:spPr>
          <a:xfrm>
            <a:off x="320040" y="4069080"/>
            <a:ext cx="251460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Unidad: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fentolitros (fL)</a:t>
            </a:r>
            <a:endParaRPr lang="es-AR" sz="19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 fL = 10</a:t>
            </a:r>
            <a:r>
              <a:rPr lang="es-AR" sz="1950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−15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</a:t>
            </a:r>
            <a:endParaRPr lang="es-AR" sz="19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(pico → femto → atto)</a:t>
            </a:r>
            <a:endParaRPr lang="es-AR" sz="1950" dirty="0">
              <a:latin typeface="Calibri"/>
            </a:endParaRPr>
          </a:p>
        </p:txBody>
      </p:sp>
      <p:sp>
        <p:nvSpPr>
          <p:cNvPr id="26" name="Normal VCM"/>
          <p:cNvSpPr/>
          <p:nvPr/>
        </p:nvSpPr>
        <p:spPr>
          <a:xfrm>
            <a:off x="9464040" y="1097280"/>
            <a:ext cx="2468880" cy="5349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Normal: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80 – 100 fL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VCM ordena la anemia en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micro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macrocítica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orienta el estudio siguiente.</a:t>
            </a:r>
            <a:endParaRPr lang="es-AR" sz="19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VCM: EL TAMAÑO PROMEDIO DEL ERITROCITO</a:t>
            </a:r>
            <a:endParaRPr lang="es-AR" sz="21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</p:bld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GR normocrómico"/>
          <p:cNvSpPr/>
          <p:nvPr/>
        </p:nvSpPr>
        <p:spPr>
          <a:xfrm>
            <a:off x="731520" y="1371600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6" name="Rótulo normocrómico"/>
          <p:cNvSpPr/>
          <p:nvPr/>
        </p:nvSpPr>
        <p:spPr>
          <a:xfrm>
            <a:off x="640080" y="3520440"/>
            <a:ext cx="2194560" cy="293370"/>
          </a:xfrm>
          <a:prstGeom prst="rect">
            <a:avLst/>
          </a:prstGeom>
          <a:solidFill>
            <a:srgbClr val="D5F5E3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normocrómico 27–32 pg</a:t>
            </a:r>
            <a:endParaRPr lang="es-AR" sz="1400" dirty="0">
              <a:latin typeface="Calibri"/>
            </a:endParaRPr>
          </a:p>
        </p:txBody>
      </p:sp>
      <p:sp>
        <p:nvSpPr>
          <p:cNvPr id="7" name="GR hipocrómico"/>
          <p:cNvSpPr/>
          <p:nvPr/>
        </p:nvSpPr>
        <p:spPr>
          <a:xfrm>
            <a:off x="3291840" y="1371600"/>
            <a:ext cx="2011680" cy="2011680"/>
          </a:xfrm>
          <a:prstGeom prst="ellipse">
            <a:avLst/>
          </a:prstGeom>
          <a:gradFill rotWithShape="1">
            <a:gsLst>
              <a:gs pos="0">
                <a:srgbClr val="FBE3DE"/>
              </a:gs>
              <a:gs pos="62000">
                <a:srgbClr val="FBE3DE"/>
              </a:gs>
              <a:gs pos="92000">
                <a:srgbClr val="DE7B72"/>
              </a:gs>
              <a:gs pos="100000">
                <a:srgbClr val="8D413A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8" name="Rótulo hipocrómico"/>
          <p:cNvSpPr/>
          <p:nvPr/>
        </p:nvSpPr>
        <p:spPr>
          <a:xfrm>
            <a:off x="3200400" y="3520440"/>
            <a:ext cx="2194560" cy="293370"/>
          </a:xfrm>
          <a:prstGeom prst="rect">
            <a:avLst/>
          </a:prstGeom>
          <a:solidFill>
            <a:srgbClr val="D8E6F2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hipocrómico &lt; 27 pg</a:t>
            </a:r>
            <a:endParaRPr lang="es-AR" sz="1400" dirty="0">
              <a:latin typeface="Calibri"/>
            </a:endParaRPr>
          </a:p>
        </p:txBody>
      </p:sp>
      <p:sp>
        <p:nvSpPr>
          <p:cNvPr id="9" name="Hb punto 0"/>
          <p:cNvSpPr/>
          <p:nvPr/>
        </p:nvSpPr>
        <p:spPr>
          <a:xfrm>
            <a:off x="1188720" y="1737360"/>
            <a:ext cx="256032" cy="256032"/>
          </a:xfrm>
          <a:prstGeom prst="diamond">
            <a:avLst/>
          </a:prstGeom>
          <a:solidFill>
            <a:srgbClr val="922B21"/>
          </a:solidFill>
          <a:ln>
            <a:noFill/>
          </a:ln>
        </p:spPr>
      </p:sp>
      <p:sp>
        <p:nvSpPr>
          <p:cNvPr id="10" name="Hb punto 1"/>
          <p:cNvSpPr/>
          <p:nvPr/>
        </p:nvSpPr>
        <p:spPr>
          <a:xfrm>
            <a:off x="1600200" y="1737360"/>
            <a:ext cx="256032" cy="256032"/>
          </a:xfrm>
          <a:prstGeom prst="diamond">
            <a:avLst/>
          </a:prstGeom>
          <a:solidFill>
            <a:srgbClr val="922B21"/>
          </a:solidFill>
          <a:ln>
            <a:noFill/>
          </a:ln>
        </p:spPr>
      </p:sp>
      <p:sp>
        <p:nvSpPr>
          <p:cNvPr id="11" name="Hb punto 2"/>
          <p:cNvSpPr/>
          <p:nvPr/>
        </p:nvSpPr>
        <p:spPr>
          <a:xfrm>
            <a:off x="2011680" y="1737360"/>
            <a:ext cx="256032" cy="256032"/>
          </a:xfrm>
          <a:prstGeom prst="diamond">
            <a:avLst/>
          </a:prstGeom>
          <a:solidFill>
            <a:srgbClr val="922B21"/>
          </a:solidFill>
          <a:ln>
            <a:noFill/>
          </a:ln>
        </p:spPr>
      </p:sp>
      <p:sp>
        <p:nvSpPr>
          <p:cNvPr id="12" name="Hb punto 3"/>
          <p:cNvSpPr/>
          <p:nvPr/>
        </p:nvSpPr>
        <p:spPr>
          <a:xfrm>
            <a:off x="1188720" y="2194560"/>
            <a:ext cx="256032" cy="256032"/>
          </a:xfrm>
          <a:prstGeom prst="diamond">
            <a:avLst/>
          </a:prstGeom>
          <a:solidFill>
            <a:srgbClr val="922B21"/>
          </a:solidFill>
          <a:ln>
            <a:noFill/>
          </a:ln>
        </p:spPr>
      </p:sp>
      <p:sp>
        <p:nvSpPr>
          <p:cNvPr id="13" name="Hb punto 4"/>
          <p:cNvSpPr/>
          <p:nvPr/>
        </p:nvSpPr>
        <p:spPr>
          <a:xfrm>
            <a:off x="1600200" y="2194560"/>
            <a:ext cx="256032" cy="256032"/>
          </a:xfrm>
          <a:prstGeom prst="diamond">
            <a:avLst/>
          </a:prstGeom>
          <a:solidFill>
            <a:srgbClr val="922B21"/>
          </a:solidFill>
          <a:ln>
            <a:noFill/>
          </a:ln>
        </p:spPr>
      </p:sp>
      <p:sp>
        <p:nvSpPr>
          <p:cNvPr id="14" name="Hb punto 5"/>
          <p:cNvSpPr/>
          <p:nvPr/>
        </p:nvSpPr>
        <p:spPr>
          <a:xfrm>
            <a:off x="2011680" y="2194560"/>
            <a:ext cx="256032" cy="256032"/>
          </a:xfrm>
          <a:prstGeom prst="diamond">
            <a:avLst/>
          </a:prstGeom>
          <a:solidFill>
            <a:srgbClr val="922B21"/>
          </a:solidFill>
          <a:ln>
            <a:noFill/>
          </a:ln>
        </p:spPr>
      </p:sp>
      <p:sp>
        <p:nvSpPr>
          <p:cNvPr id="15" name="Def HCM"/>
          <p:cNvSpPr/>
          <p:nvPr/>
        </p:nvSpPr>
        <p:spPr>
          <a:xfrm>
            <a:off x="457200" y="4114800"/>
            <a:ext cx="3749040" cy="233172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HCM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cantidad promedio de Hb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dentro de cada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eritrocito. Unidad: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picogramos (pg)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Normal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27–32 pg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&lt; 27 →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hipocrómica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(pálida); &gt; 32 → hipercrómica (rara).</a:t>
            </a:r>
            <a:endParaRPr lang="es-AR" sz="1800" dirty="0">
              <a:latin typeface="Calibri"/>
            </a:endParaRPr>
          </a:p>
        </p:txBody>
      </p:sp>
      <p:sp>
        <p:nvSpPr>
          <p:cNvPr id="16" name="Def CHCM"/>
          <p:cNvSpPr/>
          <p:nvPr/>
        </p:nvSpPr>
        <p:spPr>
          <a:xfrm>
            <a:off x="4434840" y="4114800"/>
            <a:ext cx="3657600" cy="233172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CHCM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concentración de Hb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relación al volumen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eritrocito (g de Hb por dL de eritrocitos). Normal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32–36 g/dL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grpSp>
        <p:nvGrpSpPr>
          <p:cNvPr id="17" name="Diferencia HCM CHCM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8" name="Forma 17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Diferencia clave: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HCM expresa gramos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CHCM relaciona gramos con volumen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677656" y="1097280"/>
              <a:ext cx="123599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DIFERENCIA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0" name="Hemo deco"/>
          <p:cNvGrpSpPr/>
          <p:nvPr/>
        </p:nvGrpSpPr>
        <p:grpSpPr>
          <a:xfrm>
            <a:off x="9421237" y="4209157"/>
            <a:ext cx="1822965" cy="1822965"/>
            <a:chOff x="9421237" y="4209157"/>
            <a:chExt cx="1822965" cy="1822965"/>
          </a:xfrm>
        </p:grpSpPr>
        <p:sp>
          <p:nvSpPr>
            <p:cNvPr id="21" name="Flecha 20_2"/>
            <p:cNvSpPr/>
            <p:nvPr/>
          </p:nvSpPr>
          <p:spPr>
            <a:xfrm>
              <a:off x="10332720" y="5120640"/>
              <a:ext cx="431074" cy="9144"/>
            </a:xfrm>
            <a:custGeom>
              <a:avLst/>
              <a:gdLst/>
              <a:ahLst/>
              <a:cxnLst/>
              <a:rect l="0" t="0" r="r" b="b"/>
              <a:pathLst>
                <a:path w="471" h="10" fill="none">
                  <a:moveTo>
                    <a:pt x="0" y="0"/>
                  </a:moveTo>
                  <a:lnTo>
                    <a:pt x="471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22" name="Flecha 22_2"/>
            <p:cNvSpPr/>
            <p:nvPr/>
          </p:nvSpPr>
          <p:spPr>
            <a:xfrm>
              <a:off x="10332720" y="5120640"/>
              <a:ext cx="431074" cy="9144"/>
            </a:xfrm>
            <a:custGeom>
              <a:avLst/>
              <a:gdLst/>
              <a:ahLst/>
              <a:cxnLst/>
              <a:rect l="0" t="0" r="r" b="b"/>
              <a:pathLst>
                <a:path w="471" h="10" fill="none">
                  <a:moveTo>
                    <a:pt x="0" y="0"/>
                  </a:moveTo>
                  <a:lnTo>
                    <a:pt x="471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23" name="Flecha 24_2"/>
            <p:cNvSpPr/>
            <p:nvPr/>
          </p:nvSpPr>
          <p:spPr>
            <a:xfrm>
              <a:off x="9901646" y="5120640"/>
              <a:ext cx="431074" cy="9144"/>
            </a:xfrm>
            <a:custGeom>
              <a:avLst/>
              <a:gdLst/>
              <a:ahLst/>
              <a:cxnLst/>
              <a:rect l="0" t="0" r="r" b="b"/>
              <a:pathLst>
                <a:path w="471" h="10" fill="none">
                  <a:moveTo>
                    <a:pt x="471" y="0"/>
                  </a:moveTo>
                  <a:lnTo>
                    <a:pt x="0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24" name="Flecha 26_2"/>
            <p:cNvSpPr/>
            <p:nvPr/>
          </p:nvSpPr>
          <p:spPr>
            <a:xfrm>
              <a:off x="9901646" y="5120640"/>
              <a:ext cx="431074" cy="9144"/>
            </a:xfrm>
            <a:custGeom>
              <a:avLst/>
              <a:gdLst/>
              <a:ahLst/>
              <a:cxnLst/>
              <a:rect l="0" t="0" r="r" b="b"/>
              <a:pathLst>
                <a:path w="471" h="10" fill="none">
                  <a:moveTo>
                    <a:pt x="471" y="0"/>
                  </a:moveTo>
                  <a:lnTo>
                    <a:pt x="0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25" name="Flecha 28_2"/>
            <p:cNvSpPr/>
            <p:nvPr/>
          </p:nvSpPr>
          <p:spPr>
            <a:xfrm>
              <a:off x="10332720" y="5120640"/>
              <a:ext cx="9144" cy="431074"/>
            </a:xfrm>
            <a:custGeom>
              <a:avLst/>
              <a:gdLst/>
              <a:ahLst/>
              <a:cxnLst/>
              <a:rect l="0" t="0" r="r" b="b"/>
              <a:pathLst>
                <a:path w="10" h="471" fill="none">
                  <a:moveTo>
                    <a:pt x="0" y="0"/>
                  </a:moveTo>
                  <a:lnTo>
                    <a:pt x="0" y="471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26" name="Flecha 30_2"/>
            <p:cNvSpPr/>
            <p:nvPr/>
          </p:nvSpPr>
          <p:spPr>
            <a:xfrm>
              <a:off x="10332720" y="5120640"/>
              <a:ext cx="9144" cy="431074"/>
            </a:xfrm>
            <a:custGeom>
              <a:avLst/>
              <a:gdLst/>
              <a:ahLst/>
              <a:cxnLst/>
              <a:rect l="0" t="0" r="r" b="b"/>
              <a:pathLst>
                <a:path w="10" h="471" fill="none">
                  <a:moveTo>
                    <a:pt x="0" y="0"/>
                  </a:moveTo>
                  <a:lnTo>
                    <a:pt x="0" y="471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27" name="Flecha 32_2"/>
            <p:cNvSpPr/>
            <p:nvPr/>
          </p:nvSpPr>
          <p:spPr>
            <a:xfrm>
              <a:off x="10332720" y="4689566"/>
              <a:ext cx="9144" cy="431074"/>
            </a:xfrm>
            <a:custGeom>
              <a:avLst/>
              <a:gdLst/>
              <a:ahLst/>
              <a:cxnLst/>
              <a:rect l="0" t="0" r="r" b="b"/>
              <a:pathLst>
                <a:path w="10" h="471" fill="none">
                  <a:moveTo>
                    <a:pt x="0" y="471"/>
                  </a:moveTo>
                  <a:lnTo>
                    <a:pt x="0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28" name="Flecha 34_2"/>
            <p:cNvSpPr/>
            <p:nvPr/>
          </p:nvSpPr>
          <p:spPr>
            <a:xfrm>
              <a:off x="10332720" y="4689566"/>
              <a:ext cx="9144" cy="431074"/>
            </a:xfrm>
            <a:custGeom>
              <a:avLst/>
              <a:gdLst/>
              <a:ahLst/>
              <a:cxnLst/>
              <a:rect l="0" t="0" r="r" b="b"/>
              <a:pathLst>
                <a:path w="10" h="471" fill="none">
                  <a:moveTo>
                    <a:pt x="0" y="471"/>
                  </a:moveTo>
                  <a:lnTo>
                    <a:pt x="0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29" name="Flecha 36_2"/>
            <p:cNvSpPr/>
            <p:nvPr/>
          </p:nvSpPr>
          <p:spPr>
            <a:xfrm>
              <a:off x="10763794" y="5120640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0" y="0"/>
                  </a:moveTo>
                  <a:lnTo>
                    <a:pt x="314" y="419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30" name="Flecha 38_2"/>
            <p:cNvSpPr/>
            <p:nvPr/>
          </p:nvSpPr>
          <p:spPr>
            <a:xfrm>
              <a:off x="10763794" y="5120640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0" y="0"/>
                  </a:moveTo>
                  <a:lnTo>
                    <a:pt x="314" y="419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31" name="Flecha 40_2"/>
            <p:cNvSpPr/>
            <p:nvPr/>
          </p:nvSpPr>
          <p:spPr>
            <a:xfrm>
              <a:off x="10763794" y="4737463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0" y="419"/>
                  </a:moveTo>
                  <a:lnTo>
                    <a:pt x="314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32" name="Flecha 42_2"/>
            <p:cNvSpPr/>
            <p:nvPr/>
          </p:nvSpPr>
          <p:spPr>
            <a:xfrm>
              <a:off x="10763794" y="4737463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0" y="419"/>
                  </a:moveTo>
                  <a:lnTo>
                    <a:pt x="314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33" name="Flecha 44_2"/>
            <p:cNvSpPr/>
            <p:nvPr/>
          </p:nvSpPr>
          <p:spPr>
            <a:xfrm>
              <a:off x="9614263" y="5120640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314" y="0"/>
                  </a:moveTo>
                  <a:lnTo>
                    <a:pt x="0" y="419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34" name="Flecha 46_2"/>
            <p:cNvSpPr/>
            <p:nvPr/>
          </p:nvSpPr>
          <p:spPr>
            <a:xfrm>
              <a:off x="9614263" y="5120640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314" y="0"/>
                  </a:moveTo>
                  <a:lnTo>
                    <a:pt x="0" y="419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35" name="Flecha 48_2"/>
            <p:cNvSpPr/>
            <p:nvPr/>
          </p:nvSpPr>
          <p:spPr>
            <a:xfrm>
              <a:off x="9614263" y="4737463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314" y="419"/>
                  </a:moveTo>
                  <a:lnTo>
                    <a:pt x="0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36" name="Flecha 50_2"/>
            <p:cNvSpPr/>
            <p:nvPr/>
          </p:nvSpPr>
          <p:spPr>
            <a:xfrm>
              <a:off x="9614263" y="4737463"/>
              <a:ext cx="287383" cy="383177"/>
            </a:xfrm>
            <a:custGeom>
              <a:avLst/>
              <a:gdLst/>
              <a:ahLst/>
              <a:cxnLst/>
              <a:rect l="0" t="0" r="r" b="b"/>
              <a:pathLst>
                <a:path w="314" h="419" fill="none">
                  <a:moveTo>
                    <a:pt x="314" y="419"/>
                  </a:moveTo>
                  <a:lnTo>
                    <a:pt x="0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37" name="Flecha 52_2"/>
            <p:cNvSpPr/>
            <p:nvPr/>
          </p:nvSpPr>
          <p:spPr>
            <a:xfrm>
              <a:off x="10332720" y="5551714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0" y="0"/>
                  </a:moveTo>
                  <a:lnTo>
                    <a:pt x="419" y="314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38" name="Flecha 54_2"/>
            <p:cNvSpPr/>
            <p:nvPr/>
          </p:nvSpPr>
          <p:spPr>
            <a:xfrm>
              <a:off x="10332720" y="5551714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0" y="0"/>
                  </a:moveTo>
                  <a:lnTo>
                    <a:pt x="419" y="314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39" name="Flecha 56_2"/>
            <p:cNvSpPr/>
            <p:nvPr/>
          </p:nvSpPr>
          <p:spPr>
            <a:xfrm>
              <a:off x="9949543" y="5551714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419" y="0"/>
                  </a:moveTo>
                  <a:lnTo>
                    <a:pt x="0" y="314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40" name="Flecha 58_2"/>
            <p:cNvSpPr/>
            <p:nvPr/>
          </p:nvSpPr>
          <p:spPr>
            <a:xfrm>
              <a:off x="9949543" y="5551714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419" y="0"/>
                  </a:moveTo>
                  <a:lnTo>
                    <a:pt x="0" y="314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41" name="Flecha 60_2"/>
            <p:cNvSpPr/>
            <p:nvPr/>
          </p:nvSpPr>
          <p:spPr>
            <a:xfrm>
              <a:off x="10332720" y="4402183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0" y="314"/>
                  </a:moveTo>
                  <a:lnTo>
                    <a:pt x="419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42" name="Flecha 62_2"/>
            <p:cNvSpPr/>
            <p:nvPr/>
          </p:nvSpPr>
          <p:spPr>
            <a:xfrm>
              <a:off x="10332720" y="4402183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0" y="314"/>
                  </a:moveTo>
                  <a:lnTo>
                    <a:pt x="419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43" name="Flecha 64_2"/>
            <p:cNvSpPr/>
            <p:nvPr/>
          </p:nvSpPr>
          <p:spPr>
            <a:xfrm>
              <a:off x="9949543" y="4402183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419" y="314"/>
                  </a:moveTo>
                  <a:lnTo>
                    <a:pt x="0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44" name="Flecha 66_2"/>
            <p:cNvSpPr/>
            <p:nvPr/>
          </p:nvSpPr>
          <p:spPr>
            <a:xfrm>
              <a:off x="9949543" y="4402183"/>
              <a:ext cx="383177" cy="287383"/>
            </a:xfrm>
            <a:custGeom>
              <a:avLst/>
              <a:gdLst/>
              <a:ahLst/>
              <a:cxnLst/>
              <a:rect l="0" t="0" r="r" b="b"/>
              <a:pathLst>
                <a:path w="419" h="314" fill="none">
                  <a:moveTo>
                    <a:pt x="419" y="314"/>
                  </a:moveTo>
                  <a:lnTo>
                    <a:pt x="0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45" name="Flecha 68_2"/>
            <p:cNvSpPr/>
            <p:nvPr/>
          </p:nvSpPr>
          <p:spPr>
            <a:xfrm>
              <a:off x="10715897" y="5503817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366" y="0"/>
                  </a:moveTo>
                  <a:lnTo>
                    <a:pt x="0" y="366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46" name="Flecha 70_2"/>
            <p:cNvSpPr/>
            <p:nvPr/>
          </p:nvSpPr>
          <p:spPr>
            <a:xfrm>
              <a:off x="10715897" y="5503817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366" y="0"/>
                  </a:moveTo>
                  <a:lnTo>
                    <a:pt x="0" y="366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47" name="Flecha 72_2"/>
            <p:cNvSpPr/>
            <p:nvPr/>
          </p:nvSpPr>
          <p:spPr>
            <a:xfrm>
              <a:off x="9614263" y="5503817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0" y="0"/>
                  </a:moveTo>
                  <a:lnTo>
                    <a:pt x="366" y="366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48" name="Flecha 74_2"/>
            <p:cNvSpPr/>
            <p:nvPr/>
          </p:nvSpPr>
          <p:spPr>
            <a:xfrm>
              <a:off x="9614263" y="5503817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0" y="0"/>
                  </a:moveTo>
                  <a:lnTo>
                    <a:pt x="366" y="366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49" name="Flecha 76_2"/>
            <p:cNvSpPr/>
            <p:nvPr/>
          </p:nvSpPr>
          <p:spPr>
            <a:xfrm>
              <a:off x="10715897" y="4402183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366" y="366"/>
                  </a:moveTo>
                  <a:lnTo>
                    <a:pt x="0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50" name="Flecha 78_2"/>
            <p:cNvSpPr/>
            <p:nvPr/>
          </p:nvSpPr>
          <p:spPr>
            <a:xfrm>
              <a:off x="10715897" y="4402183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366" y="366"/>
                  </a:moveTo>
                  <a:lnTo>
                    <a:pt x="0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51" name="Flecha 80_2"/>
            <p:cNvSpPr/>
            <p:nvPr/>
          </p:nvSpPr>
          <p:spPr>
            <a:xfrm>
              <a:off x="9614263" y="4402183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0" y="366"/>
                  </a:moveTo>
                  <a:lnTo>
                    <a:pt x="366" y="0"/>
                  </a:lnTo>
                </a:path>
              </a:pathLst>
            </a:custGeom>
            <a:noFill/>
            <a:ln w="106438" cap="rnd">
              <a:solidFill>
                <a:srgbClr val="B9B9B9"/>
              </a:solidFill>
              <a:round/>
            </a:ln>
          </p:spPr>
        </p:sp>
        <p:sp>
          <p:nvSpPr>
            <p:cNvPr id="52" name="Flecha 82_2"/>
            <p:cNvSpPr/>
            <p:nvPr/>
          </p:nvSpPr>
          <p:spPr>
            <a:xfrm>
              <a:off x="9614263" y="4402183"/>
              <a:ext cx="335280" cy="335280"/>
            </a:xfrm>
            <a:custGeom>
              <a:avLst/>
              <a:gdLst/>
              <a:ahLst/>
              <a:cxnLst/>
              <a:rect l="0" t="0" r="r" b="b"/>
              <a:pathLst>
                <a:path w="366" h="366" fill="none">
                  <a:moveTo>
                    <a:pt x="0" y="366"/>
                  </a:moveTo>
                  <a:lnTo>
                    <a:pt x="366" y="0"/>
                  </a:lnTo>
                </a:path>
              </a:pathLst>
            </a:custGeom>
            <a:noFill/>
            <a:ln w="59871" cap="rnd">
              <a:solidFill>
                <a:srgbClr val="FFFFFF"/>
              </a:solidFill>
              <a:round/>
            </a:ln>
          </p:spPr>
        </p:sp>
        <p:sp>
          <p:nvSpPr>
            <p:cNvPr id="53" name="Forma 84"/>
            <p:cNvSpPr/>
            <p:nvPr/>
          </p:nvSpPr>
          <p:spPr>
            <a:xfrm>
              <a:off x="10570769" y="4927615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4" name="Forma 85"/>
            <p:cNvSpPr/>
            <p:nvPr/>
          </p:nvSpPr>
          <p:spPr>
            <a:xfrm>
              <a:off x="9708620" y="4927615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5" name="Forma 86"/>
            <p:cNvSpPr/>
            <p:nvPr/>
          </p:nvSpPr>
          <p:spPr>
            <a:xfrm>
              <a:off x="10139695" y="5358689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6" name="Forma 87"/>
            <p:cNvSpPr/>
            <p:nvPr/>
          </p:nvSpPr>
          <p:spPr>
            <a:xfrm>
              <a:off x="10139695" y="4496540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7" name="Forma 88"/>
            <p:cNvSpPr/>
            <p:nvPr/>
          </p:nvSpPr>
          <p:spPr>
            <a:xfrm>
              <a:off x="10858152" y="5310792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8" name="Forma 89"/>
            <p:cNvSpPr/>
            <p:nvPr/>
          </p:nvSpPr>
          <p:spPr>
            <a:xfrm>
              <a:off x="9421237" y="5310792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9" name="Forma 90"/>
            <p:cNvSpPr/>
            <p:nvPr/>
          </p:nvSpPr>
          <p:spPr>
            <a:xfrm>
              <a:off x="10858152" y="4544437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0" name="Forma 91"/>
            <p:cNvSpPr/>
            <p:nvPr/>
          </p:nvSpPr>
          <p:spPr>
            <a:xfrm>
              <a:off x="9421237" y="4544437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1" name="Forma 92"/>
            <p:cNvSpPr/>
            <p:nvPr/>
          </p:nvSpPr>
          <p:spPr>
            <a:xfrm>
              <a:off x="10522872" y="5646072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2" name="Forma 93"/>
            <p:cNvSpPr/>
            <p:nvPr/>
          </p:nvSpPr>
          <p:spPr>
            <a:xfrm>
              <a:off x="9756517" y="5646072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3" name="Forma 94"/>
            <p:cNvSpPr/>
            <p:nvPr/>
          </p:nvSpPr>
          <p:spPr>
            <a:xfrm>
              <a:off x="10522872" y="4209157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4" name="Forma 95"/>
            <p:cNvSpPr/>
            <p:nvPr/>
          </p:nvSpPr>
          <p:spPr>
            <a:xfrm>
              <a:off x="9756517" y="4209157"/>
              <a:ext cx="386051" cy="38605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5" name="Forma 96"/>
            <p:cNvSpPr/>
            <p:nvPr/>
          </p:nvSpPr>
          <p:spPr>
            <a:xfrm>
              <a:off x="10101089" y="4889009"/>
              <a:ext cx="463261" cy="46326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DE7E3F"/>
                </a:gs>
                <a:gs pos="75000">
                  <a:srgbClr val="D35400"/>
                </a:gs>
                <a:gs pos="100000">
                  <a:srgbClr val="933A00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HCM Y CHCM: CONTENIDO Y CONCENTRACIÓN DE HEMOGLOBINA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6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129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7" grpId="0" animBg="1"/>
      <p:bldP spid="8" grpId="0" animBg="1"/>
      <p:bldP spid="15" grpId="0" animBg="1"/>
      <p:bldP spid="16" grpId="0" animBg="1"/>
    </p:bld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5" name="!!Eritrocito disco"/>
          <p:cNvSpPr/>
          <p:nvPr/>
        </p:nvSpPr>
        <p:spPr>
          <a:xfrm>
            <a:off x="548640" y="1280160"/>
            <a:ext cx="2194560" cy="219456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6" name="Perfil disco"/>
          <p:cNvSpPr/>
          <p:nvPr/>
        </p:nvSpPr>
        <p:spPr>
          <a:xfrm>
            <a:off x="457200" y="3749040"/>
            <a:ext cx="2377440" cy="85587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500"/>
                </a:moveTo>
                <a:cubicBezTo>
                  <a:pt x="0" y="425"/>
                  <a:pt x="34" y="233"/>
                  <a:pt x="60" y="180"/>
                </a:cubicBezTo>
                <a:cubicBezTo>
                  <a:pt x="85" y="126"/>
                  <a:pt x="182" y="47"/>
                  <a:pt x="220" y="40"/>
                </a:cubicBezTo>
                <a:cubicBezTo>
                  <a:pt x="257" y="33"/>
                  <a:pt x="347" y="89"/>
                  <a:pt x="380" y="120"/>
                </a:cubicBezTo>
                <a:cubicBezTo>
                  <a:pt x="412" y="150"/>
                  <a:pt x="472" y="300"/>
                  <a:pt x="500" y="300"/>
                </a:cubicBezTo>
                <a:cubicBezTo>
                  <a:pt x="528" y="300"/>
                  <a:pt x="587" y="150"/>
                  <a:pt x="620" y="120"/>
                </a:cubicBezTo>
                <a:cubicBezTo>
                  <a:pt x="652" y="89"/>
                  <a:pt x="742" y="33"/>
                  <a:pt x="780" y="40"/>
                </a:cubicBezTo>
                <a:cubicBezTo>
                  <a:pt x="817" y="47"/>
                  <a:pt x="914" y="126"/>
                  <a:pt x="940" y="180"/>
                </a:cubicBezTo>
                <a:cubicBezTo>
                  <a:pt x="965" y="233"/>
                  <a:pt x="1000" y="425"/>
                  <a:pt x="1000" y="500"/>
                </a:cubicBezTo>
                <a:cubicBezTo>
                  <a:pt x="1000" y="574"/>
                  <a:pt x="965" y="766"/>
                  <a:pt x="940" y="820"/>
                </a:cubicBezTo>
                <a:cubicBezTo>
                  <a:pt x="914" y="873"/>
                  <a:pt x="817" y="953"/>
                  <a:pt x="780" y="960"/>
                </a:cubicBezTo>
                <a:cubicBezTo>
                  <a:pt x="742" y="967"/>
                  <a:pt x="652" y="910"/>
                  <a:pt x="620" y="880"/>
                </a:cubicBezTo>
                <a:cubicBezTo>
                  <a:pt x="587" y="849"/>
                  <a:pt x="528" y="700"/>
                  <a:pt x="500" y="700"/>
                </a:cubicBezTo>
                <a:cubicBezTo>
                  <a:pt x="472" y="700"/>
                  <a:pt x="412" y="849"/>
                  <a:pt x="380" y="880"/>
                </a:cubicBezTo>
                <a:cubicBezTo>
                  <a:pt x="347" y="910"/>
                  <a:pt x="257" y="967"/>
                  <a:pt x="220" y="960"/>
                </a:cubicBezTo>
                <a:cubicBezTo>
                  <a:pt x="182" y="953"/>
                  <a:pt x="85" y="873"/>
                  <a:pt x="60" y="820"/>
                </a:cubicBezTo>
                <a:cubicBezTo>
                  <a:pt x="34" y="766"/>
                  <a:pt x="0" y="574"/>
                  <a:pt x="0" y="500"/>
                </a:cubicBezTo>
                <a:close/>
              </a:path>
            </a:pathLst>
          </a:custGeom>
          <a:gradFill rotWithShape="1">
            <a:gsLst>
              <a:gs pos="0">
                <a:srgbClr val="7C251B"/>
              </a:gs>
              <a:gs pos="30000">
                <a:srgbClr val="D2746A"/>
              </a:gs>
              <a:gs pos="55000">
                <a:srgbClr val="C0392B"/>
              </a:gs>
              <a:gs pos="100000">
                <a:srgbClr val="7C251B"/>
              </a:gs>
            </a:gsLst>
            <a:lin ang="5400000" scaled="0"/>
          </a:gradFill>
          <a:ln w="15875" cap="rnd">
            <a:solidFill>
              <a:srgbClr val="6E1A12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sp>
        <p:nvSpPr>
          <p:cNvPr id="7" name="!!Esferocito"/>
          <p:cNvSpPr/>
          <p:nvPr/>
        </p:nvSpPr>
        <p:spPr>
          <a:xfrm>
            <a:off x="2743200" y="365760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E35D52"/>
              </a:gs>
              <a:gs pos="55000">
                <a:srgbClr val="B8261C"/>
              </a:gs>
              <a:gs pos="100000">
                <a:srgbClr val="6E1510"/>
              </a:gs>
            </a:gsLst>
            <a:path path="circle">
              <a:fillToRect l="38000" t="32000" r="62000" b="68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8" name="Rótulo esferocito"/>
          <p:cNvSpPr/>
          <p:nvPr/>
        </p:nvSpPr>
        <p:spPr>
          <a:xfrm>
            <a:off x="2606040" y="5257800"/>
            <a:ext cx="1737360" cy="293370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esferocito</a:t>
            </a:r>
            <a:endParaRPr lang="es-AR" sz="1400" dirty="0">
              <a:latin typeface="Calibri"/>
            </a:endParaRPr>
          </a:p>
        </p:txBody>
      </p:sp>
      <p:sp>
        <p:nvSpPr>
          <p:cNvPr id="9" name="Esfera"/>
          <p:cNvSpPr/>
          <p:nvPr/>
        </p:nvSpPr>
        <p:spPr>
          <a:xfrm>
            <a:off x="4572000" y="1097280"/>
            <a:ext cx="7360920" cy="14630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la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esferocitosis hereditaria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los eritrocitos son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esféricos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 lugar de discos bicóncavos.</a:t>
            </a:r>
            <a:endParaRPr lang="es-AR" sz="2200" dirty="0">
              <a:latin typeface="Calibri"/>
            </a:endParaRPr>
          </a:p>
        </p:txBody>
      </p:sp>
      <p:sp>
        <p:nvSpPr>
          <p:cNvPr id="10" name="Mecanismo esfero"/>
          <p:cNvSpPr/>
          <p:nvPr/>
        </p:nvSpPr>
        <p:spPr>
          <a:xfrm>
            <a:off x="4572000" y="2743200"/>
            <a:ext cx="736092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 ser esféricos tienen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menor volumen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la misma cantidad de Hb queda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concentrada en menos espacio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CHCM aumentada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Además, mayor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fragilidad osmótica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grpSp>
        <p:nvGrpSpPr>
          <p:cNvPr id="11" name="Rigor CHCM"/>
          <p:cNvGrpSpPr/>
          <p:nvPr/>
        </p:nvGrpSpPr>
        <p:grpSpPr>
          <a:xfrm>
            <a:off x="4572000" y="4526280"/>
            <a:ext cx="7360920" cy="1920240"/>
            <a:chOff x="4572000" y="4526280"/>
            <a:chExt cx="7360920" cy="1920240"/>
          </a:xfrm>
        </p:grpSpPr>
        <p:sp>
          <p:nvSpPr>
            <p:cNvPr id="12" name="Forma 11"/>
            <p:cNvSpPr/>
            <p:nvPr/>
          </p:nvSpPr>
          <p:spPr>
            <a:xfrm>
              <a:off x="4572000" y="4727448"/>
              <a:ext cx="7360920" cy="1719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CHCM elevada es el hallazgo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clásico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esferocitosis, pero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exclusivo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también aparece en otras situaciones (p. ej., ciertas hemoglobinopatías, aglutininas frías o interferencias como la lipemia). No conviene usarla como regla absoluta.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4700016" y="4526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CHCM ELEVADA: EL CASO DE LA ESFEROCITOSIS HEREDITARIA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Ejes RDW"/>
          <p:cNvGrpSpPr/>
          <p:nvPr/>
        </p:nvGrpSpPr>
        <p:grpSpPr>
          <a:xfrm>
            <a:off x="594360" y="822960"/>
            <a:ext cx="7360920" cy="3575304"/>
            <a:chOff x="594360" y="822960"/>
            <a:chExt cx="7360920" cy="3575304"/>
          </a:xfrm>
        </p:grpSpPr>
        <p:sp>
          <p:nvSpPr>
            <p:cNvPr id="6" name="Flecha 5_2"/>
            <p:cNvSpPr/>
            <p:nvPr/>
          </p:nvSpPr>
          <p:spPr>
            <a:xfrm>
              <a:off x="640080" y="1188720"/>
              <a:ext cx="9144" cy="2834640"/>
            </a:xfrm>
            <a:custGeom>
              <a:avLst/>
              <a:gdLst/>
              <a:ahLst/>
              <a:cxnLst/>
              <a:rect l="0" t="0" r="r" b="b"/>
              <a:pathLst>
                <a:path w="10" h="3100" fill="none">
                  <a:moveTo>
                    <a:pt x="0" y="31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640080" y="4023360"/>
              <a:ext cx="7315200" cy="9144"/>
            </a:xfrm>
            <a:custGeom>
              <a:avLst/>
              <a:gdLst/>
              <a:ahLst/>
              <a:cxnLst/>
              <a:rect l="0" t="0" r="r" b="b"/>
              <a:pathLst>
                <a:path w="7999" h="10" fill="none">
                  <a:moveTo>
                    <a:pt x="0" y="0"/>
                  </a:moveTo>
                  <a:lnTo>
                    <a:pt x="79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5120640" y="407822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volumen eritrocitario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594360" y="82296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n.º de células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Curva angosta"/>
          <p:cNvSpPr/>
          <p:nvPr/>
        </p:nvSpPr>
        <p:spPr>
          <a:xfrm>
            <a:off x="640080" y="1280160"/>
            <a:ext cx="7223760" cy="27432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9"/>
                </a:moveTo>
                <a:cubicBezTo>
                  <a:pt x="3" y="959"/>
                  <a:pt x="17" y="959"/>
                  <a:pt x="25" y="959"/>
                </a:cubicBezTo>
                <a:cubicBezTo>
                  <a:pt x="32" y="959"/>
                  <a:pt x="42" y="959"/>
                  <a:pt x="50" y="959"/>
                </a:cubicBezTo>
                <a:cubicBezTo>
                  <a:pt x="57" y="959"/>
                  <a:pt x="67" y="959"/>
                  <a:pt x="75" y="959"/>
                </a:cubicBezTo>
                <a:cubicBezTo>
                  <a:pt x="82" y="959"/>
                  <a:pt x="92" y="959"/>
                  <a:pt x="100" y="959"/>
                </a:cubicBezTo>
                <a:cubicBezTo>
                  <a:pt x="107" y="959"/>
                  <a:pt x="117" y="959"/>
                  <a:pt x="125" y="959"/>
                </a:cubicBezTo>
                <a:cubicBezTo>
                  <a:pt x="132" y="959"/>
                  <a:pt x="142" y="959"/>
                  <a:pt x="150" y="959"/>
                </a:cubicBezTo>
                <a:cubicBezTo>
                  <a:pt x="157" y="959"/>
                  <a:pt x="167" y="959"/>
                  <a:pt x="175" y="959"/>
                </a:cubicBezTo>
                <a:cubicBezTo>
                  <a:pt x="182" y="959"/>
                  <a:pt x="192" y="959"/>
                  <a:pt x="200" y="959"/>
                </a:cubicBezTo>
                <a:cubicBezTo>
                  <a:pt x="207" y="958"/>
                  <a:pt x="217" y="958"/>
                  <a:pt x="225" y="958"/>
                </a:cubicBezTo>
                <a:cubicBezTo>
                  <a:pt x="232" y="957"/>
                  <a:pt x="242" y="957"/>
                  <a:pt x="250" y="956"/>
                </a:cubicBezTo>
                <a:cubicBezTo>
                  <a:pt x="257" y="954"/>
                  <a:pt x="267" y="951"/>
                  <a:pt x="275" y="947"/>
                </a:cubicBezTo>
                <a:cubicBezTo>
                  <a:pt x="282" y="942"/>
                  <a:pt x="292" y="936"/>
                  <a:pt x="300" y="927"/>
                </a:cubicBezTo>
                <a:cubicBezTo>
                  <a:pt x="307" y="917"/>
                  <a:pt x="317" y="902"/>
                  <a:pt x="325" y="884"/>
                </a:cubicBezTo>
                <a:cubicBezTo>
                  <a:pt x="332" y="865"/>
                  <a:pt x="342" y="834"/>
                  <a:pt x="350" y="803"/>
                </a:cubicBezTo>
                <a:cubicBezTo>
                  <a:pt x="357" y="771"/>
                  <a:pt x="367" y="719"/>
                  <a:pt x="375" y="674"/>
                </a:cubicBezTo>
                <a:cubicBezTo>
                  <a:pt x="382" y="628"/>
                  <a:pt x="392" y="556"/>
                  <a:pt x="400" y="502"/>
                </a:cubicBezTo>
                <a:cubicBezTo>
                  <a:pt x="407" y="447"/>
                  <a:pt x="417" y="364"/>
                  <a:pt x="425" y="313"/>
                </a:cubicBezTo>
                <a:cubicBezTo>
                  <a:pt x="432" y="261"/>
                  <a:pt x="442" y="191"/>
                  <a:pt x="450" y="157"/>
                </a:cubicBezTo>
                <a:cubicBezTo>
                  <a:pt x="457" y="122"/>
                  <a:pt x="467" y="88"/>
                  <a:pt x="475" y="82"/>
                </a:cubicBezTo>
                <a:cubicBezTo>
                  <a:pt x="482" y="75"/>
                  <a:pt x="492" y="90"/>
                  <a:pt x="500" y="115"/>
                </a:cubicBezTo>
                <a:cubicBezTo>
                  <a:pt x="507" y="139"/>
                  <a:pt x="517" y="197"/>
                  <a:pt x="525" y="244"/>
                </a:cubicBezTo>
                <a:cubicBezTo>
                  <a:pt x="532" y="290"/>
                  <a:pt x="542" y="371"/>
                  <a:pt x="550" y="426"/>
                </a:cubicBezTo>
                <a:cubicBezTo>
                  <a:pt x="557" y="480"/>
                  <a:pt x="567" y="559"/>
                  <a:pt x="575" y="609"/>
                </a:cubicBezTo>
                <a:cubicBezTo>
                  <a:pt x="582" y="658"/>
                  <a:pt x="592" y="719"/>
                  <a:pt x="600" y="757"/>
                </a:cubicBezTo>
                <a:cubicBezTo>
                  <a:pt x="607" y="794"/>
                  <a:pt x="617" y="833"/>
                  <a:pt x="625" y="857"/>
                </a:cubicBezTo>
                <a:cubicBezTo>
                  <a:pt x="632" y="880"/>
                  <a:pt x="642" y="900"/>
                  <a:pt x="650" y="913"/>
                </a:cubicBezTo>
                <a:cubicBezTo>
                  <a:pt x="657" y="925"/>
                  <a:pt x="667" y="935"/>
                  <a:pt x="675" y="941"/>
                </a:cubicBezTo>
                <a:cubicBezTo>
                  <a:pt x="682" y="947"/>
                  <a:pt x="692" y="950"/>
                  <a:pt x="700" y="953"/>
                </a:cubicBezTo>
                <a:cubicBezTo>
                  <a:pt x="707" y="955"/>
                  <a:pt x="717" y="957"/>
                  <a:pt x="725" y="958"/>
                </a:cubicBezTo>
                <a:cubicBezTo>
                  <a:pt x="732" y="958"/>
                  <a:pt x="742" y="958"/>
                  <a:pt x="750" y="959"/>
                </a:cubicBezTo>
                <a:cubicBezTo>
                  <a:pt x="757" y="959"/>
                  <a:pt x="767" y="959"/>
                  <a:pt x="775" y="959"/>
                </a:cubicBezTo>
                <a:cubicBezTo>
                  <a:pt x="782" y="959"/>
                  <a:pt x="792" y="959"/>
                  <a:pt x="800" y="959"/>
                </a:cubicBezTo>
                <a:cubicBezTo>
                  <a:pt x="807" y="959"/>
                  <a:pt x="817" y="959"/>
                  <a:pt x="825" y="959"/>
                </a:cubicBezTo>
                <a:cubicBezTo>
                  <a:pt x="832" y="959"/>
                  <a:pt x="842" y="959"/>
                  <a:pt x="850" y="959"/>
                </a:cubicBezTo>
                <a:cubicBezTo>
                  <a:pt x="857" y="959"/>
                  <a:pt x="867" y="959"/>
                  <a:pt x="875" y="959"/>
                </a:cubicBezTo>
                <a:cubicBezTo>
                  <a:pt x="882" y="959"/>
                  <a:pt x="892" y="959"/>
                  <a:pt x="900" y="959"/>
                </a:cubicBezTo>
                <a:cubicBezTo>
                  <a:pt x="907" y="959"/>
                  <a:pt x="917" y="959"/>
                  <a:pt x="925" y="959"/>
                </a:cubicBezTo>
                <a:cubicBezTo>
                  <a:pt x="932" y="959"/>
                  <a:pt x="942" y="959"/>
                  <a:pt x="950" y="959"/>
                </a:cubicBezTo>
                <a:cubicBezTo>
                  <a:pt x="957" y="959"/>
                  <a:pt x="967" y="959"/>
                  <a:pt x="975" y="959"/>
                </a:cubicBezTo>
                <a:cubicBezTo>
                  <a:pt x="982" y="959"/>
                  <a:pt x="996" y="959"/>
                  <a:pt x="1000" y="959"/>
                </a:cubicBezTo>
              </a:path>
            </a:pathLst>
          </a:custGeom>
          <a:noFill/>
          <a:ln w="57150" cap="rnd">
            <a:solidFill>
              <a:srgbClr val="4E7A30"/>
            </a:solidFill>
            <a:round/>
          </a:ln>
        </p:spPr>
      </p:sp>
      <p:sp>
        <p:nvSpPr>
          <p:cNvPr id="11" name="Curva ancha"/>
          <p:cNvSpPr/>
          <p:nvPr/>
        </p:nvSpPr>
        <p:spPr>
          <a:xfrm>
            <a:off x="640080" y="1280160"/>
            <a:ext cx="7223760" cy="27432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6"/>
                </a:moveTo>
                <a:cubicBezTo>
                  <a:pt x="3" y="954"/>
                  <a:pt x="17" y="950"/>
                  <a:pt x="25" y="948"/>
                </a:cubicBezTo>
                <a:cubicBezTo>
                  <a:pt x="32" y="945"/>
                  <a:pt x="42" y="941"/>
                  <a:pt x="50" y="938"/>
                </a:cubicBezTo>
                <a:cubicBezTo>
                  <a:pt x="57" y="934"/>
                  <a:pt x="67" y="929"/>
                  <a:pt x="75" y="926"/>
                </a:cubicBezTo>
                <a:cubicBezTo>
                  <a:pt x="82" y="922"/>
                  <a:pt x="92" y="916"/>
                  <a:pt x="100" y="912"/>
                </a:cubicBezTo>
                <a:cubicBezTo>
                  <a:pt x="107" y="907"/>
                  <a:pt x="117" y="900"/>
                  <a:pt x="125" y="894"/>
                </a:cubicBezTo>
                <a:cubicBezTo>
                  <a:pt x="132" y="888"/>
                  <a:pt x="142" y="878"/>
                  <a:pt x="150" y="872"/>
                </a:cubicBezTo>
                <a:cubicBezTo>
                  <a:pt x="157" y="865"/>
                  <a:pt x="167" y="855"/>
                  <a:pt x="175" y="848"/>
                </a:cubicBezTo>
                <a:cubicBezTo>
                  <a:pt x="182" y="840"/>
                  <a:pt x="192" y="828"/>
                  <a:pt x="200" y="820"/>
                </a:cubicBezTo>
                <a:cubicBezTo>
                  <a:pt x="207" y="811"/>
                  <a:pt x="217" y="798"/>
                  <a:pt x="225" y="789"/>
                </a:cubicBezTo>
                <a:cubicBezTo>
                  <a:pt x="232" y="779"/>
                  <a:pt x="242" y="766"/>
                  <a:pt x="250" y="756"/>
                </a:cubicBezTo>
                <a:cubicBezTo>
                  <a:pt x="257" y="745"/>
                  <a:pt x="267" y="730"/>
                  <a:pt x="275" y="720"/>
                </a:cubicBezTo>
                <a:cubicBezTo>
                  <a:pt x="282" y="709"/>
                  <a:pt x="292" y="694"/>
                  <a:pt x="300" y="684"/>
                </a:cubicBezTo>
                <a:cubicBezTo>
                  <a:pt x="307" y="673"/>
                  <a:pt x="317" y="657"/>
                  <a:pt x="325" y="647"/>
                </a:cubicBezTo>
                <a:cubicBezTo>
                  <a:pt x="332" y="636"/>
                  <a:pt x="342" y="622"/>
                  <a:pt x="350" y="612"/>
                </a:cubicBezTo>
                <a:cubicBezTo>
                  <a:pt x="357" y="601"/>
                  <a:pt x="367" y="588"/>
                  <a:pt x="375" y="579"/>
                </a:cubicBezTo>
                <a:cubicBezTo>
                  <a:pt x="382" y="569"/>
                  <a:pt x="392" y="557"/>
                  <a:pt x="400" y="550"/>
                </a:cubicBezTo>
                <a:cubicBezTo>
                  <a:pt x="407" y="542"/>
                  <a:pt x="417" y="532"/>
                  <a:pt x="425" y="526"/>
                </a:cubicBezTo>
                <a:cubicBezTo>
                  <a:pt x="432" y="519"/>
                  <a:pt x="442" y="512"/>
                  <a:pt x="450" y="508"/>
                </a:cubicBezTo>
                <a:cubicBezTo>
                  <a:pt x="457" y="503"/>
                  <a:pt x="467" y="499"/>
                  <a:pt x="475" y="497"/>
                </a:cubicBezTo>
                <a:cubicBezTo>
                  <a:pt x="482" y="494"/>
                  <a:pt x="492" y="493"/>
                  <a:pt x="500" y="493"/>
                </a:cubicBezTo>
                <a:cubicBezTo>
                  <a:pt x="507" y="493"/>
                  <a:pt x="517" y="494"/>
                  <a:pt x="525" y="497"/>
                </a:cubicBezTo>
                <a:cubicBezTo>
                  <a:pt x="532" y="499"/>
                  <a:pt x="542" y="503"/>
                  <a:pt x="550" y="508"/>
                </a:cubicBezTo>
                <a:cubicBezTo>
                  <a:pt x="557" y="512"/>
                  <a:pt x="567" y="519"/>
                  <a:pt x="575" y="526"/>
                </a:cubicBezTo>
                <a:cubicBezTo>
                  <a:pt x="582" y="532"/>
                  <a:pt x="592" y="542"/>
                  <a:pt x="600" y="550"/>
                </a:cubicBezTo>
                <a:cubicBezTo>
                  <a:pt x="607" y="557"/>
                  <a:pt x="617" y="569"/>
                  <a:pt x="625" y="579"/>
                </a:cubicBezTo>
                <a:cubicBezTo>
                  <a:pt x="632" y="588"/>
                  <a:pt x="642" y="601"/>
                  <a:pt x="650" y="612"/>
                </a:cubicBezTo>
                <a:cubicBezTo>
                  <a:pt x="657" y="622"/>
                  <a:pt x="667" y="636"/>
                  <a:pt x="675" y="647"/>
                </a:cubicBezTo>
                <a:cubicBezTo>
                  <a:pt x="682" y="657"/>
                  <a:pt x="692" y="673"/>
                  <a:pt x="700" y="684"/>
                </a:cubicBezTo>
                <a:cubicBezTo>
                  <a:pt x="707" y="694"/>
                  <a:pt x="717" y="709"/>
                  <a:pt x="725" y="720"/>
                </a:cubicBezTo>
                <a:cubicBezTo>
                  <a:pt x="732" y="730"/>
                  <a:pt x="742" y="745"/>
                  <a:pt x="750" y="756"/>
                </a:cubicBezTo>
                <a:cubicBezTo>
                  <a:pt x="757" y="766"/>
                  <a:pt x="767" y="779"/>
                  <a:pt x="775" y="789"/>
                </a:cubicBezTo>
                <a:cubicBezTo>
                  <a:pt x="782" y="798"/>
                  <a:pt x="792" y="811"/>
                  <a:pt x="800" y="820"/>
                </a:cubicBezTo>
                <a:cubicBezTo>
                  <a:pt x="807" y="828"/>
                  <a:pt x="817" y="840"/>
                  <a:pt x="825" y="848"/>
                </a:cubicBezTo>
                <a:cubicBezTo>
                  <a:pt x="832" y="855"/>
                  <a:pt x="842" y="865"/>
                  <a:pt x="850" y="872"/>
                </a:cubicBezTo>
                <a:cubicBezTo>
                  <a:pt x="857" y="878"/>
                  <a:pt x="867" y="888"/>
                  <a:pt x="875" y="894"/>
                </a:cubicBezTo>
                <a:cubicBezTo>
                  <a:pt x="882" y="900"/>
                  <a:pt x="892" y="907"/>
                  <a:pt x="900" y="912"/>
                </a:cubicBezTo>
                <a:cubicBezTo>
                  <a:pt x="907" y="916"/>
                  <a:pt x="917" y="922"/>
                  <a:pt x="925" y="926"/>
                </a:cubicBezTo>
                <a:cubicBezTo>
                  <a:pt x="932" y="929"/>
                  <a:pt x="942" y="934"/>
                  <a:pt x="950" y="938"/>
                </a:cubicBezTo>
                <a:cubicBezTo>
                  <a:pt x="957" y="941"/>
                  <a:pt x="967" y="945"/>
                  <a:pt x="975" y="948"/>
                </a:cubicBezTo>
                <a:cubicBezTo>
                  <a:pt x="982" y="950"/>
                  <a:pt x="996" y="954"/>
                  <a:pt x="1000" y="956"/>
                </a:cubicBezTo>
              </a:path>
            </a:pathLst>
          </a:custGeom>
          <a:noFill/>
          <a:ln w="57150" cap="rnd">
            <a:solidFill>
              <a:srgbClr val="C00000"/>
            </a:solidFill>
            <a:round/>
          </a:ln>
        </p:spPr>
      </p:sp>
      <p:grpSp>
        <p:nvGrpSpPr>
          <p:cNvPr id="12" name="Homogénea"/>
          <p:cNvGrpSpPr/>
          <p:nvPr/>
        </p:nvGrpSpPr>
        <p:grpSpPr>
          <a:xfrm>
            <a:off x="731520" y="4617720"/>
            <a:ext cx="3310128" cy="566928"/>
            <a:chOff x="731520" y="4617720"/>
            <a:chExt cx="3310128" cy="566928"/>
          </a:xfrm>
        </p:grpSpPr>
        <p:sp>
          <p:nvSpPr>
            <p:cNvPr id="13" name="GR hom 0"/>
            <p:cNvSpPr/>
            <p:nvPr/>
          </p:nvSpPr>
          <p:spPr>
            <a:xfrm>
              <a:off x="731520" y="4617720"/>
              <a:ext cx="566928" cy="566928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4" name="GR hom 1"/>
            <p:cNvSpPr/>
            <p:nvPr/>
          </p:nvSpPr>
          <p:spPr>
            <a:xfrm>
              <a:off x="1417320" y="4617720"/>
              <a:ext cx="566928" cy="566928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5" name="GR hom 2"/>
            <p:cNvSpPr/>
            <p:nvPr/>
          </p:nvSpPr>
          <p:spPr>
            <a:xfrm>
              <a:off x="2103120" y="4617720"/>
              <a:ext cx="566928" cy="566928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6" name="GR hom 3"/>
            <p:cNvSpPr/>
            <p:nvPr/>
          </p:nvSpPr>
          <p:spPr>
            <a:xfrm>
              <a:off x="2788920" y="4617720"/>
              <a:ext cx="566928" cy="566928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7" name="GR hom 4"/>
            <p:cNvSpPr/>
            <p:nvPr/>
          </p:nvSpPr>
          <p:spPr>
            <a:xfrm>
              <a:off x="3474720" y="4617720"/>
              <a:ext cx="566928" cy="566928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grpSp>
        <p:nvGrpSpPr>
          <p:cNvPr id="18" name="Heterogénea"/>
          <p:cNvGrpSpPr/>
          <p:nvPr/>
        </p:nvGrpSpPr>
        <p:grpSpPr>
          <a:xfrm>
            <a:off x="4480560" y="4549140"/>
            <a:ext cx="3291840" cy="960120"/>
            <a:chOff x="4480560" y="4549140"/>
            <a:chExt cx="3291840" cy="960120"/>
          </a:xfrm>
        </p:grpSpPr>
        <p:sp>
          <p:nvSpPr>
            <p:cNvPr id="19" name="GR het 0"/>
            <p:cNvSpPr/>
            <p:nvPr/>
          </p:nvSpPr>
          <p:spPr>
            <a:xfrm>
              <a:off x="4480560" y="4837176"/>
              <a:ext cx="384048" cy="384048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0" name="GR het 1"/>
            <p:cNvSpPr/>
            <p:nvPr/>
          </p:nvSpPr>
          <p:spPr>
            <a:xfrm>
              <a:off x="5193792" y="461772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1" name="GR het 2"/>
            <p:cNvSpPr/>
            <p:nvPr/>
          </p:nvSpPr>
          <p:spPr>
            <a:xfrm>
              <a:off x="5907024" y="4777740"/>
              <a:ext cx="502920" cy="50292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2" name="GR het 3"/>
            <p:cNvSpPr/>
            <p:nvPr/>
          </p:nvSpPr>
          <p:spPr>
            <a:xfrm>
              <a:off x="6620256" y="454914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3" name="GR het 4"/>
            <p:cNvSpPr/>
            <p:nvPr/>
          </p:nvSpPr>
          <p:spPr>
            <a:xfrm>
              <a:off x="7333488" y="4809744"/>
              <a:ext cx="438912" cy="438912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sp>
        <p:nvSpPr>
          <p:cNvPr id="24" name="Rótulo homogénea"/>
          <p:cNvSpPr/>
          <p:nvPr/>
        </p:nvSpPr>
        <p:spPr>
          <a:xfrm>
            <a:off x="731520" y="5623560"/>
            <a:ext cx="3291840" cy="293370"/>
          </a:xfrm>
          <a:prstGeom prst="rect">
            <a:avLst/>
          </a:prstGeom>
          <a:solidFill>
            <a:srgbClr val="D5F5E3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RDW normal → homogénea</a:t>
            </a:r>
            <a:endParaRPr lang="es-AR" sz="1400" dirty="0">
              <a:latin typeface="Calibri"/>
            </a:endParaRPr>
          </a:p>
        </p:txBody>
      </p:sp>
      <p:sp>
        <p:nvSpPr>
          <p:cNvPr id="25" name="Rótulo heterogénea"/>
          <p:cNvSpPr/>
          <p:nvPr/>
        </p:nvSpPr>
        <p:spPr>
          <a:xfrm>
            <a:off x="4480560" y="5623560"/>
            <a:ext cx="3474720" cy="293370"/>
          </a:xfrm>
          <a:prstGeom prst="rect">
            <a:avLst/>
          </a:prstGeom>
          <a:solidFill>
            <a:srgbClr val="FDE4E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RDW elevado → anisocitosis</a:t>
            </a:r>
            <a:endParaRPr lang="es-AR" sz="1400" dirty="0">
              <a:latin typeface="Calibri"/>
            </a:endParaRPr>
          </a:p>
        </p:txBody>
      </p:sp>
      <p:grpSp>
        <p:nvGrpSpPr>
          <p:cNvPr id="26" name="Def RDW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7" name="Forma 28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Mide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variabilidad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tamaño de los glóbulos rojos: índice estadístico de dispersión (coeficiente de variación). Normal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12–14 %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8" name="Forma 29"/>
            <p:cNvSpPr/>
            <p:nvPr/>
          </p:nvSpPr>
          <p:spPr>
            <a:xfrm>
              <a:off x="8677656" y="1097280"/>
              <a:ext cx="122569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9" name="Curvas RDW"/>
          <p:cNvSpPr/>
          <p:nvPr/>
        </p:nvSpPr>
        <p:spPr>
          <a:xfrm>
            <a:off x="8549640" y="4434840"/>
            <a:ext cx="3383280" cy="20116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Curva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angosta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tamaños similares. Curva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amplia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coexisten eritrocitos muy grandes y muy pequeños.</a:t>
            </a:r>
            <a:endParaRPr lang="es-AR" sz="18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RDW: LA DISPERSIÓN DEL TAMAÑO ERITROCITARIO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4" grpId="0" animBg="1"/>
      <p:bldP spid="11" grpId="0" animBg="1"/>
      <p:bldP spid="25" grpId="0" animBg="1"/>
      <p:bldP spid="29" grpId="0" animBg="1"/>
    </p:bld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6" name="!!Capilar de vidrio"/>
          <p:cNvGrpSpPr/>
          <p:nvPr/>
        </p:nvGrpSpPr>
        <p:grpSpPr>
          <a:xfrm>
            <a:off x="1234440" y="1188720"/>
            <a:ext cx="594360" cy="5029200"/>
            <a:chOff x="1234440" y="1188720"/>
            <a:chExt cx="594360" cy="5029200"/>
          </a:xfrm>
        </p:grpSpPr>
        <p:sp>
          <p:nvSpPr>
            <p:cNvPr id="7" name="Forma 6"/>
            <p:cNvSpPr/>
            <p:nvPr/>
          </p:nvSpPr>
          <p:spPr>
            <a:xfrm>
              <a:off x="1280160" y="1188720"/>
              <a:ext cx="502920" cy="4937760"/>
            </a:xfrm>
            <a:prstGeom prst="roundRect">
              <a:avLst>
                <a:gd name="adj" fmla="val 50000"/>
              </a:avLst>
            </a:prstGeom>
            <a:solidFill>
              <a:srgbClr val="EAF2FA">
                <a:alpha val="60000"/>
              </a:srgbClr>
            </a:solidFill>
            <a:ln w="19050" cap="rnd">
              <a:solidFill>
                <a:srgbClr val="5D6D7E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325880" y="3931920"/>
              <a:ext cx="411480" cy="2103120"/>
            </a:xfrm>
            <a:prstGeom prst="rect">
              <a:avLst/>
            </a:prstGeom>
            <a:gradFill rotWithShape="1">
              <a:gsLst>
                <a:gs pos="0">
                  <a:srgbClr val="E57373"/>
                </a:gs>
                <a:gs pos="100000">
                  <a:srgbClr val="922B21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9" name="Forma 8"/>
            <p:cNvSpPr/>
            <p:nvPr/>
          </p:nvSpPr>
          <p:spPr>
            <a:xfrm>
              <a:off x="1325880" y="2103120"/>
              <a:ext cx="411480" cy="1828800"/>
            </a:xfrm>
            <a:prstGeom prst="rect">
              <a:avLst/>
            </a:prstGeom>
            <a:gradFill rotWithShape="1">
              <a:gsLst>
                <a:gs pos="0">
                  <a:srgbClr val="FCF3CF"/>
                </a:gs>
                <a:gs pos="100000">
                  <a:srgbClr val="F9E79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" name="Forma 9"/>
            <p:cNvSpPr/>
            <p:nvPr/>
          </p:nvSpPr>
          <p:spPr>
            <a:xfrm>
              <a:off x="1234440" y="5897880"/>
              <a:ext cx="594360" cy="320040"/>
            </a:xfrm>
            <a:prstGeom prst="rect">
              <a:avLst/>
            </a:prstGeom>
            <a:solidFill>
              <a:srgbClr val="7F8C8D"/>
            </a:solidFill>
            <a:ln w="12700" cap="rnd">
              <a:solidFill>
                <a:srgbClr val="1E1E1E"/>
              </a:solidFill>
              <a:round/>
            </a:ln>
          </p:spPr>
        </p:sp>
      </p:grpSp>
      <p:grpSp>
        <p:nvGrpSpPr>
          <p:cNvPr id="11" name="Regla de lectura"/>
          <p:cNvGrpSpPr/>
          <p:nvPr/>
        </p:nvGrpSpPr>
        <p:grpSpPr>
          <a:xfrm>
            <a:off x="1920240" y="1947672"/>
            <a:ext cx="960120" cy="4242816"/>
            <a:chOff x="1920240" y="1947672"/>
            <a:chExt cx="960120" cy="4242816"/>
          </a:xfrm>
        </p:grpSpPr>
        <p:sp>
          <p:nvSpPr>
            <p:cNvPr id="12" name="Flecha 11_2"/>
            <p:cNvSpPr/>
            <p:nvPr/>
          </p:nvSpPr>
          <p:spPr>
            <a:xfrm>
              <a:off x="1920240" y="6035040"/>
              <a:ext cx="274320" cy="9144"/>
            </a:xfrm>
            <a:custGeom>
              <a:avLst/>
              <a:gdLst/>
              <a:ahLst/>
              <a:cxnLst/>
              <a:rect l="0" t="0" r="r" b="b"/>
              <a:pathLst>
                <a:path w="299" h="10" fill="none">
                  <a:moveTo>
                    <a:pt x="0" y="0"/>
                  </a:moveTo>
                  <a:lnTo>
                    <a:pt x="29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3" name="Forma 13"/>
            <p:cNvSpPr txBox="1"/>
            <p:nvPr/>
          </p:nvSpPr>
          <p:spPr>
            <a:xfrm>
              <a:off x="2240280" y="5879592"/>
              <a:ext cx="64008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0 %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4" name="Flecha 14_2"/>
            <p:cNvSpPr/>
            <p:nvPr/>
          </p:nvSpPr>
          <p:spPr>
            <a:xfrm>
              <a:off x="1920240" y="5641848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5" name="Flecha 16_2"/>
            <p:cNvSpPr/>
            <p:nvPr/>
          </p:nvSpPr>
          <p:spPr>
            <a:xfrm>
              <a:off x="1920240" y="5248656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6" name="Flecha 18_2"/>
            <p:cNvSpPr/>
            <p:nvPr/>
          </p:nvSpPr>
          <p:spPr>
            <a:xfrm>
              <a:off x="1920240" y="4855464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7" name="Flecha 20_2"/>
            <p:cNvSpPr/>
            <p:nvPr/>
          </p:nvSpPr>
          <p:spPr>
            <a:xfrm>
              <a:off x="1920240" y="4462272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8" name="Flecha 22_2"/>
            <p:cNvSpPr/>
            <p:nvPr/>
          </p:nvSpPr>
          <p:spPr>
            <a:xfrm>
              <a:off x="1920240" y="4069080"/>
              <a:ext cx="274320" cy="9144"/>
            </a:xfrm>
            <a:custGeom>
              <a:avLst/>
              <a:gdLst/>
              <a:ahLst/>
              <a:cxnLst/>
              <a:rect l="0" t="0" r="r" b="b"/>
              <a:pathLst>
                <a:path w="299" h="10" fill="none">
                  <a:moveTo>
                    <a:pt x="0" y="0"/>
                  </a:moveTo>
                  <a:lnTo>
                    <a:pt x="29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9" name="Forma 24"/>
            <p:cNvSpPr txBox="1"/>
            <p:nvPr/>
          </p:nvSpPr>
          <p:spPr>
            <a:xfrm>
              <a:off x="2240280" y="3913632"/>
              <a:ext cx="64008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50 %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0" name="Flecha 25_2"/>
            <p:cNvSpPr/>
            <p:nvPr/>
          </p:nvSpPr>
          <p:spPr>
            <a:xfrm>
              <a:off x="1920240" y="3675888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1" name="Flecha 27_2"/>
            <p:cNvSpPr/>
            <p:nvPr/>
          </p:nvSpPr>
          <p:spPr>
            <a:xfrm>
              <a:off x="1920240" y="3282696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2" name="Flecha 29_2"/>
            <p:cNvSpPr/>
            <p:nvPr/>
          </p:nvSpPr>
          <p:spPr>
            <a:xfrm>
              <a:off x="1920240" y="2889504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3" name="Flecha 31_2"/>
            <p:cNvSpPr/>
            <p:nvPr/>
          </p:nvSpPr>
          <p:spPr>
            <a:xfrm>
              <a:off x="1920240" y="2496312"/>
              <a:ext cx="137160" cy="9144"/>
            </a:xfrm>
            <a:custGeom>
              <a:avLst/>
              <a:gdLst/>
              <a:ahLst/>
              <a:cxnLst/>
              <a:rect l="0" t="0" r="r" b="b"/>
              <a:pathLst>
                <a:path w="149" h="10" fill="none">
                  <a:moveTo>
                    <a:pt x="0" y="0"/>
                  </a:moveTo>
                  <a:lnTo>
                    <a:pt x="14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4" name="Flecha 33_2"/>
            <p:cNvSpPr/>
            <p:nvPr/>
          </p:nvSpPr>
          <p:spPr>
            <a:xfrm>
              <a:off x="1920240" y="2103120"/>
              <a:ext cx="274320" cy="9144"/>
            </a:xfrm>
            <a:custGeom>
              <a:avLst/>
              <a:gdLst/>
              <a:ahLst/>
              <a:cxnLst/>
              <a:rect l="0" t="0" r="r" b="b"/>
              <a:pathLst>
                <a:path w="299" h="10" fill="none">
                  <a:moveTo>
                    <a:pt x="0" y="0"/>
                  </a:moveTo>
                  <a:lnTo>
                    <a:pt x="299" y="0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5" name="Forma 35"/>
            <p:cNvSpPr txBox="1"/>
            <p:nvPr/>
          </p:nvSpPr>
          <p:spPr>
            <a:xfrm>
              <a:off x="2240280" y="1947672"/>
              <a:ext cx="640080" cy="310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100 %</a:t>
              </a:r>
              <a:endParaRPr lang="es-AR" sz="1200" dirty="0">
                <a:latin typeface="Calibri"/>
              </a:endParaRPr>
            </a:p>
          </p:txBody>
        </p:sp>
      </p:grpSp>
      <p:sp>
        <p:nvSpPr>
          <p:cNvPr id="26" name="Rótulo 45"/>
          <p:cNvSpPr/>
          <p:nvPr/>
        </p:nvSpPr>
        <p:spPr>
          <a:xfrm>
            <a:off x="320040" y="3657600"/>
            <a:ext cx="868680" cy="335280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~45 %</a:t>
            </a:r>
            <a:endParaRPr lang="es-AR" sz="1600" dirty="0">
              <a:latin typeface="Calibri"/>
            </a:endParaRPr>
          </a:p>
        </p:txBody>
      </p:sp>
      <p:sp>
        <p:nvSpPr>
          <p:cNvPr id="27" name="Def Hto"/>
          <p:cNvSpPr/>
          <p:nvPr/>
        </p:nvSpPr>
        <p:spPr>
          <a:xfrm>
            <a:off x="3246120" y="1097280"/>
            <a:ext cx="5943600" cy="15544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Porcentaje de la sangre total que corresponde a los glóbulos rojos (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~45 %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lang="es-AR" sz="2200" dirty="0">
              <a:latin typeface="Calibri"/>
            </a:endParaRPr>
          </a:p>
        </p:txBody>
      </p:sp>
      <p:sp>
        <p:nvSpPr>
          <p:cNvPr id="28" name="Gold standard"/>
          <p:cNvSpPr/>
          <p:nvPr/>
        </p:nvSpPr>
        <p:spPr>
          <a:xfrm>
            <a:off x="3246120" y="2834640"/>
            <a:ext cx="5943600" cy="1737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Gold standard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capilar de vidrio centrifugado. La sangre asciende por capilaridad, se sella el extremo, se centrifuga a alta velocidad y se mide la columna de eritrocitos.</a:t>
            </a:r>
            <a:endParaRPr lang="es-AR" sz="1950" dirty="0">
              <a:latin typeface="Calibri"/>
            </a:endParaRPr>
          </a:p>
        </p:txBody>
      </p:sp>
      <p:sp>
        <p:nvSpPr>
          <p:cNvPr id="29" name="Cálculo Hto"/>
          <p:cNvSpPr/>
          <p:nvPr/>
        </p:nvSpPr>
        <p:spPr>
          <a:xfrm>
            <a:off x="3246120" y="4754880"/>
            <a:ext cx="5943600" cy="169164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Cálculo del equipo: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Hto = recuento de eritrocitos × VCM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(con un factor según las unidades).</a:t>
            </a:r>
            <a:endParaRPr lang="es-AR" sz="19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Regla práctica: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Hto ≈ Hb × 3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30" name="Rigor fórmula Hto"/>
          <p:cNvGrpSpPr/>
          <p:nvPr/>
        </p:nvGrpSpPr>
        <p:grpSpPr>
          <a:xfrm>
            <a:off x="9418320" y="1097280"/>
            <a:ext cx="2514600" cy="5349240"/>
            <a:chOff x="9418320" y="1097280"/>
            <a:chExt cx="2514600" cy="5349240"/>
          </a:xfrm>
        </p:grpSpPr>
        <p:sp>
          <p:nvSpPr>
            <p:cNvPr id="31" name="Forma 41"/>
            <p:cNvSpPr/>
            <p:nvPr/>
          </p:nvSpPr>
          <p:spPr>
            <a:xfrm>
              <a:off x="9418320" y="1298448"/>
              <a:ext cx="251460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eritrocitos en millones/µL y VCM en fL: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Hto (%) = GR × VCM / 10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(p. ej., 4,5 × 90 / 10 = 40,5 %). El divisor depende de las unidades usadas.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32" name="Forma 42"/>
            <p:cNvSpPr/>
            <p:nvPr/>
          </p:nvSpPr>
          <p:spPr>
            <a:xfrm>
              <a:off x="954633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HEMATOCRITO: PORCENTAJE DE LA SANGRE OCUPADO POR ERITROCITOS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</p:bld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Tabla índices fila 0"/>
          <p:cNvGrpSpPr/>
          <p:nvPr/>
        </p:nvGrpSpPr>
        <p:grpSpPr>
          <a:xfrm>
            <a:off x="4526280" y="1143000"/>
            <a:ext cx="7406640" cy="868680"/>
            <a:chOff x="4526280" y="1143000"/>
            <a:chExt cx="7406640" cy="868680"/>
          </a:xfrm>
        </p:grpSpPr>
        <p:sp>
          <p:nvSpPr>
            <p:cNvPr id="6" name="Forma 5"/>
            <p:cNvSpPr/>
            <p:nvPr/>
          </p:nvSpPr>
          <p:spPr>
            <a:xfrm>
              <a:off x="4526280" y="1143000"/>
              <a:ext cx="128016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Índice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5806440" y="1143000"/>
              <a:ext cx="173736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normal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7543800" y="1143000"/>
              <a:ext cx="210312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↓ Disminuido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9646920" y="1143000"/>
              <a:ext cx="228600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↑ Aumentado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0" name="Tabla índices fila 1"/>
          <p:cNvGrpSpPr/>
          <p:nvPr/>
        </p:nvGrpSpPr>
        <p:grpSpPr>
          <a:xfrm>
            <a:off x="4526280" y="2011680"/>
            <a:ext cx="7406640" cy="868680"/>
            <a:chOff x="4526280" y="2011680"/>
            <a:chExt cx="7406640" cy="868680"/>
          </a:xfrm>
        </p:grpSpPr>
        <p:sp>
          <p:nvSpPr>
            <p:cNvPr id="11" name="Forma 10"/>
            <p:cNvSpPr/>
            <p:nvPr/>
          </p:nvSpPr>
          <p:spPr>
            <a:xfrm>
              <a:off x="4526280" y="2011680"/>
              <a:ext cx="12801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5806440" y="2011680"/>
              <a:ext cx="17373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80–100 fL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7543800" y="2011680"/>
              <a:ext cx="210312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Microcítica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9646920" y="2011680"/>
              <a:ext cx="228600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Macrocítica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5" name="Tabla índices fila 2"/>
          <p:cNvGrpSpPr/>
          <p:nvPr/>
        </p:nvGrpSpPr>
        <p:grpSpPr>
          <a:xfrm>
            <a:off x="4526280" y="2880360"/>
            <a:ext cx="7406640" cy="868680"/>
            <a:chOff x="4526280" y="2880360"/>
            <a:chExt cx="7406640" cy="868680"/>
          </a:xfrm>
        </p:grpSpPr>
        <p:sp>
          <p:nvSpPr>
            <p:cNvPr id="16" name="Forma 15"/>
            <p:cNvSpPr/>
            <p:nvPr/>
          </p:nvSpPr>
          <p:spPr>
            <a:xfrm>
              <a:off x="4526280" y="2880360"/>
              <a:ext cx="128016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HCM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5806440" y="2880360"/>
              <a:ext cx="173736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27–32 pg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7543800" y="2880360"/>
              <a:ext cx="210312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Hipocrómica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9646920" y="2880360"/>
              <a:ext cx="228600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Hipercrómica (rara)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0" name="Tabla índices fila 3"/>
          <p:cNvGrpSpPr/>
          <p:nvPr/>
        </p:nvGrpSpPr>
        <p:grpSpPr>
          <a:xfrm>
            <a:off x="4526280" y="3749040"/>
            <a:ext cx="7406640" cy="868680"/>
            <a:chOff x="4526280" y="3749040"/>
            <a:chExt cx="7406640" cy="868680"/>
          </a:xfrm>
        </p:grpSpPr>
        <p:sp>
          <p:nvSpPr>
            <p:cNvPr id="21" name="Forma 20"/>
            <p:cNvSpPr/>
            <p:nvPr/>
          </p:nvSpPr>
          <p:spPr>
            <a:xfrm>
              <a:off x="4526280" y="3749040"/>
              <a:ext cx="12801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CHCM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5806440" y="3749040"/>
              <a:ext cx="17373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32–36 g/dL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7543800" y="3749040"/>
              <a:ext cx="210312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Hipocrómica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9646920" y="3749040"/>
              <a:ext cx="228600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Esferocitosis hereditaria (hallazgo clásico)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5" name="Tabla índices fila 4"/>
          <p:cNvGrpSpPr/>
          <p:nvPr/>
        </p:nvGrpSpPr>
        <p:grpSpPr>
          <a:xfrm>
            <a:off x="4526280" y="4617720"/>
            <a:ext cx="7406640" cy="868680"/>
            <a:chOff x="4526280" y="4617720"/>
            <a:chExt cx="7406640" cy="868680"/>
          </a:xfrm>
        </p:grpSpPr>
        <p:sp>
          <p:nvSpPr>
            <p:cNvPr id="26" name="Forma 25"/>
            <p:cNvSpPr/>
            <p:nvPr/>
          </p:nvSpPr>
          <p:spPr>
            <a:xfrm>
              <a:off x="4526280" y="4617720"/>
              <a:ext cx="128016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RDW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5806440" y="4617720"/>
              <a:ext cx="173736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12–14 %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7543800" y="4617720"/>
              <a:ext cx="210312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relevancia clínica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9646920" y="4617720"/>
              <a:ext cx="228600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 heterogénea / anisocitosis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30" name="Eritrocitos resumen"/>
          <p:cNvGrpSpPr/>
          <p:nvPr/>
        </p:nvGrpSpPr>
        <p:grpSpPr>
          <a:xfrm>
            <a:off x="457200" y="1188720"/>
            <a:ext cx="3749040" cy="2980944"/>
            <a:chOff x="457200" y="1188720"/>
            <a:chExt cx="3749040" cy="2980944"/>
          </a:xfrm>
        </p:grpSpPr>
        <p:sp>
          <p:nvSpPr>
            <p:cNvPr id="31" name="GR r1"/>
            <p:cNvSpPr/>
            <p:nvPr/>
          </p:nvSpPr>
          <p:spPr>
            <a:xfrm>
              <a:off x="457200" y="1371600"/>
              <a:ext cx="1005840" cy="100584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2" name="GR r2"/>
            <p:cNvSpPr/>
            <p:nvPr/>
          </p:nvSpPr>
          <p:spPr>
            <a:xfrm>
              <a:off x="1645920" y="1280160"/>
              <a:ext cx="1325880" cy="13258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3" name="GR r3"/>
            <p:cNvSpPr/>
            <p:nvPr/>
          </p:nvSpPr>
          <p:spPr>
            <a:xfrm>
              <a:off x="3063240" y="1188720"/>
              <a:ext cx="1143000" cy="1143000"/>
            </a:xfrm>
            <a:prstGeom prst="ellipse">
              <a:avLst/>
            </a:prstGeom>
            <a:gradFill rotWithShape="1">
              <a:gsLst>
                <a:gs pos="0">
                  <a:srgbClr val="E35D52"/>
                </a:gs>
                <a:gs pos="55000">
                  <a:srgbClr val="B8261C"/>
                </a:gs>
                <a:gs pos="100000">
                  <a:srgbClr val="6E1510"/>
                </a:gs>
              </a:gsLst>
              <a:path path="circle">
                <a:fillToRect l="38000" t="32000" r="62000" b="68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4" name="Perfil r"/>
            <p:cNvSpPr/>
            <p:nvPr/>
          </p:nvSpPr>
          <p:spPr>
            <a:xfrm>
              <a:off x="548640" y="3017520"/>
              <a:ext cx="3200400" cy="115214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500"/>
                  </a:moveTo>
                  <a:cubicBezTo>
                    <a:pt x="0" y="425"/>
                    <a:pt x="34" y="233"/>
                    <a:pt x="60" y="180"/>
                  </a:cubicBezTo>
                  <a:cubicBezTo>
                    <a:pt x="85" y="126"/>
                    <a:pt x="182" y="47"/>
                    <a:pt x="220" y="40"/>
                  </a:cubicBezTo>
                  <a:cubicBezTo>
                    <a:pt x="257" y="33"/>
                    <a:pt x="347" y="89"/>
                    <a:pt x="380" y="120"/>
                  </a:cubicBezTo>
                  <a:cubicBezTo>
                    <a:pt x="412" y="150"/>
                    <a:pt x="472" y="300"/>
                    <a:pt x="500" y="300"/>
                  </a:cubicBezTo>
                  <a:cubicBezTo>
                    <a:pt x="528" y="300"/>
                    <a:pt x="587" y="150"/>
                    <a:pt x="620" y="120"/>
                  </a:cubicBezTo>
                  <a:cubicBezTo>
                    <a:pt x="652" y="89"/>
                    <a:pt x="742" y="33"/>
                    <a:pt x="780" y="40"/>
                  </a:cubicBezTo>
                  <a:cubicBezTo>
                    <a:pt x="817" y="47"/>
                    <a:pt x="914" y="126"/>
                    <a:pt x="940" y="180"/>
                  </a:cubicBezTo>
                  <a:cubicBezTo>
                    <a:pt x="965" y="233"/>
                    <a:pt x="1000" y="425"/>
                    <a:pt x="1000" y="500"/>
                  </a:cubicBezTo>
                  <a:cubicBezTo>
                    <a:pt x="1000" y="574"/>
                    <a:pt x="965" y="766"/>
                    <a:pt x="940" y="820"/>
                  </a:cubicBezTo>
                  <a:cubicBezTo>
                    <a:pt x="914" y="873"/>
                    <a:pt x="817" y="953"/>
                    <a:pt x="780" y="960"/>
                  </a:cubicBezTo>
                  <a:cubicBezTo>
                    <a:pt x="742" y="967"/>
                    <a:pt x="652" y="910"/>
                    <a:pt x="620" y="880"/>
                  </a:cubicBezTo>
                  <a:cubicBezTo>
                    <a:pt x="587" y="849"/>
                    <a:pt x="528" y="700"/>
                    <a:pt x="500" y="700"/>
                  </a:cubicBezTo>
                  <a:cubicBezTo>
                    <a:pt x="472" y="700"/>
                    <a:pt x="412" y="849"/>
                    <a:pt x="380" y="880"/>
                  </a:cubicBezTo>
                  <a:cubicBezTo>
                    <a:pt x="347" y="910"/>
                    <a:pt x="257" y="967"/>
                    <a:pt x="220" y="960"/>
                  </a:cubicBezTo>
                  <a:cubicBezTo>
                    <a:pt x="182" y="953"/>
                    <a:pt x="85" y="873"/>
                    <a:pt x="60" y="820"/>
                  </a:cubicBezTo>
                  <a:cubicBezTo>
                    <a:pt x="34" y="766"/>
                    <a:pt x="0" y="574"/>
                    <a:pt x="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</p:grpSp>
      <p:sp>
        <p:nvSpPr>
          <p:cNvPr id="35" name="Cuatro preguntas"/>
          <p:cNvSpPr/>
          <p:nvPr/>
        </p:nvSpPr>
        <p:spPr>
          <a:xfrm>
            <a:off x="365760" y="4754880"/>
            <a:ext cx="3931920" cy="16916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Tamaño (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VCM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), contenido (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HCM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), concentración (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CHCM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 y dispersión (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RDW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lang="es-AR" sz="20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RESUMEN DE LOS ÍNDICES HEMATIMÉTRICOS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Morfología 0"/>
          <p:cNvGrpSpPr/>
          <p:nvPr/>
        </p:nvGrpSpPr>
        <p:grpSpPr>
          <a:xfrm>
            <a:off x="365760" y="1097280"/>
            <a:ext cx="2560320" cy="5349240"/>
            <a:chOff x="365760" y="1097280"/>
            <a:chExt cx="2560320" cy="534924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2560320" cy="53492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7" name="GR morf 0"/>
            <p:cNvSpPr/>
            <p:nvPr/>
          </p:nvSpPr>
          <p:spPr>
            <a:xfrm>
              <a:off x="1028700" y="1943100"/>
              <a:ext cx="1234440" cy="123444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8" name="Rótulo Microcítica hipocrómic"/>
            <p:cNvSpPr/>
            <p:nvPr/>
          </p:nvSpPr>
          <p:spPr>
            <a:xfrm>
              <a:off x="457200" y="3794760"/>
              <a:ext cx="2377440" cy="731520"/>
            </a:xfrm>
            <a:prstGeom prst="rect">
              <a:avLst/>
            </a:prstGeom>
            <a:solidFill>
              <a:srgbClr val="D8E6F2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Microcítica hipocrómica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9" name="Forma 8"/>
            <p:cNvSpPr txBox="1"/>
            <p:nvPr/>
          </p:nvSpPr>
          <p:spPr>
            <a:xfrm>
              <a:off x="457200" y="461772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 &lt; 80 fL · HCM &lt; 27 pg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0" name="Forma 9"/>
            <p:cNvSpPr txBox="1"/>
            <p:nvPr/>
          </p:nvSpPr>
          <p:spPr>
            <a:xfrm>
              <a:off x="502920" y="5120640"/>
              <a:ext cx="228600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Síntesis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deficiente de hemoglobina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1" name="Morfología 1"/>
          <p:cNvGrpSpPr/>
          <p:nvPr/>
        </p:nvGrpSpPr>
        <p:grpSpPr>
          <a:xfrm>
            <a:off x="3063240" y="1097280"/>
            <a:ext cx="2560320" cy="5349240"/>
            <a:chOff x="3063240" y="1097280"/>
            <a:chExt cx="2560320" cy="5349240"/>
          </a:xfrm>
        </p:grpSpPr>
        <p:sp>
          <p:nvSpPr>
            <p:cNvPr id="12" name="Forma 11"/>
            <p:cNvSpPr/>
            <p:nvPr/>
          </p:nvSpPr>
          <p:spPr>
            <a:xfrm>
              <a:off x="3063240" y="1097280"/>
              <a:ext cx="2560320" cy="53492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3" name="GR morf 1"/>
            <p:cNvSpPr/>
            <p:nvPr/>
          </p:nvSpPr>
          <p:spPr>
            <a:xfrm>
              <a:off x="3543300" y="1760220"/>
              <a:ext cx="1600200" cy="160020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4" name="Rótulo Normocítica normocrómi"/>
            <p:cNvSpPr/>
            <p:nvPr/>
          </p:nvSpPr>
          <p:spPr>
            <a:xfrm>
              <a:off x="3154680" y="3794760"/>
              <a:ext cx="2377440" cy="731520"/>
            </a:xfrm>
            <a:prstGeom prst="rect">
              <a:avLst/>
            </a:prstGeom>
            <a:solidFill>
              <a:srgbClr val="D5F5E3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Normocítica normocrómica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5" name="Forma 14"/>
            <p:cNvSpPr txBox="1"/>
            <p:nvPr/>
          </p:nvSpPr>
          <p:spPr>
            <a:xfrm>
              <a:off x="3154680" y="461772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 80–100 fL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Forma 15"/>
            <p:cNvSpPr txBox="1"/>
            <p:nvPr/>
          </p:nvSpPr>
          <p:spPr>
            <a:xfrm>
              <a:off x="3200400" y="5120640"/>
              <a:ext cx="228600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Tamaño normal; menos eritrocitos o menos Hb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7" name="Morfología 2"/>
          <p:cNvGrpSpPr/>
          <p:nvPr/>
        </p:nvGrpSpPr>
        <p:grpSpPr>
          <a:xfrm>
            <a:off x="5760720" y="1097280"/>
            <a:ext cx="2560320" cy="5349240"/>
            <a:chOff x="5760720" y="1097280"/>
            <a:chExt cx="2560320" cy="5349240"/>
          </a:xfrm>
        </p:grpSpPr>
        <p:sp>
          <p:nvSpPr>
            <p:cNvPr id="18" name="Forma 17"/>
            <p:cNvSpPr/>
            <p:nvPr/>
          </p:nvSpPr>
          <p:spPr>
            <a:xfrm>
              <a:off x="5760720" y="1097280"/>
              <a:ext cx="2560320" cy="53492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9" name="GR morf 2"/>
            <p:cNvSpPr/>
            <p:nvPr/>
          </p:nvSpPr>
          <p:spPr>
            <a:xfrm>
              <a:off x="6012180" y="1531620"/>
              <a:ext cx="2057400" cy="205740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0" name="Rótulo Macrocítica"/>
            <p:cNvSpPr/>
            <p:nvPr/>
          </p:nvSpPr>
          <p:spPr>
            <a:xfrm>
              <a:off x="5852160" y="3794760"/>
              <a:ext cx="2377440" cy="731520"/>
            </a:xfrm>
            <a:prstGeom prst="rect">
              <a:avLst/>
            </a:prstGeom>
            <a:solidFill>
              <a:srgbClr val="FDE4E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Macrocítica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1" name="Forma 20"/>
            <p:cNvSpPr txBox="1"/>
            <p:nvPr/>
          </p:nvSpPr>
          <p:spPr>
            <a:xfrm>
              <a:off x="5852160" y="4617720"/>
              <a:ext cx="23774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 &gt; 100 fL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2" name="Forma 21"/>
            <p:cNvSpPr txBox="1"/>
            <p:nvPr/>
          </p:nvSpPr>
          <p:spPr>
            <a:xfrm>
              <a:off x="5897880" y="5120640"/>
              <a:ext cx="228600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Maduración nuclear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defectuosa</a:t>
              </a:r>
              <a:endParaRPr lang="es-AR" sz="1450" dirty="0">
                <a:latin typeface="Calibri"/>
              </a:endParaRPr>
            </a:p>
          </p:txBody>
        </p:sp>
      </p:grpSp>
      <p:sp>
        <p:nvSpPr>
          <p:cNvPr id="23" name="Rótulo escala"/>
          <p:cNvSpPr/>
          <p:nvPr/>
        </p:nvSpPr>
        <p:spPr>
          <a:xfrm>
            <a:off x="457200" y="1234440"/>
            <a:ext cx="1160681" cy="25146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misma escala</a:t>
            </a:r>
            <a:endParaRPr lang="es-AR" sz="1200" dirty="0">
              <a:latin typeface="Calibri"/>
            </a:endParaRPr>
          </a:p>
        </p:txBody>
      </p:sp>
      <p:grpSp>
        <p:nvGrpSpPr>
          <p:cNvPr id="24" name="Criterio morfológico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5" name="Forma 24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basa en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tamaño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(VCM) y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contenido de Hb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(HCM): cada categoría sugiere un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mecanismo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un estudio siguiente.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1097280"/>
              <a:ext cx="102921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CRITERIO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CLASIFICACIÓN MORFOLÓGICA: COMPARACIÓN A ESCALA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6" name="Microcítica raíz"/>
          <p:cNvSpPr/>
          <p:nvPr/>
        </p:nvSpPr>
        <p:spPr>
          <a:xfrm>
            <a:off x="3246120" y="1097280"/>
            <a:ext cx="5943600" cy="9144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VCM &lt; 80 fL · HCM &lt; 27 pg → síntesis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deficiente de hemoglobina</a:t>
            </a:r>
            <a:endParaRPr lang="es-AR" sz="2050" dirty="0">
              <a:latin typeface="Calibri"/>
            </a:endParaRPr>
          </a:p>
        </p:txBody>
      </p:sp>
      <p:sp>
        <p:nvSpPr>
          <p:cNvPr id="7" name="Ferremia"/>
          <p:cNvSpPr/>
          <p:nvPr/>
        </p:nvSpPr>
        <p:spPr>
          <a:xfrm>
            <a:off x="5074920" y="2331720"/>
            <a:ext cx="2286000" cy="59436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Ferremia</a:t>
            </a:r>
            <a:endParaRPr lang="es-AR" sz="1800" dirty="0">
              <a:latin typeface="Calibri"/>
            </a:endParaRPr>
          </a:p>
        </p:txBody>
      </p:sp>
      <p:grpSp>
        <p:nvGrpSpPr>
          <p:cNvPr id="8" name="Rama Baja"/>
          <p:cNvGrpSpPr/>
          <p:nvPr/>
        </p:nvGrpSpPr>
        <p:grpSpPr>
          <a:xfrm>
            <a:off x="3246120" y="2971800"/>
            <a:ext cx="2971800" cy="3474720"/>
            <a:chOff x="3246120" y="2971800"/>
            <a:chExt cx="2971800" cy="3474720"/>
          </a:xfrm>
        </p:grpSpPr>
        <p:sp>
          <p:nvSpPr>
            <p:cNvPr id="9" name="Flecha 8_2"/>
            <p:cNvSpPr/>
            <p:nvPr/>
          </p:nvSpPr>
          <p:spPr>
            <a:xfrm>
              <a:off x="4206240" y="2971800"/>
              <a:ext cx="2011680" cy="548640"/>
            </a:xfrm>
            <a:custGeom>
              <a:avLst/>
              <a:gdLst/>
              <a:ahLst/>
              <a:cxnLst/>
              <a:rect l="0" t="0" r="r" b="b"/>
              <a:pathLst>
                <a:path w="2200" h="600" fill="none">
                  <a:moveTo>
                    <a:pt x="2200" y="0"/>
                  </a:moveTo>
                  <a:lnTo>
                    <a:pt x="0" y="6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0" name="Rótulo Baja"/>
            <p:cNvSpPr/>
            <p:nvPr/>
          </p:nvSpPr>
          <p:spPr>
            <a:xfrm>
              <a:off x="3474720" y="3566160"/>
              <a:ext cx="1463040" cy="314325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Baja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1" name="Forma 11"/>
            <p:cNvSpPr/>
            <p:nvPr/>
          </p:nvSpPr>
          <p:spPr>
            <a:xfrm>
              <a:off x="3246120" y="4114800"/>
              <a:ext cx="1920240" cy="233172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 ferropénica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deficiencia de hierro; la más frecuente del mundo.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2" name="Rama Normal"/>
          <p:cNvGrpSpPr/>
          <p:nvPr/>
        </p:nvGrpSpPr>
        <p:grpSpPr>
          <a:xfrm>
            <a:off x="5257800" y="2971800"/>
            <a:ext cx="1920240" cy="3474720"/>
            <a:chOff x="5257800" y="2971800"/>
            <a:chExt cx="1920240" cy="3474720"/>
          </a:xfrm>
        </p:grpSpPr>
        <p:sp>
          <p:nvSpPr>
            <p:cNvPr id="13" name="Flecha 13_2"/>
            <p:cNvSpPr/>
            <p:nvPr/>
          </p:nvSpPr>
          <p:spPr>
            <a:xfrm>
              <a:off x="6217920" y="2971800"/>
              <a:ext cx="9144" cy="548640"/>
            </a:xfrm>
            <a:custGeom>
              <a:avLst/>
              <a:gdLst/>
              <a:ahLst/>
              <a:cxnLst/>
              <a:rect l="0" t="0" r="r" b="b"/>
              <a:pathLst>
                <a:path w="10" h="600" fill="none">
                  <a:moveTo>
                    <a:pt x="0" y="0"/>
                  </a:moveTo>
                  <a:lnTo>
                    <a:pt x="0" y="6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4" name="Rótulo Normal"/>
            <p:cNvSpPr/>
            <p:nvPr/>
          </p:nvSpPr>
          <p:spPr>
            <a:xfrm>
              <a:off x="5486400" y="3566160"/>
              <a:ext cx="1463040" cy="314325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5" name="Forma 16"/>
            <p:cNvSpPr/>
            <p:nvPr/>
          </p:nvSpPr>
          <p:spPr>
            <a:xfrm>
              <a:off x="5257800" y="4114800"/>
              <a:ext cx="1920240" cy="23317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Talasemia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defecto genético en la síntesis de cadenas de globina.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6" name="Rama Alta"/>
          <p:cNvGrpSpPr/>
          <p:nvPr/>
        </p:nvGrpSpPr>
        <p:grpSpPr>
          <a:xfrm>
            <a:off x="6217920" y="2971800"/>
            <a:ext cx="2971800" cy="3474720"/>
            <a:chOff x="6217920" y="2971800"/>
            <a:chExt cx="2971800" cy="3474720"/>
          </a:xfrm>
        </p:grpSpPr>
        <p:sp>
          <p:nvSpPr>
            <p:cNvPr id="17" name="Flecha 18_2"/>
            <p:cNvSpPr/>
            <p:nvPr/>
          </p:nvSpPr>
          <p:spPr>
            <a:xfrm>
              <a:off x="6217920" y="2971800"/>
              <a:ext cx="2011680" cy="548640"/>
            </a:xfrm>
            <a:custGeom>
              <a:avLst/>
              <a:gdLst/>
              <a:ahLst/>
              <a:cxnLst/>
              <a:rect l="0" t="0" r="r" b="b"/>
              <a:pathLst>
                <a:path w="2200" h="600" fill="none">
                  <a:moveTo>
                    <a:pt x="0" y="0"/>
                  </a:moveTo>
                  <a:lnTo>
                    <a:pt x="2200" y="6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8" name="Rótulo Alta"/>
            <p:cNvSpPr/>
            <p:nvPr/>
          </p:nvSpPr>
          <p:spPr>
            <a:xfrm>
              <a:off x="7498080" y="3566160"/>
              <a:ext cx="1463040" cy="314325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9" name="Forma 21"/>
            <p:cNvSpPr/>
            <p:nvPr/>
          </p:nvSpPr>
          <p:spPr>
            <a:xfrm>
              <a:off x="7269480" y="4114800"/>
              <a:ext cx="1920240" cy="233172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 sideroblástica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falla en la incorporación del hierro al hemo.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0" name="GR microcíticos"/>
          <p:cNvGrpSpPr/>
          <p:nvPr/>
        </p:nvGrpSpPr>
        <p:grpSpPr>
          <a:xfrm>
            <a:off x="411480" y="1280160"/>
            <a:ext cx="2148840" cy="3840480"/>
            <a:chOff x="411480" y="1280160"/>
            <a:chExt cx="2148840" cy="3840480"/>
          </a:xfrm>
        </p:grpSpPr>
        <p:sp>
          <p:nvSpPr>
            <p:cNvPr id="21" name="GR micro 0"/>
            <p:cNvSpPr/>
            <p:nvPr/>
          </p:nvSpPr>
          <p:spPr>
            <a:xfrm>
              <a:off x="411480" y="1280160"/>
              <a:ext cx="914400" cy="9144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2" name="GR micro 1"/>
            <p:cNvSpPr/>
            <p:nvPr/>
          </p:nvSpPr>
          <p:spPr>
            <a:xfrm>
              <a:off x="1645920" y="1280160"/>
              <a:ext cx="914400" cy="9144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3" name="GR micro 2"/>
            <p:cNvSpPr/>
            <p:nvPr/>
          </p:nvSpPr>
          <p:spPr>
            <a:xfrm>
              <a:off x="411480" y="2743200"/>
              <a:ext cx="914400" cy="9144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4" name="GR micro 3"/>
            <p:cNvSpPr/>
            <p:nvPr/>
          </p:nvSpPr>
          <p:spPr>
            <a:xfrm>
              <a:off x="1645920" y="2743200"/>
              <a:ext cx="914400" cy="9144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5" name="GR micro 4"/>
            <p:cNvSpPr/>
            <p:nvPr/>
          </p:nvSpPr>
          <p:spPr>
            <a:xfrm>
              <a:off x="411480" y="4206240"/>
              <a:ext cx="914400" cy="9144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6" name="GR micro 5"/>
            <p:cNvSpPr/>
            <p:nvPr/>
          </p:nvSpPr>
          <p:spPr>
            <a:xfrm>
              <a:off x="1645920" y="4206240"/>
              <a:ext cx="914400" cy="91440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sp>
        <p:nvSpPr>
          <p:cNvPr id="27" name="Nota talasemia"/>
          <p:cNvSpPr/>
          <p:nvPr/>
        </p:nvSpPr>
        <p:spPr>
          <a:xfrm>
            <a:off x="9418320" y="1097280"/>
            <a:ext cx="2514600" cy="5349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Talasemia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defectos en los genes de las cadenas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alfa o beta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Muy prevalente en La Rioja; muchas personas no lo saben.</a:t>
            </a:r>
            <a:endParaRPr lang="es-AR" sz="18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ANEMIAS MICROCÍTICAS: LA GUÍA ES EL HIERRO</a:t>
            </a:r>
            <a:endParaRPr lang="es-AR" sz="2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7" grpId="0" animBg="1"/>
    </p:bld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Rama macrocítica"/>
          <p:cNvGrpSpPr/>
          <p:nvPr/>
        </p:nvGrpSpPr>
        <p:grpSpPr>
          <a:xfrm>
            <a:off x="365760" y="1097280"/>
            <a:ext cx="5532120" cy="3520440"/>
            <a:chOff x="365760" y="1097280"/>
            <a:chExt cx="5532120" cy="352044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5532120" cy="123444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Macrocítica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(VCM &gt; 100 fL):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maduración nuclear defectuosa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déficit de cofactores de la síntesis de ADN (B</a:t>
              </a:r>
              <a:r>
                <a:rPr lang="es-AR" sz="18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ácido fólico).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7" name="Flecha 6_2"/>
            <p:cNvSpPr/>
            <p:nvPr/>
          </p:nvSpPr>
          <p:spPr>
            <a:xfrm>
              <a:off x="1737360" y="2377440"/>
              <a:ext cx="9144" cy="365760"/>
            </a:xfrm>
            <a:custGeom>
              <a:avLst/>
              <a:gdLst/>
              <a:ahLst/>
              <a:cxnLst/>
              <a:rect l="0" t="0" r="r" b="b"/>
              <a:pathLst>
                <a:path w="10" h="399" fill="none">
                  <a:moveTo>
                    <a:pt x="0" y="0"/>
                  </a:moveTo>
                  <a:lnTo>
                    <a:pt x="0" y="399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lecha 8_2"/>
            <p:cNvSpPr/>
            <p:nvPr/>
          </p:nvSpPr>
          <p:spPr>
            <a:xfrm>
              <a:off x="4572000" y="2377440"/>
              <a:ext cx="9144" cy="365760"/>
            </a:xfrm>
            <a:custGeom>
              <a:avLst/>
              <a:gdLst/>
              <a:ahLst/>
              <a:cxnLst/>
              <a:rect l="0" t="0" r="r" b="b"/>
              <a:pathLst>
                <a:path w="10" h="399" fill="none">
                  <a:moveTo>
                    <a:pt x="0" y="0"/>
                  </a:moveTo>
                  <a:lnTo>
                    <a:pt x="0" y="399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9" name="Forma 10"/>
            <p:cNvSpPr/>
            <p:nvPr/>
          </p:nvSpPr>
          <p:spPr>
            <a:xfrm>
              <a:off x="365760" y="2788920"/>
              <a:ext cx="2743200" cy="1828800"/>
            </a:xfrm>
            <a:prstGeom prst="roundRect">
              <a:avLst>
                <a:gd name="adj" fmla="val 9000"/>
              </a:avLst>
            </a:prstGeom>
            <a:solidFill>
              <a:srgbClr val="FDE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megaloblastos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déficit de B</a:t>
              </a:r>
              <a:r>
                <a:rPr lang="es-AR" sz="18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o ácido fólico → anemia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megaloblástica / perniciosa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0" name="Forma 11"/>
            <p:cNvSpPr/>
            <p:nvPr/>
          </p:nvSpPr>
          <p:spPr>
            <a:xfrm>
              <a:off x="3246120" y="2788920"/>
              <a:ext cx="2651760" cy="182880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megaloblastos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hipotiroidismo, hepatopatías, alcoholismo, drogas.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1" name="Megaloblasto rama"/>
          <p:cNvGrpSpPr/>
          <p:nvPr/>
        </p:nvGrpSpPr>
        <p:grpSpPr>
          <a:xfrm>
            <a:off x="1463040" y="4846320"/>
            <a:ext cx="1463040" cy="1463040"/>
            <a:chOff x="1463040" y="4846320"/>
            <a:chExt cx="1463040" cy="1463040"/>
          </a:xfrm>
        </p:grpSpPr>
        <p:sp>
          <p:nvSpPr>
            <p:cNvPr id="12" name="Citoplasma"/>
            <p:cNvSpPr/>
            <p:nvPr/>
          </p:nvSpPr>
          <p:spPr>
            <a:xfrm>
              <a:off x="1463040" y="4846320"/>
              <a:ext cx="1463040" cy="1463040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8E3A59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3" name="Núcleo"/>
            <p:cNvSpPr/>
            <p:nvPr/>
          </p:nvSpPr>
          <p:spPr>
            <a:xfrm>
              <a:off x="1865376" y="5248656"/>
              <a:ext cx="658368" cy="658368"/>
            </a:xfrm>
            <a:prstGeom prst="ellipse">
              <a:avLst/>
            </a:prstGeom>
            <a:gradFill rotWithShape="1">
              <a:gsLst>
                <a:gs pos="0">
                  <a:srgbClr val="B39DDB"/>
                </a:gs>
                <a:gs pos="100000">
                  <a:srgbClr val="5E35B1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311B92"/>
              </a:solidFill>
              <a:round/>
            </a:ln>
          </p:spPr>
        </p:sp>
        <p:sp>
          <p:nvSpPr>
            <p:cNvPr id="14" name="Forma 15"/>
            <p:cNvSpPr/>
            <p:nvPr/>
          </p:nvSpPr>
          <p:spPr>
            <a:xfrm>
              <a:off x="1865376" y="5248656"/>
              <a:ext cx="658368" cy="65836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68" y="613"/>
                  </a:moveTo>
                  <a:cubicBezTo>
                    <a:pt x="568" y="630"/>
                    <a:pt x="554" y="644"/>
                    <a:pt x="537" y="644"/>
                  </a:cubicBezTo>
                  <a:cubicBezTo>
                    <a:pt x="519" y="644"/>
                    <a:pt x="506" y="630"/>
                    <a:pt x="506" y="613"/>
                  </a:cubicBezTo>
                  <a:cubicBezTo>
                    <a:pt x="506" y="595"/>
                    <a:pt x="519" y="582"/>
                    <a:pt x="537" y="582"/>
                  </a:cubicBezTo>
                  <a:cubicBezTo>
                    <a:pt x="554" y="582"/>
                    <a:pt x="568" y="595"/>
                    <a:pt x="568" y="613"/>
                  </a:cubicBezTo>
                  <a:close/>
                  <a:moveTo>
                    <a:pt x="461" y="370"/>
                  </a:moveTo>
                  <a:cubicBezTo>
                    <a:pt x="461" y="383"/>
                    <a:pt x="449" y="395"/>
                    <a:pt x="436" y="395"/>
                  </a:cubicBezTo>
                  <a:cubicBezTo>
                    <a:pt x="422" y="395"/>
                    <a:pt x="411" y="383"/>
                    <a:pt x="411" y="370"/>
                  </a:cubicBezTo>
                  <a:cubicBezTo>
                    <a:pt x="411" y="356"/>
                    <a:pt x="422" y="345"/>
                    <a:pt x="436" y="345"/>
                  </a:cubicBezTo>
                  <a:cubicBezTo>
                    <a:pt x="449" y="345"/>
                    <a:pt x="461" y="356"/>
                    <a:pt x="461" y="370"/>
                  </a:cubicBezTo>
                  <a:close/>
                  <a:moveTo>
                    <a:pt x="676" y="303"/>
                  </a:moveTo>
                  <a:cubicBezTo>
                    <a:pt x="676" y="319"/>
                    <a:pt x="662" y="333"/>
                    <a:pt x="646" y="333"/>
                  </a:cubicBezTo>
                  <a:cubicBezTo>
                    <a:pt x="629" y="333"/>
                    <a:pt x="616" y="319"/>
                    <a:pt x="616" y="303"/>
                  </a:cubicBezTo>
                  <a:cubicBezTo>
                    <a:pt x="616" y="286"/>
                    <a:pt x="629" y="273"/>
                    <a:pt x="646" y="273"/>
                  </a:cubicBezTo>
                  <a:cubicBezTo>
                    <a:pt x="662" y="273"/>
                    <a:pt x="676" y="286"/>
                    <a:pt x="676" y="303"/>
                  </a:cubicBezTo>
                  <a:close/>
                  <a:moveTo>
                    <a:pt x="596" y="537"/>
                  </a:moveTo>
                  <a:cubicBezTo>
                    <a:pt x="596" y="558"/>
                    <a:pt x="578" y="576"/>
                    <a:pt x="557" y="576"/>
                  </a:cubicBezTo>
                  <a:cubicBezTo>
                    <a:pt x="535" y="576"/>
                    <a:pt x="518" y="558"/>
                    <a:pt x="518" y="537"/>
                  </a:cubicBezTo>
                  <a:cubicBezTo>
                    <a:pt x="518" y="515"/>
                    <a:pt x="535" y="498"/>
                    <a:pt x="557" y="498"/>
                  </a:cubicBezTo>
                  <a:cubicBezTo>
                    <a:pt x="578" y="498"/>
                    <a:pt x="596" y="515"/>
                    <a:pt x="596" y="537"/>
                  </a:cubicBezTo>
                  <a:close/>
                  <a:moveTo>
                    <a:pt x="378" y="471"/>
                  </a:moveTo>
                  <a:cubicBezTo>
                    <a:pt x="378" y="491"/>
                    <a:pt x="361" y="508"/>
                    <a:pt x="341" y="508"/>
                  </a:cubicBezTo>
                  <a:cubicBezTo>
                    <a:pt x="320" y="508"/>
                    <a:pt x="304" y="491"/>
                    <a:pt x="304" y="471"/>
                  </a:cubicBezTo>
                  <a:cubicBezTo>
                    <a:pt x="304" y="450"/>
                    <a:pt x="320" y="434"/>
                    <a:pt x="341" y="434"/>
                  </a:cubicBezTo>
                  <a:cubicBezTo>
                    <a:pt x="361" y="434"/>
                    <a:pt x="378" y="450"/>
                    <a:pt x="378" y="471"/>
                  </a:cubicBezTo>
                  <a:close/>
                  <a:moveTo>
                    <a:pt x="636" y="658"/>
                  </a:moveTo>
                  <a:cubicBezTo>
                    <a:pt x="636" y="669"/>
                    <a:pt x="626" y="679"/>
                    <a:pt x="615" y="679"/>
                  </a:cubicBezTo>
                  <a:cubicBezTo>
                    <a:pt x="603" y="679"/>
                    <a:pt x="594" y="669"/>
                    <a:pt x="594" y="658"/>
                  </a:cubicBezTo>
                  <a:cubicBezTo>
                    <a:pt x="594" y="646"/>
                    <a:pt x="603" y="637"/>
                    <a:pt x="615" y="637"/>
                  </a:cubicBezTo>
                  <a:cubicBezTo>
                    <a:pt x="626" y="637"/>
                    <a:pt x="636" y="646"/>
                    <a:pt x="636" y="658"/>
                  </a:cubicBezTo>
                  <a:close/>
                  <a:moveTo>
                    <a:pt x="697" y="494"/>
                  </a:moveTo>
                  <a:cubicBezTo>
                    <a:pt x="697" y="507"/>
                    <a:pt x="685" y="519"/>
                    <a:pt x="672" y="519"/>
                  </a:cubicBezTo>
                  <a:cubicBezTo>
                    <a:pt x="658" y="519"/>
                    <a:pt x="647" y="507"/>
                    <a:pt x="647" y="494"/>
                  </a:cubicBezTo>
                  <a:cubicBezTo>
                    <a:pt x="647" y="480"/>
                    <a:pt x="658" y="469"/>
                    <a:pt x="672" y="469"/>
                  </a:cubicBezTo>
                  <a:cubicBezTo>
                    <a:pt x="685" y="469"/>
                    <a:pt x="697" y="480"/>
                    <a:pt x="697" y="494"/>
                  </a:cubicBezTo>
                  <a:close/>
                  <a:moveTo>
                    <a:pt x="693" y="531"/>
                  </a:moveTo>
                  <a:cubicBezTo>
                    <a:pt x="693" y="549"/>
                    <a:pt x="678" y="564"/>
                    <a:pt x="660" y="564"/>
                  </a:cubicBezTo>
                  <a:cubicBezTo>
                    <a:pt x="641" y="564"/>
                    <a:pt x="627" y="549"/>
                    <a:pt x="627" y="531"/>
                  </a:cubicBezTo>
                  <a:cubicBezTo>
                    <a:pt x="627" y="512"/>
                    <a:pt x="641" y="498"/>
                    <a:pt x="660" y="498"/>
                  </a:cubicBezTo>
                  <a:cubicBezTo>
                    <a:pt x="678" y="498"/>
                    <a:pt x="693" y="512"/>
                    <a:pt x="693" y="531"/>
                  </a:cubicBezTo>
                  <a:close/>
                  <a:moveTo>
                    <a:pt x="407" y="386"/>
                  </a:moveTo>
                  <a:cubicBezTo>
                    <a:pt x="407" y="400"/>
                    <a:pt x="394" y="413"/>
                    <a:pt x="380" y="413"/>
                  </a:cubicBezTo>
                  <a:cubicBezTo>
                    <a:pt x="365" y="413"/>
                    <a:pt x="353" y="400"/>
                    <a:pt x="353" y="386"/>
                  </a:cubicBezTo>
                  <a:cubicBezTo>
                    <a:pt x="353" y="371"/>
                    <a:pt x="365" y="359"/>
                    <a:pt x="380" y="359"/>
                  </a:cubicBezTo>
                  <a:cubicBezTo>
                    <a:pt x="394" y="359"/>
                    <a:pt x="407" y="371"/>
                    <a:pt x="407" y="386"/>
                  </a:cubicBezTo>
                  <a:close/>
                  <a:moveTo>
                    <a:pt x="350" y="356"/>
                  </a:moveTo>
                  <a:cubicBezTo>
                    <a:pt x="350" y="369"/>
                    <a:pt x="339" y="380"/>
                    <a:pt x="326" y="380"/>
                  </a:cubicBezTo>
                  <a:cubicBezTo>
                    <a:pt x="312" y="380"/>
                    <a:pt x="302" y="369"/>
                    <a:pt x="302" y="356"/>
                  </a:cubicBezTo>
                  <a:cubicBezTo>
                    <a:pt x="302" y="342"/>
                    <a:pt x="312" y="332"/>
                    <a:pt x="326" y="332"/>
                  </a:cubicBezTo>
                  <a:cubicBezTo>
                    <a:pt x="339" y="332"/>
                    <a:pt x="350" y="342"/>
                    <a:pt x="350" y="356"/>
                  </a:cubicBezTo>
                  <a:close/>
                  <a:moveTo>
                    <a:pt x="581" y="602"/>
                  </a:moveTo>
                  <a:cubicBezTo>
                    <a:pt x="581" y="614"/>
                    <a:pt x="571" y="624"/>
                    <a:pt x="559" y="624"/>
                  </a:cubicBezTo>
                  <a:cubicBezTo>
                    <a:pt x="546" y="624"/>
                    <a:pt x="537" y="614"/>
                    <a:pt x="537" y="602"/>
                  </a:cubicBezTo>
                  <a:cubicBezTo>
                    <a:pt x="537" y="589"/>
                    <a:pt x="546" y="580"/>
                    <a:pt x="559" y="580"/>
                  </a:cubicBezTo>
                  <a:cubicBezTo>
                    <a:pt x="571" y="580"/>
                    <a:pt x="581" y="589"/>
                    <a:pt x="581" y="602"/>
                  </a:cubicBezTo>
                  <a:close/>
                  <a:moveTo>
                    <a:pt x="728" y="652"/>
                  </a:moveTo>
                  <a:cubicBezTo>
                    <a:pt x="728" y="669"/>
                    <a:pt x="713" y="684"/>
                    <a:pt x="696" y="684"/>
                  </a:cubicBezTo>
                  <a:cubicBezTo>
                    <a:pt x="678" y="684"/>
                    <a:pt x="664" y="669"/>
                    <a:pt x="664" y="652"/>
                  </a:cubicBezTo>
                  <a:cubicBezTo>
                    <a:pt x="664" y="634"/>
                    <a:pt x="678" y="620"/>
                    <a:pt x="696" y="620"/>
                  </a:cubicBezTo>
                  <a:cubicBezTo>
                    <a:pt x="713" y="620"/>
                    <a:pt x="728" y="634"/>
                    <a:pt x="728" y="652"/>
                  </a:cubicBezTo>
                  <a:close/>
                  <a:moveTo>
                    <a:pt x="711" y="352"/>
                  </a:moveTo>
                  <a:cubicBezTo>
                    <a:pt x="711" y="368"/>
                    <a:pt x="698" y="381"/>
                    <a:pt x="682" y="381"/>
                  </a:cubicBezTo>
                  <a:cubicBezTo>
                    <a:pt x="665" y="381"/>
                    <a:pt x="653" y="368"/>
                    <a:pt x="653" y="352"/>
                  </a:cubicBezTo>
                  <a:cubicBezTo>
                    <a:pt x="653" y="335"/>
                    <a:pt x="665" y="323"/>
                    <a:pt x="682" y="323"/>
                  </a:cubicBezTo>
                  <a:cubicBezTo>
                    <a:pt x="698" y="323"/>
                    <a:pt x="711" y="335"/>
                    <a:pt x="711" y="352"/>
                  </a:cubicBezTo>
                  <a:close/>
                  <a:moveTo>
                    <a:pt x="431" y="645"/>
                  </a:moveTo>
                  <a:cubicBezTo>
                    <a:pt x="431" y="659"/>
                    <a:pt x="418" y="672"/>
                    <a:pt x="404" y="672"/>
                  </a:cubicBezTo>
                  <a:cubicBezTo>
                    <a:pt x="389" y="672"/>
                    <a:pt x="377" y="659"/>
                    <a:pt x="377" y="645"/>
                  </a:cubicBezTo>
                  <a:cubicBezTo>
                    <a:pt x="377" y="630"/>
                    <a:pt x="389" y="618"/>
                    <a:pt x="404" y="618"/>
                  </a:cubicBezTo>
                  <a:cubicBezTo>
                    <a:pt x="418" y="618"/>
                    <a:pt x="431" y="630"/>
                    <a:pt x="431" y="645"/>
                  </a:cubicBezTo>
                  <a:close/>
                </a:path>
              </a:pathLst>
            </a:custGeom>
            <a:solidFill>
              <a:srgbClr val="311B92"/>
            </a:solidFill>
            <a:ln>
              <a:noFill/>
            </a:ln>
          </p:spPr>
        </p:sp>
      </p:grpSp>
      <p:grpSp>
        <p:nvGrpSpPr>
          <p:cNvPr id="15" name="Rama normocítica"/>
          <p:cNvGrpSpPr/>
          <p:nvPr/>
        </p:nvGrpSpPr>
        <p:grpSpPr>
          <a:xfrm>
            <a:off x="6263640" y="1097280"/>
            <a:ext cx="5669280" cy="3520440"/>
            <a:chOff x="6263640" y="1097280"/>
            <a:chExt cx="5669280" cy="3520440"/>
          </a:xfrm>
        </p:grpSpPr>
        <p:sp>
          <p:nvSpPr>
            <p:cNvPr id="16" name="Forma 17"/>
            <p:cNvSpPr/>
            <p:nvPr/>
          </p:nvSpPr>
          <p:spPr>
            <a:xfrm>
              <a:off x="6263640" y="1097280"/>
              <a:ext cx="5669280" cy="1234440"/>
            </a:xfrm>
            <a:prstGeom prst="roundRect">
              <a:avLst>
                <a:gd name="adj" fmla="val 9000"/>
              </a:avLst>
            </a:prstGeom>
            <a:solidFill>
              <a:srgbClr val="D5F5E3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Normocítica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(VCM 80–100 fL): tamaño normal; disminución del número o de la Hb. Clave: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17" name="Flecha 18_2"/>
            <p:cNvSpPr/>
            <p:nvPr/>
          </p:nvSpPr>
          <p:spPr>
            <a:xfrm>
              <a:off x="7680960" y="2377440"/>
              <a:ext cx="9144" cy="365760"/>
            </a:xfrm>
            <a:custGeom>
              <a:avLst/>
              <a:gdLst/>
              <a:ahLst/>
              <a:cxnLst/>
              <a:rect l="0" t="0" r="r" b="b"/>
              <a:pathLst>
                <a:path w="10" h="399" fill="none">
                  <a:moveTo>
                    <a:pt x="0" y="0"/>
                  </a:moveTo>
                  <a:lnTo>
                    <a:pt x="0" y="399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8" name="Flecha 20_2"/>
            <p:cNvSpPr/>
            <p:nvPr/>
          </p:nvSpPr>
          <p:spPr>
            <a:xfrm>
              <a:off x="10515600" y="2377440"/>
              <a:ext cx="9144" cy="365760"/>
            </a:xfrm>
            <a:custGeom>
              <a:avLst/>
              <a:gdLst/>
              <a:ahLst/>
              <a:cxnLst/>
              <a:rect l="0" t="0" r="r" b="b"/>
              <a:pathLst>
                <a:path w="10" h="399" fill="none">
                  <a:moveTo>
                    <a:pt x="0" y="0"/>
                  </a:moveTo>
                  <a:lnTo>
                    <a:pt x="0" y="399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9" name="Forma 22"/>
            <p:cNvSpPr/>
            <p:nvPr/>
          </p:nvSpPr>
          <p:spPr>
            <a:xfrm>
              <a:off x="6263640" y="2788920"/>
              <a:ext cx="2743200" cy="182880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aumentados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hemorragia aguda o hemólisis →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regenerativa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0" name="Forma 23"/>
            <p:cNvSpPr/>
            <p:nvPr/>
          </p:nvSpPr>
          <p:spPr>
            <a:xfrm>
              <a:off x="9144000" y="2788920"/>
              <a:ext cx="2788920" cy="182880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 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normales/bajos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insuficiencia renal, enfermedad crónica, falla medular → 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arregenerativa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00" dirty="0">
                <a:latin typeface="Calibri"/>
              </a:endParaRPr>
            </a:p>
          </p:txBody>
        </p:sp>
      </p:grpSp>
      <p:grpSp>
        <p:nvGrpSpPr>
          <p:cNvPr id="21" name="Reticulocito rama"/>
          <p:cNvGrpSpPr/>
          <p:nvPr/>
        </p:nvGrpSpPr>
        <p:grpSpPr>
          <a:xfrm>
            <a:off x="7772400" y="4846320"/>
            <a:ext cx="1371600" cy="1371600"/>
            <a:chOff x="7772400" y="4846320"/>
            <a:chExt cx="1371600" cy="1371600"/>
          </a:xfrm>
        </p:grpSpPr>
        <p:sp>
          <p:nvSpPr>
            <p:cNvPr id="22" name="Cuerpo"/>
            <p:cNvSpPr/>
            <p:nvPr/>
          </p:nvSpPr>
          <p:spPr>
            <a:xfrm>
              <a:off x="7772400" y="4846320"/>
              <a:ext cx="1371600" cy="1371600"/>
            </a:xfrm>
            <a:prstGeom prst="ellipse">
              <a:avLst/>
            </a:prstGeom>
            <a:gradFill rotWithShape="1">
              <a:gsLst>
                <a:gs pos="0">
                  <a:srgbClr val="E3B4CF"/>
                </a:gs>
                <a:gs pos="30000">
                  <a:srgbClr val="E3B4CF"/>
                </a:gs>
                <a:gs pos="60000">
                  <a:srgbClr val="BB729D"/>
                </a:gs>
                <a:gs pos="100000">
                  <a:srgbClr val="723A5B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3" name="Forma 26"/>
            <p:cNvSpPr/>
            <p:nvPr/>
          </p:nvSpPr>
          <p:spPr>
            <a:xfrm>
              <a:off x="7772400" y="4846320"/>
              <a:ext cx="1371600" cy="137160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220" y="405"/>
                  </a:moveTo>
                  <a:cubicBezTo>
                    <a:pt x="320" y="285"/>
                    <a:pt x="420" y="525"/>
                    <a:pt x="520" y="375"/>
                  </a:cubicBezTo>
                </a:path>
                <a:path w="1000" h="1000" fill="none">
                  <a:moveTo>
                    <a:pt x="152" y="619"/>
                  </a:moveTo>
                  <a:cubicBezTo>
                    <a:pt x="252" y="499"/>
                    <a:pt x="352" y="739"/>
                    <a:pt x="452" y="589"/>
                  </a:cubicBezTo>
                </a:path>
                <a:path w="1000" h="1000" fill="none">
                  <a:moveTo>
                    <a:pt x="302" y="495"/>
                  </a:moveTo>
                  <a:cubicBezTo>
                    <a:pt x="402" y="375"/>
                    <a:pt x="502" y="615"/>
                    <a:pt x="602" y="465"/>
                  </a:cubicBezTo>
                </a:path>
                <a:path w="1000" h="1000" fill="none">
                  <a:moveTo>
                    <a:pt x="179" y="296"/>
                  </a:moveTo>
                  <a:cubicBezTo>
                    <a:pt x="279" y="176"/>
                    <a:pt x="379" y="416"/>
                    <a:pt x="479" y="266"/>
                  </a:cubicBezTo>
                </a:path>
                <a:path w="1000" h="1000" fill="none">
                  <a:moveTo>
                    <a:pt x="134" y="260"/>
                  </a:moveTo>
                  <a:cubicBezTo>
                    <a:pt x="234" y="140"/>
                    <a:pt x="334" y="380"/>
                    <a:pt x="434" y="230"/>
                  </a:cubicBezTo>
                </a:path>
                <a:path w="1000" h="1000" fill="none">
                  <a:moveTo>
                    <a:pt x="305" y="531"/>
                  </a:moveTo>
                  <a:cubicBezTo>
                    <a:pt x="405" y="411"/>
                    <a:pt x="505" y="651"/>
                    <a:pt x="605" y="501"/>
                  </a:cubicBezTo>
                </a:path>
              </a:pathLst>
            </a:custGeom>
            <a:noFill/>
            <a:ln w="19050" cap="rnd">
              <a:solidFill>
                <a:srgbClr val="4A235A"/>
              </a:solidFill>
              <a:round/>
            </a:ln>
          </p:spPr>
        </p:sp>
      </p:grpSp>
      <p:sp>
        <p:nvSpPr>
          <p:cNvPr id="24" name="Síntesis ramas"/>
          <p:cNvSpPr/>
          <p:nvPr/>
        </p:nvSpPr>
        <p:spPr>
          <a:xfrm>
            <a:off x="3108960" y="4892040"/>
            <a:ext cx="4389120" cy="15544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VCM decide la rama; luego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dato bioquímico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(megaloblastos, reticulocitos) afina el diagnóstico.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ANEMIAS MACROCÍTICAS Y NORMOCÍTICAS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MedulaOsea"/>
          <p:cNvGrpSpPr/>
          <p:nvPr/>
        </p:nvGrpSpPr>
        <p:grpSpPr>
          <a:xfrm>
            <a:off x="274320" y="1188720"/>
            <a:ext cx="3657600" cy="2743200"/>
            <a:chOff x="274320" y="1188720"/>
            <a:chExt cx="3657600" cy="2743200"/>
          </a:xfrm>
        </p:grpSpPr>
        <p:sp>
          <p:nvSpPr>
            <p:cNvPr id="6" name="Hueso"/>
            <p:cNvSpPr/>
            <p:nvPr/>
          </p:nvSpPr>
          <p:spPr>
            <a:xfrm>
              <a:off x="274320" y="1188720"/>
              <a:ext cx="3657600" cy="27432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édula"/>
            <p:cNvSpPr/>
            <p:nvPr/>
          </p:nvSpPr>
          <p:spPr>
            <a:xfrm>
              <a:off x="493776" y="1517904"/>
              <a:ext cx="3218688" cy="2084832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374720" y="2633118"/>
              <a:ext cx="270199" cy="27019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455780" y="2714177"/>
              <a:ext cx="108080" cy="108080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0" name="Forma 9"/>
            <p:cNvSpPr/>
            <p:nvPr/>
          </p:nvSpPr>
          <p:spPr>
            <a:xfrm>
              <a:off x="2452594" y="1845215"/>
              <a:ext cx="221262" cy="221262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2518973" y="1911594"/>
              <a:ext cx="88505" cy="8850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2" name="Forma 11"/>
            <p:cNvSpPr/>
            <p:nvPr/>
          </p:nvSpPr>
          <p:spPr>
            <a:xfrm>
              <a:off x="1434178" y="2123050"/>
              <a:ext cx="356019" cy="35601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1540984" y="2229856"/>
              <a:ext cx="142407" cy="142407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4" name="Forma 13"/>
            <p:cNvSpPr/>
            <p:nvPr/>
          </p:nvSpPr>
          <p:spPr>
            <a:xfrm>
              <a:off x="2217018" y="2642009"/>
              <a:ext cx="273927" cy="273927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2299196" y="2724187"/>
              <a:ext cx="109571" cy="109571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6" name="Forma 15"/>
            <p:cNvSpPr/>
            <p:nvPr/>
          </p:nvSpPr>
          <p:spPr>
            <a:xfrm>
              <a:off x="1357923" y="1986918"/>
              <a:ext cx="346444" cy="346444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1461856" y="2090851"/>
              <a:ext cx="138577" cy="138577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8" name="Forma 17"/>
            <p:cNvSpPr/>
            <p:nvPr/>
          </p:nvSpPr>
          <p:spPr>
            <a:xfrm>
              <a:off x="2773746" y="2842450"/>
              <a:ext cx="228239" cy="228239"/>
            </a:xfrm>
            <a:prstGeom prst="ellipse">
              <a:avLst/>
            </a:pr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2749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14D69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2842218" y="2910921"/>
              <a:ext cx="91295" cy="9129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0" name="Forma 19"/>
            <p:cNvSpPr/>
            <p:nvPr/>
          </p:nvSpPr>
          <p:spPr>
            <a:xfrm>
              <a:off x="1550689" y="1788403"/>
              <a:ext cx="338172" cy="338172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1652140" y="1889854"/>
              <a:ext cx="135269" cy="135269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2" name="Forma 21"/>
            <p:cNvSpPr/>
            <p:nvPr/>
          </p:nvSpPr>
          <p:spPr>
            <a:xfrm>
              <a:off x="2366502" y="3251864"/>
              <a:ext cx="272620" cy="272620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2448289" y="3333650"/>
              <a:ext cx="109048" cy="109048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4" name="Forma 23"/>
            <p:cNvSpPr/>
            <p:nvPr/>
          </p:nvSpPr>
          <p:spPr>
            <a:xfrm>
              <a:off x="1811142" y="3055592"/>
              <a:ext cx="280440" cy="280440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1895274" y="3139724"/>
              <a:ext cx="112176" cy="112176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6" name="Forma 25"/>
            <p:cNvSpPr/>
            <p:nvPr/>
          </p:nvSpPr>
          <p:spPr>
            <a:xfrm>
              <a:off x="3156284" y="1897762"/>
              <a:ext cx="238105" cy="238105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3227716" y="1969194"/>
              <a:ext cx="95242" cy="95242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8" name="Forma 27"/>
            <p:cNvSpPr/>
            <p:nvPr/>
          </p:nvSpPr>
          <p:spPr>
            <a:xfrm>
              <a:off x="1430362" y="2843486"/>
              <a:ext cx="326300" cy="326300"/>
            </a:xfrm>
            <a:prstGeom prst="ellipse">
              <a:avLst/>
            </a:pr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84A45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>
              <a:off x="1528252" y="2941376"/>
              <a:ext cx="130520" cy="130520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30" name="Forma 29"/>
            <p:cNvSpPr/>
            <p:nvPr/>
          </p:nvSpPr>
          <p:spPr>
            <a:xfrm>
              <a:off x="1883931" y="3109197"/>
              <a:ext cx="298189" cy="29818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1973387" y="3198653"/>
              <a:ext cx="119276" cy="119276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</p:grpSp>
      <p:grpSp>
        <p:nvGrpSpPr>
          <p:cNvPr id="32" name="!!Vaso sanguíneo"/>
          <p:cNvGrpSpPr/>
          <p:nvPr/>
        </p:nvGrpSpPr>
        <p:grpSpPr>
          <a:xfrm>
            <a:off x="4480560" y="2103120"/>
            <a:ext cx="3657600" cy="914400"/>
            <a:chOff x="4480560" y="2103120"/>
            <a:chExt cx="3657600" cy="914400"/>
          </a:xfrm>
        </p:grpSpPr>
        <p:sp>
          <p:nvSpPr>
            <p:cNvPr id="33" name="Forma 32"/>
            <p:cNvSpPr/>
            <p:nvPr/>
          </p:nvSpPr>
          <p:spPr>
            <a:xfrm>
              <a:off x="4480560" y="2103120"/>
              <a:ext cx="3657600" cy="9144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34" name="Forma 33"/>
            <p:cNvSpPr/>
            <p:nvPr/>
          </p:nvSpPr>
          <p:spPr>
            <a:xfrm>
              <a:off x="4617720" y="2267712"/>
              <a:ext cx="3383280" cy="58521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35" name="Eritrocito"/>
            <p:cNvSpPr/>
            <p:nvPr/>
          </p:nvSpPr>
          <p:spPr>
            <a:xfrm>
              <a:off x="5127871" y="2548393"/>
              <a:ext cx="384048" cy="38404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36" name="Eritrocito_2"/>
            <p:cNvSpPr/>
            <p:nvPr/>
          </p:nvSpPr>
          <p:spPr>
            <a:xfrm>
              <a:off x="5752303" y="2351122"/>
              <a:ext cx="384048" cy="38404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37" name="Eritrocito_3"/>
            <p:cNvSpPr/>
            <p:nvPr/>
          </p:nvSpPr>
          <p:spPr>
            <a:xfrm>
              <a:off x="7031565" y="2499963"/>
              <a:ext cx="384048" cy="38404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38" name="!!Reticulocito"/>
          <p:cNvGrpSpPr/>
          <p:nvPr/>
        </p:nvGrpSpPr>
        <p:grpSpPr>
          <a:xfrm>
            <a:off x="2743200" y="2103120"/>
            <a:ext cx="777240" cy="777240"/>
            <a:chOff x="2743200" y="2103120"/>
            <a:chExt cx="777240" cy="777240"/>
          </a:xfrm>
        </p:grpSpPr>
        <p:sp>
          <p:nvSpPr>
            <p:cNvPr id="39" name="Cuerpo"/>
            <p:cNvSpPr/>
            <p:nvPr/>
          </p:nvSpPr>
          <p:spPr>
            <a:xfrm>
              <a:off x="2743200" y="2103120"/>
              <a:ext cx="777240" cy="777240"/>
            </a:xfrm>
            <a:prstGeom prst="ellipse">
              <a:avLst/>
            </a:prstGeom>
            <a:gradFill rotWithShape="1">
              <a:gsLst>
                <a:gs pos="0">
                  <a:srgbClr val="E3B4CF"/>
                </a:gs>
                <a:gs pos="30000">
                  <a:srgbClr val="E3B4CF"/>
                </a:gs>
                <a:gs pos="60000">
                  <a:srgbClr val="BB729D"/>
                </a:gs>
                <a:gs pos="100000">
                  <a:srgbClr val="723A5B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40" name="Forma 39"/>
            <p:cNvSpPr/>
            <p:nvPr/>
          </p:nvSpPr>
          <p:spPr>
            <a:xfrm>
              <a:off x="2743200" y="2103120"/>
              <a:ext cx="777240" cy="77724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220" y="405"/>
                  </a:moveTo>
                  <a:cubicBezTo>
                    <a:pt x="320" y="285"/>
                    <a:pt x="420" y="525"/>
                    <a:pt x="520" y="375"/>
                  </a:cubicBezTo>
                </a:path>
                <a:path w="1000" h="1000" fill="none">
                  <a:moveTo>
                    <a:pt x="152" y="619"/>
                  </a:moveTo>
                  <a:cubicBezTo>
                    <a:pt x="252" y="499"/>
                    <a:pt x="352" y="739"/>
                    <a:pt x="452" y="589"/>
                  </a:cubicBezTo>
                </a:path>
                <a:path w="1000" h="1000" fill="none">
                  <a:moveTo>
                    <a:pt x="302" y="495"/>
                  </a:moveTo>
                  <a:cubicBezTo>
                    <a:pt x="402" y="375"/>
                    <a:pt x="502" y="615"/>
                    <a:pt x="602" y="465"/>
                  </a:cubicBezTo>
                </a:path>
                <a:path w="1000" h="1000" fill="none">
                  <a:moveTo>
                    <a:pt x="179" y="296"/>
                  </a:moveTo>
                  <a:cubicBezTo>
                    <a:pt x="279" y="176"/>
                    <a:pt x="379" y="416"/>
                    <a:pt x="479" y="266"/>
                  </a:cubicBezTo>
                </a:path>
                <a:path w="1000" h="1000" fill="none">
                  <a:moveTo>
                    <a:pt x="134" y="260"/>
                  </a:moveTo>
                  <a:cubicBezTo>
                    <a:pt x="234" y="140"/>
                    <a:pt x="334" y="380"/>
                    <a:pt x="434" y="230"/>
                  </a:cubicBezTo>
                </a:path>
                <a:path w="1000" h="1000" fill="none">
                  <a:moveTo>
                    <a:pt x="305" y="531"/>
                  </a:moveTo>
                  <a:cubicBezTo>
                    <a:pt x="405" y="411"/>
                    <a:pt x="505" y="651"/>
                    <a:pt x="605" y="501"/>
                  </a:cubicBezTo>
                </a:path>
              </a:pathLst>
            </a:custGeom>
            <a:noFill/>
            <a:ln w="19050" cap="rnd">
              <a:solidFill>
                <a:srgbClr val="4A235A"/>
              </a:solidFill>
              <a:round/>
            </a:ln>
          </p:spPr>
        </p:sp>
      </p:grpSp>
      <p:sp>
        <p:nvSpPr>
          <p:cNvPr id="41" name="Def reticulocito"/>
          <p:cNvSpPr/>
          <p:nvPr/>
        </p:nvSpPr>
        <p:spPr>
          <a:xfrm>
            <a:off x="274320" y="4206240"/>
            <a:ext cx="3931920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Eritrocitos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inmaduros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que aún contienen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ARN ribosómico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material genético residual (coloraciones especiales). Estadio previo al eritrocito maduro.</a:t>
            </a:r>
            <a:endParaRPr lang="es-AR" sz="1850" dirty="0">
              <a:latin typeface="Calibri"/>
            </a:endParaRPr>
          </a:p>
        </p:txBody>
      </p:sp>
      <p:grpSp>
        <p:nvGrpSpPr>
          <p:cNvPr id="42" name="Tabla reticulocitos fila 0"/>
          <p:cNvGrpSpPr/>
          <p:nvPr/>
        </p:nvGrpSpPr>
        <p:grpSpPr>
          <a:xfrm>
            <a:off x="4434840" y="3337560"/>
            <a:ext cx="3703320" cy="457200"/>
            <a:chOff x="4434840" y="3337560"/>
            <a:chExt cx="3703320" cy="457200"/>
          </a:xfrm>
        </p:grpSpPr>
        <p:sp>
          <p:nvSpPr>
            <p:cNvPr id="43" name="Forma 42"/>
            <p:cNvSpPr/>
            <p:nvPr/>
          </p:nvSpPr>
          <p:spPr>
            <a:xfrm>
              <a:off x="4434840" y="3337560"/>
              <a:ext cx="2103120" cy="4572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Grupo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6537960" y="3337560"/>
              <a:ext cx="1600200" cy="4572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45" name="Tabla reticulocitos fila 1"/>
          <p:cNvGrpSpPr/>
          <p:nvPr/>
        </p:nvGrpSpPr>
        <p:grpSpPr>
          <a:xfrm>
            <a:off x="4434840" y="3794760"/>
            <a:ext cx="3703320" cy="457200"/>
            <a:chOff x="4434840" y="3794760"/>
            <a:chExt cx="3703320" cy="457200"/>
          </a:xfrm>
        </p:grpSpPr>
        <p:sp>
          <p:nvSpPr>
            <p:cNvPr id="46" name="Forma 45"/>
            <p:cNvSpPr/>
            <p:nvPr/>
          </p:nvSpPr>
          <p:spPr>
            <a:xfrm>
              <a:off x="4434840" y="3794760"/>
              <a:ext cx="210312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Adultos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6537960" y="3794760"/>
              <a:ext cx="160020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0,5 – 2 %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48" name="Tabla reticulocitos fila 2"/>
          <p:cNvGrpSpPr/>
          <p:nvPr/>
        </p:nvGrpSpPr>
        <p:grpSpPr>
          <a:xfrm>
            <a:off x="4434840" y="4251960"/>
            <a:ext cx="3703320" cy="457200"/>
            <a:chOff x="4434840" y="4251960"/>
            <a:chExt cx="3703320" cy="457200"/>
          </a:xfrm>
        </p:grpSpPr>
        <p:sp>
          <p:nvSpPr>
            <p:cNvPr id="49" name="Forma 48"/>
            <p:cNvSpPr/>
            <p:nvPr/>
          </p:nvSpPr>
          <p:spPr>
            <a:xfrm>
              <a:off x="4434840" y="4251960"/>
              <a:ext cx="210312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Niños y jóvenes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50" name="Forma 49"/>
            <p:cNvSpPr/>
            <p:nvPr/>
          </p:nvSpPr>
          <p:spPr>
            <a:xfrm>
              <a:off x="6537960" y="4251960"/>
              <a:ext cx="160020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0,5 – 2,2 %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51" name="Tabla reticulocitos fila 3"/>
          <p:cNvGrpSpPr/>
          <p:nvPr/>
        </p:nvGrpSpPr>
        <p:grpSpPr>
          <a:xfrm>
            <a:off x="4434840" y="4709160"/>
            <a:ext cx="3703320" cy="457200"/>
            <a:chOff x="4434840" y="4709160"/>
            <a:chExt cx="3703320" cy="457200"/>
          </a:xfrm>
        </p:grpSpPr>
        <p:sp>
          <p:nvSpPr>
            <p:cNvPr id="52" name="Forma 51"/>
            <p:cNvSpPr/>
            <p:nvPr/>
          </p:nvSpPr>
          <p:spPr>
            <a:xfrm>
              <a:off x="4434840" y="4709160"/>
              <a:ext cx="210312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Recién nacidos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53" name="Forma 52"/>
            <p:cNvSpPr/>
            <p:nvPr/>
          </p:nvSpPr>
          <p:spPr>
            <a:xfrm>
              <a:off x="6537960" y="4709160"/>
              <a:ext cx="160020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2,5 – 6 %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54" name="Maduración"/>
          <p:cNvSpPr/>
          <p:nvPr/>
        </p:nvSpPr>
        <p:spPr>
          <a:xfrm>
            <a:off x="4434840" y="5349240"/>
            <a:ext cx="3703320" cy="10058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Maduración normal: </a:t>
            </a: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3,5 días</a:t>
            </a: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En la anemia la médula la acelera y libera reticulocitos en </a:t>
            </a: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1–2 días</a:t>
            </a: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600" dirty="0">
              <a:latin typeface="Calibri"/>
            </a:endParaRPr>
          </a:p>
        </p:txBody>
      </p:sp>
      <p:grpSp>
        <p:nvGrpSpPr>
          <p:cNvPr id="55" name="Clave reticulocitos"/>
          <p:cNvGrpSpPr/>
          <p:nvPr/>
        </p:nvGrpSpPr>
        <p:grpSpPr>
          <a:xfrm>
            <a:off x="8549640" y="1097280"/>
            <a:ext cx="3383280" cy="3017520"/>
            <a:chOff x="8549640" y="1097280"/>
            <a:chExt cx="3383280" cy="3017520"/>
          </a:xfrm>
        </p:grpSpPr>
        <p:sp>
          <p:nvSpPr>
            <p:cNvPr id="56" name="Forma 55"/>
            <p:cNvSpPr/>
            <p:nvPr/>
          </p:nvSpPr>
          <p:spPr>
            <a:xfrm>
              <a:off x="8549640" y="129844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porcentaje de reticulocitos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sangre periférica indica si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médula responde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ante la anemia o si el problema reside en ella.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7" name="Forma 56"/>
            <p:cNvSpPr/>
            <p:nvPr/>
          </p:nvSpPr>
          <p:spPr>
            <a:xfrm>
              <a:off x="8677656" y="1097280"/>
              <a:ext cx="183012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PARÁMETRO CLAVE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58" name="RN reticulocitos"/>
          <p:cNvSpPr/>
          <p:nvPr/>
        </p:nvSpPr>
        <p:spPr>
          <a:xfrm>
            <a:off x="8549640" y="4343400"/>
            <a:ext cx="3383280" cy="210312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el recién nacido el estrés oxidativo del nacimiento genera hemólisis fisiológica: más reticulocitos.</a:t>
            </a:r>
            <a:endParaRPr lang="es-AR" sz="18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RETICULOCITOS: LA RESPUESTA DE LA MÉDULA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5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25 0.0067 E" pathEditMode="relative" ptsTypes="">
                                      <p:cBhvr>
                                        <p:cTn id="19" dur="9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25" y="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4" grpId="0" animBg="1"/>
      <p:bldP spid="58" grpId="0" animBg="1"/>
    </p:bld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EAF5EA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6" name="Médula que responde"/>
          <p:cNvGrpSpPr/>
          <p:nvPr/>
        </p:nvGrpSpPr>
        <p:grpSpPr>
          <a:xfrm>
            <a:off x="320040" y="1188720"/>
            <a:ext cx="2743200" cy="2743200"/>
            <a:chOff x="320040" y="1188720"/>
            <a:chExt cx="2743200" cy="2743200"/>
          </a:xfrm>
        </p:grpSpPr>
        <p:grpSp>
          <p:nvGrpSpPr>
            <p:cNvPr id="7" name="Médula activa"/>
            <p:cNvGrpSpPr/>
            <p:nvPr/>
          </p:nvGrpSpPr>
          <p:grpSpPr>
            <a:xfrm>
              <a:off x="320040" y="1188720"/>
              <a:ext cx="2743200" cy="2011680"/>
              <a:chOff x="320040" y="1188720"/>
              <a:chExt cx="2743200" cy="2011680"/>
            </a:xfrm>
          </p:grpSpPr>
          <p:sp>
            <p:nvSpPr>
              <p:cNvPr id="8" name="Hueso"/>
              <p:cNvSpPr/>
              <p:nvPr/>
            </p:nvSpPr>
            <p:spPr>
              <a:xfrm>
                <a:off x="320040" y="1188720"/>
                <a:ext cx="2743200" cy="2011680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6DDCC"/>
                  </a:gs>
                  <a:gs pos="100000">
                    <a:srgbClr val="EDBB99"/>
                  </a:gs>
                </a:gsLst>
                <a:lin ang="5400000" scaled="0"/>
              </a:gradFill>
              <a:ln w="25400" cap="rnd">
                <a:solidFill>
                  <a:srgbClr val="873600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9" name="Médula"/>
              <p:cNvSpPr/>
              <p:nvPr/>
            </p:nvSpPr>
            <p:spPr>
              <a:xfrm>
                <a:off x="484632" y="1430122"/>
                <a:ext cx="2414016" cy="1528877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9E79F"/>
                  </a:gs>
                  <a:gs pos="100000">
                    <a:srgbClr val="F5B7B1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A04000"/>
                </a:solidFill>
                <a:round/>
              </a:ln>
            </p:spPr>
          </p:sp>
          <p:sp>
            <p:nvSpPr>
              <p:cNvPr id="10" name="Forma 9"/>
              <p:cNvSpPr/>
              <p:nvPr/>
            </p:nvSpPr>
            <p:spPr>
              <a:xfrm>
                <a:off x="1141345" y="1715578"/>
                <a:ext cx="200772" cy="200772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11" name="Forma 10"/>
              <p:cNvSpPr/>
              <p:nvPr/>
            </p:nvSpPr>
            <p:spPr>
              <a:xfrm>
                <a:off x="1201576" y="1775810"/>
                <a:ext cx="80309" cy="80309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12" name="Forma 11"/>
              <p:cNvSpPr/>
              <p:nvPr/>
            </p:nvSpPr>
            <p:spPr>
              <a:xfrm>
                <a:off x="837068" y="1614975"/>
                <a:ext cx="216195" cy="216195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13" name="Forma 12"/>
              <p:cNvSpPr/>
              <p:nvPr/>
            </p:nvSpPr>
            <p:spPr>
              <a:xfrm>
                <a:off x="901927" y="1679834"/>
                <a:ext cx="86478" cy="86478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2318033" y="2514613"/>
                <a:ext cx="183257" cy="183257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2373010" y="2569590"/>
                <a:ext cx="73303" cy="73303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1226061" y="1799463"/>
                <a:ext cx="171615" cy="171615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17" name="Forma 16"/>
              <p:cNvSpPr/>
              <p:nvPr/>
            </p:nvSpPr>
            <p:spPr>
              <a:xfrm>
                <a:off x="1277545" y="1850948"/>
                <a:ext cx="68646" cy="6864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2615136" y="1622003"/>
                <a:ext cx="225377" cy="225377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19" name="Forma 18"/>
              <p:cNvSpPr/>
              <p:nvPr/>
            </p:nvSpPr>
            <p:spPr>
              <a:xfrm>
                <a:off x="2682749" y="1689617"/>
                <a:ext cx="90151" cy="90151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20" name="Forma 19"/>
              <p:cNvSpPr/>
              <p:nvPr/>
            </p:nvSpPr>
            <p:spPr>
              <a:xfrm>
                <a:off x="2318023" y="1824534"/>
                <a:ext cx="192100" cy="192100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21" name="Forma 20"/>
              <p:cNvSpPr/>
              <p:nvPr/>
            </p:nvSpPr>
            <p:spPr>
              <a:xfrm>
                <a:off x="2375653" y="1882164"/>
                <a:ext cx="76840" cy="76840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22" name="Forma 21"/>
              <p:cNvSpPr/>
              <p:nvPr/>
            </p:nvSpPr>
            <p:spPr>
              <a:xfrm>
                <a:off x="830017" y="2322324"/>
                <a:ext cx="228497" cy="228497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23" name="Forma 22"/>
              <p:cNvSpPr/>
              <p:nvPr/>
            </p:nvSpPr>
            <p:spPr>
              <a:xfrm>
                <a:off x="898566" y="2390873"/>
                <a:ext cx="91399" cy="91399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24" name="Forma 23"/>
              <p:cNvSpPr/>
              <p:nvPr/>
            </p:nvSpPr>
            <p:spPr>
              <a:xfrm>
                <a:off x="1019887" y="2162680"/>
                <a:ext cx="169921" cy="169921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25" name="Forma 24"/>
              <p:cNvSpPr/>
              <p:nvPr/>
            </p:nvSpPr>
            <p:spPr>
              <a:xfrm>
                <a:off x="1070863" y="2213657"/>
                <a:ext cx="67968" cy="67968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26" name="Forma 25"/>
              <p:cNvSpPr/>
              <p:nvPr/>
            </p:nvSpPr>
            <p:spPr>
              <a:xfrm>
                <a:off x="664258" y="1943432"/>
                <a:ext cx="231837" cy="231837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27" name="Forma 26"/>
              <p:cNvSpPr/>
              <p:nvPr/>
            </p:nvSpPr>
            <p:spPr>
              <a:xfrm>
                <a:off x="733809" y="2012983"/>
                <a:ext cx="92735" cy="92735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28" name="Forma 27"/>
              <p:cNvSpPr/>
              <p:nvPr/>
            </p:nvSpPr>
            <p:spPr>
              <a:xfrm>
                <a:off x="2417253" y="2204666"/>
                <a:ext cx="202571" cy="202571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29" name="Forma 28"/>
              <p:cNvSpPr/>
              <p:nvPr/>
            </p:nvSpPr>
            <p:spPr>
              <a:xfrm>
                <a:off x="2478025" y="2265437"/>
                <a:ext cx="81028" cy="81028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30" name="Forma 29"/>
              <p:cNvSpPr/>
              <p:nvPr/>
            </p:nvSpPr>
            <p:spPr>
              <a:xfrm>
                <a:off x="1547876" y="1785771"/>
                <a:ext cx="191624" cy="191624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1605363" y="1843258"/>
                <a:ext cx="76649" cy="76649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32" name="Forma 31"/>
              <p:cNvSpPr/>
              <p:nvPr/>
            </p:nvSpPr>
            <p:spPr>
              <a:xfrm>
                <a:off x="818253" y="2149502"/>
                <a:ext cx="261264" cy="261264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33" name="Forma 32"/>
              <p:cNvSpPr/>
              <p:nvPr/>
            </p:nvSpPr>
            <p:spPr>
              <a:xfrm>
                <a:off x="896632" y="2227881"/>
                <a:ext cx="104506" cy="10450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34" name="Forma 33"/>
              <p:cNvSpPr/>
              <p:nvPr/>
            </p:nvSpPr>
            <p:spPr>
              <a:xfrm>
                <a:off x="2110438" y="1766148"/>
                <a:ext cx="228706" cy="228706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2179050" y="1834760"/>
                <a:ext cx="91482" cy="91482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1509832" y="1835681"/>
                <a:ext cx="224570" cy="224570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37" name="Forma 36"/>
              <p:cNvSpPr/>
              <p:nvPr/>
            </p:nvSpPr>
            <p:spPr>
              <a:xfrm>
                <a:off x="1577203" y="1903052"/>
                <a:ext cx="89828" cy="89828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38" name="Forma 37"/>
              <p:cNvSpPr/>
              <p:nvPr/>
            </p:nvSpPr>
            <p:spPr>
              <a:xfrm>
                <a:off x="1032215" y="2117220"/>
                <a:ext cx="220155" cy="220155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1098262" y="2183267"/>
                <a:ext cx="88062" cy="88062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2534569" y="1712939"/>
                <a:ext cx="167131" cy="167131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41" name="Forma 40"/>
              <p:cNvSpPr/>
              <p:nvPr/>
            </p:nvSpPr>
            <p:spPr>
              <a:xfrm>
                <a:off x="2584708" y="1763078"/>
                <a:ext cx="66853" cy="66853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2" name="Forma 41"/>
              <p:cNvSpPr/>
              <p:nvPr/>
            </p:nvSpPr>
            <p:spPr>
              <a:xfrm>
                <a:off x="1227721" y="2293777"/>
                <a:ext cx="247648" cy="247648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1302015" y="2368071"/>
                <a:ext cx="99059" cy="99059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1339443" y="1805348"/>
                <a:ext cx="207104" cy="207104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45" name="Forma 44"/>
              <p:cNvSpPr/>
              <p:nvPr/>
            </p:nvSpPr>
            <p:spPr>
              <a:xfrm>
                <a:off x="1401574" y="1867479"/>
                <a:ext cx="82842" cy="82842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</p:grpSp>
        <p:grpSp>
          <p:nvGrpSpPr>
            <p:cNvPr id="46" name="Reti salida 0"/>
            <p:cNvGrpSpPr/>
            <p:nvPr/>
          </p:nvGrpSpPr>
          <p:grpSpPr>
            <a:xfrm>
              <a:off x="457200" y="3383280"/>
              <a:ext cx="548640" cy="548640"/>
              <a:chOff x="457200" y="3383280"/>
              <a:chExt cx="548640" cy="548640"/>
            </a:xfrm>
          </p:grpSpPr>
          <p:sp>
            <p:nvSpPr>
              <p:cNvPr id="47" name="Cuerpo"/>
              <p:cNvSpPr/>
              <p:nvPr/>
            </p:nvSpPr>
            <p:spPr>
              <a:xfrm>
                <a:off x="457200" y="3383280"/>
                <a:ext cx="548640" cy="54864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48" name="Forma 47"/>
              <p:cNvSpPr/>
              <p:nvPr/>
            </p:nvSpPr>
            <p:spPr>
              <a:xfrm>
                <a:off x="457200" y="3383280"/>
                <a:ext cx="548640" cy="548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  <p:grpSp>
          <p:nvGrpSpPr>
            <p:cNvPr id="49" name="Reti salida 1"/>
            <p:cNvGrpSpPr/>
            <p:nvPr/>
          </p:nvGrpSpPr>
          <p:grpSpPr>
            <a:xfrm>
              <a:off x="1097280" y="3383280"/>
              <a:ext cx="548640" cy="548640"/>
              <a:chOff x="1097280" y="3383280"/>
              <a:chExt cx="548640" cy="548640"/>
            </a:xfrm>
          </p:grpSpPr>
          <p:sp>
            <p:nvSpPr>
              <p:cNvPr id="50" name="Cuerpo_2"/>
              <p:cNvSpPr/>
              <p:nvPr/>
            </p:nvSpPr>
            <p:spPr>
              <a:xfrm>
                <a:off x="1097280" y="3383280"/>
                <a:ext cx="548640" cy="54864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>
                <a:off x="1097280" y="3383280"/>
                <a:ext cx="548640" cy="548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  <p:grpSp>
          <p:nvGrpSpPr>
            <p:cNvPr id="52" name="Reti salida 2"/>
            <p:cNvGrpSpPr/>
            <p:nvPr/>
          </p:nvGrpSpPr>
          <p:grpSpPr>
            <a:xfrm>
              <a:off x="1737360" y="3383280"/>
              <a:ext cx="548640" cy="548640"/>
              <a:chOff x="1737360" y="3383280"/>
              <a:chExt cx="548640" cy="548640"/>
            </a:xfrm>
          </p:grpSpPr>
          <p:sp>
            <p:nvSpPr>
              <p:cNvPr id="53" name="Cuerpo_3"/>
              <p:cNvSpPr/>
              <p:nvPr/>
            </p:nvSpPr>
            <p:spPr>
              <a:xfrm>
                <a:off x="1737360" y="3383280"/>
                <a:ext cx="548640" cy="54864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54" name="Forma 53"/>
              <p:cNvSpPr/>
              <p:nvPr/>
            </p:nvSpPr>
            <p:spPr>
              <a:xfrm>
                <a:off x="1737360" y="3383280"/>
                <a:ext cx="548640" cy="548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  <p:grpSp>
          <p:nvGrpSpPr>
            <p:cNvPr id="55" name="Reti salida 3"/>
            <p:cNvGrpSpPr/>
            <p:nvPr/>
          </p:nvGrpSpPr>
          <p:grpSpPr>
            <a:xfrm>
              <a:off x="2377440" y="3383280"/>
              <a:ext cx="548640" cy="548640"/>
              <a:chOff x="2377440" y="3383280"/>
              <a:chExt cx="548640" cy="548640"/>
            </a:xfrm>
          </p:grpSpPr>
          <p:sp>
            <p:nvSpPr>
              <p:cNvPr id="56" name="Cuerpo_4"/>
              <p:cNvSpPr/>
              <p:nvPr/>
            </p:nvSpPr>
            <p:spPr>
              <a:xfrm>
                <a:off x="2377440" y="3383280"/>
                <a:ext cx="548640" cy="54864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57" name="Forma 56"/>
              <p:cNvSpPr/>
              <p:nvPr/>
            </p:nvSpPr>
            <p:spPr>
              <a:xfrm>
                <a:off x="2377440" y="3383280"/>
                <a:ext cx="548640" cy="548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</p:grpSp>
      <p:grpSp>
        <p:nvGrpSpPr>
          <p:cNvPr id="58" name="Médula que no responde"/>
          <p:cNvGrpSpPr/>
          <p:nvPr/>
        </p:nvGrpSpPr>
        <p:grpSpPr>
          <a:xfrm>
            <a:off x="9189720" y="1188720"/>
            <a:ext cx="2743200" cy="2743200"/>
            <a:chOff x="9189720" y="1188720"/>
            <a:chExt cx="2743200" cy="2743200"/>
          </a:xfrm>
        </p:grpSpPr>
        <p:grpSp>
          <p:nvGrpSpPr>
            <p:cNvPr id="59" name="Médula inactiva"/>
            <p:cNvGrpSpPr/>
            <p:nvPr/>
          </p:nvGrpSpPr>
          <p:grpSpPr>
            <a:xfrm>
              <a:off x="9189720" y="1188720"/>
              <a:ext cx="2743200" cy="2011680"/>
              <a:chOff x="9189720" y="1188720"/>
              <a:chExt cx="2743200" cy="2011680"/>
            </a:xfrm>
          </p:grpSpPr>
          <p:sp>
            <p:nvSpPr>
              <p:cNvPr id="60" name="Hueso_2"/>
              <p:cNvSpPr/>
              <p:nvPr/>
            </p:nvSpPr>
            <p:spPr>
              <a:xfrm>
                <a:off x="9189720" y="1188720"/>
                <a:ext cx="2743200" cy="2011680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6DDCC"/>
                  </a:gs>
                  <a:gs pos="100000">
                    <a:srgbClr val="EDBB99"/>
                  </a:gs>
                </a:gsLst>
                <a:lin ang="5400000" scaled="0"/>
              </a:gradFill>
              <a:ln w="25400" cap="rnd">
                <a:solidFill>
                  <a:srgbClr val="873600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61" name="Médula_2"/>
              <p:cNvSpPr/>
              <p:nvPr/>
            </p:nvSpPr>
            <p:spPr>
              <a:xfrm>
                <a:off x="9354312" y="1430122"/>
                <a:ext cx="2414016" cy="1528877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9E79F"/>
                  </a:gs>
                  <a:gs pos="100000">
                    <a:srgbClr val="F5B7B1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A04000"/>
                </a:solidFill>
                <a:round/>
              </a:ln>
            </p:spPr>
          </p:sp>
          <p:sp>
            <p:nvSpPr>
              <p:cNvPr id="62" name="Forma 61"/>
              <p:cNvSpPr/>
              <p:nvPr/>
            </p:nvSpPr>
            <p:spPr>
              <a:xfrm>
                <a:off x="11172885" y="2583161"/>
                <a:ext cx="209721" cy="209721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63" name="Forma 62"/>
              <p:cNvSpPr/>
              <p:nvPr/>
            </p:nvSpPr>
            <p:spPr>
              <a:xfrm>
                <a:off x="11235801" y="2646077"/>
                <a:ext cx="83888" cy="83888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64" name="Forma 63"/>
              <p:cNvSpPr/>
              <p:nvPr/>
            </p:nvSpPr>
            <p:spPr>
              <a:xfrm>
                <a:off x="9595673" y="1766770"/>
                <a:ext cx="219925" cy="219925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65" name="Forma 64"/>
              <p:cNvSpPr/>
              <p:nvPr/>
            </p:nvSpPr>
            <p:spPr>
              <a:xfrm>
                <a:off x="9661651" y="1832747"/>
                <a:ext cx="87970" cy="87970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66" name="Forma 65"/>
              <p:cNvSpPr/>
              <p:nvPr/>
            </p:nvSpPr>
            <p:spPr>
              <a:xfrm>
                <a:off x="10184769" y="1617477"/>
                <a:ext cx="210104" cy="210104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67" name="Forma 66"/>
              <p:cNvSpPr/>
              <p:nvPr/>
            </p:nvSpPr>
            <p:spPr>
              <a:xfrm>
                <a:off x="10247801" y="1680508"/>
                <a:ext cx="84042" cy="84042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68" name="Forma 67"/>
              <p:cNvSpPr/>
              <p:nvPr/>
            </p:nvSpPr>
            <p:spPr>
              <a:xfrm>
                <a:off x="11040466" y="2090765"/>
                <a:ext cx="215079" cy="215079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69" name="Forma 68"/>
              <p:cNvSpPr/>
              <p:nvPr/>
            </p:nvSpPr>
            <p:spPr>
              <a:xfrm>
                <a:off x="11104990" y="2155289"/>
                <a:ext cx="86032" cy="86032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70" name="Forma 69"/>
              <p:cNvSpPr/>
              <p:nvPr/>
            </p:nvSpPr>
            <p:spPr>
              <a:xfrm>
                <a:off x="9921245" y="2259274"/>
                <a:ext cx="241917" cy="241917"/>
              </a:xfrm>
              <a:prstGeom prst="ellipse">
                <a:avLst/>
              </a:prstGeom>
              <a:gradFill rotWithShape="1">
                <a:gsLst>
                  <a:gs pos="0">
                    <a:srgbClr val="F6BEB8"/>
                  </a:gs>
                  <a:gs pos="55000">
                    <a:srgbClr val="F1948A"/>
                  </a:gs>
                  <a:gs pos="100000">
                    <a:srgbClr val="B46F67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84A45"/>
                </a:solidFill>
                <a:round/>
              </a:ln>
            </p:spPr>
          </p:sp>
          <p:sp>
            <p:nvSpPr>
              <p:cNvPr id="71" name="Forma 70"/>
              <p:cNvSpPr/>
              <p:nvPr/>
            </p:nvSpPr>
            <p:spPr>
              <a:xfrm>
                <a:off x="9993820" y="2331849"/>
                <a:ext cx="96767" cy="96767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</p:grpSp>
        <p:grpSp>
          <p:nvGrpSpPr>
            <p:cNvPr id="72" name="Reti escaso"/>
            <p:cNvGrpSpPr/>
            <p:nvPr/>
          </p:nvGrpSpPr>
          <p:grpSpPr>
            <a:xfrm>
              <a:off x="10241280" y="3383280"/>
              <a:ext cx="548640" cy="548640"/>
              <a:chOff x="10241280" y="3383280"/>
              <a:chExt cx="548640" cy="548640"/>
            </a:xfrm>
          </p:grpSpPr>
          <p:sp>
            <p:nvSpPr>
              <p:cNvPr id="73" name="Cuerpo_5"/>
              <p:cNvSpPr/>
              <p:nvPr/>
            </p:nvSpPr>
            <p:spPr>
              <a:xfrm>
                <a:off x="10241280" y="3383280"/>
                <a:ext cx="548640" cy="54864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74" name="Forma 73"/>
              <p:cNvSpPr/>
              <p:nvPr/>
            </p:nvSpPr>
            <p:spPr>
              <a:xfrm>
                <a:off x="10241280" y="3383280"/>
                <a:ext cx="548640" cy="548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</p:grpSp>
      <p:sp>
        <p:nvSpPr>
          <p:cNvPr id="75" name="Regenerativa regla"/>
          <p:cNvSpPr/>
          <p:nvPr/>
        </p:nvSpPr>
        <p:spPr>
          <a:xfrm>
            <a:off x="3246120" y="1097280"/>
            <a:ext cx="2834640" cy="28346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Reticulocitos &gt; 2 %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anemia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REGENERATIVA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la médula responde enviando eritrocitos inmaduros.</a:t>
            </a:r>
            <a:endParaRPr lang="es-AR" sz="2000" dirty="0">
              <a:latin typeface="Calibri"/>
            </a:endParaRPr>
          </a:p>
        </p:txBody>
      </p:sp>
      <p:sp>
        <p:nvSpPr>
          <p:cNvPr id="76" name="Arregenerativa regla"/>
          <p:cNvSpPr/>
          <p:nvPr/>
        </p:nvSpPr>
        <p:spPr>
          <a:xfrm>
            <a:off x="6263640" y="1097280"/>
            <a:ext cx="2743200" cy="28346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Reticulocitos 0,5–2 %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anemia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ARREGENERATIVA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la médula no responde; el problema es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central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grpSp>
        <p:nvGrpSpPr>
          <p:cNvPr id="77" name="Perla"/>
          <p:cNvGrpSpPr/>
          <p:nvPr/>
        </p:nvGrpSpPr>
        <p:grpSpPr>
          <a:xfrm>
            <a:off x="320040" y="4343400"/>
            <a:ext cx="11612880" cy="1280160"/>
            <a:chOff x="320040" y="4343400"/>
            <a:chExt cx="11612880" cy="1280160"/>
          </a:xfrm>
        </p:grpSpPr>
        <p:sp>
          <p:nvSpPr>
            <p:cNvPr id="78" name="Forma 77"/>
            <p:cNvSpPr/>
            <p:nvPr/>
          </p:nvSpPr>
          <p:spPr>
            <a:xfrm>
              <a:off x="320040" y="4544568"/>
              <a:ext cx="11612880" cy="107899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 la arregenerativa, que los reticulocitos estén «normales» </a:t>
              </a:r>
              <a:r>
                <a:rPr lang="es-AR" sz="2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es el hallazgo patológico</a:t>
              </a: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: la médula debería aumentar su producción y no lo hace.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79" name="Forma 78"/>
            <p:cNvSpPr/>
            <p:nvPr/>
          </p:nvSpPr>
          <p:spPr>
            <a:xfrm>
              <a:off x="448056" y="4343400"/>
              <a:ext cx="1350088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IMPORTANTE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80" name="Resumen periférica central"/>
          <p:cNvSpPr/>
          <p:nvPr/>
        </p:nvSpPr>
        <p:spPr>
          <a:xfrm>
            <a:off x="320040" y="5760720"/>
            <a:ext cx="11612880" cy="6858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Periféricas (regenerativas): hemorragia y hemólisis · Centrales (arregenerativas): stem cell, desplazamiento, déficit de factores.</a:t>
            </a:r>
            <a:endParaRPr lang="es-AR" sz="16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REGENERATIVA O ARREGENERATIVA: LA REGLA DE LOS RETICULOCITOS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8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80" grpId="0" animBg="1"/>
    </p:bld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Vaso sanguíneo"/>
          <p:cNvGrpSpPr/>
          <p:nvPr/>
        </p:nvGrpSpPr>
        <p:grpSpPr>
          <a:xfrm>
            <a:off x="365760" y="1280160"/>
            <a:ext cx="7680960" cy="1005840"/>
            <a:chOff x="365760" y="1280160"/>
            <a:chExt cx="7680960" cy="1005840"/>
          </a:xfrm>
        </p:grpSpPr>
        <p:sp>
          <p:nvSpPr>
            <p:cNvPr id="6" name="Forma 5"/>
            <p:cNvSpPr/>
            <p:nvPr/>
          </p:nvSpPr>
          <p:spPr>
            <a:xfrm>
              <a:off x="365760" y="1280160"/>
              <a:ext cx="7680960" cy="10058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516636" y="1461211"/>
              <a:ext cx="7379208" cy="6437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8" name="Eritrocito"/>
            <p:cNvSpPr/>
            <p:nvPr/>
          </p:nvSpPr>
          <p:spPr>
            <a:xfrm>
              <a:off x="959688" y="1769961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9" name="Eritrocito_2"/>
            <p:cNvSpPr/>
            <p:nvPr/>
          </p:nvSpPr>
          <p:spPr>
            <a:xfrm>
              <a:off x="1448827" y="1552962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0" name="Eritrocito_3"/>
            <p:cNvSpPr/>
            <p:nvPr/>
          </p:nvSpPr>
          <p:spPr>
            <a:xfrm>
              <a:off x="2450915" y="1716687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1" name="Eritrocito_4"/>
            <p:cNvSpPr/>
            <p:nvPr/>
          </p:nvSpPr>
          <p:spPr>
            <a:xfrm>
              <a:off x="3164286" y="1609104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2" name="Eritrocito_5"/>
            <p:cNvSpPr/>
            <p:nvPr/>
          </p:nvSpPr>
          <p:spPr>
            <a:xfrm>
              <a:off x="3908824" y="1684206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3" name="Eritrocito_6"/>
            <p:cNvSpPr/>
            <p:nvPr/>
          </p:nvSpPr>
          <p:spPr>
            <a:xfrm>
              <a:off x="4665295" y="1571447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4" name="Eritrocito_7"/>
            <p:cNvSpPr/>
            <p:nvPr/>
          </p:nvSpPr>
          <p:spPr>
            <a:xfrm>
              <a:off x="5383322" y="1630578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5" name="Eritrocito_8"/>
            <p:cNvSpPr/>
            <p:nvPr/>
          </p:nvSpPr>
          <p:spPr>
            <a:xfrm>
              <a:off x="6236698" y="1781777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6" name="Eritrocito_9"/>
            <p:cNvSpPr/>
            <p:nvPr/>
          </p:nvSpPr>
          <p:spPr>
            <a:xfrm>
              <a:off x="7069915" y="1668459"/>
              <a:ext cx="422453" cy="422453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17" name="Hemorragia"/>
          <p:cNvGrpSpPr/>
          <p:nvPr/>
        </p:nvGrpSpPr>
        <p:grpSpPr>
          <a:xfrm>
            <a:off x="1828800" y="2377440"/>
            <a:ext cx="1005840" cy="1024128"/>
            <a:chOff x="1828800" y="2377440"/>
            <a:chExt cx="1005840" cy="1024128"/>
          </a:xfrm>
        </p:grpSpPr>
        <p:sp>
          <p:nvSpPr>
            <p:cNvPr id="18" name="Forma 17"/>
            <p:cNvSpPr/>
            <p:nvPr/>
          </p:nvSpPr>
          <p:spPr>
            <a:xfrm rot="8100000">
              <a:off x="1828800" y="2377440"/>
              <a:ext cx="274320" cy="384048"/>
            </a:xfrm>
            <a:prstGeom prst="teardrop">
              <a:avLst/>
            </a:prstGeom>
            <a:solidFill>
              <a:srgbClr val="B3261E"/>
            </a:soli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 rot="8100000">
              <a:off x="2194560" y="2697480"/>
              <a:ext cx="274320" cy="384048"/>
            </a:xfrm>
            <a:prstGeom prst="teardrop">
              <a:avLst/>
            </a:prstGeom>
            <a:solidFill>
              <a:srgbClr val="B3261E"/>
            </a:soli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 rot="8100000">
              <a:off x="2560320" y="3017520"/>
              <a:ext cx="274320" cy="384048"/>
            </a:xfrm>
            <a:prstGeom prst="teardrop">
              <a:avLst/>
            </a:prstGeom>
            <a:solidFill>
              <a:srgbClr val="B3261E"/>
            </a:solidFill>
            <a:ln w="12700" cap="rnd">
              <a:solidFill>
                <a:srgbClr val="6E1A12"/>
              </a:solidFill>
              <a:round/>
            </a:ln>
          </p:spPr>
        </p:sp>
      </p:grpSp>
      <p:grpSp>
        <p:nvGrpSpPr>
          <p:cNvPr id="21" name="Hemólisis"/>
          <p:cNvGrpSpPr/>
          <p:nvPr/>
        </p:nvGrpSpPr>
        <p:grpSpPr>
          <a:xfrm>
            <a:off x="5486400" y="2423160"/>
            <a:ext cx="1005840" cy="502920"/>
            <a:chOff x="5486400" y="2423160"/>
            <a:chExt cx="1005840" cy="502920"/>
          </a:xfrm>
        </p:grpSpPr>
        <p:sp>
          <p:nvSpPr>
            <p:cNvPr id="22" name="Forma 21"/>
            <p:cNvSpPr/>
            <p:nvPr/>
          </p:nvSpPr>
          <p:spPr>
            <a:xfrm>
              <a:off x="5486400" y="2423160"/>
              <a:ext cx="274320" cy="182880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5852160" y="2423160"/>
              <a:ext cx="274320" cy="182880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6217920" y="2423160"/>
              <a:ext cx="274320" cy="182880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5486400" y="2743200"/>
              <a:ext cx="274320" cy="182880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5852160" y="2743200"/>
              <a:ext cx="274320" cy="182880"/>
            </a:xfrm>
            <a:prstGeom prst="ellipse">
              <a:avLst/>
            </a:prstGeom>
            <a:solidFill>
              <a:srgbClr val="C0392B"/>
            </a:soli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27" name="Hemorragia caja"/>
          <p:cNvGrpSpPr/>
          <p:nvPr/>
        </p:nvGrpSpPr>
        <p:grpSpPr>
          <a:xfrm>
            <a:off x="365760" y="3429000"/>
            <a:ext cx="3657600" cy="3017520"/>
            <a:chOff x="365760" y="3429000"/>
            <a:chExt cx="3657600" cy="3017520"/>
          </a:xfrm>
        </p:grpSpPr>
        <p:sp>
          <p:nvSpPr>
            <p:cNvPr id="28" name="Forma 27"/>
            <p:cNvSpPr/>
            <p:nvPr/>
          </p:nvSpPr>
          <p:spPr>
            <a:xfrm>
              <a:off x="365760" y="3630168"/>
              <a:ext cx="3657600" cy="281635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Causa 1 — Hemorragia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pérdida de sangre por traumatismo o herida, interna o externa;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aguda o crónica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493776" y="3429000"/>
              <a:ext cx="1000316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PÉRDIDA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0" name="Hemólisis caja"/>
          <p:cNvGrpSpPr/>
          <p:nvPr/>
        </p:nvGrpSpPr>
        <p:grpSpPr>
          <a:xfrm>
            <a:off x="4343400" y="3429000"/>
            <a:ext cx="3703320" cy="3017520"/>
            <a:chOff x="4343400" y="3429000"/>
            <a:chExt cx="3703320" cy="3017520"/>
          </a:xfrm>
        </p:grpSpPr>
        <p:sp>
          <p:nvSpPr>
            <p:cNvPr id="31" name="Forma 30"/>
            <p:cNvSpPr/>
            <p:nvPr/>
          </p:nvSpPr>
          <p:spPr>
            <a:xfrm>
              <a:off x="4343400" y="3630168"/>
              <a:ext cx="3703320" cy="281635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Causa 2 — Hemólisis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destrucción anormal en la periferia.</a:t>
              </a:r>
              <a:endParaRPr lang="es-AR" sz="1750" dirty="0">
                <a:latin typeface="Calibri"/>
              </a:endParaRPr>
            </a:p>
            <a:p>
              <a:pPr algn="l" marL="166687" indent="-16668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Corpuscular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membranopatías, enzimopatías, hemoglobinopatías.</a:t>
              </a:r>
              <a:endParaRPr lang="es-AR" sz="1750" dirty="0">
                <a:latin typeface="Calibri"/>
              </a:endParaRPr>
            </a:p>
            <a:p>
              <a:pPr algn="l" marL="166687" indent="-16668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Extracorpuscular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tóxicos, infecciones, mecánicas, autoinmunes.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4471416" y="3429000"/>
              <a:ext cx="141593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DESTRUCCIÓN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3" name="Def periféricas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34" name="Forma 33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causa es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externa a la médula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esta produce eritrocitos normalmente, pero se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pierden o destruyen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la periferia.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8677656" y="1097280"/>
              <a:ext cx="128803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PERIFÉRICAS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3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ANEMIAS REGENERATIVAS (PERIFÉRICAS)</a:t>
            </a:r>
            <a:endParaRPr lang="es-AR" sz="23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139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Grupo arregenerativa 0"/>
          <p:cNvGrpSpPr/>
          <p:nvPr/>
        </p:nvGrpSpPr>
        <p:grpSpPr>
          <a:xfrm>
            <a:off x="365760" y="2926080"/>
            <a:ext cx="3703320" cy="3520440"/>
            <a:chOff x="365760" y="2926080"/>
            <a:chExt cx="3703320" cy="3520440"/>
          </a:xfrm>
        </p:grpSpPr>
        <p:sp>
          <p:nvSpPr>
            <p:cNvPr id="6" name="Forma 5"/>
            <p:cNvSpPr/>
            <p:nvPr/>
          </p:nvSpPr>
          <p:spPr>
            <a:xfrm>
              <a:off x="365760" y="3127248"/>
              <a:ext cx="3703320" cy="3319272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Aplasia medular global (pancitopenia)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Aplasias selectivas puras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Diseritropoyesis y síndrome mielodisplásico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Leucemias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493776" y="2926080"/>
              <a:ext cx="286984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 · STEM CELL HEMATOPOYÉTICA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8" name="Grupo arregenerativa 1"/>
          <p:cNvGrpSpPr/>
          <p:nvPr/>
        </p:nvGrpSpPr>
        <p:grpSpPr>
          <a:xfrm>
            <a:off x="4251960" y="2926080"/>
            <a:ext cx="3703320" cy="3520440"/>
            <a:chOff x="4251960" y="2926080"/>
            <a:chExt cx="3703320" cy="3520440"/>
          </a:xfrm>
        </p:grpSpPr>
        <p:sp>
          <p:nvSpPr>
            <p:cNvPr id="9" name="Forma 8"/>
            <p:cNvSpPr/>
            <p:nvPr/>
          </p:nvSpPr>
          <p:spPr>
            <a:xfrm>
              <a:off x="4251960" y="3127248"/>
              <a:ext cx="3703320" cy="331927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Carcinoma mamario con metástasis medular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Mieloma múltiple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Linfomas y leucemias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Infecciones crónicas severas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379976" y="2926080"/>
              <a:ext cx="281333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 · DESPLAZAMIENTO DE LÍNEAS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1" name="Grupo arregenerativa 2"/>
          <p:cNvGrpSpPr/>
          <p:nvPr/>
        </p:nvGrpSpPr>
        <p:grpSpPr>
          <a:xfrm>
            <a:off x="8138160" y="2926080"/>
            <a:ext cx="3703320" cy="3520440"/>
            <a:chOff x="8138160" y="2926080"/>
            <a:chExt cx="3703320" cy="3520440"/>
          </a:xfrm>
        </p:grpSpPr>
        <p:sp>
          <p:nvSpPr>
            <p:cNvPr id="12" name="Forma 11"/>
            <p:cNvSpPr/>
            <p:nvPr/>
          </p:nvSpPr>
          <p:spPr>
            <a:xfrm>
              <a:off x="8138160" y="3127248"/>
              <a:ext cx="3703320" cy="331927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Ferropenia → microcítica hipocrómica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Déficit de B</a:t>
              </a:r>
              <a:r>
                <a:rPr lang="es-AR" sz="18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/ ácido fólico → macrocítica megaloblástica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 perniciosa (factor intrínseco)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Procesos inflamatorios crónicos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IRC: menos eritropoyetina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8266176" y="2926080"/>
              <a:ext cx="220461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 · DÉFICIT DE FACTORES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4" name="!!MedulaOsea"/>
          <p:cNvGrpSpPr/>
          <p:nvPr/>
        </p:nvGrpSpPr>
        <p:grpSpPr>
          <a:xfrm>
            <a:off x="365760" y="1051560"/>
            <a:ext cx="5029200" cy="1691640"/>
            <a:chOff x="365760" y="1051560"/>
            <a:chExt cx="5029200" cy="1691640"/>
          </a:xfrm>
        </p:grpSpPr>
        <p:sp>
          <p:nvSpPr>
            <p:cNvPr id="15" name="Hueso"/>
            <p:cNvSpPr/>
            <p:nvPr/>
          </p:nvSpPr>
          <p:spPr>
            <a:xfrm>
              <a:off x="365760" y="1051560"/>
              <a:ext cx="5029200" cy="169164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6" name="Médula"/>
            <p:cNvSpPr/>
            <p:nvPr/>
          </p:nvSpPr>
          <p:spPr>
            <a:xfrm>
              <a:off x="667512" y="1254557"/>
              <a:ext cx="4425696" cy="1285646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1878810" y="1942272"/>
              <a:ext cx="166623" cy="166623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1928797" y="1992259"/>
              <a:ext cx="66649" cy="66649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9" name="Forma 18"/>
            <p:cNvSpPr/>
            <p:nvPr/>
          </p:nvSpPr>
          <p:spPr>
            <a:xfrm>
              <a:off x="3360887" y="1456399"/>
              <a:ext cx="136445" cy="136445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3401821" y="1497332"/>
              <a:ext cx="54578" cy="54578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1" name="Forma 20"/>
            <p:cNvSpPr/>
            <p:nvPr/>
          </p:nvSpPr>
          <p:spPr>
            <a:xfrm>
              <a:off x="1960565" y="1627730"/>
              <a:ext cx="219545" cy="219545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2026428" y="1693594"/>
              <a:ext cx="87818" cy="87818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3" name="Forma 22"/>
            <p:cNvSpPr/>
            <p:nvPr/>
          </p:nvSpPr>
          <p:spPr>
            <a:xfrm>
              <a:off x="3036970" y="1947755"/>
              <a:ext cx="168922" cy="168922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3087647" y="1998431"/>
              <a:ext cx="67569" cy="67569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5" name="Forma 24"/>
            <p:cNvSpPr/>
            <p:nvPr/>
          </p:nvSpPr>
          <p:spPr>
            <a:xfrm>
              <a:off x="1855714" y="1543782"/>
              <a:ext cx="213640" cy="213640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1919806" y="1607874"/>
              <a:ext cx="85456" cy="85456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7" name="Forma 26"/>
            <p:cNvSpPr/>
            <p:nvPr/>
          </p:nvSpPr>
          <p:spPr>
            <a:xfrm>
              <a:off x="3802471" y="2071360"/>
              <a:ext cx="140747" cy="140747"/>
            </a:xfrm>
            <a:prstGeom prst="ellipse">
              <a:avLst/>
            </a:pr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2749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14D69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3844695" y="2113584"/>
              <a:ext cx="56299" cy="56299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9" name="Forma 28"/>
            <p:cNvSpPr/>
            <p:nvPr/>
          </p:nvSpPr>
          <p:spPr>
            <a:xfrm>
              <a:off x="2120767" y="1421364"/>
              <a:ext cx="208539" cy="20853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2183329" y="1483926"/>
              <a:ext cx="83416" cy="83416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31" name="Forma 30"/>
            <p:cNvSpPr/>
            <p:nvPr/>
          </p:nvSpPr>
          <p:spPr>
            <a:xfrm>
              <a:off x="3242511" y="2323832"/>
              <a:ext cx="168116" cy="168116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>
              <a:off x="3292946" y="2374267"/>
              <a:ext cx="67246" cy="67246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33" name="Forma 32"/>
            <p:cNvSpPr/>
            <p:nvPr/>
          </p:nvSpPr>
          <p:spPr>
            <a:xfrm>
              <a:off x="2478890" y="2202798"/>
              <a:ext cx="172938" cy="172938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2530771" y="2254679"/>
              <a:ext cx="69175" cy="6917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35" name="Forma 34"/>
            <p:cNvSpPr/>
            <p:nvPr/>
          </p:nvSpPr>
          <p:spPr>
            <a:xfrm>
              <a:off x="4328461" y="1488803"/>
              <a:ext cx="146832" cy="146832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36" name="Forma 35"/>
            <p:cNvSpPr/>
            <p:nvPr/>
          </p:nvSpPr>
          <p:spPr>
            <a:xfrm>
              <a:off x="4372511" y="1532852"/>
              <a:ext cx="58733" cy="58733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</p:grpSp>
      <p:grpSp>
        <p:nvGrpSpPr>
          <p:cNvPr id="37" name="Riñón EPO"/>
          <p:cNvGrpSpPr/>
          <p:nvPr/>
        </p:nvGrpSpPr>
        <p:grpSpPr>
          <a:xfrm>
            <a:off x="5852160" y="1005840"/>
            <a:ext cx="868680" cy="1216152"/>
            <a:chOff x="5852160" y="1005840"/>
            <a:chExt cx="868680" cy="1216152"/>
          </a:xfrm>
        </p:grpSpPr>
        <p:sp>
          <p:nvSpPr>
            <p:cNvPr id="38" name="Forma 37"/>
            <p:cNvSpPr/>
            <p:nvPr/>
          </p:nvSpPr>
          <p:spPr>
            <a:xfrm>
              <a:off x="5852160" y="1005840"/>
              <a:ext cx="868680" cy="1216152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350" y="30"/>
                  </a:moveTo>
                  <a:cubicBezTo>
                    <a:pt x="398" y="30"/>
                    <a:pt x="471" y="31"/>
                    <a:pt x="520" y="60"/>
                  </a:cubicBezTo>
                  <a:cubicBezTo>
                    <a:pt x="568" y="88"/>
                    <a:pt x="613" y="143"/>
                    <a:pt x="640" y="200"/>
                  </a:cubicBezTo>
                  <a:cubicBezTo>
                    <a:pt x="666" y="256"/>
                    <a:pt x="676" y="330"/>
                    <a:pt x="680" y="400"/>
                  </a:cubicBezTo>
                  <a:cubicBezTo>
                    <a:pt x="683" y="470"/>
                    <a:pt x="676" y="550"/>
                    <a:pt x="660" y="620"/>
                  </a:cubicBezTo>
                  <a:cubicBezTo>
                    <a:pt x="643" y="690"/>
                    <a:pt x="620" y="763"/>
                    <a:pt x="580" y="820"/>
                  </a:cubicBezTo>
                  <a:cubicBezTo>
                    <a:pt x="540" y="876"/>
                    <a:pt x="475" y="936"/>
                    <a:pt x="420" y="960"/>
                  </a:cubicBezTo>
                  <a:cubicBezTo>
                    <a:pt x="365" y="983"/>
                    <a:pt x="296" y="976"/>
                    <a:pt x="250" y="960"/>
                  </a:cubicBezTo>
                  <a:cubicBezTo>
                    <a:pt x="203" y="943"/>
                    <a:pt x="163" y="903"/>
                    <a:pt x="140" y="860"/>
                  </a:cubicBezTo>
                  <a:cubicBezTo>
                    <a:pt x="116" y="816"/>
                    <a:pt x="105" y="743"/>
                    <a:pt x="110" y="700"/>
                  </a:cubicBezTo>
                  <a:cubicBezTo>
                    <a:pt x="115" y="656"/>
                    <a:pt x="143" y="623"/>
                    <a:pt x="170" y="600"/>
                  </a:cubicBezTo>
                  <a:cubicBezTo>
                    <a:pt x="196" y="576"/>
                    <a:pt x="248" y="576"/>
                    <a:pt x="270" y="560"/>
                  </a:cubicBezTo>
                  <a:cubicBezTo>
                    <a:pt x="291" y="543"/>
                    <a:pt x="301" y="521"/>
                    <a:pt x="300" y="500"/>
                  </a:cubicBezTo>
                  <a:cubicBezTo>
                    <a:pt x="298" y="478"/>
                    <a:pt x="283" y="446"/>
                    <a:pt x="260" y="430"/>
                  </a:cubicBezTo>
                  <a:cubicBezTo>
                    <a:pt x="236" y="413"/>
                    <a:pt x="186" y="421"/>
                    <a:pt x="160" y="400"/>
                  </a:cubicBezTo>
                  <a:cubicBezTo>
                    <a:pt x="133" y="378"/>
                    <a:pt x="103" y="341"/>
                    <a:pt x="100" y="300"/>
                  </a:cubicBezTo>
                  <a:cubicBezTo>
                    <a:pt x="96" y="258"/>
                    <a:pt x="118" y="190"/>
                    <a:pt x="140" y="150"/>
                  </a:cubicBezTo>
                  <a:cubicBezTo>
                    <a:pt x="161" y="110"/>
                    <a:pt x="195" y="80"/>
                    <a:pt x="230" y="60"/>
                  </a:cubicBezTo>
                  <a:cubicBezTo>
                    <a:pt x="265" y="40"/>
                    <a:pt x="301" y="30"/>
                    <a:pt x="350" y="3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4F1A14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39" name="Forma 38"/>
            <p:cNvSpPr/>
            <p:nvPr/>
          </p:nvSpPr>
          <p:spPr>
            <a:xfrm>
              <a:off x="5852160" y="1005840"/>
              <a:ext cx="868680" cy="1216152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440" y="150"/>
                  </a:moveTo>
                  <a:lnTo>
                    <a:pt x="530" y="270"/>
                  </a:lnTo>
                  <a:lnTo>
                    <a:pt x="380" y="290"/>
                  </a:lnTo>
                  <a:close/>
                </a:path>
                <a:path w="700" h="1000">
                  <a:moveTo>
                    <a:pt x="520" y="350"/>
                  </a:moveTo>
                  <a:lnTo>
                    <a:pt x="610" y="470"/>
                  </a:lnTo>
                  <a:lnTo>
                    <a:pt x="460" y="490"/>
                  </a:lnTo>
                  <a:close/>
                </a:path>
                <a:path w="700" h="1000">
                  <a:moveTo>
                    <a:pt x="500" y="570"/>
                  </a:moveTo>
                  <a:lnTo>
                    <a:pt x="590" y="690"/>
                  </a:lnTo>
                  <a:lnTo>
                    <a:pt x="440" y="710"/>
                  </a:lnTo>
                  <a:close/>
                </a:path>
                <a:path w="700" h="1000">
                  <a:moveTo>
                    <a:pt x="380" y="750"/>
                  </a:moveTo>
                  <a:lnTo>
                    <a:pt x="470" y="870"/>
                  </a:lnTo>
                  <a:lnTo>
                    <a:pt x="320" y="890"/>
                  </a:lnTo>
                  <a:close/>
                </a:path>
              </a:pathLst>
            </a:custGeom>
            <a:solidFill>
              <a:srgbClr val="7B2820"/>
            </a:solidFill>
            <a:ln w="9525" cap="rnd">
              <a:solidFill>
                <a:srgbClr val="4F1A14"/>
              </a:solidFill>
              <a:round/>
            </a:ln>
          </p:spPr>
        </p:sp>
        <p:sp>
          <p:nvSpPr>
            <p:cNvPr id="40" name="Forma 39"/>
            <p:cNvSpPr/>
            <p:nvPr/>
          </p:nvSpPr>
          <p:spPr>
            <a:xfrm>
              <a:off x="5852160" y="1005840"/>
              <a:ext cx="868680" cy="1216152"/>
            </a:xfrm>
            <a:custGeom>
              <a:avLst/>
              <a:gdLst/>
              <a:ahLst/>
              <a:cxnLst/>
              <a:rect l="0" t="0" r="r" b="b"/>
              <a:pathLst>
                <a:path w="700" h="1000">
                  <a:moveTo>
                    <a:pt x="300" y="470"/>
                  </a:moveTo>
                  <a:cubicBezTo>
                    <a:pt x="313" y="440"/>
                    <a:pt x="360" y="375"/>
                    <a:pt x="380" y="380"/>
                  </a:cubicBezTo>
                  <a:cubicBezTo>
                    <a:pt x="400" y="385"/>
                    <a:pt x="420" y="460"/>
                    <a:pt x="420" y="500"/>
                  </a:cubicBezTo>
                  <a:cubicBezTo>
                    <a:pt x="420" y="540"/>
                    <a:pt x="400" y="610"/>
                    <a:pt x="380" y="620"/>
                  </a:cubicBezTo>
                  <a:cubicBezTo>
                    <a:pt x="360" y="630"/>
                    <a:pt x="313" y="585"/>
                    <a:pt x="300" y="560"/>
                  </a:cubicBezTo>
                  <a:cubicBezTo>
                    <a:pt x="286" y="535"/>
                    <a:pt x="286" y="500"/>
                    <a:pt x="300" y="470"/>
                  </a:cubicBezTo>
                  <a:close/>
                </a:path>
              </a:pathLst>
            </a:custGeom>
            <a:solidFill>
              <a:srgbClr val="F5CBA7"/>
            </a:soli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41" name="Forma 40"/>
            <p:cNvSpPr/>
            <p:nvPr/>
          </p:nvSpPr>
          <p:spPr>
            <a:xfrm>
              <a:off x="5852160" y="1005840"/>
              <a:ext cx="868680" cy="1216152"/>
            </a:xfrm>
            <a:custGeom>
              <a:avLst/>
              <a:gdLst/>
              <a:ahLst/>
              <a:cxnLst/>
              <a:rect l="0" t="0" r="r" b="b"/>
              <a:pathLst>
                <a:path w="700" h="1000" fill="none">
                  <a:moveTo>
                    <a:pt x="300" y="520"/>
                  </a:moveTo>
                  <a:cubicBezTo>
                    <a:pt x="220" y="560"/>
                    <a:pt x="200" y="700"/>
                    <a:pt x="230" y="1000"/>
                  </a:cubicBezTo>
                </a:path>
              </a:pathLst>
            </a:custGeom>
            <a:noFill/>
            <a:ln w="63500" cap="rnd">
              <a:solidFill>
                <a:srgbClr val="E59866"/>
              </a:solidFill>
              <a:round/>
            </a:ln>
          </p:spPr>
        </p:sp>
      </p:grpSp>
      <p:sp>
        <p:nvSpPr>
          <p:cNvPr id="42" name="EPO baja"/>
          <p:cNvSpPr/>
          <p:nvPr/>
        </p:nvSpPr>
        <p:spPr>
          <a:xfrm>
            <a:off x="6858000" y="1463040"/>
            <a:ext cx="839912" cy="31432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EPO ↓</a:t>
            </a:r>
            <a:endParaRPr lang="es-AR" sz="1500" dirty="0">
              <a:latin typeface="Calibri"/>
            </a:endParaRPr>
          </a:p>
        </p:txBody>
      </p:sp>
      <p:sp>
        <p:nvSpPr>
          <p:cNvPr id="43" name="Def centrales"/>
          <p:cNvSpPr/>
          <p:nvPr/>
        </p:nvSpPr>
        <p:spPr>
          <a:xfrm>
            <a:off x="8138160" y="1051560"/>
            <a:ext cx="3794760" cy="16916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problema está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la médula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o en los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factores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que necesita la eritropoyesis.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ANEMIAS ARREGENERATIVAS (CENTRALES)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4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2" grpId="0" animBg="1"/>
    </p:bld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Columna Tipo"/>
          <p:cNvGrpSpPr/>
          <p:nvPr/>
        </p:nvGrpSpPr>
        <p:grpSpPr>
          <a:xfrm>
            <a:off x="320040" y="1097280"/>
            <a:ext cx="2148840" cy="5212080"/>
            <a:chOff x="320040" y="1097280"/>
            <a:chExt cx="2148840" cy="5212080"/>
          </a:xfrm>
        </p:grpSpPr>
        <p:sp>
          <p:nvSpPr>
            <p:cNvPr id="6" name="Forma 5"/>
            <p:cNvSpPr/>
            <p:nvPr/>
          </p:nvSpPr>
          <p:spPr>
            <a:xfrm>
              <a:off x="320040" y="1097280"/>
              <a:ext cx="2148840" cy="6400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Tipo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20040" y="1737360"/>
              <a:ext cx="2148840" cy="1143000"/>
            </a:xfrm>
            <a:prstGeom prst="rect">
              <a:avLst/>
            </a:prstGeom>
            <a:solidFill>
              <a:srgbClr val="D8E6F2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Microcítica hipocrómica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20040" y="2880360"/>
              <a:ext cx="2148840" cy="1143000"/>
            </a:xfrm>
            <a:prstGeom prst="rect">
              <a:avLst/>
            </a:prstGeom>
            <a:solidFill>
              <a:srgbClr val="FDE4E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Macrocítica (megaloblástica)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320040" y="4023360"/>
              <a:ext cx="2148840" cy="1143000"/>
            </a:xfrm>
            <a:prstGeom prst="rect">
              <a:avLst/>
            </a:prstGeom>
            <a:solidFill>
              <a:srgbClr val="EAF5EA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Normocítica regenerativa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320040" y="5166360"/>
              <a:ext cx="2148840" cy="11430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Normocítica arregenerativa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1" name="Columna VCM (fL)"/>
          <p:cNvGrpSpPr/>
          <p:nvPr/>
        </p:nvGrpSpPr>
        <p:grpSpPr>
          <a:xfrm>
            <a:off x="2468880" y="1097280"/>
            <a:ext cx="1234440" cy="5212080"/>
            <a:chOff x="2468880" y="1097280"/>
            <a:chExt cx="1234440" cy="5212080"/>
          </a:xfrm>
        </p:grpSpPr>
        <p:sp>
          <p:nvSpPr>
            <p:cNvPr id="12" name="Forma 11"/>
            <p:cNvSpPr/>
            <p:nvPr/>
          </p:nvSpPr>
          <p:spPr>
            <a:xfrm>
              <a:off x="2468880" y="1097280"/>
              <a:ext cx="1234440" cy="6400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VCM (fL)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2468880" y="1737360"/>
              <a:ext cx="1234440" cy="1143000"/>
            </a:xfrm>
            <a:prstGeom prst="rect">
              <a:avLst/>
            </a:prstGeom>
            <a:solidFill>
              <a:srgbClr val="D8E6F2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80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2468880" y="2880360"/>
              <a:ext cx="1234440" cy="1143000"/>
            </a:xfrm>
            <a:prstGeom prst="rect">
              <a:avLst/>
            </a:prstGeom>
            <a:solidFill>
              <a:srgbClr val="FDE4E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 100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2468880" y="4023360"/>
              <a:ext cx="1234440" cy="1143000"/>
            </a:xfrm>
            <a:prstGeom prst="rect">
              <a:avLst/>
            </a:prstGeom>
            <a:solidFill>
              <a:srgbClr val="EAF5EA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80–100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2468880" y="5166360"/>
              <a:ext cx="1234440" cy="11430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80–100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Columna Problema central"/>
          <p:cNvGrpSpPr/>
          <p:nvPr/>
        </p:nvGrpSpPr>
        <p:grpSpPr>
          <a:xfrm>
            <a:off x="3703320" y="1097280"/>
            <a:ext cx="1600200" cy="5212080"/>
            <a:chOff x="3703320" y="1097280"/>
            <a:chExt cx="1600200" cy="5212080"/>
          </a:xfrm>
        </p:grpSpPr>
        <p:sp>
          <p:nvSpPr>
            <p:cNvPr id="18" name="Forma 17"/>
            <p:cNvSpPr/>
            <p:nvPr/>
          </p:nvSpPr>
          <p:spPr>
            <a:xfrm>
              <a:off x="3703320" y="1097280"/>
              <a:ext cx="1600200" cy="6400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Problema central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3703320" y="1737360"/>
              <a:ext cx="1600200" cy="1143000"/>
            </a:xfrm>
            <a:prstGeom prst="rect">
              <a:avLst/>
            </a:prstGeom>
            <a:solidFill>
              <a:srgbClr val="D8E6F2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Síntesis de Hb baja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3703320" y="2880360"/>
              <a:ext cx="1600200" cy="1143000"/>
            </a:xfrm>
            <a:prstGeom prst="rect">
              <a:avLst/>
            </a:prstGeom>
            <a:solidFill>
              <a:srgbClr val="FDE4E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Síntesis de ADN alterada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3703320" y="4023360"/>
              <a:ext cx="1600200" cy="1143000"/>
            </a:xfrm>
            <a:prstGeom prst="rect">
              <a:avLst/>
            </a:prstGeom>
            <a:solidFill>
              <a:srgbClr val="EAF5EA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Pérdida o destrucción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3703320" y="5166360"/>
              <a:ext cx="1600200" cy="11430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Falla medular o crónica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3" name="Columna Reticulocitos"/>
          <p:cNvGrpSpPr/>
          <p:nvPr/>
        </p:nvGrpSpPr>
        <p:grpSpPr>
          <a:xfrm>
            <a:off x="5303520" y="1097280"/>
            <a:ext cx="1463040" cy="5212080"/>
            <a:chOff x="5303520" y="1097280"/>
            <a:chExt cx="1463040" cy="5212080"/>
          </a:xfrm>
        </p:grpSpPr>
        <p:sp>
          <p:nvSpPr>
            <p:cNvPr id="24" name="Forma 23"/>
            <p:cNvSpPr/>
            <p:nvPr/>
          </p:nvSpPr>
          <p:spPr>
            <a:xfrm>
              <a:off x="5303520" y="1097280"/>
              <a:ext cx="1463040" cy="6400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5303520" y="1737360"/>
              <a:ext cx="1463040" cy="1143000"/>
            </a:xfrm>
            <a:prstGeom prst="rect">
              <a:avLst/>
            </a:prstGeom>
            <a:solidFill>
              <a:srgbClr val="D8E6F2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5303520" y="2880360"/>
              <a:ext cx="1463040" cy="1143000"/>
            </a:xfrm>
            <a:prstGeom prst="rect">
              <a:avLst/>
            </a:prstGeom>
            <a:solidFill>
              <a:srgbClr val="FDE4E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Bajos (arregenerativa)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5303520" y="4023360"/>
              <a:ext cx="1463040" cy="1143000"/>
            </a:xfrm>
            <a:prstGeom prst="rect">
              <a:avLst/>
            </a:prstGeom>
            <a:solidFill>
              <a:srgbClr val="EAF5EA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Elevados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5303520" y="5166360"/>
              <a:ext cx="1463040" cy="11430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Normales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9" name="Columna Causas"/>
          <p:cNvGrpSpPr/>
          <p:nvPr/>
        </p:nvGrpSpPr>
        <p:grpSpPr>
          <a:xfrm>
            <a:off x="6766560" y="1097280"/>
            <a:ext cx="1691640" cy="5212080"/>
            <a:chOff x="6766560" y="1097280"/>
            <a:chExt cx="1691640" cy="5212080"/>
          </a:xfrm>
        </p:grpSpPr>
        <p:sp>
          <p:nvSpPr>
            <p:cNvPr id="30" name="Forma 29"/>
            <p:cNvSpPr/>
            <p:nvPr/>
          </p:nvSpPr>
          <p:spPr>
            <a:xfrm>
              <a:off x="6766560" y="1097280"/>
              <a:ext cx="1691640" cy="6400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Causas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6766560" y="1737360"/>
              <a:ext cx="1691640" cy="1143000"/>
            </a:xfrm>
            <a:prstGeom prst="rect">
              <a:avLst/>
            </a:prstGeom>
            <a:solidFill>
              <a:srgbClr val="D8E6F2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Ferropenia, talasemia, sideroblástica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6766560" y="2880360"/>
              <a:ext cx="1691640" cy="1143000"/>
            </a:xfrm>
            <a:prstGeom prst="rect">
              <a:avLst/>
            </a:prstGeom>
            <a:solidFill>
              <a:srgbClr val="FDE4E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Déficit B</a:t>
              </a:r>
              <a:r>
                <a:rPr lang="es-AR" sz="14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ácido fólico, perniciosa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6766560" y="4023360"/>
              <a:ext cx="1691640" cy="1143000"/>
            </a:xfrm>
            <a:prstGeom prst="rect">
              <a:avLst/>
            </a:prstGeom>
            <a:solidFill>
              <a:srgbClr val="EAF5EA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Hemorragia aguda, hemólisis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6766560" y="5166360"/>
              <a:ext cx="1691640" cy="11430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73152" tIns="27432" rIns="73152" bIns="27432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IR, enfermedad crónica, aplasia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5" name="Eritrocitos tabla"/>
          <p:cNvGrpSpPr/>
          <p:nvPr/>
        </p:nvGrpSpPr>
        <p:grpSpPr>
          <a:xfrm>
            <a:off x="8778240" y="1143000"/>
            <a:ext cx="3017520" cy="1051560"/>
            <a:chOff x="8778240" y="1143000"/>
            <a:chExt cx="3017520" cy="1051560"/>
          </a:xfrm>
        </p:grpSpPr>
        <p:sp>
          <p:nvSpPr>
            <p:cNvPr id="36" name="GR t1"/>
            <p:cNvSpPr/>
            <p:nvPr/>
          </p:nvSpPr>
          <p:spPr>
            <a:xfrm>
              <a:off x="8778240" y="128016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37" name="GR t2"/>
            <p:cNvSpPr/>
            <p:nvPr/>
          </p:nvSpPr>
          <p:spPr>
            <a:xfrm>
              <a:off x="9692640" y="1143000"/>
              <a:ext cx="1051560" cy="105156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38" name="Reti t"/>
            <p:cNvGrpSpPr/>
            <p:nvPr/>
          </p:nvGrpSpPr>
          <p:grpSpPr>
            <a:xfrm>
              <a:off x="10927080" y="1234440"/>
              <a:ext cx="868680" cy="868680"/>
              <a:chOff x="10927080" y="1234440"/>
              <a:chExt cx="868680" cy="868680"/>
            </a:xfrm>
          </p:grpSpPr>
          <p:sp>
            <p:nvSpPr>
              <p:cNvPr id="39" name="Cuerpo"/>
              <p:cNvSpPr/>
              <p:nvPr/>
            </p:nvSpPr>
            <p:spPr>
              <a:xfrm>
                <a:off x="10927080" y="1234440"/>
                <a:ext cx="868680" cy="86868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10927080" y="1234440"/>
                <a:ext cx="868680" cy="86868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</p:grpSp>
      <p:grpSp>
        <p:nvGrpSpPr>
          <p:cNvPr id="41" name="Interpretación tabla"/>
          <p:cNvGrpSpPr/>
          <p:nvPr/>
        </p:nvGrpSpPr>
        <p:grpSpPr>
          <a:xfrm>
            <a:off x="8549640" y="2377440"/>
            <a:ext cx="3383280" cy="4069080"/>
            <a:chOff x="8549640" y="2377440"/>
            <a:chExt cx="3383280" cy="4069080"/>
          </a:xfrm>
        </p:grpSpPr>
        <p:sp>
          <p:nvSpPr>
            <p:cNvPr id="42" name="Forma 41"/>
            <p:cNvSpPr/>
            <p:nvPr/>
          </p:nvSpPr>
          <p:spPr>
            <a:xfrm>
              <a:off x="8549640" y="2578608"/>
              <a:ext cx="3383280" cy="38679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Leé por filas: el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tamaño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propone un mecanismo, la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lo confirma y los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dicen si la médula responde.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8677656" y="2377440"/>
              <a:ext cx="165429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4" name="Pie tabla"/>
          <p:cNvGrpSpPr/>
          <p:nvPr/>
        </p:nvGrpSpPr>
        <p:grpSpPr>
          <a:xfrm>
            <a:off x="320040" y="6400800"/>
            <a:ext cx="8138160" cy="365760"/>
            <a:chOff x="320040" y="6400800"/>
            <a:chExt cx="8138160" cy="365760"/>
          </a:xfrm>
        </p:grpSpPr>
        <p:sp>
          <p:nvSpPr>
            <p:cNvPr id="45" name="Forma 44"/>
            <p:cNvSpPr txBox="1"/>
            <p:nvPr/>
          </p:nvSpPr>
          <p:spPr>
            <a:xfrm>
              <a:off x="320040" y="6400800"/>
              <a:ext cx="81381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5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Color (HCM): la microcítica es hipocrómica; las demás, en general, normocrómicas.</a:t>
              </a:r>
              <a:endParaRPr lang="es-AR" sz="135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TABLA INTEGRADORA DE LAS ANEMIAS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4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Ciclo celular"/>
          <p:cNvGrpSpPr/>
          <p:nvPr/>
        </p:nvGrpSpPr>
        <p:grpSpPr>
          <a:xfrm>
            <a:off x="593909" y="1554480"/>
            <a:ext cx="3606641" cy="3474720"/>
            <a:chOff x="593909" y="1554480"/>
            <a:chExt cx="3606641" cy="3474720"/>
          </a:xfrm>
        </p:grpSpPr>
        <p:sp>
          <p:nvSpPr>
            <p:cNvPr id="6" name="Forma 5"/>
            <p:cNvSpPr/>
            <p:nvPr/>
          </p:nvSpPr>
          <p:spPr>
            <a:xfrm>
              <a:off x="640080" y="1554480"/>
              <a:ext cx="3474720" cy="3474720"/>
            </a:xfrm>
            <a:prstGeom prst="blockArc">
              <a:avLst>
                <a:gd name="adj1" fmla="val 16200000"/>
                <a:gd name="adj2" fmla="val 3600000"/>
                <a:gd name="adj3" fmla="val 22000"/>
              </a:avLst>
            </a:prstGeom>
            <a:solidFill>
              <a:srgbClr val="AED6F1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7" name="Forma 6"/>
            <p:cNvSpPr txBox="1"/>
            <p:nvPr/>
          </p:nvSpPr>
          <p:spPr>
            <a:xfrm>
              <a:off x="3469030" y="2718464"/>
              <a:ext cx="7315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G1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640080" y="1554480"/>
              <a:ext cx="3474720" cy="3474720"/>
            </a:xfrm>
            <a:prstGeom prst="blockArc">
              <a:avLst>
                <a:gd name="adj1" fmla="val 3600000"/>
                <a:gd name="adj2" fmla="val 10200000"/>
                <a:gd name="adj3" fmla="val 22000"/>
              </a:avLst>
            </a:prstGeom>
            <a:solidFill>
              <a:srgbClr val="C00000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9" name="Forma 8"/>
            <p:cNvSpPr txBox="1"/>
            <p:nvPr/>
          </p:nvSpPr>
          <p:spPr>
            <a:xfrm>
              <a:off x="1374050" y="4476361"/>
              <a:ext cx="7315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640080" y="1554480"/>
              <a:ext cx="3474720" cy="3474720"/>
            </a:xfrm>
            <a:prstGeom prst="blockArc">
              <a:avLst>
                <a:gd name="adj1" fmla="val 10200000"/>
                <a:gd name="adj2" fmla="val 13800000"/>
                <a:gd name="adj3" fmla="val 22000"/>
              </a:avLst>
            </a:prstGeom>
            <a:solidFill>
              <a:srgbClr val="F9E79F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1" name="Forma 10"/>
            <p:cNvSpPr txBox="1"/>
            <p:nvPr/>
          </p:nvSpPr>
          <p:spPr>
            <a:xfrm>
              <a:off x="593909" y="2592934"/>
              <a:ext cx="7315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G2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640080" y="1554480"/>
              <a:ext cx="3474720" cy="3474720"/>
            </a:xfrm>
            <a:prstGeom prst="blockArc">
              <a:avLst>
                <a:gd name="adj1" fmla="val 13800000"/>
                <a:gd name="adj2" fmla="val 16200000"/>
                <a:gd name="adj3" fmla="val 22000"/>
              </a:avLst>
            </a:prstGeom>
            <a:solidFill>
              <a:srgbClr val="A9DFBF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3" name="Forma 12"/>
            <p:cNvSpPr txBox="1"/>
            <p:nvPr/>
          </p:nvSpPr>
          <p:spPr>
            <a:xfrm>
              <a:off x="1495654" y="1691189"/>
              <a:ext cx="7315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14" name="Bloqueo fase S"/>
          <p:cNvSpPr txBox="1"/>
          <p:nvPr/>
        </p:nvSpPr>
        <p:spPr>
          <a:xfrm>
            <a:off x="2697480" y="40690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36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s-AR" sz="3600" dirty="0">
              <a:latin typeface="Calibri"/>
            </a:endParaRPr>
          </a:p>
        </p:txBody>
      </p:sp>
      <p:grpSp>
        <p:nvGrpSpPr>
          <p:cNvPr id="15" name="Vitaminas"/>
          <p:cNvGrpSpPr/>
          <p:nvPr/>
        </p:nvGrpSpPr>
        <p:grpSpPr>
          <a:xfrm>
            <a:off x="4572000" y="1463040"/>
            <a:ext cx="3566160" cy="457200"/>
            <a:chOff x="4572000" y="1463040"/>
            <a:chExt cx="3566160" cy="457200"/>
          </a:xfrm>
        </p:grpSpPr>
        <p:sp>
          <p:nvSpPr>
            <p:cNvPr id="16" name="Ficha Vitamina B12"/>
            <p:cNvSpPr/>
            <p:nvPr/>
          </p:nvSpPr>
          <p:spPr>
            <a:xfrm>
              <a:off x="4572000" y="1463040"/>
              <a:ext cx="182880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F8A80"/>
                </a:gs>
                <a:gs pos="55000">
                  <a:srgbClr val="E74C3C"/>
                </a:gs>
                <a:gs pos="100000">
                  <a:srgbClr val="B83C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3261E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Vitamina B</a:t>
              </a:r>
              <a:r>
                <a:rPr lang="es-AR" sz="14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7" name="Ficha Ácido fólico"/>
            <p:cNvSpPr/>
            <p:nvPr/>
          </p:nvSpPr>
          <p:spPr>
            <a:xfrm>
              <a:off x="6492240" y="1463040"/>
              <a:ext cx="164592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3573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fólico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8" name="Cofactores ADN"/>
          <p:cNvSpPr/>
          <p:nvPr/>
        </p:nvSpPr>
        <p:spPr>
          <a:xfrm>
            <a:off x="4572000" y="2148840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Son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cofactores indispensables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para la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síntesis de ADN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su déficit afecta la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fase 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ciclo celular (duplicación del material genético).</a:t>
            </a:r>
            <a:endParaRPr lang="es-AR" sz="1850" dirty="0">
              <a:latin typeface="Calibri"/>
            </a:endParaRPr>
          </a:p>
        </p:txBody>
      </p:sp>
      <p:sp>
        <p:nvSpPr>
          <p:cNvPr id="19" name="Consecuencia ADN"/>
          <p:cNvSpPr/>
          <p:nvPr/>
        </p:nvSpPr>
        <p:spPr>
          <a:xfrm>
            <a:off x="4572000" y="4480560"/>
            <a:ext cx="3611880" cy="19659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Sin duplicación correcta del ADN las células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se dividen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normalmente: aparece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megaloblasto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20" name="Causa megaloblástica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1" name="Forma 20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Déficit de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vitamina B</a:t>
              </a:r>
              <a:r>
                <a:rPr lang="es-AR" sz="20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y/o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fólico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anemia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macrocítica megaloblástica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8677656" y="1097280"/>
              <a:ext cx="84060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CAUSA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3" name="Megaloblasto deco"/>
          <p:cNvGrpSpPr/>
          <p:nvPr/>
        </p:nvGrpSpPr>
        <p:grpSpPr>
          <a:xfrm>
            <a:off x="9326880" y="4114800"/>
            <a:ext cx="1920240" cy="1920240"/>
            <a:chOff x="9326880" y="4114800"/>
            <a:chExt cx="1920240" cy="1920240"/>
          </a:xfrm>
        </p:grpSpPr>
        <p:sp>
          <p:nvSpPr>
            <p:cNvPr id="24" name="Citoplasma"/>
            <p:cNvSpPr/>
            <p:nvPr/>
          </p:nvSpPr>
          <p:spPr>
            <a:xfrm>
              <a:off x="9326880" y="4114800"/>
              <a:ext cx="1920240" cy="1920240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8E3A59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5" name="Núcleo"/>
            <p:cNvSpPr/>
            <p:nvPr/>
          </p:nvSpPr>
          <p:spPr>
            <a:xfrm>
              <a:off x="9854946" y="4642866"/>
              <a:ext cx="864108" cy="864108"/>
            </a:xfrm>
            <a:prstGeom prst="ellipse">
              <a:avLst/>
            </a:prstGeom>
            <a:gradFill rotWithShape="1">
              <a:gsLst>
                <a:gs pos="0">
                  <a:srgbClr val="B39DDB"/>
                </a:gs>
                <a:gs pos="100000">
                  <a:srgbClr val="5E35B1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311B92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9854946" y="4642866"/>
              <a:ext cx="864108" cy="86410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68" y="613"/>
                  </a:moveTo>
                  <a:cubicBezTo>
                    <a:pt x="568" y="630"/>
                    <a:pt x="554" y="644"/>
                    <a:pt x="537" y="644"/>
                  </a:cubicBezTo>
                  <a:cubicBezTo>
                    <a:pt x="519" y="644"/>
                    <a:pt x="506" y="630"/>
                    <a:pt x="506" y="613"/>
                  </a:cubicBezTo>
                  <a:cubicBezTo>
                    <a:pt x="506" y="595"/>
                    <a:pt x="519" y="582"/>
                    <a:pt x="537" y="582"/>
                  </a:cubicBezTo>
                  <a:cubicBezTo>
                    <a:pt x="554" y="582"/>
                    <a:pt x="568" y="595"/>
                    <a:pt x="568" y="613"/>
                  </a:cubicBezTo>
                  <a:close/>
                  <a:moveTo>
                    <a:pt x="461" y="370"/>
                  </a:moveTo>
                  <a:cubicBezTo>
                    <a:pt x="461" y="383"/>
                    <a:pt x="449" y="395"/>
                    <a:pt x="436" y="395"/>
                  </a:cubicBezTo>
                  <a:cubicBezTo>
                    <a:pt x="422" y="395"/>
                    <a:pt x="411" y="383"/>
                    <a:pt x="411" y="370"/>
                  </a:cubicBezTo>
                  <a:cubicBezTo>
                    <a:pt x="411" y="356"/>
                    <a:pt x="422" y="345"/>
                    <a:pt x="436" y="345"/>
                  </a:cubicBezTo>
                  <a:cubicBezTo>
                    <a:pt x="449" y="345"/>
                    <a:pt x="461" y="356"/>
                    <a:pt x="461" y="370"/>
                  </a:cubicBezTo>
                  <a:close/>
                  <a:moveTo>
                    <a:pt x="676" y="303"/>
                  </a:moveTo>
                  <a:cubicBezTo>
                    <a:pt x="676" y="319"/>
                    <a:pt x="662" y="333"/>
                    <a:pt x="646" y="333"/>
                  </a:cubicBezTo>
                  <a:cubicBezTo>
                    <a:pt x="629" y="333"/>
                    <a:pt x="616" y="319"/>
                    <a:pt x="616" y="303"/>
                  </a:cubicBezTo>
                  <a:cubicBezTo>
                    <a:pt x="616" y="286"/>
                    <a:pt x="629" y="273"/>
                    <a:pt x="646" y="273"/>
                  </a:cubicBezTo>
                  <a:cubicBezTo>
                    <a:pt x="662" y="273"/>
                    <a:pt x="676" y="286"/>
                    <a:pt x="676" y="303"/>
                  </a:cubicBezTo>
                  <a:close/>
                  <a:moveTo>
                    <a:pt x="596" y="537"/>
                  </a:moveTo>
                  <a:cubicBezTo>
                    <a:pt x="596" y="558"/>
                    <a:pt x="578" y="576"/>
                    <a:pt x="557" y="576"/>
                  </a:cubicBezTo>
                  <a:cubicBezTo>
                    <a:pt x="535" y="576"/>
                    <a:pt x="518" y="558"/>
                    <a:pt x="518" y="537"/>
                  </a:cubicBezTo>
                  <a:cubicBezTo>
                    <a:pt x="518" y="515"/>
                    <a:pt x="535" y="498"/>
                    <a:pt x="557" y="498"/>
                  </a:cubicBezTo>
                  <a:cubicBezTo>
                    <a:pt x="578" y="498"/>
                    <a:pt x="596" y="515"/>
                    <a:pt x="596" y="537"/>
                  </a:cubicBezTo>
                  <a:close/>
                  <a:moveTo>
                    <a:pt x="378" y="471"/>
                  </a:moveTo>
                  <a:cubicBezTo>
                    <a:pt x="378" y="491"/>
                    <a:pt x="361" y="508"/>
                    <a:pt x="341" y="508"/>
                  </a:cubicBezTo>
                  <a:cubicBezTo>
                    <a:pt x="320" y="508"/>
                    <a:pt x="304" y="491"/>
                    <a:pt x="304" y="471"/>
                  </a:cubicBezTo>
                  <a:cubicBezTo>
                    <a:pt x="304" y="450"/>
                    <a:pt x="320" y="434"/>
                    <a:pt x="341" y="434"/>
                  </a:cubicBezTo>
                  <a:cubicBezTo>
                    <a:pt x="361" y="434"/>
                    <a:pt x="378" y="450"/>
                    <a:pt x="378" y="471"/>
                  </a:cubicBezTo>
                  <a:close/>
                  <a:moveTo>
                    <a:pt x="636" y="658"/>
                  </a:moveTo>
                  <a:cubicBezTo>
                    <a:pt x="636" y="669"/>
                    <a:pt x="626" y="679"/>
                    <a:pt x="615" y="679"/>
                  </a:cubicBezTo>
                  <a:cubicBezTo>
                    <a:pt x="603" y="679"/>
                    <a:pt x="594" y="669"/>
                    <a:pt x="594" y="658"/>
                  </a:cubicBezTo>
                  <a:cubicBezTo>
                    <a:pt x="594" y="646"/>
                    <a:pt x="603" y="637"/>
                    <a:pt x="615" y="637"/>
                  </a:cubicBezTo>
                  <a:cubicBezTo>
                    <a:pt x="626" y="637"/>
                    <a:pt x="636" y="646"/>
                    <a:pt x="636" y="658"/>
                  </a:cubicBezTo>
                  <a:close/>
                  <a:moveTo>
                    <a:pt x="697" y="494"/>
                  </a:moveTo>
                  <a:cubicBezTo>
                    <a:pt x="697" y="507"/>
                    <a:pt x="685" y="519"/>
                    <a:pt x="672" y="519"/>
                  </a:cubicBezTo>
                  <a:cubicBezTo>
                    <a:pt x="658" y="519"/>
                    <a:pt x="647" y="507"/>
                    <a:pt x="647" y="494"/>
                  </a:cubicBezTo>
                  <a:cubicBezTo>
                    <a:pt x="647" y="480"/>
                    <a:pt x="658" y="469"/>
                    <a:pt x="672" y="469"/>
                  </a:cubicBezTo>
                  <a:cubicBezTo>
                    <a:pt x="685" y="469"/>
                    <a:pt x="697" y="480"/>
                    <a:pt x="697" y="494"/>
                  </a:cubicBezTo>
                  <a:close/>
                  <a:moveTo>
                    <a:pt x="693" y="531"/>
                  </a:moveTo>
                  <a:cubicBezTo>
                    <a:pt x="693" y="549"/>
                    <a:pt x="678" y="564"/>
                    <a:pt x="660" y="564"/>
                  </a:cubicBezTo>
                  <a:cubicBezTo>
                    <a:pt x="641" y="564"/>
                    <a:pt x="627" y="549"/>
                    <a:pt x="627" y="531"/>
                  </a:cubicBezTo>
                  <a:cubicBezTo>
                    <a:pt x="627" y="512"/>
                    <a:pt x="641" y="498"/>
                    <a:pt x="660" y="498"/>
                  </a:cubicBezTo>
                  <a:cubicBezTo>
                    <a:pt x="678" y="498"/>
                    <a:pt x="693" y="512"/>
                    <a:pt x="693" y="531"/>
                  </a:cubicBezTo>
                  <a:close/>
                  <a:moveTo>
                    <a:pt x="407" y="386"/>
                  </a:moveTo>
                  <a:cubicBezTo>
                    <a:pt x="407" y="400"/>
                    <a:pt x="394" y="413"/>
                    <a:pt x="380" y="413"/>
                  </a:cubicBezTo>
                  <a:cubicBezTo>
                    <a:pt x="365" y="413"/>
                    <a:pt x="353" y="400"/>
                    <a:pt x="353" y="386"/>
                  </a:cubicBezTo>
                  <a:cubicBezTo>
                    <a:pt x="353" y="371"/>
                    <a:pt x="365" y="359"/>
                    <a:pt x="380" y="359"/>
                  </a:cubicBezTo>
                  <a:cubicBezTo>
                    <a:pt x="394" y="359"/>
                    <a:pt x="407" y="371"/>
                    <a:pt x="407" y="386"/>
                  </a:cubicBezTo>
                  <a:close/>
                  <a:moveTo>
                    <a:pt x="350" y="356"/>
                  </a:moveTo>
                  <a:cubicBezTo>
                    <a:pt x="350" y="369"/>
                    <a:pt x="339" y="380"/>
                    <a:pt x="326" y="380"/>
                  </a:cubicBezTo>
                  <a:cubicBezTo>
                    <a:pt x="312" y="380"/>
                    <a:pt x="302" y="369"/>
                    <a:pt x="302" y="356"/>
                  </a:cubicBezTo>
                  <a:cubicBezTo>
                    <a:pt x="302" y="342"/>
                    <a:pt x="312" y="332"/>
                    <a:pt x="326" y="332"/>
                  </a:cubicBezTo>
                  <a:cubicBezTo>
                    <a:pt x="339" y="332"/>
                    <a:pt x="350" y="342"/>
                    <a:pt x="350" y="356"/>
                  </a:cubicBezTo>
                  <a:close/>
                  <a:moveTo>
                    <a:pt x="581" y="602"/>
                  </a:moveTo>
                  <a:cubicBezTo>
                    <a:pt x="581" y="614"/>
                    <a:pt x="571" y="624"/>
                    <a:pt x="559" y="624"/>
                  </a:cubicBezTo>
                  <a:cubicBezTo>
                    <a:pt x="546" y="624"/>
                    <a:pt x="537" y="614"/>
                    <a:pt x="537" y="602"/>
                  </a:cubicBezTo>
                  <a:cubicBezTo>
                    <a:pt x="537" y="589"/>
                    <a:pt x="546" y="580"/>
                    <a:pt x="559" y="580"/>
                  </a:cubicBezTo>
                  <a:cubicBezTo>
                    <a:pt x="571" y="580"/>
                    <a:pt x="581" y="589"/>
                    <a:pt x="581" y="602"/>
                  </a:cubicBezTo>
                  <a:close/>
                  <a:moveTo>
                    <a:pt x="728" y="652"/>
                  </a:moveTo>
                  <a:cubicBezTo>
                    <a:pt x="728" y="669"/>
                    <a:pt x="713" y="684"/>
                    <a:pt x="696" y="684"/>
                  </a:cubicBezTo>
                  <a:cubicBezTo>
                    <a:pt x="678" y="684"/>
                    <a:pt x="664" y="669"/>
                    <a:pt x="664" y="652"/>
                  </a:cubicBezTo>
                  <a:cubicBezTo>
                    <a:pt x="664" y="634"/>
                    <a:pt x="678" y="620"/>
                    <a:pt x="696" y="620"/>
                  </a:cubicBezTo>
                  <a:cubicBezTo>
                    <a:pt x="713" y="620"/>
                    <a:pt x="728" y="634"/>
                    <a:pt x="728" y="652"/>
                  </a:cubicBezTo>
                  <a:close/>
                  <a:moveTo>
                    <a:pt x="711" y="352"/>
                  </a:moveTo>
                  <a:cubicBezTo>
                    <a:pt x="711" y="368"/>
                    <a:pt x="698" y="381"/>
                    <a:pt x="682" y="381"/>
                  </a:cubicBezTo>
                  <a:cubicBezTo>
                    <a:pt x="665" y="381"/>
                    <a:pt x="653" y="368"/>
                    <a:pt x="653" y="352"/>
                  </a:cubicBezTo>
                  <a:cubicBezTo>
                    <a:pt x="653" y="335"/>
                    <a:pt x="665" y="323"/>
                    <a:pt x="682" y="323"/>
                  </a:cubicBezTo>
                  <a:cubicBezTo>
                    <a:pt x="698" y="323"/>
                    <a:pt x="711" y="335"/>
                    <a:pt x="711" y="352"/>
                  </a:cubicBezTo>
                  <a:close/>
                  <a:moveTo>
                    <a:pt x="431" y="645"/>
                  </a:moveTo>
                  <a:cubicBezTo>
                    <a:pt x="431" y="659"/>
                    <a:pt x="418" y="672"/>
                    <a:pt x="404" y="672"/>
                  </a:cubicBezTo>
                  <a:cubicBezTo>
                    <a:pt x="389" y="672"/>
                    <a:pt x="377" y="659"/>
                    <a:pt x="377" y="645"/>
                  </a:cubicBezTo>
                  <a:cubicBezTo>
                    <a:pt x="377" y="630"/>
                    <a:pt x="389" y="618"/>
                    <a:pt x="404" y="618"/>
                  </a:cubicBezTo>
                  <a:cubicBezTo>
                    <a:pt x="418" y="618"/>
                    <a:pt x="431" y="630"/>
                    <a:pt x="431" y="645"/>
                  </a:cubicBezTo>
                  <a:close/>
                </a:path>
              </a:pathLst>
            </a:custGeom>
            <a:solidFill>
              <a:srgbClr val="311B92"/>
            </a:solidFill>
            <a:ln>
              <a:noFill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 MEGALOBLÁSTICA: FALLA LA SÍNTESIS DE ADN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4" grpId="0" animBg="1"/>
      <p:bldP spid="19" grpId="0" animBg="1"/>
    </p:bld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MedulaOsea"/>
          <p:cNvGrpSpPr/>
          <p:nvPr/>
        </p:nvGrpSpPr>
        <p:grpSpPr>
          <a:xfrm>
            <a:off x="274320" y="1097280"/>
            <a:ext cx="7772400" cy="3657600"/>
            <a:chOff x="274320" y="1097280"/>
            <a:chExt cx="7772400" cy="3657600"/>
          </a:xfrm>
        </p:grpSpPr>
        <p:sp>
          <p:nvSpPr>
            <p:cNvPr id="6" name="Hueso"/>
            <p:cNvSpPr/>
            <p:nvPr/>
          </p:nvSpPr>
          <p:spPr>
            <a:xfrm>
              <a:off x="274320" y="1097280"/>
              <a:ext cx="7772400" cy="36576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édula"/>
            <p:cNvSpPr/>
            <p:nvPr/>
          </p:nvSpPr>
          <p:spPr>
            <a:xfrm>
              <a:off x="740664" y="1536192"/>
              <a:ext cx="6839712" cy="2779776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</p:grpSp>
      <p:sp>
        <p:nvSpPr>
          <p:cNvPr id="8" name="!!Célula 1"/>
          <p:cNvSpPr/>
          <p:nvPr/>
        </p:nvSpPr>
        <p:spPr>
          <a:xfrm>
            <a:off x="914400" y="2286000"/>
            <a:ext cx="1280160" cy="1280160"/>
          </a:xfrm>
          <a:prstGeom prst="ellipse">
            <a:avLst/>
          </a:prstGeom>
          <a:gradFill rotWithShape="1">
            <a:gsLst>
              <a:gs pos="0">
                <a:srgbClr val="F1C7D3"/>
              </a:gs>
              <a:gs pos="55000">
                <a:srgbClr val="E8A3B6"/>
              </a:gs>
              <a:gs pos="100000">
                <a:srgbClr val="AE7A8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9" name="!!Núcleo 1"/>
          <p:cNvSpPr/>
          <p:nvPr/>
        </p:nvSpPr>
        <p:spPr>
          <a:xfrm>
            <a:off x="1074420" y="2446020"/>
            <a:ext cx="960120" cy="960120"/>
          </a:xfrm>
          <a:prstGeom prst="ellipse">
            <a:avLst/>
          </a:prstGeom>
          <a:gradFill rotWithShape="1">
            <a:gsLst>
              <a:gs pos="0">
                <a:srgbClr val="A48CC0"/>
              </a:gs>
              <a:gs pos="100000">
                <a:srgbClr val="7D5BA6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0" name="!!Célula 2"/>
          <p:cNvSpPr/>
          <p:nvPr/>
        </p:nvSpPr>
        <p:spPr>
          <a:xfrm>
            <a:off x="2651760" y="2354580"/>
            <a:ext cx="1143000" cy="1143000"/>
          </a:xfrm>
          <a:prstGeom prst="ellipse">
            <a:avLst/>
          </a:prstGeom>
          <a:gradFill rotWithShape="1">
            <a:gsLst>
              <a:gs pos="0">
                <a:srgbClr val="F1C7D3"/>
              </a:gs>
              <a:gs pos="55000">
                <a:srgbClr val="E8A3B6"/>
              </a:gs>
              <a:gs pos="100000">
                <a:srgbClr val="AE7A8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1" name="!!Núcleo 2"/>
          <p:cNvSpPr/>
          <p:nvPr/>
        </p:nvSpPr>
        <p:spPr>
          <a:xfrm>
            <a:off x="2908935" y="2611755"/>
            <a:ext cx="628650" cy="628650"/>
          </a:xfrm>
          <a:prstGeom prst="ellipse">
            <a:avLst/>
          </a:prstGeom>
          <a:gradFill rotWithShape="1">
            <a:gsLst>
              <a:gs pos="0">
                <a:srgbClr val="A48CC0"/>
              </a:gs>
              <a:gs pos="100000">
                <a:srgbClr val="7D5BA6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2" name="!!Célula 3"/>
          <p:cNvSpPr/>
          <p:nvPr/>
        </p:nvSpPr>
        <p:spPr>
          <a:xfrm>
            <a:off x="4206240" y="242316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F1C7D3"/>
              </a:gs>
              <a:gs pos="55000">
                <a:srgbClr val="E8A3B6"/>
              </a:gs>
              <a:gs pos="100000">
                <a:srgbClr val="AE7A8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3" name="!!Núcleo 3"/>
          <p:cNvSpPr/>
          <p:nvPr/>
        </p:nvSpPr>
        <p:spPr>
          <a:xfrm>
            <a:off x="4533138" y="2750058"/>
            <a:ext cx="352044" cy="352044"/>
          </a:xfrm>
          <a:prstGeom prst="ellipse">
            <a:avLst/>
          </a:prstGeom>
          <a:gradFill rotWithShape="1">
            <a:gsLst>
              <a:gs pos="0">
                <a:srgbClr val="8C6B9A"/>
              </a:gs>
              <a:gs pos="100000">
                <a:srgbClr val="5B2C6F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4" name="!!Célula 4"/>
          <p:cNvSpPr/>
          <p:nvPr/>
        </p:nvSpPr>
        <p:spPr>
          <a:xfrm>
            <a:off x="5760720" y="2468880"/>
            <a:ext cx="914400" cy="914400"/>
          </a:xfrm>
          <a:prstGeom prst="ellipse">
            <a:avLst/>
          </a:prstGeom>
          <a:gradFill rotWithShape="1">
            <a:gsLst>
              <a:gs pos="0">
                <a:srgbClr val="EFABAB"/>
              </a:gs>
              <a:gs pos="55000">
                <a:srgbClr val="E57373"/>
              </a:gs>
              <a:gs pos="100000">
                <a:srgbClr val="AB5656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5" name="Normal madura"/>
          <p:cNvSpPr/>
          <p:nvPr/>
        </p:nvSpPr>
        <p:spPr>
          <a:xfrm>
            <a:off x="274320" y="4983480"/>
            <a:ext cx="777240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la eritropoyesis normal el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núcleo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se condensa mientras el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citoplasma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se llena de hemoglobina; al final el núcleo se expulsa.</a:t>
            </a:r>
            <a:endParaRPr lang="es-AR" sz="2000" dirty="0">
              <a:latin typeface="Calibri"/>
            </a:endParaRPr>
          </a:p>
        </p:txBody>
      </p:sp>
      <p:grpSp>
        <p:nvGrpSpPr>
          <p:cNvPr id="16" name="Caja sincronía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7" name="Forma 16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Maduración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sincronizada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núcleo y citoplasma avanzan juntos.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8677656" y="1097280"/>
              <a:ext cx="1020443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MADURACIÓN NORMAL: NÚCLEO Y CITOPLASMA SINCRONIZADOS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MedulaOsea"/>
          <p:cNvGrpSpPr/>
          <p:nvPr/>
        </p:nvGrpSpPr>
        <p:grpSpPr>
          <a:xfrm>
            <a:off x="274320" y="1097280"/>
            <a:ext cx="7772400" cy="3657600"/>
            <a:chOff x="274320" y="1097280"/>
            <a:chExt cx="7772400" cy="3657600"/>
          </a:xfrm>
        </p:grpSpPr>
        <p:sp>
          <p:nvSpPr>
            <p:cNvPr id="6" name="Hueso"/>
            <p:cNvSpPr/>
            <p:nvPr/>
          </p:nvSpPr>
          <p:spPr>
            <a:xfrm>
              <a:off x="274320" y="1097280"/>
              <a:ext cx="7772400" cy="36576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édula"/>
            <p:cNvSpPr/>
            <p:nvPr/>
          </p:nvSpPr>
          <p:spPr>
            <a:xfrm>
              <a:off x="740664" y="1536192"/>
              <a:ext cx="6839712" cy="2779776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</p:grpSp>
      <p:sp>
        <p:nvSpPr>
          <p:cNvPr id="8" name="!!Célula 1"/>
          <p:cNvSpPr/>
          <p:nvPr/>
        </p:nvSpPr>
        <p:spPr>
          <a:xfrm>
            <a:off x="914400" y="2286000"/>
            <a:ext cx="1280160" cy="1280160"/>
          </a:xfrm>
          <a:prstGeom prst="ellipse">
            <a:avLst/>
          </a:prstGeom>
          <a:gradFill rotWithShape="1">
            <a:gsLst>
              <a:gs pos="0">
                <a:srgbClr val="F1C7D3"/>
              </a:gs>
              <a:gs pos="55000">
                <a:srgbClr val="E8A3B6"/>
              </a:gs>
              <a:gs pos="100000">
                <a:srgbClr val="AE7A8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9" name="!!Núcleo 1"/>
          <p:cNvSpPr/>
          <p:nvPr/>
        </p:nvSpPr>
        <p:spPr>
          <a:xfrm>
            <a:off x="1074420" y="2446020"/>
            <a:ext cx="960120" cy="960120"/>
          </a:xfrm>
          <a:prstGeom prst="ellipse">
            <a:avLst/>
          </a:prstGeom>
          <a:gradFill rotWithShape="1">
            <a:gsLst>
              <a:gs pos="0">
                <a:srgbClr val="A48CC0"/>
              </a:gs>
              <a:gs pos="100000">
                <a:srgbClr val="7D5BA6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0" name="!!Célula 2"/>
          <p:cNvSpPr/>
          <p:nvPr/>
        </p:nvSpPr>
        <p:spPr>
          <a:xfrm>
            <a:off x="2651760" y="2125980"/>
            <a:ext cx="1600200" cy="1600200"/>
          </a:xfrm>
          <a:prstGeom prst="ellipse">
            <a:avLst/>
          </a:prstGeom>
          <a:gradFill rotWithShape="1">
            <a:gsLst>
              <a:gs pos="0">
                <a:srgbClr val="F6D3DC"/>
              </a:gs>
              <a:gs pos="55000">
                <a:srgbClr val="F1B6C6"/>
              </a:gs>
              <a:gs pos="100000">
                <a:srgbClr val="B4889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1" name="!!Núcleo 2"/>
          <p:cNvSpPr/>
          <p:nvPr/>
        </p:nvSpPr>
        <p:spPr>
          <a:xfrm>
            <a:off x="2875788" y="2350008"/>
            <a:ext cx="1152144" cy="1152144"/>
          </a:xfrm>
          <a:prstGeom prst="ellipse">
            <a:avLst/>
          </a:prstGeom>
          <a:gradFill rotWithShape="1">
            <a:gsLst>
              <a:gs pos="0">
                <a:srgbClr val="C9BAE5"/>
              </a:gs>
              <a:gs pos="100000">
                <a:srgbClr val="B39DDB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2" name="!!Célula 3"/>
          <p:cNvSpPr/>
          <p:nvPr/>
        </p:nvSpPr>
        <p:spPr>
          <a:xfrm>
            <a:off x="4480560" y="196596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F6D3DC"/>
              </a:gs>
              <a:gs pos="55000">
                <a:srgbClr val="F1B6C6"/>
              </a:gs>
              <a:gs pos="100000">
                <a:srgbClr val="B4889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3" name="!!Núcleo 3"/>
          <p:cNvSpPr/>
          <p:nvPr/>
        </p:nvSpPr>
        <p:spPr>
          <a:xfrm>
            <a:off x="4768596" y="2253996"/>
            <a:ext cx="1344168" cy="1344168"/>
          </a:xfrm>
          <a:prstGeom prst="ellipse">
            <a:avLst/>
          </a:prstGeom>
          <a:gradFill rotWithShape="1">
            <a:gsLst>
              <a:gs pos="0">
                <a:srgbClr val="C9BAE5"/>
              </a:gs>
              <a:gs pos="100000">
                <a:srgbClr val="B39DDB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4" name="!!Célula 4"/>
          <p:cNvSpPr/>
          <p:nvPr/>
        </p:nvSpPr>
        <p:spPr>
          <a:xfrm>
            <a:off x="6309360" y="219456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EFABAB"/>
              </a:gs>
              <a:gs pos="55000">
                <a:srgbClr val="E57373"/>
              </a:gs>
              <a:gs pos="100000">
                <a:srgbClr val="AB5656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5" name="Asincronía"/>
          <p:cNvSpPr/>
          <p:nvPr/>
        </p:nvSpPr>
        <p:spPr>
          <a:xfrm>
            <a:off x="274320" y="4983480"/>
            <a:ext cx="7772400" cy="14630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citoplasma crece normalmente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(no necesita ADN para sintetizar proteínas y Hb);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núcleo no puede duplicarse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queda inmaduro →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célula grande con núcleo anómalo: megaloblasto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16" name="Caja asincronía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7" name="Forma 16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Asincronismo madurativo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entre núcleo y citoplasma.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8677656" y="1097280"/>
              <a:ext cx="173369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MEGALOBLÁSTICA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ASINCRONISMO MADURATIVO: NACE EL MEGALOBLASTO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3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</p:bld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MedulaOsea"/>
          <p:cNvGrpSpPr/>
          <p:nvPr/>
        </p:nvGrpSpPr>
        <p:grpSpPr>
          <a:xfrm>
            <a:off x="274320" y="1097280"/>
            <a:ext cx="7772400" cy="3657600"/>
            <a:chOff x="274320" y="1097280"/>
            <a:chExt cx="7772400" cy="3657600"/>
          </a:xfrm>
        </p:grpSpPr>
        <p:sp>
          <p:nvSpPr>
            <p:cNvPr id="6" name="Hueso"/>
            <p:cNvSpPr/>
            <p:nvPr/>
          </p:nvSpPr>
          <p:spPr>
            <a:xfrm>
              <a:off x="274320" y="1097280"/>
              <a:ext cx="7772400" cy="36576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édula"/>
            <p:cNvSpPr/>
            <p:nvPr/>
          </p:nvSpPr>
          <p:spPr>
            <a:xfrm>
              <a:off x="740664" y="1536192"/>
              <a:ext cx="6839712" cy="2779776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</p:grpSp>
      <p:sp>
        <p:nvSpPr>
          <p:cNvPr id="8" name="!!Célula 1"/>
          <p:cNvSpPr/>
          <p:nvPr/>
        </p:nvSpPr>
        <p:spPr>
          <a:xfrm>
            <a:off x="914400" y="2286000"/>
            <a:ext cx="1280160" cy="1280160"/>
          </a:xfrm>
          <a:prstGeom prst="ellipse">
            <a:avLst/>
          </a:prstGeom>
          <a:gradFill rotWithShape="1">
            <a:gsLst>
              <a:gs pos="0">
                <a:srgbClr val="F1C7D3"/>
              </a:gs>
              <a:gs pos="55000">
                <a:srgbClr val="E8A3B6"/>
              </a:gs>
              <a:gs pos="100000">
                <a:srgbClr val="AE7A88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9" name="!!Núcleo 1"/>
          <p:cNvSpPr/>
          <p:nvPr/>
        </p:nvSpPr>
        <p:spPr>
          <a:xfrm>
            <a:off x="1074420" y="2446020"/>
            <a:ext cx="960120" cy="960120"/>
          </a:xfrm>
          <a:prstGeom prst="ellipse">
            <a:avLst/>
          </a:prstGeom>
          <a:gradFill rotWithShape="1">
            <a:gsLst>
              <a:gs pos="0">
                <a:srgbClr val="A48CC0"/>
              </a:gs>
              <a:gs pos="100000">
                <a:srgbClr val="7D5BA6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0" name="!!Célula 2"/>
          <p:cNvSpPr/>
          <p:nvPr/>
        </p:nvSpPr>
        <p:spPr>
          <a:xfrm>
            <a:off x="2651760" y="2125980"/>
            <a:ext cx="1600200" cy="1600200"/>
          </a:xfrm>
          <a:prstGeom prst="ellipse">
            <a:avLst/>
          </a:prstGeom>
          <a:gradFill rotWithShape="1">
            <a:gsLst>
              <a:gs pos="0">
                <a:srgbClr val="F6D3DC"/>
              </a:gs>
              <a:gs pos="55000">
                <a:srgbClr val="F1B6C6"/>
              </a:gs>
              <a:gs pos="100000">
                <a:srgbClr val="B4889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1" name="!!Núcleo 2"/>
          <p:cNvSpPr/>
          <p:nvPr/>
        </p:nvSpPr>
        <p:spPr>
          <a:xfrm>
            <a:off x="2875788" y="2350008"/>
            <a:ext cx="1152144" cy="1152144"/>
          </a:xfrm>
          <a:prstGeom prst="ellipse">
            <a:avLst/>
          </a:prstGeom>
          <a:gradFill rotWithShape="1">
            <a:gsLst>
              <a:gs pos="0">
                <a:srgbClr val="C9BAE5"/>
              </a:gs>
              <a:gs pos="100000">
                <a:srgbClr val="B39DDB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2" name="!!Célula 3"/>
          <p:cNvSpPr/>
          <p:nvPr/>
        </p:nvSpPr>
        <p:spPr>
          <a:xfrm>
            <a:off x="4480560" y="196596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F6D3DC"/>
              </a:gs>
              <a:gs pos="55000">
                <a:srgbClr val="F1B6C6"/>
              </a:gs>
              <a:gs pos="100000">
                <a:srgbClr val="B4889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3" name="!!Núcleo 3"/>
          <p:cNvSpPr/>
          <p:nvPr/>
        </p:nvSpPr>
        <p:spPr>
          <a:xfrm>
            <a:off x="4768596" y="2253996"/>
            <a:ext cx="1344168" cy="1344168"/>
          </a:xfrm>
          <a:prstGeom prst="ellipse">
            <a:avLst/>
          </a:prstGeom>
          <a:gradFill rotWithShape="1">
            <a:gsLst>
              <a:gs pos="0">
                <a:srgbClr val="C9BAE5"/>
              </a:gs>
              <a:gs pos="100000">
                <a:srgbClr val="B39DDB"/>
              </a:gs>
            </a:gsLst>
            <a:path path="circle">
              <a:fillToRect l="40000" t="35000" r="60000" b="65000"/>
            </a:path>
          </a:gradFill>
          <a:ln w="12700" cap="rnd">
            <a:solidFill>
              <a:srgbClr val="311B92"/>
            </a:solidFill>
            <a:round/>
          </a:ln>
        </p:spPr>
      </p:sp>
      <p:sp>
        <p:nvSpPr>
          <p:cNvPr id="14" name="!!Célula 4"/>
          <p:cNvSpPr/>
          <p:nvPr/>
        </p:nvSpPr>
        <p:spPr>
          <a:xfrm>
            <a:off x="6309360" y="219456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EFABAB"/>
              </a:gs>
              <a:gs pos="55000">
                <a:srgbClr val="E57373"/>
              </a:gs>
              <a:gs pos="100000">
                <a:srgbClr val="AB5656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8E3A59"/>
            </a:solidFill>
            <a:round/>
          </a:ln>
        </p:spPr>
      </p:sp>
      <p:sp>
        <p:nvSpPr>
          <p:cNvPr id="15" name="Fragmento 0"/>
          <p:cNvSpPr/>
          <p:nvPr/>
        </p:nvSpPr>
        <p:spPr>
          <a:xfrm>
            <a:off x="4754880" y="3931920"/>
            <a:ext cx="292608" cy="201168"/>
          </a:xfrm>
          <a:prstGeom prst="ellipse">
            <a:avLst/>
          </a:prstGeom>
          <a:solidFill>
            <a:srgbClr val="C0392B"/>
          </a:solidFill>
          <a:ln w="9525" cap="rnd">
            <a:solidFill>
              <a:srgbClr val="6E1A12"/>
            </a:solidFill>
            <a:round/>
          </a:ln>
        </p:spPr>
      </p:sp>
      <p:sp>
        <p:nvSpPr>
          <p:cNvPr id="16" name="Fragmento 1"/>
          <p:cNvSpPr/>
          <p:nvPr/>
        </p:nvSpPr>
        <p:spPr>
          <a:xfrm>
            <a:off x="5120640" y="4160520"/>
            <a:ext cx="292608" cy="201168"/>
          </a:xfrm>
          <a:prstGeom prst="ellipse">
            <a:avLst/>
          </a:prstGeom>
          <a:solidFill>
            <a:srgbClr val="C0392B"/>
          </a:solidFill>
          <a:ln w="9525" cap="rnd">
            <a:solidFill>
              <a:srgbClr val="6E1A12"/>
            </a:solidFill>
            <a:round/>
          </a:ln>
        </p:spPr>
      </p:sp>
      <p:sp>
        <p:nvSpPr>
          <p:cNvPr id="17" name="Fragmento 2"/>
          <p:cNvSpPr/>
          <p:nvPr/>
        </p:nvSpPr>
        <p:spPr>
          <a:xfrm>
            <a:off x="4572000" y="4206240"/>
            <a:ext cx="292608" cy="201168"/>
          </a:xfrm>
          <a:prstGeom prst="ellipse">
            <a:avLst/>
          </a:prstGeom>
          <a:solidFill>
            <a:srgbClr val="C0392B"/>
          </a:solidFill>
          <a:ln w="9525" cap="rnd">
            <a:solidFill>
              <a:srgbClr val="6E1A12"/>
            </a:solidFill>
            <a:round/>
          </a:ln>
        </p:spPr>
      </p:sp>
      <p:sp>
        <p:nvSpPr>
          <p:cNvPr id="18" name="Ineficaz"/>
          <p:cNvSpPr/>
          <p:nvPr/>
        </p:nvSpPr>
        <p:spPr>
          <a:xfrm>
            <a:off x="274320" y="4983480"/>
            <a:ext cx="7772400" cy="14630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Estas células son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frágiles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muchas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abortan en la médula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(eritropoyesis ineficaz) y las que salen a la circulación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destruyen rápidamente → hemólisis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19" name="Caja ineficaz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0" name="Forma 19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eso en la megaloblástica pueden aumentar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(destrucción celular).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8677656" y="1097280"/>
              <a:ext cx="153061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CONSECUENCIA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3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ERITROPOYESIS INEFICAZ Y HEMÓLISIS</a:t>
            </a:r>
            <a:endParaRPr lang="es-AR" sz="23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!!MedulaOsea"/>
          <p:cNvGrpSpPr/>
          <p:nvPr/>
        </p:nvGrpSpPr>
        <p:grpSpPr>
          <a:xfrm>
            <a:off x="320040" y="1143000"/>
            <a:ext cx="3749040" cy="2743200"/>
            <a:chOff x="320040" y="1143000"/>
            <a:chExt cx="3749040" cy="2743200"/>
          </a:xfrm>
        </p:grpSpPr>
        <p:sp>
          <p:nvSpPr>
            <p:cNvPr id="6" name="Hueso"/>
            <p:cNvSpPr/>
            <p:nvPr/>
          </p:nvSpPr>
          <p:spPr>
            <a:xfrm>
              <a:off x="320040" y="1143000"/>
              <a:ext cx="3749040" cy="27432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Médula"/>
            <p:cNvSpPr/>
            <p:nvPr/>
          </p:nvSpPr>
          <p:spPr>
            <a:xfrm>
              <a:off x="544982" y="1472184"/>
              <a:ext cx="3299155" cy="2084832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447950" y="2587398"/>
              <a:ext cx="270199" cy="27019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529010" y="2668457"/>
              <a:ext cx="108080" cy="108080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0" name="Forma 9"/>
            <p:cNvSpPr/>
            <p:nvPr/>
          </p:nvSpPr>
          <p:spPr>
            <a:xfrm>
              <a:off x="2552771" y="1799495"/>
              <a:ext cx="221262" cy="221262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2619150" y="1865874"/>
              <a:ext cx="88505" cy="8850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2" name="Forma 11"/>
            <p:cNvSpPr/>
            <p:nvPr/>
          </p:nvSpPr>
          <p:spPr>
            <a:xfrm>
              <a:off x="1508895" y="2077330"/>
              <a:ext cx="356019" cy="356019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1615700" y="2184136"/>
              <a:ext cx="142407" cy="142407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4" name="Forma 13"/>
            <p:cNvSpPr/>
            <p:nvPr/>
          </p:nvSpPr>
          <p:spPr>
            <a:xfrm>
              <a:off x="2311306" y="2596289"/>
              <a:ext cx="273927" cy="273927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2393484" y="2678467"/>
              <a:ext cx="109571" cy="109571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6" name="Forma 15"/>
            <p:cNvSpPr/>
            <p:nvPr/>
          </p:nvSpPr>
          <p:spPr>
            <a:xfrm>
              <a:off x="1430733" y="1941198"/>
              <a:ext cx="346444" cy="346444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1534666" y="2045131"/>
              <a:ext cx="138577" cy="138577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18" name="Forma 17"/>
            <p:cNvSpPr/>
            <p:nvPr/>
          </p:nvSpPr>
          <p:spPr>
            <a:xfrm>
              <a:off x="2881952" y="2796730"/>
              <a:ext cx="228239" cy="228239"/>
            </a:xfrm>
            <a:prstGeom prst="ellipse">
              <a:avLst/>
            </a:pr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2749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14D69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2950423" y="2865201"/>
              <a:ext cx="91295" cy="9129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</p:grpSp>
      <p:grpSp>
        <p:nvGrpSpPr>
          <p:cNvPr id="20" name="Línea Glóbulos rojos bajos"/>
          <p:cNvGrpSpPr/>
          <p:nvPr/>
        </p:nvGrpSpPr>
        <p:grpSpPr>
          <a:xfrm>
            <a:off x="4572000" y="1188720"/>
            <a:ext cx="7360920" cy="1417320"/>
            <a:chOff x="4572000" y="1188720"/>
            <a:chExt cx="7360920" cy="1417320"/>
          </a:xfrm>
        </p:grpSpPr>
        <p:sp>
          <p:nvSpPr>
            <p:cNvPr id="21" name="GR panc"/>
            <p:cNvSpPr/>
            <p:nvPr/>
          </p:nvSpPr>
          <p:spPr>
            <a:xfrm>
              <a:off x="4572000" y="1371600"/>
              <a:ext cx="1005840" cy="10058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5715000" y="1463040"/>
              <a:ext cx="457200" cy="822960"/>
            </a:xfrm>
            <a:prstGeom prst="downArrow">
              <a:avLst/>
            </a:prstGeom>
            <a:solidFill>
              <a:srgbClr val="C00000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6355080" y="1188720"/>
              <a:ext cx="5577840" cy="141732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Glóbulos rojos bajos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anemia</a:t>
              </a:r>
              <a:endParaRPr lang="es-AR" sz="2200" dirty="0">
                <a:latin typeface="Calibri"/>
              </a:endParaRPr>
            </a:p>
          </p:txBody>
        </p:sp>
      </p:grpSp>
      <p:grpSp>
        <p:nvGrpSpPr>
          <p:cNvPr id="24" name="Línea Glóbulos blancos bajos"/>
          <p:cNvGrpSpPr/>
          <p:nvPr/>
        </p:nvGrpSpPr>
        <p:grpSpPr>
          <a:xfrm>
            <a:off x="4572000" y="2971800"/>
            <a:ext cx="7360920" cy="1417320"/>
            <a:chOff x="4572000" y="2971800"/>
            <a:chExt cx="7360920" cy="1417320"/>
          </a:xfrm>
        </p:grpSpPr>
        <p:grpSp>
          <p:nvGrpSpPr>
            <p:cNvPr id="25" name="Lc panc"/>
            <p:cNvGrpSpPr/>
            <p:nvPr/>
          </p:nvGrpSpPr>
          <p:grpSpPr>
            <a:xfrm>
              <a:off x="4572000" y="3154680"/>
              <a:ext cx="1005840" cy="1005840"/>
              <a:chOff x="4572000" y="3154680"/>
              <a:chExt cx="1005840" cy="1005840"/>
            </a:xfrm>
          </p:grpSpPr>
          <p:sp>
            <p:nvSpPr>
              <p:cNvPr id="26" name="Forma 25"/>
              <p:cNvSpPr/>
              <p:nvPr/>
            </p:nvSpPr>
            <p:spPr>
              <a:xfrm>
                <a:off x="4572000" y="3154680"/>
                <a:ext cx="1005840" cy="1005840"/>
              </a:xfrm>
              <a:prstGeom prst="ellipse">
                <a:avLst/>
              </a:prstGeom>
              <a:gradFill rotWithShape="1">
                <a:gsLst>
                  <a:gs pos="0">
                    <a:srgbClr val="F9F0F5"/>
                  </a:gs>
                  <a:gs pos="55000">
                    <a:srgbClr val="F5E6EF"/>
                  </a:gs>
                  <a:gs pos="100000">
                    <a:srgbClr val="D7CAD2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D3C98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7" name="Forma 26"/>
              <p:cNvSpPr/>
              <p:nvPr/>
            </p:nvSpPr>
            <p:spPr>
              <a:xfrm>
                <a:off x="4572000" y="3154680"/>
                <a:ext cx="1005840" cy="10058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66" y="741"/>
                    </a:moveTo>
                    <a:cubicBezTo>
                      <a:pt x="666" y="753"/>
                      <a:pt x="656" y="763"/>
                      <a:pt x="644" y="763"/>
                    </a:cubicBezTo>
                    <a:cubicBezTo>
                      <a:pt x="631" y="763"/>
                      <a:pt x="622" y="753"/>
                      <a:pt x="622" y="741"/>
                    </a:cubicBezTo>
                    <a:cubicBezTo>
                      <a:pt x="622" y="728"/>
                      <a:pt x="631" y="719"/>
                      <a:pt x="644" y="719"/>
                    </a:cubicBezTo>
                    <a:cubicBezTo>
                      <a:pt x="656" y="719"/>
                      <a:pt x="666" y="728"/>
                      <a:pt x="666" y="741"/>
                    </a:cubicBezTo>
                    <a:close/>
                    <a:moveTo>
                      <a:pt x="390" y="623"/>
                    </a:moveTo>
                    <a:cubicBezTo>
                      <a:pt x="390" y="639"/>
                      <a:pt x="377" y="652"/>
                      <a:pt x="361" y="652"/>
                    </a:cubicBezTo>
                    <a:cubicBezTo>
                      <a:pt x="344" y="652"/>
                      <a:pt x="332" y="639"/>
                      <a:pt x="332" y="623"/>
                    </a:cubicBezTo>
                    <a:cubicBezTo>
                      <a:pt x="332" y="606"/>
                      <a:pt x="344" y="594"/>
                      <a:pt x="361" y="594"/>
                    </a:cubicBezTo>
                    <a:cubicBezTo>
                      <a:pt x="377" y="594"/>
                      <a:pt x="390" y="606"/>
                      <a:pt x="390" y="623"/>
                    </a:cubicBezTo>
                    <a:close/>
                    <a:moveTo>
                      <a:pt x="468" y="819"/>
                    </a:moveTo>
                    <a:cubicBezTo>
                      <a:pt x="468" y="837"/>
                      <a:pt x="452" y="853"/>
                      <a:pt x="434" y="853"/>
                    </a:cubicBezTo>
                    <a:cubicBezTo>
                      <a:pt x="415" y="853"/>
                      <a:pt x="400" y="837"/>
                      <a:pt x="400" y="819"/>
                    </a:cubicBezTo>
                    <a:cubicBezTo>
                      <a:pt x="400" y="800"/>
                      <a:pt x="415" y="785"/>
                      <a:pt x="434" y="785"/>
                    </a:cubicBezTo>
                    <a:cubicBezTo>
                      <a:pt x="452" y="785"/>
                      <a:pt x="468" y="800"/>
                      <a:pt x="468" y="819"/>
                    </a:cubicBezTo>
                    <a:close/>
                    <a:moveTo>
                      <a:pt x="674" y="485"/>
                    </a:moveTo>
                    <a:cubicBezTo>
                      <a:pt x="674" y="497"/>
                      <a:pt x="663" y="508"/>
                      <a:pt x="651" y="508"/>
                    </a:cubicBezTo>
                    <a:cubicBezTo>
                      <a:pt x="638" y="508"/>
                      <a:pt x="628" y="497"/>
                      <a:pt x="628" y="485"/>
                    </a:cubicBezTo>
                    <a:cubicBezTo>
                      <a:pt x="628" y="472"/>
                      <a:pt x="638" y="462"/>
                      <a:pt x="651" y="462"/>
                    </a:cubicBezTo>
                    <a:cubicBezTo>
                      <a:pt x="663" y="462"/>
                      <a:pt x="674" y="472"/>
                      <a:pt x="674" y="485"/>
                    </a:cubicBezTo>
                    <a:close/>
                    <a:moveTo>
                      <a:pt x="427" y="519"/>
                    </a:moveTo>
                    <a:cubicBezTo>
                      <a:pt x="427" y="531"/>
                      <a:pt x="417" y="541"/>
                      <a:pt x="405" y="541"/>
                    </a:cubicBezTo>
                    <a:cubicBezTo>
                      <a:pt x="392" y="541"/>
                      <a:pt x="383" y="531"/>
                      <a:pt x="383" y="519"/>
                    </a:cubicBezTo>
                    <a:cubicBezTo>
                      <a:pt x="383" y="506"/>
                      <a:pt x="392" y="497"/>
                      <a:pt x="405" y="497"/>
                    </a:cubicBezTo>
                    <a:cubicBezTo>
                      <a:pt x="417" y="497"/>
                      <a:pt x="427" y="506"/>
                      <a:pt x="427" y="519"/>
                    </a:cubicBezTo>
                    <a:close/>
                    <a:moveTo>
                      <a:pt x="611" y="292"/>
                    </a:moveTo>
                    <a:cubicBezTo>
                      <a:pt x="611" y="309"/>
                      <a:pt x="597" y="323"/>
                      <a:pt x="580" y="323"/>
                    </a:cubicBezTo>
                    <a:cubicBezTo>
                      <a:pt x="562" y="323"/>
                      <a:pt x="549" y="309"/>
                      <a:pt x="549" y="292"/>
                    </a:cubicBezTo>
                    <a:cubicBezTo>
                      <a:pt x="549" y="274"/>
                      <a:pt x="562" y="261"/>
                      <a:pt x="580" y="261"/>
                    </a:cubicBezTo>
                    <a:cubicBezTo>
                      <a:pt x="597" y="261"/>
                      <a:pt x="611" y="274"/>
                      <a:pt x="611" y="292"/>
                    </a:cubicBezTo>
                    <a:close/>
                    <a:moveTo>
                      <a:pt x="541" y="540"/>
                    </a:moveTo>
                    <a:cubicBezTo>
                      <a:pt x="541" y="555"/>
                      <a:pt x="528" y="568"/>
                      <a:pt x="513" y="568"/>
                    </a:cubicBezTo>
                    <a:cubicBezTo>
                      <a:pt x="497" y="568"/>
                      <a:pt x="485" y="555"/>
                      <a:pt x="485" y="540"/>
                    </a:cubicBezTo>
                    <a:cubicBezTo>
                      <a:pt x="485" y="524"/>
                      <a:pt x="497" y="512"/>
                      <a:pt x="513" y="512"/>
                    </a:cubicBezTo>
                    <a:cubicBezTo>
                      <a:pt x="528" y="512"/>
                      <a:pt x="541" y="524"/>
                      <a:pt x="541" y="540"/>
                    </a:cubicBezTo>
                    <a:close/>
                    <a:moveTo>
                      <a:pt x="466" y="841"/>
                    </a:moveTo>
                    <a:cubicBezTo>
                      <a:pt x="466" y="855"/>
                      <a:pt x="454" y="867"/>
                      <a:pt x="440" y="867"/>
                    </a:cubicBezTo>
                    <a:cubicBezTo>
                      <a:pt x="425" y="867"/>
                      <a:pt x="414" y="855"/>
                      <a:pt x="414" y="841"/>
                    </a:cubicBezTo>
                    <a:cubicBezTo>
                      <a:pt x="414" y="826"/>
                      <a:pt x="425" y="815"/>
                      <a:pt x="440" y="815"/>
                    </a:cubicBezTo>
                    <a:cubicBezTo>
                      <a:pt x="454" y="815"/>
                      <a:pt x="466" y="826"/>
                      <a:pt x="466" y="841"/>
                    </a:cubicBezTo>
                    <a:close/>
                    <a:moveTo>
                      <a:pt x="649" y="328"/>
                    </a:moveTo>
                    <a:cubicBezTo>
                      <a:pt x="649" y="345"/>
                      <a:pt x="634" y="360"/>
                      <a:pt x="617" y="360"/>
                    </a:cubicBezTo>
                    <a:cubicBezTo>
                      <a:pt x="599" y="360"/>
                      <a:pt x="585" y="345"/>
                      <a:pt x="585" y="328"/>
                    </a:cubicBezTo>
                    <a:cubicBezTo>
                      <a:pt x="585" y="310"/>
                      <a:pt x="599" y="296"/>
                      <a:pt x="617" y="296"/>
                    </a:cubicBezTo>
                    <a:cubicBezTo>
                      <a:pt x="634" y="296"/>
                      <a:pt x="649" y="310"/>
                      <a:pt x="649" y="328"/>
                    </a:cubicBezTo>
                    <a:close/>
                    <a:moveTo>
                      <a:pt x="487" y="827"/>
                    </a:moveTo>
                    <a:cubicBezTo>
                      <a:pt x="487" y="841"/>
                      <a:pt x="474" y="854"/>
                      <a:pt x="460" y="854"/>
                    </a:cubicBezTo>
                    <a:cubicBezTo>
                      <a:pt x="445" y="854"/>
                      <a:pt x="433" y="841"/>
                      <a:pt x="433" y="827"/>
                    </a:cubicBezTo>
                    <a:cubicBezTo>
                      <a:pt x="433" y="812"/>
                      <a:pt x="445" y="800"/>
                      <a:pt x="460" y="800"/>
                    </a:cubicBezTo>
                    <a:cubicBezTo>
                      <a:pt x="474" y="800"/>
                      <a:pt x="487" y="812"/>
                      <a:pt x="487" y="827"/>
                    </a:cubicBezTo>
                    <a:close/>
                    <a:moveTo>
                      <a:pt x="320" y="617"/>
                    </a:moveTo>
                    <a:cubicBezTo>
                      <a:pt x="320" y="635"/>
                      <a:pt x="304" y="651"/>
                      <a:pt x="286" y="651"/>
                    </a:cubicBezTo>
                    <a:cubicBezTo>
                      <a:pt x="267" y="651"/>
                      <a:pt x="252" y="635"/>
                      <a:pt x="252" y="617"/>
                    </a:cubicBezTo>
                    <a:cubicBezTo>
                      <a:pt x="252" y="598"/>
                      <a:pt x="267" y="583"/>
                      <a:pt x="286" y="583"/>
                    </a:cubicBezTo>
                    <a:cubicBezTo>
                      <a:pt x="304" y="583"/>
                      <a:pt x="320" y="598"/>
                      <a:pt x="320" y="617"/>
                    </a:cubicBezTo>
                    <a:close/>
                    <a:moveTo>
                      <a:pt x="426" y="600"/>
                    </a:moveTo>
                    <a:cubicBezTo>
                      <a:pt x="426" y="617"/>
                      <a:pt x="412" y="631"/>
                      <a:pt x="395" y="631"/>
                    </a:cubicBezTo>
                    <a:cubicBezTo>
                      <a:pt x="377" y="631"/>
                      <a:pt x="364" y="617"/>
                      <a:pt x="364" y="600"/>
                    </a:cubicBezTo>
                    <a:cubicBezTo>
                      <a:pt x="364" y="582"/>
                      <a:pt x="377" y="569"/>
                      <a:pt x="395" y="569"/>
                    </a:cubicBezTo>
                    <a:cubicBezTo>
                      <a:pt x="412" y="569"/>
                      <a:pt x="426" y="582"/>
                      <a:pt x="426" y="600"/>
                    </a:cubicBezTo>
                    <a:close/>
                    <a:moveTo>
                      <a:pt x="565" y="195"/>
                    </a:moveTo>
                    <a:cubicBezTo>
                      <a:pt x="565" y="212"/>
                      <a:pt x="551" y="226"/>
                      <a:pt x="534" y="226"/>
                    </a:cubicBezTo>
                    <a:cubicBezTo>
                      <a:pt x="516" y="226"/>
                      <a:pt x="503" y="212"/>
                      <a:pt x="503" y="195"/>
                    </a:cubicBezTo>
                    <a:cubicBezTo>
                      <a:pt x="503" y="177"/>
                      <a:pt x="516" y="164"/>
                      <a:pt x="534" y="164"/>
                    </a:cubicBezTo>
                    <a:cubicBezTo>
                      <a:pt x="551" y="164"/>
                      <a:pt x="565" y="177"/>
                      <a:pt x="565" y="195"/>
                    </a:cubicBezTo>
                    <a:close/>
                    <a:moveTo>
                      <a:pt x="379" y="460"/>
                    </a:moveTo>
                    <a:cubicBezTo>
                      <a:pt x="379" y="476"/>
                      <a:pt x="365" y="490"/>
                      <a:pt x="349" y="490"/>
                    </a:cubicBezTo>
                    <a:cubicBezTo>
                      <a:pt x="332" y="490"/>
                      <a:pt x="319" y="476"/>
                      <a:pt x="319" y="460"/>
                    </a:cubicBezTo>
                    <a:cubicBezTo>
                      <a:pt x="319" y="443"/>
                      <a:pt x="332" y="430"/>
                      <a:pt x="349" y="430"/>
                    </a:cubicBezTo>
                    <a:cubicBezTo>
                      <a:pt x="365" y="430"/>
                      <a:pt x="379" y="443"/>
                      <a:pt x="379" y="460"/>
                    </a:cubicBezTo>
                    <a:close/>
                    <a:moveTo>
                      <a:pt x="551" y="395"/>
                    </a:moveTo>
                    <a:cubicBezTo>
                      <a:pt x="551" y="409"/>
                      <a:pt x="538" y="422"/>
                      <a:pt x="524" y="422"/>
                    </a:cubicBezTo>
                    <a:cubicBezTo>
                      <a:pt x="509" y="422"/>
                      <a:pt x="497" y="409"/>
                      <a:pt x="497" y="395"/>
                    </a:cubicBezTo>
                    <a:cubicBezTo>
                      <a:pt x="497" y="380"/>
                      <a:pt x="509" y="368"/>
                      <a:pt x="524" y="368"/>
                    </a:cubicBezTo>
                    <a:cubicBezTo>
                      <a:pt x="538" y="368"/>
                      <a:pt x="551" y="380"/>
                      <a:pt x="551" y="395"/>
                    </a:cubicBezTo>
                    <a:close/>
                    <a:moveTo>
                      <a:pt x="619" y="631"/>
                    </a:moveTo>
                    <a:cubicBezTo>
                      <a:pt x="619" y="643"/>
                      <a:pt x="608" y="654"/>
                      <a:pt x="596" y="654"/>
                    </a:cubicBezTo>
                    <a:cubicBezTo>
                      <a:pt x="583" y="654"/>
                      <a:pt x="573" y="643"/>
                      <a:pt x="573" y="631"/>
                    </a:cubicBezTo>
                    <a:cubicBezTo>
                      <a:pt x="573" y="618"/>
                      <a:pt x="583" y="608"/>
                      <a:pt x="596" y="608"/>
                    </a:cubicBezTo>
                    <a:cubicBezTo>
                      <a:pt x="608" y="608"/>
                      <a:pt x="619" y="618"/>
                      <a:pt x="619" y="631"/>
                    </a:cubicBezTo>
                    <a:close/>
                    <a:moveTo>
                      <a:pt x="688" y="310"/>
                    </a:moveTo>
                    <a:cubicBezTo>
                      <a:pt x="688" y="323"/>
                      <a:pt x="676" y="335"/>
                      <a:pt x="663" y="335"/>
                    </a:cubicBezTo>
                    <a:cubicBezTo>
                      <a:pt x="649" y="335"/>
                      <a:pt x="638" y="323"/>
                      <a:pt x="638" y="310"/>
                    </a:cubicBezTo>
                    <a:cubicBezTo>
                      <a:pt x="638" y="296"/>
                      <a:pt x="649" y="285"/>
                      <a:pt x="663" y="285"/>
                    </a:cubicBezTo>
                    <a:cubicBezTo>
                      <a:pt x="676" y="285"/>
                      <a:pt x="688" y="296"/>
                      <a:pt x="688" y="310"/>
                    </a:cubicBezTo>
                    <a:close/>
                    <a:moveTo>
                      <a:pt x="594" y="394"/>
                    </a:moveTo>
                    <a:cubicBezTo>
                      <a:pt x="594" y="406"/>
                      <a:pt x="584" y="416"/>
                      <a:pt x="572" y="416"/>
                    </a:cubicBezTo>
                    <a:cubicBezTo>
                      <a:pt x="559" y="416"/>
                      <a:pt x="550" y="406"/>
                      <a:pt x="550" y="394"/>
                    </a:cubicBezTo>
                    <a:cubicBezTo>
                      <a:pt x="550" y="381"/>
                      <a:pt x="559" y="372"/>
                      <a:pt x="572" y="372"/>
                    </a:cubicBezTo>
                    <a:cubicBezTo>
                      <a:pt x="584" y="372"/>
                      <a:pt x="594" y="381"/>
                      <a:pt x="594" y="394"/>
                    </a:cubicBezTo>
                    <a:close/>
                    <a:moveTo>
                      <a:pt x="208" y="658"/>
                    </a:moveTo>
                    <a:cubicBezTo>
                      <a:pt x="208" y="672"/>
                      <a:pt x="196" y="684"/>
                      <a:pt x="182" y="684"/>
                    </a:cubicBezTo>
                    <a:cubicBezTo>
                      <a:pt x="167" y="684"/>
                      <a:pt x="156" y="672"/>
                      <a:pt x="156" y="658"/>
                    </a:cubicBezTo>
                    <a:cubicBezTo>
                      <a:pt x="156" y="643"/>
                      <a:pt x="167" y="632"/>
                      <a:pt x="182" y="632"/>
                    </a:cubicBezTo>
                    <a:cubicBezTo>
                      <a:pt x="196" y="632"/>
                      <a:pt x="208" y="643"/>
                      <a:pt x="208" y="658"/>
                    </a:cubicBezTo>
                    <a:close/>
                    <a:moveTo>
                      <a:pt x="720" y="232"/>
                    </a:moveTo>
                    <a:cubicBezTo>
                      <a:pt x="720" y="245"/>
                      <a:pt x="709" y="256"/>
                      <a:pt x="696" y="256"/>
                    </a:cubicBezTo>
                    <a:cubicBezTo>
                      <a:pt x="682" y="256"/>
                      <a:pt x="672" y="245"/>
                      <a:pt x="672" y="232"/>
                    </a:cubicBezTo>
                    <a:cubicBezTo>
                      <a:pt x="672" y="218"/>
                      <a:pt x="682" y="208"/>
                      <a:pt x="696" y="208"/>
                    </a:cubicBezTo>
                    <a:cubicBezTo>
                      <a:pt x="709" y="208"/>
                      <a:pt x="720" y="218"/>
                      <a:pt x="720" y="232"/>
                    </a:cubicBezTo>
                    <a:close/>
                    <a:moveTo>
                      <a:pt x="570" y="730"/>
                    </a:moveTo>
                    <a:cubicBezTo>
                      <a:pt x="570" y="744"/>
                      <a:pt x="557" y="757"/>
                      <a:pt x="543" y="757"/>
                    </a:cubicBezTo>
                    <a:cubicBezTo>
                      <a:pt x="528" y="757"/>
                      <a:pt x="516" y="744"/>
                      <a:pt x="516" y="730"/>
                    </a:cubicBezTo>
                    <a:cubicBezTo>
                      <a:pt x="516" y="715"/>
                      <a:pt x="528" y="703"/>
                      <a:pt x="543" y="703"/>
                    </a:cubicBezTo>
                    <a:cubicBezTo>
                      <a:pt x="557" y="703"/>
                      <a:pt x="570" y="715"/>
                      <a:pt x="570" y="730"/>
                    </a:cubicBezTo>
                    <a:close/>
                    <a:moveTo>
                      <a:pt x="788" y="303"/>
                    </a:moveTo>
                    <a:cubicBezTo>
                      <a:pt x="788" y="315"/>
                      <a:pt x="777" y="326"/>
                      <a:pt x="765" y="326"/>
                    </a:cubicBezTo>
                    <a:cubicBezTo>
                      <a:pt x="752" y="326"/>
                      <a:pt x="742" y="315"/>
                      <a:pt x="742" y="303"/>
                    </a:cubicBezTo>
                    <a:cubicBezTo>
                      <a:pt x="742" y="290"/>
                      <a:pt x="752" y="280"/>
                      <a:pt x="765" y="280"/>
                    </a:cubicBezTo>
                    <a:cubicBezTo>
                      <a:pt x="777" y="280"/>
                      <a:pt x="788" y="290"/>
                      <a:pt x="788" y="303"/>
                    </a:cubicBezTo>
                    <a:close/>
                    <a:moveTo>
                      <a:pt x="272" y="602"/>
                    </a:moveTo>
                    <a:cubicBezTo>
                      <a:pt x="272" y="615"/>
                      <a:pt x="261" y="626"/>
                      <a:pt x="248" y="626"/>
                    </a:cubicBezTo>
                    <a:cubicBezTo>
                      <a:pt x="234" y="626"/>
                      <a:pt x="224" y="615"/>
                      <a:pt x="224" y="602"/>
                    </a:cubicBezTo>
                    <a:cubicBezTo>
                      <a:pt x="224" y="588"/>
                      <a:pt x="234" y="578"/>
                      <a:pt x="248" y="578"/>
                    </a:cubicBezTo>
                    <a:cubicBezTo>
                      <a:pt x="261" y="578"/>
                      <a:pt x="272" y="588"/>
                      <a:pt x="272" y="602"/>
                    </a:cubicBezTo>
                    <a:close/>
                    <a:moveTo>
                      <a:pt x="373" y="507"/>
                    </a:moveTo>
                    <a:cubicBezTo>
                      <a:pt x="373" y="522"/>
                      <a:pt x="360" y="535"/>
                      <a:pt x="345" y="535"/>
                    </a:cubicBezTo>
                    <a:cubicBezTo>
                      <a:pt x="329" y="535"/>
                      <a:pt x="317" y="522"/>
                      <a:pt x="317" y="507"/>
                    </a:cubicBezTo>
                    <a:cubicBezTo>
                      <a:pt x="317" y="491"/>
                      <a:pt x="329" y="479"/>
                      <a:pt x="345" y="479"/>
                    </a:cubicBezTo>
                    <a:cubicBezTo>
                      <a:pt x="360" y="479"/>
                      <a:pt x="373" y="491"/>
                      <a:pt x="373" y="507"/>
                    </a:cubicBezTo>
                    <a:close/>
                    <a:moveTo>
                      <a:pt x="599" y="606"/>
                    </a:moveTo>
                    <a:cubicBezTo>
                      <a:pt x="599" y="619"/>
                      <a:pt x="587" y="631"/>
                      <a:pt x="574" y="631"/>
                    </a:cubicBezTo>
                    <a:cubicBezTo>
                      <a:pt x="560" y="631"/>
                      <a:pt x="549" y="619"/>
                      <a:pt x="549" y="606"/>
                    </a:cubicBezTo>
                    <a:cubicBezTo>
                      <a:pt x="549" y="592"/>
                      <a:pt x="560" y="581"/>
                      <a:pt x="574" y="581"/>
                    </a:cubicBezTo>
                    <a:cubicBezTo>
                      <a:pt x="587" y="581"/>
                      <a:pt x="599" y="592"/>
                      <a:pt x="599" y="606"/>
                    </a:cubicBezTo>
                    <a:close/>
                    <a:moveTo>
                      <a:pt x="871" y="431"/>
                    </a:moveTo>
                    <a:cubicBezTo>
                      <a:pt x="871" y="444"/>
                      <a:pt x="860" y="455"/>
                      <a:pt x="847" y="455"/>
                    </a:cubicBezTo>
                    <a:cubicBezTo>
                      <a:pt x="833" y="455"/>
                      <a:pt x="823" y="444"/>
                      <a:pt x="823" y="431"/>
                    </a:cubicBezTo>
                    <a:cubicBezTo>
                      <a:pt x="823" y="417"/>
                      <a:pt x="833" y="407"/>
                      <a:pt x="847" y="407"/>
                    </a:cubicBezTo>
                    <a:cubicBezTo>
                      <a:pt x="860" y="407"/>
                      <a:pt x="871" y="417"/>
                      <a:pt x="871" y="431"/>
                    </a:cubicBezTo>
                    <a:close/>
                    <a:moveTo>
                      <a:pt x="806" y="684"/>
                    </a:moveTo>
                    <a:cubicBezTo>
                      <a:pt x="806" y="697"/>
                      <a:pt x="795" y="708"/>
                      <a:pt x="782" y="708"/>
                    </a:cubicBezTo>
                    <a:cubicBezTo>
                      <a:pt x="768" y="708"/>
                      <a:pt x="758" y="697"/>
                      <a:pt x="758" y="684"/>
                    </a:cubicBezTo>
                    <a:cubicBezTo>
                      <a:pt x="758" y="670"/>
                      <a:pt x="768" y="660"/>
                      <a:pt x="782" y="660"/>
                    </a:cubicBezTo>
                    <a:cubicBezTo>
                      <a:pt x="795" y="660"/>
                      <a:pt x="806" y="670"/>
                      <a:pt x="806" y="684"/>
                    </a:cubicBezTo>
                    <a:close/>
                    <a:moveTo>
                      <a:pt x="301" y="423"/>
                    </a:moveTo>
                    <a:cubicBezTo>
                      <a:pt x="301" y="439"/>
                      <a:pt x="288" y="452"/>
                      <a:pt x="272" y="452"/>
                    </a:cubicBezTo>
                    <a:cubicBezTo>
                      <a:pt x="255" y="452"/>
                      <a:pt x="243" y="439"/>
                      <a:pt x="243" y="423"/>
                    </a:cubicBezTo>
                    <a:cubicBezTo>
                      <a:pt x="243" y="406"/>
                      <a:pt x="255" y="394"/>
                      <a:pt x="272" y="394"/>
                    </a:cubicBezTo>
                    <a:cubicBezTo>
                      <a:pt x="288" y="394"/>
                      <a:pt x="301" y="406"/>
                      <a:pt x="301" y="423"/>
                    </a:cubicBezTo>
                    <a:close/>
                    <a:moveTo>
                      <a:pt x="491" y="318"/>
                    </a:moveTo>
                    <a:cubicBezTo>
                      <a:pt x="491" y="335"/>
                      <a:pt x="476" y="350"/>
                      <a:pt x="459" y="350"/>
                    </a:cubicBezTo>
                    <a:cubicBezTo>
                      <a:pt x="441" y="350"/>
                      <a:pt x="427" y="335"/>
                      <a:pt x="427" y="318"/>
                    </a:cubicBezTo>
                    <a:cubicBezTo>
                      <a:pt x="427" y="300"/>
                      <a:pt x="441" y="286"/>
                      <a:pt x="459" y="286"/>
                    </a:cubicBezTo>
                    <a:cubicBezTo>
                      <a:pt x="476" y="286"/>
                      <a:pt x="491" y="300"/>
                      <a:pt x="491" y="318"/>
                    </a:cubicBezTo>
                    <a:close/>
                    <a:moveTo>
                      <a:pt x="848" y="328"/>
                    </a:moveTo>
                    <a:cubicBezTo>
                      <a:pt x="848" y="346"/>
                      <a:pt x="832" y="362"/>
                      <a:pt x="814" y="362"/>
                    </a:cubicBezTo>
                    <a:cubicBezTo>
                      <a:pt x="795" y="362"/>
                      <a:pt x="780" y="346"/>
                      <a:pt x="780" y="328"/>
                    </a:cubicBezTo>
                    <a:cubicBezTo>
                      <a:pt x="780" y="309"/>
                      <a:pt x="795" y="294"/>
                      <a:pt x="814" y="294"/>
                    </a:cubicBezTo>
                    <a:cubicBezTo>
                      <a:pt x="832" y="294"/>
                      <a:pt x="848" y="309"/>
                      <a:pt x="848" y="328"/>
                    </a:cubicBezTo>
                    <a:close/>
                    <a:moveTo>
                      <a:pt x="364" y="641"/>
                    </a:moveTo>
                    <a:cubicBezTo>
                      <a:pt x="364" y="659"/>
                      <a:pt x="348" y="675"/>
                      <a:pt x="330" y="675"/>
                    </a:cubicBezTo>
                    <a:cubicBezTo>
                      <a:pt x="311" y="675"/>
                      <a:pt x="296" y="659"/>
                      <a:pt x="296" y="641"/>
                    </a:cubicBezTo>
                    <a:cubicBezTo>
                      <a:pt x="296" y="622"/>
                      <a:pt x="311" y="607"/>
                      <a:pt x="330" y="607"/>
                    </a:cubicBezTo>
                    <a:cubicBezTo>
                      <a:pt x="348" y="607"/>
                      <a:pt x="364" y="622"/>
                      <a:pt x="364" y="641"/>
                    </a:cubicBezTo>
                    <a:close/>
                    <a:moveTo>
                      <a:pt x="533" y="485"/>
                    </a:moveTo>
                    <a:cubicBezTo>
                      <a:pt x="533" y="500"/>
                      <a:pt x="520" y="513"/>
                      <a:pt x="505" y="513"/>
                    </a:cubicBezTo>
                    <a:cubicBezTo>
                      <a:pt x="489" y="513"/>
                      <a:pt x="477" y="500"/>
                      <a:pt x="477" y="485"/>
                    </a:cubicBezTo>
                    <a:cubicBezTo>
                      <a:pt x="477" y="469"/>
                      <a:pt x="489" y="457"/>
                      <a:pt x="505" y="457"/>
                    </a:cubicBezTo>
                    <a:cubicBezTo>
                      <a:pt x="520" y="457"/>
                      <a:pt x="533" y="469"/>
                      <a:pt x="533" y="485"/>
                    </a:cubicBezTo>
                    <a:close/>
                    <a:moveTo>
                      <a:pt x="221" y="489"/>
                    </a:moveTo>
                    <a:cubicBezTo>
                      <a:pt x="221" y="503"/>
                      <a:pt x="208" y="516"/>
                      <a:pt x="194" y="516"/>
                    </a:cubicBezTo>
                    <a:cubicBezTo>
                      <a:pt x="179" y="516"/>
                      <a:pt x="167" y="503"/>
                      <a:pt x="167" y="489"/>
                    </a:cubicBezTo>
                    <a:cubicBezTo>
                      <a:pt x="167" y="474"/>
                      <a:pt x="179" y="462"/>
                      <a:pt x="194" y="462"/>
                    </a:cubicBezTo>
                    <a:cubicBezTo>
                      <a:pt x="208" y="462"/>
                      <a:pt x="221" y="474"/>
                      <a:pt x="221" y="489"/>
                    </a:cubicBezTo>
                    <a:close/>
                  </a:path>
                </a:pathLst>
              </a:custGeom>
              <a:solidFill>
                <a:srgbClr val="D7BDE2"/>
              </a:solidFill>
              <a:ln>
                <a:noFill/>
              </a:ln>
            </p:spPr>
          </p:sp>
          <p:sp>
            <p:nvSpPr>
              <p:cNvPr id="28" name="Forma 27"/>
              <p:cNvSpPr/>
              <p:nvPr/>
            </p:nvSpPr>
            <p:spPr>
              <a:xfrm>
                <a:off x="4572000" y="3154680"/>
                <a:ext cx="1005840" cy="10058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50" y="420"/>
                    </a:moveTo>
                    <a:cubicBezTo>
                      <a:pt x="450" y="486"/>
                      <a:pt x="396" y="540"/>
                      <a:pt x="330" y="540"/>
                    </a:cubicBezTo>
                    <a:cubicBezTo>
                      <a:pt x="263" y="540"/>
                      <a:pt x="210" y="486"/>
                      <a:pt x="210" y="420"/>
                    </a:cubicBezTo>
                    <a:cubicBezTo>
                      <a:pt x="210" y="353"/>
                      <a:pt x="263" y="300"/>
                      <a:pt x="330" y="300"/>
                    </a:cubicBezTo>
                    <a:cubicBezTo>
                      <a:pt x="396" y="300"/>
                      <a:pt x="450" y="353"/>
                      <a:pt x="450" y="420"/>
                    </a:cubicBezTo>
                    <a:close/>
                    <a:moveTo>
                      <a:pt x="620" y="330"/>
                    </a:moveTo>
                    <a:cubicBezTo>
                      <a:pt x="620" y="396"/>
                      <a:pt x="566" y="450"/>
                      <a:pt x="500" y="450"/>
                    </a:cubicBezTo>
                    <a:cubicBezTo>
                      <a:pt x="433" y="450"/>
                      <a:pt x="380" y="396"/>
                      <a:pt x="380" y="330"/>
                    </a:cubicBezTo>
                    <a:cubicBezTo>
                      <a:pt x="380" y="263"/>
                      <a:pt x="433" y="210"/>
                      <a:pt x="500" y="210"/>
                    </a:cubicBezTo>
                    <a:cubicBezTo>
                      <a:pt x="566" y="210"/>
                      <a:pt x="620" y="263"/>
                      <a:pt x="620" y="330"/>
                    </a:cubicBezTo>
                    <a:close/>
                    <a:moveTo>
                      <a:pt x="780" y="450"/>
                    </a:moveTo>
                    <a:cubicBezTo>
                      <a:pt x="780" y="516"/>
                      <a:pt x="726" y="570"/>
                      <a:pt x="660" y="570"/>
                    </a:cubicBezTo>
                    <a:cubicBezTo>
                      <a:pt x="593" y="570"/>
                      <a:pt x="540" y="516"/>
                      <a:pt x="540" y="450"/>
                    </a:cubicBezTo>
                    <a:cubicBezTo>
                      <a:pt x="540" y="383"/>
                      <a:pt x="593" y="330"/>
                      <a:pt x="660" y="330"/>
                    </a:cubicBezTo>
                    <a:cubicBezTo>
                      <a:pt x="726" y="330"/>
                      <a:pt x="780" y="383"/>
                      <a:pt x="780" y="450"/>
                    </a:cubicBezTo>
                    <a:close/>
                    <a:moveTo>
                      <a:pt x="630" y="600"/>
                    </a:moveTo>
                    <a:cubicBezTo>
                      <a:pt x="630" y="660"/>
                      <a:pt x="580" y="710"/>
                      <a:pt x="520" y="710"/>
                    </a:cubicBezTo>
                    <a:cubicBezTo>
                      <a:pt x="459" y="710"/>
                      <a:pt x="410" y="660"/>
                      <a:pt x="410" y="600"/>
                    </a:cubicBezTo>
                    <a:cubicBezTo>
                      <a:pt x="410" y="539"/>
                      <a:pt x="459" y="490"/>
                      <a:pt x="520" y="490"/>
                    </a:cubicBezTo>
                    <a:cubicBezTo>
                      <a:pt x="580" y="490"/>
                      <a:pt x="630" y="539"/>
                      <a:pt x="630" y="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B59B6"/>
                  </a:gs>
                  <a:gs pos="100000">
                    <a:srgbClr val="5B2C6F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4A235A"/>
                </a:solidFill>
                <a:round/>
              </a:ln>
            </p:spPr>
          </p:sp>
        </p:grpSp>
        <p:sp>
          <p:nvSpPr>
            <p:cNvPr id="29" name="Forma 28"/>
            <p:cNvSpPr/>
            <p:nvPr/>
          </p:nvSpPr>
          <p:spPr>
            <a:xfrm>
              <a:off x="5715000" y="3246120"/>
              <a:ext cx="457200" cy="822960"/>
            </a:xfrm>
            <a:prstGeom prst="downArrow">
              <a:avLst/>
            </a:prstGeom>
            <a:solidFill>
              <a:srgbClr val="C00000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6355080" y="2971800"/>
              <a:ext cx="5577840" cy="1417320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Glóbulos blancos bajos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leucopenia → inmunosupresión</a:t>
              </a:r>
              <a:endParaRPr lang="es-AR" sz="2200" dirty="0">
                <a:latin typeface="Calibri"/>
              </a:endParaRPr>
            </a:p>
          </p:txBody>
        </p:sp>
      </p:grpSp>
      <p:grpSp>
        <p:nvGrpSpPr>
          <p:cNvPr id="31" name="Línea Plaquetas bajas"/>
          <p:cNvGrpSpPr/>
          <p:nvPr/>
        </p:nvGrpSpPr>
        <p:grpSpPr>
          <a:xfrm>
            <a:off x="4617720" y="4754880"/>
            <a:ext cx="7315200" cy="1417320"/>
            <a:chOff x="4617720" y="4754880"/>
            <a:chExt cx="7315200" cy="1417320"/>
          </a:xfrm>
        </p:grpSpPr>
        <p:sp>
          <p:nvSpPr>
            <p:cNvPr id="32" name="Pl panc"/>
            <p:cNvSpPr/>
            <p:nvPr/>
          </p:nvSpPr>
          <p:spPr>
            <a:xfrm>
              <a:off x="4617720" y="5120640"/>
              <a:ext cx="914400" cy="566928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33" name="Forma 32"/>
            <p:cNvSpPr/>
            <p:nvPr/>
          </p:nvSpPr>
          <p:spPr>
            <a:xfrm>
              <a:off x="5715000" y="5029200"/>
              <a:ext cx="457200" cy="822960"/>
            </a:xfrm>
            <a:prstGeom prst="downArrow">
              <a:avLst/>
            </a:prstGeom>
            <a:solidFill>
              <a:srgbClr val="C00000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6355080" y="4754880"/>
              <a:ext cx="5577840" cy="14173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Plaquetas bajas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trombocitopenia → riesgo hemorrágico</a:t>
              </a:r>
              <a:endParaRPr lang="es-AR" sz="2200" dirty="0">
                <a:latin typeface="Calibri"/>
              </a:endParaRPr>
            </a:p>
          </p:txBody>
        </p:sp>
      </p:grpSp>
      <p:grpSp>
        <p:nvGrpSpPr>
          <p:cNvPr id="35" name="Perla"/>
          <p:cNvGrpSpPr/>
          <p:nvPr/>
        </p:nvGrpSpPr>
        <p:grpSpPr>
          <a:xfrm>
            <a:off x="320040" y="4114800"/>
            <a:ext cx="4023360" cy="2331720"/>
            <a:chOff x="320040" y="4114800"/>
            <a:chExt cx="4023360" cy="2331720"/>
          </a:xfrm>
        </p:grpSpPr>
        <p:sp>
          <p:nvSpPr>
            <p:cNvPr id="36" name="Forma 35"/>
            <p:cNvSpPr/>
            <p:nvPr/>
          </p:nvSpPr>
          <p:spPr>
            <a:xfrm>
              <a:off x="320040" y="4315968"/>
              <a:ext cx="4023360" cy="2130552"/>
            </a:xfrm>
            <a:prstGeom prst="roundRect">
              <a:avLst>
                <a:gd name="adj" fmla="val 9000"/>
              </a:avLst>
            </a:prstGeom>
            <a:solidFill>
              <a:srgbClr val="C00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Como el problema está en el </a:t>
              </a:r>
              <a:r>
                <a:rPr lang="es-AR" sz="19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ADN</a:t>
              </a: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, afecta a </a:t>
              </a:r>
              <a:r>
                <a:rPr lang="es-AR" sz="19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todos los linajes</a:t>
              </a: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que se dividen. Tres valores bajos en el hemograma → pensar en </a:t>
              </a:r>
              <a:r>
                <a:rPr lang="es-AR" sz="19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megaloblástica</a:t>
              </a: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448056" y="4114800"/>
              <a:ext cx="1472249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PANCITOPENIA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PANCITOPENIA: TODAS LAS LÍNEAS QUE SE DIVIDEN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Alimento"/>
          <p:cNvSpPr/>
          <p:nvPr/>
        </p:nvSpPr>
        <p:spPr>
          <a:xfrm>
            <a:off x="3474720" y="1600200"/>
            <a:ext cx="1737360" cy="502920"/>
          </a:xfrm>
          <a:prstGeom prst="ellipse">
            <a:avLst/>
          </a:prstGeom>
          <a:gradFill rotWithShape="1">
            <a:gsLst>
              <a:gs pos="0">
                <a:srgbClr val="F1F4F5"/>
              </a:gs>
              <a:gs pos="55000">
                <a:srgbClr val="ECF0F1"/>
              </a:gs>
              <a:gs pos="100000">
                <a:srgbClr val="BCC0C0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7F8C8D"/>
            </a:solidFill>
            <a:round/>
          </a:ln>
        </p:spPr>
      </p:sp>
      <p:sp>
        <p:nvSpPr>
          <p:cNvPr id="12" name="!!B12"/>
          <p:cNvSpPr/>
          <p:nvPr/>
        </p:nvSpPr>
        <p:spPr>
          <a:xfrm>
            <a:off x="3749040" y="123444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Proteina alimentaria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B7843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9C640C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prot</a:t>
            </a:r>
            <a:endParaRPr lang="es-AR" sz="1050" dirty="0">
              <a:latin typeface="Calibri"/>
            </a:endParaRPr>
          </a:p>
        </p:txBody>
      </p:sp>
      <p:grpSp>
        <p:nvGrpSpPr>
          <p:cNvPr id="14" name="Caja B1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5" name="Forma 14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vitamina B</a:t>
              </a:r>
              <a:r>
                <a:rPr lang="es-AR" sz="20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(cobalamina)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llega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unida a proteínas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los alimentos: carnes, lácteos, huevos.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8677656" y="1097280"/>
              <a:ext cx="101144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INGRESO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VITAMINA B</a:t>
            </a:r>
            <a:r>
              <a:rPr lang="es-AR" sz="20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12</a:t>
            </a: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: INGRESO CON LOS ALIMENTOS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B12"/>
          <p:cNvSpPr/>
          <p:nvPr/>
        </p:nvSpPr>
        <p:spPr>
          <a:xfrm>
            <a:off x="1143000" y="251460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2" name="!!Proteina alimentaria"/>
          <p:cNvSpPr/>
          <p:nvPr/>
        </p:nvSpPr>
        <p:spPr>
          <a:xfrm>
            <a:off x="1645920" y="2468880"/>
            <a:ext cx="640080" cy="640080"/>
          </a:xfrm>
          <a:prstGeom prst="ellipse">
            <a:avLst/>
          </a:pr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B7843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9C640C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prot</a:t>
            </a:r>
            <a:endParaRPr lang="es-AR" sz="1050" dirty="0">
              <a:latin typeface="Calibri"/>
            </a:endParaRPr>
          </a:p>
        </p:txBody>
      </p:sp>
      <p:grpSp>
        <p:nvGrpSpPr>
          <p:cNvPr id="13" name="Caja B2"/>
          <p:cNvGrpSpPr/>
          <p:nvPr/>
        </p:nvGrpSpPr>
        <p:grpSpPr>
          <a:xfrm>
            <a:off x="8549640" y="1097280"/>
            <a:ext cx="3383280" cy="2377440"/>
            <a:chOff x="8549640" y="1097280"/>
            <a:chExt cx="3383280" cy="2377440"/>
          </a:xfrm>
        </p:grpSpPr>
        <p:sp>
          <p:nvSpPr>
            <p:cNvPr id="14" name="Forma 13"/>
            <p:cNvSpPr/>
            <p:nvPr/>
          </p:nvSpPr>
          <p:spPr>
            <a:xfrm>
              <a:off x="8549640" y="12984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complejo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s-AR" sz="20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–proteína alimentaria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llega a la luz gástrica.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8677656" y="1097280"/>
              <a:ext cx="121944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ESTÓMAGO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LLEGADA AL ESTÓMAGO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CelulaParietal"/>
          <p:cNvSpPr/>
          <p:nvPr/>
        </p:nvSpPr>
        <p:spPr>
          <a:xfrm>
            <a:off x="2240280" y="1325880"/>
            <a:ext cx="868680" cy="685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CBEBD8"/>
              </a:gs>
              <a:gs pos="55000">
                <a:srgbClr val="A9DFBF"/>
              </a:gs>
              <a:gs pos="100000">
                <a:srgbClr val="7EA78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12" name="!!B12"/>
          <p:cNvSpPr/>
          <p:nvPr/>
        </p:nvSpPr>
        <p:spPr>
          <a:xfrm>
            <a:off x="868680" y="237744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Proteina alimentaria"/>
          <p:cNvSpPr/>
          <p:nvPr/>
        </p:nvSpPr>
        <p:spPr>
          <a:xfrm>
            <a:off x="1600200" y="3154680"/>
            <a:ext cx="640080" cy="640080"/>
          </a:xfrm>
          <a:prstGeom prst="ellipse">
            <a:avLst/>
          </a:prstGeom>
          <a:gradFill rotWithShape="1">
            <a:gsLst>
              <a:gs pos="0">
                <a:srgbClr val="F9D396"/>
              </a:gs>
              <a:gs pos="55000">
                <a:srgbClr val="F5B041"/>
              </a:gs>
              <a:gs pos="100000">
                <a:srgbClr val="B7843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9C640C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prot</a:t>
            </a:r>
            <a:endParaRPr lang="es-AR" sz="1050" dirty="0">
              <a:latin typeface="Calibri"/>
            </a:endParaRPr>
          </a:p>
        </p:txBody>
      </p:sp>
      <p:sp>
        <p:nvSpPr>
          <p:cNvPr id="14" name="HCl"/>
          <p:cNvSpPr/>
          <p:nvPr/>
        </p:nvSpPr>
        <p:spPr>
          <a:xfrm>
            <a:off x="502920" y="3246120"/>
            <a:ext cx="7772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HCl</a:t>
            </a:r>
            <a:endParaRPr lang="es-AR" sz="1300" dirty="0">
              <a:latin typeface="Calibri"/>
            </a:endParaRPr>
          </a:p>
        </p:txBody>
      </p:sp>
      <p:sp>
        <p:nvSpPr>
          <p:cNvPr id="15" name="Pepsina"/>
          <p:cNvSpPr/>
          <p:nvPr/>
        </p:nvSpPr>
        <p:spPr>
          <a:xfrm>
            <a:off x="502920" y="3703320"/>
            <a:ext cx="100584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5D4EC"/>
              </a:gs>
              <a:gs pos="55000">
                <a:srgbClr val="D7BDE2"/>
              </a:gs>
              <a:gs pos="100000">
                <a:srgbClr val="AC97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B5E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pepsina</a:t>
            </a:r>
            <a:endParaRPr lang="es-AR" sz="1200" dirty="0">
              <a:latin typeface="Calibri"/>
            </a:endParaRPr>
          </a:p>
        </p:txBody>
      </p:sp>
      <p:grpSp>
        <p:nvGrpSpPr>
          <p:cNvPr id="16" name="Caja B3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7" name="Forma 16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clorhídrico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la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pepsina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rompen la unión B</a:t>
              </a:r>
              <a:r>
                <a:rPr lang="es-AR" sz="20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–proteínas alimentarias: queda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s-AR" sz="20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libre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8677656" y="1097280"/>
              <a:ext cx="201290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FACTORES GÁSTRICOS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FACTORES GÁSTRICOS: HCl Y PEPSINA LIBERAN LA B</a:t>
            </a:r>
            <a:r>
              <a:rPr lang="es-AR" sz="18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12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149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3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2" grpId="0" animBg="1"/>
    </p:bld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CelulaParietal"/>
          <p:cNvSpPr/>
          <p:nvPr/>
        </p:nvSpPr>
        <p:spPr>
          <a:xfrm>
            <a:off x="2240280" y="1325880"/>
            <a:ext cx="868680" cy="685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CBEBD8"/>
              </a:gs>
              <a:gs pos="55000">
                <a:srgbClr val="A9DFBF"/>
              </a:gs>
              <a:gs pos="100000">
                <a:srgbClr val="7EA78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12" name="!!B12"/>
          <p:cNvSpPr/>
          <p:nvPr/>
        </p:nvSpPr>
        <p:spPr>
          <a:xfrm>
            <a:off x="868680" y="237744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FactorIntrinseco"/>
          <p:cNvSpPr/>
          <p:nvPr/>
        </p:nvSpPr>
        <p:spPr>
          <a:xfrm>
            <a:off x="1371600" y="2423160"/>
            <a:ext cx="566928" cy="50292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A3E8C0"/>
              </a:gs>
              <a:gs pos="55000">
                <a:srgbClr val="58D68D"/>
              </a:gs>
              <a:gs pos="100000">
                <a:srgbClr val="42A069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</a:t>
            </a:r>
            <a:endParaRPr lang="es-AR" sz="1300" dirty="0">
              <a:latin typeface="Calibri"/>
            </a:endParaRPr>
          </a:p>
        </p:txBody>
      </p:sp>
      <p:grpSp>
        <p:nvGrpSpPr>
          <p:cNvPr id="14" name="Caja B4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15" name="Forma 14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B</a:t>
              </a:r>
              <a:r>
                <a:rPr lang="es-AR" sz="20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libre se une al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factor intrínseco (FI)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producido por las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células parietales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gástricas.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8677656" y="1097280"/>
              <a:ext cx="1900970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FACTOR INTRÍNSECO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UNIÓN AL FACTOR INTRÍNSECO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CelulaParietal"/>
          <p:cNvSpPr/>
          <p:nvPr/>
        </p:nvSpPr>
        <p:spPr>
          <a:xfrm>
            <a:off x="2240280" y="1325880"/>
            <a:ext cx="868680" cy="685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CBEBD8"/>
              </a:gs>
              <a:gs pos="55000">
                <a:srgbClr val="A9DFBF"/>
              </a:gs>
              <a:gs pos="100000">
                <a:srgbClr val="7EA78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12" name="!!B12"/>
          <p:cNvSpPr/>
          <p:nvPr/>
        </p:nvSpPr>
        <p:spPr>
          <a:xfrm>
            <a:off x="4206240" y="457200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FactorIntrinseco"/>
          <p:cNvSpPr/>
          <p:nvPr/>
        </p:nvSpPr>
        <p:spPr>
          <a:xfrm>
            <a:off x="4709160" y="4617720"/>
            <a:ext cx="566928" cy="50292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A3E8C0"/>
              </a:gs>
              <a:gs pos="55000">
                <a:srgbClr val="58D68D"/>
              </a:gs>
              <a:gs pos="100000">
                <a:srgbClr val="42A069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</a:t>
            </a:r>
            <a:endParaRPr lang="es-AR" sz="1300" dirty="0">
              <a:latin typeface="Calibri"/>
            </a:endParaRPr>
          </a:p>
        </p:txBody>
      </p:sp>
      <p:grpSp>
        <p:nvGrpSpPr>
          <p:cNvPr id="14" name="Caja B5"/>
          <p:cNvGrpSpPr/>
          <p:nvPr/>
        </p:nvGrpSpPr>
        <p:grpSpPr>
          <a:xfrm>
            <a:off x="8549640" y="1097280"/>
            <a:ext cx="3383280" cy="2560320"/>
            <a:chOff x="8549640" y="1097280"/>
            <a:chExt cx="3383280" cy="2560320"/>
          </a:xfrm>
        </p:grpSpPr>
        <p:sp>
          <p:nvSpPr>
            <p:cNvPr id="15" name="Forma 14"/>
            <p:cNvSpPr/>
            <p:nvPr/>
          </p:nvSpPr>
          <p:spPr>
            <a:xfrm>
              <a:off x="8549640" y="1298448"/>
              <a:ext cx="3383280" cy="235915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complejo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s-AR" sz="20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–FI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recorre el intestino delgado sin absorberse hasta el segmento final.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8677656" y="1097280"/>
              <a:ext cx="109618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TRÁNSITO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TRÁNSITO INTESTINAL DEL COMPLEJO B</a:t>
            </a:r>
            <a:r>
              <a:rPr lang="es-AR" sz="18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12</a:t>
            </a: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–FACTOR INTRÍNSECO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CelulaParietal"/>
          <p:cNvSpPr/>
          <p:nvPr/>
        </p:nvSpPr>
        <p:spPr>
          <a:xfrm>
            <a:off x="2240280" y="1325880"/>
            <a:ext cx="868680" cy="685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CBEBD8"/>
              </a:gs>
              <a:gs pos="55000">
                <a:srgbClr val="A9DFBF"/>
              </a:gs>
              <a:gs pos="100000">
                <a:srgbClr val="7EA78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12" name="!!B12"/>
          <p:cNvSpPr/>
          <p:nvPr/>
        </p:nvSpPr>
        <p:spPr>
          <a:xfrm>
            <a:off x="6995160" y="585216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FactorIntrinseco"/>
          <p:cNvSpPr/>
          <p:nvPr/>
        </p:nvSpPr>
        <p:spPr>
          <a:xfrm>
            <a:off x="7498080" y="5897880"/>
            <a:ext cx="566928" cy="50292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A3E8C0"/>
              </a:gs>
              <a:gs pos="55000">
                <a:srgbClr val="58D68D"/>
              </a:gs>
              <a:gs pos="100000">
                <a:srgbClr val="42A069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</a:t>
            </a:r>
            <a:endParaRPr lang="es-AR" sz="1300" dirty="0">
              <a:latin typeface="Calibri"/>
            </a:endParaRPr>
          </a:p>
        </p:txBody>
      </p:sp>
      <p:sp>
        <p:nvSpPr>
          <p:cNvPr id="14" name="!!Ileon"/>
          <p:cNvSpPr/>
          <p:nvPr/>
        </p:nvSpPr>
        <p:spPr>
          <a:xfrm>
            <a:off x="6217920" y="5303520"/>
            <a:ext cx="2103120" cy="1097280"/>
          </a:xfrm>
          <a:prstGeom prst="ellipse">
            <a:avLst/>
          </a:prstGeom>
          <a:noFill/>
          <a:ln w="50800" cap="rnd">
            <a:solidFill>
              <a:srgbClr val="FFC000"/>
            </a:solidFill>
            <a:prstDash val="dash"/>
            <a:round/>
          </a:ln>
        </p:spPr>
      </p:sp>
      <p:grpSp>
        <p:nvGrpSpPr>
          <p:cNvPr id="15" name="Caja B6"/>
          <p:cNvGrpSpPr/>
          <p:nvPr/>
        </p:nvGrpSpPr>
        <p:grpSpPr>
          <a:xfrm>
            <a:off x="8549640" y="1097280"/>
            <a:ext cx="3383280" cy="2560320"/>
            <a:chOff x="8549640" y="1097280"/>
            <a:chExt cx="3383280" cy="2560320"/>
          </a:xfrm>
        </p:grpSpPr>
        <p:sp>
          <p:nvSpPr>
            <p:cNvPr id="16" name="Forma 15"/>
            <p:cNvSpPr/>
            <p:nvPr/>
          </p:nvSpPr>
          <p:spPr>
            <a:xfrm>
              <a:off x="8549640" y="1298448"/>
              <a:ext cx="3383280" cy="235915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complejo B</a:t>
              </a:r>
              <a:r>
                <a:rPr lang="es-AR" sz="20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–factor intrínseco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absorbe en el íleon terminal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8677656" y="1097280"/>
              <a:ext cx="776725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ÍLEON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ÍLEON TERMINAL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CelulaParietal"/>
          <p:cNvSpPr/>
          <p:nvPr/>
        </p:nvSpPr>
        <p:spPr>
          <a:xfrm>
            <a:off x="2240280" y="1325880"/>
            <a:ext cx="868680" cy="685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CBEBD8"/>
              </a:gs>
              <a:gs pos="55000">
                <a:srgbClr val="A9DFBF"/>
              </a:gs>
              <a:gs pos="100000">
                <a:srgbClr val="7EA78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12" name="!!B12"/>
          <p:cNvSpPr/>
          <p:nvPr/>
        </p:nvSpPr>
        <p:spPr>
          <a:xfrm>
            <a:off x="6995160" y="516636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FactorIntrinseco"/>
          <p:cNvSpPr/>
          <p:nvPr/>
        </p:nvSpPr>
        <p:spPr>
          <a:xfrm>
            <a:off x="7498080" y="5212080"/>
            <a:ext cx="566928" cy="50292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A3E8C0"/>
              </a:gs>
              <a:gs pos="55000">
                <a:srgbClr val="58D68D"/>
              </a:gs>
              <a:gs pos="100000">
                <a:srgbClr val="42A069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</a:t>
            </a:r>
            <a:endParaRPr lang="es-AR" sz="1300" dirty="0">
              <a:latin typeface="Calibri"/>
            </a:endParaRPr>
          </a:p>
        </p:txBody>
      </p:sp>
      <p:sp>
        <p:nvSpPr>
          <p:cNvPr id="14" name="!!Ileon"/>
          <p:cNvSpPr/>
          <p:nvPr/>
        </p:nvSpPr>
        <p:spPr>
          <a:xfrm>
            <a:off x="6217920" y="5303520"/>
            <a:ext cx="2103120" cy="1097280"/>
          </a:xfrm>
          <a:prstGeom prst="ellipse">
            <a:avLst/>
          </a:prstGeom>
          <a:noFill/>
          <a:ln w="50800" cap="rnd">
            <a:solidFill>
              <a:srgbClr val="FFC000"/>
            </a:solidFill>
            <a:prstDash val="dash"/>
            <a:round/>
          </a:ln>
        </p:spPr>
      </p:sp>
      <p:grpSp>
        <p:nvGrpSpPr>
          <p:cNvPr id="15" name="!!Vaso portal"/>
          <p:cNvGrpSpPr/>
          <p:nvPr/>
        </p:nvGrpSpPr>
        <p:grpSpPr>
          <a:xfrm>
            <a:off x="4480560" y="5349240"/>
            <a:ext cx="1691640" cy="502920"/>
            <a:chOff x="4480560" y="5349240"/>
            <a:chExt cx="1691640" cy="502920"/>
          </a:xfrm>
        </p:grpSpPr>
        <p:sp>
          <p:nvSpPr>
            <p:cNvPr id="16" name="Forma 15"/>
            <p:cNvSpPr/>
            <p:nvPr/>
          </p:nvSpPr>
          <p:spPr>
            <a:xfrm>
              <a:off x="4480560" y="5349240"/>
              <a:ext cx="169164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7" name="Forma 16"/>
            <p:cNvSpPr/>
            <p:nvPr/>
          </p:nvSpPr>
          <p:spPr>
            <a:xfrm>
              <a:off x="4555998" y="5439766"/>
              <a:ext cx="1540764" cy="32186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18" name="Eritrocito"/>
            <p:cNvSpPr/>
            <p:nvPr/>
          </p:nvSpPr>
          <p:spPr>
            <a:xfrm>
              <a:off x="4877960" y="5594140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9" name="Eritrocito_2"/>
            <p:cNvSpPr/>
            <p:nvPr/>
          </p:nvSpPr>
          <p:spPr>
            <a:xfrm>
              <a:off x="5290670" y="5485641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20" name="!!MedulaOsea"/>
          <p:cNvGrpSpPr/>
          <p:nvPr/>
        </p:nvGrpSpPr>
        <p:grpSpPr>
          <a:xfrm>
            <a:off x="4983480" y="1143000"/>
            <a:ext cx="3108960" cy="1737360"/>
            <a:chOff x="4983480" y="1143000"/>
            <a:chExt cx="3108960" cy="1737360"/>
          </a:xfrm>
        </p:grpSpPr>
        <p:sp>
          <p:nvSpPr>
            <p:cNvPr id="21" name="Hueso"/>
            <p:cNvSpPr/>
            <p:nvPr/>
          </p:nvSpPr>
          <p:spPr>
            <a:xfrm>
              <a:off x="4983480" y="1143000"/>
              <a:ext cx="3108960" cy="173736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2" name="Médula"/>
            <p:cNvSpPr/>
            <p:nvPr/>
          </p:nvSpPr>
          <p:spPr>
            <a:xfrm>
              <a:off x="5170018" y="1351483"/>
              <a:ext cx="2735885" cy="132039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5918820" y="2057785"/>
              <a:ext cx="171126" cy="171126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5970158" y="2109123"/>
              <a:ext cx="68450" cy="68450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5" name="Forma 24"/>
            <p:cNvSpPr/>
            <p:nvPr/>
          </p:nvSpPr>
          <p:spPr>
            <a:xfrm>
              <a:off x="6835013" y="1558780"/>
              <a:ext cx="140133" cy="140133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6877053" y="1600820"/>
              <a:ext cx="56053" cy="56053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7" name="Forma 26"/>
            <p:cNvSpPr/>
            <p:nvPr/>
          </p:nvSpPr>
          <p:spPr>
            <a:xfrm>
              <a:off x="5969359" y="1734742"/>
              <a:ext cx="225478" cy="225478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6037003" y="1802386"/>
              <a:ext cx="90191" cy="90191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29" name="Forma 28"/>
            <p:cNvSpPr/>
            <p:nvPr/>
          </p:nvSpPr>
          <p:spPr>
            <a:xfrm>
              <a:off x="6634773" y="2063416"/>
              <a:ext cx="173487" cy="173487"/>
            </a:xfrm>
            <a:prstGeom prst="ellipse">
              <a:avLst/>
            </a:prstGeom>
            <a:gradFill rotWithShape="1">
              <a:gsLst>
                <a:gs pos="0">
                  <a:srgbClr val="F1C7D3"/>
                </a:gs>
                <a:gs pos="55000">
                  <a:srgbClr val="E8A3B6"/>
                </a:gs>
                <a:gs pos="100000">
                  <a:srgbClr val="AE7A88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74515B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6686820" y="2115462"/>
              <a:ext cx="69395" cy="69395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31" name="Forma 30"/>
            <p:cNvSpPr/>
            <p:nvPr/>
          </p:nvSpPr>
          <p:spPr>
            <a:xfrm>
              <a:off x="5904543" y="1648526"/>
              <a:ext cx="219414" cy="219414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>
              <a:off x="5970367" y="1714350"/>
              <a:ext cx="87766" cy="87766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33" name="Forma 32"/>
            <p:cNvSpPr/>
            <p:nvPr/>
          </p:nvSpPr>
          <p:spPr>
            <a:xfrm>
              <a:off x="7107992" y="2190362"/>
              <a:ext cx="144551" cy="144551"/>
            </a:xfrm>
            <a:prstGeom prst="ellipse">
              <a:avLst/>
            </a:pr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2749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14D69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7151358" y="2233727"/>
              <a:ext cx="57820" cy="57820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  <p:sp>
          <p:nvSpPr>
            <p:cNvPr id="35" name="Forma 34"/>
            <p:cNvSpPr/>
            <p:nvPr/>
          </p:nvSpPr>
          <p:spPr>
            <a:xfrm>
              <a:off x="6068393" y="1522799"/>
              <a:ext cx="214175" cy="214175"/>
            </a:xfrm>
            <a:prstGeom prst="ellipse">
              <a:avLst/>
            </a:prstGeom>
            <a:gradFill rotWithShape="1">
              <a:gsLst>
                <a:gs pos="0">
                  <a:srgbClr val="E7D7ED"/>
                </a:gs>
                <a:gs pos="55000">
                  <a:srgbClr val="D7BDE2"/>
                </a:gs>
                <a:gs pos="100000">
                  <a:srgbClr val="A18DA9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6B5E71"/>
              </a:solidFill>
              <a:round/>
            </a:ln>
          </p:spPr>
        </p:sp>
        <p:sp>
          <p:nvSpPr>
            <p:cNvPr id="36" name="Forma 35"/>
            <p:cNvSpPr/>
            <p:nvPr/>
          </p:nvSpPr>
          <p:spPr>
            <a:xfrm>
              <a:off x="6132646" y="1587052"/>
              <a:ext cx="85670" cy="85670"/>
            </a:xfrm>
            <a:prstGeom prst="ellipse">
              <a:avLst/>
            </a:prstGeom>
            <a:solidFill>
              <a:srgbClr val="5B2C6F"/>
            </a:solidFill>
            <a:ln>
              <a:noFill/>
            </a:ln>
          </p:spPr>
        </p:sp>
      </p:grpSp>
      <p:grpSp>
        <p:nvGrpSpPr>
          <p:cNvPr id="37" name="ADN"/>
          <p:cNvGrpSpPr/>
          <p:nvPr/>
        </p:nvGrpSpPr>
        <p:grpSpPr>
          <a:xfrm>
            <a:off x="5212080" y="3063240"/>
            <a:ext cx="2743200" cy="685800"/>
            <a:chOff x="5212080" y="3063240"/>
            <a:chExt cx="2743200" cy="685800"/>
          </a:xfrm>
        </p:grpSpPr>
        <p:sp>
          <p:nvSpPr>
            <p:cNvPr id="38" name="Forma 37"/>
            <p:cNvSpPr/>
            <p:nvPr/>
          </p:nvSpPr>
          <p:spPr>
            <a:xfrm>
              <a:off x="5486400" y="3063240"/>
              <a:ext cx="365760" cy="237744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39" name="Forma 38"/>
            <p:cNvSpPr/>
            <p:nvPr/>
          </p:nvSpPr>
          <p:spPr>
            <a:xfrm>
              <a:off x="5897880" y="3172968"/>
              <a:ext cx="365760" cy="237744"/>
            </a:xfrm>
            <a:prstGeom prst="ellipse">
              <a:avLst/>
            </a:prstGeom>
            <a:solidFill>
              <a:srgbClr val="2E86C1"/>
            </a:solidFill>
            <a:ln>
              <a:noFill/>
            </a:ln>
          </p:spPr>
        </p:sp>
        <p:sp>
          <p:nvSpPr>
            <p:cNvPr id="40" name="Forma 39"/>
            <p:cNvSpPr/>
            <p:nvPr/>
          </p:nvSpPr>
          <p:spPr>
            <a:xfrm>
              <a:off x="6309360" y="3063240"/>
              <a:ext cx="365760" cy="237744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41" name="Forma 40"/>
            <p:cNvSpPr/>
            <p:nvPr/>
          </p:nvSpPr>
          <p:spPr>
            <a:xfrm>
              <a:off x="6720840" y="3172968"/>
              <a:ext cx="365760" cy="237744"/>
            </a:xfrm>
            <a:prstGeom prst="ellipse">
              <a:avLst/>
            </a:prstGeom>
            <a:solidFill>
              <a:srgbClr val="2E86C1"/>
            </a:solidFill>
            <a:ln>
              <a:noFill/>
            </a:ln>
          </p:spPr>
        </p:sp>
        <p:sp>
          <p:nvSpPr>
            <p:cNvPr id="42" name="Forma 41"/>
            <p:cNvSpPr/>
            <p:nvPr/>
          </p:nvSpPr>
          <p:spPr>
            <a:xfrm>
              <a:off x="7132320" y="3063240"/>
              <a:ext cx="365760" cy="237744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43" name="Forma 42"/>
            <p:cNvSpPr txBox="1"/>
            <p:nvPr/>
          </p:nvSpPr>
          <p:spPr>
            <a:xfrm>
              <a:off x="5212080" y="3383280"/>
              <a:ext cx="2743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síntesis de ácidos nucleicos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44" name="Caja B7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45" name="Forma 44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Una vez absorbida, la B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participa (junto con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ácido fólico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en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síntesis de ácidos nucleicos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médula ósea la necesita para dividir sus células.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6" name="Forma 45"/>
            <p:cNvSpPr/>
            <p:nvPr/>
          </p:nvSpPr>
          <p:spPr>
            <a:xfrm>
              <a:off x="8677656" y="1097280"/>
              <a:ext cx="99569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DESTINO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41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7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ABSORCIÓN Y DESTINO DE LA B</a:t>
            </a:r>
            <a:r>
              <a:rPr lang="es-AR" sz="2700" b="1" baseline="-25000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12</a:t>
            </a:r>
            <a:endParaRPr lang="es-AR" sz="27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CelulaParietal"/>
          <p:cNvSpPr/>
          <p:nvPr/>
        </p:nvSpPr>
        <p:spPr>
          <a:xfrm>
            <a:off x="2240280" y="1325880"/>
            <a:ext cx="868680" cy="685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D7DBDD"/>
              </a:gs>
              <a:gs pos="55000">
                <a:srgbClr val="BDC3C7"/>
              </a:gs>
              <a:gs pos="100000">
                <a:srgbClr val="8D9295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D6D7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12" name="!!B12"/>
          <p:cNvSpPr/>
          <p:nvPr/>
        </p:nvSpPr>
        <p:spPr>
          <a:xfrm>
            <a:off x="7543800" y="612648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Ileon"/>
          <p:cNvSpPr/>
          <p:nvPr/>
        </p:nvSpPr>
        <p:spPr>
          <a:xfrm>
            <a:off x="6217920" y="5303520"/>
            <a:ext cx="2103120" cy="1097280"/>
          </a:xfrm>
          <a:prstGeom prst="ellipse">
            <a:avLst/>
          </a:prstGeom>
          <a:noFill/>
          <a:ln w="50800" cap="rnd">
            <a:solidFill>
              <a:srgbClr val="FFC000"/>
            </a:solidFill>
            <a:prstDash val="dash"/>
            <a:round/>
          </a:ln>
        </p:spPr>
      </p:sp>
      <p:grpSp>
        <p:nvGrpSpPr>
          <p:cNvPr id="14" name="!!Vaso portal"/>
          <p:cNvGrpSpPr/>
          <p:nvPr/>
        </p:nvGrpSpPr>
        <p:grpSpPr>
          <a:xfrm>
            <a:off x="4480560" y="5349240"/>
            <a:ext cx="1691640" cy="502920"/>
            <a:chOff x="4480560" y="5349240"/>
            <a:chExt cx="1691640" cy="502920"/>
          </a:xfrm>
        </p:grpSpPr>
        <p:sp>
          <p:nvSpPr>
            <p:cNvPr id="15" name="Forma 14"/>
            <p:cNvSpPr/>
            <p:nvPr/>
          </p:nvSpPr>
          <p:spPr>
            <a:xfrm>
              <a:off x="4480560" y="5349240"/>
              <a:ext cx="169164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6" name="Forma 15"/>
            <p:cNvSpPr/>
            <p:nvPr/>
          </p:nvSpPr>
          <p:spPr>
            <a:xfrm>
              <a:off x="4555998" y="5439766"/>
              <a:ext cx="1540764" cy="32186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17" name="Eritrocito"/>
            <p:cNvSpPr/>
            <p:nvPr/>
          </p:nvSpPr>
          <p:spPr>
            <a:xfrm>
              <a:off x="4877960" y="5594140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8" name="Eritrocito_2"/>
            <p:cNvSpPr/>
            <p:nvPr/>
          </p:nvSpPr>
          <p:spPr>
            <a:xfrm>
              <a:off x="5290670" y="5485641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19" name="!!MedulaOsea"/>
          <p:cNvGrpSpPr/>
          <p:nvPr/>
        </p:nvGrpSpPr>
        <p:grpSpPr>
          <a:xfrm>
            <a:off x="4983480" y="1143000"/>
            <a:ext cx="3108960" cy="1737360"/>
            <a:chOff x="4983480" y="1143000"/>
            <a:chExt cx="3108960" cy="1737360"/>
          </a:xfrm>
        </p:grpSpPr>
        <p:sp>
          <p:nvSpPr>
            <p:cNvPr id="20" name="Hueso"/>
            <p:cNvSpPr/>
            <p:nvPr/>
          </p:nvSpPr>
          <p:spPr>
            <a:xfrm>
              <a:off x="4983480" y="1143000"/>
              <a:ext cx="3108960" cy="173736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1" name="Médula"/>
            <p:cNvSpPr/>
            <p:nvPr/>
          </p:nvSpPr>
          <p:spPr>
            <a:xfrm>
              <a:off x="5170018" y="1351483"/>
              <a:ext cx="2735885" cy="132039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</p:grpSp>
      <p:sp>
        <p:nvSpPr>
          <p:cNvPr id="22" name="Sin FI"/>
          <p:cNvSpPr txBox="1"/>
          <p:nvPr/>
        </p:nvSpPr>
        <p:spPr>
          <a:xfrm>
            <a:off x="2286000" y="114300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34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s-AR" sz="3400" dirty="0">
              <a:latin typeface="Calibri"/>
            </a:endParaRPr>
          </a:p>
        </p:txBody>
      </p:sp>
      <p:grpSp>
        <p:nvGrpSpPr>
          <p:cNvPr id="23" name="Caja B8"/>
          <p:cNvGrpSpPr/>
          <p:nvPr/>
        </p:nvGrpSpPr>
        <p:grpSpPr>
          <a:xfrm>
            <a:off x="8549640" y="1097280"/>
            <a:ext cx="3383280" cy="3200400"/>
            <a:chOff x="8549640" y="1097280"/>
            <a:chExt cx="3383280" cy="3200400"/>
          </a:xfrm>
        </p:grpSpPr>
        <p:sp>
          <p:nvSpPr>
            <p:cNvPr id="24" name="Forma 23"/>
            <p:cNvSpPr/>
            <p:nvPr/>
          </p:nvSpPr>
          <p:spPr>
            <a:xfrm>
              <a:off x="8549640" y="1298448"/>
              <a:ext cx="3383280" cy="29992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 perniciosa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falta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factor intrínseco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(generalmente por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gastritis atrófica autoinmune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): la B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se absorbe aunque esté en la dieta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77656" y="1097280"/>
              <a:ext cx="1253118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PERNICIOSA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6" name="No nutricional"/>
          <p:cNvSpPr/>
          <p:nvPr/>
        </p:nvSpPr>
        <p:spPr>
          <a:xfrm>
            <a:off x="8549640" y="4526280"/>
            <a:ext cx="3383280" cy="1920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Defecto de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absorción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no nutricional: la paciente puede tener una dieta perfecta.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 PERNICIOSA: SIN FACTOR INTRÍNSECO NO HAY ABSORCIÓN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30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2" grpId="0" animBg="1"/>
      <p:bldP spid="26" grpId="0" animBg="1"/>
    </p:bld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stomago"/>
          <p:cNvGrpSpPr/>
          <p:nvPr/>
        </p:nvGrpSpPr>
        <p:grpSpPr>
          <a:xfrm>
            <a:off x="320040" y="1143000"/>
            <a:ext cx="2834640" cy="3118104"/>
            <a:chOff x="320040" y="1143000"/>
            <a:chExt cx="2834640" cy="3118104"/>
          </a:xfrm>
        </p:grpSpPr>
        <p:sp>
          <p:nvSpPr>
            <p:cNvPr id="6" name="Forma 5"/>
            <p:cNvSpPr/>
            <p:nvPr/>
          </p:nvSpPr>
          <p:spPr>
            <a:xfrm>
              <a:off x="320040" y="1143000"/>
              <a:ext cx="2834640" cy="31181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!!Intestino delgado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79400" cap="rnd">
            <a:solidFill>
              <a:srgbClr val="8E3B32"/>
            </a:solidFill>
            <a:round/>
          </a:ln>
        </p:spPr>
      </p:sp>
      <p:sp>
        <p:nvSpPr>
          <p:cNvPr id="8" name="!!Intestino luz"/>
          <p:cNvSpPr/>
          <p:nvPr/>
        </p:nvSpPr>
        <p:spPr>
          <a:xfrm>
            <a:off x="2011680" y="3291840"/>
            <a:ext cx="6217920" cy="32004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00" y="120"/>
                </a:moveTo>
                <a:cubicBezTo>
                  <a:pt x="420" y="220"/>
                  <a:pt x="380" y="420"/>
                  <a:pt x="250" y="470"/>
                </a:cubicBezTo>
                <a:cubicBezTo>
                  <a:pt x="120" y="520"/>
                  <a:pt x="140" y="700"/>
                  <a:pt x="300" y="720"/>
                </a:cubicBezTo>
                <a:cubicBezTo>
                  <a:pt x="520" y="740"/>
                  <a:pt x="560" y="520"/>
                  <a:pt x="720" y="560"/>
                </a:cubicBezTo>
                <a:cubicBezTo>
                  <a:pt x="880" y="600"/>
                  <a:pt x="860" y="820"/>
                  <a:pt x="700" y="860"/>
                </a:cubicBezTo>
                <a:cubicBezTo>
                  <a:pt x="560" y="900"/>
                  <a:pt x="640" y="980"/>
                  <a:pt x="900" y="960"/>
                </a:cubicBezTo>
              </a:path>
            </a:pathLst>
          </a:custGeom>
          <a:noFill/>
          <a:ln w="203200" cap="rnd">
            <a:solidFill>
              <a:srgbClr val="F0A39B"/>
            </a:solidFill>
            <a:round/>
          </a:ln>
        </p:spPr>
      </p:sp>
      <p:sp>
        <p:nvSpPr>
          <p:cNvPr id="9" name="!!Rótulo duodeno"/>
          <p:cNvSpPr txBox="1"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duodeno</a:t>
            </a:r>
            <a:endParaRPr lang="es-AR" sz="1200" dirty="0">
              <a:latin typeface="Calibri"/>
            </a:endParaRPr>
          </a:p>
        </p:txBody>
      </p:sp>
      <p:sp>
        <p:nvSpPr>
          <p:cNvPr id="10" name="!!Rótulo íleon"/>
          <p:cNvSpPr txBox="1"/>
          <p:nvPr/>
        </p:nvSpPr>
        <p:spPr>
          <a:xfrm>
            <a:off x="6675120" y="635508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íleon terminal</a:t>
            </a:r>
            <a:endParaRPr lang="es-AR" sz="1200" dirty="0">
              <a:latin typeface="Calibri"/>
            </a:endParaRPr>
          </a:p>
        </p:txBody>
      </p:sp>
      <p:sp>
        <p:nvSpPr>
          <p:cNvPr id="11" name="!!CelulaParietal"/>
          <p:cNvSpPr/>
          <p:nvPr/>
        </p:nvSpPr>
        <p:spPr>
          <a:xfrm>
            <a:off x="2240280" y="1325880"/>
            <a:ext cx="868680" cy="6858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D7DBDD"/>
              </a:gs>
              <a:gs pos="55000">
                <a:srgbClr val="BDC3C7"/>
              </a:gs>
              <a:gs pos="100000">
                <a:srgbClr val="8D9295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D6D7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12" name="!!B12"/>
          <p:cNvSpPr/>
          <p:nvPr/>
        </p:nvSpPr>
        <p:spPr>
          <a:xfrm>
            <a:off x="7543800" y="6126480"/>
            <a:ext cx="566928" cy="566928"/>
          </a:xfrm>
          <a:prstGeom prst="ellipse">
            <a:avLst/>
          </a:prstGeom>
          <a:gradFill rotWithShape="1">
            <a:gsLst>
              <a:gs pos="0">
                <a:srgbClr val="F19C93"/>
              </a:gs>
              <a:gs pos="55000">
                <a:srgbClr val="E74C3C"/>
              </a:gs>
              <a:gs pos="100000">
                <a:srgbClr val="AD392D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12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lang="es-AR" sz="1200" dirty="0">
              <a:latin typeface="Calibri"/>
            </a:endParaRPr>
          </a:p>
        </p:txBody>
      </p:sp>
      <p:sp>
        <p:nvSpPr>
          <p:cNvPr id="13" name="!!Ileon"/>
          <p:cNvSpPr/>
          <p:nvPr/>
        </p:nvSpPr>
        <p:spPr>
          <a:xfrm>
            <a:off x="6217920" y="5303520"/>
            <a:ext cx="2103120" cy="1097280"/>
          </a:xfrm>
          <a:prstGeom prst="ellipse">
            <a:avLst/>
          </a:prstGeom>
          <a:noFill/>
          <a:ln w="50800" cap="rnd">
            <a:solidFill>
              <a:srgbClr val="FFC000"/>
            </a:solidFill>
            <a:prstDash val="dash"/>
            <a:round/>
          </a:ln>
        </p:spPr>
      </p:sp>
      <p:grpSp>
        <p:nvGrpSpPr>
          <p:cNvPr id="14" name="!!Vaso portal"/>
          <p:cNvGrpSpPr/>
          <p:nvPr/>
        </p:nvGrpSpPr>
        <p:grpSpPr>
          <a:xfrm>
            <a:off x="4480560" y="5349240"/>
            <a:ext cx="1691640" cy="502920"/>
            <a:chOff x="4480560" y="5349240"/>
            <a:chExt cx="1691640" cy="502920"/>
          </a:xfrm>
        </p:grpSpPr>
        <p:sp>
          <p:nvSpPr>
            <p:cNvPr id="15" name="Forma 14"/>
            <p:cNvSpPr/>
            <p:nvPr/>
          </p:nvSpPr>
          <p:spPr>
            <a:xfrm>
              <a:off x="4480560" y="5349240"/>
              <a:ext cx="169164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6" name="Forma 15"/>
            <p:cNvSpPr/>
            <p:nvPr/>
          </p:nvSpPr>
          <p:spPr>
            <a:xfrm>
              <a:off x="4555998" y="5439766"/>
              <a:ext cx="1540764" cy="32186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17" name="Eritrocito"/>
            <p:cNvSpPr/>
            <p:nvPr/>
          </p:nvSpPr>
          <p:spPr>
            <a:xfrm>
              <a:off x="4877960" y="5594140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8" name="Eritrocito_2"/>
            <p:cNvSpPr/>
            <p:nvPr/>
          </p:nvSpPr>
          <p:spPr>
            <a:xfrm>
              <a:off x="5290670" y="5485641"/>
              <a:ext cx="211226" cy="21122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grpSp>
        <p:nvGrpSpPr>
          <p:cNvPr id="19" name="!!MedulaOsea"/>
          <p:cNvGrpSpPr/>
          <p:nvPr/>
        </p:nvGrpSpPr>
        <p:grpSpPr>
          <a:xfrm>
            <a:off x="4983480" y="1143000"/>
            <a:ext cx="3108960" cy="1737360"/>
            <a:chOff x="4983480" y="1143000"/>
            <a:chExt cx="3108960" cy="1737360"/>
          </a:xfrm>
        </p:grpSpPr>
        <p:sp>
          <p:nvSpPr>
            <p:cNvPr id="20" name="Hueso"/>
            <p:cNvSpPr/>
            <p:nvPr/>
          </p:nvSpPr>
          <p:spPr>
            <a:xfrm>
              <a:off x="4983480" y="1143000"/>
              <a:ext cx="3108960" cy="173736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25400" cap="rnd">
              <a:solidFill>
                <a:srgbClr val="87360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1" name="Médula"/>
            <p:cNvSpPr/>
            <p:nvPr/>
          </p:nvSpPr>
          <p:spPr>
            <a:xfrm>
              <a:off x="5170018" y="1351483"/>
              <a:ext cx="2735885" cy="1320394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9E79F"/>
                </a:gs>
                <a:gs pos="100000">
                  <a:srgbClr val="F5B7B1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A04000"/>
              </a:solidFill>
              <a:round/>
            </a:ln>
          </p:spPr>
        </p:sp>
      </p:grpSp>
      <p:grpSp>
        <p:nvGrpSpPr>
          <p:cNvPr id="22" name="Megaloblastos médula"/>
          <p:cNvGrpSpPr/>
          <p:nvPr/>
        </p:nvGrpSpPr>
        <p:grpSpPr>
          <a:xfrm>
            <a:off x="5257800" y="1417320"/>
            <a:ext cx="2697480" cy="868680"/>
            <a:chOff x="5257800" y="1417320"/>
            <a:chExt cx="2697480" cy="868680"/>
          </a:xfrm>
        </p:grpSpPr>
        <p:grpSp>
          <p:nvGrpSpPr>
            <p:cNvPr id="23" name="Megaloblasto 0"/>
            <p:cNvGrpSpPr/>
            <p:nvPr/>
          </p:nvGrpSpPr>
          <p:grpSpPr>
            <a:xfrm>
              <a:off x="5257800" y="1417320"/>
              <a:ext cx="868680" cy="868680"/>
              <a:chOff x="5257800" y="1417320"/>
              <a:chExt cx="868680" cy="868680"/>
            </a:xfrm>
          </p:grpSpPr>
          <p:sp>
            <p:nvSpPr>
              <p:cNvPr id="24" name="Citoplasma"/>
              <p:cNvSpPr/>
              <p:nvPr/>
            </p:nvSpPr>
            <p:spPr>
              <a:xfrm>
                <a:off x="5257800" y="1417320"/>
                <a:ext cx="868680" cy="868680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8E3A59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5" name="Núcleo"/>
              <p:cNvSpPr/>
              <p:nvPr/>
            </p:nvSpPr>
            <p:spPr>
              <a:xfrm>
                <a:off x="5496687" y="1656207"/>
                <a:ext cx="390906" cy="390906"/>
              </a:xfrm>
              <a:prstGeom prst="ellipse">
                <a:avLst/>
              </a:prstGeom>
              <a:gradFill rotWithShape="1">
                <a:gsLst>
                  <a:gs pos="0">
                    <a:srgbClr val="B39DDB"/>
                  </a:gs>
                  <a:gs pos="100000">
                    <a:srgbClr val="5E35B1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311B92"/>
                </a:solidFill>
                <a:round/>
              </a:ln>
            </p:spPr>
          </p:sp>
          <p:sp>
            <p:nvSpPr>
              <p:cNvPr id="26" name="Forma 25"/>
              <p:cNvSpPr/>
              <p:nvPr/>
            </p:nvSpPr>
            <p:spPr>
              <a:xfrm>
                <a:off x="5496687" y="1656207"/>
                <a:ext cx="390906" cy="3909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568" y="613"/>
                    </a:moveTo>
                    <a:cubicBezTo>
                      <a:pt x="568" y="630"/>
                      <a:pt x="554" y="644"/>
                      <a:pt x="537" y="644"/>
                    </a:cubicBezTo>
                    <a:cubicBezTo>
                      <a:pt x="519" y="644"/>
                      <a:pt x="506" y="630"/>
                      <a:pt x="506" y="613"/>
                    </a:cubicBezTo>
                    <a:cubicBezTo>
                      <a:pt x="506" y="595"/>
                      <a:pt x="519" y="582"/>
                      <a:pt x="537" y="582"/>
                    </a:cubicBezTo>
                    <a:cubicBezTo>
                      <a:pt x="554" y="582"/>
                      <a:pt x="568" y="595"/>
                      <a:pt x="568" y="613"/>
                    </a:cubicBezTo>
                    <a:close/>
                    <a:moveTo>
                      <a:pt x="461" y="370"/>
                    </a:moveTo>
                    <a:cubicBezTo>
                      <a:pt x="461" y="383"/>
                      <a:pt x="449" y="395"/>
                      <a:pt x="436" y="395"/>
                    </a:cubicBezTo>
                    <a:cubicBezTo>
                      <a:pt x="422" y="395"/>
                      <a:pt x="411" y="383"/>
                      <a:pt x="411" y="370"/>
                    </a:cubicBezTo>
                    <a:cubicBezTo>
                      <a:pt x="411" y="356"/>
                      <a:pt x="422" y="345"/>
                      <a:pt x="436" y="345"/>
                    </a:cubicBezTo>
                    <a:cubicBezTo>
                      <a:pt x="449" y="345"/>
                      <a:pt x="461" y="356"/>
                      <a:pt x="461" y="370"/>
                    </a:cubicBezTo>
                    <a:close/>
                    <a:moveTo>
                      <a:pt x="676" y="303"/>
                    </a:moveTo>
                    <a:cubicBezTo>
                      <a:pt x="676" y="319"/>
                      <a:pt x="662" y="333"/>
                      <a:pt x="646" y="333"/>
                    </a:cubicBezTo>
                    <a:cubicBezTo>
                      <a:pt x="629" y="333"/>
                      <a:pt x="616" y="319"/>
                      <a:pt x="616" y="303"/>
                    </a:cubicBezTo>
                    <a:cubicBezTo>
                      <a:pt x="616" y="286"/>
                      <a:pt x="629" y="273"/>
                      <a:pt x="646" y="273"/>
                    </a:cubicBezTo>
                    <a:cubicBezTo>
                      <a:pt x="662" y="273"/>
                      <a:pt x="676" y="286"/>
                      <a:pt x="676" y="303"/>
                    </a:cubicBezTo>
                    <a:close/>
                    <a:moveTo>
                      <a:pt x="596" y="537"/>
                    </a:moveTo>
                    <a:cubicBezTo>
                      <a:pt x="596" y="558"/>
                      <a:pt x="578" y="576"/>
                      <a:pt x="557" y="576"/>
                    </a:cubicBezTo>
                    <a:cubicBezTo>
                      <a:pt x="535" y="576"/>
                      <a:pt x="518" y="558"/>
                      <a:pt x="518" y="537"/>
                    </a:cubicBezTo>
                    <a:cubicBezTo>
                      <a:pt x="518" y="515"/>
                      <a:pt x="535" y="498"/>
                      <a:pt x="557" y="498"/>
                    </a:cubicBezTo>
                    <a:cubicBezTo>
                      <a:pt x="578" y="498"/>
                      <a:pt x="596" y="515"/>
                      <a:pt x="596" y="537"/>
                    </a:cubicBezTo>
                    <a:close/>
                    <a:moveTo>
                      <a:pt x="378" y="471"/>
                    </a:moveTo>
                    <a:cubicBezTo>
                      <a:pt x="378" y="491"/>
                      <a:pt x="361" y="508"/>
                      <a:pt x="341" y="508"/>
                    </a:cubicBezTo>
                    <a:cubicBezTo>
                      <a:pt x="320" y="508"/>
                      <a:pt x="304" y="491"/>
                      <a:pt x="304" y="471"/>
                    </a:cubicBezTo>
                    <a:cubicBezTo>
                      <a:pt x="304" y="450"/>
                      <a:pt x="320" y="434"/>
                      <a:pt x="341" y="434"/>
                    </a:cubicBezTo>
                    <a:cubicBezTo>
                      <a:pt x="361" y="434"/>
                      <a:pt x="378" y="450"/>
                      <a:pt x="378" y="471"/>
                    </a:cubicBezTo>
                    <a:close/>
                    <a:moveTo>
                      <a:pt x="636" y="658"/>
                    </a:moveTo>
                    <a:cubicBezTo>
                      <a:pt x="636" y="669"/>
                      <a:pt x="626" y="679"/>
                      <a:pt x="615" y="679"/>
                    </a:cubicBezTo>
                    <a:cubicBezTo>
                      <a:pt x="603" y="679"/>
                      <a:pt x="594" y="669"/>
                      <a:pt x="594" y="658"/>
                    </a:cubicBezTo>
                    <a:cubicBezTo>
                      <a:pt x="594" y="646"/>
                      <a:pt x="603" y="637"/>
                      <a:pt x="615" y="637"/>
                    </a:cubicBezTo>
                    <a:cubicBezTo>
                      <a:pt x="626" y="637"/>
                      <a:pt x="636" y="646"/>
                      <a:pt x="636" y="658"/>
                    </a:cubicBezTo>
                    <a:close/>
                    <a:moveTo>
                      <a:pt x="697" y="494"/>
                    </a:moveTo>
                    <a:cubicBezTo>
                      <a:pt x="697" y="507"/>
                      <a:pt x="685" y="519"/>
                      <a:pt x="672" y="519"/>
                    </a:cubicBezTo>
                    <a:cubicBezTo>
                      <a:pt x="658" y="519"/>
                      <a:pt x="647" y="507"/>
                      <a:pt x="647" y="494"/>
                    </a:cubicBezTo>
                    <a:cubicBezTo>
                      <a:pt x="647" y="480"/>
                      <a:pt x="658" y="469"/>
                      <a:pt x="672" y="469"/>
                    </a:cubicBezTo>
                    <a:cubicBezTo>
                      <a:pt x="685" y="469"/>
                      <a:pt x="697" y="480"/>
                      <a:pt x="697" y="494"/>
                    </a:cubicBezTo>
                    <a:close/>
                    <a:moveTo>
                      <a:pt x="693" y="531"/>
                    </a:moveTo>
                    <a:cubicBezTo>
                      <a:pt x="693" y="549"/>
                      <a:pt x="678" y="564"/>
                      <a:pt x="660" y="564"/>
                    </a:cubicBezTo>
                    <a:cubicBezTo>
                      <a:pt x="641" y="564"/>
                      <a:pt x="627" y="549"/>
                      <a:pt x="627" y="531"/>
                    </a:cubicBezTo>
                    <a:cubicBezTo>
                      <a:pt x="627" y="512"/>
                      <a:pt x="641" y="498"/>
                      <a:pt x="660" y="498"/>
                    </a:cubicBezTo>
                    <a:cubicBezTo>
                      <a:pt x="678" y="498"/>
                      <a:pt x="693" y="512"/>
                      <a:pt x="693" y="531"/>
                    </a:cubicBezTo>
                    <a:close/>
                    <a:moveTo>
                      <a:pt x="407" y="386"/>
                    </a:moveTo>
                    <a:cubicBezTo>
                      <a:pt x="407" y="400"/>
                      <a:pt x="394" y="413"/>
                      <a:pt x="380" y="413"/>
                    </a:cubicBezTo>
                    <a:cubicBezTo>
                      <a:pt x="365" y="413"/>
                      <a:pt x="353" y="400"/>
                      <a:pt x="353" y="386"/>
                    </a:cubicBezTo>
                    <a:cubicBezTo>
                      <a:pt x="353" y="371"/>
                      <a:pt x="365" y="359"/>
                      <a:pt x="380" y="359"/>
                    </a:cubicBezTo>
                    <a:cubicBezTo>
                      <a:pt x="394" y="359"/>
                      <a:pt x="407" y="371"/>
                      <a:pt x="407" y="386"/>
                    </a:cubicBezTo>
                    <a:close/>
                    <a:moveTo>
                      <a:pt x="350" y="356"/>
                    </a:moveTo>
                    <a:cubicBezTo>
                      <a:pt x="350" y="369"/>
                      <a:pt x="339" y="380"/>
                      <a:pt x="326" y="380"/>
                    </a:cubicBezTo>
                    <a:cubicBezTo>
                      <a:pt x="312" y="380"/>
                      <a:pt x="302" y="369"/>
                      <a:pt x="302" y="356"/>
                    </a:cubicBezTo>
                    <a:cubicBezTo>
                      <a:pt x="302" y="342"/>
                      <a:pt x="312" y="332"/>
                      <a:pt x="326" y="332"/>
                    </a:cubicBezTo>
                    <a:cubicBezTo>
                      <a:pt x="339" y="332"/>
                      <a:pt x="350" y="342"/>
                      <a:pt x="350" y="356"/>
                    </a:cubicBezTo>
                    <a:close/>
                    <a:moveTo>
                      <a:pt x="581" y="602"/>
                    </a:moveTo>
                    <a:cubicBezTo>
                      <a:pt x="581" y="614"/>
                      <a:pt x="571" y="624"/>
                      <a:pt x="559" y="624"/>
                    </a:cubicBezTo>
                    <a:cubicBezTo>
                      <a:pt x="546" y="624"/>
                      <a:pt x="537" y="614"/>
                      <a:pt x="537" y="602"/>
                    </a:cubicBezTo>
                    <a:cubicBezTo>
                      <a:pt x="537" y="589"/>
                      <a:pt x="546" y="580"/>
                      <a:pt x="559" y="580"/>
                    </a:cubicBezTo>
                    <a:cubicBezTo>
                      <a:pt x="571" y="580"/>
                      <a:pt x="581" y="589"/>
                      <a:pt x="581" y="602"/>
                    </a:cubicBezTo>
                    <a:close/>
                    <a:moveTo>
                      <a:pt x="728" y="652"/>
                    </a:moveTo>
                    <a:cubicBezTo>
                      <a:pt x="728" y="669"/>
                      <a:pt x="713" y="684"/>
                      <a:pt x="696" y="684"/>
                    </a:cubicBezTo>
                    <a:cubicBezTo>
                      <a:pt x="678" y="684"/>
                      <a:pt x="664" y="669"/>
                      <a:pt x="664" y="652"/>
                    </a:cubicBezTo>
                    <a:cubicBezTo>
                      <a:pt x="664" y="634"/>
                      <a:pt x="678" y="620"/>
                      <a:pt x="696" y="620"/>
                    </a:cubicBezTo>
                    <a:cubicBezTo>
                      <a:pt x="713" y="620"/>
                      <a:pt x="728" y="634"/>
                      <a:pt x="728" y="652"/>
                    </a:cubicBezTo>
                    <a:close/>
                    <a:moveTo>
                      <a:pt x="711" y="352"/>
                    </a:moveTo>
                    <a:cubicBezTo>
                      <a:pt x="711" y="368"/>
                      <a:pt x="698" y="381"/>
                      <a:pt x="682" y="381"/>
                    </a:cubicBezTo>
                    <a:cubicBezTo>
                      <a:pt x="665" y="381"/>
                      <a:pt x="653" y="368"/>
                      <a:pt x="653" y="352"/>
                    </a:cubicBezTo>
                    <a:cubicBezTo>
                      <a:pt x="653" y="335"/>
                      <a:pt x="665" y="323"/>
                      <a:pt x="682" y="323"/>
                    </a:cubicBezTo>
                    <a:cubicBezTo>
                      <a:pt x="698" y="323"/>
                      <a:pt x="711" y="335"/>
                      <a:pt x="711" y="352"/>
                    </a:cubicBezTo>
                    <a:close/>
                    <a:moveTo>
                      <a:pt x="431" y="645"/>
                    </a:moveTo>
                    <a:cubicBezTo>
                      <a:pt x="431" y="659"/>
                      <a:pt x="418" y="672"/>
                      <a:pt x="404" y="672"/>
                    </a:cubicBezTo>
                    <a:cubicBezTo>
                      <a:pt x="389" y="672"/>
                      <a:pt x="377" y="659"/>
                      <a:pt x="377" y="645"/>
                    </a:cubicBezTo>
                    <a:cubicBezTo>
                      <a:pt x="377" y="630"/>
                      <a:pt x="389" y="618"/>
                      <a:pt x="404" y="618"/>
                    </a:cubicBezTo>
                    <a:cubicBezTo>
                      <a:pt x="418" y="618"/>
                      <a:pt x="431" y="630"/>
                      <a:pt x="431" y="645"/>
                    </a:cubicBezTo>
                    <a:close/>
                  </a:path>
                </a:pathLst>
              </a:custGeom>
              <a:solidFill>
                <a:srgbClr val="311B92"/>
              </a:solidFill>
              <a:ln>
                <a:noFill/>
              </a:ln>
            </p:spPr>
          </p:sp>
        </p:grpSp>
        <p:grpSp>
          <p:nvGrpSpPr>
            <p:cNvPr id="27" name="Megaloblasto 1"/>
            <p:cNvGrpSpPr/>
            <p:nvPr/>
          </p:nvGrpSpPr>
          <p:grpSpPr>
            <a:xfrm>
              <a:off x="6172200" y="1417320"/>
              <a:ext cx="868680" cy="868680"/>
              <a:chOff x="6172200" y="1417320"/>
              <a:chExt cx="868680" cy="868680"/>
            </a:xfrm>
          </p:grpSpPr>
          <p:sp>
            <p:nvSpPr>
              <p:cNvPr id="28" name="Citoplasma_2"/>
              <p:cNvSpPr/>
              <p:nvPr/>
            </p:nvSpPr>
            <p:spPr>
              <a:xfrm>
                <a:off x="6172200" y="1417320"/>
                <a:ext cx="868680" cy="868680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8E3A59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9" name="Núcleo_2"/>
              <p:cNvSpPr/>
              <p:nvPr/>
            </p:nvSpPr>
            <p:spPr>
              <a:xfrm>
                <a:off x="6411087" y="1656207"/>
                <a:ext cx="390906" cy="390906"/>
              </a:xfrm>
              <a:prstGeom prst="ellipse">
                <a:avLst/>
              </a:prstGeom>
              <a:gradFill rotWithShape="1">
                <a:gsLst>
                  <a:gs pos="0">
                    <a:srgbClr val="B39DDB"/>
                  </a:gs>
                  <a:gs pos="100000">
                    <a:srgbClr val="5E35B1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311B92"/>
                </a:solidFill>
                <a:round/>
              </a:ln>
            </p:spPr>
          </p:sp>
          <p:sp>
            <p:nvSpPr>
              <p:cNvPr id="30" name="Forma 29"/>
              <p:cNvSpPr/>
              <p:nvPr/>
            </p:nvSpPr>
            <p:spPr>
              <a:xfrm>
                <a:off x="6411087" y="1656207"/>
                <a:ext cx="390906" cy="3909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568" y="613"/>
                    </a:moveTo>
                    <a:cubicBezTo>
                      <a:pt x="568" y="630"/>
                      <a:pt x="554" y="644"/>
                      <a:pt x="537" y="644"/>
                    </a:cubicBezTo>
                    <a:cubicBezTo>
                      <a:pt x="519" y="644"/>
                      <a:pt x="506" y="630"/>
                      <a:pt x="506" y="613"/>
                    </a:cubicBezTo>
                    <a:cubicBezTo>
                      <a:pt x="506" y="595"/>
                      <a:pt x="519" y="582"/>
                      <a:pt x="537" y="582"/>
                    </a:cubicBezTo>
                    <a:cubicBezTo>
                      <a:pt x="554" y="582"/>
                      <a:pt x="568" y="595"/>
                      <a:pt x="568" y="613"/>
                    </a:cubicBezTo>
                    <a:close/>
                    <a:moveTo>
                      <a:pt x="461" y="370"/>
                    </a:moveTo>
                    <a:cubicBezTo>
                      <a:pt x="461" y="383"/>
                      <a:pt x="449" y="395"/>
                      <a:pt x="436" y="395"/>
                    </a:cubicBezTo>
                    <a:cubicBezTo>
                      <a:pt x="422" y="395"/>
                      <a:pt x="411" y="383"/>
                      <a:pt x="411" y="370"/>
                    </a:cubicBezTo>
                    <a:cubicBezTo>
                      <a:pt x="411" y="356"/>
                      <a:pt x="422" y="345"/>
                      <a:pt x="436" y="345"/>
                    </a:cubicBezTo>
                    <a:cubicBezTo>
                      <a:pt x="449" y="345"/>
                      <a:pt x="461" y="356"/>
                      <a:pt x="461" y="370"/>
                    </a:cubicBezTo>
                    <a:close/>
                    <a:moveTo>
                      <a:pt x="676" y="303"/>
                    </a:moveTo>
                    <a:cubicBezTo>
                      <a:pt x="676" y="319"/>
                      <a:pt x="662" y="333"/>
                      <a:pt x="646" y="333"/>
                    </a:cubicBezTo>
                    <a:cubicBezTo>
                      <a:pt x="629" y="333"/>
                      <a:pt x="616" y="319"/>
                      <a:pt x="616" y="303"/>
                    </a:cubicBezTo>
                    <a:cubicBezTo>
                      <a:pt x="616" y="286"/>
                      <a:pt x="629" y="273"/>
                      <a:pt x="646" y="273"/>
                    </a:cubicBezTo>
                    <a:cubicBezTo>
                      <a:pt x="662" y="273"/>
                      <a:pt x="676" y="286"/>
                      <a:pt x="676" y="303"/>
                    </a:cubicBezTo>
                    <a:close/>
                    <a:moveTo>
                      <a:pt x="596" y="537"/>
                    </a:moveTo>
                    <a:cubicBezTo>
                      <a:pt x="596" y="558"/>
                      <a:pt x="578" y="576"/>
                      <a:pt x="557" y="576"/>
                    </a:cubicBezTo>
                    <a:cubicBezTo>
                      <a:pt x="535" y="576"/>
                      <a:pt x="518" y="558"/>
                      <a:pt x="518" y="537"/>
                    </a:cubicBezTo>
                    <a:cubicBezTo>
                      <a:pt x="518" y="515"/>
                      <a:pt x="535" y="498"/>
                      <a:pt x="557" y="498"/>
                    </a:cubicBezTo>
                    <a:cubicBezTo>
                      <a:pt x="578" y="498"/>
                      <a:pt x="596" y="515"/>
                      <a:pt x="596" y="537"/>
                    </a:cubicBezTo>
                    <a:close/>
                    <a:moveTo>
                      <a:pt x="378" y="471"/>
                    </a:moveTo>
                    <a:cubicBezTo>
                      <a:pt x="378" y="491"/>
                      <a:pt x="361" y="508"/>
                      <a:pt x="341" y="508"/>
                    </a:cubicBezTo>
                    <a:cubicBezTo>
                      <a:pt x="320" y="508"/>
                      <a:pt x="304" y="491"/>
                      <a:pt x="304" y="471"/>
                    </a:cubicBezTo>
                    <a:cubicBezTo>
                      <a:pt x="304" y="450"/>
                      <a:pt x="320" y="434"/>
                      <a:pt x="341" y="434"/>
                    </a:cubicBezTo>
                    <a:cubicBezTo>
                      <a:pt x="361" y="434"/>
                      <a:pt x="378" y="450"/>
                      <a:pt x="378" y="471"/>
                    </a:cubicBezTo>
                    <a:close/>
                    <a:moveTo>
                      <a:pt x="636" y="658"/>
                    </a:moveTo>
                    <a:cubicBezTo>
                      <a:pt x="636" y="669"/>
                      <a:pt x="626" y="679"/>
                      <a:pt x="615" y="679"/>
                    </a:cubicBezTo>
                    <a:cubicBezTo>
                      <a:pt x="603" y="679"/>
                      <a:pt x="594" y="669"/>
                      <a:pt x="594" y="658"/>
                    </a:cubicBezTo>
                    <a:cubicBezTo>
                      <a:pt x="594" y="646"/>
                      <a:pt x="603" y="637"/>
                      <a:pt x="615" y="637"/>
                    </a:cubicBezTo>
                    <a:cubicBezTo>
                      <a:pt x="626" y="637"/>
                      <a:pt x="636" y="646"/>
                      <a:pt x="636" y="658"/>
                    </a:cubicBezTo>
                    <a:close/>
                    <a:moveTo>
                      <a:pt x="697" y="494"/>
                    </a:moveTo>
                    <a:cubicBezTo>
                      <a:pt x="697" y="507"/>
                      <a:pt x="685" y="519"/>
                      <a:pt x="672" y="519"/>
                    </a:cubicBezTo>
                    <a:cubicBezTo>
                      <a:pt x="658" y="519"/>
                      <a:pt x="647" y="507"/>
                      <a:pt x="647" y="494"/>
                    </a:cubicBezTo>
                    <a:cubicBezTo>
                      <a:pt x="647" y="480"/>
                      <a:pt x="658" y="469"/>
                      <a:pt x="672" y="469"/>
                    </a:cubicBezTo>
                    <a:cubicBezTo>
                      <a:pt x="685" y="469"/>
                      <a:pt x="697" y="480"/>
                      <a:pt x="697" y="494"/>
                    </a:cubicBezTo>
                    <a:close/>
                    <a:moveTo>
                      <a:pt x="693" y="531"/>
                    </a:moveTo>
                    <a:cubicBezTo>
                      <a:pt x="693" y="549"/>
                      <a:pt x="678" y="564"/>
                      <a:pt x="660" y="564"/>
                    </a:cubicBezTo>
                    <a:cubicBezTo>
                      <a:pt x="641" y="564"/>
                      <a:pt x="627" y="549"/>
                      <a:pt x="627" y="531"/>
                    </a:cubicBezTo>
                    <a:cubicBezTo>
                      <a:pt x="627" y="512"/>
                      <a:pt x="641" y="498"/>
                      <a:pt x="660" y="498"/>
                    </a:cubicBezTo>
                    <a:cubicBezTo>
                      <a:pt x="678" y="498"/>
                      <a:pt x="693" y="512"/>
                      <a:pt x="693" y="531"/>
                    </a:cubicBezTo>
                    <a:close/>
                    <a:moveTo>
                      <a:pt x="407" y="386"/>
                    </a:moveTo>
                    <a:cubicBezTo>
                      <a:pt x="407" y="400"/>
                      <a:pt x="394" y="413"/>
                      <a:pt x="380" y="413"/>
                    </a:cubicBezTo>
                    <a:cubicBezTo>
                      <a:pt x="365" y="413"/>
                      <a:pt x="353" y="400"/>
                      <a:pt x="353" y="386"/>
                    </a:cubicBezTo>
                    <a:cubicBezTo>
                      <a:pt x="353" y="371"/>
                      <a:pt x="365" y="359"/>
                      <a:pt x="380" y="359"/>
                    </a:cubicBezTo>
                    <a:cubicBezTo>
                      <a:pt x="394" y="359"/>
                      <a:pt x="407" y="371"/>
                      <a:pt x="407" y="386"/>
                    </a:cubicBezTo>
                    <a:close/>
                    <a:moveTo>
                      <a:pt x="350" y="356"/>
                    </a:moveTo>
                    <a:cubicBezTo>
                      <a:pt x="350" y="369"/>
                      <a:pt x="339" y="380"/>
                      <a:pt x="326" y="380"/>
                    </a:cubicBezTo>
                    <a:cubicBezTo>
                      <a:pt x="312" y="380"/>
                      <a:pt x="302" y="369"/>
                      <a:pt x="302" y="356"/>
                    </a:cubicBezTo>
                    <a:cubicBezTo>
                      <a:pt x="302" y="342"/>
                      <a:pt x="312" y="332"/>
                      <a:pt x="326" y="332"/>
                    </a:cubicBezTo>
                    <a:cubicBezTo>
                      <a:pt x="339" y="332"/>
                      <a:pt x="350" y="342"/>
                      <a:pt x="350" y="356"/>
                    </a:cubicBezTo>
                    <a:close/>
                    <a:moveTo>
                      <a:pt x="581" y="602"/>
                    </a:moveTo>
                    <a:cubicBezTo>
                      <a:pt x="581" y="614"/>
                      <a:pt x="571" y="624"/>
                      <a:pt x="559" y="624"/>
                    </a:cubicBezTo>
                    <a:cubicBezTo>
                      <a:pt x="546" y="624"/>
                      <a:pt x="537" y="614"/>
                      <a:pt x="537" y="602"/>
                    </a:cubicBezTo>
                    <a:cubicBezTo>
                      <a:pt x="537" y="589"/>
                      <a:pt x="546" y="580"/>
                      <a:pt x="559" y="580"/>
                    </a:cubicBezTo>
                    <a:cubicBezTo>
                      <a:pt x="571" y="580"/>
                      <a:pt x="581" y="589"/>
                      <a:pt x="581" y="602"/>
                    </a:cubicBezTo>
                    <a:close/>
                    <a:moveTo>
                      <a:pt x="728" y="652"/>
                    </a:moveTo>
                    <a:cubicBezTo>
                      <a:pt x="728" y="669"/>
                      <a:pt x="713" y="684"/>
                      <a:pt x="696" y="684"/>
                    </a:cubicBezTo>
                    <a:cubicBezTo>
                      <a:pt x="678" y="684"/>
                      <a:pt x="664" y="669"/>
                      <a:pt x="664" y="652"/>
                    </a:cubicBezTo>
                    <a:cubicBezTo>
                      <a:pt x="664" y="634"/>
                      <a:pt x="678" y="620"/>
                      <a:pt x="696" y="620"/>
                    </a:cubicBezTo>
                    <a:cubicBezTo>
                      <a:pt x="713" y="620"/>
                      <a:pt x="728" y="634"/>
                      <a:pt x="728" y="652"/>
                    </a:cubicBezTo>
                    <a:close/>
                    <a:moveTo>
                      <a:pt x="711" y="352"/>
                    </a:moveTo>
                    <a:cubicBezTo>
                      <a:pt x="711" y="368"/>
                      <a:pt x="698" y="381"/>
                      <a:pt x="682" y="381"/>
                    </a:cubicBezTo>
                    <a:cubicBezTo>
                      <a:pt x="665" y="381"/>
                      <a:pt x="653" y="368"/>
                      <a:pt x="653" y="352"/>
                    </a:cubicBezTo>
                    <a:cubicBezTo>
                      <a:pt x="653" y="335"/>
                      <a:pt x="665" y="323"/>
                      <a:pt x="682" y="323"/>
                    </a:cubicBezTo>
                    <a:cubicBezTo>
                      <a:pt x="698" y="323"/>
                      <a:pt x="711" y="335"/>
                      <a:pt x="711" y="352"/>
                    </a:cubicBezTo>
                    <a:close/>
                    <a:moveTo>
                      <a:pt x="431" y="645"/>
                    </a:moveTo>
                    <a:cubicBezTo>
                      <a:pt x="431" y="659"/>
                      <a:pt x="418" y="672"/>
                      <a:pt x="404" y="672"/>
                    </a:cubicBezTo>
                    <a:cubicBezTo>
                      <a:pt x="389" y="672"/>
                      <a:pt x="377" y="659"/>
                      <a:pt x="377" y="645"/>
                    </a:cubicBezTo>
                    <a:cubicBezTo>
                      <a:pt x="377" y="630"/>
                      <a:pt x="389" y="618"/>
                      <a:pt x="404" y="618"/>
                    </a:cubicBezTo>
                    <a:cubicBezTo>
                      <a:pt x="418" y="618"/>
                      <a:pt x="431" y="630"/>
                      <a:pt x="431" y="645"/>
                    </a:cubicBezTo>
                    <a:close/>
                  </a:path>
                </a:pathLst>
              </a:custGeom>
              <a:solidFill>
                <a:srgbClr val="311B92"/>
              </a:solidFill>
              <a:ln>
                <a:noFill/>
              </a:ln>
            </p:spPr>
          </p:sp>
        </p:grpSp>
        <p:grpSp>
          <p:nvGrpSpPr>
            <p:cNvPr id="31" name="Megaloblasto 2"/>
            <p:cNvGrpSpPr/>
            <p:nvPr/>
          </p:nvGrpSpPr>
          <p:grpSpPr>
            <a:xfrm>
              <a:off x="7086600" y="1417320"/>
              <a:ext cx="868680" cy="868680"/>
              <a:chOff x="7086600" y="1417320"/>
              <a:chExt cx="868680" cy="868680"/>
            </a:xfrm>
          </p:grpSpPr>
          <p:sp>
            <p:nvSpPr>
              <p:cNvPr id="32" name="Citoplasma_3"/>
              <p:cNvSpPr/>
              <p:nvPr/>
            </p:nvSpPr>
            <p:spPr>
              <a:xfrm>
                <a:off x="7086600" y="1417320"/>
                <a:ext cx="868680" cy="868680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8E3A59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3" name="Núcleo_3"/>
              <p:cNvSpPr/>
              <p:nvPr/>
            </p:nvSpPr>
            <p:spPr>
              <a:xfrm>
                <a:off x="7325487" y="1656207"/>
                <a:ext cx="390906" cy="390906"/>
              </a:xfrm>
              <a:prstGeom prst="ellipse">
                <a:avLst/>
              </a:prstGeom>
              <a:gradFill rotWithShape="1">
                <a:gsLst>
                  <a:gs pos="0">
                    <a:srgbClr val="B39DDB"/>
                  </a:gs>
                  <a:gs pos="100000">
                    <a:srgbClr val="5E35B1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311B92"/>
                </a:solidFill>
                <a:round/>
              </a:ln>
            </p:spPr>
          </p:sp>
          <p:sp>
            <p:nvSpPr>
              <p:cNvPr id="34" name="Forma 33"/>
              <p:cNvSpPr/>
              <p:nvPr/>
            </p:nvSpPr>
            <p:spPr>
              <a:xfrm>
                <a:off x="7325487" y="1656207"/>
                <a:ext cx="390906" cy="3909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568" y="613"/>
                    </a:moveTo>
                    <a:cubicBezTo>
                      <a:pt x="568" y="630"/>
                      <a:pt x="554" y="644"/>
                      <a:pt x="537" y="644"/>
                    </a:cubicBezTo>
                    <a:cubicBezTo>
                      <a:pt x="519" y="644"/>
                      <a:pt x="506" y="630"/>
                      <a:pt x="506" y="613"/>
                    </a:cubicBezTo>
                    <a:cubicBezTo>
                      <a:pt x="506" y="595"/>
                      <a:pt x="519" y="582"/>
                      <a:pt x="537" y="582"/>
                    </a:cubicBezTo>
                    <a:cubicBezTo>
                      <a:pt x="554" y="582"/>
                      <a:pt x="568" y="595"/>
                      <a:pt x="568" y="613"/>
                    </a:cubicBezTo>
                    <a:close/>
                    <a:moveTo>
                      <a:pt x="461" y="370"/>
                    </a:moveTo>
                    <a:cubicBezTo>
                      <a:pt x="461" y="383"/>
                      <a:pt x="449" y="395"/>
                      <a:pt x="436" y="395"/>
                    </a:cubicBezTo>
                    <a:cubicBezTo>
                      <a:pt x="422" y="395"/>
                      <a:pt x="411" y="383"/>
                      <a:pt x="411" y="370"/>
                    </a:cubicBezTo>
                    <a:cubicBezTo>
                      <a:pt x="411" y="356"/>
                      <a:pt x="422" y="345"/>
                      <a:pt x="436" y="345"/>
                    </a:cubicBezTo>
                    <a:cubicBezTo>
                      <a:pt x="449" y="345"/>
                      <a:pt x="461" y="356"/>
                      <a:pt x="461" y="370"/>
                    </a:cubicBezTo>
                    <a:close/>
                    <a:moveTo>
                      <a:pt x="676" y="303"/>
                    </a:moveTo>
                    <a:cubicBezTo>
                      <a:pt x="676" y="319"/>
                      <a:pt x="662" y="333"/>
                      <a:pt x="646" y="333"/>
                    </a:cubicBezTo>
                    <a:cubicBezTo>
                      <a:pt x="629" y="333"/>
                      <a:pt x="616" y="319"/>
                      <a:pt x="616" y="303"/>
                    </a:cubicBezTo>
                    <a:cubicBezTo>
                      <a:pt x="616" y="286"/>
                      <a:pt x="629" y="273"/>
                      <a:pt x="646" y="273"/>
                    </a:cubicBezTo>
                    <a:cubicBezTo>
                      <a:pt x="662" y="273"/>
                      <a:pt x="676" y="286"/>
                      <a:pt x="676" y="303"/>
                    </a:cubicBezTo>
                    <a:close/>
                    <a:moveTo>
                      <a:pt x="596" y="537"/>
                    </a:moveTo>
                    <a:cubicBezTo>
                      <a:pt x="596" y="558"/>
                      <a:pt x="578" y="576"/>
                      <a:pt x="557" y="576"/>
                    </a:cubicBezTo>
                    <a:cubicBezTo>
                      <a:pt x="535" y="576"/>
                      <a:pt x="518" y="558"/>
                      <a:pt x="518" y="537"/>
                    </a:cubicBezTo>
                    <a:cubicBezTo>
                      <a:pt x="518" y="515"/>
                      <a:pt x="535" y="498"/>
                      <a:pt x="557" y="498"/>
                    </a:cubicBezTo>
                    <a:cubicBezTo>
                      <a:pt x="578" y="498"/>
                      <a:pt x="596" y="515"/>
                      <a:pt x="596" y="537"/>
                    </a:cubicBezTo>
                    <a:close/>
                    <a:moveTo>
                      <a:pt x="378" y="471"/>
                    </a:moveTo>
                    <a:cubicBezTo>
                      <a:pt x="378" y="491"/>
                      <a:pt x="361" y="508"/>
                      <a:pt x="341" y="508"/>
                    </a:cubicBezTo>
                    <a:cubicBezTo>
                      <a:pt x="320" y="508"/>
                      <a:pt x="304" y="491"/>
                      <a:pt x="304" y="471"/>
                    </a:cubicBezTo>
                    <a:cubicBezTo>
                      <a:pt x="304" y="450"/>
                      <a:pt x="320" y="434"/>
                      <a:pt x="341" y="434"/>
                    </a:cubicBezTo>
                    <a:cubicBezTo>
                      <a:pt x="361" y="434"/>
                      <a:pt x="378" y="450"/>
                      <a:pt x="378" y="471"/>
                    </a:cubicBezTo>
                    <a:close/>
                    <a:moveTo>
                      <a:pt x="636" y="658"/>
                    </a:moveTo>
                    <a:cubicBezTo>
                      <a:pt x="636" y="669"/>
                      <a:pt x="626" y="679"/>
                      <a:pt x="615" y="679"/>
                    </a:cubicBezTo>
                    <a:cubicBezTo>
                      <a:pt x="603" y="679"/>
                      <a:pt x="594" y="669"/>
                      <a:pt x="594" y="658"/>
                    </a:cubicBezTo>
                    <a:cubicBezTo>
                      <a:pt x="594" y="646"/>
                      <a:pt x="603" y="637"/>
                      <a:pt x="615" y="637"/>
                    </a:cubicBezTo>
                    <a:cubicBezTo>
                      <a:pt x="626" y="637"/>
                      <a:pt x="636" y="646"/>
                      <a:pt x="636" y="658"/>
                    </a:cubicBezTo>
                    <a:close/>
                    <a:moveTo>
                      <a:pt x="697" y="494"/>
                    </a:moveTo>
                    <a:cubicBezTo>
                      <a:pt x="697" y="507"/>
                      <a:pt x="685" y="519"/>
                      <a:pt x="672" y="519"/>
                    </a:cubicBezTo>
                    <a:cubicBezTo>
                      <a:pt x="658" y="519"/>
                      <a:pt x="647" y="507"/>
                      <a:pt x="647" y="494"/>
                    </a:cubicBezTo>
                    <a:cubicBezTo>
                      <a:pt x="647" y="480"/>
                      <a:pt x="658" y="469"/>
                      <a:pt x="672" y="469"/>
                    </a:cubicBezTo>
                    <a:cubicBezTo>
                      <a:pt x="685" y="469"/>
                      <a:pt x="697" y="480"/>
                      <a:pt x="697" y="494"/>
                    </a:cubicBezTo>
                    <a:close/>
                    <a:moveTo>
                      <a:pt x="693" y="531"/>
                    </a:moveTo>
                    <a:cubicBezTo>
                      <a:pt x="693" y="549"/>
                      <a:pt x="678" y="564"/>
                      <a:pt x="660" y="564"/>
                    </a:cubicBezTo>
                    <a:cubicBezTo>
                      <a:pt x="641" y="564"/>
                      <a:pt x="627" y="549"/>
                      <a:pt x="627" y="531"/>
                    </a:cubicBezTo>
                    <a:cubicBezTo>
                      <a:pt x="627" y="512"/>
                      <a:pt x="641" y="498"/>
                      <a:pt x="660" y="498"/>
                    </a:cubicBezTo>
                    <a:cubicBezTo>
                      <a:pt x="678" y="498"/>
                      <a:pt x="693" y="512"/>
                      <a:pt x="693" y="531"/>
                    </a:cubicBezTo>
                    <a:close/>
                    <a:moveTo>
                      <a:pt x="407" y="386"/>
                    </a:moveTo>
                    <a:cubicBezTo>
                      <a:pt x="407" y="400"/>
                      <a:pt x="394" y="413"/>
                      <a:pt x="380" y="413"/>
                    </a:cubicBezTo>
                    <a:cubicBezTo>
                      <a:pt x="365" y="413"/>
                      <a:pt x="353" y="400"/>
                      <a:pt x="353" y="386"/>
                    </a:cubicBezTo>
                    <a:cubicBezTo>
                      <a:pt x="353" y="371"/>
                      <a:pt x="365" y="359"/>
                      <a:pt x="380" y="359"/>
                    </a:cubicBezTo>
                    <a:cubicBezTo>
                      <a:pt x="394" y="359"/>
                      <a:pt x="407" y="371"/>
                      <a:pt x="407" y="386"/>
                    </a:cubicBezTo>
                    <a:close/>
                    <a:moveTo>
                      <a:pt x="350" y="356"/>
                    </a:moveTo>
                    <a:cubicBezTo>
                      <a:pt x="350" y="369"/>
                      <a:pt x="339" y="380"/>
                      <a:pt x="326" y="380"/>
                    </a:cubicBezTo>
                    <a:cubicBezTo>
                      <a:pt x="312" y="380"/>
                      <a:pt x="302" y="369"/>
                      <a:pt x="302" y="356"/>
                    </a:cubicBezTo>
                    <a:cubicBezTo>
                      <a:pt x="302" y="342"/>
                      <a:pt x="312" y="332"/>
                      <a:pt x="326" y="332"/>
                    </a:cubicBezTo>
                    <a:cubicBezTo>
                      <a:pt x="339" y="332"/>
                      <a:pt x="350" y="342"/>
                      <a:pt x="350" y="356"/>
                    </a:cubicBezTo>
                    <a:close/>
                    <a:moveTo>
                      <a:pt x="581" y="602"/>
                    </a:moveTo>
                    <a:cubicBezTo>
                      <a:pt x="581" y="614"/>
                      <a:pt x="571" y="624"/>
                      <a:pt x="559" y="624"/>
                    </a:cubicBezTo>
                    <a:cubicBezTo>
                      <a:pt x="546" y="624"/>
                      <a:pt x="537" y="614"/>
                      <a:pt x="537" y="602"/>
                    </a:cubicBezTo>
                    <a:cubicBezTo>
                      <a:pt x="537" y="589"/>
                      <a:pt x="546" y="580"/>
                      <a:pt x="559" y="580"/>
                    </a:cubicBezTo>
                    <a:cubicBezTo>
                      <a:pt x="571" y="580"/>
                      <a:pt x="581" y="589"/>
                      <a:pt x="581" y="602"/>
                    </a:cubicBezTo>
                    <a:close/>
                    <a:moveTo>
                      <a:pt x="728" y="652"/>
                    </a:moveTo>
                    <a:cubicBezTo>
                      <a:pt x="728" y="669"/>
                      <a:pt x="713" y="684"/>
                      <a:pt x="696" y="684"/>
                    </a:cubicBezTo>
                    <a:cubicBezTo>
                      <a:pt x="678" y="684"/>
                      <a:pt x="664" y="669"/>
                      <a:pt x="664" y="652"/>
                    </a:cubicBezTo>
                    <a:cubicBezTo>
                      <a:pt x="664" y="634"/>
                      <a:pt x="678" y="620"/>
                      <a:pt x="696" y="620"/>
                    </a:cubicBezTo>
                    <a:cubicBezTo>
                      <a:pt x="713" y="620"/>
                      <a:pt x="728" y="634"/>
                      <a:pt x="728" y="652"/>
                    </a:cubicBezTo>
                    <a:close/>
                    <a:moveTo>
                      <a:pt x="711" y="352"/>
                    </a:moveTo>
                    <a:cubicBezTo>
                      <a:pt x="711" y="368"/>
                      <a:pt x="698" y="381"/>
                      <a:pt x="682" y="381"/>
                    </a:cubicBezTo>
                    <a:cubicBezTo>
                      <a:pt x="665" y="381"/>
                      <a:pt x="653" y="368"/>
                      <a:pt x="653" y="352"/>
                    </a:cubicBezTo>
                    <a:cubicBezTo>
                      <a:pt x="653" y="335"/>
                      <a:pt x="665" y="323"/>
                      <a:pt x="682" y="323"/>
                    </a:cubicBezTo>
                    <a:cubicBezTo>
                      <a:pt x="698" y="323"/>
                      <a:pt x="711" y="335"/>
                      <a:pt x="711" y="352"/>
                    </a:cubicBezTo>
                    <a:close/>
                    <a:moveTo>
                      <a:pt x="431" y="645"/>
                    </a:moveTo>
                    <a:cubicBezTo>
                      <a:pt x="431" y="659"/>
                      <a:pt x="418" y="672"/>
                      <a:pt x="404" y="672"/>
                    </a:cubicBezTo>
                    <a:cubicBezTo>
                      <a:pt x="389" y="672"/>
                      <a:pt x="377" y="659"/>
                      <a:pt x="377" y="645"/>
                    </a:cubicBezTo>
                    <a:cubicBezTo>
                      <a:pt x="377" y="630"/>
                      <a:pt x="389" y="618"/>
                      <a:pt x="404" y="618"/>
                    </a:cubicBezTo>
                    <a:cubicBezTo>
                      <a:pt x="418" y="618"/>
                      <a:pt x="431" y="630"/>
                      <a:pt x="431" y="645"/>
                    </a:cubicBezTo>
                    <a:close/>
                  </a:path>
                </a:pathLst>
              </a:custGeom>
              <a:solidFill>
                <a:srgbClr val="311B92"/>
              </a:solidFill>
              <a:ln>
                <a:noFill/>
              </a:ln>
            </p:spPr>
          </p:sp>
        </p:grpSp>
      </p:grpSp>
      <p:grpSp>
        <p:nvGrpSpPr>
          <p:cNvPr id="35" name="Caja B9"/>
          <p:cNvGrpSpPr/>
          <p:nvPr/>
        </p:nvGrpSpPr>
        <p:grpSpPr>
          <a:xfrm>
            <a:off x="8549640" y="1097280"/>
            <a:ext cx="3383280" cy="3291840"/>
            <a:chOff x="8549640" y="1097280"/>
            <a:chExt cx="3383280" cy="3291840"/>
          </a:xfrm>
        </p:grpSpPr>
        <p:sp>
          <p:nvSpPr>
            <p:cNvPr id="36" name="Forma 35"/>
            <p:cNvSpPr/>
            <p:nvPr/>
          </p:nvSpPr>
          <p:spPr>
            <a:xfrm>
              <a:off x="8549640" y="1298448"/>
              <a:ext cx="3383280" cy="309067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B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 médula no sintetiza ADN correctamente: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macrocitosis, megaloblastos y pancitopenia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El cuadro es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idéntico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al del déficit nutricional de B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8677656" y="1097280"/>
              <a:ext cx="1530611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CONSECUENCIA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CONSECUENCIA HEMATOLÓGICA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Diagnóstico Paso 1"/>
          <p:cNvGrpSpPr/>
          <p:nvPr/>
        </p:nvGrpSpPr>
        <p:grpSpPr>
          <a:xfrm>
            <a:off x="457200" y="1097280"/>
            <a:ext cx="7452360" cy="1417320"/>
            <a:chOff x="457200" y="1097280"/>
            <a:chExt cx="7452360" cy="1417320"/>
          </a:xfrm>
        </p:grpSpPr>
        <p:sp>
          <p:nvSpPr>
            <p:cNvPr id="6" name="Número 1"/>
            <p:cNvSpPr/>
            <p:nvPr/>
          </p:nvSpPr>
          <p:spPr>
            <a:xfrm>
              <a:off x="457200" y="1325880"/>
              <a:ext cx="548640" cy="54864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143000" y="1097280"/>
              <a:ext cx="6766560" cy="141732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Solicitar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s-AR" sz="20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sérica y ácido fólico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en ambas condiciones pueden estar bajos.</a:t>
              </a:r>
              <a:endParaRPr lang="es-AR" sz="2000" dirty="0">
                <a:latin typeface="Calibri"/>
              </a:endParaRPr>
            </a:p>
          </p:txBody>
        </p:sp>
      </p:grpSp>
      <p:grpSp>
        <p:nvGrpSpPr>
          <p:cNvPr id="8" name="Diagnóstico Paso 2"/>
          <p:cNvGrpSpPr/>
          <p:nvPr/>
        </p:nvGrpSpPr>
        <p:grpSpPr>
          <a:xfrm>
            <a:off x="457200" y="2697480"/>
            <a:ext cx="7452360" cy="1417320"/>
            <a:chOff x="457200" y="2697480"/>
            <a:chExt cx="7452360" cy="1417320"/>
          </a:xfrm>
        </p:grpSpPr>
        <p:sp>
          <p:nvSpPr>
            <p:cNvPr id="9" name="Número 2"/>
            <p:cNvSpPr/>
            <p:nvPr/>
          </p:nvSpPr>
          <p:spPr>
            <a:xfrm>
              <a:off x="457200" y="2926080"/>
              <a:ext cx="548640" cy="54864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1143000" y="2697480"/>
              <a:ext cx="6766560" cy="14173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Dar suplementos: en el déficit nutricional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mejora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en la perniciosa la B</a:t>
              </a:r>
              <a:r>
                <a:rPr lang="es-AR" sz="20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 vía oral habitual no se absorbe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</p:grpSp>
      <p:grpSp>
        <p:nvGrpSpPr>
          <p:cNvPr id="11" name="Diagnóstico Paso 3"/>
          <p:cNvGrpSpPr/>
          <p:nvPr/>
        </p:nvGrpSpPr>
        <p:grpSpPr>
          <a:xfrm>
            <a:off x="457200" y="4297680"/>
            <a:ext cx="7452360" cy="1417320"/>
            <a:chOff x="457200" y="4297680"/>
            <a:chExt cx="7452360" cy="1417320"/>
          </a:xfrm>
        </p:grpSpPr>
        <p:sp>
          <p:nvSpPr>
            <p:cNvPr id="12" name="Número 3"/>
            <p:cNvSpPr/>
            <p:nvPr/>
          </p:nvSpPr>
          <p:spPr>
            <a:xfrm>
              <a:off x="457200" y="4526280"/>
              <a:ext cx="548640" cy="54864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1143000" y="4297680"/>
              <a:ext cx="6766560" cy="141732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Test de Schilling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B</a:t>
              </a:r>
              <a:r>
                <a:rPr lang="es-AR" sz="20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radiactiva + factor intrínseco; si la B</a:t>
              </a:r>
              <a:r>
                <a:rPr lang="es-AR" sz="20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marcada se absorbe y aparece en orina, el problema era la falta de FI.</a:t>
              </a:r>
              <a:endParaRPr lang="es-AR" sz="2000" dirty="0">
                <a:latin typeface="Calibri"/>
              </a:endParaRPr>
            </a:p>
          </p:txBody>
        </p:sp>
      </p:grpSp>
      <p:sp>
        <p:nvSpPr>
          <p:cNvPr id="14" name="Tratamiento B12"/>
          <p:cNvSpPr/>
          <p:nvPr/>
        </p:nvSpPr>
        <p:spPr>
          <a:xfrm>
            <a:off x="457200" y="5852160"/>
            <a:ext cx="7452360" cy="6400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Tratamiento: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20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intramuscular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(saltea la absorción intestinal).</a:t>
            </a:r>
            <a:endParaRPr lang="es-AR" sz="2000" dirty="0">
              <a:latin typeface="Calibri"/>
            </a:endParaRPr>
          </a:p>
        </p:txBody>
      </p:sp>
      <p:grpSp>
        <p:nvGrpSpPr>
          <p:cNvPr id="15" name="Rigor perniciosa"/>
          <p:cNvGrpSpPr/>
          <p:nvPr/>
        </p:nvGrpSpPr>
        <p:grpSpPr>
          <a:xfrm>
            <a:off x="8229600" y="1097280"/>
            <a:ext cx="3703320" cy="5394960"/>
            <a:chOff x="8229600" y="1097280"/>
            <a:chExt cx="3703320" cy="5394960"/>
          </a:xfrm>
        </p:grpSpPr>
        <p:sp>
          <p:nvSpPr>
            <p:cNvPr id="16" name="Forma 15"/>
            <p:cNvSpPr/>
            <p:nvPr/>
          </p:nvSpPr>
          <p:spPr>
            <a:xfrm>
              <a:off x="8229600" y="1298448"/>
              <a:ext cx="3703320" cy="519379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66687" indent="-16668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test de Schilling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prácticamente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ya no se utiliza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  <a:p>
              <a:pPr algn="l" marL="166687" indent="-16668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tratamiento estándar es la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s-AR" sz="17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parenteral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(o dosis orales altas en algunos casos); administrar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factor intrínseco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no es la terapia habitual.</a:t>
              </a:r>
              <a:endParaRPr lang="es-AR" sz="1750" dirty="0">
                <a:latin typeface="Calibri"/>
              </a:endParaRPr>
            </a:p>
            <a:p>
              <a:pPr algn="l" marL="166687" indent="-16668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«Suplementos que no mejoran» se refiere a la vía oral en dosis habituales.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835761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¿PERNICIOSA O DÉFICIT NUTRICIONAL? EL RAZONAMIENTO DIAGNÓSTICO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Línea de tiempo"/>
          <p:cNvGrpSpPr/>
          <p:nvPr/>
        </p:nvGrpSpPr>
        <p:grpSpPr>
          <a:xfrm>
            <a:off x="182880" y="3383280"/>
            <a:ext cx="8183880" cy="548640"/>
            <a:chOff x="182880" y="3383280"/>
            <a:chExt cx="8183880" cy="548640"/>
          </a:xfrm>
        </p:grpSpPr>
        <p:sp>
          <p:nvSpPr>
            <p:cNvPr id="6" name="Flecha 5_2"/>
            <p:cNvSpPr/>
            <p:nvPr/>
          </p:nvSpPr>
          <p:spPr>
            <a:xfrm>
              <a:off x="548640" y="3474720"/>
              <a:ext cx="7406640" cy="9144"/>
            </a:xfrm>
            <a:custGeom>
              <a:avLst/>
              <a:gdLst/>
              <a:ahLst/>
              <a:cxnLst/>
              <a:rect l="0" t="0" r="r" b="b"/>
              <a:pathLst>
                <a:path w="8100" h="10" fill="none">
                  <a:moveTo>
                    <a:pt x="0" y="0"/>
                  </a:moveTo>
                  <a:lnTo>
                    <a:pt x="810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731520" y="3383280"/>
              <a:ext cx="9144" cy="182880"/>
            </a:xfrm>
            <a:custGeom>
              <a:avLst/>
              <a:gdLst/>
              <a:ahLst/>
              <a:cxnLst/>
              <a:rect l="0" t="0" r="r" b="b"/>
              <a:pathLst>
                <a:path w="10" h="199" fill="none">
                  <a:moveTo>
                    <a:pt x="0" y="0"/>
                  </a:moveTo>
                  <a:lnTo>
                    <a:pt x="0" y="1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182880" y="3611880"/>
              <a:ext cx="10972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9" name="Flecha 10_2"/>
            <p:cNvSpPr/>
            <p:nvPr/>
          </p:nvSpPr>
          <p:spPr>
            <a:xfrm>
              <a:off x="2148840" y="3383280"/>
              <a:ext cx="9144" cy="182880"/>
            </a:xfrm>
            <a:custGeom>
              <a:avLst/>
              <a:gdLst/>
              <a:ahLst/>
              <a:cxnLst/>
              <a:rect l="0" t="0" r="r" b="b"/>
              <a:pathLst>
                <a:path w="10" h="199" fill="none">
                  <a:moveTo>
                    <a:pt x="0" y="0"/>
                  </a:moveTo>
                  <a:lnTo>
                    <a:pt x="0" y="1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0" name="Forma 12"/>
            <p:cNvSpPr txBox="1"/>
            <p:nvPr/>
          </p:nvSpPr>
          <p:spPr>
            <a:xfrm>
              <a:off x="1600200" y="3611880"/>
              <a:ext cx="10972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 meses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1" name="Flecha 13_2"/>
            <p:cNvSpPr/>
            <p:nvPr/>
          </p:nvSpPr>
          <p:spPr>
            <a:xfrm>
              <a:off x="3566160" y="3383280"/>
              <a:ext cx="9144" cy="182880"/>
            </a:xfrm>
            <a:custGeom>
              <a:avLst/>
              <a:gdLst/>
              <a:ahLst/>
              <a:cxnLst/>
              <a:rect l="0" t="0" r="r" b="b"/>
              <a:pathLst>
                <a:path w="10" h="199" fill="none">
                  <a:moveTo>
                    <a:pt x="0" y="0"/>
                  </a:moveTo>
                  <a:lnTo>
                    <a:pt x="0" y="1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2" name="Forma 15"/>
            <p:cNvSpPr txBox="1"/>
            <p:nvPr/>
          </p:nvSpPr>
          <p:spPr>
            <a:xfrm>
              <a:off x="3017520" y="3611880"/>
              <a:ext cx="10972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 año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3" name="Flecha 16_2"/>
            <p:cNvSpPr/>
            <p:nvPr/>
          </p:nvSpPr>
          <p:spPr>
            <a:xfrm>
              <a:off x="4983480" y="3383280"/>
              <a:ext cx="9144" cy="182880"/>
            </a:xfrm>
            <a:custGeom>
              <a:avLst/>
              <a:gdLst/>
              <a:ahLst/>
              <a:cxnLst/>
              <a:rect l="0" t="0" r="r" b="b"/>
              <a:pathLst>
                <a:path w="10" h="199" fill="none">
                  <a:moveTo>
                    <a:pt x="0" y="0"/>
                  </a:moveTo>
                  <a:lnTo>
                    <a:pt x="0" y="1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4" name="Forma 18"/>
            <p:cNvSpPr txBox="1"/>
            <p:nvPr/>
          </p:nvSpPr>
          <p:spPr>
            <a:xfrm>
              <a:off x="4434840" y="3611880"/>
              <a:ext cx="10972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 años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5" name="Flecha 19_2"/>
            <p:cNvSpPr/>
            <p:nvPr/>
          </p:nvSpPr>
          <p:spPr>
            <a:xfrm>
              <a:off x="6400800" y="3383280"/>
              <a:ext cx="9144" cy="182880"/>
            </a:xfrm>
            <a:custGeom>
              <a:avLst/>
              <a:gdLst/>
              <a:ahLst/>
              <a:cxnLst/>
              <a:rect l="0" t="0" r="r" b="b"/>
              <a:pathLst>
                <a:path w="10" h="199" fill="none">
                  <a:moveTo>
                    <a:pt x="0" y="0"/>
                  </a:moveTo>
                  <a:lnTo>
                    <a:pt x="0" y="1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6" name="Forma 21"/>
            <p:cNvSpPr txBox="1"/>
            <p:nvPr/>
          </p:nvSpPr>
          <p:spPr>
            <a:xfrm>
              <a:off x="5852160" y="3611880"/>
              <a:ext cx="10972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 años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7" name="Flecha 22_2"/>
            <p:cNvSpPr/>
            <p:nvPr/>
          </p:nvSpPr>
          <p:spPr>
            <a:xfrm>
              <a:off x="7818120" y="3383280"/>
              <a:ext cx="9144" cy="182880"/>
            </a:xfrm>
            <a:custGeom>
              <a:avLst/>
              <a:gdLst/>
              <a:ahLst/>
              <a:cxnLst/>
              <a:rect l="0" t="0" r="r" b="b"/>
              <a:pathLst>
                <a:path w="10" h="199" fill="none">
                  <a:moveTo>
                    <a:pt x="0" y="0"/>
                  </a:moveTo>
                  <a:lnTo>
                    <a:pt x="0" y="1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8" name="Forma 24"/>
            <p:cNvSpPr txBox="1"/>
            <p:nvPr/>
          </p:nvSpPr>
          <p:spPr>
            <a:xfrm>
              <a:off x="7269480" y="3611880"/>
              <a:ext cx="10972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 años</a:t>
              </a:r>
              <a:endParaRPr lang="es-AR" sz="1250" dirty="0">
                <a:latin typeface="Calibri"/>
              </a:endParaRPr>
            </a:p>
          </p:txBody>
        </p:sp>
      </p:grpSp>
      <p:sp>
        <p:nvSpPr>
          <p:cNvPr id="19" name="Barra fólico"/>
          <p:cNvSpPr/>
          <p:nvPr/>
        </p:nvSpPr>
        <p:spPr>
          <a:xfrm>
            <a:off x="731520" y="2377440"/>
            <a:ext cx="1417320" cy="548640"/>
          </a:xfrm>
          <a:prstGeom prst="rect">
            <a:avLst/>
          </a:prstGeom>
          <a:gradFill rotWithShape="1">
            <a:gsLst>
              <a:gs pos="0">
                <a:srgbClr val="A9DFBF"/>
              </a:gs>
              <a:gs pos="100000">
                <a:srgbClr val="27AE60"/>
              </a:gs>
            </a:gsLst>
            <a:lin ang="0" scaled="0"/>
          </a:gradFill>
          <a:ln w="15875" cap="rnd">
            <a:solidFill>
              <a:srgbClr val="1E1E1E"/>
            </a:solidFill>
            <a:round/>
          </a:ln>
        </p:spPr>
        <p:txBody>
          <a:bodyPr wrap="square" lIns="73152" tIns="45720" rIns="73152" bIns="4572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ácido fólico</a:t>
            </a:r>
            <a:endParaRPr lang="es-AR" sz="1300" dirty="0">
              <a:latin typeface="Calibri"/>
            </a:endParaRPr>
          </a:p>
        </p:txBody>
      </p:sp>
      <p:sp>
        <p:nvSpPr>
          <p:cNvPr id="20" name="Barra B12"/>
          <p:cNvSpPr/>
          <p:nvPr/>
        </p:nvSpPr>
        <p:spPr>
          <a:xfrm>
            <a:off x="731520" y="1600200"/>
            <a:ext cx="6377940" cy="548640"/>
          </a:xfrm>
          <a:prstGeom prst="rect">
            <a:avLst/>
          </a:prstGeom>
          <a:gradFill rotWithShape="1">
            <a:gsLst>
              <a:gs pos="0">
                <a:srgbClr val="F5B7B1"/>
              </a:gs>
              <a:gs pos="100000">
                <a:srgbClr val="C0392B"/>
              </a:gs>
            </a:gsLst>
            <a:lin ang="0" scaled="0"/>
          </a:gradFill>
          <a:ln w="15875" cap="rnd">
            <a:solidFill>
              <a:srgbClr val="1E1E1E"/>
            </a:solidFill>
            <a:round/>
          </a:ln>
        </p:spPr>
        <p:txBody>
          <a:bodyPr wrap="square" lIns="73152" tIns="45720" rIns="73152" bIns="4572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vitamina B</a:t>
            </a:r>
            <a:r>
              <a:rPr lang="es-AR" sz="130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(depósitos hepáticos)</a:t>
            </a:r>
            <a:endParaRPr lang="es-AR" sz="1300" dirty="0">
              <a:latin typeface="Calibri"/>
            </a:endParaRPr>
          </a:p>
        </p:txBody>
      </p:sp>
      <p:sp>
        <p:nvSpPr>
          <p:cNvPr id="21" name="Fólico 3 meses"/>
          <p:cNvSpPr/>
          <p:nvPr/>
        </p:nvSpPr>
        <p:spPr>
          <a:xfrm>
            <a:off x="457200" y="4206240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Déficit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ácido fólico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carencia nutricional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 meses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como mínimo.</a:t>
            </a:r>
            <a:endParaRPr lang="es-AR" sz="2050" dirty="0">
              <a:latin typeface="Calibri"/>
            </a:endParaRPr>
          </a:p>
        </p:txBody>
      </p:sp>
      <p:sp>
        <p:nvSpPr>
          <p:cNvPr id="22" name="B12 años"/>
          <p:cNvSpPr/>
          <p:nvPr/>
        </p:nvSpPr>
        <p:spPr>
          <a:xfrm>
            <a:off x="4343400" y="4206240"/>
            <a:ext cx="3657600" cy="22402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Déficit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s-AR" sz="20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carencia de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3–4 años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(grandes depósitos hepáticos).</a:t>
            </a:r>
            <a:endParaRPr lang="es-AR" sz="2050" dirty="0">
              <a:latin typeface="Calibri"/>
            </a:endParaRPr>
          </a:p>
        </p:txBody>
      </p:sp>
      <p:grpSp>
        <p:nvGrpSpPr>
          <p:cNvPr id="23" name="Fuentes fólico"/>
          <p:cNvGrpSpPr/>
          <p:nvPr/>
        </p:nvGrpSpPr>
        <p:grpSpPr>
          <a:xfrm>
            <a:off x="8549640" y="1097280"/>
            <a:ext cx="3383280" cy="2468880"/>
            <a:chOff x="8549640" y="1097280"/>
            <a:chExt cx="3383280" cy="2468880"/>
          </a:xfrm>
        </p:grpSpPr>
        <p:sp>
          <p:nvSpPr>
            <p:cNvPr id="24" name="Forma 30"/>
            <p:cNvSpPr/>
            <p:nvPr/>
          </p:nvSpPr>
          <p:spPr>
            <a:xfrm>
              <a:off x="8549640" y="129844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Tetrahidrofolato (THF)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Fuentes: frutas, verduras y cereales (origen animal y vegetal). Trabaja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junto con la B</a:t>
              </a:r>
              <a:r>
                <a:rPr lang="es-AR" sz="18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la síntesis de nucleótidos.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5" name="Forma 31"/>
            <p:cNvSpPr/>
            <p:nvPr/>
          </p:nvSpPr>
          <p:spPr>
            <a:xfrm>
              <a:off x="8677656" y="1097280"/>
              <a:ext cx="141955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ÁCIDO FÓLICO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6" name="Riesgo fólico"/>
          <p:cNvGrpSpPr/>
          <p:nvPr/>
        </p:nvGrpSpPr>
        <p:grpSpPr>
          <a:xfrm>
            <a:off x="8549640" y="3794760"/>
            <a:ext cx="3383280" cy="2651760"/>
            <a:chOff x="8549640" y="3794760"/>
            <a:chExt cx="3383280" cy="2651760"/>
          </a:xfrm>
        </p:grpSpPr>
        <p:sp>
          <p:nvSpPr>
            <p:cNvPr id="27" name="Forma 33"/>
            <p:cNvSpPr/>
            <p:nvPr/>
          </p:nvSpPr>
          <p:spPr>
            <a:xfrm>
              <a:off x="8549640" y="3995928"/>
              <a:ext cx="3383280" cy="245059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Condiciones de riesgo: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embarazo, alcoholismo, malabsorción intestinal, dietas extremas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28" name="Forma 34"/>
            <p:cNvSpPr/>
            <p:nvPr/>
          </p:nvSpPr>
          <p:spPr>
            <a:xfrm>
              <a:off x="8677656" y="3794760"/>
              <a:ext cx="88846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RIESGO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ÁCIDO FÓLICO Y DEPÓSITOS: DOS RELOJES DISTINTOS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0" grpId="0" animBg="1"/>
      <p:bldP spid="22" grpId="0" animBg="1"/>
    </p:bld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Tejidos con LDH"/>
          <p:cNvGrpSpPr/>
          <p:nvPr/>
        </p:nvGrpSpPr>
        <p:grpSpPr>
          <a:xfrm>
            <a:off x="365760" y="1143000"/>
            <a:ext cx="2606040" cy="3657600"/>
            <a:chOff x="365760" y="1143000"/>
            <a:chExt cx="2606040" cy="3657600"/>
          </a:xfrm>
        </p:grpSpPr>
        <p:grpSp>
          <p:nvGrpSpPr>
            <p:cNvPr id="7" name="Corazón LDH"/>
            <p:cNvGrpSpPr/>
            <p:nvPr/>
          </p:nvGrpSpPr>
          <p:grpSpPr>
            <a:xfrm>
              <a:off x="411480" y="1143000"/>
              <a:ext cx="1234440" cy="1357884"/>
              <a:chOff x="411480" y="1143000"/>
              <a:chExt cx="1234440" cy="1357884"/>
            </a:xfrm>
          </p:grpSpPr>
          <p:sp>
            <p:nvSpPr>
              <p:cNvPr id="8" name="Aorta"/>
              <p:cNvSpPr/>
              <p:nvPr/>
            </p:nvSpPr>
            <p:spPr>
              <a:xfrm>
                <a:off x="880567" y="1143000"/>
                <a:ext cx="395021" cy="43452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9" name="Arteria pulmonar"/>
              <p:cNvSpPr/>
              <p:nvPr/>
            </p:nvSpPr>
            <p:spPr>
              <a:xfrm>
                <a:off x="683057" y="1278788"/>
                <a:ext cx="271577" cy="3394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10" name="Miocardio"/>
              <p:cNvSpPr/>
              <p:nvPr/>
            </p:nvSpPr>
            <p:spPr>
              <a:xfrm>
                <a:off x="411480" y="1387419"/>
                <a:ext cx="1234440" cy="111346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1" name="Aurícula derecha"/>
              <p:cNvSpPr/>
              <p:nvPr/>
            </p:nvSpPr>
            <p:spPr>
              <a:xfrm>
                <a:off x="460858" y="1550365"/>
                <a:ext cx="345643" cy="38020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grpSp>
          <p:nvGrpSpPr>
            <p:cNvPr id="12" name="Hígado LDH"/>
            <p:cNvGrpSpPr/>
            <p:nvPr/>
          </p:nvGrpSpPr>
          <p:grpSpPr>
            <a:xfrm>
              <a:off x="1737360" y="1371600"/>
              <a:ext cx="1234440" cy="872502"/>
              <a:chOff x="1737360" y="1371600"/>
              <a:chExt cx="1234440" cy="872502"/>
            </a:xfrm>
          </p:grpSpPr>
          <p:sp>
            <p:nvSpPr>
              <p:cNvPr id="13" name="Vesícula biliar"/>
              <p:cNvSpPr/>
              <p:nvPr/>
            </p:nvSpPr>
            <p:spPr>
              <a:xfrm>
                <a:off x="2070659" y="1968575"/>
                <a:ext cx="160477" cy="27552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0"/>
                    </a:moveTo>
                    <a:cubicBezTo>
                      <a:pt x="438" y="-106"/>
                      <a:pt x="866" y="-73"/>
                      <a:pt x="950" y="60"/>
                    </a:cubicBezTo>
                    <a:cubicBezTo>
                      <a:pt x="1033" y="193"/>
                      <a:pt x="883" y="643"/>
                      <a:pt x="800" y="800"/>
                    </a:cubicBezTo>
                    <a:cubicBezTo>
                      <a:pt x="716" y="956"/>
                      <a:pt x="563" y="1016"/>
                      <a:pt x="450" y="1000"/>
                    </a:cubicBezTo>
                    <a:cubicBezTo>
                      <a:pt x="336" y="983"/>
                      <a:pt x="145" y="866"/>
                      <a:pt x="120" y="700"/>
                    </a:cubicBezTo>
                    <a:cubicBezTo>
                      <a:pt x="95" y="533"/>
                      <a:pt x="161" y="106"/>
                      <a:pt x="3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099"/>
                  </a:gs>
                  <a:gs pos="55000">
                    <a:srgbClr val="8DB255"/>
                  </a:gs>
                  <a:gs pos="100000">
                    <a:srgbClr val="627C3B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E6B22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1737360" y="1371600"/>
                <a:ext cx="1234440" cy="76535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>
                    <a:moveTo>
                      <a:pt x="40" y="250"/>
                    </a:moveTo>
                    <a:cubicBezTo>
                      <a:pt x="50" y="205"/>
                      <a:pt x="76" y="143"/>
                      <a:pt x="120" y="110"/>
                    </a:cubicBezTo>
                    <a:cubicBezTo>
                      <a:pt x="163" y="76"/>
                      <a:pt x="233" y="59"/>
                      <a:pt x="300" y="50"/>
                    </a:cubicBezTo>
                    <a:cubicBezTo>
                      <a:pt x="366" y="40"/>
                      <a:pt x="450" y="50"/>
                      <a:pt x="520" y="55"/>
                    </a:cubicBezTo>
                    <a:cubicBezTo>
                      <a:pt x="590" y="59"/>
                      <a:pt x="656" y="64"/>
                      <a:pt x="720" y="75"/>
                    </a:cubicBezTo>
                    <a:cubicBezTo>
                      <a:pt x="783" y="85"/>
                      <a:pt x="857" y="100"/>
                      <a:pt x="900" y="120"/>
                    </a:cubicBezTo>
                    <a:cubicBezTo>
                      <a:pt x="942" y="139"/>
                      <a:pt x="968" y="168"/>
                      <a:pt x="975" y="190"/>
                    </a:cubicBezTo>
                    <a:cubicBezTo>
                      <a:pt x="981" y="211"/>
                      <a:pt x="965" y="231"/>
                      <a:pt x="940" y="250"/>
                    </a:cubicBezTo>
                    <a:cubicBezTo>
                      <a:pt x="914" y="268"/>
                      <a:pt x="861" y="280"/>
                      <a:pt x="820" y="300"/>
                    </a:cubicBezTo>
                    <a:cubicBezTo>
                      <a:pt x="778" y="320"/>
                      <a:pt x="733" y="341"/>
                      <a:pt x="690" y="370"/>
                    </a:cubicBezTo>
                    <a:cubicBezTo>
                      <a:pt x="646" y="398"/>
                      <a:pt x="601" y="436"/>
                      <a:pt x="560" y="470"/>
                    </a:cubicBezTo>
                    <a:cubicBezTo>
                      <a:pt x="518" y="503"/>
                      <a:pt x="478" y="546"/>
                      <a:pt x="440" y="570"/>
                    </a:cubicBezTo>
                    <a:cubicBezTo>
                      <a:pt x="401" y="593"/>
                      <a:pt x="365" y="608"/>
                      <a:pt x="330" y="610"/>
                    </a:cubicBezTo>
                    <a:cubicBezTo>
                      <a:pt x="295" y="611"/>
                      <a:pt x="261" y="601"/>
                      <a:pt x="230" y="580"/>
                    </a:cubicBezTo>
                    <a:cubicBezTo>
                      <a:pt x="198" y="558"/>
                      <a:pt x="168" y="513"/>
                      <a:pt x="140" y="480"/>
                    </a:cubicBezTo>
                    <a:cubicBezTo>
                      <a:pt x="111" y="446"/>
                      <a:pt x="76" y="418"/>
                      <a:pt x="60" y="380"/>
                    </a:cubicBezTo>
                    <a:cubicBezTo>
                      <a:pt x="43" y="341"/>
                      <a:pt x="30" y="295"/>
                      <a:pt x="4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4948C"/>
                  </a:gs>
                  <a:gs pos="55000">
                    <a:srgbClr val="B5473A"/>
                  </a:gs>
                  <a:gs pos="100000">
                    <a:srgbClr val="7E3128"/>
                  </a:gs>
                </a:gsLst>
                <a:path path="circle">
                  <a:fillToRect l="30000" t="25000" r="70000" b="75000"/>
                </a:path>
              </a:gradFill>
              <a:ln w="25400" cap="rnd">
                <a:solidFill>
                  <a:srgbClr val="511F1A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15" name="Forma 14"/>
              <p:cNvSpPr/>
              <p:nvPr/>
            </p:nvSpPr>
            <p:spPr>
              <a:xfrm>
                <a:off x="1737360" y="1371600"/>
                <a:ext cx="1234440" cy="76535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560" y="70"/>
                    </a:moveTo>
                    <a:cubicBezTo>
                      <a:pt x="545" y="180"/>
                      <a:pt x="530" y="280"/>
                      <a:pt x="520" y="400"/>
                    </a:cubicBezTo>
                  </a:path>
                </a:pathLst>
              </a:custGeom>
              <a:noFill/>
              <a:ln w="22225" cap="rnd">
                <a:solidFill>
                  <a:srgbClr val="6C2A22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1737360" y="1371600"/>
                <a:ext cx="1234440" cy="76535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200" y="200"/>
                    </a:moveTo>
                    <a:cubicBezTo>
                      <a:pt x="260" y="160"/>
                      <a:pt x="330" y="150"/>
                      <a:pt x="400" y="170"/>
                    </a:cubicBezTo>
                  </a:path>
                  <a:path w="1000" h="620" fill="none">
                    <a:moveTo>
                      <a:pt x="640" y="160"/>
                    </a:moveTo>
                    <a:cubicBezTo>
                      <a:pt x="700" y="150"/>
                      <a:pt x="760" y="160"/>
                      <a:pt x="820" y="190"/>
                    </a:cubicBezTo>
                  </a:path>
                </a:pathLst>
              </a:custGeom>
              <a:noFill/>
              <a:ln w="31750" cap="rnd">
                <a:solidFill>
                  <a:srgbClr val="CE877E"/>
                </a:solidFill>
                <a:round/>
              </a:ln>
            </p:spPr>
          </p:sp>
        </p:grpSp>
        <p:grpSp>
          <p:nvGrpSpPr>
            <p:cNvPr id="17" name="Músculo LDH"/>
            <p:cNvGrpSpPr/>
            <p:nvPr/>
          </p:nvGrpSpPr>
          <p:grpSpPr>
            <a:xfrm>
              <a:off x="365760" y="2743200"/>
              <a:ext cx="1371600" cy="449885"/>
              <a:chOff x="365760" y="2743200"/>
              <a:chExt cx="1371600" cy="449885"/>
            </a:xfrm>
          </p:grpSpPr>
          <p:grpSp>
            <p:nvGrpSpPr>
              <p:cNvPr id="18" name="Fibra"/>
              <p:cNvGrpSpPr/>
              <p:nvPr/>
            </p:nvGrpSpPr>
            <p:grpSpPr>
              <a:xfrm>
                <a:off x="365760" y="2743200"/>
                <a:ext cx="1316736" cy="219456"/>
                <a:chOff x="365760" y="2743200"/>
                <a:chExt cx="1316736" cy="219456"/>
              </a:xfrm>
            </p:grpSpPr>
            <p:sp>
              <p:nvSpPr>
                <p:cNvPr id="19" name="Forma 18"/>
                <p:cNvSpPr/>
                <p:nvPr/>
              </p:nvSpPr>
              <p:spPr>
                <a:xfrm>
                  <a:off x="365760" y="2743200"/>
                  <a:ext cx="1316736" cy="21945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20" name="Forma 19"/>
                <p:cNvSpPr/>
                <p:nvPr/>
              </p:nvSpPr>
              <p:spPr>
                <a:xfrm>
                  <a:off x="420624" y="2743200"/>
                  <a:ext cx="1207008" cy="2194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31" y="80"/>
                      </a:moveTo>
                      <a:lnTo>
                        <a:pt x="31" y="920"/>
                      </a:lnTo>
                    </a:path>
                    <a:path w="1000" h="1000" fill="none">
                      <a:moveTo>
                        <a:pt x="93" y="80"/>
                      </a:moveTo>
                      <a:lnTo>
                        <a:pt x="93" y="920"/>
                      </a:lnTo>
                    </a:path>
                    <a:path w="1000" h="1000" fill="none">
                      <a:moveTo>
                        <a:pt x="156" y="80"/>
                      </a:moveTo>
                      <a:lnTo>
                        <a:pt x="156" y="920"/>
                      </a:lnTo>
                    </a:path>
                    <a:path w="1000" h="1000" fill="none">
                      <a:moveTo>
                        <a:pt x="218" y="80"/>
                      </a:moveTo>
                      <a:lnTo>
                        <a:pt x="218" y="920"/>
                      </a:lnTo>
                    </a:path>
                    <a:path w="1000" h="1000" fill="none">
                      <a:moveTo>
                        <a:pt x="281" y="80"/>
                      </a:moveTo>
                      <a:lnTo>
                        <a:pt x="281" y="920"/>
                      </a:lnTo>
                    </a:path>
                    <a:path w="1000" h="1000" fill="none">
                      <a:moveTo>
                        <a:pt x="343" y="80"/>
                      </a:moveTo>
                      <a:lnTo>
                        <a:pt x="343" y="920"/>
                      </a:lnTo>
                    </a:path>
                    <a:path w="1000" h="1000" fill="none">
                      <a:moveTo>
                        <a:pt x="406" y="80"/>
                      </a:moveTo>
                      <a:lnTo>
                        <a:pt x="406" y="920"/>
                      </a:lnTo>
                    </a:path>
                    <a:path w="1000" h="1000" fill="none">
                      <a:moveTo>
                        <a:pt x="468" y="80"/>
                      </a:moveTo>
                      <a:lnTo>
                        <a:pt x="468" y="920"/>
                      </a:lnTo>
                    </a:path>
                    <a:path w="1000" h="1000" fill="none">
                      <a:moveTo>
                        <a:pt x="531" y="80"/>
                      </a:moveTo>
                      <a:lnTo>
                        <a:pt x="531" y="920"/>
                      </a:lnTo>
                    </a:path>
                    <a:path w="1000" h="1000" fill="none">
                      <a:moveTo>
                        <a:pt x="593" y="80"/>
                      </a:moveTo>
                      <a:lnTo>
                        <a:pt x="593" y="920"/>
                      </a:lnTo>
                    </a:path>
                    <a:path w="1000" h="1000" fill="none">
                      <a:moveTo>
                        <a:pt x="656" y="80"/>
                      </a:moveTo>
                      <a:lnTo>
                        <a:pt x="656" y="920"/>
                      </a:lnTo>
                    </a:path>
                    <a:path w="1000" h="1000" fill="none">
                      <a:moveTo>
                        <a:pt x="718" y="80"/>
                      </a:moveTo>
                      <a:lnTo>
                        <a:pt x="718" y="920"/>
                      </a:lnTo>
                    </a:path>
                    <a:path w="1000" h="1000" fill="none">
                      <a:moveTo>
                        <a:pt x="781" y="80"/>
                      </a:moveTo>
                      <a:lnTo>
                        <a:pt x="781" y="920"/>
                      </a:lnTo>
                    </a:path>
                    <a:path w="1000" h="1000" fill="none">
                      <a:moveTo>
                        <a:pt x="843" y="80"/>
                      </a:moveTo>
                      <a:lnTo>
                        <a:pt x="843" y="920"/>
                      </a:lnTo>
                    </a:path>
                    <a:path w="1000" h="1000" fill="none">
                      <a:moveTo>
                        <a:pt x="906" y="80"/>
                      </a:moveTo>
                      <a:lnTo>
                        <a:pt x="906" y="920"/>
                      </a:lnTo>
                    </a:path>
                    <a:path w="1000" h="1000" fill="none">
                      <a:moveTo>
                        <a:pt x="968" y="80"/>
                      </a:moveTo>
                      <a:lnTo>
                        <a:pt x="968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21" name="Forma 20"/>
                <p:cNvSpPr/>
                <p:nvPr/>
              </p:nvSpPr>
              <p:spPr>
                <a:xfrm>
                  <a:off x="629107" y="2751978"/>
                  <a:ext cx="109728" cy="395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2" name="Forma 21"/>
                <p:cNvSpPr/>
                <p:nvPr/>
              </p:nvSpPr>
              <p:spPr>
                <a:xfrm>
                  <a:off x="1089965" y="2751978"/>
                  <a:ext cx="109728" cy="395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3" name="Forma 22"/>
                <p:cNvSpPr/>
                <p:nvPr/>
              </p:nvSpPr>
              <p:spPr>
                <a:xfrm>
                  <a:off x="1484986" y="2751978"/>
                  <a:ext cx="109728" cy="395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4" name="Forma 23"/>
                <p:cNvSpPr/>
                <p:nvPr/>
              </p:nvSpPr>
              <p:spPr>
                <a:xfrm>
                  <a:off x="1590324" y="2751978"/>
                  <a:ext cx="87782" cy="20190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25" name="Fibra_2"/>
              <p:cNvGrpSpPr/>
              <p:nvPr/>
            </p:nvGrpSpPr>
            <p:grpSpPr>
              <a:xfrm>
                <a:off x="420624" y="2973629"/>
                <a:ext cx="1316736" cy="219456"/>
                <a:chOff x="420624" y="2973629"/>
                <a:chExt cx="1316736" cy="219456"/>
              </a:xfrm>
            </p:grpSpPr>
            <p:sp>
              <p:nvSpPr>
                <p:cNvPr id="26" name="Forma 25"/>
                <p:cNvSpPr/>
                <p:nvPr/>
              </p:nvSpPr>
              <p:spPr>
                <a:xfrm>
                  <a:off x="420624" y="2973629"/>
                  <a:ext cx="1316736" cy="21945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27" name="Forma 26"/>
                <p:cNvSpPr/>
                <p:nvPr/>
              </p:nvSpPr>
              <p:spPr>
                <a:xfrm>
                  <a:off x="475488" y="2973629"/>
                  <a:ext cx="1207008" cy="2194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31" y="80"/>
                      </a:moveTo>
                      <a:lnTo>
                        <a:pt x="31" y="920"/>
                      </a:lnTo>
                    </a:path>
                    <a:path w="1000" h="1000" fill="none">
                      <a:moveTo>
                        <a:pt x="93" y="80"/>
                      </a:moveTo>
                      <a:lnTo>
                        <a:pt x="93" y="920"/>
                      </a:lnTo>
                    </a:path>
                    <a:path w="1000" h="1000" fill="none">
                      <a:moveTo>
                        <a:pt x="156" y="80"/>
                      </a:moveTo>
                      <a:lnTo>
                        <a:pt x="156" y="920"/>
                      </a:lnTo>
                    </a:path>
                    <a:path w="1000" h="1000" fill="none">
                      <a:moveTo>
                        <a:pt x="218" y="80"/>
                      </a:moveTo>
                      <a:lnTo>
                        <a:pt x="218" y="920"/>
                      </a:lnTo>
                    </a:path>
                    <a:path w="1000" h="1000" fill="none">
                      <a:moveTo>
                        <a:pt x="281" y="80"/>
                      </a:moveTo>
                      <a:lnTo>
                        <a:pt x="281" y="920"/>
                      </a:lnTo>
                    </a:path>
                    <a:path w="1000" h="1000" fill="none">
                      <a:moveTo>
                        <a:pt x="343" y="80"/>
                      </a:moveTo>
                      <a:lnTo>
                        <a:pt x="343" y="920"/>
                      </a:lnTo>
                    </a:path>
                    <a:path w="1000" h="1000" fill="none">
                      <a:moveTo>
                        <a:pt x="406" y="80"/>
                      </a:moveTo>
                      <a:lnTo>
                        <a:pt x="406" y="920"/>
                      </a:lnTo>
                    </a:path>
                    <a:path w="1000" h="1000" fill="none">
                      <a:moveTo>
                        <a:pt x="468" y="80"/>
                      </a:moveTo>
                      <a:lnTo>
                        <a:pt x="468" y="920"/>
                      </a:lnTo>
                    </a:path>
                    <a:path w="1000" h="1000" fill="none">
                      <a:moveTo>
                        <a:pt x="531" y="80"/>
                      </a:moveTo>
                      <a:lnTo>
                        <a:pt x="531" y="920"/>
                      </a:lnTo>
                    </a:path>
                    <a:path w="1000" h="1000" fill="none">
                      <a:moveTo>
                        <a:pt x="593" y="80"/>
                      </a:moveTo>
                      <a:lnTo>
                        <a:pt x="593" y="920"/>
                      </a:lnTo>
                    </a:path>
                    <a:path w="1000" h="1000" fill="none">
                      <a:moveTo>
                        <a:pt x="656" y="80"/>
                      </a:moveTo>
                      <a:lnTo>
                        <a:pt x="656" y="920"/>
                      </a:lnTo>
                    </a:path>
                    <a:path w="1000" h="1000" fill="none">
                      <a:moveTo>
                        <a:pt x="718" y="80"/>
                      </a:moveTo>
                      <a:lnTo>
                        <a:pt x="718" y="920"/>
                      </a:lnTo>
                    </a:path>
                    <a:path w="1000" h="1000" fill="none">
                      <a:moveTo>
                        <a:pt x="781" y="80"/>
                      </a:moveTo>
                      <a:lnTo>
                        <a:pt x="781" y="920"/>
                      </a:lnTo>
                    </a:path>
                    <a:path w="1000" h="1000" fill="none">
                      <a:moveTo>
                        <a:pt x="843" y="80"/>
                      </a:moveTo>
                      <a:lnTo>
                        <a:pt x="843" y="920"/>
                      </a:lnTo>
                    </a:path>
                    <a:path w="1000" h="1000" fill="none">
                      <a:moveTo>
                        <a:pt x="906" y="80"/>
                      </a:moveTo>
                      <a:lnTo>
                        <a:pt x="906" y="920"/>
                      </a:lnTo>
                    </a:path>
                    <a:path w="1000" h="1000" fill="none">
                      <a:moveTo>
                        <a:pt x="968" y="80"/>
                      </a:moveTo>
                      <a:lnTo>
                        <a:pt x="968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28" name="Forma 27"/>
                <p:cNvSpPr/>
                <p:nvPr/>
              </p:nvSpPr>
              <p:spPr>
                <a:xfrm>
                  <a:off x="683971" y="2982407"/>
                  <a:ext cx="109728" cy="395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9" name="Forma 28"/>
                <p:cNvSpPr/>
                <p:nvPr/>
              </p:nvSpPr>
              <p:spPr>
                <a:xfrm>
                  <a:off x="1144829" y="2982407"/>
                  <a:ext cx="109728" cy="395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0" name="Forma 29"/>
                <p:cNvSpPr/>
                <p:nvPr/>
              </p:nvSpPr>
              <p:spPr>
                <a:xfrm>
                  <a:off x="1539850" y="2982407"/>
                  <a:ext cx="109728" cy="395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1" name="Forma 30"/>
                <p:cNvSpPr/>
                <p:nvPr/>
              </p:nvSpPr>
              <p:spPr>
                <a:xfrm>
                  <a:off x="1645188" y="2982407"/>
                  <a:ext cx="87782" cy="20190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</p:grpSp>
        <p:grpSp>
          <p:nvGrpSpPr>
            <p:cNvPr id="32" name="Riñón LDH"/>
            <p:cNvGrpSpPr/>
            <p:nvPr/>
          </p:nvGrpSpPr>
          <p:grpSpPr>
            <a:xfrm>
              <a:off x="2103120" y="2514600"/>
              <a:ext cx="594360" cy="832104"/>
              <a:chOff x="2103120" y="2514600"/>
              <a:chExt cx="594360" cy="832104"/>
            </a:xfrm>
          </p:grpSpPr>
          <p:sp>
            <p:nvSpPr>
              <p:cNvPr id="33" name="Forma 32"/>
              <p:cNvSpPr/>
              <p:nvPr/>
            </p:nvSpPr>
            <p:spPr>
              <a:xfrm>
                <a:off x="2103120" y="2514600"/>
                <a:ext cx="594360" cy="832104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>
                    <a:moveTo>
                      <a:pt x="350" y="30"/>
                    </a:moveTo>
                    <a:cubicBezTo>
                      <a:pt x="398" y="30"/>
                      <a:pt x="471" y="31"/>
                      <a:pt x="520" y="60"/>
                    </a:cubicBezTo>
                    <a:cubicBezTo>
                      <a:pt x="568" y="88"/>
                      <a:pt x="613" y="143"/>
                      <a:pt x="640" y="200"/>
                    </a:cubicBezTo>
                    <a:cubicBezTo>
                      <a:pt x="666" y="256"/>
                      <a:pt x="676" y="330"/>
                      <a:pt x="680" y="400"/>
                    </a:cubicBezTo>
                    <a:cubicBezTo>
                      <a:pt x="683" y="470"/>
                      <a:pt x="676" y="550"/>
                      <a:pt x="660" y="620"/>
                    </a:cubicBezTo>
                    <a:cubicBezTo>
                      <a:pt x="643" y="690"/>
                      <a:pt x="620" y="763"/>
                      <a:pt x="580" y="820"/>
                    </a:cubicBezTo>
                    <a:cubicBezTo>
                      <a:pt x="540" y="876"/>
                      <a:pt x="475" y="936"/>
                      <a:pt x="420" y="960"/>
                    </a:cubicBezTo>
                    <a:cubicBezTo>
                      <a:pt x="365" y="983"/>
                      <a:pt x="296" y="976"/>
                      <a:pt x="250" y="960"/>
                    </a:cubicBezTo>
                    <a:cubicBezTo>
                      <a:pt x="203" y="943"/>
                      <a:pt x="163" y="903"/>
                      <a:pt x="140" y="860"/>
                    </a:cubicBezTo>
                    <a:cubicBezTo>
                      <a:pt x="116" y="816"/>
                      <a:pt x="105" y="743"/>
                      <a:pt x="110" y="700"/>
                    </a:cubicBezTo>
                    <a:cubicBezTo>
                      <a:pt x="115" y="656"/>
                      <a:pt x="143" y="623"/>
                      <a:pt x="170" y="600"/>
                    </a:cubicBezTo>
                    <a:cubicBezTo>
                      <a:pt x="196" y="576"/>
                      <a:pt x="248" y="576"/>
                      <a:pt x="270" y="560"/>
                    </a:cubicBezTo>
                    <a:cubicBezTo>
                      <a:pt x="291" y="543"/>
                      <a:pt x="301" y="521"/>
                      <a:pt x="300" y="500"/>
                    </a:cubicBezTo>
                    <a:cubicBezTo>
                      <a:pt x="298" y="478"/>
                      <a:pt x="283" y="446"/>
                      <a:pt x="260" y="430"/>
                    </a:cubicBezTo>
                    <a:cubicBezTo>
                      <a:pt x="236" y="413"/>
                      <a:pt x="186" y="421"/>
                      <a:pt x="160" y="400"/>
                    </a:cubicBezTo>
                    <a:cubicBezTo>
                      <a:pt x="133" y="378"/>
                      <a:pt x="103" y="341"/>
                      <a:pt x="100" y="300"/>
                    </a:cubicBezTo>
                    <a:cubicBezTo>
                      <a:pt x="96" y="258"/>
                      <a:pt x="118" y="190"/>
                      <a:pt x="140" y="150"/>
                    </a:cubicBezTo>
                    <a:cubicBezTo>
                      <a:pt x="161" y="110"/>
                      <a:pt x="195" y="80"/>
                      <a:pt x="230" y="60"/>
                    </a:cubicBezTo>
                    <a:cubicBezTo>
                      <a:pt x="265" y="40"/>
                      <a:pt x="301" y="30"/>
                      <a:pt x="350" y="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4F1A14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34" name="Forma 33"/>
              <p:cNvSpPr/>
              <p:nvPr/>
            </p:nvSpPr>
            <p:spPr>
              <a:xfrm>
                <a:off x="2103120" y="2514600"/>
                <a:ext cx="594360" cy="832104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>
                    <a:moveTo>
                      <a:pt x="440" y="150"/>
                    </a:moveTo>
                    <a:lnTo>
                      <a:pt x="530" y="270"/>
                    </a:lnTo>
                    <a:lnTo>
                      <a:pt x="380" y="290"/>
                    </a:lnTo>
                    <a:close/>
                  </a:path>
                  <a:path w="700" h="1000">
                    <a:moveTo>
                      <a:pt x="520" y="350"/>
                    </a:moveTo>
                    <a:lnTo>
                      <a:pt x="610" y="470"/>
                    </a:lnTo>
                    <a:lnTo>
                      <a:pt x="460" y="490"/>
                    </a:lnTo>
                    <a:close/>
                  </a:path>
                  <a:path w="700" h="1000">
                    <a:moveTo>
                      <a:pt x="500" y="570"/>
                    </a:moveTo>
                    <a:lnTo>
                      <a:pt x="590" y="690"/>
                    </a:lnTo>
                    <a:lnTo>
                      <a:pt x="440" y="710"/>
                    </a:lnTo>
                    <a:close/>
                  </a:path>
                  <a:path w="700" h="1000">
                    <a:moveTo>
                      <a:pt x="380" y="750"/>
                    </a:moveTo>
                    <a:lnTo>
                      <a:pt x="470" y="870"/>
                    </a:lnTo>
                    <a:lnTo>
                      <a:pt x="320" y="890"/>
                    </a:lnTo>
                    <a:close/>
                  </a:path>
                </a:pathLst>
              </a:custGeom>
              <a:solidFill>
                <a:srgbClr val="7B2820"/>
              </a:solidFill>
              <a:ln w="9525" cap="rnd">
                <a:solidFill>
                  <a:srgbClr val="4F1A14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2103120" y="2514600"/>
                <a:ext cx="594360" cy="832104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>
                    <a:moveTo>
                      <a:pt x="300" y="470"/>
                    </a:moveTo>
                    <a:cubicBezTo>
                      <a:pt x="313" y="440"/>
                      <a:pt x="360" y="375"/>
                      <a:pt x="380" y="380"/>
                    </a:cubicBezTo>
                    <a:cubicBezTo>
                      <a:pt x="400" y="385"/>
                      <a:pt x="420" y="460"/>
                      <a:pt x="420" y="500"/>
                    </a:cubicBezTo>
                    <a:cubicBezTo>
                      <a:pt x="420" y="540"/>
                      <a:pt x="400" y="610"/>
                      <a:pt x="380" y="620"/>
                    </a:cubicBezTo>
                    <a:cubicBezTo>
                      <a:pt x="360" y="630"/>
                      <a:pt x="313" y="585"/>
                      <a:pt x="300" y="560"/>
                    </a:cubicBezTo>
                    <a:cubicBezTo>
                      <a:pt x="286" y="535"/>
                      <a:pt x="286" y="500"/>
                      <a:pt x="300" y="470"/>
                    </a:cubicBezTo>
                    <a:close/>
                  </a:path>
                </a:pathLst>
              </a:custGeom>
              <a:solidFill>
                <a:srgbClr val="F5CBA7"/>
              </a:solidFill>
              <a:ln w="12700" cap="rnd">
                <a:solidFill>
                  <a:srgbClr val="A04000"/>
                </a:solidFill>
                <a:round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2103120" y="2514600"/>
                <a:ext cx="594360" cy="832104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 fill="none">
                    <a:moveTo>
                      <a:pt x="300" y="520"/>
                    </a:moveTo>
                    <a:cubicBezTo>
                      <a:pt x="220" y="560"/>
                      <a:pt x="200" y="700"/>
                      <a:pt x="230" y="1000"/>
                    </a:cubicBezTo>
                  </a:path>
                </a:pathLst>
              </a:custGeom>
              <a:noFill/>
              <a:ln w="63500" cap="rnd">
                <a:solidFill>
                  <a:srgbClr val="E59866"/>
                </a:solidFill>
                <a:round/>
              </a:ln>
            </p:spPr>
          </p:sp>
        </p:grpSp>
        <p:sp>
          <p:nvSpPr>
            <p:cNvPr id="37" name="GR LDH"/>
            <p:cNvSpPr/>
            <p:nvPr/>
          </p:nvSpPr>
          <p:spPr>
            <a:xfrm>
              <a:off x="457200" y="397764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sp>
        <p:nvSpPr>
          <p:cNvPr id="38" name="!!Eritrocito hemólisis"/>
          <p:cNvSpPr/>
          <p:nvPr/>
        </p:nvSpPr>
        <p:spPr>
          <a:xfrm>
            <a:off x="3749040" y="192024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grpSp>
        <p:nvGrpSpPr>
          <p:cNvPr id="39" name="Lisis"/>
          <p:cNvGrpSpPr/>
          <p:nvPr/>
        </p:nvGrpSpPr>
        <p:grpSpPr>
          <a:xfrm>
            <a:off x="3383280" y="1814146"/>
            <a:ext cx="2523744" cy="1912971"/>
            <a:chOff x="3383280" y="1814146"/>
            <a:chExt cx="2523744" cy="1912971"/>
          </a:xfrm>
        </p:grpSpPr>
        <p:sp>
          <p:nvSpPr>
            <p:cNvPr id="40" name="Forma 39"/>
            <p:cNvSpPr/>
            <p:nvPr/>
          </p:nvSpPr>
          <p:spPr>
            <a:xfrm>
              <a:off x="5577840" y="2606040"/>
              <a:ext cx="329184" cy="329184"/>
            </a:xfrm>
            <a:prstGeom prst="ellipse">
              <a:avLst/>
            </a:prstGeom>
            <a:gradFill rotWithShape="1">
              <a:gsLst>
                <a:gs pos="0">
                  <a:srgbClr val="EFC1A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8421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700" dirty="0">
                <a:latin typeface="Calibri"/>
              </a:endParaRPr>
            </a:p>
          </p:txBody>
        </p:sp>
        <p:sp>
          <p:nvSpPr>
            <p:cNvPr id="41" name="Forma 40"/>
            <p:cNvSpPr/>
            <p:nvPr/>
          </p:nvSpPr>
          <p:spPr>
            <a:xfrm>
              <a:off x="5029200" y="3397934"/>
              <a:ext cx="329184" cy="329184"/>
            </a:xfrm>
            <a:prstGeom prst="ellipse">
              <a:avLst/>
            </a:prstGeom>
            <a:gradFill rotWithShape="1">
              <a:gsLst>
                <a:gs pos="0">
                  <a:srgbClr val="EFC1A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8421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700" dirty="0">
                <a:latin typeface="Calibri"/>
              </a:endParaRPr>
            </a:p>
          </p:txBody>
        </p:sp>
        <p:sp>
          <p:nvSpPr>
            <p:cNvPr id="42" name="Forma 41"/>
            <p:cNvSpPr/>
            <p:nvPr/>
          </p:nvSpPr>
          <p:spPr>
            <a:xfrm>
              <a:off x="3931920" y="3397934"/>
              <a:ext cx="329184" cy="329184"/>
            </a:xfrm>
            <a:prstGeom prst="ellipse">
              <a:avLst/>
            </a:prstGeom>
            <a:gradFill rotWithShape="1">
              <a:gsLst>
                <a:gs pos="0">
                  <a:srgbClr val="EFC1A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8421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70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3383280" y="2606040"/>
              <a:ext cx="329184" cy="329184"/>
            </a:xfrm>
            <a:prstGeom prst="ellipse">
              <a:avLst/>
            </a:prstGeom>
            <a:gradFill rotWithShape="1">
              <a:gsLst>
                <a:gs pos="0">
                  <a:srgbClr val="EFC1A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8421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70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3931920" y="1814146"/>
              <a:ext cx="329184" cy="329184"/>
            </a:xfrm>
            <a:prstGeom prst="ellipse">
              <a:avLst/>
            </a:prstGeom>
            <a:gradFill rotWithShape="1">
              <a:gsLst>
                <a:gs pos="0">
                  <a:srgbClr val="EFC1A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8421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700" dirty="0">
                <a:latin typeface="Calibri"/>
              </a:endParaRPr>
            </a:p>
          </p:txBody>
        </p:sp>
        <p:sp>
          <p:nvSpPr>
            <p:cNvPr id="45" name="Forma 44"/>
            <p:cNvSpPr/>
            <p:nvPr/>
          </p:nvSpPr>
          <p:spPr>
            <a:xfrm>
              <a:off x="5029200" y="1814146"/>
              <a:ext cx="329184" cy="329184"/>
            </a:xfrm>
            <a:prstGeom prst="ellipse">
              <a:avLst/>
            </a:prstGeom>
            <a:gradFill rotWithShape="1">
              <a:gsLst>
                <a:gs pos="0">
                  <a:srgbClr val="EFC1A3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84212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700" dirty="0">
                <a:latin typeface="Calibri"/>
              </a:endParaRPr>
            </a:p>
          </p:txBody>
        </p:sp>
      </p:grpSp>
      <p:sp>
        <p:nvSpPr>
          <p:cNvPr id="46" name="Datos LDH"/>
          <p:cNvSpPr/>
          <p:nvPr/>
        </p:nvSpPr>
        <p:spPr>
          <a:xfrm>
            <a:off x="3246120" y="4023360"/>
            <a:ext cx="5943600" cy="2423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 marL="176212" indent="-176212">
              <a:spcAft>
                <a:spcPts val="400"/>
              </a:spcAft>
              <a:buClr>
                <a:srgbClr val="1E1E1E"/>
              </a:buClr>
              <a:buFont typeface="Arial"/>
              <a:buChar char="•"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Presente en prácticamente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todos los tejidos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corazón, hígado, músculo, riñón, pulmón,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eritrocitos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tejido linfoide.</a:t>
            </a:r>
            <a:endParaRPr lang="es-AR" sz="1850" dirty="0">
              <a:latin typeface="Calibri"/>
            </a:endParaRPr>
          </a:p>
          <a:p>
            <a:pPr algn="l" marL="176212" indent="-176212">
              <a:spcAft>
                <a:spcPts val="400"/>
              </a:spcAft>
              <a:buClr>
                <a:srgbClr val="1E1E1E"/>
              </a:buClr>
              <a:buFont typeface="Arial"/>
              <a:buChar char="•"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Normal: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100–190 U/L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(según el laboratorio).</a:t>
            </a:r>
            <a:endParaRPr lang="es-AR" sz="1850" dirty="0">
              <a:latin typeface="Calibri"/>
            </a:endParaRPr>
          </a:p>
          <a:p>
            <a:pPr algn="l" marL="176212" indent="-176212">
              <a:spcAft>
                <a:spcPts val="400"/>
              </a:spcAft>
              <a:buClr>
                <a:srgbClr val="1E1E1E"/>
              </a:buClr>
              <a:buFont typeface="Arial"/>
              <a:buChar char="•"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Elevada: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destrucción celular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(necrosis o lisis). En anemia orienta 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hemólisis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grpSp>
        <p:nvGrpSpPr>
          <p:cNvPr id="47" name="Limitación LDH"/>
          <p:cNvGrpSpPr/>
          <p:nvPr/>
        </p:nvGrpSpPr>
        <p:grpSpPr>
          <a:xfrm>
            <a:off x="9418320" y="1097280"/>
            <a:ext cx="2514600" cy="2560320"/>
            <a:chOff x="9418320" y="1097280"/>
            <a:chExt cx="2514600" cy="2560320"/>
          </a:xfrm>
        </p:grpSpPr>
        <p:sp>
          <p:nvSpPr>
            <p:cNvPr id="48" name="Forma 47"/>
            <p:cNvSpPr/>
            <p:nvPr/>
          </p:nvSpPr>
          <p:spPr>
            <a:xfrm>
              <a:off x="9418320" y="1298448"/>
              <a:ext cx="2514600" cy="235915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es órgano-específica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dice que algo se destruye, no dónde.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9" name="Forma 48"/>
            <p:cNvSpPr/>
            <p:nvPr/>
          </p:nvSpPr>
          <p:spPr>
            <a:xfrm>
              <a:off x="9546336" y="1097280"/>
              <a:ext cx="1239075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LIMITACIÓN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50" name="Isoenzimas LDH"/>
          <p:cNvSpPr/>
          <p:nvPr/>
        </p:nvSpPr>
        <p:spPr>
          <a:xfrm>
            <a:off x="9418320" y="3886200"/>
            <a:ext cx="2514600" cy="256032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Isoenzimas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LDH1–LDH5: misma reacción, distinto origen.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LDH1 cardíaca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LDH5 hepática/muscular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LDH: MARCADOR DE DESTRUCCIÓN CELULAR</a:t>
            </a:r>
            <a:endParaRPr lang="es-AR" sz="21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5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6" grpId="0" animBg="1"/>
      <p:bldP spid="50" grpId="0" animBg="1"/>
    </p:bld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GR origen"/>
          <p:cNvSpPr/>
          <p:nvPr/>
        </p:nvSpPr>
        <p:spPr>
          <a:xfrm>
            <a:off x="365760" y="1325880"/>
            <a:ext cx="1188720" cy="118872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grpSp>
        <p:nvGrpSpPr>
          <p:cNvPr id="6" name="Hemo"/>
          <p:cNvGrpSpPr/>
          <p:nvPr/>
        </p:nvGrpSpPr>
        <p:grpSpPr>
          <a:xfrm>
            <a:off x="1938855" y="1253055"/>
            <a:ext cx="1242931" cy="1242931"/>
            <a:chOff x="1938855" y="1253055"/>
            <a:chExt cx="1242931" cy="1242931"/>
          </a:xfrm>
        </p:grpSpPr>
        <p:sp>
          <p:nvSpPr>
            <p:cNvPr id="7" name="Flecha 6_2"/>
            <p:cNvSpPr/>
            <p:nvPr/>
          </p:nvSpPr>
          <p:spPr>
            <a:xfrm>
              <a:off x="2560320" y="187452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0" y="0"/>
                  </a:moveTo>
                  <a:lnTo>
                    <a:pt x="321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8" name="Flecha 8_2"/>
            <p:cNvSpPr/>
            <p:nvPr/>
          </p:nvSpPr>
          <p:spPr>
            <a:xfrm>
              <a:off x="2560320" y="187452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0" y="0"/>
                  </a:moveTo>
                  <a:lnTo>
                    <a:pt x="321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9" name="Flecha 10_2"/>
            <p:cNvSpPr/>
            <p:nvPr/>
          </p:nvSpPr>
          <p:spPr>
            <a:xfrm>
              <a:off x="2266406" y="187452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321" y="0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10" name="Flecha 12_2"/>
            <p:cNvSpPr/>
            <p:nvPr/>
          </p:nvSpPr>
          <p:spPr>
            <a:xfrm>
              <a:off x="2266406" y="1874520"/>
              <a:ext cx="293914" cy="9144"/>
            </a:xfrm>
            <a:custGeom>
              <a:avLst/>
              <a:gdLst/>
              <a:ahLst/>
              <a:cxnLst/>
              <a:rect l="0" t="0" r="r" b="b"/>
              <a:pathLst>
                <a:path w="321" h="10" fill="none">
                  <a:moveTo>
                    <a:pt x="321" y="0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11" name="Flecha 14_2"/>
            <p:cNvSpPr/>
            <p:nvPr/>
          </p:nvSpPr>
          <p:spPr>
            <a:xfrm>
              <a:off x="2560320" y="1874520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0"/>
                  </a:moveTo>
                  <a:lnTo>
                    <a:pt x="0" y="321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12" name="Flecha 16_2"/>
            <p:cNvSpPr/>
            <p:nvPr/>
          </p:nvSpPr>
          <p:spPr>
            <a:xfrm>
              <a:off x="2560320" y="1874520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0"/>
                  </a:moveTo>
                  <a:lnTo>
                    <a:pt x="0" y="321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13" name="Flecha 18_2"/>
            <p:cNvSpPr/>
            <p:nvPr/>
          </p:nvSpPr>
          <p:spPr>
            <a:xfrm>
              <a:off x="2560320" y="1580606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321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14" name="Flecha 20_2"/>
            <p:cNvSpPr/>
            <p:nvPr/>
          </p:nvSpPr>
          <p:spPr>
            <a:xfrm>
              <a:off x="2560320" y="1580606"/>
              <a:ext cx="9144" cy="293914"/>
            </a:xfrm>
            <a:custGeom>
              <a:avLst/>
              <a:gdLst/>
              <a:ahLst/>
              <a:cxnLst/>
              <a:rect l="0" t="0" r="r" b="b"/>
              <a:pathLst>
                <a:path w="10" h="321" fill="none">
                  <a:moveTo>
                    <a:pt x="0" y="321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15" name="Flecha 22_2"/>
            <p:cNvSpPr/>
            <p:nvPr/>
          </p:nvSpPr>
          <p:spPr>
            <a:xfrm>
              <a:off x="2854234" y="187452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0"/>
                  </a:moveTo>
                  <a:lnTo>
                    <a:pt x="214" y="285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16" name="Flecha 24_2"/>
            <p:cNvSpPr/>
            <p:nvPr/>
          </p:nvSpPr>
          <p:spPr>
            <a:xfrm>
              <a:off x="2854234" y="187452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0"/>
                  </a:moveTo>
                  <a:lnTo>
                    <a:pt x="214" y="285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17" name="Flecha 26_2"/>
            <p:cNvSpPr/>
            <p:nvPr/>
          </p:nvSpPr>
          <p:spPr>
            <a:xfrm>
              <a:off x="2854234" y="161326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285"/>
                  </a:moveTo>
                  <a:lnTo>
                    <a:pt x="214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18" name="Flecha 28_2"/>
            <p:cNvSpPr/>
            <p:nvPr/>
          </p:nvSpPr>
          <p:spPr>
            <a:xfrm>
              <a:off x="2854234" y="161326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0" y="285"/>
                  </a:moveTo>
                  <a:lnTo>
                    <a:pt x="214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19" name="Flecha 30_2"/>
            <p:cNvSpPr/>
            <p:nvPr/>
          </p:nvSpPr>
          <p:spPr>
            <a:xfrm>
              <a:off x="2070463" y="187452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0"/>
                  </a:moveTo>
                  <a:lnTo>
                    <a:pt x="0" y="285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20" name="Flecha 32_2"/>
            <p:cNvSpPr/>
            <p:nvPr/>
          </p:nvSpPr>
          <p:spPr>
            <a:xfrm>
              <a:off x="2070463" y="1874520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0"/>
                  </a:moveTo>
                  <a:lnTo>
                    <a:pt x="0" y="285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21" name="Flecha 34_2"/>
            <p:cNvSpPr/>
            <p:nvPr/>
          </p:nvSpPr>
          <p:spPr>
            <a:xfrm>
              <a:off x="2070463" y="161326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285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22" name="Flecha 36_2"/>
            <p:cNvSpPr/>
            <p:nvPr/>
          </p:nvSpPr>
          <p:spPr>
            <a:xfrm>
              <a:off x="2070463" y="1613263"/>
              <a:ext cx="195943" cy="261257"/>
            </a:xfrm>
            <a:custGeom>
              <a:avLst/>
              <a:gdLst/>
              <a:ahLst/>
              <a:cxnLst/>
              <a:rect l="0" t="0" r="r" b="b"/>
              <a:pathLst>
                <a:path w="214" h="285" fill="none">
                  <a:moveTo>
                    <a:pt x="214" y="285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23" name="Flecha 38_2"/>
            <p:cNvSpPr/>
            <p:nvPr/>
          </p:nvSpPr>
          <p:spPr>
            <a:xfrm>
              <a:off x="2560320" y="216843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0"/>
                  </a:moveTo>
                  <a:lnTo>
                    <a:pt x="285" y="214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24" name="Flecha 40_2"/>
            <p:cNvSpPr/>
            <p:nvPr/>
          </p:nvSpPr>
          <p:spPr>
            <a:xfrm>
              <a:off x="2560320" y="216843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0"/>
                  </a:moveTo>
                  <a:lnTo>
                    <a:pt x="285" y="214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25" name="Flecha 42_2"/>
            <p:cNvSpPr/>
            <p:nvPr/>
          </p:nvSpPr>
          <p:spPr>
            <a:xfrm>
              <a:off x="2299063" y="216843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0"/>
                  </a:moveTo>
                  <a:lnTo>
                    <a:pt x="0" y="214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26" name="Flecha 44_2"/>
            <p:cNvSpPr/>
            <p:nvPr/>
          </p:nvSpPr>
          <p:spPr>
            <a:xfrm>
              <a:off x="2299063" y="2168434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0"/>
                  </a:moveTo>
                  <a:lnTo>
                    <a:pt x="0" y="214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27" name="Flecha 46_2"/>
            <p:cNvSpPr/>
            <p:nvPr/>
          </p:nvSpPr>
          <p:spPr>
            <a:xfrm>
              <a:off x="2560320" y="138466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214"/>
                  </a:moveTo>
                  <a:lnTo>
                    <a:pt x="285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28" name="Flecha 48_2"/>
            <p:cNvSpPr/>
            <p:nvPr/>
          </p:nvSpPr>
          <p:spPr>
            <a:xfrm>
              <a:off x="2560320" y="138466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0" y="214"/>
                  </a:moveTo>
                  <a:lnTo>
                    <a:pt x="285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29" name="Flecha 50_2"/>
            <p:cNvSpPr/>
            <p:nvPr/>
          </p:nvSpPr>
          <p:spPr>
            <a:xfrm>
              <a:off x="2299063" y="138466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214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0" name="Flecha 52_2"/>
            <p:cNvSpPr/>
            <p:nvPr/>
          </p:nvSpPr>
          <p:spPr>
            <a:xfrm>
              <a:off x="2299063" y="1384663"/>
              <a:ext cx="261257" cy="195943"/>
            </a:xfrm>
            <a:custGeom>
              <a:avLst/>
              <a:gdLst/>
              <a:ahLst/>
              <a:cxnLst/>
              <a:rect l="0" t="0" r="r" b="b"/>
              <a:pathLst>
                <a:path w="285" h="214" fill="none">
                  <a:moveTo>
                    <a:pt x="285" y="214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1" name="Flecha 54_2"/>
            <p:cNvSpPr/>
            <p:nvPr/>
          </p:nvSpPr>
          <p:spPr>
            <a:xfrm>
              <a:off x="2821577" y="213577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250" y="0"/>
                  </a:moveTo>
                  <a:lnTo>
                    <a:pt x="0" y="25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2" name="Flecha 56_2"/>
            <p:cNvSpPr/>
            <p:nvPr/>
          </p:nvSpPr>
          <p:spPr>
            <a:xfrm>
              <a:off x="2821577" y="213577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250" y="0"/>
                  </a:moveTo>
                  <a:lnTo>
                    <a:pt x="0" y="25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3" name="Flecha 58_2"/>
            <p:cNvSpPr/>
            <p:nvPr/>
          </p:nvSpPr>
          <p:spPr>
            <a:xfrm>
              <a:off x="2070463" y="213577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0" y="0"/>
                  </a:moveTo>
                  <a:lnTo>
                    <a:pt x="250" y="25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4" name="Flecha 60_2"/>
            <p:cNvSpPr/>
            <p:nvPr/>
          </p:nvSpPr>
          <p:spPr>
            <a:xfrm>
              <a:off x="2070463" y="2135777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50" fill="none">
                  <a:moveTo>
                    <a:pt x="0" y="0"/>
                  </a:moveTo>
                  <a:lnTo>
                    <a:pt x="250" y="25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5" name="Flecha 62_2"/>
            <p:cNvSpPr/>
            <p:nvPr/>
          </p:nvSpPr>
          <p:spPr>
            <a:xfrm>
              <a:off x="2821577" y="138466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49" fill="none">
                  <a:moveTo>
                    <a:pt x="250" y="249"/>
                  </a:moveTo>
                  <a:lnTo>
                    <a:pt x="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6" name="Flecha 64_2"/>
            <p:cNvSpPr/>
            <p:nvPr/>
          </p:nvSpPr>
          <p:spPr>
            <a:xfrm>
              <a:off x="2821577" y="138466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49" fill="none">
                  <a:moveTo>
                    <a:pt x="250" y="249"/>
                  </a:moveTo>
                  <a:lnTo>
                    <a:pt x="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7" name="Flecha 66_2"/>
            <p:cNvSpPr/>
            <p:nvPr/>
          </p:nvSpPr>
          <p:spPr>
            <a:xfrm>
              <a:off x="2070463" y="138466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49" fill="none">
                  <a:moveTo>
                    <a:pt x="0" y="249"/>
                  </a:moveTo>
                  <a:lnTo>
                    <a:pt x="250" y="0"/>
                  </a:lnTo>
                </a:path>
              </a:pathLst>
            </a:custGeom>
            <a:noFill/>
            <a:ln w="72571" cap="rnd">
              <a:solidFill>
                <a:srgbClr val="B9B9B9"/>
              </a:solidFill>
              <a:round/>
            </a:ln>
          </p:spPr>
        </p:sp>
        <p:sp>
          <p:nvSpPr>
            <p:cNvPr id="38" name="Flecha 68_2"/>
            <p:cNvSpPr/>
            <p:nvPr/>
          </p:nvSpPr>
          <p:spPr>
            <a:xfrm>
              <a:off x="2070463" y="1384663"/>
              <a:ext cx="228600" cy="228600"/>
            </a:xfrm>
            <a:custGeom>
              <a:avLst/>
              <a:gdLst/>
              <a:ahLst/>
              <a:cxnLst/>
              <a:rect l="0" t="0" r="r" b="b"/>
              <a:pathLst>
                <a:path w="250" h="249" fill="none">
                  <a:moveTo>
                    <a:pt x="0" y="249"/>
                  </a:moveTo>
                  <a:lnTo>
                    <a:pt x="250" y="0"/>
                  </a:lnTo>
                </a:path>
              </a:pathLst>
            </a:custGeom>
            <a:noFill/>
            <a:ln w="40821" cap="rnd">
              <a:solidFill>
                <a:srgbClr val="FFFFFF"/>
              </a:solidFill>
              <a:round/>
            </a:ln>
          </p:spPr>
        </p:sp>
        <p:sp>
          <p:nvSpPr>
            <p:cNvPr id="39" name="Forma 70"/>
            <p:cNvSpPr/>
            <p:nvPr/>
          </p:nvSpPr>
          <p:spPr>
            <a:xfrm>
              <a:off x="2722626" y="1742912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0" name="Forma 71"/>
            <p:cNvSpPr/>
            <p:nvPr/>
          </p:nvSpPr>
          <p:spPr>
            <a:xfrm>
              <a:off x="2134797" y="1742912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1" name="Forma 72"/>
            <p:cNvSpPr/>
            <p:nvPr/>
          </p:nvSpPr>
          <p:spPr>
            <a:xfrm>
              <a:off x="2428712" y="2036826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2" name="Forma 73"/>
            <p:cNvSpPr/>
            <p:nvPr/>
          </p:nvSpPr>
          <p:spPr>
            <a:xfrm>
              <a:off x="2428712" y="1448997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3" name="Forma 74"/>
            <p:cNvSpPr/>
            <p:nvPr/>
          </p:nvSpPr>
          <p:spPr>
            <a:xfrm>
              <a:off x="2918569" y="200416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4" name="Forma 75"/>
            <p:cNvSpPr/>
            <p:nvPr/>
          </p:nvSpPr>
          <p:spPr>
            <a:xfrm>
              <a:off x="1938855" y="200416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5" name="Forma 76"/>
            <p:cNvSpPr/>
            <p:nvPr/>
          </p:nvSpPr>
          <p:spPr>
            <a:xfrm>
              <a:off x="2918569" y="148165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6" name="Forma 77"/>
            <p:cNvSpPr/>
            <p:nvPr/>
          </p:nvSpPr>
          <p:spPr>
            <a:xfrm>
              <a:off x="1938855" y="148165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7" name="Forma 78"/>
            <p:cNvSpPr/>
            <p:nvPr/>
          </p:nvSpPr>
          <p:spPr>
            <a:xfrm>
              <a:off x="2689969" y="223276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8" name="Forma 79"/>
            <p:cNvSpPr/>
            <p:nvPr/>
          </p:nvSpPr>
          <p:spPr>
            <a:xfrm>
              <a:off x="2167455" y="2232769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9" name="Forma 80"/>
            <p:cNvSpPr/>
            <p:nvPr/>
          </p:nvSpPr>
          <p:spPr>
            <a:xfrm>
              <a:off x="2689969" y="125305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0" name="Forma 81"/>
            <p:cNvSpPr/>
            <p:nvPr/>
          </p:nvSpPr>
          <p:spPr>
            <a:xfrm>
              <a:off x="2167455" y="1253055"/>
              <a:ext cx="263217" cy="26321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51" name="Forma 82"/>
            <p:cNvSpPr/>
            <p:nvPr/>
          </p:nvSpPr>
          <p:spPr>
            <a:xfrm>
              <a:off x="2402390" y="1716590"/>
              <a:ext cx="315860" cy="3158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DE7E3F"/>
                </a:gs>
                <a:gs pos="75000">
                  <a:srgbClr val="D35400"/>
                </a:gs>
                <a:gs pos="100000">
                  <a:srgbClr val="933A00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52" name="!!BI"/>
          <p:cNvSpPr/>
          <p:nvPr/>
        </p:nvSpPr>
        <p:spPr>
          <a:xfrm>
            <a:off x="3520440" y="1600200"/>
            <a:ext cx="210312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Bilirrubina indirecta</a:t>
            </a:r>
            <a:endParaRPr lang="es-AR" sz="1300" dirty="0">
              <a:latin typeface="Calibri"/>
            </a:endParaRPr>
          </a:p>
        </p:txBody>
      </p:sp>
      <p:sp>
        <p:nvSpPr>
          <p:cNvPr id="53" name="Albúmina BI"/>
          <p:cNvSpPr/>
          <p:nvPr/>
        </p:nvSpPr>
        <p:spPr>
          <a:xfrm>
            <a:off x="5715000" y="1508760"/>
            <a:ext cx="640080" cy="640080"/>
          </a:xfrm>
          <a:prstGeom prst="ellipse">
            <a:avLst/>
          </a:prstGeom>
          <a:gradFill rotWithShape="1">
            <a:gsLst>
              <a:gs pos="0">
                <a:srgbClr val="FBF0C5"/>
              </a:gs>
              <a:gs pos="55000">
                <a:srgbClr val="F9E79F"/>
              </a:gs>
              <a:gs pos="100000">
                <a:srgbClr val="BAAD77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C734F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Alb</a:t>
            </a:r>
            <a:endParaRPr lang="es-AR" sz="1100" dirty="0">
              <a:latin typeface="Calibri"/>
            </a:endParaRPr>
          </a:p>
        </p:txBody>
      </p:sp>
      <p:grpSp>
        <p:nvGrpSpPr>
          <p:cNvPr id="54" name="Hígado bilirrubina"/>
          <p:cNvGrpSpPr/>
          <p:nvPr/>
        </p:nvGrpSpPr>
        <p:grpSpPr>
          <a:xfrm>
            <a:off x="3566160" y="2743200"/>
            <a:ext cx="2743200" cy="1938894"/>
            <a:chOff x="3566160" y="2743200"/>
            <a:chExt cx="2743200" cy="1938894"/>
          </a:xfrm>
        </p:grpSpPr>
        <p:sp>
          <p:nvSpPr>
            <p:cNvPr id="55" name="Vesícula biliar"/>
            <p:cNvSpPr/>
            <p:nvPr/>
          </p:nvSpPr>
          <p:spPr>
            <a:xfrm>
              <a:off x="4306824" y="4069812"/>
              <a:ext cx="356616" cy="61228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56" name="Forma 87"/>
            <p:cNvSpPr/>
            <p:nvPr/>
          </p:nvSpPr>
          <p:spPr>
            <a:xfrm>
              <a:off x="3566160" y="2743200"/>
              <a:ext cx="2743200" cy="1700784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7" name="Forma 88"/>
            <p:cNvSpPr/>
            <p:nvPr/>
          </p:nvSpPr>
          <p:spPr>
            <a:xfrm>
              <a:off x="3566160" y="2743200"/>
              <a:ext cx="2743200" cy="1700784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58" name="Forma 89"/>
            <p:cNvSpPr/>
            <p:nvPr/>
          </p:nvSpPr>
          <p:spPr>
            <a:xfrm>
              <a:off x="3566160" y="2743200"/>
              <a:ext cx="2743200" cy="1700784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sp>
        <p:nvSpPr>
          <p:cNvPr id="59" name="!!BD"/>
          <p:cNvSpPr/>
          <p:nvPr/>
        </p:nvSpPr>
        <p:spPr>
          <a:xfrm>
            <a:off x="6492240" y="3291840"/>
            <a:ext cx="173736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2CA97"/>
              </a:gs>
              <a:gs pos="55000">
                <a:srgbClr val="27AE60"/>
              </a:gs>
              <a:gs pos="100000">
                <a:srgbClr val="1F8B4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3573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Bilirrubina directa</a:t>
            </a:r>
            <a:endParaRPr lang="es-AR" sz="1300" dirty="0">
              <a:latin typeface="Calibri"/>
            </a:endParaRPr>
          </a:p>
        </p:txBody>
      </p:sp>
      <p:grpSp>
        <p:nvGrpSpPr>
          <p:cNvPr id="60" name="Flechas bilirrubina"/>
          <p:cNvGrpSpPr/>
          <p:nvPr/>
        </p:nvGrpSpPr>
        <p:grpSpPr>
          <a:xfrm>
            <a:off x="1600200" y="1828800"/>
            <a:ext cx="4983480" cy="3063240"/>
            <a:chOff x="1600200" y="1828800"/>
            <a:chExt cx="4983480" cy="3063240"/>
          </a:xfrm>
        </p:grpSpPr>
        <p:sp>
          <p:nvSpPr>
            <p:cNvPr id="61" name="Flecha 92_2"/>
            <p:cNvSpPr/>
            <p:nvPr/>
          </p:nvSpPr>
          <p:spPr>
            <a:xfrm>
              <a:off x="1600200" y="1874520"/>
              <a:ext cx="274320" cy="45720"/>
            </a:xfrm>
            <a:custGeom>
              <a:avLst/>
              <a:gdLst/>
              <a:ahLst/>
              <a:cxnLst/>
              <a:rect l="0" t="0" r="r" b="b"/>
              <a:pathLst>
                <a:path w="299" h="50" fill="none">
                  <a:moveTo>
                    <a:pt x="0" y="50"/>
                  </a:moveTo>
                  <a:lnTo>
                    <a:pt x="299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62" name="Flecha 94_2"/>
            <p:cNvSpPr/>
            <p:nvPr/>
          </p:nvSpPr>
          <p:spPr>
            <a:xfrm>
              <a:off x="3200400" y="1828800"/>
              <a:ext cx="274320" cy="9144"/>
            </a:xfrm>
            <a:custGeom>
              <a:avLst/>
              <a:gdLst/>
              <a:ahLst/>
              <a:cxnLst/>
              <a:rect l="0" t="0" r="r" b="b"/>
              <a:pathLst>
                <a:path w="299" h="10" fill="none">
                  <a:moveTo>
                    <a:pt x="0" y="0"/>
                  </a:moveTo>
                  <a:lnTo>
                    <a:pt x="299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63" name="Flecha 96_2"/>
            <p:cNvSpPr/>
            <p:nvPr/>
          </p:nvSpPr>
          <p:spPr>
            <a:xfrm>
              <a:off x="4572000" y="2103120"/>
              <a:ext cx="182880" cy="640080"/>
            </a:xfrm>
            <a:custGeom>
              <a:avLst/>
              <a:gdLst/>
              <a:ahLst/>
              <a:cxnLst/>
              <a:rect l="0" t="0" r="r" b="b"/>
              <a:pathLst>
                <a:path w="200" h="700" fill="none">
                  <a:moveTo>
                    <a:pt x="0" y="0"/>
                  </a:moveTo>
                  <a:lnTo>
                    <a:pt x="200" y="7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64" name="Flecha 98_2"/>
            <p:cNvSpPr/>
            <p:nvPr/>
          </p:nvSpPr>
          <p:spPr>
            <a:xfrm>
              <a:off x="6035040" y="3520440"/>
              <a:ext cx="411480" cy="9144"/>
            </a:xfrm>
            <a:custGeom>
              <a:avLst/>
              <a:gdLst/>
              <a:ahLst/>
              <a:cxnLst/>
              <a:rect l="0" t="0" r="r" b="b"/>
              <a:pathLst>
                <a:path w="450" h="10" fill="none">
                  <a:moveTo>
                    <a:pt x="0" y="0"/>
                  </a:moveTo>
                  <a:lnTo>
                    <a:pt x="45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65" name="Forma 100"/>
            <p:cNvSpPr txBox="1"/>
            <p:nvPr/>
          </p:nvSpPr>
          <p:spPr>
            <a:xfrm>
              <a:off x="4206240" y="452628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641E16"/>
                  </a:solidFill>
                  <a:latin typeface="Calibri"/>
                  <a:ea typeface="Calibri"/>
                  <a:cs typeface="Calibri"/>
                  <a:sym typeface="Calibri"/>
                </a:rPr>
                <a:t>conjugación hepática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66" name="Tabla bilirrubina fila 0"/>
          <p:cNvGrpSpPr/>
          <p:nvPr/>
        </p:nvGrpSpPr>
        <p:grpSpPr>
          <a:xfrm>
            <a:off x="365760" y="4892040"/>
            <a:ext cx="7955280" cy="384048"/>
            <a:chOff x="365760" y="4892040"/>
            <a:chExt cx="7955280" cy="384048"/>
          </a:xfrm>
        </p:grpSpPr>
        <p:sp>
          <p:nvSpPr>
            <p:cNvPr id="67" name="Forma 102"/>
            <p:cNvSpPr/>
            <p:nvPr/>
          </p:nvSpPr>
          <p:spPr>
            <a:xfrm>
              <a:off x="365760" y="4892040"/>
              <a:ext cx="2377440" cy="38404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Fracción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8" name="Forma 103"/>
            <p:cNvSpPr/>
            <p:nvPr/>
          </p:nvSpPr>
          <p:spPr>
            <a:xfrm>
              <a:off x="2743200" y="4892040"/>
              <a:ext cx="1463040" cy="38404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69" name="Forma 104"/>
            <p:cNvSpPr/>
            <p:nvPr/>
          </p:nvSpPr>
          <p:spPr>
            <a:xfrm>
              <a:off x="4206240" y="4892040"/>
              <a:ext cx="4114800" cy="38404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 está elevada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70" name="Tabla bilirrubina fila 1"/>
          <p:cNvGrpSpPr/>
          <p:nvPr/>
        </p:nvGrpSpPr>
        <p:grpSpPr>
          <a:xfrm>
            <a:off x="365760" y="5276088"/>
            <a:ext cx="7955280" cy="384048"/>
            <a:chOff x="365760" y="5276088"/>
            <a:chExt cx="7955280" cy="384048"/>
          </a:xfrm>
        </p:grpSpPr>
        <p:sp>
          <p:nvSpPr>
            <p:cNvPr id="71" name="Forma 106"/>
            <p:cNvSpPr/>
            <p:nvPr/>
          </p:nvSpPr>
          <p:spPr>
            <a:xfrm>
              <a:off x="365760" y="5276088"/>
              <a:ext cx="2377440" cy="38404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Total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2" name="Forma 107"/>
            <p:cNvSpPr/>
            <p:nvPr/>
          </p:nvSpPr>
          <p:spPr>
            <a:xfrm>
              <a:off x="2743200" y="5276088"/>
              <a:ext cx="1463040" cy="38404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 mg/dL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3" name="Forma 108"/>
            <p:cNvSpPr/>
            <p:nvPr/>
          </p:nvSpPr>
          <p:spPr>
            <a:xfrm>
              <a:off x="4206240" y="5276088"/>
              <a:ext cx="4114800" cy="38404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Hemólisis y/o disfunción hepática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74" name="Tabla bilirrubina fila 2"/>
          <p:cNvGrpSpPr/>
          <p:nvPr/>
        </p:nvGrpSpPr>
        <p:grpSpPr>
          <a:xfrm>
            <a:off x="365760" y="5660136"/>
            <a:ext cx="7955280" cy="384048"/>
            <a:chOff x="365760" y="5660136"/>
            <a:chExt cx="7955280" cy="384048"/>
          </a:xfrm>
        </p:grpSpPr>
        <p:sp>
          <p:nvSpPr>
            <p:cNvPr id="75" name="Forma 110"/>
            <p:cNvSpPr/>
            <p:nvPr/>
          </p:nvSpPr>
          <p:spPr>
            <a:xfrm>
              <a:off x="365760" y="5660136"/>
              <a:ext cx="2377440" cy="38404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Directa (conjugada)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6" name="Forma 111"/>
            <p:cNvSpPr/>
            <p:nvPr/>
          </p:nvSpPr>
          <p:spPr>
            <a:xfrm>
              <a:off x="2743200" y="5660136"/>
              <a:ext cx="1463040" cy="38404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0,2 mg/dL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7" name="Forma 112"/>
            <p:cNvSpPr/>
            <p:nvPr/>
          </p:nvSpPr>
          <p:spPr>
            <a:xfrm>
              <a:off x="4206240" y="5660136"/>
              <a:ext cx="4114800" cy="38404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Problema hepático o posthepático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78" name="Tabla bilirrubina fila 3"/>
          <p:cNvGrpSpPr/>
          <p:nvPr/>
        </p:nvGrpSpPr>
        <p:grpSpPr>
          <a:xfrm>
            <a:off x="365760" y="6044184"/>
            <a:ext cx="7955280" cy="384048"/>
            <a:chOff x="365760" y="6044184"/>
            <a:chExt cx="7955280" cy="384048"/>
          </a:xfrm>
        </p:grpSpPr>
        <p:sp>
          <p:nvSpPr>
            <p:cNvPr id="79" name="Forma 114"/>
            <p:cNvSpPr/>
            <p:nvPr/>
          </p:nvSpPr>
          <p:spPr>
            <a:xfrm>
              <a:off x="365760" y="6044184"/>
              <a:ext cx="2377440" cy="38404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Indirecta (no conjugada)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80" name="Forma 115"/>
            <p:cNvSpPr/>
            <p:nvPr/>
          </p:nvSpPr>
          <p:spPr>
            <a:xfrm>
              <a:off x="2743200" y="6044184"/>
              <a:ext cx="1463040" cy="38404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0,8 mg/dL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81" name="Forma 116"/>
            <p:cNvSpPr/>
            <p:nvPr/>
          </p:nvSpPr>
          <p:spPr>
            <a:xfrm>
              <a:off x="4206240" y="6044184"/>
              <a:ext cx="4114800" cy="38404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Problema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prehepático → hemólisis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82" name="Hemólisis bilirrubina"/>
          <p:cNvGrpSpPr/>
          <p:nvPr/>
        </p:nvGrpSpPr>
        <p:grpSpPr>
          <a:xfrm>
            <a:off x="8549640" y="1097280"/>
            <a:ext cx="3383280" cy="2651760"/>
            <a:chOff x="8549640" y="1097280"/>
            <a:chExt cx="3383280" cy="2651760"/>
          </a:xfrm>
        </p:grpSpPr>
        <p:sp>
          <p:nvSpPr>
            <p:cNvPr id="83" name="Forma 118"/>
            <p:cNvSpPr/>
            <p:nvPr/>
          </p:nvSpPr>
          <p:spPr>
            <a:xfrm>
              <a:off x="8549640" y="1298448"/>
              <a:ext cx="3383280" cy="24505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la anemia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hemolítica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sube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indirecta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llega mucho hemo al hígado antes de conjugarse; la directa es normal si el hígado funciona.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84" name="Forma 119"/>
            <p:cNvSpPr/>
            <p:nvPr/>
          </p:nvSpPr>
          <p:spPr>
            <a:xfrm>
              <a:off x="8677656" y="1097280"/>
              <a:ext cx="116414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HEMÓLISIS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85" name="Ictericia"/>
          <p:cNvGrpSpPr/>
          <p:nvPr/>
        </p:nvGrpSpPr>
        <p:grpSpPr>
          <a:xfrm>
            <a:off x="8549640" y="3977640"/>
            <a:ext cx="3383280" cy="2468880"/>
            <a:chOff x="8549640" y="3977640"/>
            <a:chExt cx="3383280" cy="2468880"/>
          </a:xfrm>
        </p:grpSpPr>
        <p:sp>
          <p:nvSpPr>
            <p:cNvPr id="86" name="Forma 121"/>
            <p:cNvSpPr/>
            <p:nvPr/>
          </p:nvSpPr>
          <p:spPr>
            <a:xfrm>
              <a:off x="8549640" y="417880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total &gt;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2–3 mg/dL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tiñe piel y mucosas: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ictericia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87" name="Forma 122"/>
            <p:cNvSpPr/>
            <p:nvPr/>
          </p:nvSpPr>
          <p:spPr>
            <a:xfrm>
              <a:off x="8677656" y="3977640"/>
              <a:ext cx="106051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ICTERICIA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BILIRRUBINA: DEL GRUPO HEMO A LA ICTERICIA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8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159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2" grpId="0" animBg="1"/>
      <p:bldP spid="53" grpId="0" animBg="1"/>
      <p:bldP spid="59" grpId="0" animBg="1"/>
    </p:bld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5" name="!!Recién nacido"/>
          <p:cNvGrpSpPr/>
          <p:nvPr/>
        </p:nvGrpSpPr>
        <p:grpSpPr>
          <a:xfrm>
            <a:off x="1097280" y="1280160"/>
            <a:ext cx="2651760" cy="1645920"/>
            <a:chOff x="1097280" y="1280160"/>
            <a:chExt cx="2651760" cy="1645920"/>
          </a:xfrm>
        </p:grpSpPr>
        <p:sp>
          <p:nvSpPr>
            <p:cNvPr id="6" name="Forma 5"/>
            <p:cNvSpPr/>
            <p:nvPr/>
          </p:nvSpPr>
          <p:spPr>
            <a:xfrm>
              <a:off x="1097280" y="1463040"/>
              <a:ext cx="2011680" cy="1463040"/>
            </a:xfrm>
            <a:prstGeom prst="ellipse">
              <a:avLst/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9C640C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2651760" y="1280160"/>
              <a:ext cx="1097280" cy="1097280"/>
            </a:xfrm>
            <a:prstGeom prst="ellipse">
              <a:avLst/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9C640C"/>
              </a:solidFill>
              <a:round/>
            </a:ln>
          </p:spPr>
        </p:sp>
      </p:grpSp>
      <p:grpSp>
        <p:nvGrpSpPr>
          <p:cNvPr id="8" name="Fototerapia"/>
          <p:cNvGrpSpPr/>
          <p:nvPr/>
        </p:nvGrpSpPr>
        <p:grpSpPr>
          <a:xfrm>
            <a:off x="548640" y="868680"/>
            <a:ext cx="3657600" cy="594360"/>
            <a:chOff x="548640" y="868680"/>
            <a:chExt cx="3657600" cy="594360"/>
          </a:xfrm>
        </p:grpSpPr>
        <p:sp>
          <p:nvSpPr>
            <p:cNvPr id="9" name="Forma 8"/>
            <p:cNvSpPr/>
            <p:nvPr/>
          </p:nvSpPr>
          <p:spPr>
            <a:xfrm>
              <a:off x="548640" y="868680"/>
              <a:ext cx="3657600" cy="274320"/>
            </a:xfrm>
            <a:prstGeom prst="rect">
              <a:avLst/>
            </a:prstGeom>
            <a:solidFill>
              <a:srgbClr val="5DADE2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0" name="Flecha 9_2"/>
            <p:cNvSpPr/>
            <p:nvPr/>
          </p:nvSpPr>
          <p:spPr>
            <a:xfrm>
              <a:off x="822960" y="1188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1750" cap="rnd">
              <a:solidFill>
                <a:srgbClr val="2E86C1"/>
              </a:solidFill>
              <a:round/>
              <a:tailEnd type="triangle" w="med" len="med"/>
            </a:ln>
          </p:spPr>
        </p:sp>
        <p:sp>
          <p:nvSpPr>
            <p:cNvPr id="11" name="Flecha 11_2"/>
            <p:cNvSpPr/>
            <p:nvPr/>
          </p:nvSpPr>
          <p:spPr>
            <a:xfrm>
              <a:off x="1371600" y="1188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1750" cap="rnd">
              <a:solidFill>
                <a:srgbClr val="2E86C1"/>
              </a:solidFill>
              <a:round/>
              <a:tailEnd type="triangle" w="med" len="med"/>
            </a:ln>
          </p:spPr>
        </p:sp>
        <p:sp>
          <p:nvSpPr>
            <p:cNvPr id="12" name="Flecha 13_2"/>
            <p:cNvSpPr/>
            <p:nvPr/>
          </p:nvSpPr>
          <p:spPr>
            <a:xfrm>
              <a:off x="1920240" y="1188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1750" cap="rnd">
              <a:solidFill>
                <a:srgbClr val="2E86C1"/>
              </a:solidFill>
              <a:round/>
              <a:tailEnd type="triangle" w="med" len="med"/>
            </a:ln>
          </p:spPr>
        </p:sp>
        <p:sp>
          <p:nvSpPr>
            <p:cNvPr id="13" name="Flecha 15_2"/>
            <p:cNvSpPr/>
            <p:nvPr/>
          </p:nvSpPr>
          <p:spPr>
            <a:xfrm>
              <a:off x="2468880" y="1188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1750" cap="rnd">
              <a:solidFill>
                <a:srgbClr val="2E86C1"/>
              </a:solidFill>
              <a:round/>
              <a:tailEnd type="triangle" w="med" len="med"/>
            </a:ln>
          </p:spPr>
        </p:sp>
        <p:sp>
          <p:nvSpPr>
            <p:cNvPr id="14" name="Flecha 17_2"/>
            <p:cNvSpPr/>
            <p:nvPr/>
          </p:nvSpPr>
          <p:spPr>
            <a:xfrm>
              <a:off x="3017520" y="1188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1750" cap="rnd">
              <a:solidFill>
                <a:srgbClr val="2E86C1"/>
              </a:solidFill>
              <a:round/>
              <a:tailEnd type="triangle" w="med" len="med"/>
            </a:ln>
          </p:spPr>
        </p:sp>
        <p:sp>
          <p:nvSpPr>
            <p:cNvPr id="15" name="Flecha 19_2"/>
            <p:cNvSpPr/>
            <p:nvPr/>
          </p:nvSpPr>
          <p:spPr>
            <a:xfrm>
              <a:off x="3566160" y="118872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300" fill="none">
                  <a:moveTo>
                    <a:pt x="0" y="0"/>
                  </a:moveTo>
                  <a:lnTo>
                    <a:pt x="0" y="300"/>
                  </a:lnTo>
                </a:path>
              </a:pathLst>
            </a:custGeom>
            <a:noFill/>
            <a:ln w="31750" cap="rnd">
              <a:solidFill>
                <a:srgbClr val="2E86C1"/>
              </a:solidFill>
              <a:round/>
              <a:tailEnd type="triangle" w="med" len="med"/>
            </a:ln>
          </p:spPr>
        </p:sp>
      </p:grpSp>
      <p:sp>
        <p:nvSpPr>
          <p:cNvPr id="16" name="Estrés oxidativo"/>
          <p:cNvSpPr/>
          <p:nvPr/>
        </p:nvSpPr>
        <p:spPr>
          <a:xfrm>
            <a:off x="365760" y="3200400"/>
            <a:ext cx="3657600" cy="15544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 nacer pasa de baja concentración de O</a:t>
            </a:r>
            <a:r>
              <a:rPr lang="es-AR" sz="17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 respirar aire con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21 % de O</a:t>
            </a:r>
            <a:r>
              <a:rPr lang="es-AR" sz="175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el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estrés oxidativo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destruye eritrocitos fetales.</a:t>
            </a:r>
            <a:endParaRPr lang="es-AR" sz="1750" dirty="0">
              <a:latin typeface="Calibri"/>
            </a:endParaRPr>
          </a:p>
        </p:txBody>
      </p:sp>
      <p:sp>
        <p:nvSpPr>
          <p:cNvPr id="17" name="Ictericia RN"/>
          <p:cNvSpPr/>
          <p:nvPr/>
        </p:nvSpPr>
        <p:spPr>
          <a:xfrm>
            <a:off x="4526280" y="1097280"/>
            <a:ext cx="7406640" cy="12801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Hemólisis fisiológica en las primeras semanas → mucho hemo →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bilirrubina elevada → ictericia fisiológica neonatal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18" name="Kernicterus"/>
          <p:cNvSpPr/>
          <p:nvPr/>
        </p:nvSpPr>
        <p:spPr>
          <a:xfrm>
            <a:off x="4526280" y="2560320"/>
            <a:ext cx="7406640" cy="118872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bilirrubina en exceso puede ser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neurotóxica (kernicterus)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se trata con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fototerapia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19" name="Nadir"/>
          <p:cNvSpPr/>
          <p:nvPr/>
        </p:nvSpPr>
        <p:spPr>
          <a:xfrm>
            <a:off x="4526280" y="3931920"/>
            <a:ext cx="7406640" cy="118872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Nadir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Hb ≈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 meses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vida (~9,5 g/dL); los valores del adulto se alcanzan hacia los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11–12 años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grpSp>
        <p:nvGrpSpPr>
          <p:cNvPr id="20" name="Rigor fototerapia"/>
          <p:cNvGrpSpPr/>
          <p:nvPr/>
        </p:nvGrpSpPr>
        <p:grpSpPr>
          <a:xfrm>
            <a:off x="365760" y="4983480"/>
            <a:ext cx="11567160" cy="1463040"/>
            <a:chOff x="365760" y="4983480"/>
            <a:chExt cx="11567160" cy="1463040"/>
          </a:xfrm>
        </p:grpSpPr>
        <p:sp>
          <p:nvSpPr>
            <p:cNvPr id="21" name="Forma 26"/>
            <p:cNvSpPr/>
            <p:nvPr/>
          </p:nvSpPr>
          <p:spPr>
            <a:xfrm>
              <a:off x="365760" y="5184648"/>
              <a:ext cx="11567160" cy="12618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fototerapia neonatal usa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luz azul (≈ 460 nm)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no ultravioleta: la bilirrubina absorbe esa luz y se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fotoisomeriza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 formas más hidrosolubles que se eliminan. El mecanismo de la hemólisis neonatal es multifactorial (vida media más corta del eritrocito fetal).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22" name="Forma 27"/>
            <p:cNvSpPr/>
            <p:nvPr/>
          </p:nvSpPr>
          <p:spPr>
            <a:xfrm>
              <a:off x="493776" y="49834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ANEMIA FISIOLÓGICA E ICTERICIA DEL RECIÉN NACIDO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Eritrocito Coombs 0"/>
          <p:cNvGrpSpPr/>
          <p:nvPr/>
        </p:nvGrpSpPr>
        <p:grpSpPr>
          <a:xfrm>
            <a:off x="731520" y="2011680"/>
            <a:ext cx="1463040" cy="1463040"/>
            <a:chOff x="731520" y="2011680"/>
            <a:chExt cx="1463040" cy="1463040"/>
          </a:xfrm>
        </p:grpSpPr>
        <p:sp>
          <p:nvSpPr>
            <p:cNvPr id="6" name="GR c0"/>
            <p:cNvSpPr/>
            <p:nvPr/>
          </p:nvSpPr>
          <p:spPr>
            <a:xfrm>
              <a:off x="731520" y="2011680"/>
              <a:ext cx="1463040" cy="14630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grpSp>
        <p:nvGrpSpPr>
          <p:cNvPr id="7" name="!!Eritrocito Coombs 1"/>
          <p:cNvGrpSpPr/>
          <p:nvPr/>
        </p:nvGrpSpPr>
        <p:grpSpPr>
          <a:xfrm>
            <a:off x="2651760" y="2011680"/>
            <a:ext cx="1463040" cy="1463040"/>
            <a:chOff x="2651760" y="2011680"/>
            <a:chExt cx="1463040" cy="1463040"/>
          </a:xfrm>
        </p:grpSpPr>
        <p:sp>
          <p:nvSpPr>
            <p:cNvPr id="8" name="GR c1"/>
            <p:cNvSpPr/>
            <p:nvPr/>
          </p:nvSpPr>
          <p:spPr>
            <a:xfrm>
              <a:off x="2651760" y="2011680"/>
              <a:ext cx="1463040" cy="14630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grpSp>
        <p:nvGrpSpPr>
          <p:cNvPr id="9" name="!!Eritrocito Coombs 2"/>
          <p:cNvGrpSpPr/>
          <p:nvPr/>
        </p:nvGrpSpPr>
        <p:grpSpPr>
          <a:xfrm>
            <a:off x="4572000" y="2011680"/>
            <a:ext cx="1463040" cy="1463040"/>
            <a:chOff x="4572000" y="2011680"/>
            <a:chExt cx="1463040" cy="1463040"/>
          </a:xfrm>
        </p:grpSpPr>
        <p:sp>
          <p:nvSpPr>
            <p:cNvPr id="10" name="GR c2"/>
            <p:cNvSpPr/>
            <p:nvPr/>
          </p:nvSpPr>
          <p:spPr>
            <a:xfrm>
              <a:off x="4572000" y="2011680"/>
              <a:ext cx="1463040" cy="14630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grpSp>
        <p:nvGrpSpPr>
          <p:cNvPr id="11" name="Autoanticuerpos"/>
          <p:cNvGrpSpPr/>
          <p:nvPr/>
        </p:nvGrpSpPr>
        <p:grpSpPr>
          <a:xfrm>
            <a:off x="1874520" y="1792928"/>
            <a:ext cx="4526280" cy="1900545"/>
            <a:chOff x="1874520" y="1792928"/>
            <a:chExt cx="4526280" cy="1900545"/>
          </a:xfrm>
        </p:grpSpPr>
        <p:sp>
          <p:nvSpPr>
            <p:cNvPr id="12" name="Flecha 11_2"/>
            <p:cNvSpPr/>
            <p:nvPr/>
          </p:nvSpPr>
          <p:spPr>
            <a:xfrm>
              <a:off x="1874520" y="1792928"/>
              <a:ext cx="137160" cy="237568"/>
            </a:xfrm>
            <a:custGeom>
              <a:avLst/>
              <a:gdLst/>
              <a:ahLst/>
              <a:cxnLst/>
              <a:rect l="0" t="0" r="r" b="b"/>
              <a:pathLst>
                <a:path w="149" h="259" fill="none">
                  <a:moveTo>
                    <a:pt x="0" y="259"/>
                  </a:moveTo>
                  <a:lnTo>
                    <a:pt x="149" y="0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13" name="Flecha 13_2"/>
            <p:cNvSpPr/>
            <p:nvPr/>
          </p:nvSpPr>
          <p:spPr>
            <a:xfrm>
              <a:off x="2286000" y="2743200"/>
              <a:ext cx="274320" cy="9144"/>
            </a:xfrm>
            <a:custGeom>
              <a:avLst/>
              <a:gdLst/>
              <a:ahLst/>
              <a:cxnLst/>
              <a:rect l="0" t="0" r="r" b="b"/>
              <a:pathLst>
                <a:path w="299" h="10" fill="none">
                  <a:moveTo>
                    <a:pt x="0" y="0"/>
                  </a:moveTo>
                  <a:lnTo>
                    <a:pt x="299" y="0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14" name="Flecha 15_2"/>
            <p:cNvSpPr/>
            <p:nvPr/>
          </p:nvSpPr>
          <p:spPr>
            <a:xfrm>
              <a:off x="1874520" y="3455904"/>
              <a:ext cx="137160" cy="237568"/>
            </a:xfrm>
            <a:custGeom>
              <a:avLst/>
              <a:gdLst/>
              <a:ahLst/>
              <a:cxnLst/>
              <a:rect l="0" t="0" r="r" b="b"/>
              <a:pathLst>
                <a:path w="149" h="259" fill="none">
                  <a:moveTo>
                    <a:pt x="0" y="0"/>
                  </a:moveTo>
                  <a:lnTo>
                    <a:pt x="149" y="259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15" name="Flecha 17_2"/>
            <p:cNvSpPr/>
            <p:nvPr/>
          </p:nvSpPr>
          <p:spPr>
            <a:xfrm>
              <a:off x="3794760" y="1792928"/>
              <a:ext cx="137160" cy="237568"/>
            </a:xfrm>
            <a:custGeom>
              <a:avLst/>
              <a:gdLst/>
              <a:ahLst/>
              <a:cxnLst/>
              <a:rect l="0" t="0" r="r" b="b"/>
              <a:pathLst>
                <a:path w="150" h="259" fill="none">
                  <a:moveTo>
                    <a:pt x="0" y="259"/>
                  </a:moveTo>
                  <a:lnTo>
                    <a:pt x="150" y="0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16" name="Flecha 19_2"/>
            <p:cNvSpPr/>
            <p:nvPr/>
          </p:nvSpPr>
          <p:spPr>
            <a:xfrm>
              <a:off x="4206240" y="2743200"/>
              <a:ext cx="274320" cy="9144"/>
            </a:xfrm>
            <a:custGeom>
              <a:avLst/>
              <a:gdLst/>
              <a:ahLst/>
              <a:cxnLst/>
              <a:rect l="0" t="0" r="r" b="b"/>
              <a:pathLst>
                <a:path w="299" h="10" fill="none">
                  <a:moveTo>
                    <a:pt x="0" y="0"/>
                  </a:moveTo>
                  <a:lnTo>
                    <a:pt x="299" y="0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17" name="Flecha 21_2"/>
            <p:cNvSpPr/>
            <p:nvPr/>
          </p:nvSpPr>
          <p:spPr>
            <a:xfrm>
              <a:off x="3794760" y="3455904"/>
              <a:ext cx="137160" cy="237568"/>
            </a:xfrm>
            <a:custGeom>
              <a:avLst/>
              <a:gdLst/>
              <a:ahLst/>
              <a:cxnLst/>
              <a:rect l="0" t="0" r="r" b="b"/>
              <a:pathLst>
                <a:path w="150" h="259" fill="none">
                  <a:moveTo>
                    <a:pt x="0" y="0"/>
                  </a:moveTo>
                  <a:lnTo>
                    <a:pt x="150" y="259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18" name="Flecha 23_2"/>
            <p:cNvSpPr/>
            <p:nvPr/>
          </p:nvSpPr>
          <p:spPr>
            <a:xfrm>
              <a:off x="5715000" y="1792928"/>
              <a:ext cx="137160" cy="237568"/>
            </a:xfrm>
            <a:custGeom>
              <a:avLst/>
              <a:gdLst/>
              <a:ahLst/>
              <a:cxnLst/>
              <a:rect l="0" t="0" r="r" b="b"/>
              <a:pathLst>
                <a:path w="150" h="259" fill="none">
                  <a:moveTo>
                    <a:pt x="0" y="259"/>
                  </a:moveTo>
                  <a:lnTo>
                    <a:pt x="150" y="0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19" name="Flecha 25_2"/>
            <p:cNvSpPr/>
            <p:nvPr/>
          </p:nvSpPr>
          <p:spPr>
            <a:xfrm>
              <a:off x="6126480" y="2743200"/>
              <a:ext cx="274320" cy="9144"/>
            </a:xfrm>
            <a:custGeom>
              <a:avLst/>
              <a:gdLst/>
              <a:ahLst/>
              <a:cxnLst/>
              <a:rect l="0" t="0" r="r" b="b"/>
              <a:pathLst>
                <a:path w="299" h="10" fill="none">
                  <a:moveTo>
                    <a:pt x="0" y="0"/>
                  </a:moveTo>
                  <a:lnTo>
                    <a:pt x="299" y="0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  <p:sp>
          <p:nvSpPr>
            <p:cNvPr id="20" name="Flecha 27_2"/>
            <p:cNvSpPr/>
            <p:nvPr/>
          </p:nvSpPr>
          <p:spPr>
            <a:xfrm>
              <a:off x="5715000" y="3455904"/>
              <a:ext cx="137160" cy="237568"/>
            </a:xfrm>
            <a:custGeom>
              <a:avLst/>
              <a:gdLst/>
              <a:ahLst/>
              <a:cxnLst/>
              <a:rect l="0" t="0" r="r" b="b"/>
              <a:pathLst>
                <a:path w="150" h="259" fill="none">
                  <a:moveTo>
                    <a:pt x="0" y="0"/>
                  </a:moveTo>
                  <a:lnTo>
                    <a:pt x="150" y="259"/>
                  </a:lnTo>
                </a:path>
              </a:pathLst>
            </a:custGeom>
            <a:noFill/>
            <a:ln w="38100" cap="rnd">
              <a:solidFill>
                <a:srgbClr val="2E86C1"/>
              </a:solidFill>
              <a:round/>
            </a:ln>
          </p:spPr>
        </p:sp>
      </p:grpSp>
      <p:grpSp>
        <p:nvGrpSpPr>
          <p:cNvPr id="21" name="Antiglobulina"/>
          <p:cNvGrpSpPr/>
          <p:nvPr/>
        </p:nvGrpSpPr>
        <p:grpSpPr>
          <a:xfrm>
            <a:off x="2011680" y="1097280"/>
            <a:ext cx="3657600" cy="1051560"/>
            <a:chOff x="2011680" y="1097280"/>
            <a:chExt cx="3657600" cy="1051560"/>
          </a:xfrm>
        </p:grpSpPr>
        <p:sp>
          <p:nvSpPr>
            <p:cNvPr id="22" name="Flecha 30_2"/>
            <p:cNvSpPr/>
            <p:nvPr/>
          </p:nvSpPr>
          <p:spPr>
            <a:xfrm>
              <a:off x="2331720" y="1828800"/>
              <a:ext cx="548640" cy="320040"/>
            </a:xfrm>
            <a:custGeom>
              <a:avLst/>
              <a:gdLst/>
              <a:ahLst/>
              <a:cxnLst/>
              <a:rect l="0" t="0" r="r" b="b"/>
              <a:pathLst>
                <a:path w="599" h="350" fill="none">
                  <a:moveTo>
                    <a:pt x="0" y="350"/>
                  </a:moveTo>
                  <a:lnTo>
                    <a:pt x="299" y="0"/>
                  </a:lnTo>
                  <a:lnTo>
                    <a:pt x="599" y="350"/>
                  </a:lnTo>
                </a:path>
              </a:pathLst>
            </a:custGeom>
            <a:noFill/>
            <a:ln w="44450" cap="rnd">
              <a:solidFill>
                <a:srgbClr val="8E44AD"/>
              </a:solidFill>
              <a:round/>
            </a:ln>
          </p:spPr>
        </p:sp>
        <p:sp>
          <p:nvSpPr>
            <p:cNvPr id="23" name="Flecha 32_2"/>
            <p:cNvSpPr/>
            <p:nvPr/>
          </p:nvSpPr>
          <p:spPr>
            <a:xfrm>
              <a:off x="4251960" y="1828800"/>
              <a:ext cx="548640" cy="320040"/>
            </a:xfrm>
            <a:custGeom>
              <a:avLst/>
              <a:gdLst/>
              <a:ahLst/>
              <a:cxnLst/>
              <a:rect l="0" t="0" r="r" b="b"/>
              <a:pathLst>
                <a:path w="599" h="350" fill="none">
                  <a:moveTo>
                    <a:pt x="0" y="350"/>
                  </a:moveTo>
                  <a:lnTo>
                    <a:pt x="299" y="0"/>
                  </a:lnTo>
                  <a:lnTo>
                    <a:pt x="599" y="350"/>
                  </a:lnTo>
                </a:path>
              </a:pathLst>
            </a:custGeom>
            <a:noFill/>
            <a:ln w="44450" cap="rnd">
              <a:solidFill>
                <a:srgbClr val="8E44AD"/>
              </a:solidFill>
              <a:round/>
            </a:ln>
          </p:spPr>
        </p:sp>
        <p:sp>
          <p:nvSpPr>
            <p:cNvPr id="24" name="Forma 34"/>
            <p:cNvSpPr txBox="1"/>
            <p:nvPr/>
          </p:nvSpPr>
          <p:spPr>
            <a:xfrm>
              <a:off x="2011680" y="1097280"/>
              <a:ext cx="36576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6C3483"/>
                  </a:solidFill>
                  <a:latin typeface="Calibri"/>
                  <a:ea typeface="Calibri"/>
                  <a:cs typeface="Calibri"/>
                  <a:sym typeface="Calibri"/>
                </a:rPr>
                <a:t>reactivo de Coombs (antiglobulina)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25" name="Aglutinación"/>
          <p:cNvSpPr/>
          <p:nvPr/>
        </p:nvSpPr>
        <p:spPr>
          <a:xfrm>
            <a:off x="2377440" y="3886200"/>
            <a:ext cx="2256109" cy="31432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aglutinación = POSITIVA</a:t>
            </a:r>
            <a:endParaRPr lang="es-AR" sz="1500" dirty="0">
              <a:latin typeface="Calibri"/>
            </a:endParaRPr>
          </a:p>
        </p:txBody>
      </p:sp>
      <p:sp>
        <p:nvSpPr>
          <p:cNvPr id="26" name="Def Coombs"/>
          <p:cNvSpPr/>
          <p:nvPr/>
        </p:nvSpPr>
        <p:spPr>
          <a:xfrm>
            <a:off x="457200" y="4572000"/>
            <a:ext cx="7589520" cy="1874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Detecta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autoanticuerpos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(inmunoglobulinas) adheridos a la superficie del eritrocito.</a:t>
            </a:r>
            <a:endParaRPr lang="es-AR" sz="195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Positiva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anemia hemolítica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autoinmune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Negativa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no es de origen autoinmune.</a:t>
            </a:r>
            <a:endParaRPr lang="es-AR" sz="1950" dirty="0">
              <a:latin typeface="Calibri"/>
            </a:endParaRPr>
          </a:p>
        </p:txBody>
      </p:sp>
      <p:grpSp>
        <p:nvGrpSpPr>
          <p:cNvPr id="27" name="Coherencia Coombs"/>
          <p:cNvGrpSpPr/>
          <p:nvPr/>
        </p:nvGrpSpPr>
        <p:grpSpPr>
          <a:xfrm>
            <a:off x="8549640" y="1097280"/>
            <a:ext cx="3383280" cy="2468880"/>
            <a:chOff x="8549640" y="1097280"/>
            <a:chExt cx="3383280" cy="2468880"/>
          </a:xfrm>
        </p:grpSpPr>
        <p:sp>
          <p:nvSpPr>
            <p:cNvPr id="28" name="Forma 38"/>
            <p:cNvSpPr/>
            <p:nvPr/>
          </p:nvSpPr>
          <p:spPr>
            <a:xfrm>
              <a:off x="8549640" y="129844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 es autoinmune hay hemólisis periférica: esperamos una anemia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regenerativa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Arregenerativa con Coombs + →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revisar el diagnóstico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9" name="Forma 39"/>
            <p:cNvSpPr/>
            <p:nvPr/>
          </p:nvSpPr>
          <p:spPr>
            <a:xfrm>
              <a:off x="8677656" y="1097280"/>
              <a:ext cx="1324314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COHERENCIA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0" name="Rigor Coombs"/>
          <p:cNvGrpSpPr/>
          <p:nvPr/>
        </p:nvGrpSpPr>
        <p:grpSpPr>
          <a:xfrm>
            <a:off x="8549640" y="3794760"/>
            <a:ext cx="3383280" cy="2651760"/>
            <a:chOff x="8549640" y="3794760"/>
            <a:chExt cx="3383280" cy="2651760"/>
          </a:xfrm>
        </p:grpSpPr>
        <p:sp>
          <p:nvSpPr>
            <p:cNvPr id="31" name="Forma 41"/>
            <p:cNvSpPr/>
            <p:nvPr/>
          </p:nvSpPr>
          <p:spPr>
            <a:xfrm>
              <a:off x="8549640" y="3995928"/>
              <a:ext cx="3383280" cy="245059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regla «siempre regenerativa» admite excepciones: algunos pacientes con hemólisis autoinmune presentan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reticulocitopenia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transitoria (p. ej., por afectación medular asociada).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32" name="Forma 42"/>
            <p:cNvSpPr/>
            <p:nvPr/>
          </p:nvSpPr>
          <p:spPr>
            <a:xfrm>
              <a:off x="8677656" y="379476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PRUEBA DE COOMBS: ANTICUERPOS SOBRE EL ERITROCITO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Pipeta VSG normal"/>
          <p:cNvGrpSpPr/>
          <p:nvPr/>
        </p:nvGrpSpPr>
        <p:grpSpPr>
          <a:xfrm>
            <a:off x="731520" y="1280160"/>
            <a:ext cx="1051560" cy="4590288"/>
            <a:chOff x="731520" y="1280160"/>
            <a:chExt cx="1051560" cy="4590288"/>
          </a:xfrm>
        </p:grpSpPr>
        <p:grpSp>
          <p:nvGrpSpPr>
            <p:cNvPr id="6" name="Pipeta normal"/>
            <p:cNvGrpSpPr/>
            <p:nvPr/>
          </p:nvGrpSpPr>
          <p:grpSpPr>
            <a:xfrm>
              <a:off x="859536" y="1280160"/>
              <a:ext cx="795528" cy="4206240"/>
              <a:chOff x="859536" y="1280160"/>
              <a:chExt cx="795528" cy="4206240"/>
            </a:xfrm>
          </p:grpSpPr>
          <p:sp>
            <p:nvSpPr>
              <p:cNvPr id="7" name="Vidrio"/>
              <p:cNvSpPr/>
              <p:nvPr/>
            </p:nvSpPr>
            <p:spPr>
              <a:xfrm>
                <a:off x="914400" y="1700784"/>
                <a:ext cx="685800" cy="378561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8" name="Tapón"/>
              <p:cNvSpPr/>
              <p:nvPr/>
            </p:nvSpPr>
            <p:spPr>
              <a:xfrm>
                <a:off x="859536" y="1280160"/>
                <a:ext cx="795528" cy="504749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7B8896"/>
                  </a:gs>
                  <a:gs pos="55000">
                    <a:srgbClr val="34495E"/>
                  </a:gs>
                  <a:gs pos="100000">
                    <a:srgbClr val="243341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1A242F"/>
                </a:solidFill>
                <a:round/>
              </a:ln>
            </p:spPr>
          </p:sp>
          <p:sp>
            <p:nvSpPr>
              <p:cNvPr id="9" name="Brillo"/>
              <p:cNvSpPr/>
              <p:nvPr/>
            </p:nvSpPr>
            <p:spPr>
              <a:xfrm>
                <a:off x="1010412" y="1953158"/>
                <a:ext cx="82296" cy="294436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10" name="GR normal"/>
            <p:cNvSpPr/>
            <p:nvPr/>
          </p:nvSpPr>
          <p:spPr>
            <a:xfrm>
              <a:off x="948690" y="2858341"/>
              <a:ext cx="617220" cy="254393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11" name="P normal"/>
            <p:cNvSpPr/>
            <p:nvPr/>
          </p:nvSpPr>
          <p:spPr>
            <a:xfrm>
              <a:off x="948690" y="2505017"/>
              <a:ext cx="617220" cy="353324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sp>
          <p:nvSpPr>
            <p:cNvPr id="12" name="Rótulo Pipeta normal"/>
            <p:cNvSpPr txBox="1"/>
            <p:nvPr/>
          </p:nvSpPr>
          <p:spPr>
            <a:xfrm>
              <a:off x="731520" y="5541264"/>
              <a:ext cx="105156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VSG normal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3" name="Pipeta VSG elevada"/>
          <p:cNvGrpSpPr/>
          <p:nvPr/>
        </p:nvGrpSpPr>
        <p:grpSpPr>
          <a:xfrm>
            <a:off x="2286000" y="1280160"/>
            <a:ext cx="1051560" cy="4590288"/>
            <a:chOff x="2286000" y="1280160"/>
            <a:chExt cx="1051560" cy="4590288"/>
          </a:xfrm>
        </p:grpSpPr>
        <p:grpSp>
          <p:nvGrpSpPr>
            <p:cNvPr id="14" name="Pipeta elevada"/>
            <p:cNvGrpSpPr/>
            <p:nvPr/>
          </p:nvGrpSpPr>
          <p:grpSpPr>
            <a:xfrm>
              <a:off x="2414016" y="1280160"/>
              <a:ext cx="795528" cy="4206240"/>
              <a:chOff x="2414016" y="1280160"/>
              <a:chExt cx="795528" cy="4206240"/>
            </a:xfrm>
          </p:grpSpPr>
          <p:sp>
            <p:nvSpPr>
              <p:cNvPr id="15" name="Vidrio_2"/>
              <p:cNvSpPr/>
              <p:nvPr/>
            </p:nvSpPr>
            <p:spPr>
              <a:xfrm>
                <a:off x="2468880" y="1700784"/>
                <a:ext cx="685800" cy="378561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6" name="Tapón_2"/>
              <p:cNvSpPr/>
              <p:nvPr/>
            </p:nvSpPr>
            <p:spPr>
              <a:xfrm>
                <a:off x="2414016" y="1280160"/>
                <a:ext cx="795528" cy="504749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7B8896"/>
                  </a:gs>
                  <a:gs pos="55000">
                    <a:srgbClr val="34495E"/>
                  </a:gs>
                  <a:gs pos="100000">
                    <a:srgbClr val="243341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1A242F"/>
                </a:solidFill>
                <a:round/>
              </a:ln>
            </p:spPr>
          </p:sp>
          <p:sp>
            <p:nvSpPr>
              <p:cNvPr id="17" name="Brillo_2"/>
              <p:cNvSpPr/>
              <p:nvPr/>
            </p:nvSpPr>
            <p:spPr>
              <a:xfrm>
                <a:off x="2564892" y="1953158"/>
                <a:ext cx="82296" cy="294436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18" name="GR rapida"/>
            <p:cNvSpPr/>
            <p:nvPr/>
          </p:nvSpPr>
          <p:spPr>
            <a:xfrm>
              <a:off x="2503170" y="3812316"/>
              <a:ext cx="617220" cy="1589959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AD6058"/>
                </a:gs>
                <a:gs pos="55000">
                  <a:srgbClr val="922B21"/>
                </a:gs>
                <a:gs pos="100000">
                  <a:srgbClr val="74221A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5E1B15"/>
              </a:solidFill>
              <a:round/>
            </a:ln>
          </p:spPr>
        </p:sp>
        <p:sp>
          <p:nvSpPr>
            <p:cNvPr id="19" name="P rapida"/>
            <p:cNvSpPr/>
            <p:nvPr/>
          </p:nvSpPr>
          <p:spPr>
            <a:xfrm>
              <a:off x="2503170" y="2505017"/>
              <a:ext cx="617220" cy="1307299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sp>
          <p:nvSpPr>
            <p:cNvPr id="20" name="Rótulo Pipeta elevada"/>
            <p:cNvSpPr txBox="1"/>
            <p:nvPr/>
          </p:nvSpPr>
          <p:spPr>
            <a:xfrm>
              <a:off x="2286000" y="5541264"/>
              <a:ext cx="105156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VSG elevada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1" name="Carga negativa"/>
          <p:cNvGrpSpPr/>
          <p:nvPr/>
        </p:nvGrpSpPr>
        <p:grpSpPr>
          <a:xfrm>
            <a:off x="3657600" y="1280160"/>
            <a:ext cx="1828800" cy="822960"/>
            <a:chOff x="3657600" y="1280160"/>
            <a:chExt cx="1828800" cy="822960"/>
          </a:xfrm>
        </p:grpSpPr>
        <p:sp>
          <p:nvSpPr>
            <p:cNvPr id="22" name="GR z0"/>
            <p:cNvSpPr/>
            <p:nvPr/>
          </p:nvSpPr>
          <p:spPr>
            <a:xfrm>
              <a:off x="3657600" y="1280160"/>
              <a:ext cx="548640" cy="5486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3" name="Forma 22"/>
            <p:cNvSpPr txBox="1"/>
            <p:nvPr/>
          </p:nvSpPr>
          <p:spPr>
            <a:xfrm>
              <a:off x="3749040" y="1828800"/>
              <a:ext cx="3657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4" name="GR z1"/>
            <p:cNvSpPr/>
            <p:nvPr/>
          </p:nvSpPr>
          <p:spPr>
            <a:xfrm>
              <a:off x="4297680" y="1280160"/>
              <a:ext cx="548640" cy="5486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5" name="Forma 24"/>
            <p:cNvSpPr txBox="1"/>
            <p:nvPr/>
          </p:nvSpPr>
          <p:spPr>
            <a:xfrm>
              <a:off x="4389120" y="1828800"/>
              <a:ext cx="3657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6" name="GR z2"/>
            <p:cNvSpPr/>
            <p:nvPr/>
          </p:nvSpPr>
          <p:spPr>
            <a:xfrm>
              <a:off x="4937760" y="1280160"/>
              <a:ext cx="548640" cy="5486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7" name="Forma 26"/>
            <p:cNvSpPr txBox="1"/>
            <p:nvPr/>
          </p:nvSpPr>
          <p:spPr>
            <a:xfrm>
              <a:off x="5029200" y="1828800"/>
              <a:ext cx="3657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−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28" name="Principio VSG"/>
          <p:cNvSpPr/>
          <p:nvPr/>
        </p:nvSpPr>
        <p:spPr>
          <a:xfrm>
            <a:off x="3657600" y="2286000"/>
            <a:ext cx="438912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Velocidad a la que los eritrocitos sedimentan en una pipeta en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 hora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Su carga negativa (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potencial Z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 hace que se repelan y sedimenten lentamente.</a:t>
            </a:r>
            <a:endParaRPr lang="es-AR" sz="1800" dirty="0">
              <a:latin typeface="Calibri"/>
            </a:endParaRPr>
          </a:p>
        </p:txBody>
      </p:sp>
      <p:sp>
        <p:nvSpPr>
          <p:cNvPr id="29" name="VSG elevada"/>
          <p:cNvSpPr/>
          <p:nvPr/>
        </p:nvSpPr>
        <p:spPr>
          <a:xfrm>
            <a:off x="3657600" y="4297680"/>
            <a:ext cx="4389120" cy="21488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 cambian las proteínas plasmáticas (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fibrinógeno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proteínas de fase aguda), los eritrocitos pierden carga,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agregan y sedimentan más rápido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proceso inflamatorio o infección.</a:t>
            </a:r>
            <a:endParaRPr lang="es-AR" sz="1800" dirty="0">
              <a:latin typeface="Calibri"/>
            </a:endParaRPr>
          </a:p>
        </p:txBody>
      </p:sp>
      <p:sp>
        <p:nvSpPr>
          <p:cNvPr id="30" name="Valor VSG"/>
          <p:cNvSpPr/>
          <p:nvPr/>
        </p:nvSpPr>
        <p:spPr>
          <a:xfrm>
            <a:off x="8366760" y="1097280"/>
            <a:ext cx="3566160" cy="18288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Normal: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5–10 mm/h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es específica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solo orienta que «algo está pasando».</a:t>
            </a:r>
            <a:endParaRPr lang="es-AR" sz="1950" dirty="0">
              <a:latin typeface="Calibri"/>
            </a:endParaRPr>
          </a:p>
        </p:txBody>
      </p:sp>
      <p:grpSp>
        <p:nvGrpSpPr>
          <p:cNvPr id="31" name="Rigor VSG"/>
          <p:cNvGrpSpPr/>
          <p:nvPr/>
        </p:nvGrpSpPr>
        <p:grpSpPr>
          <a:xfrm>
            <a:off x="8366760" y="3154680"/>
            <a:ext cx="3566160" cy="3291840"/>
            <a:chOff x="8366760" y="3154680"/>
            <a:chExt cx="3566160" cy="3291840"/>
          </a:xfrm>
        </p:grpSpPr>
        <p:sp>
          <p:nvSpPr>
            <p:cNvPr id="32" name="Forma 31"/>
            <p:cNvSpPr/>
            <p:nvPr/>
          </p:nvSpPr>
          <p:spPr>
            <a:xfrm>
              <a:off x="8366760" y="3355848"/>
              <a:ext cx="3566160" cy="30906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intervalo de la VSG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varía con la edad y el sexo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(en general más alto en mujeres y en adultos mayores); 5–10 mm/h no aplica a todos los pacientes.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8494776" y="31546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ERITROSEDIMENTACIÓN (VSG)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</p:bld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Paciente"/>
          <p:cNvGrpSpPr/>
          <p:nvPr/>
        </p:nvGrpSpPr>
        <p:grpSpPr>
          <a:xfrm>
            <a:off x="365760" y="1097280"/>
            <a:ext cx="7680960" cy="1417320"/>
            <a:chOff x="365760" y="1097280"/>
            <a:chExt cx="7680960" cy="141732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7680960" cy="14173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grpSp>
          <p:nvGrpSpPr>
            <p:cNvPr id="7" name="Silueta"/>
            <p:cNvGrpSpPr/>
            <p:nvPr/>
          </p:nvGrpSpPr>
          <p:grpSpPr>
            <a:xfrm>
              <a:off x="502920" y="1207008"/>
              <a:ext cx="950976" cy="1188720"/>
              <a:chOff x="502920" y="1207008"/>
              <a:chExt cx="950976" cy="118872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788213" y="1207008"/>
                <a:ext cx="380390" cy="380390"/>
              </a:xfrm>
              <a:prstGeom prst="ellipse">
                <a:avLst/>
              </a:pr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  <p:sp>
            <p:nvSpPr>
              <p:cNvPr id="9" name="Forma 8"/>
              <p:cNvSpPr/>
              <p:nvPr/>
            </p:nvSpPr>
            <p:spPr>
              <a:xfrm>
                <a:off x="502920" y="1606418"/>
                <a:ext cx="950976" cy="78931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0" y="1000"/>
                    </a:moveTo>
                    <a:cubicBezTo>
                      <a:pt x="60" y="908"/>
                      <a:pt x="36" y="596"/>
                      <a:pt x="60" y="450"/>
                    </a:cubicBezTo>
                    <a:cubicBezTo>
                      <a:pt x="83" y="303"/>
                      <a:pt x="126" y="188"/>
                      <a:pt x="200" y="120"/>
                    </a:cubicBezTo>
                    <a:cubicBezTo>
                      <a:pt x="273" y="51"/>
                      <a:pt x="400" y="40"/>
                      <a:pt x="500" y="40"/>
                    </a:cubicBezTo>
                    <a:cubicBezTo>
                      <a:pt x="600" y="40"/>
                      <a:pt x="726" y="51"/>
                      <a:pt x="800" y="120"/>
                    </a:cubicBezTo>
                    <a:cubicBezTo>
                      <a:pt x="873" y="188"/>
                      <a:pt x="916" y="303"/>
                      <a:pt x="940" y="450"/>
                    </a:cubicBezTo>
                    <a:cubicBezTo>
                      <a:pt x="963" y="596"/>
                      <a:pt x="940" y="908"/>
                      <a:pt x="940" y="1000"/>
                    </a:cubicBezTo>
                  </a:path>
                </a:pathLst>
              </a:cu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</p:grpSp>
        <p:sp>
          <p:nvSpPr>
            <p:cNvPr id="10" name="Edad y sexo"/>
            <p:cNvSpPr txBox="1"/>
            <p:nvPr/>
          </p:nvSpPr>
          <p:spPr>
            <a:xfrm>
              <a:off x="1600200" y="123444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Mujer de 55 años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1" name="Motivo"/>
            <p:cNvSpPr txBox="1"/>
            <p:nvPr/>
          </p:nvSpPr>
          <p:spPr>
            <a:xfrm>
              <a:off x="1600200" y="1691640"/>
              <a:ext cx="63093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Disnea de esfuerzo que se intensificó en las últimas horas.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12" name="Antecedente C1"/>
          <p:cNvSpPr/>
          <p:nvPr/>
        </p:nvSpPr>
        <p:spPr>
          <a:xfrm>
            <a:off x="365760" y="2743200"/>
            <a:ext cx="37490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Antecedente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hipotiroidismo diagnosticado hace 8 años, bien controlado con levotiroxina.</a:t>
            </a:r>
            <a:endParaRPr lang="es-AR" sz="1950" dirty="0">
              <a:latin typeface="Calibri"/>
            </a:endParaRPr>
          </a:p>
        </p:txBody>
      </p:sp>
      <p:sp>
        <p:nvSpPr>
          <p:cNvPr id="13" name="Dieta C1"/>
          <p:cNvSpPr/>
          <p:nvPr/>
        </p:nvSpPr>
        <p:spPr>
          <a:xfrm>
            <a:off x="4297680" y="2743200"/>
            <a:ext cx="37490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Dieta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variada, con carnes y verduras.</a:t>
            </a:r>
            <a:endParaRPr lang="es-AR" sz="2050" dirty="0">
              <a:latin typeface="Calibri"/>
            </a:endParaRPr>
          </a:p>
        </p:txBody>
      </p:sp>
      <p:sp>
        <p:nvSpPr>
          <p:cNvPr id="14" name="Pregunta C1"/>
          <p:cNvSpPr/>
          <p:nvPr/>
        </p:nvSpPr>
        <p:spPr>
          <a:xfrm>
            <a:off x="365760" y="4526280"/>
            <a:ext cx="7680960" cy="19202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¿Qué datos necesitamos para decidir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 hay anemia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 qué tipo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por qué mecanismo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lang="es-AR" sz="2200" dirty="0">
              <a:latin typeface="Calibri"/>
            </a:endParaRPr>
          </a:p>
        </p:txBody>
      </p:sp>
      <p:grpSp>
        <p:nvGrpSpPr>
          <p:cNvPr id="15" name="Silueta C1"/>
          <p:cNvGrpSpPr/>
          <p:nvPr/>
        </p:nvGrpSpPr>
        <p:grpSpPr>
          <a:xfrm>
            <a:off x="9235440" y="1005840"/>
            <a:ext cx="2697480" cy="5394960"/>
            <a:chOff x="9235440" y="1005840"/>
            <a:chExt cx="2697480" cy="5394960"/>
          </a:xfrm>
        </p:grpSpPr>
        <p:sp>
          <p:nvSpPr>
            <p:cNvPr id="16" name="Forma 15"/>
            <p:cNvSpPr/>
            <p:nvPr/>
          </p:nvSpPr>
          <p:spPr>
            <a:xfrm>
              <a:off x="92354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92354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1: PRESENTACIÓN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Signos vitales TA"/>
          <p:cNvGrpSpPr/>
          <p:nvPr/>
        </p:nvGrpSpPr>
        <p:grpSpPr>
          <a:xfrm>
            <a:off x="365760" y="1188720"/>
            <a:ext cx="2148840" cy="1005840"/>
            <a:chOff x="365760" y="1188720"/>
            <a:chExt cx="2148840" cy="1005840"/>
          </a:xfrm>
        </p:grpSpPr>
        <p:sp>
          <p:nvSpPr>
            <p:cNvPr id="6" name="Forma 5"/>
            <p:cNvSpPr/>
            <p:nvPr/>
          </p:nvSpPr>
          <p:spPr>
            <a:xfrm>
              <a:off x="365760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7" name="Forma 6"/>
            <p:cNvSpPr txBox="1"/>
            <p:nvPr/>
          </p:nvSpPr>
          <p:spPr>
            <a:xfrm>
              <a:off x="365760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TA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 txBox="1"/>
            <p:nvPr/>
          </p:nvSpPr>
          <p:spPr>
            <a:xfrm>
              <a:off x="365760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110/70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9" name="Signos vitales FC"/>
          <p:cNvGrpSpPr/>
          <p:nvPr/>
        </p:nvGrpSpPr>
        <p:grpSpPr>
          <a:xfrm>
            <a:off x="2670048" y="1188720"/>
            <a:ext cx="2148840" cy="1005840"/>
            <a:chOff x="2670048" y="1188720"/>
            <a:chExt cx="2148840" cy="1005840"/>
          </a:xfrm>
        </p:grpSpPr>
        <p:sp>
          <p:nvSpPr>
            <p:cNvPr id="10" name="Forma 9"/>
            <p:cNvSpPr/>
            <p:nvPr/>
          </p:nvSpPr>
          <p:spPr>
            <a:xfrm>
              <a:off x="2670048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11" name="Forma 10"/>
            <p:cNvSpPr txBox="1"/>
            <p:nvPr/>
          </p:nvSpPr>
          <p:spPr>
            <a:xfrm>
              <a:off x="2670048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FC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2" name="Forma 11"/>
            <p:cNvSpPr txBox="1"/>
            <p:nvPr/>
          </p:nvSpPr>
          <p:spPr>
            <a:xfrm>
              <a:off x="2670048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110 lpm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3" name="Signos vitales Temp."/>
          <p:cNvGrpSpPr/>
          <p:nvPr/>
        </p:nvGrpSpPr>
        <p:grpSpPr>
          <a:xfrm>
            <a:off x="4974336" y="1188720"/>
            <a:ext cx="2148840" cy="1005840"/>
            <a:chOff x="4974336" y="1188720"/>
            <a:chExt cx="2148840" cy="1005840"/>
          </a:xfrm>
        </p:grpSpPr>
        <p:sp>
          <p:nvSpPr>
            <p:cNvPr id="14" name="Forma 13"/>
            <p:cNvSpPr/>
            <p:nvPr/>
          </p:nvSpPr>
          <p:spPr>
            <a:xfrm>
              <a:off x="4974336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EAF5EA"/>
            </a:solidFill>
            <a:ln w="22225" cap="rnd">
              <a:solidFill>
                <a:srgbClr val="4E7A30"/>
              </a:solidFill>
              <a:round/>
            </a:ln>
          </p:spPr>
        </p:sp>
        <p:sp>
          <p:nvSpPr>
            <p:cNvPr id="15" name="Forma 14"/>
            <p:cNvSpPr txBox="1"/>
            <p:nvPr/>
          </p:nvSpPr>
          <p:spPr>
            <a:xfrm>
              <a:off x="4974336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Temp.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6" name="Forma 15"/>
            <p:cNvSpPr txBox="1"/>
            <p:nvPr/>
          </p:nvSpPr>
          <p:spPr>
            <a:xfrm>
              <a:off x="4974336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35,9 °C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7" name="Signos vitales FR"/>
          <p:cNvGrpSpPr/>
          <p:nvPr/>
        </p:nvGrpSpPr>
        <p:grpSpPr>
          <a:xfrm>
            <a:off x="7278624" y="1188720"/>
            <a:ext cx="2148840" cy="1005840"/>
            <a:chOff x="7278624" y="1188720"/>
            <a:chExt cx="2148840" cy="1005840"/>
          </a:xfrm>
        </p:grpSpPr>
        <p:sp>
          <p:nvSpPr>
            <p:cNvPr id="18" name="Forma 17"/>
            <p:cNvSpPr/>
            <p:nvPr/>
          </p:nvSpPr>
          <p:spPr>
            <a:xfrm>
              <a:off x="7278624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19" name="Forma 18"/>
            <p:cNvSpPr txBox="1"/>
            <p:nvPr/>
          </p:nvSpPr>
          <p:spPr>
            <a:xfrm>
              <a:off x="7278624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FR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0" name="Forma 19"/>
            <p:cNvSpPr txBox="1"/>
            <p:nvPr/>
          </p:nvSpPr>
          <p:spPr>
            <a:xfrm>
              <a:off x="7278624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22 rpm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1" name="Signos vitales SatO2"/>
          <p:cNvGrpSpPr/>
          <p:nvPr/>
        </p:nvGrpSpPr>
        <p:grpSpPr>
          <a:xfrm>
            <a:off x="9582912" y="1188720"/>
            <a:ext cx="2148840" cy="1005840"/>
            <a:chOff x="9582912" y="1188720"/>
            <a:chExt cx="2148840" cy="1005840"/>
          </a:xfrm>
        </p:grpSpPr>
        <p:sp>
          <p:nvSpPr>
            <p:cNvPr id="22" name="Forma 21"/>
            <p:cNvSpPr/>
            <p:nvPr/>
          </p:nvSpPr>
          <p:spPr>
            <a:xfrm>
              <a:off x="9582912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EAF5EA"/>
            </a:solidFill>
            <a:ln w="22225" cap="rnd">
              <a:solidFill>
                <a:srgbClr val="4E7A30"/>
              </a:solidFill>
              <a:round/>
            </a:ln>
          </p:spPr>
        </p:sp>
        <p:sp>
          <p:nvSpPr>
            <p:cNvPr id="23" name="Forma 22"/>
            <p:cNvSpPr txBox="1"/>
            <p:nvPr/>
          </p:nvSpPr>
          <p:spPr>
            <a:xfrm>
              <a:off x="9582912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SatO</a:t>
              </a:r>
              <a:r>
                <a:rPr lang="es-AR" sz="1200" b="1" baseline="-25000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4" name="Forma 23"/>
            <p:cNvSpPr txBox="1"/>
            <p:nvPr/>
          </p:nvSpPr>
          <p:spPr>
            <a:xfrm>
              <a:off x="9582912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95 %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25" name="Examen C1"/>
          <p:cNvSpPr/>
          <p:nvPr/>
        </p:nvSpPr>
        <p:spPr>
          <a:xfrm>
            <a:off x="365760" y="2514600"/>
            <a:ext cx="5577840" cy="128016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Examen físico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palidez de piel y mucosas.</a:t>
            </a:r>
            <a:endParaRPr lang="es-AR" sz="2200" dirty="0">
              <a:latin typeface="Calibri"/>
            </a:endParaRPr>
          </a:p>
        </p:txBody>
      </p:sp>
      <p:sp>
        <p:nvSpPr>
          <p:cNvPr id="26" name="Lectura signos C1"/>
          <p:cNvSpPr/>
          <p:nvPr/>
        </p:nvSpPr>
        <p:spPr>
          <a:xfrm>
            <a:off x="6126480" y="2514600"/>
            <a:ext cx="5806440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FC 110: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taquicardia compensatoria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· FR 22: taquipnea leve · TA levemente baja.</a:t>
            </a:r>
            <a:endParaRPr lang="es-AR" sz="1950" dirty="0">
              <a:latin typeface="Calibri"/>
            </a:endParaRPr>
          </a:p>
        </p:txBody>
      </p:sp>
      <p:grpSp>
        <p:nvGrpSpPr>
          <p:cNvPr id="27" name="Paciente palidez"/>
          <p:cNvGrpSpPr/>
          <p:nvPr/>
        </p:nvGrpSpPr>
        <p:grpSpPr>
          <a:xfrm>
            <a:off x="548640" y="3977640"/>
            <a:ext cx="1280160" cy="2560320"/>
            <a:chOff x="548640" y="3977640"/>
            <a:chExt cx="1280160" cy="2560320"/>
          </a:xfrm>
        </p:grpSpPr>
        <p:sp>
          <p:nvSpPr>
            <p:cNvPr id="28" name="Forma 27"/>
            <p:cNvSpPr/>
            <p:nvPr/>
          </p:nvSpPr>
          <p:spPr>
            <a:xfrm>
              <a:off x="548640" y="3977640"/>
              <a:ext cx="1280160" cy="256032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2E6DF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>
              <a:off x="548640" y="3977640"/>
              <a:ext cx="1280160" cy="256032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2E6DF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30" name="Síntesis signos C1"/>
          <p:cNvSpPr/>
          <p:nvPr/>
        </p:nvSpPr>
        <p:spPr>
          <a:xfrm>
            <a:off x="2194560" y="4023360"/>
            <a:ext cx="9738360" cy="24231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signos son compatibles con un organismo que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compensa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una menor capacidad de transporte de O</a:t>
            </a:r>
            <a:r>
              <a:rPr lang="es-AR" sz="20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Falta el laboratorio para confirmar y clasificar.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1: SIGNOS VITALES Y EXAMEN FÍSICO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0" grpId="0" animBg="1"/>
    </p:bld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Laboratorio C1a fila 0"/>
          <p:cNvGrpSpPr/>
          <p:nvPr/>
        </p:nvGrpSpPr>
        <p:grpSpPr>
          <a:xfrm>
            <a:off x="320040" y="1097280"/>
            <a:ext cx="7909560" cy="566928"/>
            <a:chOff x="320040" y="1097280"/>
            <a:chExt cx="7909560" cy="566928"/>
          </a:xfrm>
        </p:grpSpPr>
        <p:sp>
          <p:nvSpPr>
            <p:cNvPr id="6" name="Forma 5"/>
            <p:cNvSpPr/>
            <p:nvPr/>
          </p:nvSpPr>
          <p:spPr>
            <a:xfrm>
              <a:off x="320040" y="1097280"/>
              <a:ext cx="160020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Parámetro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920240" y="1097280"/>
              <a:ext cx="15087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Paciente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429000" y="1097280"/>
              <a:ext cx="19659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Referencia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5394960" y="1097280"/>
              <a:ext cx="28346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Lectura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0" name="Laboratorio C1a fila 1"/>
          <p:cNvGrpSpPr/>
          <p:nvPr/>
        </p:nvGrpSpPr>
        <p:grpSpPr>
          <a:xfrm>
            <a:off x="320040" y="1664208"/>
            <a:ext cx="7909560" cy="566928"/>
            <a:chOff x="320040" y="1664208"/>
            <a:chExt cx="7909560" cy="566928"/>
          </a:xfrm>
        </p:grpSpPr>
        <p:sp>
          <p:nvSpPr>
            <p:cNvPr id="11" name="Forma 10"/>
            <p:cNvSpPr/>
            <p:nvPr/>
          </p:nvSpPr>
          <p:spPr>
            <a:xfrm>
              <a:off x="320040" y="1664208"/>
              <a:ext cx="1600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1920240" y="1664208"/>
              <a:ext cx="1508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 g/dL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429000" y="1664208"/>
              <a:ext cx="1965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12–16 g/dL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5394960" y="1664208"/>
              <a:ext cx="28346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 → anemia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5" name="Laboratorio C1a fila 2"/>
          <p:cNvGrpSpPr/>
          <p:nvPr/>
        </p:nvGrpSpPr>
        <p:grpSpPr>
          <a:xfrm>
            <a:off x="320040" y="2231136"/>
            <a:ext cx="7909560" cy="566928"/>
            <a:chOff x="320040" y="2231136"/>
            <a:chExt cx="7909560" cy="566928"/>
          </a:xfrm>
        </p:grpSpPr>
        <p:sp>
          <p:nvSpPr>
            <p:cNvPr id="16" name="Forma 15"/>
            <p:cNvSpPr/>
            <p:nvPr/>
          </p:nvSpPr>
          <p:spPr>
            <a:xfrm>
              <a:off x="320040" y="2231136"/>
              <a:ext cx="1600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Hematocrito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1920240" y="2231136"/>
              <a:ext cx="15087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25 %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3429000" y="2231136"/>
              <a:ext cx="1965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36–47 %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5394960" y="2231136"/>
              <a:ext cx="28346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Bajo (8 × 3 = 24)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0" name="Laboratorio C1a fila 3"/>
          <p:cNvGrpSpPr/>
          <p:nvPr/>
        </p:nvGrpSpPr>
        <p:grpSpPr>
          <a:xfrm>
            <a:off x="320040" y="2798064"/>
            <a:ext cx="7909560" cy="566928"/>
            <a:chOff x="320040" y="2798064"/>
            <a:chExt cx="7909560" cy="566928"/>
          </a:xfrm>
        </p:grpSpPr>
        <p:sp>
          <p:nvSpPr>
            <p:cNvPr id="21" name="Forma 20"/>
            <p:cNvSpPr/>
            <p:nvPr/>
          </p:nvSpPr>
          <p:spPr>
            <a:xfrm>
              <a:off x="320040" y="2798064"/>
              <a:ext cx="1600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Eritrocitos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1920240" y="2798064"/>
              <a:ext cx="1508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2,6 × 10</a:t>
              </a:r>
              <a:r>
                <a:rPr lang="es-AR" sz="14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/L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3429000" y="2798064"/>
              <a:ext cx="1965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4,2–5,4 × 10</a:t>
              </a:r>
              <a:r>
                <a:rPr lang="es-AR" sz="14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/L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394960" y="2798064"/>
              <a:ext cx="28346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Disminuidos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5" name="Laboratorio C1a fila 4"/>
          <p:cNvGrpSpPr/>
          <p:nvPr/>
        </p:nvGrpSpPr>
        <p:grpSpPr>
          <a:xfrm>
            <a:off x="320040" y="3364992"/>
            <a:ext cx="7909560" cy="569976"/>
            <a:chOff x="320040" y="3364992"/>
            <a:chExt cx="7909560" cy="569976"/>
          </a:xfrm>
        </p:grpSpPr>
        <p:sp>
          <p:nvSpPr>
            <p:cNvPr id="26" name="Forma 25"/>
            <p:cNvSpPr/>
            <p:nvPr/>
          </p:nvSpPr>
          <p:spPr>
            <a:xfrm>
              <a:off x="320040" y="3364992"/>
              <a:ext cx="1600200" cy="56997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1920240" y="3364992"/>
              <a:ext cx="1508760" cy="56997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100 fL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3429000" y="3364992"/>
              <a:ext cx="1965960" cy="56997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80–100 fL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5394960" y="3364992"/>
              <a:ext cx="2834640" cy="56997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Límite superior: tendencia macrocítica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30" name="Laboratorio C1a fila 5"/>
          <p:cNvGrpSpPr/>
          <p:nvPr/>
        </p:nvGrpSpPr>
        <p:grpSpPr>
          <a:xfrm>
            <a:off x="320040" y="3934968"/>
            <a:ext cx="7909560" cy="566928"/>
            <a:chOff x="320040" y="3934968"/>
            <a:chExt cx="7909560" cy="566928"/>
          </a:xfrm>
        </p:grpSpPr>
        <p:sp>
          <p:nvSpPr>
            <p:cNvPr id="31" name="Forma 30"/>
            <p:cNvSpPr/>
            <p:nvPr/>
          </p:nvSpPr>
          <p:spPr>
            <a:xfrm>
              <a:off x="320040" y="3934968"/>
              <a:ext cx="1600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HCM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1920240" y="3934968"/>
              <a:ext cx="1508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3429000" y="3934968"/>
              <a:ext cx="1965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27–32 pg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5394960" y="3934968"/>
              <a:ext cx="28346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Normocrómico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35" name="Laboratorio C1a fila 6"/>
          <p:cNvGrpSpPr/>
          <p:nvPr/>
        </p:nvGrpSpPr>
        <p:grpSpPr>
          <a:xfrm>
            <a:off x="320040" y="4501896"/>
            <a:ext cx="7909560" cy="566928"/>
            <a:chOff x="320040" y="4501896"/>
            <a:chExt cx="7909560" cy="566928"/>
          </a:xfrm>
        </p:grpSpPr>
        <p:sp>
          <p:nvSpPr>
            <p:cNvPr id="36" name="Forma 35"/>
            <p:cNvSpPr/>
            <p:nvPr/>
          </p:nvSpPr>
          <p:spPr>
            <a:xfrm>
              <a:off x="320040" y="4501896"/>
              <a:ext cx="1600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CHCM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1920240" y="4501896"/>
              <a:ext cx="15087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3429000" y="4501896"/>
              <a:ext cx="1965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32–36 g/dL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5394960" y="4501896"/>
              <a:ext cx="28346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Normal: descarta esferocitosis</a:t>
              </a:r>
              <a:endParaRPr lang="es-AR" sz="1450" dirty="0">
                <a:latin typeface="Calibri"/>
              </a:endParaRPr>
            </a:p>
          </p:txBody>
        </p:sp>
      </p:grpSp>
      <p:sp>
        <p:nvSpPr>
          <p:cNvPr id="40" name="Lectura C1a"/>
          <p:cNvSpPr/>
          <p:nvPr/>
        </p:nvSpPr>
        <p:spPr>
          <a:xfrm>
            <a:off x="8549640" y="109728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Primera lectura: hay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anemia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el tamaño eritrocitario está en el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límite superior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41" name="GR caso 1"/>
          <p:cNvSpPr/>
          <p:nvPr/>
        </p:nvSpPr>
        <p:spPr>
          <a:xfrm>
            <a:off x="9326880" y="4206240"/>
            <a:ext cx="1828800" cy="182880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1: HEMOGRAMA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4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</p:bld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Laboratorio C1b fila 0"/>
          <p:cNvGrpSpPr/>
          <p:nvPr/>
        </p:nvGrpSpPr>
        <p:grpSpPr>
          <a:xfrm>
            <a:off x="320040" y="1097280"/>
            <a:ext cx="7909560" cy="566928"/>
            <a:chOff x="320040" y="1097280"/>
            <a:chExt cx="7909560" cy="566928"/>
          </a:xfrm>
        </p:grpSpPr>
        <p:sp>
          <p:nvSpPr>
            <p:cNvPr id="6" name="Forma 5"/>
            <p:cNvSpPr/>
            <p:nvPr/>
          </p:nvSpPr>
          <p:spPr>
            <a:xfrm>
              <a:off x="320040" y="1097280"/>
              <a:ext cx="16916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Parámetro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011680" y="1097280"/>
              <a:ext cx="14630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Paciente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474720" y="1097280"/>
              <a:ext cx="21488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Referencia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5623560" y="1097280"/>
              <a:ext cx="26060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Lectura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0" name="Laboratorio C1b fila 1"/>
          <p:cNvGrpSpPr/>
          <p:nvPr/>
        </p:nvGrpSpPr>
        <p:grpSpPr>
          <a:xfrm>
            <a:off x="320040" y="1664208"/>
            <a:ext cx="7909560" cy="566928"/>
            <a:chOff x="320040" y="1664208"/>
            <a:chExt cx="7909560" cy="566928"/>
          </a:xfrm>
        </p:grpSpPr>
        <p:sp>
          <p:nvSpPr>
            <p:cNvPr id="11" name="Forma 10"/>
            <p:cNvSpPr/>
            <p:nvPr/>
          </p:nvSpPr>
          <p:spPr>
            <a:xfrm>
              <a:off x="320040" y="1664208"/>
              <a:ext cx="16916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Leucocitos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2011680" y="1664208"/>
              <a:ext cx="1463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3.000/mm</a:t>
              </a:r>
              <a:r>
                <a:rPr lang="es-AR" sz="14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474720" y="1664208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4.500–11.000/mm</a:t>
              </a:r>
              <a:r>
                <a:rPr lang="es-AR" sz="14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5623560" y="1664208"/>
              <a:ext cx="2606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Leucopenia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5" name="Laboratorio C1b fila 2"/>
          <p:cNvGrpSpPr/>
          <p:nvPr/>
        </p:nvGrpSpPr>
        <p:grpSpPr>
          <a:xfrm>
            <a:off x="320040" y="2231136"/>
            <a:ext cx="7909560" cy="566928"/>
            <a:chOff x="320040" y="2231136"/>
            <a:chExt cx="7909560" cy="566928"/>
          </a:xfrm>
        </p:grpSpPr>
        <p:sp>
          <p:nvSpPr>
            <p:cNvPr id="16" name="Forma 15"/>
            <p:cNvSpPr/>
            <p:nvPr/>
          </p:nvSpPr>
          <p:spPr>
            <a:xfrm>
              <a:off x="320040" y="2231136"/>
              <a:ext cx="16916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Plaquetas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2011680" y="2231136"/>
              <a:ext cx="1463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80.000/mm</a:t>
              </a:r>
              <a:r>
                <a:rPr lang="es-AR" sz="14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3474720" y="2231136"/>
              <a:ext cx="2148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150.000–400.000/mm</a:t>
              </a:r>
              <a:r>
                <a:rPr lang="es-AR" sz="14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5623560" y="2231136"/>
              <a:ext cx="2606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Trombocitopenia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0" name="Laboratorio C1b fila 3"/>
          <p:cNvGrpSpPr/>
          <p:nvPr/>
        </p:nvGrpSpPr>
        <p:grpSpPr>
          <a:xfrm>
            <a:off x="320040" y="2798064"/>
            <a:ext cx="7909560" cy="566928"/>
            <a:chOff x="320040" y="2798064"/>
            <a:chExt cx="7909560" cy="566928"/>
          </a:xfrm>
        </p:grpSpPr>
        <p:sp>
          <p:nvSpPr>
            <p:cNvPr id="21" name="Forma 20"/>
            <p:cNvSpPr/>
            <p:nvPr/>
          </p:nvSpPr>
          <p:spPr>
            <a:xfrm>
              <a:off x="320040" y="2798064"/>
              <a:ext cx="16916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2011680" y="2798064"/>
              <a:ext cx="1463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8 %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3474720" y="2798064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0,5–2 %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623560" y="2798064"/>
              <a:ext cx="2606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Ver nota de rigor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5" name="Laboratorio C1b fila 4"/>
          <p:cNvGrpSpPr/>
          <p:nvPr/>
        </p:nvGrpSpPr>
        <p:grpSpPr>
          <a:xfrm>
            <a:off x="320040" y="3364992"/>
            <a:ext cx="7909560" cy="566928"/>
            <a:chOff x="320040" y="3364992"/>
            <a:chExt cx="7909560" cy="566928"/>
          </a:xfrm>
        </p:grpSpPr>
        <p:sp>
          <p:nvSpPr>
            <p:cNvPr id="26" name="Forma 25"/>
            <p:cNvSpPr/>
            <p:nvPr/>
          </p:nvSpPr>
          <p:spPr>
            <a:xfrm>
              <a:off x="320040" y="3364992"/>
              <a:ext cx="16916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2011680" y="3364992"/>
              <a:ext cx="1463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3474720" y="3364992"/>
              <a:ext cx="2148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100–190 U/L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5623560" y="3364992"/>
              <a:ext cx="2606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Destrucción celular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0" name="Laboratorio C1b fila 5"/>
          <p:cNvGrpSpPr/>
          <p:nvPr/>
        </p:nvGrpSpPr>
        <p:grpSpPr>
          <a:xfrm>
            <a:off x="320040" y="3931920"/>
            <a:ext cx="7909560" cy="566928"/>
            <a:chOff x="320040" y="3931920"/>
            <a:chExt cx="7909560" cy="566928"/>
          </a:xfrm>
        </p:grpSpPr>
        <p:sp>
          <p:nvSpPr>
            <p:cNvPr id="31" name="Forma 30"/>
            <p:cNvSpPr/>
            <p:nvPr/>
          </p:nvSpPr>
          <p:spPr>
            <a:xfrm>
              <a:off x="320040" y="3931920"/>
              <a:ext cx="16916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total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2011680" y="3931920"/>
              <a:ext cx="1463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3474720" y="3931920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 mg/dL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5623560" y="3931920"/>
              <a:ext cx="2606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catabolismo del hemo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5" name="Laboratorio C1b fila 6"/>
          <p:cNvGrpSpPr/>
          <p:nvPr/>
        </p:nvGrpSpPr>
        <p:grpSpPr>
          <a:xfrm>
            <a:off x="320040" y="4498848"/>
            <a:ext cx="7909560" cy="566928"/>
            <a:chOff x="320040" y="4498848"/>
            <a:chExt cx="7909560" cy="566928"/>
          </a:xfrm>
        </p:grpSpPr>
        <p:sp>
          <p:nvSpPr>
            <p:cNvPr id="36" name="Forma 35"/>
            <p:cNvSpPr/>
            <p:nvPr/>
          </p:nvSpPr>
          <p:spPr>
            <a:xfrm>
              <a:off x="320040" y="4498848"/>
              <a:ext cx="16916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directa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2011680" y="4498848"/>
              <a:ext cx="1463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3474720" y="4498848"/>
              <a:ext cx="2148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0,2 mg/dL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5623560" y="4498848"/>
              <a:ext cx="2606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Problema prehepático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0" name="Laboratorio C1b fila 7"/>
          <p:cNvGrpSpPr/>
          <p:nvPr/>
        </p:nvGrpSpPr>
        <p:grpSpPr>
          <a:xfrm>
            <a:off x="320040" y="5065776"/>
            <a:ext cx="7909560" cy="566928"/>
            <a:chOff x="320040" y="5065776"/>
            <a:chExt cx="7909560" cy="566928"/>
          </a:xfrm>
        </p:grpSpPr>
        <p:sp>
          <p:nvSpPr>
            <p:cNvPr id="41" name="Forma 40"/>
            <p:cNvSpPr/>
            <p:nvPr/>
          </p:nvSpPr>
          <p:spPr>
            <a:xfrm>
              <a:off x="320040" y="5065776"/>
              <a:ext cx="16916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Coombs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2" name="Forma 41"/>
            <p:cNvSpPr/>
            <p:nvPr/>
          </p:nvSpPr>
          <p:spPr>
            <a:xfrm>
              <a:off x="2011680" y="5065776"/>
              <a:ext cx="1463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Negativa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3474720" y="5065776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Negativa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5623560" y="5065776"/>
              <a:ext cx="2606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autoinmune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5" name="Rigor reticulocitos caso 1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46" name="Forma 45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el material el valor de reticulocitos figura como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8 %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se lo interpreta como «normal (arregenerativa)». Con el intervalo 0,5–2 %,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8 % está elevado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dato es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inconsistente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con el resto del cuadro. La conclusión arregenerativa se apoya en el mecanismo (síntesis de ADN, pancitopenia) y requiere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verificar el recuento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1: OTRAS LÍNEAS Y MARCADORES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4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5" name="Integración C1 1"/>
          <p:cNvSpPr/>
          <p:nvPr/>
        </p:nvSpPr>
        <p:spPr>
          <a:xfrm>
            <a:off x="365760" y="1097280"/>
            <a:ext cx="5623560" cy="1207008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Morfología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Macrocítica (VCM en el límite superior) normocrómica.</a:t>
            </a:r>
            <a:endParaRPr lang="es-AR" sz="1950" dirty="0">
              <a:latin typeface="Calibri"/>
            </a:endParaRPr>
          </a:p>
        </p:txBody>
      </p:sp>
      <p:sp>
        <p:nvSpPr>
          <p:cNvPr id="6" name="Integración C1 2"/>
          <p:cNvSpPr/>
          <p:nvPr/>
        </p:nvSpPr>
        <p:spPr>
          <a:xfrm>
            <a:off x="6172200" y="1097280"/>
            <a:ext cx="5623560" cy="1207008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Etiopatogenia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Arregenerativa según el material: la médula no responde.</a:t>
            </a:r>
            <a:endParaRPr lang="es-AR" sz="1950" dirty="0">
              <a:latin typeface="Calibri"/>
            </a:endParaRPr>
          </a:p>
        </p:txBody>
      </p:sp>
      <p:sp>
        <p:nvSpPr>
          <p:cNvPr id="7" name="Integración C1 3"/>
          <p:cNvSpPr/>
          <p:nvPr/>
        </p:nvSpPr>
        <p:spPr>
          <a:xfrm>
            <a:off x="365760" y="2441448"/>
            <a:ext cx="5623560" cy="1207008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Pancitopenia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Tres linajes afectados → problema de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síntesis de ADN → megaloblástica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8" name="Integración C1 4"/>
          <p:cNvSpPr/>
          <p:nvPr/>
        </p:nvSpPr>
        <p:spPr>
          <a:xfrm>
            <a:off x="6172200" y="2441448"/>
            <a:ext cx="5623560" cy="1207008"/>
          </a:xfrm>
          <a:prstGeom prst="roundRect">
            <a:avLst>
              <a:gd name="adj" fmla="val 9000"/>
            </a:avLst>
          </a:prstGeom>
          <a:solidFill>
            <a:srgbClr val="DADA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 y bilirrubina ↑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Destrucción celular: eritropoyesis ineficaz + hemólisis de células defectuosas.</a:t>
            </a:r>
            <a:endParaRPr lang="es-AR" sz="1950" dirty="0">
              <a:latin typeface="Calibri"/>
            </a:endParaRPr>
          </a:p>
        </p:txBody>
      </p:sp>
      <p:sp>
        <p:nvSpPr>
          <p:cNvPr id="9" name="Integración C1 5"/>
          <p:cNvSpPr/>
          <p:nvPr/>
        </p:nvSpPr>
        <p:spPr>
          <a:xfrm>
            <a:off x="365760" y="3785616"/>
            <a:ext cx="5623560" cy="1207008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Bilirrubina directa normal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El hígado funciona: la hemólisis es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prehepática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10" name="Integración C1 6"/>
          <p:cNvSpPr/>
          <p:nvPr/>
        </p:nvSpPr>
        <p:spPr>
          <a:xfrm>
            <a:off x="6172200" y="3785616"/>
            <a:ext cx="5623560" cy="1207008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Coombs negativa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Descarta origen autoinmune.</a:t>
            </a:r>
            <a:endParaRPr lang="es-AR" sz="1950" dirty="0">
              <a:latin typeface="Calibri"/>
            </a:endParaRPr>
          </a:p>
        </p:txBody>
      </p:sp>
      <p:sp>
        <p:nvSpPr>
          <p:cNvPr id="11" name="Integración C1 7"/>
          <p:cNvSpPr/>
          <p:nvPr/>
        </p:nvSpPr>
        <p:spPr>
          <a:xfrm>
            <a:off x="365760" y="5129784"/>
            <a:ext cx="5623560" cy="1207008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Dieta normal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Descarta déficit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nutricional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B</a:t>
            </a:r>
            <a:r>
              <a:rPr lang="es-AR" sz="195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o ácido fólico.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1: INTEGRACIÓN DEL RAZONAMIENTO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grpSp>
        <p:nvGrpSpPr>
          <p:cNvPr id="5" name="Estómago C1"/>
          <p:cNvGrpSpPr/>
          <p:nvPr/>
        </p:nvGrpSpPr>
        <p:grpSpPr>
          <a:xfrm>
            <a:off x="548640" y="1188720"/>
            <a:ext cx="2377440" cy="2615184"/>
            <a:chOff x="548640" y="1188720"/>
            <a:chExt cx="2377440" cy="2615184"/>
          </a:xfrm>
        </p:grpSpPr>
        <p:sp>
          <p:nvSpPr>
            <p:cNvPr id="6" name="Forma 5"/>
            <p:cNvSpPr/>
            <p:nvPr/>
          </p:nvSpPr>
          <p:spPr>
            <a:xfrm>
              <a:off x="548640" y="1188720"/>
              <a:ext cx="2377440" cy="261518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50" y="40"/>
                  </a:moveTo>
                  <a:cubicBezTo>
                    <a:pt x="280" y="6"/>
                    <a:pt x="375" y="33"/>
                    <a:pt x="420" y="60"/>
                  </a:cubicBezTo>
                  <a:cubicBezTo>
                    <a:pt x="465" y="86"/>
                    <a:pt x="473" y="166"/>
                    <a:pt x="520" y="200"/>
                  </a:cubicBezTo>
                  <a:cubicBezTo>
                    <a:pt x="566" y="233"/>
                    <a:pt x="636" y="223"/>
                    <a:pt x="700" y="260"/>
                  </a:cubicBezTo>
                  <a:cubicBezTo>
                    <a:pt x="763" y="296"/>
                    <a:pt x="866" y="355"/>
                    <a:pt x="900" y="420"/>
                  </a:cubicBezTo>
                  <a:cubicBezTo>
                    <a:pt x="933" y="485"/>
                    <a:pt x="930" y="578"/>
                    <a:pt x="900" y="650"/>
                  </a:cubicBezTo>
                  <a:cubicBezTo>
                    <a:pt x="870" y="721"/>
                    <a:pt x="790" y="803"/>
                    <a:pt x="720" y="850"/>
                  </a:cubicBezTo>
                  <a:cubicBezTo>
                    <a:pt x="650" y="896"/>
                    <a:pt x="550" y="921"/>
                    <a:pt x="480" y="930"/>
                  </a:cubicBezTo>
                  <a:cubicBezTo>
                    <a:pt x="410" y="938"/>
                    <a:pt x="310" y="928"/>
                    <a:pt x="300" y="900"/>
                  </a:cubicBezTo>
                  <a:cubicBezTo>
                    <a:pt x="290" y="871"/>
                    <a:pt x="376" y="803"/>
                    <a:pt x="420" y="760"/>
                  </a:cubicBezTo>
                  <a:cubicBezTo>
                    <a:pt x="463" y="716"/>
                    <a:pt x="536" y="686"/>
                    <a:pt x="560" y="640"/>
                  </a:cubicBezTo>
                  <a:cubicBezTo>
                    <a:pt x="583" y="593"/>
                    <a:pt x="590" y="520"/>
                    <a:pt x="560" y="480"/>
                  </a:cubicBezTo>
                  <a:cubicBezTo>
                    <a:pt x="530" y="440"/>
                    <a:pt x="433" y="436"/>
                    <a:pt x="380" y="400"/>
                  </a:cubicBezTo>
                  <a:cubicBezTo>
                    <a:pt x="326" y="363"/>
                    <a:pt x="261" y="320"/>
                    <a:pt x="240" y="260"/>
                  </a:cubicBezTo>
                  <a:cubicBezTo>
                    <a:pt x="218" y="200"/>
                    <a:pt x="220" y="73"/>
                    <a:pt x="250" y="4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BEB8"/>
                </a:gs>
                <a:gs pos="55000">
                  <a:srgbClr val="F1948A"/>
                </a:gs>
                <a:gs pos="100000">
                  <a:srgbClr val="B46F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C42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</p:grpSp>
      <p:sp>
        <p:nvSpPr>
          <p:cNvPr id="7" name="Parietal C1"/>
          <p:cNvSpPr/>
          <p:nvPr/>
        </p:nvSpPr>
        <p:spPr>
          <a:xfrm>
            <a:off x="2103120" y="1371600"/>
            <a:ext cx="822960" cy="64008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D7DBDD"/>
              </a:gs>
              <a:gs pos="55000">
                <a:srgbClr val="BDC3C7"/>
              </a:gs>
              <a:gs pos="100000">
                <a:srgbClr val="8D9295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D6D7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parietal</a:t>
            </a:r>
            <a:endParaRPr lang="es-AR" sz="1050" dirty="0">
              <a:latin typeface="Calibri"/>
            </a:endParaRPr>
          </a:p>
        </p:txBody>
      </p:sp>
      <p:sp>
        <p:nvSpPr>
          <p:cNvPr id="8" name="Sin FI C1"/>
          <p:cNvSpPr txBox="1"/>
          <p:nvPr/>
        </p:nvSpPr>
        <p:spPr>
          <a:xfrm>
            <a:off x="2194560" y="1188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s-AR" sz="3000" dirty="0">
              <a:latin typeface="Calibri"/>
            </a:endParaRPr>
          </a:p>
        </p:txBody>
      </p:sp>
      <p:grpSp>
        <p:nvGrpSpPr>
          <p:cNvPr id="9" name="Conclusión"/>
          <p:cNvGrpSpPr/>
          <p:nvPr/>
        </p:nvGrpSpPr>
        <p:grpSpPr>
          <a:xfrm>
            <a:off x="3383280" y="1097280"/>
            <a:ext cx="4846320" cy="2926080"/>
            <a:chOff x="3383280" y="1097280"/>
            <a:chExt cx="4846320" cy="2926080"/>
          </a:xfrm>
        </p:grpSpPr>
        <p:sp>
          <p:nvSpPr>
            <p:cNvPr id="10" name="Forma 9"/>
            <p:cNvSpPr/>
            <p:nvPr/>
          </p:nvSpPr>
          <p:spPr>
            <a:xfrm>
              <a:off x="3383280" y="1298448"/>
              <a:ext cx="4846320" cy="2724912"/>
            </a:xfrm>
            <a:prstGeom prst="roundRect">
              <a:avLst>
                <a:gd name="adj" fmla="val 9000"/>
              </a:avLst>
            </a:prstGeom>
            <a:solidFill>
              <a:srgbClr val="4E7A3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ANEMIA PERNICIOSA</a:t>
              </a: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: déficit de </a:t>
              </a:r>
              <a:r>
                <a:rPr lang="es-AR" sz="2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factor intrínseco</a:t>
              </a: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(no de B</a:t>
              </a:r>
              <a:r>
                <a:rPr lang="es-AR" sz="2050" baseline="-25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en la dieta). La paciente come bien, pero la B</a:t>
              </a:r>
              <a:r>
                <a:rPr lang="es-AR" sz="2050" baseline="-25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no se absorbe → mismo cuadro que el déficit de B</a:t>
              </a:r>
              <a:r>
                <a:rPr lang="es-AR" sz="2050" baseline="-250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20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3511296" y="1097280"/>
              <a:ext cx="1902428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DIAGNÓSTICO FINAL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2" name="Confirmación C1"/>
          <p:cNvSpPr/>
          <p:nvPr/>
        </p:nvSpPr>
        <p:spPr>
          <a:xfrm>
            <a:off x="457200" y="4251960"/>
            <a:ext cx="7772400" cy="2194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Confirmación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propuesta en el material: test de Schilling (B</a:t>
            </a:r>
            <a:r>
              <a:rPr lang="es-AR" sz="200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radiactiva + FI).</a:t>
            </a:r>
            <a:endParaRPr lang="es-AR" sz="2000" dirty="0">
              <a:latin typeface="Calibri"/>
            </a:endParaRPr>
          </a:p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Tratamiento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B</a:t>
            </a:r>
            <a:r>
              <a:rPr lang="es-AR" sz="2000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intramuscular, que saltea la absorción intestinal.</a:t>
            </a:r>
            <a:endParaRPr lang="es-AR" sz="2000" dirty="0">
              <a:latin typeface="Calibri"/>
            </a:endParaRPr>
          </a:p>
        </p:txBody>
      </p:sp>
      <p:grpSp>
        <p:nvGrpSpPr>
          <p:cNvPr id="13" name="Rigor C1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14" name="Forma 13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antecedente de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hipotiroidismo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(enfermedad autoinmune frecuente) es coherente con una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gastritis atrófica autoinmune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El Schilling está en desuso; la conducta habitual es la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s-AR" sz="175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parenteral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1: CONCLUSIÓN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</p:bld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!!Paciente"/>
          <p:cNvGrpSpPr/>
          <p:nvPr/>
        </p:nvGrpSpPr>
        <p:grpSpPr>
          <a:xfrm>
            <a:off x="365760" y="1097280"/>
            <a:ext cx="7680960" cy="1417320"/>
            <a:chOff x="365760" y="1097280"/>
            <a:chExt cx="7680960" cy="141732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7680960" cy="14173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grpSp>
          <p:nvGrpSpPr>
            <p:cNvPr id="7" name="Silueta"/>
            <p:cNvGrpSpPr/>
            <p:nvPr/>
          </p:nvGrpSpPr>
          <p:grpSpPr>
            <a:xfrm>
              <a:off x="502920" y="1207008"/>
              <a:ext cx="950976" cy="1188720"/>
              <a:chOff x="502920" y="1207008"/>
              <a:chExt cx="950976" cy="118872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788213" y="1207008"/>
                <a:ext cx="380390" cy="380390"/>
              </a:xfrm>
              <a:prstGeom prst="ellipse">
                <a:avLst/>
              </a:pr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  <p:sp>
            <p:nvSpPr>
              <p:cNvPr id="9" name="Forma 8"/>
              <p:cNvSpPr/>
              <p:nvPr/>
            </p:nvSpPr>
            <p:spPr>
              <a:xfrm>
                <a:off x="502920" y="1606418"/>
                <a:ext cx="950976" cy="78931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0" y="1000"/>
                    </a:moveTo>
                    <a:cubicBezTo>
                      <a:pt x="60" y="908"/>
                      <a:pt x="36" y="596"/>
                      <a:pt x="60" y="450"/>
                    </a:cubicBezTo>
                    <a:cubicBezTo>
                      <a:pt x="83" y="303"/>
                      <a:pt x="126" y="188"/>
                      <a:pt x="200" y="120"/>
                    </a:cubicBezTo>
                    <a:cubicBezTo>
                      <a:pt x="273" y="51"/>
                      <a:pt x="400" y="40"/>
                      <a:pt x="500" y="40"/>
                    </a:cubicBezTo>
                    <a:cubicBezTo>
                      <a:pt x="600" y="40"/>
                      <a:pt x="726" y="51"/>
                      <a:pt x="800" y="120"/>
                    </a:cubicBezTo>
                    <a:cubicBezTo>
                      <a:pt x="873" y="188"/>
                      <a:pt x="916" y="303"/>
                      <a:pt x="940" y="450"/>
                    </a:cubicBezTo>
                    <a:cubicBezTo>
                      <a:pt x="963" y="596"/>
                      <a:pt x="940" y="908"/>
                      <a:pt x="940" y="1000"/>
                    </a:cubicBezTo>
                  </a:path>
                </a:pathLst>
              </a:cu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</p:grpSp>
        <p:sp>
          <p:nvSpPr>
            <p:cNvPr id="10" name="Edad y sexo"/>
            <p:cNvSpPr txBox="1"/>
            <p:nvPr/>
          </p:nvSpPr>
          <p:spPr>
            <a:xfrm>
              <a:off x="1600200" y="123444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Mujer de 45 años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1" name="Motivo"/>
            <p:cNvSpPr txBox="1"/>
            <p:nvPr/>
          </p:nvSpPr>
          <p:spPr>
            <a:xfrm>
              <a:off x="1600200" y="1691640"/>
              <a:ext cx="63093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Adinamia severa en las últimas 24 h, palidez, palpitaciones y disnea.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12" name="Antecedente C2"/>
          <p:cNvSpPr/>
          <p:nvPr/>
        </p:nvSpPr>
        <p:spPr>
          <a:xfrm>
            <a:off x="365760" y="2743200"/>
            <a:ext cx="768096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Antecedente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4 abortos espontáneos (dato relevante: posible patología autoinmune subyacente).</a:t>
            </a:r>
            <a:endParaRPr lang="es-AR" sz="2050" dirty="0">
              <a:latin typeface="Calibri"/>
            </a:endParaRPr>
          </a:p>
        </p:txBody>
      </p:sp>
      <p:sp>
        <p:nvSpPr>
          <p:cNvPr id="13" name="Pregunta C2"/>
          <p:cNvSpPr/>
          <p:nvPr/>
        </p:nvSpPr>
        <p:spPr>
          <a:xfrm>
            <a:off x="365760" y="4343400"/>
            <a:ext cx="7680960" cy="21031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Instalación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aguda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síntomas intensos: ¿pérdida, destrucción o falla de producción?</a:t>
            </a:r>
            <a:endParaRPr lang="es-AR" sz="2200" dirty="0">
              <a:latin typeface="Calibri"/>
            </a:endParaRPr>
          </a:p>
        </p:txBody>
      </p:sp>
      <p:grpSp>
        <p:nvGrpSpPr>
          <p:cNvPr id="14" name="Silueta C2"/>
          <p:cNvGrpSpPr/>
          <p:nvPr/>
        </p:nvGrpSpPr>
        <p:grpSpPr>
          <a:xfrm>
            <a:off x="9235440" y="1005840"/>
            <a:ext cx="2697480" cy="5394960"/>
            <a:chOff x="9235440" y="1005840"/>
            <a:chExt cx="2697480" cy="5394960"/>
          </a:xfrm>
        </p:grpSpPr>
        <p:sp>
          <p:nvSpPr>
            <p:cNvPr id="15" name="Forma 14"/>
            <p:cNvSpPr/>
            <p:nvPr/>
          </p:nvSpPr>
          <p:spPr>
            <a:xfrm>
              <a:off x="92354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CE4A8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92354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CE4A8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2: PRESENTACIÓN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169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5" name="Signos vitales TA"/>
          <p:cNvGrpSpPr/>
          <p:nvPr/>
        </p:nvGrpSpPr>
        <p:grpSpPr>
          <a:xfrm>
            <a:off x="365760" y="1188720"/>
            <a:ext cx="2148840" cy="1005840"/>
            <a:chOff x="365760" y="1188720"/>
            <a:chExt cx="2148840" cy="1005840"/>
          </a:xfrm>
        </p:grpSpPr>
        <p:sp>
          <p:nvSpPr>
            <p:cNvPr id="6" name="Forma 5"/>
            <p:cNvSpPr/>
            <p:nvPr/>
          </p:nvSpPr>
          <p:spPr>
            <a:xfrm>
              <a:off x="365760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7" name="Forma 6"/>
            <p:cNvSpPr txBox="1"/>
            <p:nvPr/>
          </p:nvSpPr>
          <p:spPr>
            <a:xfrm>
              <a:off x="365760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TA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 txBox="1"/>
            <p:nvPr/>
          </p:nvSpPr>
          <p:spPr>
            <a:xfrm>
              <a:off x="365760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95/60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9" name="Signos vitales FC"/>
          <p:cNvGrpSpPr/>
          <p:nvPr/>
        </p:nvGrpSpPr>
        <p:grpSpPr>
          <a:xfrm>
            <a:off x="2670048" y="1188720"/>
            <a:ext cx="2148840" cy="1005840"/>
            <a:chOff x="2670048" y="1188720"/>
            <a:chExt cx="2148840" cy="1005840"/>
          </a:xfrm>
        </p:grpSpPr>
        <p:sp>
          <p:nvSpPr>
            <p:cNvPr id="10" name="Forma 9"/>
            <p:cNvSpPr/>
            <p:nvPr/>
          </p:nvSpPr>
          <p:spPr>
            <a:xfrm>
              <a:off x="2670048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11" name="Forma 10"/>
            <p:cNvSpPr txBox="1"/>
            <p:nvPr/>
          </p:nvSpPr>
          <p:spPr>
            <a:xfrm>
              <a:off x="2670048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FC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2" name="Forma 11"/>
            <p:cNvSpPr txBox="1"/>
            <p:nvPr/>
          </p:nvSpPr>
          <p:spPr>
            <a:xfrm>
              <a:off x="2670048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125 lpm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3" name="Signos vitales Temp."/>
          <p:cNvGrpSpPr/>
          <p:nvPr/>
        </p:nvGrpSpPr>
        <p:grpSpPr>
          <a:xfrm>
            <a:off x="4974336" y="1188720"/>
            <a:ext cx="2148840" cy="1005840"/>
            <a:chOff x="4974336" y="1188720"/>
            <a:chExt cx="2148840" cy="1005840"/>
          </a:xfrm>
        </p:grpSpPr>
        <p:sp>
          <p:nvSpPr>
            <p:cNvPr id="14" name="Forma 13"/>
            <p:cNvSpPr/>
            <p:nvPr/>
          </p:nvSpPr>
          <p:spPr>
            <a:xfrm>
              <a:off x="4974336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EAF5EA"/>
            </a:solidFill>
            <a:ln w="22225" cap="rnd">
              <a:solidFill>
                <a:srgbClr val="4E7A30"/>
              </a:solidFill>
              <a:round/>
            </a:ln>
          </p:spPr>
        </p:sp>
        <p:sp>
          <p:nvSpPr>
            <p:cNvPr id="15" name="Forma 14"/>
            <p:cNvSpPr txBox="1"/>
            <p:nvPr/>
          </p:nvSpPr>
          <p:spPr>
            <a:xfrm>
              <a:off x="4974336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Temp.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6" name="Forma 15"/>
            <p:cNvSpPr txBox="1"/>
            <p:nvPr/>
          </p:nvSpPr>
          <p:spPr>
            <a:xfrm>
              <a:off x="4974336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7" name="Signos vitales FR"/>
          <p:cNvGrpSpPr/>
          <p:nvPr/>
        </p:nvGrpSpPr>
        <p:grpSpPr>
          <a:xfrm>
            <a:off x="7278624" y="1188720"/>
            <a:ext cx="2148840" cy="1005840"/>
            <a:chOff x="7278624" y="1188720"/>
            <a:chExt cx="2148840" cy="1005840"/>
          </a:xfrm>
        </p:grpSpPr>
        <p:sp>
          <p:nvSpPr>
            <p:cNvPr id="18" name="Forma 17"/>
            <p:cNvSpPr/>
            <p:nvPr/>
          </p:nvSpPr>
          <p:spPr>
            <a:xfrm>
              <a:off x="7278624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19" name="Forma 18"/>
            <p:cNvSpPr txBox="1"/>
            <p:nvPr/>
          </p:nvSpPr>
          <p:spPr>
            <a:xfrm>
              <a:off x="7278624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FR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0" name="Forma 19"/>
            <p:cNvSpPr txBox="1"/>
            <p:nvPr/>
          </p:nvSpPr>
          <p:spPr>
            <a:xfrm>
              <a:off x="7278624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28 rpm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1" name="Signos vitales SatO2"/>
          <p:cNvGrpSpPr/>
          <p:nvPr/>
        </p:nvGrpSpPr>
        <p:grpSpPr>
          <a:xfrm>
            <a:off x="9582912" y="1188720"/>
            <a:ext cx="2148840" cy="1005840"/>
            <a:chOff x="9582912" y="1188720"/>
            <a:chExt cx="2148840" cy="1005840"/>
          </a:xfrm>
        </p:grpSpPr>
        <p:sp>
          <p:nvSpPr>
            <p:cNvPr id="22" name="Forma 21"/>
            <p:cNvSpPr/>
            <p:nvPr/>
          </p:nvSpPr>
          <p:spPr>
            <a:xfrm>
              <a:off x="9582912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23" name="Forma 22"/>
            <p:cNvSpPr txBox="1"/>
            <p:nvPr/>
          </p:nvSpPr>
          <p:spPr>
            <a:xfrm>
              <a:off x="9582912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SatO</a:t>
              </a:r>
              <a:r>
                <a:rPr lang="es-AR" sz="1200" b="1" baseline="-25000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4" name="Forma 23"/>
            <p:cNvSpPr txBox="1"/>
            <p:nvPr/>
          </p:nvSpPr>
          <p:spPr>
            <a:xfrm>
              <a:off x="9582912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90 %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25" name="Examen C2"/>
          <p:cNvSpPr/>
          <p:nvPr/>
        </p:nvSpPr>
        <p:spPr>
          <a:xfrm>
            <a:off x="365760" y="2514600"/>
            <a:ext cx="5577840" cy="14630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Examen físico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ictericia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(piel y mucosas amarillas) +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esplenomegalia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200" dirty="0">
              <a:latin typeface="Calibri"/>
            </a:endParaRPr>
          </a:p>
        </p:txBody>
      </p:sp>
      <p:sp>
        <p:nvSpPr>
          <p:cNvPr id="26" name="Lectura signos C2"/>
          <p:cNvSpPr/>
          <p:nvPr/>
        </p:nvSpPr>
        <p:spPr>
          <a:xfrm>
            <a:off x="6126480" y="2514600"/>
            <a:ext cx="5806440" cy="14630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Hipotensión, taquicardia importante, taquipnea y desaturación significativa: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descompensación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grpSp>
        <p:nvGrpSpPr>
          <p:cNvPr id="27" name="Paciente ictericia"/>
          <p:cNvGrpSpPr/>
          <p:nvPr/>
        </p:nvGrpSpPr>
        <p:grpSpPr>
          <a:xfrm>
            <a:off x="548640" y="4206240"/>
            <a:ext cx="1143000" cy="2286000"/>
            <a:chOff x="548640" y="4206240"/>
            <a:chExt cx="1143000" cy="2286000"/>
          </a:xfrm>
        </p:grpSpPr>
        <p:sp>
          <p:nvSpPr>
            <p:cNvPr id="28" name="Forma 27"/>
            <p:cNvSpPr/>
            <p:nvPr/>
          </p:nvSpPr>
          <p:spPr>
            <a:xfrm>
              <a:off x="548640" y="4206240"/>
              <a:ext cx="1143000" cy="228600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7DC6F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>
              <a:off x="548640" y="4206240"/>
              <a:ext cx="1143000" cy="228600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7DC6F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30" name="Bazo aumentado"/>
          <p:cNvSpPr/>
          <p:nvPr/>
        </p:nvSpPr>
        <p:spPr>
          <a:xfrm>
            <a:off x="3108960" y="4480560"/>
            <a:ext cx="1463040" cy="1005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00" y="300"/>
                </a:moveTo>
                <a:cubicBezTo>
                  <a:pt x="175" y="191"/>
                  <a:pt x="358" y="58"/>
                  <a:pt x="500" y="50"/>
                </a:cubicBezTo>
                <a:cubicBezTo>
                  <a:pt x="641" y="41"/>
                  <a:pt x="883" y="133"/>
                  <a:pt x="950" y="250"/>
                </a:cubicBezTo>
                <a:cubicBezTo>
                  <a:pt x="1016" y="366"/>
                  <a:pt x="991" y="633"/>
                  <a:pt x="900" y="750"/>
                </a:cubicBezTo>
                <a:cubicBezTo>
                  <a:pt x="808" y="866"/>
                  <a:pt x="541" y="958"/>
                  <a:pt x="400" y="950"/>
                </a:cubicBezTo>
                <a:cubicBezTo>
                  <a:pt x="258" y="941"/>
                  <a:pt x="100" y="808"/>
                  <a:pt x="50" y="700"/>
                </a:cubicBezTo>
                <a:cubicBezTo>
                  <a:pt x="0" y="591"/>
                  <a:pt x="25" y="408"/>
                  <a:pt x="100" y="300"/>
                </a:cubicBezTo>
                <a:close/>
              </a:path>
            </a:pathLst>
          </a:custGeom>
          <a:gradFill rotWithShape="1">
            <a:gsLst>
              <a:gs pos="0">
                <a:srgbClr val="BB8ECD"/>
              </a:gs>
              <a:gs pos="55000">
                <a:srgbClr val="8E44AD"/>
              </a:gs>
              <a:gs pos="100000">
                <a:srgbClr val="632F79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4A235A"/>
            </a:solidFill>
            <a:round/>
          </a:ln>
        </p:spPr>
      </p:sp>
      <p:sp>
        <p:nvSpPr>
          <p:cNvPr id="31" name="Síntesis signos C2"/>
          <p:cNvSpPr/>
          <p:nvPr/>
        </p:nvSpPr>
        <p:spPr>
          <a:xfrm>
            <a:off x="4846320" y="4206240"/>
            <a:ext cx="7086600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Ictericia + esplenomegalia orientan 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destrucción de eritrocitos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hay que confirmarlo con el laboratorio.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2: SIGNOS VITALES Y EXAMEN FÍSICO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0" grpId="0" animBg="1"/>
      <p:bldP spid="26" grpId="0" animBg="1"/>
      <p:bldP spid="31" grpId="0" animBg="1"/>
    </p:bld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Laboratorio C2 fila 0"/>
          <p:cNvGrpSpPr/>
          <p:nvPr/>
        </p:nvGrpSpPr>
        <p:grpSpPr>
          <a:xfrm>
            <a:off x="320040" y="1051560"/>
            <a:ext cx="7909560" cy="475488"/>
            <a:chOff x="320040" y="1051560"/>
            <a:chExt cx="7909560" cy="475488"/>
          </a:xfrm>
        </p:grpSpPr>
        <p:sp>
          <p:nvSpPr>
            <p:cNvPr id="6" name="Forma 5"/>
            <p:cNvSpPr/>
            <p:nvPr/>
          </p:nvSpPr>
          <p:spPr>
            <a:xfrm>
              <a:off x="320040" y="1051560"/>
              <a:ext cx="1874520" cy="47548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Parámetro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194560" y="1051560"/>
              <a:ext cx="1691640" cy="47548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Paciente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886200" y="1051560"/>
              <a:ext cx="1965960" cy="47548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Referencia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5852160" y="1051560"/>
              <a:ext cx="2377440" cy="47548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Lectura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0" name="Laboratorio C2 fila 1"/>
          <p:cNvGrpSpPr/>
          <p:nvPr/>
        </p:nvGrpSpPr>
        <p:grpSpPr>
          <a:xfrm>
            <a:off x="320040" y="1527048"/>
            <a:ext cx="7909560" cy="475488"/>
            <a:chOff x="320040" y="1527048"/>
            <a:chExt cx="7909560" cy="475488"/>
          </a:xfrm>
        </p:grpSpPr>
        <p:sp>
          <p:nvSpPr>
            <p:cNvPr id="11" name="Forma 10"/>
            <p:cNvSpPr/>
            <p:nvPr/>
          </p:nvSpPr>
          <p:spPr>
            <a:xfrm>
              <a:off x="320040" y="1527048"/>
              <a:ext cx="187452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2194560" y="1527048"/>
              <a:ext cx="16916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5,5 g/dL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886200" y="1527048"/>
              <a:ext cx="196596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12–16 g/dL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5852160" y="1527048"/>
              <a:ext cx="23774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Gravemente baja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5" name="Laboratorio C2 fila 2"/>
          <p:cNvGrpSpPr/>
          <p:nvPr/>
        </p:nvGrpSpPr>
        <p:grpSpPr>
          <a:xfrm>
            <a:off x="320040" y="2002536"/>
            <a:ext cx="7909560" cy="475488"/>
            <a:chOff x="320040" y="2002536"/>
            <a:chExt cx="7909560" cy="475488"/>
          </a:xfrm>
        </p:grpSpPr>
        <p:sp>
          <p:nvSpPr>
            <p:cNvPr id="16" name="Forma 15"/>
            <p:cNvSpPr/>
            <p:nvPr/>
          </p:nvSpPr>
          <p:spPr>
            <a:xfrm>
              <a:off x="320040" y="2002536"/>
              <a:ext cx="187452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Hematocrito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2194560" y="2002536"/>
              <a:ext cx="16916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18 %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3886200" y="2002536"/>
              <a:ext cx="196596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36–47 %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5852160" y="2002536"/>
              <a:ext cx="23774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bajo (5,5 × 3 ≈ 16,5)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0" name="Laboratorio C2 fila 3"/>
          <p:cNvGrpSpPr/>
          <p:nvPr/>
        </p:nvGrpSpPr>
        <p:grpSpPr>
          <a:xfrm>
            <a:off x="320040" y="2478024"/>
            <a:ext cx="7909560" cy="475488"/>
            <a:chOff x="320040" y="2478024"/>
            <a:chExt cx="7909560" cy="475488"/>
          </a:xfrm>
        </p:grpSpPr>
        <p:sp>
          <p:nvSpPr>
            <p:cNvPr id="21" name="Forma 20"/>
            <p:cNvSpPr/>
            <p:nvPr/>
          </p:nvSpPr>
          <p:spPr>
            <a:xfrm>
              <a:off x="320040" y="2478024"/>
              <a:ext cx="187452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Eritrocitos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2194560" y="2478024"/>
              <a:ext cx="16916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2.100.000/mm</a:t>
              </a:r>
              <a:r>
                <a:rPr lang="es-AR" sz="13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3886200" y="2478024"/>
              <a:ext cx="196596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4,2–5,4 × 10</a:t>
              </a:r>
              <a:r>
                <a:rPr lang="es-AR" sz="13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852160" y="2478024"/>
              <a:ext cx="23774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Marcadamente disminuidos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5" name="Laboratorio C2 fila 4"/>
          <p:cNvGrpSpPr/>
          <p:nvPr/>
        </p:nvGrpSpPr>
        <p:grpSpPr>
          <a:xfrm>
            <a:off x="320040" y="2953512"/>
            <a:ext cx="7909560" cy="475488"/>
            <a:chOff x="320040" y="2953512"/>
            <a:chExt cx="7909560" cy="475488"/>
          </a:xfrm>
        </p:grpSpPr>
        <p:sp>
          <p:nvSpPr>
            <p:cNvPr id="26" name="Forma 25"/>
            <p:cNvSpPr/>
            <p:nvPr/>
          </p:nvSpPr>
          <p:spPr>
            <a:xfrm>
              <a:off x="320040" y="2953512"/>
              <a:ext cx="187452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2194560" y="2953512"/>
              <a:ext cx="16916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88 fL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3886200" y="2953512"/>
              <a:ext cx="196596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80–100 fL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5852160" y="2953512"/>
              <a:ext cx="23774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Normocítica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30" name="Laboratorio C2 fila 5"/>
          <p:cNvGrpSpPr/>
          <p:nvPr/>
        </p:nvGrpSpPr>
        <p:grpSpPr>
          <a:xfrm>
            <a:off x="320040" y="3429000"/>
            <a:ext cx="7909560" cy="524256"/>
            <a:chOff x="320040" y="3429000"/>
            <a:chExt cx="7909560" cy="524256"/>
          </a:xfrm>
        </p:grpSpPr>
        <p:sp>
          <p:nvSpPr>
            <p:cNvPr id="31" name="Forma 30"/>
            <p:cNvSpPr/>
            <p:nvPr/>
          </p:nvSpPr>
          <p:spPr>
            <a:xfrm>
              <a:off x="320040" y="3429000"/>
              <a:ext cx="187452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HCM / CHCM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2194560" y="3429000"/>
              <a:ext cx="169164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Límite inf. / normal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3886200" y="3429000"/>
              <a:ext cx="196596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27–32 pg / 32–36 g/dL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5852160" y="3429000"/>
              <a:ext cx="237744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Normocrómica; descarta esferocitosis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35" name="Laboratorio C2 fila 6"/>
          <p:cNvGrpSpPr/>
          <p:nvPr/>
        </p:nvGrpSpPr>
        <p:grpSpPr>
          <a:xfrm>
            <a:off x="320040" y="3953256"/>
            <a:ext cx="7909560" cy="475488"/>
            <a:chOff x="320040" y="3953256"/>
            <a:chExt cx="7909560" cy="475488"/>
          </a:xfrm>
        </p:grpSpPr>
        <p:sp>
          <p:nvSpPr>
            <p:cNvPr id="36" name="Forma 35"/>
            <p:cNvSpPr/>
            <p:nvPr/>
          </p:nvSpPr>
          <p:spPr>
            <a:xfrm>
              <a:off x="320040" y="3953256"/>
              <a:ext cx="187452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Leucocitos / plaquetas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2194560" y="3953256"/>
              <a:ext cx="16916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Normales / 275.000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3886200" y="3953256"/>
              <a:ext cx="196596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—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5852160" y="3953256"/>
              <a:ext cx="23774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Conservados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40" name="Laboratorio C2 fila 7"/>
          <p:cNvGrpSpPr/>
          <p:nvPr/>
        </p:nvGrpSpPr>
        <p:grpSpPr>
          <a:xfrm>
            <a:off x="320040" y="4428744"/>
            <a:ext cx="7909560" cy="475488"/>
            <a:chOff x="320040" y="4428744"/>
            <a:chExt cx="7909560" cy="475488"/>
          </a:xfrm>
        </p:grpSpPr>
        <p:sp>
          <p:nvSpPr>
            <p:cNvPr id="41" name="Forma 40"/>
            <p:cNvSpPr/>
            <p:nvPr/>
          </p:nvSpPr>
          <p:spPr>
            <a:xfrm>
              <a:off x="320040" y="4428744"/>
              <a:ext cx="187452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2" name="Forma 41"/>
            <p:cNvSpPr/>
            <p:nvPr/>
          </p:nvSpPr>
          <p:spPr>
            <a:xfrm>
              <a:off x="2194560" y="4428744"/>
              <a:ext cx="16916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8 %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3886200" y="4428744"/>
              <a:ext cx="196596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0,5–2 %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5852160" y="4428744"/>
              <a:ext cx="23774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Elevados → regenerativa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45" name="Laboratorio C2 fila 8"/>
          <p:cNvGrpSpPr/>
          <p:nvPr/>
        </p:nvGrpSpPr>
        <p:grpSpPr>
          <a:xfrm>
            <a:off x="320040" y="4904232"/>
            <a:ext cx="7909560" cy="475488"/>
            <a:chOff x="320040" y="4904232"/>
            <a:chExt cx="7909560" cy="475488"/>
          </a:xfrm>
        </p:grpSpPr>
        <p:sp>
          <p:nvSpPr>
            <p:cNvPr id="46" name="Forma 45"/>
            <p:cNvSpPr/>
            <p:nvPr/>
          </p:nvSpPr>
          <p:spPr>
            <a:xfrm>
              <a:off x="320040" y="4904232"/>
              <a:ext cx="187452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2194560" y="4904232"/>
              <a:ext cx="16916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elevada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8" name="Forma 47"/>
            <p:cNvSpPr/>
            <p:nvPr/>
          </p:nvSpPr>
          <p:spPr>
            <a:xfrm>
              <a:off x="3886200" y="4904232"/>
              <a:ext cx="196596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100–190 U/L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9" name="Forma 48"/>
            <p:cNvSpPr/>
            <p:nvPr/>
          </p:nvSpPr>
          <p:spPr>
            <a:xfrm>
              <a:off x="5852160" y="4904232"/>
              <a:ext cx="23774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Hemólisis activa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50" name="Laboratorio C2 fila 9"/>
          <p:cNvGrpSpPr/>
          <p:nvPr/>
        </p:nvGrpSpPr>
        <p:grpSpPr>
          <a:xfrm>
            <a:off x="320040" y="5379720"/>
            <a:ext cx="7909560" cy="475488"/>
            <a:chOff x="320040" y="5379720"/>
            <a:chExt cx="7909560" cy="475488"/>
          </a:xfrm>
        </p:grpSpPr>
        <p:sp>
          <p:nvSpPr>
            <p:cNvPr id="51" name="Forma 50"/>
            <p:cNvSpPr/>
            <p:nvPr/>
          </p:nvSpPr>
          <p:spPr>
            <a:xfrm>
              <a:off x="320040" y="5379720"/>
              <a:ext cx="187452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Eritrosedimentación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2" name="Forma 51"/>
            <p:cNvSpPr/>
            <p:nvPr/>
          </p:nvSpPr>
          <p:spPr>
            <a:xfrm>
              <a:off x="2194560" y="5379720"/>
              <a:ext cx="16916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37 mm/h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3" name="Forma 52"/>
            <p:cNvSpPr/>
            <p:nvPr/>
          </p:nvSpPr>
          <p:spPr>
            <a:xfrm>
              <a:off x="3886200" y="5379720"/>
              <a:ext cx="196596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5–10 mm/h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4" name="Forma 53"/>
            <p:cNvSpPr/>
            <p:nvPr/>
          </p:nvSpPr>
          <p:spPr>
            <a:xfrm>
              <a:off x="5852160" y="5379720"/>
              <a:ext cx="2377440" cy="47548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elevada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55" name="Laboratorio C2 fila 10"/>
          <p:cNvGrpSpPr/>
          <p:nvPr/>
        </p:nvGrpSpPr>
        <p:grpSpPr>
          <a:xfrm>
            <a:off x="320040" y="5855208"/>
            <a:ext cx="7909560" cy="475488"/>
            <a:chOff x="320040" y="5855208"/>
            <a:chExt cx="7909560" cy="475488"/>
          </a:xfrm>
        </p:grpSpPr>
        <p:sp>
          <p:nvSpPr>
            <p:cNvPr id="56" name="Forma 55"/>
            <p:cNvSpPr/>
            <p:nvPr/>
          </p:nvSpPr>
          <p:spPr>
            <a:xfrm>
              <a:off x="320040" y="5855208"/>
              <a:ext cx="187452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Coombs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7" name="Forma 56"/>
            <p:cNvSpPr/>
            <p:nvPr/>
          </p:nvSpPr>
          <p:spPr>
            <a:xfrm>
              <a:off x="2194560" y="5855208"/>
              <a:ext cx="16916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Pendiente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8" name="Forma 57"/>
            <p:cNvSpPr/>
            <p:nvPr/>
          </p:nvSpPr>
          <p:spPr>
            <a:xfrm>
              <a:off x="3886200" y="5855208"/>
              <a:ext cx="196596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Negativa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5852160" y="5855208"/>
              <a:ext cx="2377440" cy="47548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Debe solicitarse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60" name="Lectura C2"/>
          <p:cNvSpPr/>
          <p:nvPr/>
        </p:nvSpPr>
        <p:spPr>
          <a:xfrm>
            <a:off x="8549640" y="109728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Anemia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grave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normocítica, con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reticulocitos altos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 muy elevada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grpSp>
        <p:nvGrpSpPr>
          <p:cNvPr id="61" name="Reti C2"/>
          <p:cNvGrpSpPr/>
          <p:nvPr/>
        </p:nvGrpSpPr>
        <p:grpSpPr>
          <a:xfrm>
            <a:off x="9418320" y="4206240"/>
            <a:ext cx="1645920" cy="1645920"/>
            <a:chOff x="9418320" y="4206240"/>
            <a:chExt cx="1645920" cy="1645920"/>
          </a:xfrm>
        </p:grpSpPr>
        <p:sp>
          <p:nvSpPr>
            <p:cNvPr id="62" name="Cuerpo"/>
            <p:cNvSpPr/>
            <p:nvPr/>
          </p:nvSpPr>
          <p:spPr>
            <a:xfrm>
              <a:off x="9418320" y="4206240"/>
              <a:ext cx="1645920" cy="1645920"/>
            </a:xfrm>
            <a:prstGeom prst="ellipse">
              <a:avLst/>
            </a:prstGeom>
            <a:gradFill rotWithShape="1">
              <a:gsLst>
                <a:gs pos="0">
                  <a:srgbClr val="E3B4CF"/>
                </a:gs>
                <a:gs pos="30000">
                  <a:srgbClr val="E3B4CF"/>
                </a:gs>
                <a:gs pos="60000">
                  <a:srgbClr val="BB729D"/>
                </a:gs>
                <a:gs pos="100000">
                  <a:srgbClr val="723A5B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63" name="Forma 62"/>
            <p:cNvSpPr/>
            <p:nvPr/>
          </p:nvSpPr>
          <p:spPr>
            <a:xfrm>
              <a:off x="9418320" y="4206240"/>
              <a:ext cx="1645920" cy="16459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220" y="405"/>
                  </a:moveTo>
                  <a:cubicBezTo>
                    <a:pt x="320" y="285"/>
                    <a:pt x="420" y="525"/>
                    <a:pt x="520" y="375"/>
                  </a:cubicBezTo>
                </a:path>
                <a:path w="1000" h="1000" fill="none">
                  <a:moveTo>
                    <a:pt x="152" y="619"/>
                  </a:moveTo>
                  <a:cubicBezTo>
                    <a:pt x="252" y="499"/>
                    <a:pt x="352" y="739"/>
                    <a:pt x="452" y="589"/>
                  </a:cubicBezTo>
                </a:path>
                <a:path w="1000" h="1000" fill="none">
                  <a:moveTo>
                    <a:pt x="302" y="495"/>
                  </a:moveTo>
                  <a:cubicBezTo>
                    <a:pt x="402" y="375"/>
                    <a:pt x="502" y="615"/>
                    <a:pt x="602" y="465"/>
                  </a:cubicBezTo>
                </a:path>
                <a:path w="1000" h="1000" fill="none">
                  <a:moveTo>
                    <a:pt x="179" y="296"/>
                  </a:moveTo>
                  <a:cubicBezTo>
                    <a:pt x="279" y="176"/>
                    <a:pt x="379" y="416"/>
                    <a:pt x="479" y="266"/>
                  </a:cubicBezTo>
                </a:path>
                <a:path w="1000" h="1000" fill="none">
                  <a:moveTo>
                    <a:pt x="134" y="260"/>
                  </a:moveTo>
                  <a:cubicBezTo>
                    <a:pt x="234" y="140"/>
                    <a:pt x="334" y="380"/>
                    <a:pt x="434" y="230"/>
                  </a:cubicBezTo>
                </a:path>
                <a:path w="1000" h="1000" fill="none">
                  <a:moveTo>
                    <a:pt x="305" y="531"/>
                  </a:moveTo>
                  <a:cubicBezTo>
                    <a:pt x="405" y="411"/>
                    <a:pt x="505" y="651"/>
                    <a:pt x="605" y="501"/>
                  </a:cubicBezTo>
                </a:path>
              </a:pathLst>
            </a:custGeom>
            <a:noFill/>
            <a:ln w="19050" cap="rnd">
              <a:solidFill>
                <a:srgbClr val="4A235A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2: LABORATORIO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6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5" name="Integración C2 1"/>
          <p:cNvSpPr/>
          <p:nvPr/>
        </p:nvSpPr>
        <p:spPr>
          <a:xfrm>
            <a:off x="365760" y="1097280"/>
            <a:ext cx="3794760" cy="109728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Morfología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Normocítica normocrómica (VCM 88 fL).</a:t>
            </a:r>
            <a:endParaRPr lang="es-AR" sz="1750" dirty="0">
              <a:latin typeface="Calibri"/>
            </a:endParaRPr>
          </a:p>
        </p:txBody>
      </p:sp>
      <p:sp>
        <p:nvSpPr>
          <p:cNvPr id="6" name="Integración C2 2"/>
          <p:cNvSpPr/>
          <p:nvPr/>
        </p:nvSpPr>
        <p:spPr>
          <a:xfrm>
            <a:off x="4297680" y="1097280"/>
            <a:ext cx="3794760" cy="109728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Regenerativa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Reticulocitos 8 %: la médula responde.</a:t>
            </a:r>
            <a:endParaRPr lang="es-AR" sz="1750" dirty="0">
              <a:latin typeface="Calibri"/>
            </a:endParaRPr>
          </a:p>
        </p:txBody>
      </p:sp>
      <p:sp>
        <p:nvSpPr>
          <p:cNvPr id="7" name="Integración C2 3"/>
          <p:cNvSpPr/>
          <p:nvPr/>
        </p:nvSpPr>
        <p:spPr>
          <a:xfrm>
            <a:off x="365760" y="2304288"/>
            <a:ext cx="3794760" cy="10972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Hemorragia o hemólisis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Ictericia + LDH alta: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hemólisis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(en la hemorragia no hay ictericia).</a:t>
            </a:r>
            <a:endParaRPr lang="es-AR" sz="1750" dirty="0">
              <a:latin typeface="Calibri"/>
            </a:endParaRPr>
          </a:p>
        </p:txBody>
      </p:sp>
      <p:sp>
        <p:nvSpPr>
          <p:cNvPr id="8" name="Integración C2 4"/>
          <p:cNvSpPr/>
          <p:nvPr/>
        </p:nvSpPr>
        <p:spPr>
          <a:xfrm>
            <a:off x="4297680" y="2304288"/>
            <a:ext cx="3794760" cy="1097280"/>
          </a:xfrm>
          <a:prstGeom prst="roundRect">
            <a:avLst>
              <a:gd name="adj" fmla="val 9000"/>
            </a:avLst>
          </a:prstGeom>
          <a:solidFill>
            <a:srgbClr val="DADA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Esplenomegalia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El bazo aumentado destruye eritrocitos en exceso: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hiperesplenismo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750" dirty="0">
              <a:latin typeface="Calibri"/>
            </a:endParaRPr>
          </a:p>
        </p:txBody>
      </p:sp>
      <p:sp>
        <p:nvSpPr>
          <p:cNvPr id="9" name="Integración C2 5"/>
          <p:cNvSpPr/>
          <p:nvPr/>
        </p:nvSpPr>
        <p:spPr>
          <a:xfrm>
            <a:off x="365760" y="3511296"/>
            <a:ext cx="3794760" cy="109728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VSG elevada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Proceso inflamatorio activo.</a:t>
            </a:r>
            <a:endParaRPr lang="es-AR" sz="1750" dirty="0">
              <a:latin typeface="Calibri"/>
            </a:endParaRPr>
          </a:p>
        </p:txBody>
      </p:sp>
      <p:sp>
        <p:nvSpPr>
          <p:cNvPr id="10" name="Integración C2 6"/>
          <p:cNvSpPr/>
          <p:nvPr/>
        </p:nvSpPr>
        <p:spPr>
          <a:xfrm>
            <a:off x="4297680" y="3511296"/>
            <a:ext cx="3794760" cy="109728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Abortos a repetición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Orientan a síndrome antifosfolipídico u otra autoinmunidad.</a:t>
            </a:r>
            <a:endParaRPr lang="es-AR" sz="1750" dirty="0">
              <a:latin typeface="Calibri"/>
            </a:endParaRPr>
          </a:p>
        </p:txBody>
      </p:sp>
      <p:grpSp>
        <p:nvGrpSpPr>
          <p:cNvPr id="11" name="Conclusión"/>
          <p:cNvGrpSpPr/>
          <p:nvPr/>
        </p:nvGrpSpPr>
        <p:grpSpPr>
          <a:xfrm>
            <a:off x="365760" y="4800600"/>
            <a:ext cx="7726680" cy="1645920"/>
            <a:chOff x="365760" y="4800600"/>
            <a:chExt cx="7726680" cy="1645920"/>
          </a:xfrm>
        </p:grpSpPr>
        <p:sp>
          <p:nvSpPr>
            <p:cNvPr id="12" name="Forma 11"/>
            <p:cNvSpPr/>
            <p:nvPr/>
          </p:nvSpPr>
          <p:spPr>
            <a:xfrm>
              <a:off x="365760" y="5001768"/>
              <a:ext cx="7726680" cy="1444752"/>
            </a:xfrm>
            <a:prstGeom prst="roundRect">
              <a:avLst>
                <a:gd name="adj" fmla="val 9000"/>
              </a:avLst>
            </a:prstGeom>
            <a:solidFill>
              <a:srgbClr val="4E7A3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Anemia hemolítica por hiperesplenismo</a:t>
              </a:r>
              <a:r>
                <a:rPr lang="es-AR" sz="18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(más probable): normocítica normocrómica, heterogénea, regenerativa. Solicitar </a:t>
              </a:r>
              <a:r>
                <a:rPr lang="es-AR" sz="18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Coombs</a:t>
              </a:r>
              <a:r>
                <a:rPr lang="es-AR" sz="18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 Hb 5,5 g/dL → transfusión.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493776" y="4800600"/>
              <a:ext cx="1409700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4" name="Rigor C2"/>
          <p:cNvGrpSpPr/>
          <p:nvPr/>
        </p:nvGrpSpPr>
        <p:grpSpPr>
          <a:xfrm>
            <a:off x="8321040" y="1097280"/>
            <a:ext cx="3611880" cy="5349240"/>
            <a:chOff x="8321040" y="1097280"/>
            <a:chExt cx="3611880" cy="5349240"/>
          </a:xfrm>
        </p:grpSpPr>
        <p:sp>
          <p:nvSpPr>
            <p:cNvPr id="15" name="Forma 14"/>
            <p:cNvSpPr/>
            <p:nvPr/>
          </p:nvSpPr>
          <p:spPr>
            <a:xfrm>
              <a:off x="8321040" y="1298448"/>
              <a:ext cx="36118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57162" indent="-157162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abortos a repetición, VSG alta y Coombs pendiente, una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anemia hemolítica autoinmune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sigue siendo una alternativa importante hasta conocer el Coombs.</a:t>
              </a:r>
              <a:endParaRPr lang="es-AR" sz="1650" dirty="0">
                <a:latin typeface="Calibri"/>
              </a:endParaRPr>
            </a:p>
            <a:p>
              <a:pPr algn="l" marL="157162" indent="-157162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transfusión se decide por la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gravedad clínica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(hipotensión, desaturación, taquicardia), no solo por la cifra.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84490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2: INTEGRACIÓN Y CONCLUSIÓN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Membranopatías"/>
          <p:cNvGrpSpPr/>
          <p:nvPr/>
        </p:nvGrpSpPr>
        <p:grpSpPr>
          <a:xfrm>
            <a:off x="457200" y="1097280"/>
            <a:ext cx="7680960" cy="1417320"/>
            <a:chOff x="457200" y="1097280"/>
            <a:chExt cx="7680960" cy="1417320"/>
          </a:xfrm>
        </p:grpSpPr>
        <p:sp>
          <p:nvSpPr>
            <p:cNvPr id="6" name="Esferocito h"/>
            <p:cNvSpPr/>
            <p:nvPr/>
          </p:nvSpPr>
          <p:spPr>
            <a:xfrm>
              <a:off x="457200" y="1280160"/>
              <a:ext cx="1097280" cy="1097280"/>
            </a:xfrm>
            <a:prstGeom prst="ellipse">
              <a:avLst/>
            </a:prstGeom>
            <a:gradFill rotWithShape="1">
              <a:gsLst>
                <a:gs pos="0">
                  <a:srgbClr val="E35D52"/>
                </a:gs>
                <a:gs pos="55000">
                  <a:srgbClr val="B8261C"/>
                </a:gs>
                <a:gs pos="100000">
                  <a:srgbClr val="6E1510"/>
                </a:gs>
              </a:gsLst>
              <a:path path="circle">
                <a:fillToRect l="38000" t="32000" r="62000" b="68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7" name="Eliptocito"/>
            <p:cNvSpPr/>
            <p:nvPr/>
          </p:nvSpPr>
          <p:spPr>
            <a:xfrm>
              <a:off x="1737360" y="1417320"/>
              <a:ext cx="1371600" cy="82296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60000">
                  <a:srgbClr val="E06A5F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3291840" y="1097280"/>
              <a:ext cx="4846320" cy="14173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Membranopatías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esferocitosis hereditaria (CHCM ↑, fragilidad osmótica), eliptocitosis, estomatocitosis.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9" name="Enzimopatías"/>
          <p:cNvGrpSpPr/>
          <p:nvPr/>
        </p:nvGrpSpPr>
        <p:grpSpPr>
          <a:xfrm>
            <a:off x="640080" y="2697480"/>
            <a:ext cx="7498080" cy="1463040"/>
            <a:chOff x="640080" y="2697480"/>
            <a:chExt cx="7498080" cy="1463040"/>
          </a:xfrm>
        </p:grpSpPr>
        <p:sp>
          <p:nvSpPr>
            <p:cNvPr id="10" name="G6PD"/>
            <p:cNvSpPr/>
            <p:nvPr/>
          </p:nvSpPr>
          <p:spPr>
            <a:xfrm>
              <a:off x="640080" y="2788920"/>
              <a:ext cx="118872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80" y="500"/>
                  </a:moveTo>
                  <a:cubicBezTo>
                    <a:pt x="979" y="579"/>
                    <a:pt x="961" y="684"/>
                    <a:pt x="913" y="739"/>
                  </a:cubicBezTo>
                  <a:cubicBezTo>
                    <a:pt x="864" y="793"/>
                    <a:pt x="756" y="802"/>
                    <a:pt x="688" y="826"/>
                  </a:cubicBezTo>
                  <a:cubicBezTo>
                    <a:pt x="619" y="849"/>
                    <a:pt x="563" y="880"/>
                    <a:pt x="500" y="881"/>
                  </a:cubicBezTo>
                  <a:cubicBezTo>
                    <a:pt x="437" y="881"/>
                    <a:pt x="370" y="857"/>
                    <a:pt x="310" y="829"/>
                  </a:cubicBezTo>
                  <a:cubicBezTo>
                    <a:pt x="249" y="800"/>
                    <a:pt x="186" y="762"/>
                    <a:pt x="139" y="708"/>
                  </a:cubicBezTo>
                  <a:cubicBezTo>
                    <a:pt x="91" y="653"/>
                    <a:pt x="20" y="567"/>
                    <a:pt x="24" y="500"/>
                  </a:cubicBezTo>
                  <a:cubicBezTo>
                    <a:pt x="27" y="432"/>
                    <a:pt x="120" y="371"/>
                    <a:pt x="161" y="304"/>
                  </a:cubicBezTo>
                  <a:cubicBezTo>
                    <a:pt x="201" y="237"/>
                    <a:pt x="210" y="144"/>
                    <a:pt x="267" y="98"/>
                  </a:cubicBezTo>
                  <a:cubicBezTo>
                    <a:pt x="323" y="51"/>
                    <a:pt x="422" y="25"/>
                    <a:pt x="499" y="27"/>
                  </a:cubicBezTo>
                  <a:cubicBezTo>
                    <a:pt x="575" y="28"/>
                    <a:pt x="657" y="66"/>
                    <a:pt x="727" y="105"/>
                  </a:cubicBezTo>
                  <a:cubicBezTo>
                    <a:pt x="796" y="143"/>
                    <a:pt x="871" y="194"/>
                    <a:pt x="914" y="260"/>
                  </a:cubicBezTo>
                  <a:cubicBezTo>
                    <a:pt x="956" y="325"/>
                    <a:pt x="980" y="420"/>
                    <a:pt x="98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D9C1E4"/>
                </a:gs>
                <a:gs pos="55000">
                  <a:srgbClr val="BB8FCE"/>
                </a:gs>
                <a:gs pos="100000">
                  <a:srgbClr val="8C6B9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5D4767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G6PD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1" name="PK"/>
            <p:cNvSpPr/>
            <p:nvPr/>
          </p:nvSpPr>
          <p:spPr>
            <a:xfrm>
              <a:off x="1920240" y="2788920"/>
              <a:ext cx="118872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00" y="500"/>
                  </a:moveTo>
                  <a:cubicBezTo>
                    <a:pt x="910" y="568"/>
                    <a:pt x="915" y="658"/>
                    <a:pt x="885" y="722"/>
                  </a:cubicBezTo>
                  <a:cubicBezTo>
                    <a:pt x="854" y="785"/>
                    <a:pt x="783" y="852"/>
                    <a:pt x="719" y="880"/>
                  </a:cubicBezTo>
                  <a:cubicBezTo>
                    <a:pt x="654" y="907"/>
                    <a:pt x="571" y="889"/>
                    <a:pt x="500" y="886"/>
                  </a:cubicBezTo>
                  <a:cubicBezTo>
                    <a:pt x="428" y="882"/>
                    <a:pt x="355" y="888"/>
                    <a:pt x="291" y="861"/>
                  </a:cubicBezTo>
                  <a:cubicBezTo>
                    <a:pt x="226" y="833"/>
                    <a:pt x="148" y="783"/>
                    <a:pt x="112" y="723"/>
                  </a:cubicBezTo>
                  <a:cubicBezTo>
                    <a:pt x="75" y="662"/>
                    <a:pt x="70" y="574"/>
                    <a:pt x="70" y="500"/>
                  </a:cubicBezTo>
                  <a:cubicBezTo>
                    <a:pt x="69" y="425"/>
                    <a:pt x="75" y="339"/>
                    <a:pt x="110" y="275"/>
                  </a:cubicBezTo>
                  <a:cubicBezTo>
                    <a:pt x="144" y="210"/>
                    <a:pt x="212" y="140"/>
                    <a:pt x="277" y="115"/>
                  </a:cubicBezTo>
                  <a:cubicBezTo>
                    <a:pt x="341" y="89"/>
                    <a:pt x="424" y="122"/>
                    <a:pt x="499" y="122"/>
                  </a:cubicBezTo>
                  <a:cubicBezTo>
                    <a:pt x="573" y="121"/>
                    <a:pt x="669" y="80"/>
                    <a:pt x="723" y="112"/>
                  </a:cubicBezTo>
                  <a:cubicBezTo>
                    <a:pt x="776" y="144"/>
                    <a:pt x="791" y="249"/>
                    <a:pt x="821" y="314"/>
                  </a:cubicBezTo>
                  <a:cubicBezTo>
                    <a:pt x="850" y="378"/>
                    <a:pt x="889" y="432"/>
                    <a:pt x="900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9D396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A582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PK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3291840" y="2697480"/>
              <a:ext cx="4846320" cy="14630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Enzimopatías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déficit de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G6PD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(no neutraliza el estrés oxidativo: hemólisis episódica por fármacos, infecciones, habas) y de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 quinasa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(falla energética).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13" name="Hemoglobinopatías"/>
          <p:cNvGrpSpPr/>
          <p:nvPr/>
        </p:nvGrpSpPr>
        <p:grpSpPr>
          <a:xfrm>
            <a:off x="548640" y="4343400"/>
            <a:ext cx="7589520" cy="2103120"/>
            <a:chOff x="548640" y="4343400"/>
            <a:chExt cx="7589520" cy="2103120"/>
          </a:xfrm>
        </p:grpSpPr>
        <p:sp>
          <p:nvSpPr>
            <p:cNvPr id="14" name="Drepanocito h"/>
            <p:cNvSpPr/>
            <p:nvPr/>
          </p:nvSpPr>
          <p:spPr>
            <a:xfrm>
              <a:off x="548640" y="4617720"/>
              <a:ext cx="1280160" cy="7040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600"/>
                  </a:moveTo>
                  <a:cubicBezTo>
                    <a:pt x="150" y="100"/>
                    <a:pt x="850" y="100"/>
                    <a:pt x="1000" y="600"/>
                  </a:cubicBezTo>
                  <a:cubicBezTo>
                    <a:pt x="800" y="350"/>
                    <a:pt x="200" y="3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57373"/>
                </a:gs>
                <a:gs pos="100000">
                  <a:srgbClr val="B03A2E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</p:spPr>
        </p:sp>
        <p:sp>
          <p:nvSpPr>
            <p:cNvPr id="15" name="Drepanocito h2"/>
            <p:cNvSpPr/>
            <p:nvPr/>
          </p:nvSpPr>
          <p:spPr>
            <a:xfrm>
              <a:off x="1737360" y="4846320"/>
              <a:ext cx="1097280" cy="6035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600"/>
                  </a:moveTo>
                  <a:cubicBezTo>
                    <a:pt x="150" y="100"/>
                    <a:pt x="850" y="100"/>
                    <a:pt x="1000" y="600"/>
                  </a:cubicBezTo>
                  <a:cubicBezTo>
                    <a:pt x="800" y="350"/>
                    <a:pt x="200" y="3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57373"/>
                </a:gs>
                <a:gs pos="100000">
                  <a:srgbClr val="B03A2E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3291840" y="4343400"/>
              <a:ext cx="4846320" cy="21031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Hemoglobinopatías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anemia de células falciformes (la Hb S precipita al desoxigenarse → eritrocitos en hoz → obstrucción vascular + hemólisis), Hb inestables, persistencia de Hb fetal,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talasemias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17" name="Rigor porfirias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18" name="Forma 17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material incluye las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porfirias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entre las enzimopatías hemolíticas: son trastornos de la síntesis del hemo y, salvo formas raras (porfiria eritropoyética congénita),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se presentan habitualmente como anemia hemolítica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HEMÓLISIS CORPUSCULAR: EL DEFECTO ESTÁ EN EL ERITROCITO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2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5" name="Extra Autoinmune"/>
          <p:cNvSpPr/>
          <p:nvPr/>
        </p:nvSpPr>
        <p:spPr>
          <a:xfrm>
            <a:off x="365760" y="1097280"/>
            <a:ext cx="3794760" cy="1234440"/>
          </a:xfrm>
          <a:prstGeom prst="roundRect">
            <a:avLst>
              <a:gd name="adj" fmla="val 9000"/>
            </a:avLst>
          </a:prstGeom>
          <a:solidFill>
            <a:srgbClr val="DADA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Autoinmune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Autoanticuerpos contra la membrana →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Coombs positiva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sp>
        <p:nvSpPr>
          <p:cNvPr id="6" name="Extra Isoinmune"/>
          <p:cNvSpPr/>
          <p:nvPr/>
        </p:nvSpPr>
        <p:spPr>
          <a:xfrm>
            <a:off x="4297680" y="1097280"/>
            <a:ext cx="3794760" cy="123444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Isoinmune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Transfusiones incompatibles; enfermedad hemolítica del recién nacido.</a:t>
            </a:r>
            <a:endParaRPr lang="es-AR" sz="1850" dirty="0">
              <a:latin typeface="Calibri"/>
            </a:endParaRPr>
          </a:p>
        </p:txBody>
      </p:sp>
      <p:sp>
        <p:nvSpPr>
          <p:cNvPr id="7" name="Extra Medicamentos"/>
          <p:cNvSpPr/>
          <p:nvPr/>
        </p:nvSpPr>
        <p:spPr>
          <a:xfrm>
            <a:off x="365760" y="2468880"/>
            <a:ext cx="3794760" cy="12344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Medicamentos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Hemólisis inducida por fármacos.</a:t>
            </a:r>
            <a:endParaRPr lang="es-AR" sz="1850" dirty="0">
              <a:latin typeface="Calibri"/>
            </a:endParaRPr>
          </a:p>
        </p:txBody>
      </p:sp>
      <p:sp>
        <p:nvSpPr>
          <p:cNvPr id="8" name="Extra Hiperesplenismo"/>
          <p:cNvSpPr/>
          <p:nvPr/>
        </p:nvSpPr>
        <p:spPr>
          <a:xfrm>
            <a:off x="4297680" y="2468880"/>
            <a:ext cx="3794760" cy="12344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Hiperesplenismo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El bazo destruye eritrocitos en exceso (caso 2).</a:t>
            </a:r>
            <a:endParaRPr lang="es-AR" sz="1850" dirty="0">
              <a:latin typeface="Calibri"/>
            </a:endParaRPr>
          </a:p>
        </p:txBody>
      </p:sp>
      <p:sp>
        <p:nvSpPr>
          <p:cNvPr id="9" name="Extra Microangiopáticas"/>
          <p:cNvSpPr/>
          <p:nvPr/>
        </p:nvSpPr>
        <p:spPr>
          <a:xfrm>
            <a:off x="365760" y="3840480"/>
            <a:ext cx="3794760" cy="1234440"/>
          </a:xfrm>
          <a:prstGeom prst="roundRect">
            <a:avLst>
              <a:gd name="adj" fmla="val 9000"/>
            </a:avLst>
          </a:prstGeom>
          <a:solidFill>
            <a:srgbClr val="FDEBD0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Microangiopáticas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Destrucción mecánica en vasos dañados (válvulas, SHU, PTT).</a:t>
            </a:r>
            <a:endParaRPr lang="es-AR" sz="1850" dirty="0">
              <a:latin typeface="Calibri"/>
            </a:endParaRPr>
          </a:p>
        </p:txBody>
      </p:sp>
      <p:sp>
        <p:nvSpPr>
          <p:cNvPr id="10" name="Extra Infecciosas y tóxicas"/>
          <p:cNvSpPr/>
          <p:nvPr/>
        </p:nvSpPr>
        <p:spPr>
          <a:xfrm>
            <a:off x="4297680" y="3840480"/>
            <a:ext cx="3794760" cy="12344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Infecciosas y tóxicas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Paludismo, sepsis, venenos de serpiente, toxinas bacterianas.</a:t>
            </a:r>
            <a:endParaRPr lang="es-AR" sz="1850" dirty="0">
              <a:latin typeface="Calibri"/>
            </a:endParaRPr>
          </a:p>
        </p:txBody>
      </p:sp>
      <p:sp>
        <p:nvSpPr>
          <p:cNvPr id="11" name="HPN"/>
          <p:cNvSpPr/>
          <p:nvPr/>
        </p:nvSpPr>
        <p:spPr>
          <a:xfrm>
            <a:off x="365760" y="5257800"/>
            <a:ext cx="7726680" cy="11887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HPN (hemoglobinuria paroxística nocturna)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hemólisis predominantemente nocturna → orina roja al levantarse.</a:t>
            </a:r>
            <a:endParaRPr lang="es-AR" sz="1950" dirty="0">
              <a:latin typeface="Calibri"/>
            </a:endParaRPr>
          </a:p>
        </p:txBody>
      </p:sp>
      <p:grpSp>
        <p:nvGrpSpPr>
          <p:cNvPr id="12" name="Rigor HPN"/>
          <p:cNvGrpSpPr/>
          <p:nvPr/>
        </p:nvGrpSpPr>
        <p:grpSpPr>
          <a:xfrm>
            <a:off x="8321040" y="1097280"/>
            <a:ext cx="3611880" cy="5349240"/>
            <a:chOff x="8321040" y="1097280"/>
            <a:chExt cx="3611880" cy="5349240"/>
          </a:xfrm>
        </p:grpSpPr>
        <p:sp>
          <p:nvSpPr>
            <p:cNvPr id="13" name="Forma 12"/>
            <p:cNvSpPr/>
            <p:nvPr/>
          </p:nvSpPr>
          <p:spPr>
            <a:xfrm>
              <a:off x="8321040" y="1298448"/>
              <a:ext cx="36118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material explica la HPN por la acidosis leve nocturna. La explicación actual es la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deficiencia de proteínas ancladas por GPI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(CD55, CD59) por mutación de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PIG-A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los eritrocitos quedan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protección frente al complemento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La acidificación es una idea histórica (base de la prueba de Ham).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84490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HEMÓLISIS EXTRACORPUSCULAR: EL AGRESOR ESTÁ AFUERA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1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Eje Morfológico"/>
          <p:cNvGrpSpPr/>
          <p:nvPr/>
        </p:nvGrpSpPr>
        <p:grpSpPr>
          <a:xfrm>
            <a:off x="3246120" y="1097280"/>
            <a:ext cx="5943600" cy="1005840"/>
            <a:chOff x="3246120" y="1097280"/>
            <a:chExt cx="5943600" cy="1005840"/>
          </a:xfrm>
        </p:grpSpPr>
        <p:sp>
          <p:nvSpPr>
            <p:cNvPr id="7" name="Rótulo Morfológico"/>
            <p:cNvSpPr/>
            <p:nvPr/>
          </p:nvSpPr>
          <p:spPr>
            <a:xfrm>
              <a:off x="3246120" y="1280160"/>
              <a:ext cx="2194560" cy="64008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Morfológico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8" name="Rótulo VCM"/>
            <p:cNvSpPr/>
            <p:nvPr/>
          </p:nvSpPr>
          <p:spPr>
            <a:xfrm>
              <a:off x="5577840" y="1280160"/>
              <a:ext cx="1463040" cy="64008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7178040" y="1097280"/>
              <a:ext cx="2011680" cy="100584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Microcítica / normocítica / macrocítica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0" name="Eje Cromático"/>
          <p:cNvGrpSpPr/>
          <p:nvPr/>
        </p:nvGrpSpPr>
        <p:grpSpPr>
          <a:xfrm>
            <a:off x="3246120" y="2212848"/>
            <a:ext cx="5943600" cy="1005840"/>
            <a:chOff x="3246120" y="2212848"/>
            <a:chExt cx="5943600" cy="1005840"/>
          </a:xfrm>
        </p:grpSpPr>
        <p:sp>
          <p:nvSpPr>
            <p:cNvPr id="11" name="Rótulo Cromático"/>
            <p:cNvSpPr/>
            <p:nvPr/>
          </p:nvSpPr>
          <p:spPr>
            <a:xfrm>
              <a:off x="3246120" y="2395728"/>
              <a:ext cx="2194560" cy="64008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Cromático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2" name="Rótulo HCM"/>
            <p:cNvSpPr/>
            <p:nvPr/>
          </p:nvSpPr>
          <p:spPr>
            <a:xfrm>
              <a:off x="5577840" y="2395728"/>
              <a:ext cx="1463040" cy="64008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HCM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7178040" y="2212848"/>
              <a:ext cx="2011680" cy="100584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Hipocrómica / normocrómica / (hipercrómica, rara)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4" name="Eje Etiopatogénico"/>
          <p:cNvGrpSpPr/>
          <p:nvPr/>
        </p:nvGrpSpPr>
        <p:grpSpPr>
          <a:xfrm>
            <a:off x="3246120" y="3328416"/>
            <a:ext cx="5943600" cy="1005840"/>
            <a:chOff x="3246120" y="3328416"/>
            <a:chExt cx="5943600" cy="1005840"/>
          </a:xfrm>
        </p:grpSpPr>
        <p:sp>
          <p:nvSpPr>
            <p:cNvPr id="15" name="Rótulo Etiopatogénico"/>
            <p:cNvSpPr/>
            <p:nvPr/>
          </p:nvSpPr>
          <p:spPr>
            <a:xfrm>
              <a:off x="3246120" y="3511296"/>
              <a:ext cx="2194560" cy="64008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Etiopatogénico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6" name="Rótulo Reticulocitos"/>
            <p:cNvSpPr/>
            <p:nvPr/>
          </p:nvSpPr>
          <p:spPr>
            <a:xfrm>
              <a:off x="5577840" y="3511296"/>
              <a:ext cx="1463040" cy="64008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7178040" y="3328416"/>
              <a:ext cx="2011680" cy="100584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Regenerativa / arregenerativa</a:t>
              </a:r>
              <a:endParaRPr lang="es-AR" sz="1650" dirty="0">
                <a:latin typeface="Calibri"/>
              </a:endParaRPr>
            </a:p>
          </p:txBody>
        </p:sp>
      </p:grpSp>
      <p:grpSp>
        <p:nvGrpSpPr>
          <p:cNvPr id="18" name="Eje Homogeneidad"/>
          <p:cNvGrpSpPr/>
          <p:nvPr/>
        </p:nvGrpSpPr>
        <p:grpSpPr>
          <a:xfrm>
            <a:off x="3246120" y="4443984"/>
            <a:ext cx="5943600" cy="1005840"/>
            <a:chOff x="3246120" y="4443984"/>
            <a:chExt cx="5943600" cy="1005840"/>
          </a:xfrm>
        </p:grpSpPr>
        <p:sp>
          <p:nvSpPr>
            <p:cNvPr id="19" name="Rótulo Homogeneidad"/>
            <p:cNvSpPr/>
            <p:nvPr/>
          </p:nvSpPr>
          <p:spPr>
            <a:xfrm>
              <a:off x="3246120" y="4626864"/>
              <a:ext cx="2194560" cy="64008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Homogeneidad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0" name="Rótulo RDW"/>
            <p:cNvSpPr/>
            <p:nvPr/>
          </p:nvSpPr>
          <p:spPr>
            <a:xfrm>
              <a:off x="5577840" y="4626864"/>
              <a:ext cx="1463040" cy="64008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RDW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7178040" y="4443984"/>
              <a:ext cx="2011680" cy="1005840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Homogénea / heterogénea (anisocitosis)</a:t>
              </a:r>
              <a:endParaRPr lang="es-AR" sz="1600" dirty="0">
                <a:latin typeface="Calibri"/>
              </a:endParaRPr>
            </a:p>
          </p:txBody>
        </p:sp>
      </p:grpSp>
      <p:sp>
        <p:nvSpPr>
          <p:cNvPr id="22" name="Ejemplo ejes"/>
          <p:cNvSpPr/>
          <p:nvPr/>
        </p:nvSpPr>
        <p:spPr>
          <a:xfrm>
            <a:off x="3246120" y="5623560"/>
            <a:ext cx="5943600" cy="8229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Ejemplo (caso 2):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normocítica normocrómica heterogénea regenerativa hemolítica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grpSp>
        <p:nvGrpSpPr>
          <p:cNvPr id="23" name="Eritrocitos ejes"/>
          <p:cNvGrpSpPr/>
          <p:nvPr/>
        </p:nvGrpSpPr>
        <p:grpSpPr>
          <a:xfrm>
            <a:off x="457200" y="1280160"/>
            <a:ext cx="2377440" cy="4160520"/>
            <a:chOff x="457200" y="1280160"/>
            <a:chExt cx="2377440" cy="4160520"/>
          </a:xfrm>
        </p:grpSpPr>
        <p:sp>
          <p:nvSpPr>
            <p:cNvPr id="24" name="e1"/>
            <p:cNvSpPr/>
            <p:nvPr/>
          </p:nvSpPr>
          <p:spPr>
            <a:xfrm>
              <a:off x="457200" y="1280160"/>
              <a:ext cx="1097280" cy="1097280"/>
            </a:xfrm>
            <a:prstGeom prst="ellipse">
              <a:avLst/>
            </a:prstGeom>
            <a:gradFill rotWithShape="1">
              <a:gsLst>
                <a:gs pos="0">
                  <a:srgbClr val="FBE3DE"/>
                </a:gs>
                <a:gs pos="62000">
                  <a:srgbClr val="FBE3DE"/>
                </a:gs>
                <a:gs pos="92000">
                  <a:srgbClr val="DE7B72"/>
                </a:gs>
                <a:gs pos="100000">
                  <a:srgbClr val="8D413A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5" name="e2"/>
            <p:cNvSpPr/>
            <p:nvPr/>
          </p:nvSpPr>
          <p:spPr>
            <a:xfrm>
              <a:off x="1645920" y="2194560"/>
              <a:ext cx="1188720" cy="11887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26" name="e3"/>
            <p:cNvGrpSpPr/>
            <p:nvPr/>
          </p:nvGrpSpPr>
          <p:grpSpPr>
            <a:xfrm>
              <a:off x="548640" y="3566160"/>
              <a:ext cx="1097280" cy="1097280"/>
              <a:chOff x="548640" y="3566160"/>
              <a:chExt cx="1097280" cy="1097280"/>
            </a:xfrm>
          </p:grpSpPr>
          <p:sp>
            <p:nvSpPr>
              <p:cNvPr id="27" name="Cuerpo"/>
              <p:cNvSpPr/>
              <p:nvPr/>
            </p:nvSpPr>
            <p:spPr>
              <a:xfrm>
                <a:off x="548640" y="3566160"/>
                <a:ext cx="1097280" cy="109728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28" name="Forma 27"/>
              <p:cNvSpPr/>
              <p:nvPr/>
            </p:nvSpPr>
            <p:spPr>
              <a:xfrm>
                <a:off x="548640" y="3566160"/>
                <a:ext cx="1097280" cy="109728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  <p:sp>
          <p:nvSpPr>
            <p:cNvPr id="29" name="e4"/>
            <p:cNvSpPr/>
            <p:nvPr/>
          </p:nvSpPr>
          <p:spPr>
            <a:xfrm>
              <a:off x="1737360" y="448056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E35D52"/>
                </a:gs>
                <a:gs pos="55000">
                  <a:srgbClr val="B8261C"/>
                </a:gs>
                <a:gs pos="100000">
                  <a:srgbClr val="6E1510"/>
                </a:gs>
              </a:gsLst>
              <a:path path="circle">
                <a:fillToRect l="38000" t="32000" r="62000" b="68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grpSp>
        <p:nvGrpSpPr>
          <p:cNvPr id="30" name="Hemo ejes"/>
          <p:cNvGrpSpPr/>
          <p:nvPr/>
        </p:nvGrpSpPr>
        <p:grpSpPr>
          <a:xfrm>
            <a:off x="9791286" y="1470246"/>
            <a:ext cx="1905827" cy="1905827"/>
            <a:chOff x="9791286" y="1470246"/>
            <a:chExt cx="1905827" cy="1905827"/>
          </a:xfrm>
        </p:grpSpPr>
        <p:sp>
          <p:nvSpPr>
            <p:cNvPr id="31" name="Flecha 30_2"/>
            <p:cNvSpPr/>
            <p:nvPr/>
          </p:nvSpPr>
          <p:spPr>
            <a:xfrm>
              <a:off x="10744200" y="2423160"/>
              <a:ext cx="450669" cy="9144"/>
            </a:xfrm>
            <a:custGeom>
              <a:avLst/>
              <a:gdLst/>
              <a:ahLst/>
              <a:cxnLst/>
              <a:rect l="0" t="0" r="r" b="b"/>
              <a:pathLst>
                <a:path w="492" h="10" fill="none">
                  <a:moveTo>
                    <a:pt x="0" y="0"/>
                  </a:moveTo>
                  <a:lnTo>
                    <a:pt x="492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32" name="Flecha 32_2"/>
            <p:cNvSpPr/>
            <p:nvPr/>
          </p:nvSpPr>
          <p:spPr>
            <a:xfrm>
              <a:off x="10744200" y="2423160"/>
              <a:ext cx="450669" cy="9144"/>
            </a:xfrm>
            <a:custGeom>
              <a:avLst/>
              <a:gdLst/>
              <a:ahLst/>
              <a:cxnLst/>
              <a:rect l="0" t="0" r="r" b="b"/>
              <a:pathLst>
                <a:path w="492" h="10" fill="none">
                  <a:moveTo>
                    <a:pt x="0" y="0"/>
                  </a:moveTo>
                  <a:lnTo>
                    <a:pt x="492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33" name="Flecha 34_2"/>
            <p:cNvSpPr/>
            <p:nvPr/>
          </p:nvSpPr>
          <p:spPr>
            <a:xfrm>
              <a:off x="10293531" y="2423160"/>
              <a:ext cx="450669" cy="9144"/>
            </a:xfrm>
            <a:custGeom>
              <a:avLst/>
              <a:gdLst/>
              <a:ahLst/>
              <a:cxnLst/>
              <a:rect l="0" t="0" r="r" b="b"/>
              <a:pathLst>
                <a:path w="492" h="10" fill="none">
                  <a:moveTo>
                    <a:pt x="492" y="0"/>
                  </a:moveTo>
                  <a:lnTo>
                    <a:pt x="0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34" name="Flecha 36_2"/>
            <p:cNvSpPr/>
            <p:nvPr/>
          </p:nvSpPr>
          <p:spPr>
            <a:xfrm>
              <a:off x="10293531" y="2423160"/>
              <a:ext cx="450669" cy="9144"/>
            </a:xfrm>
            <a:custGeom>
              <a:avLst/>
              <a:gdLst/>
              <a:ahLst/>
              <a:cxnLst/>
              <a:rect l="0" t="0" r="r" b="b"/>
              <a:pathLst>
                <a:path w="492" h="10" fill="none">
                  <a:moveTo>
                    <a:pt x="492" y="0"/>
                  </a:moveTo>
                  <a:lnTo>
                    <a:pt x="0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35" name="Flecha 38_2"/>
            <p:cNvSpPr/>
            <p:nvPr/>
          </p:nvSpPr>
          <p:spPr>
            <a:xfrm>
              <a:off x="10744200" y="2423160"/>
              <a:ext cx="9144" cy="450669"/>
            </a:xfrm>
            <a:custGeom>
              <a:avLst/>
              <a:gdLst/>
              <a:ahLst/>
              <a:cxnLst/>
              <a:rect l="0" t="0" r="r" b="b"/>
              <a:pathLst>
                <a:path w="10" h="492" fill="none">
                  <a:moveTo>
                    <a:pt x="0" y="0"/>
                  </a:moveTo>
                  <a:lnTo>
                    <a:pt x="0" y="492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36" name="Flecha 40_2"/>
            <p:cNvSpPr/>
            <p:nvPr/>
          </p:nvSpPr>
          <p:spPr>
            <a:xfrm>
              <a:off x="10744200" y="2423160"/>
              <a:ext cx="9144" cy="450669"/>
            </a:xfrm>
            <a:custGeom>
              <a:avLst/>
              <a:gdLst/>
              <a:ahLst/>
              <a:cxnLst/>
              <a:rect l="0" t="0" r="r" b="b"/>
              <a:pathLst>
                <a:path w="10" h="492" fill="none">
                  <a:moveTo>
                    <a:pt x="0" y="0"/>
                  </a:moveTo>
                  <a:lnTo>
                    <a:pt x="0" y="492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37" name="Flecha 42_2"/>
            <p:cNvSpPr/>
            <p:nvPr/>
          </p:nvSpPr>
          <p:spPr>
            <a:xfrm>
              <a:off x="10744200" y="1972491"/>
              <a:ext cx="9144" cy="450669"/>
            </a:xfrm>
            <a:custGeom>
              <a:avLst/>
              <a:gdLst/>
              <a:ahLst/>
              <a:cxnLst/>
              <a:rect l="0" t="0" r="r" b="b"/>
              <a:pathLst>
                <a:path w="10" h="492" fill="none">
                  <a:moveTo>
                    <a:pt x="0" y="492"/>
                  </a:moveTo>
                  <a:lnTo>
                    <a:pt x="0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38" name="Flecha 44_2"/>
            <p:cNvSpPr/>
            <p:nvPr/>
          </p:nvSpPr>
          <p:spPr>
            <a:xfrm>
              <a:off x="10744200" y="1972491"/>
              <a:ext cx="9144" cy="450669"/>
            </a:xfrm>
            <a:custGeom>
              <a:avLst/>
              <a:gdLst/>
              <a:ahLst/>
              <a:cxnLst/>
              <a:rect l="0" t="0" r="r" b="b"/>
              <a:pathLst>
                <a:path w="10" h="492" fill="none">
                  <a:moveTo>
                    <a:pt x="0" y="492"/>
                  </a:moveTo>
                  <a:lnTo>
                    <a:pt x="0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39" name="Flecha 46_2"/>
            <p:cNvSpPr/>
            <p:nvPr/>
          </p:nvSpPr>
          <p:spPr>
            <a:xfrm>
              <a:off x="11194869" y="2423160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0" y="0"/>
                  </a:moveTo>
                  <a:lnTo>
                    <a:pt x="328" y="438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40" name="Flecha 48_2"/>
            <p:cNvSpPr/>
            <p:nvPr/>
          </p:nvSpPr>
          <p:spPr>
            <a:xfrm>
              <a:off x="11194869" y="2423160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0" y="0"/>
                  </a:moveTo>
                  <a:lnTo>
                    <a:pt x="328" y="438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41" name="Flecha 50_2"/>
            <p:cNvSpPr/>
            <p:nvPr/>
          </p:nvSpPr>
          <p:spPr>
            <a:xfrm>
              <a:off x="11194869" y="2022566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0" y="438"/>
                  </a:moveTo>
                  <a:lnTo>
                    <a:pt x="328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42" name="Flecha 52_2"/>
            <p:cNvSpPr/>
            <p:nvPr/>
          </p:nvSpPr>
          <p:spPr>
            <a:xfrm>
              <a:off x="11194869" y="2022566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0" y="438"/>
                  </a:moveTo>
                  <a:lnTo>
                    <a:pt x="328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43" name="Flecha 54_2"/>
            <p:cNvSpPr/>
            <p:nvPr/>
          </p:nvSpPr>
          <p:spPr>
            <a:xfrm>
              <a:off x="9993086" y="2423160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328" y="0"/>
                  </a:moveTo>
                  <a:lnTo>
                    <a:pt x="0" y="438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44" name="Flecha 56_2"/>
            <p:cNvSpPr/>
            <p:nvPr/>
          </p:nvSpPr>
          <p:spPr>
            <a:xfrm>
              <a:off x="9993086" y="2423160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328" y="0"/>
                  </a:moveTo>
                  <a:lnTo>
                    <a:pt x="0" y="438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45" name="Flecha 58_2"/>
            <p:cNvSpPr/>
            <p:nvPr/>
          </p:nvSpPr>
          <p:spPr>
            <a:xfrm>
              <a:off x="9993086" y="2022566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328" y="438"/>
                  </a:moveTo>
                  <a:lnTo>
                    <a:pt x="0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46" name="Flecha 60_2"/>
            <p:cNvSpPr/>
            <p:nvPr/>
          </p:nvSpPr>
          <p:spPr>
            <a:xfrm>
              <a:off x="9993086" y="2022566"/>
              <a:ext cx="300446" cy="400594"/>
            </a:xfrm>
            <a:custGeom>
              <a:avLst/>
              <a:gdLst/>
              <a:ahLst/>
              <a:cxnLst/>
              <a:rect l="0" t="0" r="r" b="b"/>
              <a:pathLst>
                <a:path w="328" h="438" fill="none">
                  <a:moveTo>
                    <a:pt x="328" y="438"/>
                  </a:moveTo>
                  <a:lnTo>
                    <a:pt x="0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47" name="Flecha 62_2"/>
            <p:cNvSpPr/>
            <p:nvPr/>
          </p:nvSpPr>
          <p:spPr>
            <a:xfrm>
              <a:off x="10744200" y="2873829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0" y="0"/>
                  </a:moveTo>
                  <a:lnTo>
                    <a:pt x="438" y="328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48" name="Flecha 64_2"/>
            <p:cNvSpPr/>
            <p:nvPr/>
          </p:nvSpPr>
          <p:spPr>
            <a:xfrm>
              <a:off x="10744200" y="2873829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0" y="0"/>
                  </a:moveTo>
                  <a:lnTo>
                    <a:pt x="438" y="328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49" name="Flecha 66_2"/>
            <p:cNvSpPr/>
            <p:nvPr/>
          </p:nvSpPr>
          <p:spPr>
            <a:xfrm>
              <a:off x="10343606" y="2873829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438" y="0"/>
                  </a:moveTo>
                  <a:lnTo>
                    <a:pt x="0" y="328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50" name="Flecha 68_2"/>
            <p:cNvSpPr/>
            <p:nvPr/>
          </p:nvSpPr>
          <p:spPr>
            <a:xfrm>
              <a:off x="10343606" y="2873829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438" y="0"/>
                  </a:moveTo>
                  <a:lnTo>
                    <a:pt x="0" y="328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51" name="Flecha 70_2"/>
            <p:cNvSpPr/>
            <p:nvPr/>
          </p:nvSpPr>
          <p:spPr>
            <a:xfrm>
              <a:off x="10744200" y="1672046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0" y="328"/>
                  </a:moveTo>
                  <a:lnTo>
                    <a:pt x="438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52" name="Flecha 72_2"/>
            <p:cNvSpPr/>
            <p:nvPr/>
          </p:nvSpPr>
          <p:spPr>
            <a:xfrm>
              <a:off x="10744200" y="1672046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0" y="328"/>
                  </a:moveTo>
                  <a:lnTo>
                    <a:pt x="438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53" name="Flecha 74_2"/>
            <p:cNvSpPr/>
            <p:nvPr/>
          </p:nvSpPr>
          <p:spPr>
            <a:xfrm>
              <a:off x="10343606" y="1672046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438" y="328"/>
                  </a:moveTo>
                  <a:lnTo>
                    <a:pt x="0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54" name="Flecha 76_2"/>
            <p:cNvSpPr/>
            <p:nvPr/>
          </p:nvSpPr>
          <p:spPr>
            <a:xfrm>
              <a:off x="10343606" y="1672046"/>
              <a:ext cx="400594" cy="300446"/>
            </a:xfrm>
            <a:custGeom>
              <a:avLst/>
              <a:gdLst/>
              <a:ahLst/>
              <a:cxnLst/>
              <a:rect l="0" t="0" r="r" b="b"/>
              <a:pathLst>
                <a:path w="438" h="328" fill="none">
                  <a:moveTo>
                    <a:pt x="438" y="328"/>
                  </a:moveTo>
                  <a:lnTo>
                    <a:pt x="0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55" name="Flecha 78_2"/>
            <p:cNvSpPr/>
            <p:nvPr/>
          </p:nvSpPr>
          <p:spPr>
            <a:xfrm>
              <a:off x="11144794" y="2823754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383" y="0"/>
                  </a:moveTo>
                  <a:lnTo>
                    <a:pt x="0" y="383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56" name="Flecha 80_2"/>
            <p:cNvSpPr/>
            <p:nvPr/>
          </p:nvSpPr>
          <p:spPr>
            <a:xfrm>
              <a:off x="11144794" y="2823754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383" y="0"/>
                  </a:moveTo>
                  <a:lnTo>
                    <a:pt x="0" y="383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57" name="Flecha 82_2"/>
            <p:cNvSpPr/>
            <p:nvPr/>
          </p:nvSpPr>
          <p:spPr>
            <a:xfrm>
              <a:off x="9993086" y="2823754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0" y="0"/>
                  </a:moveTo>
                  <a:lnTo>
                    <a:pt x="383" y="383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58" name="Flecha 84_2"/>
            <p:cNvSpPr/>
            <p:nvPr/>
          </p:nvSpPr>
          <p:spPr>
            <a:xfrm>
              <a:off x="9993086" y="2823754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0" y="0"/>
                  </a:moveTo>
                  <a:lnTo>
                    <a:pt x="383" y="383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59" name="Flecha 86_2"/>
            <p:cNvSpPr/>
            <p:nvPr/>
          </p:nvSpPr>
          <p:spPr>
            <a:xfrm>
              <a:off x="11144794" y="1672046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383" y="383"/>
                  </a:moveTo>
                  <a:lnTo>
                    <a:pt x="0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60" name="Flecha 88_2"/>
            <p:cNvSpPr/>
            <p:nvPr/>
          </p:nvSpPr>
          <p:spPr>
            <a:xfrm>
              <a:off x="11144794" y="1672046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383" y="383"/>
                  </a:moveTo>
                  <a:lnTo>
                    <a:pt x="0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61" name="Flecha 90_2"/>
            <p:cNvSpPr/>
            <p:nvPr/>
          </p:nvSpPr>
          <p:spPr>
            <a:xfrm>
              <a:off x="9993086" y="1672046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0" y="383"/>
                  </a:moveTo>
                  <a:lnTo>
                    <a:pt x="383" y="0"/>
                  </a:lnTo>
                </a:path>
              </a:pathLst>
            </a:custGeom>
            <a:noFill/>
            <a:ln w="111276" cap="rnd">
              <a:solidFill>
                <a:srgbClr val="B9B9B9"/>
              </a:solidFill>
              <a:round/>
            </a:ln>
          </p:spPr>
        </p:sp>
        <p:sp>
          <p:nvSpPr>
            <p:cNvPr id="62" name="Flecha 92_2"/>
            <p:cNvSpPr/>
            <p:nvPr/>
          </p:nvSpPr>
          <p:spPr>
            <a:xfrm>
              <a:off x="9993086" y="1672046"/>
              <a:ext cx="350520" cy="350520"/>
            </a:xfrm>
            <a:custGeom>
              <a:avLst/>
              <a:gdLst/>
              <a:ahLst/>
              <a:cxnLst/>
              <a:rect l="0" t="0" r="r" b="b"/>
              <a:pathLst>
                <a:path w="383" h="383" fill="none">
                  <a:moveTo>
                    <a:pt x="0" y="383"/>
                  </a:moveTo>
                  <a:lnTo>
                    <a:pt x="383" y="0"/>
                  </a:lnTo>
                </a:path>
              </a:pathLst>
            </a:custGeom>
            <a:noFill/>
            <a:ln w="62592" cap="rnd">
              <a:solidFill>
                <a:srgbClr val="FFFFFF"/>
              </a:solidFill>
              <a:round/>
            </a:ln>
          </p:spPr>
        </p:sp>
        <p:sp>
          <p:nvSpPr>
            <p:cNvPr id="63" name="Forma 94"/>
            <p:cNvSpPr/>
            <p:nvPr/>
          </p:nvSpPr>
          <p:spPr>
            <a:xfrm>
              <a:off x="10993069" y="2221361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4" name="Forma 95"/>
            <p:cNvSpPr/>
            <p:nvPr/>
          </p:nvSpPr>
          <p:spPr>
            <a:xfrm>
              <a:off x="10091732" y="2221361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5" name="Forma 96"/>
            <p:cNvSpPr/>
            <p:nvPr/>
          </p:nvSpPr>
          <p:spPr>
            <a:xfrm>
              <a:off x="10542401" y="2672029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6" name="Forma 97"/>
            <p:cNvSpPr/>
            <p:nvPr/>
          </p:nvSpPr>
          <p:spPr>
            <a:xfrm>
              <a:off x="10542401" y="1770692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CA8F3"/>
                </a:gs>
                <a:gs pos="75000">
                  <a:srgbClr val="7C8CF0"/>
                </a:gs>
                <a:gs pos="100000">
                  <a:srgbClr val="5662A8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7" name="Forma 98"/>
            <p:cNvSpPr/>
            <p:nvPr/>
          </p:nvSpPr>
          <p:spPr>
            <a:xfrm>
              <a:off x="11293515" y="2621955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8" name="Forma 99"/>
            <p:cNvSpPr/>
            <p:nvPr/>
          </p:nvSpPr>
          <p:spPr>
            <a:xfrm>
              <a:off x="9791286" y="2621955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69" name="Forma 100"/>
            <p:cNvSpPr/>
            <p:nvPr/>
          </p:nvSpPr>
          <p:spPr>
            <a:xfrm>
              <a:off x="11293515" y="1820766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0" name="Forma 101"/>
            <p:cNvSpPr/>
            <p:nvPr/>
          </p:nvSpPr>
          <p:spPr>
            <a:xfrm>
              <a:off x="9791286" y="1820766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1" name="Forma 102"/>
            <p:cNvSpPr/>
            <p:nvPr/>
          </p:nvSpPr>
          <p:spPr>
            <a:xfrm>
              <a:off x="10942995" y="2972475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2" name="Forma 103"/>
            <p:cNvSpPr/>
            <p:nvPr/>
          </p:nvSpPr>
          <p:spPr>
            <a:xfrm>
              <a:off x="10141806" y="2972475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3" name="Forma 104"/>
            <p:cNvSpPr/>
            <p:nvPr/>
          </p:nvSpPr>
          <p:spPr>
            <a:xfrm>
              <a:off x="10942995" y="1470246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4" name="Forma 105"/>
            <p:cNvSpPr/>
            <p:nvPr/>
          </p:nvSpPr>
          <p:spPr>
            <a:xfrm>
              <a:off x="10141806" y="1470246"/>
              <a:ext cx="403599" cy="403599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75" name="Forma 106"/>
            <p:cNvSpPr/>
            <p:nvPr/>
          </p:nvSpPr>
          <p:spPr>
            <a:xfrm>
              <a:off x="10502041" y="2181001"/>
              <a:ext cx="484318" cy="484318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DE7E3F"/>
                </a:gs>
                <a:gs pos="75000">
                  <a:srgbClr val="D35400"/>
                </a:gs>
                <a:gs pos="100000">
                  <a:srgbClr val="933A00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CÓMO DESCRIBIR CUALQUIER ANEMIA: CUATRO EJES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7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pSp>
        <p:nvGrpSpPr>
          <p:cNvPr id="5" name="Idea 1"/>
          <p:cNvGrpSpPr/>
          <p:nvPr/>
        </p:nvGrpSpPr>
        <p:grpSpPr>
          <a:xfrm>
            <a:off x="320040" y="1097280"/>
            <a:ext cx="3931920" cy="960120"/>
            <a:chOff x="320040" y="1097280"/>
            <a:chExt cx="3931920" cy="960120"/>
          </a:xfrm>
        </p:grpSpPr>
        <p:sp>
          <p:nvSpPr>
            <p:cNvPr id="6" name="Número 1"/>
            <p:cNvSpPr/>
            <p:nvPr/>
          </p:nvSpPr>
          <p:spPr>
            <a:xfrm>
              <a:off x="320040" y="1371600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868680" y="1097280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anemia se define por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no por hematocrito ni recuento.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8" name="Idea 2"/>
          <p:cNvGrpSpPr/>
          <p:nvPr/>
        </p:nvGrpSpPr>
        <p:grpSpPr>
          <a:xfrm>
            <a:off x="4343400" y="1097280"/>
            <a:ext cx="3931920" cy="960120"/>
            <a:chOff x="4343400" y="1097280"/>
            <a:chExt cx="3931920" cy="960120"/>
          </a:xfrm>
        </p:grpSpPr>
        <p:sp>
          <p:nvSpPr>
            <p:cNvPr id="9" name="Número 2"/>
            <p:cNvSpPr/>
            <p:nvPr/>
          </p:nvSpPr>
          <p:spPr>
            <a:xfrm>
              <a:off x="4343400" y="1371600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4892040" y="1097280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valores varían por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sexo, edad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condición fisiológica.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11" name="Idea 3"/>
          <p:cNvGrpSpPr/>
          <p:nvPr/>
        </p:nvGrpSpPr>
        <p:grpSpPr>
          <a:xfrm>
            <a:off x="320040" y="2176272"/>
            <a:ext cx="3931920" cy="960120"/>
            <a:chOff x="320040" y="2176272"/>
            <a:chExt cx="3931920" cy="960120"/>
          </a:xfrm>
        </p:grpSpPr>
        <p:sp>
          <p:nvSpPr>
            <p:cNvPr id="12" name="Número 3"/>
            <p:cNvSpPr/>
            <p:nvPr/>
          </p:nvSpPr>
          <p:spPr>
            <a:xfrm>
              <a:off x="320040" y="2450592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868680" y="2176272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VCM, HCM, CHCM y RDW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clasifican morfológicamente.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14" name="Idea 4"/>
          <p:cNvGrpSpPr/>
          <p:nvPr/>
        </p:nvGrpSpPr>
        <p:grpSpPr>
          <a:xfrm>
            <a:off x="4343400" y="2176272"/>
            <a:ext cx="3931920" cy="960120"/>
            <a:chOff x="4343400" y="2176272"/>
            <a:chExt cx="3931920" cy="960120"/>
          </a:xfrm>
        </p:grpSpPr>
        <p:sp>
          <p:nvSpPr>
            <p:cNvPr id="15" name="Número 4"/>
            <p:cNvSpPr/>
            <p:nvPr/>
          </p:nvSpPr>
          <p:spPr>
            <a:xfrm>
              <a:off x="4343400" y="2450592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4892040" y="2176272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reticulocitos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separan regenerativa de arregenerativa.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17" name="Idea 5"/>
          <p:cNvGrpSpPr/>
          <p:nvPr/>
        </p:nvGrpSpPr>
        <p:grpSpPr>
          <a:xfrm>
            <a:off x="320040" y="3255264"/>
            <a:ext cx="3931920" cy="960120"/>
            <a:chOff x="320040" y="3255264"/>
            <a:chExt cx="3931920" cy="960120"/>
          </a:xfrm>
        </p:grpSpPr>
        <p:sp>
          <p:nvSpPr>
            <p:cNvPr id="18" name="Número 5"/>
            <p:cNvSpPr/>
            <p:nvPr/>
          </p:nvSpPr>
          <p:spPr>
            <a:xfrm>
              <a:off x="320040" y="3529584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68680" y="3255264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CHCM elevada: hallazgo clásico de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esferocitosis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(no exclusivo).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20" name="Idea 6"/>
          <p:cNvGrpSpPr/>
          <p:nvPr/>
        </p:nvGrpSpPr>
        <p:grpSpPr>
          <a:xfrm>
            <a:off x="4343400" y="3255264"/>
            <a:ext cx="3931920" cy="960120"/>
            <a:chOff x="4343400" y="3255264"/>
            <a:chExt cx="3931920" cy="960120"/>
          </a:xfrm>
        </p:grpSpPr>
        <p:sp>
          <p:nvSpPr>
            <p:cNvPr id="21" name="Número 6"/>
            <p:cNvSpPr/>
            <p:nvPr/>
          </p:nvSpPr>
          <p:spPr>
            <a:xfrm>
              <a:off x="4343400" y="3529584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4892040" y="3255264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Coombs positiva →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hemolítica autoinmune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23" name="Idea 7"/>
          <p:cNvGrpSpPr/>
          <p:nvPr/>
        </p:nvGrpSpPr>
        <p:grpSpPr>
          <a:xfrm>
            <a:off x="320040" y="4334256"/>
            <a:ext cx="3931920" cy="960120"/>
            <a:chOff x="320040" y="4334256"/>
            <a:chExt cx="3931920" cy="960120"/>
          </a:xfrm>
        </p:grpSpPr>
        <p:sp>
          <p:nvSpPr>
            <p:cNvPr id="24" name="Número 7"/>
            <p:cNvSpPr/>
            <p:nvPr/>
          </p:nvSpPr>
          <p:spPr>
            <a:xfrm>
              <a:off x="320040" y="4608576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8680" y="4334256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Pancitopenia + macrocitosis →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megaloblástica o perniciosa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26" name="Idea 8"/>
          <p:cNvGrpSpPr/>
          <p:nvPr/>
        </p:nvGrpSpPr>
        <p:grpSpPr>
          <a:xfrm>
            <a:off x="4343400" y="4334256"/>
            <a:ext cx="3931920" cy="960120"/>
            <a:chOff x="4343400" y="4334256"/>
            <a:chExt cx="3931920" cy="960120"/>
          </a:xfrm>
        </p:grpSpPr>
        <p:sp>
          <p:nvSpPr>
            <p:cNvPr id="27" name="Número 8"/>
            <p:cNvSpPr/>
            <p:nvPr/>
          </p:nvSpPr>
          <p:spPr>
            <a:xfrm>
              <a:off x="4343400" y="4608576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4892040" y="4334256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Ictericia + reticulocitos altos + LDH alta →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hemólisis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29" name="Idea 9"/>
          <p:cNvGrpSpPr/>
          <p:nvPr/>
        </p:nvGrpSpPr>
        <p:grpSpPr>
          <a:xfrm>
            <a:off x="320040" y="5413248"/>
            <a:ext cx="3931920" cy="960120"/>
            <a:chOff x="320040" y="5413248"/>
            <a:chExt cx="3931920" cy="960120"/>
          </a:xfrm>
        </p:grpSpPr>
        <p:sp>
          <p:nvSpPr>
            <p:cNvPr id="30" name="Número 9"/>
            <p:cNvSpPr/>
            <p:nvPr/>
          </p:nvSpPr>
          <p:spPr>
            <a:xfrm>
              <a:off x="320040" y="5687568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868680" y="5413248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Esplenomegalia + hemólisis →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hiperesplenismo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32" name="Idea 10"/>
          <p:cNvGrpSpPr/>
          <p:nvPr/>
        </p:nvGrpSpPr>
        <p:grpSpPr>
          <a:xfrm>
            <a:off x="4343400" y="5413248"/>
            <a:ext cx="3931920" cy="960120"/>
            <a:chOff x="4343400" y="5413248"/>
            <a:chExt cx="3931920" cy="960120"/>
          </a:xfrm>
        </p:grpSpPr>
        <p:sp>
          <p:nvSpPr>
            <p:cNvPr id="33" name="Número 10"/>
            <p:cNvSpPr/>
            <p:nvPr/>
          </p:nvSpPr>
          <p:spPr>
            <a:xfrm>
              <a:off x="4343400" y="5687568"/>
              <a:ext cx="457200" cy="457200"/>
            </a:xfrm>
            <a:prstGeom prst="ellipse">
              <a:avLst/>
            </a:prstGeom>
            <a:solidFill>
              <a:srgbClr val="FFC00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4892040" y="5413248"/>
              <a:ext cx="3383280" cy="9601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Transfusión: umbral de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 g/dL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pacientes estables, siempre individualizado.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35" name="Deco claves"/>
          <p:cNvGrpSpPr/>
          <p:nvPr/>
        </p:nvGrpSpPr>
        <p:grpSpPr>
          <a:xfrm>
            <a:off x="8778240" y="1280160"/>
            <a:ext cx="2838298" cy="3291840"/>
            <a:chOff x="8778240" y="1280160"/>
            <a:chExt cx="2838298" cy="3291840"/>
          </a:xfrm>
        </p:grpSpPr>
        <p:sp>
          <p:nvSpPr>
            <p:cNvPr id="36" name="GR clave"/>
            <p:cNvSpPr/>
            <p:nvPr/>
          </p:nvSpPr>
          <p:spPr>
            <a:xfrm>
              <a:off x="8778240" y="1280160"/>
              <a:ext cx="1371600" cy="137160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37" name="Hb clave"/>
            <p:cNvGrpSpPr/>
            <p:nvPr/>
          </p:nvGrpSpPr>
          <p:grpSpPr>
            <a:xfrm>
              <a:off x="10329062" y="1550822"/>
              <a:ext cx="1287475" cy="1287475"/>
              <a:chOff x="10329062" y="1550822"/>
              <a:chExt cx="1287475" cy="1287475"/>
            </a:xfrm>
          </p:grpSpPr>
          <p:sp>
            <p:nvSpPr>
              <p:cNvPr id="38" name="Forma 37"/>
              <p:cNvSpPr/>
              <p:nvPr/>
            </p:nvSpPr>
            <p:spPr>
              <a:xfrm>
                <a:off x="10329062" y="1550822"/>
                <a:ext cx="702259" cy="702259"/>
              </a:xfrm>
              <a:prstGeom prst="ellipse">
                <a:avLst/>
              </a:prstGeom>
              <a:gradFill rotWithShape="1">
                <a:gsLst>
                  <a:gs pos="0">
                    <a:srgbClr val="EFABAB"/>
                  </a:gs>
                  <a:gs pos="55000">
                    <a:srgbClr val="E57373"/>
                  </a:gs>
                  <a:gs pos="100000">
                    <a:srgbClr val="AB5656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23939"/>
                </a:solidFill>
                <a:round/>
              </a:ln>
            </p:spPr>
            <p:txBody>
              <a:bodyPr wrap="square" lIns="0" tIns="73152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08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</a:t>
                </a:r>
                <a:endParaRPr lang="es-AR" sz="2080" dirty="0">
                  <a:latin typeface="Calibri"/>
                </a:endParaRPr>
              </a:p>
            </p:txBody>
          </p:sp>
          <p:sp>
            <p:nvSpPr>
              <p:cNvPr id="39" name="Forma 38"/>
              <p:cNvSpPr/>
              <p:nvPr/>
            </p:nvSpPr>
            <p:spPr>
              <a:xfrm>
                <a:off x="10577779" y="1931213"/>
                <a:ext cx="204826" cy="204826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10914278" y="1550822"/>
                <a:ext cx="702259" cy="702259"/>
              </a:xfrm>
              <a:prstGeom prst="ellipse">
                <a:avLst/>
              </a:prstGeom>
              <a:gradFill rotWithShape="1">
                <a:gsLst>
                  <a:gs pos="0">
                    <a:srgbClr val="F9CF8D"/>
                  </a:gs>
                  <a:gs pos="55000">
                    <a:srgbClr val="F5B041"/>
                  </a:gs>
                  <a:gs pos="100000">
                    <a:srgbClr val="B78430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A5820"/>
                </a:solidFill>
                <a:round/>
              </a:ln>
            </p:spPr>
            <p:txBody>
              <a:bodyPr wrap="square" lIns="0" tIns="73152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08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β</a:t>
                </a:r>
                <a:endParaRPr lang="es-AR" sz="2080" dirty="0">
                  <a:latin typeface="Calibri"/>
                </a:endParaRPr>
              </a:p>
            </p:txBody>
          </p:sp>
          <p:sp>
            <p:nvSpPr>
              <p:cNvPr id="41" name="Forma 40"/>
              <p:cNvSpPr/>
              <p:nvPr/>
            </p:nvSpPr>
            <p:spPr>
              <a:xfrm>
                <a:off x="11162995" y="1931213"/>
                <a:ext cx="204826" cy="204826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42" name="Forma 41"/>
              <p:cNvSpPr/>
              <p:nvPr/>
            </p:nvSpPr>
            <p:spPr>
              <a:xfrm>
                <a:off x="10329062" y="2136038"/>
                <a:ext cx="702259" cy="702259"/>
              </a:xfrm>
              <a:prstGeom prst="ellipse">
                <a:avLst/>
              </a:prstGeom>
              <a:gradFill rotWithShape="1">
                <a:gsLst>
                  <a:gs pos="0">
                    <a:srgbClr val="F9CF8D"/>
                  </a:gs>
                  <a:gs pos="55000">
                    <a:srgbClr val="F5B041"/>
                  </a:gs>
                  <a:gs pos="100000">
                    <a:srgbClr val="B78430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A5820"/>
                </a:solidFill>
                <a:round/>
              </a:ln>
            </p:spPr>
            <p:txBody>
              <a:bodyPr wrap="square" lIns="0" tIns="73152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08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β</a:t>
                </a:r>
                <a:endParaRPr lang="es-AR" sz="2080" dirty="0">
                  <a:latin typeface="Calibri"/>
                </a:endParaRPr>
              </a:p>
            </p:txBody>
          </p:sp>
          <p:sp>
            <p:nvSpPr>
              <p:cNvPr id="43" name="Forma 42"/>
              <p:cNvSpPr/>
              <p:nvPr/>
            </p:nvSpPr>
            <p:spPr>
              <a:xfrm>
                <a:off x="10577779" y="2516429"/>
                <a:ext cx="204826" cy="204826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10914278" y="2136038"/>
                <a:ext cx="702259" cy="702259"/>
              </a:xfrm>
              <a:prstGeom prst="ellipse">
                <a:avLst/>
              </a:prstGeom>
              <a:gradFill rotWithShape="1">
                <a:gsLst>
                  <a:gs pos="0">
                    <a:srgbClr val="EFABAB"/>
                  </a:gs>
                  <a:gs pos="55000">
                    <a:srgbClr val="E57373"/>
                  </a:gs>
                  <a:gs pos="100000">
                    <a:srgbClr val="AB5656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23939"/>
                </a:solidFill>
                <a:round/>
              </a:ln>
            </p:spPr>
            <p:txBody>
              <a:bodyPr wrap="square" lIns="0" tIns="73152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08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</a:t>
                </a:r>
                <a:endParaRPr lang="es-AR" sz="2080" dirty="0">
                  <a:latin typeface="Calibri"/>
                </a:endParaRPr>
              </a:p>
            </p:txBody>
          </p:sp>
          <p:sp>
            <p:nvSpPr>
              <p:cNvPr id="45" name="Forma 44"/>
              <p:cNvSpPr/>
              <p:nvPr/>
            </p:nvSpPr>
            <p:spPr>
              <a:xfrm>
                <a:off x="11162995" y="2516429"/>
                <a:ext cx="204826" cy="204826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</p:grpSp>
        <p:grpSp>
          <p:nvGrpSpPr>
            <p:cNvPr id="46" name="Mega clave"/>
            <p:cNvGrpSpPr/>
            <p:nvPr/>
          </p:nvGrpSpPr>
          <p:grpSpPr>
            <a:xfrm>
              <a:off x="8869680" y="3108960"/>
              <a:ext cx="1371600" cy="1371600"/>
              <a:chOff x="8869680" y="3108960"/>
              <a:chExt cx="1371600" cy="1371600"/>
            </a:xfrm>
          </p:grpSpPr>
          <p:sp>
            <p:nvSpPr>
              <p:cNvPr id="47" name="Citoplasma"/>
              <p:cNvSpPr/>
              <p:nvPr/>
            </p:nvSpPr>
            <p:spPr>
              <a:xfrm>
                <a:off x="8869680" y="3108960"/>
                <a:ext cx="1371600" cy="1371600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8E3A59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8" name="Núcleo"/>
              <p:cNvSpPr/>
              <p:nvPr/>
            </p:nvSpPr>
            <p:spPr>
              <a:xfrm>
                <a:off x="9246870" y="3486150"/>
                <a:ext cx="617220" cy="617220"/>
              </a:xfrm>
              <a:prstGeom prst="ellipse">
                <a:avLst/>
              </a:prstGeom>
              <a:gradFill rotWithShape="1">
                <a:gsLst>
                  <a:gs pos="0">
                    <a:srgbClr val="B39DDB"/>
                  </a:gs>
                  <a:gs pos="100000">
                    <a:srgbClr val="5E35B1"/>
                  </a:gs>
                </a:gsLst>
                <a:path path="circle">
                  <a:fillToRect l="40000" t="35000" r="60000" b="65000"/>
                </a:path>
              </a:gradFill>
              <a:ln w="12700" cap="rnd">
                <a:solidFill>
                  <a:srgbClr val="311B92"/>
                </a:solidFill>
                <a:round/>
              </a:ln>
            </p:spPr>
          </p:sp>
          <p:sp>
            <p:nvSpPr>
              <p:cNvPr id="49" name="Forma 48"/>
              <p:cNvSpPr/>
              <p:nvPr/>
            </p:nvSpPr>
            <p:spPr>
              <a:xfrm>
                <a:off x="9246870" y="3486150"/>
                <a:ext cx="617220" cy="6172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568" y="613"/>
                    </a:moveTo>
                    <a:cubicBezTo>
                      <a:pt x="568" y="630"/>
                      <a:pt x="554" y="644"/>
                      <a:pt x="537" y="644"/>
                    </a:cubicBezTo>
                    <a:cubicBezTo>
                      <a:pt x="519" y="644"/>
                      <a:pt x="506" y="630"/>
                      <a:pt x="506" y="613"/>
                    </a:cubicBezTo>
                    <a:cubicBezTo>
                      <a:pt x="506" y="595"/>
                      <a:pt x="519" y="582"/>
                      <a:pt x="537" y="582"/>
                    </a:cubicBezTo>
                    <a:cubicBezTo>
                      <a:pt x="554" y="582"/>
                      <a:pt x="568" y="595"/>
                      <a:pt x="568" y="613"/>
                    </a:cubicBezTo>
                    <a:close/>
                    <a:moveTo>
                      <a:pt x="461" y="370"/>
                    </a:moveTo>
                    <a:cubicBezTo>
                      <a:pt x="461" y="383"/>
                      <a:pt x="449" y="395"/>
                      <a:pt x="436" y="395"/>
                    </a:cubicBezTo>
                    <a:cubicBezTo>
                      <a:pt x="422" y="395"/>
                      <a:pt x="411" y="383"/>
                      <a:pt x="411" y="370"/>
                    </a:cubicBezTo>
                    <a:cubicBezTo>
                      <a:pt x="411" y="356"/>
                      <a:pt x="422" y="345"/>
                      <a:pt x="436" y="345"/>
                    </a:cubicBezTo>
                    <a:cubicBezTo>
                      <a:pt x="449" y="345"/>
                      <a:pt x="461" y="356"/>
                      <a:pt x="461" y="370"/>
                    </a:cubicBezTo>
                    <a:close/>
                    <a:moveTo>
                      <a:pt x="676" y="303"/>
                    </a:moveTo>
                    <a:cubicBezTo>
                      <a:pt x="676" y="319"/>
                      <a:pt x="662" y="333"/>
                      <a:pt x="646" y="333"/>
                    </a:cubicBezTo>
                    <a:cubicBezTo>
                      <a:pt x="629" y="333"/>
                      <a:pt x="616" y="319"/>
                      <a:pt x="616" y="303"/>
                    </a:cubicBezTo>
                    <a:cubicBezTo>
                      <a:pt x="616" y="286"/>
                      <a:pt x="629" y="273"/>
                      <a:pt x="646" y="273"/>
                    </a:cubicBezTo>
                    <a:cubicBezTo>
                      <a:pt x="662" y="273"/>
                      <a:pt x="676" y="286"/>
                      <a:pt x="676" y="303"/>
                    </a:cubicBezTo>
                    <a:close/>
                    <a:moveTo>
                      <a:pt x="596" y="537"/>
                    </a:moveTo>
                    <a:cubicBezTo>
                      <a:pt x="596" y="558"/>
                      <a:pt x="578" y="576"/>
                      <a:pt x="557" y="576"/>
                    </a:cubicBezTo>
                    <a:cubicBezTo>
                      <a:pt x="535" y="576"/>
                      <a:pt x="518" y="558"/>
                      <a:pt x="518" y="537"/>
                    </a:cubicBezTo>
                    <a:cubicBezTo>
                      <a:pt x="518" y="515"/>
                      <a:pt x="535" y="498"/>
                      <a:pt x="557" y="498"/>
                    </a:cubicBezTo>
                    <a:cubicBezTo>
                      <a:pt x="578" y="498"/>
                      <a:pt x="596" y="515"/>
                      <a:pt x="596" y="537"/>
                    </a:cubicBezTo>
                    <a:close/>
                    <a:moveTo>
                      <a:pt x="378" y="471"/>
                    </a:moveTo>
                    <a:cubicBezTo>
                      <a:pt x="378" y="491"/>
                      <a:pt x="361" y="508"/>
                      <a:pt x="341" y="508"/>
                    </a:cubicBezTo>
                    <a:cubicBezTo>
                      <a:pt x="320" y="508"/>
                      <a:pt x="304" y="491"/>
                      <a:pt x="304" y="471"/>
                    </a:cubicBezTo>
                    <a:cubicBezTo>
                      <a:pt x="304" y="450"/>
                      <a:pt x="320" y="434"/>
                      <a:pt x="341" y="434"/>
                    </a:cubicBezTo>
                    <a:cubicBezTo>
                      <a:pt x="361" y="434"/>
                      <a:pt x="378" y="450"/>
                      <a:pt x="378" y="471"/>
                    </a:cubicBezTo>
                    <a:close/>
                    <a:moveTo>
                      <a:pt x="636" y="658"/>
                    </a:moveTo>
                    <a:cubicBezTo>
                      <a:pt x="636" y="669"/>
                      <a:pt x="626" y="679"/>
                      <a:pt x="615" y="679"/>
                    </a:cubicBezTo>
                    <a:cubicBezTo>
                      <a:pt x="603" y="679"/>
                      <a:pt x="594" y="669"/>
                      <a:pt x="594" y="658"/>
                    </a:cubicBezTo>
                    <a:cubicBezTo>
                      <a:pt x="594" y="646"/>
                      <a:pt x="603" y="637"/>
                      <a:pt x="615" y="637"/>
                    </a:cubicBezTo>
                    <a:cubicBezTo>
                      <a:pt x="626" y="637"/>
                      <a:pt x="636" y="646"/>
                      <a:pt x="636" y="658"/>
                    </a:cubicBezTo>
                    <a:close/>
                    <a:moveTo>
                      <a:pt x="697" y="494"/>
                    </a:moveTo>
                    <a:cubicBezTo>
                      <a:pt x="697" y="507"/>
                      <a:pt x="685" y="519"/>
                      <a:pt x="672" y="519"/>
                    </a:cubicBezTo>
                    <a:cubicBezTo>
                      <a:pt x="658" y="519"/>
                      <a:pt x="647" y="507"/>
                      <a:pt x="647" y="494"/>
                    </a:cubicBezTo>
                    <a:cubicBezTo>
                      <a:pt x="647" y="480"/>
                      <a:pt x="658" y="469"/>
                      <a:pt x="672" y="469"/>
                    </a:cubicBezTo>
                    <a:cubicBezTo>
                      <a:pt x="685" y="469"/>
                      <a:pt x="697" y="480"/>
                      <a:pt x="697" y="494"/>
                    </a:cubicBezTo>
                    <a:close/>
                    <a:moveTo>
                      <a:pt x="693" y="531"/>
                    </a:moveTo>
                    <a:cubicBezTo>
                      <a:pt x="693" y="549"/>
                      <a:pt x="678" y="564"/>
                      <a:pt x="660" y="564"/>
                    </a:cubicBezTo>
                    <a:cubicBezTo>
                      <a:pt x="641" y="564"/>
                      <a:pt x="627" y="549"/>
                      <a:pt x="627" y="531"/>
                    </a:cubicBezTo>
                    <a:cubicBezTo>
                      <a:pt x="627" y="512"/>
                      <a:pt x="641" y="498"/>
                      <a:pt x="660" y="498"/>
                    </a:cubicBezTo>
                    <a:cubicBezTo>
                      <a:pt x="678" y="498"/>
                      <a:pt x="693" y="512"/>
                      <a:pt x="693" y="531"/>
                    </a:cubicBezTo>
                    <a:close/>
                    <a:moveTo>
                      <a:pt x="407" y="386"/>
                    </a:moveTo>
                    <a:cubicBezTo>
                      <a:pt x="407" y="400"/>
                      <a:pt x="394" y="413"/>
                      <a:pt x="380" y="413"/>
                    </a:cubicBezTo>
                    <a:cubicBezTo>
                      <a:pt x="365" y="413"/>
                      <a:pt x="353" y="400"/>
                      <a:pt x="353" y="386"/>
                    </a:cubicBezTo>
                    <a:cubicBezTo>
                      <a:pt x="353" y="371"/>
                      <a:pt x="365" y="359"/>
                      <a:pt x="380" y="359"/>
                    </a:cubicBezTo>
                    <a:cubicBezTo>
                      <a:pt x="394" y="359"/>
                      <a:pt x="407" y="371"/>
                      <a:pt x="407" y="386"/>
                    </a:cubicBezTo>
                    <a:close/>
                    <a:moveTo>
                      <a:pt x="350" y="356"/>
                    </a:moveTo>
                    <a:cubicBezTo>
                      <a:pt x="350" y="369"/>
                      <a:pt x="339" y="380"/>
                      <a:pt x="326" y="380"/>
                    </a:cubicBezTo>
                    <a:cubicBezTo>
                      <a:pt x="312" y="380"/>
                      <a:pt x="302" y="369"/>
                      <a:pt x="302" y="356"/>
                    </a:cubicBezTo>
                    <a:cubicBezTo>
                      <a:pt x="302" y="342"/>
                      <a:pt x="312" y="332"/>
                      <a:pt x="326" y="332"/>
                    </a:cubicBezTo>
                    <a:cubicBezTo>
                      <a:pt x="339" y="332"/>
                      <a:pt x="350" y="342"/>
                      <a:pt x="350" y="356"/>
                    </a:cubicBezTo>
                    <a:close/>
                    <a:moveTo>
                      <a:pt x="581" y="602"/>
                    </a:moveTo>
                    <a:cubicBezTo>
                      <a:pt x="581" y="614"/>
                      <a:pt x="571" y="624"/>
                      <a:pt x="559" y="624"/>
                    </a:cubicBezTo>
                    <a:cubicBezTo>
                      <a:pt x="546" y="624"/>
                      <a:pt x="537" y="614"/>
                      <a:pt x="537" y="602"/>
                    </a:cubicBezTo>
                    <a:cubicBezTo>
                      <a:pt x="537" y="589"/>
                      <a:pt x="546" y="580"/>
                      <a:pt x="559" y="580"/>
                    </a:cubicBezTo>
                    <a:cubicBezTo>
                      <a:pt x="571" y="580"/>
                      <a:pt x="581" y="589"/>
                      <a:pt x="581" y="602"/>
                    </a:cubicBezTo>
                    <a:close/>
                    <a:moveTo>
                      <a:pt x="728" y="652"/>
                    </a:moveTo>
                    <a:cubicBezTo>
                      <a:pt x="728" y="669"/>
                      <a:pt x="713" y="684"/>
                      <a:pt x="696" y="684"/>
                    </a:cubicBezTo>
                    <a:cubicBezTo>
                      <a:pt x="678" y="684"/>
                      <a:pt x="664" y="669"/>
                      <a:pt x="664" y="652"/>
                    </a:cubicBezTo>
                    <a:cubicBezTo>
                      <a:pt x="664" y="634"/>
                      <a:pt x="678" y="620"/>
                      <a:pt x="696" y="620"/>
                    </a:cubicBezTo>
                    <a:cubicBezTo>
                      <a:pt x="713" y="620"/>
                      <a:pt x="728" y="634"/>
                      <a:pt x="728" y="652"/>
                    </a:cubicBezTo>
                    <a:close/>
                    <a:moveTo>
                      <a:pt x="711" y="352"/>
                    </a:moveTo>
                    <a:cubicBezTo>
                      <a:pt x="711" y="368"/>
                      <a:pt x="698" y="381"/>
                      <a:pt x="682" y="381"/>
                    </a:cubicBezTo>
                    <a:cubicBezTo>
                      <a:pt x="665" y="381"/>
                      <a:pt x="653" y="368"/>
                      <a:pt x="653" y="352"/>
                    </a:cubicBezTo>
                    <a:cubicBezTo>
                      <a:pt x="653" y="335"/>
                      <a:pt x="665" y="323"/>
                      <a:pt x="682" y="323"/>
                    </a:cubicBezTo>
                    <a:cubicBezTo>
                      <a:pt x="698" y="323"/>
                      <a:pt x="711" y="335"/>
                      <a:pt x="711" y="352"/>
                    </a:cubicBezTo>
                    <a:close/>
                    <a:moveTo>
                      <a:pt x="431" y="645"/>
                    </a:moveTo>
                    <a:cubicBezTo>
                      <a:pt x="431" y="659"/>
                      <a:pt x="418" y="672"/>
                      <a:pt x="404" y="672"/>
                    </a:cubicBezTo>
                    <a:cubicBezTo>
                      <a:pt x="389" y="672"/>
                      <a:pt x="377" y="659"/>
                      <a:pt x="377" y="645"/>
                    </a:cubicBezTo>
                    <a:cubicBezTo>
                      <a:pt x="377" y="630"/>
                      <a:pt x="389" y="618"/>
                      <a:pt x="404" y="618"/>
                    </a:cubicBezTo>
                    <a:cubicBezTo>
                      <a:pt x="418" y="618"/>
                      <a:pt x="431" y="630"/>
                      <a:pt x="431" y="645"/>
                    </a:cubicBezTo>
                    <a:close/>
                  </a:path>
                </a:pathLst>
              </a:custGeom>
              <a:solidFill>
                <a:srgbClr val="311B92"/>
              </a:solidFill>
              <a:ln>
                <a:noFill/>
              </a:ln>
            </p:spPr>
          </p:sp>
        </p:grpSp>
        <p:grpSp>
          <p:nvGrpSpPr>
            <p:cNvPr id="50" name="Reti clave"/>
            <p:cNvGrpSpPr/>
            <p:nvPr/>
          </p:nvGrpSpPr>
          <p:grpSpPr>
            <a:xfrm>
              <a:off x="10332720" y="3291840"/>
              <a:ext cx="1280160" cy="1280160"/>
              <a:chOff x="10332720" y="3291840"/>
              <a:chExt cx="1280160" cy="1280160"/>
            </a:xfrm>
          </p:grpSpPr>
          <p:sp>
            <p:nvSpPr>
              <p:cNvPr id="51" name="Cuerpo"/>
              <p:cNvSpPr/>
              <p:nvPr/>
            </p:nvSpPr>
            <p:spPr>
              <a:xfrm>
                <a:off x="10332720" y="3291840"/>
                <a:ext cx="1280160" cy="1280160"/>
              </a:xfrm>
              <a:prstGeom prst="ellipse">
                <a:avLst/>
              </a:prstGeom>
              <a:gradFill rotWithShape="1">
                <a:gsLst>
                  <a:gs pos="0">
                    <a:srgbClr val="E3B4CF"/>
                  </a:gs>
                  <a:gs pos="30000">
                    <a:srgbClr val="E3B4CF"/>
                  </a:gs>
                  <a:gs pos="60000">
                    <a:srgbClr val="BB729D"/>
                  </a:gs>
                  <a:gs pos="100000">
                    <a:srgbClr val="723A5B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6E1A12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>
                <a:off x="10332720" y="3291840"/>
                <a:ext cx="1280160" cy="1280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220" y="405"/>
                    </a:moveTo>
                    <a:cubicBezTo>
                      <a:pt x="320" y="285"/>
                      <a:pt x="420" y="525"/>
                      <a:pt x="520" y="375"/>
                    </a:cubicBezTo>
                  </a:path>
                  <a:path w="1000" h="1000" fill="none">
                    <a:moveTo>
                      <a:pt x="152" y="619"/>
                    </a:moveTo>
                    <a:cubicBezTo>
                      <a:pt x="252" y="499"/>
                      <a:pt x="352" y="739"/>
                      <a:pt x="452" y="589"/>
                    </a:cubicBezTo>
                  </a:path>
                  <a:path w="1000" h="1000" fill="none">
                    <a:moveTo>
                      <a:pt x="302" y="495"/>
                    </a:moveTo>
                    <a:cubicBezTo>
                      <a:pt x="402" y="375"/>
                      <a:pt x="502" y="615"/>
                      <a:pt x="602" y="465"/>
                    </a:cubicBezTo>
                  </a:path>
                  <a:path w="1000" h="1000" fill="none">
                    <a:moveTo>
                      <a:pt x="179" y="296"/>
                    </a:moveTo>
                    <a:cubicBezTo>
                      <a:pt x="279" y="176"/>
                      <a:pt x="379" y="416"/>
                      <a:pt x="479" y="266"/>
                    </a:cubicBezTo>
                  </a:path>
                  <a:path w="1000" h="1000" fill="none">
                    <a:moveTo>
                      <a:pt x="134" y="260"/>
                    </a:moveTo>
                    <a:cubicBezTo>
                      <a:pt x="234" y="140"/>
                      <a:pt x="334" y="380"/>
                      <a:pt x="434" y="230"/>
                    </a:cubicBezTo>
                  </a:path>
                  <a:path w="1000" h="1000" fill="none">
                    <a:moveTo>
                      <a:pt x="305" y="531"/>
                    </a:moveTo>
                    <a:cubicBezTo>
                      <a:pt x="405" y="411"/>
                      <a:pt x="505" y="651"/>
                      <a:pt x="605" y="501"/>
                    </a:cubicBezTo>
                  </a:path>
                </a:pathLst>
              </a:custGeom>
              <a:noFill/>
              <a:ln w="19050" cap="rnd">
                <a:solidFill>
                  <a:srgbClr val="4A235A"/>
                </a:solidFill>
                <a:round/>
              </a:ln>
            </p:spPr>
          </p:sp>
        </p:grpSp>
      </p:grpSp>
      <p:sp>
        <p:nvSpPr>
          <p:cNvPr id="53" name="Mecanismo claves"/>
          <p:cNvSpPr/>
          <p:nvPr/>
        </p:nvSpPr>
        <p:spPr>
          <a:xfrm>
            <a:off x="8549640" y="484632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Cada idea se apoya en un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mecanismo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tamaño, contenido, producción o destrucción.</a:t>
            </a:r>
            <a:endParaRPr lang="es-AR" sz="18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DIEZ IDEAS CLAVE DE LA UNIDAD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5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9393"/>
          </a:solidFill>
          <a:ln>
            <a:noFill/>
          </a:ln>
        </p:spPr>
      </p:sp>
      <p:grpSp>
        <p:nvGrpSpPr>
          <p:cNvPr id="6" name="Integración C 1"/>
          <p:cNvGrpSpPr/>
          <p:nvPr/>
        </p:nvGrpSpPr>
        <p:grpSpPr>
          <a:xfrm>
            <a:off x="411480" y="1287475"/>
            <a:ext cx="2907792" cy="3787445"/>
            <a:chOff x="411480" y="1287475"/>
            <a:chExt cx="2907792" cy="3787445"/>
          </a:xfrm>
        </p:grpSpPr>
        <p:grpSp>
          <p:nvGrpSpPr>
            <p:cNvPr id="7" name="Hb C"/>
            <p:cNvGrpSpPr/>
            <p:nvPr/>
          </p:nvGrpSpPr>
          <p:grpSpPr>
            <a:xfrm>
              <a:off x="1058875" y="1287475"/>
              <a:ext cx="1448410" cy="1448410"/>
              <a:chOff x="1058875" y="1287475"/>
              <a:chExt cx="1448410" cy="144841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1058875" y="1287475"/>
                <a:ext cx="790042" cy="790042"/>
              </a:xfrm>
              <a:prstGeom prst="ellipse">
                <a:avLst/>
              </a:prstGeom>
              <a:gradFill rotWithShape="1">
                <a:gsLst>
                  <a:gs pos="0">
                    <a:srgbClr val="EFABAB"/>
                  </a:gs>
                  <a:gs pos="55000">
                    <a:srgbClr val="E57373"/>
                  </a:gs>
                  <a:gs pos="100000">
                    <a:srgbClr val="AB5656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23939"/>
                </a:solidFill>
                <a:round/>
              </a:ln>
            </p:spPr>
            <p:txBody>
              <a:bodyPr wrap="square" lIns="0" tIns="82296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34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</a:t>
                </a:r>
                <a:endParaRPr lang="es-AR" sz="2340" dirty="0">
                  <a:latin typeface="Calibri"/>
                </a:endParaRPr>
              </a:p>
            </p:txBody>
          </p:sp>
          <p:sp>
            <p:nvSpPr>
              <p:cNvPr id="9" name="Forma 8"/>
              <p:cNvSpPr/>
              <p:nvPr/>
            </p:nvSpPr>
            <p:spPr>
              <a:xfrm>
                <a:off x="1338682" y="1715414"/>
                <a:ext cx="230429" cy="230429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10" name="Forma 9"/>
              <p:cNvSpPr/>
              <p:nvPr/>
            </p:nvSpPr>
            <p:spPr>
              <a:xfrm>
                <a:off x="1717243" y="1287475"/>
                <a:ext cx="790042" cy="790042"/>
              </a:xfrm>
              <a:prstGeom prst="ellipse">
                <a:avLst/>
              </a:prstGeom>
              <a:gradFill rotWithShape="1">
                <a:gsLst>
                  <a:gs pos="0">
                    <a:srgbClr val="F9CF8D"/>
                  </a:gs>
                  <a:gs pos="55000">
                    <a:srgbClr val="F5B041"/>
                  </a:gs>
                  <a:gs pos="100000">
                    <a:srgbClr val="B78430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A5820"/>
                </a:solidFill>
                <a:round/>
              </a:ln>
            </p:spPr>
            <p:txBody>
              <a:bodyPr wrap="square" lIns="0" tIns="82296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34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β</a:t>
                </a:r>
                <a:endParaRPr lang="es-AR" sz="2340" dirty="0">
                  <a:latin typeface="Calibri"/>
                </a:endParaRPr>
              </a:p>
            </p:txBody>
          </p:sp>
          <p:sp>
            <p:nvSpPr>
              <p:cNvPr id="11" name="Forma 10"/>
              <p:cNvSpPr/>
              <p:nvPr/>
            </p:nvSpPr>
            <p:spPr>
              <a:xfrm>
                <a:off x="1997050" y="1715414"/>
                <a:ext cx="230429" cy="230429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12" name="Forma 11"/>
              <p:cNvSpPr/>
              <p:nvPr/>
            </p:nvSpPr>
            <p:spPr>
              <a:xfrm>
                <a:off x="1058875" y="1945843"/>
                <a:ext cx="790042" cy="790042"/>
              </a:xfrm>
              <a:prstGeom prst="ellipse">
                <a:avLst/>
              </a:prstGeom>
              <a:gradFill rotWithShape="1">
                <a:gsLst>
                  <a:gs pos="0">
                    <a:srgbClr val="F9CF8D"/>
                  </a:gs>
                  <a:gs pos="55000">
                    <a:srgbClr val="F5B041"/>
                  </a:gs>
                  <a:gs pos="100000">
                    <a:srgbClr val="B78430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A5820"/>
                </a:solidFill>
                <a:round/>
              </a:ln>
            </p:spPr>
            <p:txBody>
              <a:bodyPr wrap="square" lIns="0" tIns="82296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34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β</a:t>
                </a:r>
                <a:endParaRPr lang="es-AR" sz="2340" dirty="0">
                  <a:latin typeface="Calibri"/>
                </a:endParaRPr>
              </a:p>
            </p:txBody>
          </p:sp>
          <p:sp>
            <p:nvSpPr>
              <p:cNvPr id="13" name="Forma 12"/>
              <p:cNvSpPr/>
              <p:nvPr/>
            </p:nvSpPr>
            <p:spPr>
              <a:xfrm>
                <a:off x="1338682" y="2373782"/>
                <a:ext cx="230429" cy="230429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1717243" y="1945843"/>
                <a:ext cx="790042" cy="790042"/>
              </a:xfrm>
              <a:prstGeom prst="ellipse">
                <a:avLst/>
              </a:prstGeom>
              <a:gradFill rotWithShape="1">
                <a:gsLst>
                  <a:gs pos="0">
                    <a:srgbClr val="EFABAB"/>
                  </a:gs>
                  <a:gs pos="55000">
                    <a:srgbClr val="E57373"/>
                  </a:gs>
                  <a:gs pos="100000">
                    <a:srgbClr val="AB5656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723939"/>
                </a:solidFill>
                <a:round/>
              </a:ln>
            </p:spPr>
            <p:txBody>
              <a:bodyPr wrap="square" lIns="0" tIns="82296" rIns="0" bIns="0" anchor="t" rtlCol="0">
                <a:noAutofit/>
              </a:bodyPr>
              <a:lstStyle/>
              <a:p>
                <a:pPr algn="ctr">
                  <a:spcAft>
                    <a:spcPts val="300"/>
                  </a:spcAft>
                  <a:buNone/>
                </a:pPr>
                <a:r>
                  <a:rPr lang="es-AR" sz="2340" b="1" dirty="0">
                    <a:solidFill>
                      <a:srgbClr val="1E1E1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α</a:t>
                </a:r>
                <a:endParaRPr lang="es-AR" sz="2340" dirty="0">
                  <a:latin typeface="Calibri"/>
                </a:endParaRPr>
              </a:p>
            </p:txBody>
          </p:sp>
          <p:sp>
            <p:nvSpPr>
              <p:cNvPr id="15" name="Forma 14"/>
              <p:cNvSpPr/>
              <p:nvPr/>
            </p:nvSpPr>
            <p:spPr>
              <a:xfrm>
                <a:off x="1997050" y="2373782"/>
                <a:ext cx="230429" cy="230429"/>
              </a:xfrm>
              <a:prstGeom prst="diamond">
                <a:avLst/>
              </a:prstGeom>
              <a:solidFill>
                <a:srgbClr val="C0392B"/>
              </a:solidFill>
              <a:ln w="9525" cap="rnd">
                <a:solidFill>
                  <a:srgbClr val="641E16"/>
                </a:solidFill>
                <a:round/>
              </a:ln>
            </p:spPr>
          </p:sp>
        </p:grpSp>
        <p:sp>
          <p:nvSpPr>
            <p:cNvPr id="16" name="Forma 15"/>
            <p:cNvSpPr/>
            <p:nvPr/>
          </p:nvSpPr>
          <p:spPr>
            <a:xfrm>
              <a:off x="41148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Hemoglobina</a:t>
              </a:r>
              <a:endParaRPr lang="es-AR" sz="18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 globinas + 4 hemo con Fe: transporta O</a:t>
              </a:r>
              <a:r>
                <a:rPr lang="es-AR" sz="18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17" name="Flecha 16_2"/>
            <p:cNvSpPr/>
            <p:nvPr/>
          </p:nvSpPr>
          <p:spPr>
            <a:xfrm>
              <a:off x="3172968" y="40690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8" name="Integración C 2"/>
          <p:cNvGrpSpPr/>
          <p:nvPr/>
        </p:nvGrpSpPr>
        <p:grpSpPr>
          <a:xfrm>
            <a:off x="3337560" y="1188720"/>
            <a:ext cx="2907792" cy="3886200"/>
            <a:chOff x="3337560" y="1188720"/>
            <a:chExt cx="2907792" cy="3886200"/>
          </a:xfrm>
        </p:grpSpPr>
        <p:sp>
          <p:nvSpPr>
            <p:cNvPr id="19" name="GR C"/>
            <p:cNvSpPr/>
            <p:nvPr/>
          </p:nvSpPr>
          <p:spPr>
            <a:xfrm>
              <a:off x="3886200" y="1188720"/>
              <a:ext cx="1645920" cy="164592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20" name="Forma 20"/>
            <p:cNvSpPr/>
            <p:nvPr/>
          </p:nvSpPr>
          <p:spPr>
            <a:xfrm>
              <a:off x="333756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Eritrocitos</a:t>
              </a:r>
              <a:endParaRPr lang="es-AR" sz="18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Disco bicóncavo, membrana flexible; 4,5–6 millones/mm</a:t>
              </a:r>
              <a:r>
                <a:rPr lang="es-AR" sz="185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1" name="Flecha 21_2"/>
            <p:cNvSpPr/>
            <p:nvPr/>
          </p:nvSpPr>
          <p:spPr>
            <a:xfrm>
              <a:off x="6099048" y="40690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22" name="Integración C 3"/>
          <p:cNvGrpSpPr/>
          <p:nvPr/>
        </p:nvGrpSpPr>
        <p:grpSpPr>
          <a:xfrm>
            <a:off x="6263640" y="1143000"/>
            <a:ext cx="2907792" cy="3931920"/>
            <a:chOff x="6263640" y="1143000"/>
            <a:chExt cx="2907792" cy="3931920"/>
          </a:xfrm>
        </p:grpSpPr>
        <p:grpSp>
          <p:nvGrpSpPr>
            <p:cNvPr id="23" name="Tubo C"/>
            <p:cNvGrpSpPr/>
            <p:nvPr/>
          </p:nvGrpSpPr>
          <p:grpSpPr>
            <a:xfrm>
              <a:off x="7271309" y="1143000"/>
              <a:ext cx="636422" cy="1783080"/>
              <a:chOff x="7271309" y="1143000"/>
              <a:chExt cx="636422" cy="1783080"/>
            </a:xfrm>
          </p:grpSpPr>
          <p:sp>
            <p:nvSpPr>
              <p:cNvPr id="24" name="Vidrio"/>
              <p:cNvSpPr/>
              <p:nvPr/>
            </p:nvSpPr>
            <p:spPr>
              <a:xfrm>
                <a:off x="7315200" y="1321308"/>
                <a:ext cx="548640" cy="160477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5" name="Tapón"/>
              <p:cNvSpPr/>
              <p:nvPr/>
            </p:nvSpPr>
            <p:spPr>
              <a:xfrm>
                <a:off x="7271309" y="1143000"/>
                <a:ext cx="636422" cy="213970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26" name="Brillo"/>
              <p:cNvSpPr/>
              <p:nvPr/>
            </p:nvSpPr>
            <p:spPr>
              <a:xfrm>
                <a:off x="7392010" y="1428293"/>
                <a:ext cx="65837" cy="124815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27" name="rc"/>
            <p:cNvSpPr/>
            <p:nvPr/>
          </p:nvSpPr>
          <p:spPr>
            <a:xfrm>
              <a:off x="7342632" y="2216414"/>
              <a:ext cx="493776" cy="67400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28" name="pc"/>
            <p:cNvSpPr/>
            <p:nvPr/>
          </p:nvSpPr>
          <p:spPr>
            <a:xfrm>
              <a:off x="7342632" y="1662233"/>
              <a:ext cx="493776" cy="554181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  <p:sp>
          <p:nvSpPr>
            <p:cNvPr id="29" name="Forma 30"/>
            <p:cNvSpPr/>
            <p:nvPr/>
          </p:nvSpPr>
          <p:spPr>
            <a:xfrm>
              <a:off x="626364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Cambios de concentración</a:t>
              </a:r>
              <a:endParaRPr lang="es-AR" sz="18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 depende de la masa eritrocitaria y del volumen plasmático.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30" name="Flecha 31_2"/>
            <p:cNvSpPr/>
            <p:nvPr/>
          </p:nvSpPr>
          <p:spPr>
            <a:xfrm>
              <a:off x="9025128" y="40690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31" name="Integración C 4"/>
          <p:cNvGrpSpPr/>
          <p:nvPr/>
        </p:nvGrpSpPr>
        <p:grpSpPr>
          <a:xfrm>
            <a:off x="9189720" y="1234440"/>
            <a:ext cx="2743200" cy="3840480"/>
            <a:chOff x="9189720" y="1234440"/>
            <a:chExt cx="2743200" cy="3840480"/>
          </a:xfrm>
        </p:grpSpPr>
        <p:grpSp>
          <p:nvGrpSpPr>
            <p:cNvPr id="32" name="Médula C"/>
            <p:cNvGrpSpPr/>
            <p:nvPr/>
          </p:nvGrpSpPr>
          <p:grpSpPr>
            <a:xfrm>
              <a:off x="9326880" y="1234440"/>
              <a:ext cx="2468880" cy="1600200"/>
              <a:chOff x="9326880" y="1234440"/>
              <a:chExt cx="2468880" cy="1600200"/>
            </a:xfrm>
          </p:grpSpPr>
          <p:sp>
            <p:nvSpPr>
              <p:cNvPr id="33" name="Hueso"/>
              <p:cNvSpPr/>
              <p:nvPr/>
            </p:nvSpPr>
            <p:spPr>
              <a:xfrm>
                <a:off x="9326880" y="1234440"/>
                <a:ext cx="2468880" cy="1600200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6DDCC"/>
                  </a:gs>
                  <a:gs pos="100000">
                    <a:srgbClr val="EDBB99"/>
                  </a:gs>
                </a:gsLst>
                <a:lin ang="5400000" scaled="0"/>
              </a:gradFill>
              <a:ln w="25400" cap="rnd">
                <a:solidFill>
                  <a:srgbClr val="873600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4" name="Médula"/>
              <p:cNvSpPr/>
              <p:nvPr/>
            </p:nvSpPr>
            <p:spPr>
              <a:xfrm>
                <a:off x="9475013" y="1426464"/>
                <a:ext cx="2172614" cy="1216152"/>
              </a:xfrm>
              <a:prstGeom prst="roundRect">
                <a:avLst>
                  <a:gd name="adj" fmla="val 30000"/>
                </a:avLst>
              </a:prstGeom>
              <a:gradFill rotWithShape="1">
                <a:gsLst>
                  <a:gs pos="0">
                    <a:srgbClr val="F9E79F"/>
                  </a:gs>
                  <a:gs pos="100000">
                    <a:srgbClr val="F5B7B1"/>
                  </a:gs>
                </a:gsLst>
                <a:path path="circle">
                  <a:fillToRect l="50000" t="50000" r="50000" b="50000"/>
                </a:path>
              </a:gradFill>
              <a:ln w="12700" cap="rnd">
                <a:solidFill>
                  <a:srgbClr val="A04000"/>
                </a:solidFill>
                <a:round/>
              </a:ln>
            </p:spPr>
          </p:sp>
          <p:sp>
            <p:nvSpPr>
              <p:cNvPr id="35" name="Forma 37"/>
              <p:cNvSpPr/>
              <p:nvPr/>
            </p:nvSpPr>
            <p:spPr>
              <a:xfrm>
                <a:off x="10069650" y="2077005"/>
                <a:ext cx="157616" cy="157616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36" name="Forma 38"/>
              <p:cNvSpPr/>
              <p:nvPr/>
            </p:nvSpPr>
            <p:spPr>
              <a:xfrm>
                <a:off x="10116935" y="2124290"/>
                <a:ext cx="63046" cy="6304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37" name="Forma 39"/>
              <p:cNvSpPr/>
              <p:nvPr/>
            </p:nvSpPr>
            <p:spPr>
              <a:xfrm>
                <a:off x="10797215" y="1617396"/>
                <a:ext cx="129070" cy="129070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38" name="Forma 40"/>
              <p:cNvSpPr/>
              <p:nvPr/>
            </p:nvSpPr>
            <p:spPr>
              <a:xfrm>
                <a:off x="10835936" y="1656116"/>
                <a:ext cx="51628" cy="51628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39" name="Forma 41"/>
              <p:cNvSpPr/>
              <p:nvPr/>
            </p:nvSpPr>
            <p:spPr>
              <a:xfrm>
                <a:off x="10109784" y="1779466"/>
                <a:ext cx="207678" cy="207678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40" name="Forma 42"/>
              <p:cNvSpPr/>
              <p:nvPr/>
            </p:nvSpPr>
            <p:spPr>
              <a:xfrm>
                <a:off x="10172087" y="1841769"/>
                <a:ext cx="83071" cy="83071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1" name="Forma 43"/>
              <p:cNvSpPr/>
              <p:nvPr/>
            </p:nvSpPr>
            <p:spPr>
              <a:xfrm>
                <a:off x="10638201" y="2082192"/>
                <a:ext cx="159791" cy="159791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42" name="Forma 44"/>
              <p:cNvSpPr/>
              <p:nvPr/>
            </p:nvSpPr>
            <p:spPr>
              <a:xfrm>
                <a:off x="10686139" y="2130129"/>
                <a:ext cx="63916" cy="6391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3" name="Forma 45"/>
              <p:cNvSpPr/>
              <p:nvPr/>
            </p:nvSpPr>
            <p:spPr>
              <a:xfrm>
                <a:off x="10058312" y="1700056"/>
                <a:ext cx="202092" cy="202092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44" name="Forma 46"/>
              <p:cNvSpPr/>
              <p:nvPr/>
            </p:nvSpPr>
            <p:spPr>
              <a:xfrm>
                <a:off x="10118940" y="1760683"/>
                <a:ext cx="80837" cy="80837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5" name="Forma 47"/>
              <p:cNvSpPr/>
              <p:nvPr/>
            </p:nvSpPr>
            <p:spPr>
              <a:xfrm>
                <a:off x="11013993" y="2199116"/>
                <a:ext cx="133139" cy="133139"/>
              </a:xfrm>
              <a:prstGeom prst="ellipse">
                <a:avLst/>
              </a:prstGeom>
              <a:gradFill rotWithShape="1">
                <a:gsLst>
                  <a:gs pos="0">
                    <a:srgbClr val="DBC3E4"/>
                  </a:gs>
                  <a:gs pos="55000">
                    <a:srgbClr val="C39BD3"/>
                  </a:gs>
                  <a:gs pos="100000">
                    <a:srgbClr val="92749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14D69"/>
                </a:solidFill>
                <a:round/>
              </a:ln>
            </p:spPr>
          </p:sp>
          <p:sp>
            <p:nvSpPr>
              <p:cNvPr id="46" name="Forma 48"/>
              <p:cNvSpPr/>
              <p:nvPr/>
            </p:nvSpPr>
            <p:spPr>
              <a:xfrm>
                <a:off x="11053934" y="2239057"/>
                <a:ext cx="53256" cy="5325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7" name="Forma 49"/>
              <p:cNvSpPr/>
              <p:nvPr/>
            </p:nvSpPr>
            <p:spPr>
              <a:xfrm>
                <a:off x="10188429" y="1584255"/>
                <a:ext cx="197267" cy="197267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48" name="Forma 50"/>
              <p:cNvSpPr/>
              <p:nvPr/>
            </p:nvSpPr>
            <p:spPr>
              <a:xfrm>
                <a:off x="10247609" y="1643435"/>
                <a:ext cx="78907" cy="78907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49" name="Forma 51"/>
              <p:cNvSpPr/>
              <p:nvPr/>
            </p:nvSpPr>
            <p:spPr>
              <a:xfrm>
                <a:off x="10739103" y="2437941"/>
                <a:ext cx="159029" cy="159029"/>
              </a:xfrm>
              <a:prstGeom prst="ellipse">
                <a:avLst/>
              </a:prstGeom>
              <a:gradFill rotWithShape="1">
                <a:gsLst>
                  <a:gs pos="0">
                    <a:srgbClr val="E7D7ED"/>
                  </a:gs>
                  <a:gs pos="55000">
                    <a:srgbClr val="D7BDE2"/>
                  </a:gs>
                  <a:gs pos="100000">
                    <a:srgbClr val="A18DA9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6B5E71"/>
                </a:solidFill>
                <a:round/>
              </a:ln>
            </p:spPr>
          </p:sp>
          <p:sp>
            <p:nvSpPr>
              <p:cNvPr id="50" name="Forma 52"/>
              <p:cNvSpPr/>
              <p:nvPr/>
            </p:nvSpPr>
            <p:spPr>
              <a:xfrm>
                <a:off x="10786812" y="2485649"/>
                <a:ext cx="63611" cy="63611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  <p:sp>
            <p:nvSpPr>
              <p:cNvPr id="51" name="Forma 53"/>
              <p:cNvSpPr/>
              <p:nvPr/>
            </p:nvSpPr>
            <p:spPr>
              <a:xfrm>
                <a:off x="10364235" y="2323449"/>
                <a:ext cx="163590" cy="163590"/>
              </a:xfrm>
              <a:prstGeom prst="ellipse">
                <a:avLst/>
              </a:prstGeom>
              <a:gradFill rotWithShape="1">
                <a:gsLst>
                  <a:gs pos="0">
                    <a:srgbClr val="F1C7D3"/>
                  </a:gs>
                  <a:gs pos="55000">
                    <a:srgbClr val="E8A3B6"/>
                  </a:gs>
                  <a:gs pos="100000">
                    <a:srgbClr val="AE7A88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74515B"/>
                </a:solidFill>
                <a:round/>
              </a:ln>
            </p:spPr>
          </p:sp>
          <p:sp>
            <p:nvSpPr>
              <p:cNvPr id="52" name="Forma 54"/>
              <p:cNvSpPr/>
              <p:nvPr/>
            </p:nvSpPr>
            <p:spPr>
              <a:xfrm>
                <a:off x="10413312" y="2372526"/>
                <a:ext cx="65436" cy="65436"/>
              </a:xfrm>
              <a:prstGeom prst="ellipse">
                <a:avLst/>
              </a:prstGeom>
              <a:solidFill>
                <a:srgbClr val="5B2C6F"/>
              </a:solidFill>
              <a:ln>
                <a:noFill/>
              </a:ln>
            </p:spPr>
          </p:sp>
        </p:grpSp>
        <p:sp>
          <p:nvSpPr>
            <p:cNvPr id="53" name="Forma 55"/>
            <p:cNvSpPr/>
            <p:nvPr/>
          </p:nvSpPr>
          <p:spPr>
            <a:xfrm>
              <a:off x="918972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 hematológica</a:t>
              </a:r>
              <a:endParaRPr lang="es-AR" sz="18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VCM, HCM, CHCM, RDW, reticulocitos, LDH, bilirrubina, Coombs.</a:t>
              </a:r>
              <a:endParaRPr lang="es-AR" sz="1850" dirty="0">
                <a:latin typeface="Calibri"/>
              </a:endParaRPr>
            </a:p>
          </p:txBody>
        </p:sp>
      </p:grpSp>
      <p:sp>
        <p:nvSpPr>
          <p:cNvPr id="54" name="Síntesis integración C"/>
          <p:cNvSpPr/>
          <p:nvPr/>
        </p:nvSpPr>
        <p:spPr>
          <a:xfrm>
            <a:off x="411480" y="5303520"/>
            <a:ext cx="11384280" cy="114300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anemia es un problema de </a:t>
            </a:r>
            <a:r>
              <a:rPr lang="es-AR" sz="2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transporte de O</a:t>
            </a:r>
            <a:r>
              <a:rPr lang="es-AR" sz="2050" b="1" baseline="-2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s-AR" sz="20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el laboratorio mide su causa en tamaño, contenido, producción y destrucción de eritrocitos.</a:t>
            </a:r>
            <a:endParaRPr lang="es-AR" sz="20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INTEGRACIÓN C: ANEMIA Y TRANSPORTE DE OXÍGENO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064792" y="182880"/>
            <a:ext cx="1852583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III · ANEMIAS</a:t>
            </a:r>
            <a:endParaRPr lang="es-AR" sz="1250" dirty="0">
              <a:latin typeface="Calibri"/>
            </a:endParaRPr>
          </a:p>
        </p:txBody>
      </p:sp>
      <p:sp>
        <p:nvSpPr>
          <p:cNvPr id="5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4" name="Unidad"/>
          <p:cNvSpPr/>
          <p:nvPr/>
        </p:nvSpPr>
        <p:spPr>
          <a:xfrm>
            <a:off x="457200" y="411480"/>
            <a:ext cx="1475929" cy="41910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</a:t>
            </a:r>
            <a:endParaRPr lang="es-AR" sz="2000" dirty="0">
              <a:latin typeface="Calibri"/>
            </a:endParaRPr>
          </a:p>
        </p:txBody>
      </p:sp>
      <p:sp>
        <p:nvSpPr>
          <p:cNvPr id="5" name="Título unidad"/>
          <p:cNvSpPr txBox="1"/>
          <p:nvPr/>
        </p:nvSpPr>
        <p:spPr>
          <a:xfrm>
            <a:off x="365760" y="96012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"/>
              </a:lnSpc>
              <a:spcAft>
                <a:spcPts val="300"/>
              </a:spcAft>
              <a:buNone/>
            </a:pPr>
            <a:r>
              <a:rPr lang="es-AR" sz="3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INFARTO AGUDO DE MIOCARDIO Y BIOMARCADORES CARDÍACOS</a:t>
            </a:r>
            <a:endParaRPr lang="es-AR" sz="3400" dirty="0">
              <a:latin typeface="Segoe Print"/>
            </a:endParaRPr>
          </a:p>
        </p:txBody>
      </p:sp>
      <p:sp>
        <p:nvSpPr>
          <p:cNvPr id="6" name="Subtítulo unidad"/>
          <p:cNvSpPr txBox="1"/>
          <p:nvPr/>
        </p:nvSpPr>
        <p:spPr>
          <a:xfrm>
            <a:off x="411480" y="33832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Del cardiomiocito lesionado a la curva de troponina</a:t>
            </a:r>
            <a:endParaRPr lang="es-AR" sz="1800" dirty="0">
              <a:latin typeface="Calibri"/>
            </a:endParaRPr>
          </a:p>
        </p:txBody>
      </p:sp>
      <p:grpSp>
        <p:nvGrpSpPr>
          <p:cNvPr id="7" name="Temario"/>
          <p:cNvGrpSpPr/>
          <p:nvPr/>
        </p:nvGrpSpPr>
        <p:grpSpPr>
          <a:xfrm>
            <a:off x="411480" y="4023360"/>
            <a:ext cx="5486400" cy="2514600"/>
            <a:chOff x="411480" y="4023360"/>
            <a:chExt cx="5486400" cy="2514600"/>
          </a:xfrm>
        </p:grpSpPr>
        <p:sp>
          <p:nvSpPr>
            <p:cNvPr id="8" name="Forma 7"/>
            <p:cNvSpPr/>
            <p:nvPr/>
          </p:nvSpPr>
          <p:spPr>
            <a:xfrm>
              <a:off x="41148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Caso clínico inicial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y criterios diagnósticos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Fisiopatología del daño miocárdico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Electrocardiograma</a:t>
              </a:r>
              <a:endParaRPr lang="es-AR" sz="1500" dirty="0">
                <a:latin typeface="Calibri"/>
              </a:endParaRPr>
            </a:p>
            <a:p>
              <a:pPr algn="l" marL="142875" indent="-14287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CK, CK-MB, troponinas, mioglobina, LDH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320040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66687" indent="-166687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Liberación de biomarcadores</a:t>
              </a:r>
              <a:endParaRPr lang="es-AR" sz="1750" dirty="0">
                <a:latin typeface="Calibri"/>
              </a:endParaRPr>
            </a:p>
            <a:p>
              <a:pPr algn="l" marL="166687" indent="-166687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Cinética y ventana diagnóstica</a:t>
              </a:r>
              <a:endParaRPr lang="es-AR" sz="1750" dirty="0">
                <a:latin typeface="Calibri"/>
              </a:endParaRPr>
            </a:p>
            <a:p>
              <a:pPr algn="l" marL="166687" indent="-166687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Reinfarto y seguimiento a 8 días</a:t>
              </a:r>
              <a:endParaRPr lang="es-AR" sz="1750" dirty="0">
                <a:latin typeface="Calibri"/>
              </a:endParaRPr>
            </a:p>
            <a:p>
              <a:pPr algn="l" marL="166687" indent="-166687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Factores de riesgo</a:t>
              </a:r>
              <a:endParaRPr lang="es-AR" sz="1750" dirty="0">
                <a:latin typeface="Calibri"/>
              </a:endParaRPr>
            </a:p>
          </p:txBody>
        </p:sp>
      </p:grpSp>
      <p:grpSp>
        <p:nvGrpSpPr>
          <p:cNvPr id="10" name="Arte unidad IV"/>
          <p:cNvGrpSpPr/>
          <p:nvPr/>
        </p:nvGrpSpPr>
        <p:grpSpPr>
          <a:xfrm>
            <a:off x="6400800" y="457200"/>
            <a:ext cx="5577840" cy="4689043"/>
            <a:chOff x="6400800" y="457200"/>
            <a:chExt cx="5577840" cy="4689043"/>
          </a:xfrm>
        </p:grpSpPr>
        <p:grpSp>
          <p:nvGrpSpPr>
            <p:cNvPr id="11" name="Corazón div"/>
            <p:cNvGrpSpPr/>
            <p:nvPr/>
          </p:nvGrpSpPr>
          <p:grpSpPr>
            <a:xfrm>
              <a:off x="6400800" y="457200"/>
              <a:ext cx="2651760" cy="2916936"/>
              <a:chOff x="6400800" y="457200"/>
              <a:chExt cx="2651760" cy="2916936"/>
            </a:xfrm>
          </p:grpSpPr>
          <p:sp>
            <p:nvSpPr>
              <p:cNvPr id="12" name="Aorta"/>
              <p:cNvSpPr/>
              <p:nvPr/>
            </p:nvSpPr>
            <p:spPr>
              <a:xfrm>
                <a:off x="7408469" y="457200"/>
                <a:ext cx="848563" cy="9334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13" name="Arteria pulmonar"/>
              <p:cNvSpPr/>
              <p:nvPr/>
            </p:nvSpPr>
            <p:spPr>
              <a:xfrm>
                <a:off x="6984187" y="748894"/>
                <a:ext cx="583387" cy="72923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14" name="Miocardio"/>
              <p:cNvSpPr/>
              <p:nvPr/>
            </p:nvSpPr>
            <p:spPr>
              <a:xfrm>
                <a:off x="6400800" y="982248"/>
                <a:ext cx="2651760" cy="239188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5" name="Aurícula derecha"/>
              <p:cNvSpPr/>
              <p:nvPr/>
            </p:nvSpPr>
            <p:spPr>
              <a:xfrm>
                <a:off x="6506870" y="1332281"/>
                <a:ext cx="742493" cy="81674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sp>
          <p:nvSpPr>
            <p:cNvPr id="16" name="!!ArteriaCoronaria izquierda"/>
            <p:cNvSpPr/>
            <p:nvPr/>
          </p:nvSpPr>
          <p:spPr>
            <a:xfrm>
              <a:off x="6400800" y="982248"/>
              <a:ext cx="2651760" cy="239188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70" y="240"/>
                  </a:moveTo>
                  <a:cubicBezTo>
                    <a:pt x="520" y="330"/>
                    <a:pt x="560" y="450"/>
                    <a:pt x="560" y="560"/>
                  </a:cubicBezTo>
                  <a:cubicBezTo>
                    <a:pt x="560" y="700"/>
                    <a:pt x="520" y="820"/>
                    <a:pt x="480" y="940"/>
                  </a:cubicBezTo>
                </a:path>
                <a:path w="1000" h="1000" fill="none">
                  <a:moveTo>
                    <a:pt x="470" y="240"/>
                  </a:moveTo>
                  <a:cubicBezTo>
                    <a:pt x="600" y="260"/>
                    <a:pt x="760" y="330"/>
                    <a:pt x="880" y="450"/>
                  </a:cubicBezTo>
                </a:path>
                <a:path w="1000" h="1000" fill="none">
                  <a:moveTo>
                    <a:pt x="560" y="470"/>
                  </a:moveTo>
                  <a:cubicBezTo>
                    <a:pt x="650" y="520"/>
                    <a:pt x="720" y="600"/>
                    <a:pt x="760" y="70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17" name="!!ArteriaCoronaria derecha"/>
            <p:cNvSpPr/>
            <p:nvPr/>
          </p:nvSpPr>
          <p:spPr>
            <a:xfrm>
              <a:off x="6400800" y="982248"/>
              <a:ext cx="2651760" cy="239188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20" y="235"/>
                  </a:moveTo>
                  <a:cubicBezTo>
                    <a:pt x="300" y="300"/>
                    <a:pt x="180" y="420"/>
                    <a:pt x="140" y="560"/>
                  </a:cubicBezTo>
                  <a:cubicBezTo>
                    <a:pt x="120" y="650"/>
                    <a:pt x="160" y="760"/>
                    <a:pt x="260" y="82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grpSp>
          <p:nvGrpSpPr>
            <p:cNvPr id="18" name="Cardiomiocito div"/>
            <p:cNvGrpSpPr/>
            <p:nvPr/>
          </p:nvGrpSpPr>
          <p:grpSpPr>
            <a:xfrm>
              <a:off x="9102852" y="822960"/>
              <a:ext cx="2825496" cy="1371600"/>
              <a:chOff x="9102852" y="822960"/>
              <a:chExt cx="2825496" cy="1371600"/>
            </a:xfrm>
          </p:grpSpPr>
          <p:sp>
            <p:nvSpPr>
              <p:cNvPr id="19" name="Sarcolema"/>
              <p:cNvSpPr/>
              <p:nvPr/>
            </p:nvSpPr>
            <p:spPr>
              <a:xfrm>
                <a:off x="9144000" y="822960"/>
                <a:ext cx="2743200" cy="13716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200"/>
                    </a:moveTo>
                    <a:cubicBezTo>
                      <a:pt x="10" y="144"/>
                      <a:pt x="95" y="129"/>
                      <a:pt x="120" y="120"/>
                    </a:cubicBezTo>
                    <a:cubicBezTo>
                      <a:pt x="145" y="110"/>
                      <a:pt x="266" y="90"/>
                      <a:pt x="300" y="90"/>
                    </a:cubicBezTo>
                    <a:cubicBezTo>
                      <a:pt x="333" y="89"/>
                      <a:pt x="485" y="110"/>
                      <a:pt x="520" y="110"/>
                    </a:cubicBezTo>
                    <a:cubicBezTo>
                      <a:pt x="555" y="109"/>
                      <a:pt x="690" y="79"/>
                      <a:pt x="720" y="80"/>
                    </a:cubicBezTo>
                    <a:cubicBezTo>
                      <a:pt x="750" y="80"/>
                      <a:pt x="856" y="108"/>
                      <a:pt x="880" y="120"/>
                    </a:cubicBezTo>
                    <a:cubicBezTo>
                      <a:pt x="903" y="131"/>
                      <a:pt x="990" y="165"/>
                      <a:pt x="1000" y="220"/>
                    </a:cubicBezTo>
                    <a:cubicBezTo>
                      <a:pt x="1010" y="275"/>
                      <a:pt x="1010" y="725"/>
                      <a:pt x="1000" y="780"/>
                    </a:cubicBezTo>
                    <a:cubicBezTo>
                      <a:pt x="990" y="835"/>
                      <a:pt x="905" y="869"/>
                      <a:pt x="880" y="880"/>
                    </a:cubicBezTo>
                    <a:cubicBezTo>
                      <a:pt x="855" y="890"/>
                      <a:pt x="731" y="910"/>
                      <a:pt x="700" y="910"/>
                    </a:cubicBezTo>
                    <a:cubicBezTo>
                      <a:pt x="668" y="910"/>
                      <a:pt x="533" y="880"/>
                      <a:pt x="500" y="880"/>
                    </a:cubicBezTo>
                    <a:cubicBezTo>
                      <a:pt x="466" y="880"/>
                      <a:pt x="331" y="910"/>
                      <a:pt x="300" y="910"/>
                    </a:cubicBezTo>
                    <a:cubicBezTo>
                      <a:pt x="268" y="909"/>
                      <a:pt x="145" y="880"/>
                      <a:pt x="120" y="870"/>
                    </a:cubicBezTo>
                    <a:cubicBezTo>
                      <a:pt x="95" y="860"/>
                      <a:pt x="10" y="845"/>
                      <a:pt x="0" y="790"/>
                    </a:cubicBezTo>
                    <a:cubicBezTo>
                      <a:pt x="-10" y="734"/>
                      <a:pt x="-10" y="255"/>
                      <a:pt x="0" y="2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6837A"/>
                  </a:gs>
                  <a:gs pos="35000">
                    <a:srgbClr val="F5B7B1"/>
                  </a:gs>
                  <a:gs pos="65000">
                    <a:srgbClr val="EC9A90"/>
                  </a:gs>
                  <a:gs pos="100000">
                    <a:srgbClr val="C9564B"/>
                  </a:gs>
                </a:gsLst>
                <a:lin ang="5400000" scaled="0"/>
              </a:gradFill>
              <a:ln w="31750" cap="rnd">
                <a:solidFill>
                  <a:srgbClr val="7B241C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0" name="Estriaciones"/>
              <p:cNvSpPr/>
              <p:nvPr/>
            </p:nvSpPr>
            <p:spPr>
              <a:xfrm>
                <a:off x="9144000" y="822960"/>
                <a:ext cx="2743200" cy="137160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0" y="160"/>
                    </a:moveTo>
                    <a:lnTo>
                      <a:pt x="40" y="840"/>
                    </a:lnTo>
                  </a:path>
                  <a:path w="1000" h="1000" fill="none">
                    <a:moveTo>
                      <a:pt x="81" y="160"/>
                    </a:moveTo>
                    <a:lnTo>
                      <a:pt x="81" y="840"/>
                    </a:lnTo>
                  </a:path>
                  <a:path w="1000" h="1000" fill="none">
                    <a:moveTo>
                      <a:pt x="123" y="160"/>
                    </a:moveTo>
                    <a:lnTo>
                      <a:pt x="123" y="840"/>
                    </a:lnTo>
                  </a:path>
                  <a:path w="1000" h="1000" fill="none">
                    <a:moveTo>
                      <a:pt x="165" y="160"/>
                    </a:moveTo>
                    <a:lnTo>
                      <a:pt x="165" y="840"/>
                    </a:lnTo>
                  </a:path>
                  <a:path w="1000" h="1000" fill="none">
                    <a:moveTo>
                      <a:pt x="207" y="160"/>
                    </a:moveTo>
                    <a:lnTo>
                      <a:pt x="207" y="840"/>
                    </a:lnTo>
                  </a:path>
                  <a:path w="1000" h="1000" fill="none">
                    <a:moveTo>
                      <a:pt x="249" y="160"/>
                    </a:moveTo>
                    <a:lnTo>
                      <a:pt x="249" y="840"/>
                    </a:lnTo>
                  </a:path>
                  <a:path w="1000" h="1000" fill="none">
                    <a:moveTo>
                      <a:pt x="290" y="160"/>
                    </a:moveTo>
                    <a:lnTo>
                      <a:pt x="290" y="840"/>
                    </a:lnTo>
                  </a:path>
                  <a:path w="1000" h="1000" fill="none">
                    <a:moveTo>
                      <a:pt x="332" y="160"/>
                    </a:moveTo>
                    <a:lnTo>
                      <a:pt x="332" y="840"/>
                    </a:lnTo>
                  </a:path>
                  <a:path w="1000" h="1000" fill="none">
                    <a:moveTo>
                      <a:pt x="374" y="160"/>
                    </a:moveTo>
                    <a:lnTo>
                      <a:pt x="374" y="840"/>
                    </a:lnTo>
                  </a:path>
                  <a:path w="1000" h="1000" fill="none">
                    <a:moveTo>
                      <a:pt x="416" y="160"/>
                    </a:moveTo>
                    <a:lnTo>
                      <a:pt x="416" y="840"/>
                    </a:lnTo>
                  </a:path>
                  <a:path w="1000" h="1000" fill="none">
                    <a:moveTo>
                      <a:pt x="458" y="160"/>
                    </a:moveTo>
                    <a:lnTo>
                      <a:pt x="458" y="840"/>
                    </a:lnTo>
                  </a:path>
                  <a:path w="1000" h="1000" fill="none">
                    <a:moveTo>
                      <a:pt x="500" y="160"/>
                    </a:moveTo>
                    <a:lnTo>
                      <a:pt x="500" y="840"/>
                    </a:lnTo>
                  </a:path>
                  <a:path w="1000" h="1000" fill="none">
                    <a:moveTo>
                      <a:pt x="541" y="160"/>
                    </a:moveTo>
                    <a:lnTo>
                      <a:pt x="541" y="840"/>
                    </a:lnTo>
                  </a:path>
                  <a:path w="1000" h="1000" fill="none">
                    <a:moveTo>
                      <a:pt x="583" y="160"/>
                    </a:moveTo>
                    <a:lnTo>
                      <a:pt x="583" y="840"/>
                    </a:lnTo>
                  </a:path>
                  <a:path w="1000" h="1000" fill="none">
                    <a:moveTo>
                      <a:pt x="625" y="160"/>
                    </a:moveTo>
                    <a:lnTo>
                      <a:pt x="625" y="840"/>
                    </a:lnTo>
                  </a:path>
                  <a:path w="1000" h="1000" fill="none">
                    <a:moveTo>
                      <a:pt x="667" y="160"/>
                    </a:moveTo>
                    <a:lnTo>
                      <a:pt x="667" y="840"/>
                    </a:lnTo>
                  </a:path>
                  <a:path w="1000" h="1000" fill="none">
                    <a:moveTo>
                      <a:pt x="709" y="160"/>
                    </a:moveTo>
                    <a:lnTo>
                      <a:pt x="709" y="840"/>
                    </a:lnTo>
                  </a:path>
                  <a:path w="1000" h="1000" fill="none">
                    <a:moveTo>
                      <a:pt x="750" y="160"/>
                    </a:moveTo>
                    <a:lnTo>
                      <a:pt x="750" y="840"/>
                    </a:lnTo>
                  </a:path>
                  <a:path w="1000" h="1000" fill="none">
                    <a:moveTo>
                      <a:pt x="792" y="160"/>
                    </a:moveTo>
                    <a:lnTo>
                      <a:pt x="792" y="840"/>
                    </a:lnTo>
                  </a:path>
                  <a:path w="1000" h="1000" fill="none">
                    <a:moveTo>
                      <a:pt x="834" y="160"/>
                    </a:moveTo>
                    <a:lnTo>
                      <a:pt x="834" y="840"/>
                    </a:lnTo>
                  </a:path>
                  <a:path w="1000" h="1000" fill="none">
                    <a:moveTo>
                      <a:pt x="876" y="160"/>
                    </a:moveTo>
                    <a:lnTo>
                      <a:pt x="876" y="840"/>
                    </a:lnTo>
                  </a:path>
                  <a:path w="1000" h="1000" fill="none">
                    <a:moveTo>
                      <a:pt x="918" y="160"/>
                    </a:moveTo>
                    <a:lnTo>
                      <a:pt x="918" y="840"/>
                    </a:lnTo>
                  </a:path>
                  <a:path w="1000" h="1000" fill="none">
                    <a:moveTo>
                      <a:pt x="960" y="160"/>
                    </a:moveTo>
                    <a:lnTo>
                      <a:pt x="960" y="840"/>
                    </a:lnTo>
                  </a:path>
                </a:pathLst>
              </a:custGeom>
              <a:noFill/>
              <a:ln w="12700" cap="rnd">
                <a:solidFill>
                  <a:srgbClr val="A93226"/>
                </a:solidFill>
                <a:round/>
              </a:ln>
            </p:spPr>
          </p:sp>
          <p:sp>
            <p:nvSpPr>
              <p:cNvPr id="21" name="Disco intercalar izq"/>
              <p:cNvSpPr/>
              <p:nvPr/>
            </p:nvSpPr>
            <p:spPr>
              <a:xfrm>
                <a:off x="9102852" y="1028700"/>
                <a:ext cx="82296" cy="960120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  <p:sp>
            <p:nvSpPr>
              <p:cNvPr id="22" name="Disco intercalar der"/>
              <p:cNvSpPr/>
              <p:nvPr/>
            </p:nvSpPr>
            <p:spPr>
              <a:xfrm>
                <a:off x="11846052" y="1028700"/>
                <a:ext cx="82296" cy="960120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  <p:grpSp>
            <p:nvGrpSpPr>
              <p:cNvPr id="23" name="Núcleo"/>
              <p:cNvGrpSpPr/>
              <p:nvPr/>
            </p:nvGrpSpPr>
            <p:grpSpPr>
              <a:xfrm>
                <a:off x="10351008" y="1344168"/>
                <a:ext cx="329184" cy="296266"/>
                <a:chOff x="10351008" y="1344168"/>
                <a:chExt cx="329184" cy="296266"/>
              </a:xfrm>
            </p:grpSpPr>
            <p:sp>
              <p:nvSpPr>
                <p:cNvPr id="24" name="Forma 23"/>
                <p:cNvSpPr/>
                <p:nvPr/>
              </p:nvSpPr>
              <p:spPr>
                <a:xfrm>
                  <a:off x="10351008" y="1344168"/>
                  <a:ext cx="329184" cy="29626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7A4CE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4B3663"/>
                  </a:solidFill>
                  <a:round/>
                </a:ln>
              </p:spPr>
            </p:sp>
            <p:sp>
              <p:nvSpPr>
                <p:cNvPr id="25" name="Forma 24"/>
                <p:cNvSpPr/>
                <p:nvPr/>
              </p:nvSpPr>
              <p:spPr>
                <a:xfrm>
                  <a:off x="10522184" y="1442923"/>
                  <a:ext cx="72420" cy="65837"/>
                </a:xfrm>
                <a:prstGeom prst="ellipse">
                  <a:avLst/>
                </a:prstGeom>
                <a:solidFill>
                  <a:srgbClr val="513B6B"/>
                </a:solidFill>
                <a:ln>
                  <a:noFill/>
                </a:ln>
              </p:spPr>
            </p:sp>
          </p:grpSp>
          <p:grpSp>
            <p:nvGrpSpPr>
              <p:cNvPr id="26" name="Mitocondria"/>
              <p:cNvGrpSpPr/>
              <p:nvPr/>
            </p:nvGrpSpPr>
            <p:grpSpPr>
              <a:xfrm>
                <a:off x="9473184" y="1165860"/>
                <a:ext cx="274320" cy="137160"/>
                <a:chOff x="9473184" y="1165860"/>
                <a:chExt cx="274320" cy="137160"/>
              </a:xfrm>
            </p:grpSpPr>
            <p:sp>
              <p:nvSpPr>
                <p:cNvPr id="27" name="Forma 26"/>
                <p:cNvSpPr/>
                <p:nvPr/>
              </p:nvSpPr>
              <p:spPr>
                <a:xfrm>
                  <a:off x="9473184" y="1165860"/>
                  <a:ext cx="274320" cy="1371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28" name="Forma 27"/>
                <p:cNvSpPr/>
                <p:nvPr/>
              </p:nvSpPr>
              <p:spPr>
                <a:xfrm>
                  <a:off x="9492386" y="1185062"/>
                  <a:ext cx="235915" cy="98755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29" name="Forma 28"/>
                <p:cNvSpPr/>
                <p:nvPr/>
              </p:nvSpPr>
              <p:spPr>
                <a:xfrm>
                  <a:off x="9492386" y="1185062"/>
                  <a:ext cx="235915" cy="987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30" name="Mitocondria_2"/>
              <p:cNvGrpSpPr/>
              <p:nvPr/>
            </p:nvGrpSpPr>
            <p:grpSpPr>
              <a:xfrm>
                <a:off x="9912096" y="1673352"/>
                <a:ext cx="274320" cy="137160"/>
                <a:chOff x="9912096" y="1673352"/>
                <a:chExt cx="274320" cy="137160"/>
              </a:xfrm>
            </p:grpSpPr>
            <p:sp>
              <p:nvSpPr>
                <p:cNvPr id="31" name="Forma 30"/>
                <p:cNvSpPr/>
                <p:nvPr/>
              </p:nvSpPr>
              <p:spPr>
                <a:xfrm>
                  <a:off x="9912096" y="1673352"/>
                  <a:ext cx="274320" cy="1371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32" name="Forma 31"/>
                <p:cNvSpPr/>
                <p:nvPr/>
              </p:nvSpPr>
              <p:spPr>
                <a:xfrm>
                  <a:off x="9931298" y="1692554"/>
                  <a:ext cx="235915" cy="98755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3" name="Forma 32"/>
                <p:cNvSpPr/>
                <p:nvPr/>
              </p:nvSpPr>
              <p:spPr>
                <a:xfrm>
                  <a:off x="9931298" y="1692554"/>
                  <a:ext cx="235915" cy="987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34" name="Mitocondria_3"/>
              <p:cNvGrpSpPr/>
              <p:nvPr/>
            </p:nvGrpSpPr>
            <p:grpSpPr>
              <a:xfrm>
                <a:off x="11009376" y="1152144"/>
                <a:ext cx="274320" cy="137160"/>
                <a:chOff x="11009376" y="1152144"/>
                <a:chExt cx="274320" cy="137160"/>
              </a:xfrm>
            </p:grpSpPr>
            <p:sp>
              <p:nvSpPr>
                <p:cNvPr id="35" name="Forma 34"/>
                <p:cNvSpPr/>
                <p:nvPr/>
              </p:nvSpPr>
              <p:spPr>
                <a:xfrm>
                  <a:off x="11009376" y="1152144"/>
                  <a:ext cx="274320" cy="1371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36" name="Forma 35"/>
                <p:cNvSpPr/>
                <p:nvPr/>
              </p:nvSpPr>
              <p:spPr>
                <a:xfrm>
                  <a:off x="11028578" y="1171346"/>
                  <a:ext cx="235915" cy="98755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7" name="Forma 36"/>
                <p:cNvSpPr/>
                <p:nvPr/>
              </p:nvSpPr>
              <p:spPr>
                <a:xfrm>
                  <a:off x="11028578" y="1171346"/>
                  <a:ext cx="235915" cy="987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38" name="Mitocondria_4"/>
              <p:cNvGrpSpPr/>
              <p:nvPr/>
            </p:nvGrpSpPr>
            <p:grpSpPr>
              <a:xfrm>
                <a:off x="11338560" y="1645920"/>
                <a:ext cx="274320" cy="137160"/>
                <a:chOff x="11338560" y="1645920"/>
                <a:chExt cx="274320" cy="137160"/>
              </a:xfrm>
            </p:grpSpPr>
            <p:sp>
              <p:nvSpPr>
                <p:cNvPr id="39" name="Forma 38"/>
                <p:cNvSpPr/>
                <p:nvPr/>
              </p:nvSpPr>
              <p:spPr>
                <a:xfrm>
                  <a:off x="11338560" y="1645920"/>
                  <a:ext cx="274320" cy="1371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40" name="Forma 39"/>
                <p:cNvSpPr/>
                <p:nvPr/>
              </p:nvSpPr>
              <p:spPr>
                <a:xfrm>
                  <a:off x="11357762" y="1665122"/>
                  <a:ext cx="235915" cy="98755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41" name="Forma 40"/>
                <p:cNvSpPr/>
                <p:nvPr/>
              </p:nvSpPr>
              <p:spPr>
                <a:xfrm>
                  <a:off x="11357762" y="1665122"/>
                  <a:ext cx="235915" cy="987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42" name="Mitocondria_5"/>
              <p:cNvGrpSpPr/>
              <p:nvPr/>
            </p:nvGrpSpPr>
            <p:grpSpPr>
              <a:xfrm>
                <a:off x="10844784" y="1728216"/>
                <a:ext cx="274320" cy="137160"/>
                <a:chOff x="10844784" y="1728216"/>
                <a:chExt cx="274320" cy="137160"/>
              </a:xfrm>
            </p:grpSpPr>
            <p:sp>
              <p:nvSpPr>
                <p:cNvPr id="43" name="Forma 42"/>
                <p:cNvSpPr/>
                <p:nvPr/>
              </p:nvSpPr>
              <p:spPr>
                <a:xfrm>
                  <a:off x="10844784" y="1728216"/>
                  <a:ext cx="274320" cy="1371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44" name="Forma 43"/>
                <p:cNvSpPr/>
                <p:nvPr/>
              </p:nvSpPr>
              <p:spPr>
                <a:xfrm>
                  <a:off x="10863986" y="1747418"/>
                  <a:ext cx="235915" cy="98755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45" name="Forma 44"/>
                <p:cNvSpPr/>
                <p:nvPr/>
              </p:nvSpPr>
              <p:spPr>
                <a:xfrm>
                  <a:off x="10863986" y="1747418"/>
                  <a:ext cx="235915" cy="987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46" name="Mitocondria_6"/>
              <p:cNvGrpSpPr/>
              <p:nvPr/>
            </p:nvGrpSpPr>
            <p:grpSpPr>
              <a:xfrm>
                <a:off x="9692640" y="1344168"/>
                <a:ext cx="274320" cy="137160"/>
                <a:chOff x="9692640" y="1344168"/>
                <a:chExt cx="274320" cy="137160"/>
              </a:xfrm>
            </p:grpSpPr>
            <p:sp>
              <p:nvSpPr>
                <p:cNvPr id="47" name="Forma 46"/>
                <p:cNvSpPr/>
                <p:nvPr/>
              </p:nvSpPr>
              <p:spPr>
                <a:xfrm>
                  <a:off x="9692640" y="1344168"/>
                  <a:ext cx="274320" cy="13716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48" name="Forma 47"/>
                <p:cNvSpPr/>
                <p:nvPr/>
              </p:nvSpPr>
              <p:spPr>
                <a:xfrm>
                  <a:off x="9711842" y="1363370"/>
                  <a:ext cx="235915" cy="98755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49" name="Forma 48"/>
                <p:cNvSpPr/>
                <p:nvPr/>
              </p:nvSpPr>
              <p:spPr>
                <a:xfrm>
                  <a:off x="9711842" y="1363370"/>
                  <a:ext cx="235915" cy="987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</p:grpSp>
        <p:grpSp>
          <p:nvGrpSpPr>
            <p:cNvPr id="50" name="ECG div papel"/>
            <p:cNvGrpSpPr/>
            <p:nvPr/>
          </p:nvGrpSpPr>
          <p:grpSpPr>
            <a:xfrm>
              <a:off x="9052560" y="2514600"/>
              <a:ext cx="2926080" cy="1188720"/>
              <a:chOff x="9052560" y="2514600"/>
              <a:chExt cx="2926080" cy="1188720"/>
            </a:xfrm>
          </p:grpSpPr>
          <p:sp>
            <p:nvSpPr>
              <p:cNvPr id="51" name="Forma 50"/>
              <p:cNvSpPr/>
              <p:nvPr/>
            </p:nvSpPr>
            <p:spPr>
              <a:xfrm>
                <a:off x="9052560" y="2514600"/>
                <a:ext cx="2926080" cy="1188720"/>
              </a:xfrm>
              <a:prstGeom prst="rect">
                <a:avLst/>
              </a:prstGeom>
              <a:solidFill>
                <a:srgbClr val="FFF5F5"/>
              </a:solidFill>
              <a:ln w="15875" cap="rnd">
                <a:solidFill>
                  <a:srgbClr val="E6B0AA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>
                <a:off x="9052560" y="2514600"/>
                <a:ext cx="2926080" cy="11887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62" y="0"/>
                    </a:moveTo>
                    <a:lnTo>
                      <a:pt x="62" y="1000"/>
                    </a:lnTo>
                  </a:path>
                  <a:path w="1000" h="1000" fill="none">
                    <a:moveTo>
                      <a:pt x="125" y="0"/>
                    </a:moveTo>
                    <a:lnTo>
                      <a:pt x="125" y="1000"/>
                    </a:lnTo>
                  </a:path>
                  <a:path w="1000" h="1000" fill="none">
                    <a:moveTo>
                      <a:pt x="187" y="0"/>
                    </a:moveTo>
                    <a:lnTo>
                      <a:pt x="187" y="1000"/>
                    </a:lnTo>
                  </a:path>
                  <a:path w="1000" h="1000" fill="none">
                    <a:moveTo>
                      <a:pt x="250" y="0"/>
                    </a:moveTo>
                    <a:lnTo>
                      <a:pt x="250" y="1000"/>
                    </a:lnTo>
                  </a:path>
                  <a:path w="1000" h="1000" fill="none">
                    <a:moveTo>
                      <a:pt x="312" y="0"/>
                    </a:moveTo>
                    <a:lnTo>
                      <a:pt x="312" y="1000"/>
                    </a:lnTo>
                  </a:path>
                  <a:path w="1000" h="1000" fill="none">
                    <a:moveTo>
                      <a:pt x="375" y="0"/>
                    </a:moveTo>
                    <a:lnTo>
                      <a:pt x="375" y="1000"/>
                    </a:lnTo>
                  </a:path>
                  <a:path w="1000" h="1000" fill="none">
                    <a:moveTo>
                      <a:pt x="437" y="0"/>
                    </a:moveTo>
                    <a:lnTo>
                      <a:pt x="437" y="1000"/>
                    </a:lnTo>
                  </a:path>
                  <a:path w="1000" h="1000" fill="none">
                    <a:moveTo>
                      <a:pt x="500" y="0"/>
                    </a:moveTo>
                    <a:lnTo>
                      <a:pt x="500" y="1000"/>
                    </a:lnTo>
                  </a:path>
                  <a:path w="1000" h="1000" fill="none">
                    <a:moveTo>
                      <a:pt x="562" y="0"/>
                    </a:moveTo>
                    <a:lnTo>
                      <a:pt x="562" y="1000"/>
                    </a:lnTo>
                  </a:path>
                  <a:path w="1000" h="1000" fill="none">
                    <a:moveTo>
                      <a:pt x="625" y="0"/>
                    </a:moveTo>
                    <a:lnTo>
                      <a:pt x="625" y="1000"/>
                    </a:lnTo>
                  </a:path>
                  <a:path w="1000" h="1000" fill="none">
                    <a:moveTo>
                      <a:pt x="687" y="0"/>
                    </a:moveTo>
                    <a:lnTo>
                      <a:pt x="687" y="1000"/>
                    </a:lnTo>
                  </a:path>
                  <a:path w="1000" h="1000" fill="none">
                    <a:moveTo>
                      <a:pt x="750" y="0"/>
                    </a:moveTo>
                    <a:lnTo>
                      <a:pt x="750" y="1000"/>
                    </a:lnTo>
                  </a:path>
                  <a:path w="1000" h="1000" fill="none">
                    <a:moveTo>
                      <a:pt x="812" y="0"/>
                    </a:moveTo>
                    <a:lnTo>
                      <a:pt x="812" y="1000"/>
                    </a:lnTo>
                  </a:path>
                  <a:path w="1000" h="1000" fill="none">
                    <a:moveTo>
                      <a:pt x="875" y="0"/>
                    </a:moveTo>
                    <a:lnTo>
                      <a:pt x="875" y="1000"/>
                    </a:lnTo>
                  </a:path>
                  <a:path w="1000" h="1000" fill="none">
                    <a:moveTo>
                      <a:pt x="937" y="0"/>
                    </a:moveTo>
                    <a:lnTo>
                      <a:pt x="937" y="1000"/>
                    </a:lnTo>
                  </a:path>
                  <a:path w="1000" h="1000" fill="none">
                    <a:moveTo>
                      <a:pt x="0" y="166"/>
                    </a:moveTo>
                    <a:lnTo>
                      <a:pt x="1000" y="166"/>
                    </a:lnTo>
                  </a:path>
                  <a:path w="1000" h="1000" fill="none">
                    <a:moveTo>
                      <a:pt x="0" y="333"/>
                    </a:moveTo>
                    <a:lnTo>
                      <a:pt x="1000" y="333"/>
                    </a:lnTo>
                  </a:path>
                  <a:path w="1000" h="1000" fill="none">
                    <a:moveTo>
                      <a:pt x="0" y="500"/>
                    </a:moveTo>
                    <a:lnTo>
                      <a:pt x="1000" y="500"/>
                    </a:lnTo>
                  </a:path>
                  <a:path w="1000" h="1000" fill="none">
                    <a:moveTo>
                      <a:pt x="0" y="666"/>
                    </a:moveTo>
                    <a:lnTo>
                      <a:pt x="1000" y="666"/>
                    </a:lnTo>
                  </a:path>
                  <a:path w="1000" h="1000" fill="none">
                    <a:moveTo>
                      <a:pt x="0" y="833"/>
                    </a:moveTo>
                    <a:lnTo>
                      <a:pt x="1000" y="833"/>
                    </a:lnTo>
                  </a:path>
                </a:pathLst>
              </a:custGeom>
              <a:noFill/>
              <a:ln w="6350" cap="rnd">
                <a:solidFill>
                  <a:srgbClr val="F5B7B1"/>
                </a:solidFill>
                <a:round/>
              </a:ln>
            </p:spPr>
          </p:sp>
        </p:grpSp>
        <p:sp>
          <p:nvSpPr>
            <p:cNvPr id="53" name="ECG div trazado"/>
            <p:cNvSpPr/>
            <p:nvPr/>
          </p:nvSpPr>
          <p:spPr>
            <a:xfrm>
              <a:off x="9052560" y="2514600"/>
              <a:ext cx="2926080" cy="1188720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350"/>
                  </a:moveTo>
                  <a:lnTo>
                    <a:pt x="40" y="350"/>
                  </a:lnTo>
                  <a:cubicBezTo>
                    <a:pt x="50" y="300"/>
                    <a:pt x="80" y="300"/>
                    <a:pt x="90" y="350"/>
                  </a:cubicBezTo>
                  <a:lnTo>
                    <a:pt x="130" y="350"/>
                  </a:lnTo>
                  <a:lnTo>
                    <a:pt x="140" y="380"/>
                  </a:lnTo>
                  <a:lnTo>
                    <a:pt x="155" y="120"/>
                  </a:lnTo>
                  <a:lnTo>
                    <a:pt x="170" y="440"/>
                  </a:lnTo>
                  <a:lnTo>
                    <a:pt x="180" y="240"/>
                  </a:lnTo>
                  <a:cubicBezTo>
                    <a:pt x="210" y="240"/>
                    <a:pt x="230" y="180"/>
                    <a:pt x="260" y="180"/>
                  </a:cubicBezTo>
                  <a:cubicBezTo>
                    <a:pt x="290" y="180"/>
                    <a:pt x="300" y="350"/>
                    <a:pt x="320" y="350"/>
                  </a:cubicBezTo>
                  <a:lnTo>
                    <a:pt x="500" y="350"/>
                  </a:lnTo>
                  <a:lnTo>
                    <a:pt x="540" y="350"/>
                  </a:lnTo>
                  <a:cubicBezTo>
                    <a:pt x="550" y="300"/>
                    <a:pt x="580" y="300"/>
                    <a:pt x="590" y="350"/>
                  </a:cubicBezTo>
                  <a:lnTo>
                    <a:pt x="630" y="350"/>
                  </a:lnTo>
                  <a:lnTo>
                    <a:pt x="640" y="380"/>
                  </a:lnTo>
                  <a:lnTo>
                    <a:pt x="655" y="120"/>
                  </a:lnTo>
                  <a:lnTo>
                    <a:pt x="670" y="440"/>
                  </a:lnTo>
                  <a:lnTo>
                    <a:pt x="680" y="240"/>
                  </a:lnTo>
                  <a:cubicBezTo>
                    <a:pt x="710" y="240"/>
                    <a:pt x="730" y="180"/>
                    <a:pt x="760" y="180"/>
                  </a:cubicBezTo>
                  <a:cubicBezTo>
                    <a:pt x="790" y="180"/>
                    <a:pt x="800" y="350"/>
                    <a:pt x="820" y="350"/>
                  </a:cubicBezTo>
                  <a:lnTo>
                    <a:pt x="1000" y="35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grpSp>
          <p:nvGrpSpPr>
            <p:cNvPr id="54" name="Filamento div"/>
            <p:cNvGrpSpPr/>
            <p:nvPr/>
          </p:nvGrpSpPr>
          <p:grpSpPr>
            <a:xfrm>
              <a:off x="6583680" y="4370832"/>
              <a:ext cx="5296662" cy="775411"/>
              <a:chOff x="6583680" y="4370832"/>
              <a:chExt cx="5296662" cy="775411"/>
            </a:xfrm>
          </p:grpSpPr>
          <p:sp>
            <p:nvSpPr>
              <p:cNvPr id="55" name="Forma 54"/>
              <p:cNvSpPr/>
              <p:nvPr/>
            </p:nvSpPr>
            <p:spPr>
              <a:xfrm>
                <a:off x="658368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6" name="Forma 55"/>
              <p:cNvSpPr/>
              <p:nvPr/>
            </p:nvSpPr>
            <p:spPr>
              <a:xfrm>
                <a:off x="674370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7" name="Forma 56"/>
              <p:cNvSpPr/>
              <p:nvPr/>
            </p:nvSpPr>
            <p:spPr>
              <a:xfrm>
                <a:off x="690372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8" name="Forma 57"/>
              <p:cNvSpPr/>
              <p:nvPr/>
            </p:nvSpPr>
            <p:spPr>
              <a:xfrm>
                <a:off x="706374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9" name="Forma 58"/>
              <p:cNvSpPr/>
              <p:nvPr/>
            </p:nvSpPr>
            <p:spPr>
              <a:xfrm>
                <a:off x="722376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0" name="Forma 59"/>
              <p:cNvSpPr/>
              <p:nvPr/>
            </p:nvSpPr>
            <p:spPr>
              <a:xfrm>
                <a:off x="738378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1" name="Forma 60"/>
              <p:cNvSpPr/>
              <p:nvPr/>
            </p:nvSpPr>
            <p:spPr>
              <a:xfrm>
                <a:off x="754380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2" name="Forma 61"/>
              <p:cNvSpPr/>
              <p:nvPr/>
            </p:nvSpPr>
            <p:spPr>
              <a:xfrm>
                <a:off x="770382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3" name="Forma 62"/>
              <p:cNvSpPr/>
              <p:nvPr/>
            </p:nvSpPr>
            <p:spPr>
              <a:xfrm>
                <a:off x="786384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4" name="Forma 63"/>
              <p:cNvSpPr/>
              <p:nvPr/>
            </p:nvSpPr>
            <p:spPr>
              <a:xfrm>
                <a:off x="802386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5" name="Forma 64"/>
              <p:cNvSpPr/>
              <p:nvPr/>
            </p:nvSpPr>
            <p:spPr>
              <a:xfrm>
                <a:off x="818388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6" name="Forma 65"/>
              <p:cNvSpPr/>
              <p:nvPr/>
            </p:nvSpPr>
            <p:spPr>
              <a:xfrm>
                <a:off x="834390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7" name="Forma 66"/>
              <p:cNvSpPr/>
              <p:nvPr/>
            </p:nvSpPr>
            <p:spPr>
              <a:xfrm>
                <a:off x="850392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8" name="Forma 67"/>
              <p:cNvSpPr/>
              <p:nvPr/>
            </p:nvSpPr>
            <p:spPr>
              <a:xfrm>
                <a:off x="866394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69" name="Forma 68"/>
              <p:cNvSpPr/>
              <p:nvPr/>
            </p:nvSpPr>
            <p:spPr>
              <a:xfrm>
                <a:off x="882396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0" name="Forma 69"/>
              <p:cNvSpPr/>
              <p:nvPr/>
            </p:nvSpPr>
            <p:spPr>
              <a:xfrm>
                <a:off x="898398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1" name="Forma 70"/>
              <p:cNvSpPr/>
              <p:nvPr/>
            </p:nvSpPr>
            <p:spPr>
              <a:xfrm>
                <a:off x="914400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2" name="Forma 71"/>
              <p:cNvSpPr/>
              <p:nvPr/>
            </p:nvSpPr>
            <p:spPr>
              <a:xfrm>
                <a:off x="930402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3" name="Forma 72"/>
              <p:cNvSpPr/>
              <p:nvPr/>
            </p:nvSpPr>
            <p:spPr>
              <a:xfrm>
                <a:off x="946404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4" name="Forma 73"/>
              <p:cNvSpPr/>
              <p:nvPr/>
            </p:nvSpPr>
            <p:spPr>
              <a:xfrm>
                <a:off x="962406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5" name="Forma 74"/>
              <p:cNvSpPr/>
              <p:nvPr/>
            </p:nvSpPr>
            <p:spPr>
              <a:xfrm>
                <a:off x="978408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6" name="Forma 75"/>
              <p:cNvSpPr/>
              <p:nvPr/>
            </p:nvSpPr>
            <p:spPr>
              <a:xfrm>
                <a:off x="994410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7" name="Forma 76"/>
              <p:cNvSpPr/>
              <p:nvPr/>
            </p:nvSpPr>
            <p:spPr>
              <a:xfrm>
                <a:off x="1010412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8" name="Forma 77"/>
              <p:cNvSpPr/>
              <p:nvPr/>
            </p:nvSpPr>
            <p:spPr>
              <a:xfrm>
                <a:off x="1026414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79" name="Forma 78"/>
              <p:cNvSpPr/>
              <p:nvPr/>
            </p:nvSpPr>
            <p:spPr>
              <a:xfrm>
                <a:off x="1042416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0" name="Forma 79"/>
              <p:cNvSpPr/>
              <p:nvPr/>
            </p:nvSpPr>
            <p:spPr>
              <a:xfrm>
                <a:off x="1058418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1" name="Forma 80"/>
              <p:cNvSpPr/>
              <p:nvPr/>
            </p:nvSpPr>
            <p:spPr>
              <a:xfrm>
                <a:off x="1074420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2" name="Forma 81"/>
              <p:cNvSpPr/>
              <p:nvPr/>
            </p:nvSpPr>
            <p:spPr>
              <a:xfrm>
                <a:off x="1090422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3" name="Forma 82"/>
              <p:cNvSpPr/>
              <p:nvPr/>
            </p:nvSpPr>
            <p:spPr>
              <a:xfrm>
                <a:off x="1106424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4" name="Forma 83"/>
              <p:cNvSpPr/>
              <p:nvPr/>
            </p:nvSpPr>
            <p:spPr>
              <a:xfrm>
                <a:off x="1122426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5" name="Forma 84"/>
              <p:cNvSpPr/>
              <p:nvPr/>
            </p:nvSpPr>
            <p:spPr>
              <a:xfrm>
                <a:off x="11384280" y="4443984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6" name="Forma 85"/>
              <p:cNvSpPr/>
              <p:nvPr/>
            </p:nvSpPr>
            <p:spPr>
              <a:xfrm>
                <a:off x="11544300" y="4765853"/>
                <a:ext cx="336042" cy="380390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87" name="Tropomiosina"/>
              <p:cNvSpPr/>
              <p:nvPr/>
            </p:nvSpPr>
            <p:spPr>
              <a:xfrm>
                <a:off x="6583680" y="4370832"/>
                <a:ext cx="5120640" cy="65836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00" fill="none">
                    <a:moveTo>
                      <a:pt x="0" y="120"/>
                    </a:moveTo>
                    <a:cubicBezTo>
                      <a:pt x="8" y="168"/>
                      <a:pt x="44" y="480"/>
                      <a:pt x="60" y="480"/>
                    </a:cubicBezTo>
                    <a:cubicBezTo>
                      <a:pt x="76" y="480"/>
                      <a:pt x="104" y="120"/>
                      <a:pt x="120" y="120"/>
                    </a:cubicBezTo>
                    <a:cubicBezTo>
                      <a:pt x="136" y="120"/>
                      <a:pt x="164" y="480"/>
                      <a:pt x="180" y="480"/>
                    </a:cubicBezTo>
                    <a:cubicBezTo>
                      <a:pt x="196" y="480"/>
                      <a:pt x="224" y="120"/>
                      <a:pt x="240" y="120"/>
                    </a:cubicBezTo>
                    <a:cubicBezTo>
                      <a:pt x="256" y="120"/>
                      <a:pt x="284" y="480"/>
                      <a:pt x="300" y="480"/>
                    </a:cubicBezTo>
                    <a:cubicBezTo>
                      <a:pt x="316" y="480"/>
                      <a:pt x="344" y="120"/>
                      <a:pt x="360" y="120"/>
                    </a:cubicBezTo>
                    <a:cubicBezTo>
                      <a:pt x="376" y="120"/>
                      <a:pt x="404" y="480"/>
                      <a:pt x="420" y="480"/>
                    </a:cubicBezTo>
                    <a:cubicBezTo>
                      <a:pt x="436" y="480"/>
                      <a:pt x="464" y="120"/>
                      <a:pt x="480" y="120"/>
                    </a:cubicBezTo>
                    <a:cubicBezTo>
                      <a:pt x="496" y="120"/>
                      <a:pt x="524" y="480"/>
                      <a:pt x="540" y="480"/>
                    </a:cubicBezTo>
                    <a:cubicBezTo>
                      <a:pt x="556" y="480"/>
                      <a:pt x="584" y="120"/>
                      <a:pt x="600" y="120"/>
                    </a:cubicBezTo>
                    <a:cubicBezTo>
                      <a:pt x="616" y="120"/>
                      <a:pt x="644" y="480"/>
                      <a:pt x="660" y="480"/>
                    </a:cubicBezTo>
                    <a:cubicBezTo>
                      <a:pt x="676" y="480"/>
                      <a:pt x="704" y="120"/>
                      <a:pt x="720" y="120"/>
                    </a:cubicBezTo>
                    <a:cubicBezTo>
                      <a:pt x="736" y="120"/>
                      <a:pt x="764" y="480"/>
                      <a:pt x="780" y="480"/>
                    </a:cubicBezTo>
                    <a:cubicBezTo>
                      <a:pt x="796" y="480"/>
                      <a:pt x="824" y="120"/>
                      <a:pt x="840" y="120"/>
                    </a:cubicBezTo>
                    <a:cubicBezTo>
                      <a:pt x="856" y="120"/>
                      <a:pt x="884" y="480"/>
                      <a:pt x="900" y="480"/>
                    </a:cubicBezTo>
                    <a:cubicBezTo>
                      <a:pt x="916" y="480"/>
                      <a:pt x="944" y="120"/>
                      <a:pt x="960" y="120"/>
                    </a:cubicBezTo>
                    <a:cubicBezTo>
                      <a:pt x="976" y="120"/>
                      <a:pt x="1012" y="432"/>
                      <a:pt x="1020" y="480"/>
                    </a:cubicBezTo>
                  </a:path>
                </a:pathLst>
              </a:custGeom>
              <a:noFill/>
              <a:ln w="44450" cap="rnd">
                <a:solidFill>
                  <a:srgbClr val="8E44AD"/>
                </a:solidFill>
                <a:round/>
              </a:ln>
            </p:spPr>
          </p:sp>
        </p:grpSp>
        <p:sp>
          <p:nvSpPr>
            <p:cNvPr id="88" name="!!Troponina T"/>
            <p:cNvSpPr/>
            <p:nvPr/>
          </p:nvSpPr>
          <p:spPr>
            <a:xfrm>
              <a:off x="8734349" y="4265493"/>
              <a:ext cx="538399" cy="374538"/>
            </a:xfrm>
            <a:prstGeom prst="ellipse">
              <a:avLst/>
            </a:prstGeom>
            <a:gradFill rotWithShape="1">
              <a:gsLst>
                <a:gs pos="0">
                  <a:srgbClr val="F7C370"/>
                </a:gs>
                <a:gs pos="55000">
                  <a:srgbClr val="F39C12"/>
                </a:gs>
                <a:gs pos="100000">
                  <a:srgbClr val="B6750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9C640C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TnT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89" name="!!Troponina C"/>
            <p:cNvSpPr/>
            <p:nvPr/>
          </p:nvSpPr>
          <p:spPr>
            <a:xfrm>
              <a:off x="9132296" y="3961181"/>
              <a:ext cx="468173" cy="468173"/>
            </a:xfrm>
            <a:prstGeom prst="ellipse">
              <a:avLst/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E8449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TnC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0" name="!!Troponina I"/>
            <p:cNvSpPr/>
            <p:nvPr/>
          </p:nvSpPr>
          <p:spPr>
            <a:xfrm>
              <a:off x="9460017" y="4242084"/>
              <a:ext cx="491581" cy="397947"/>
            </a:xfrm>
            <a:prstGeom prst="ellipse">
              <a:avLst/>
            </a:prstGeom>
            <a:gradFill rotWithShape="1">
              <a:gsLst>
                <a:gs pos="0">
                  <a:srgbClr val="F3A9A1"/>
                </a:gs>
                <a:gs pos="55000">
                  <a:srgbClr val="EC7063"/>
                </a:gs>
                <a:gs pos="100000">
                  <a:srgbClr val="B1544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922B21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TnI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9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D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Paciente"/>
          <p:cNvGrpSpPr/>
          <p:nvPr/>
        </p:nvGrpSpPr>
        <p:grpSpPr>
          <a:xfrm>
            <a:off x="365760" y="1097280"/>
            <a:ext cx="4937760" cy="1417320"/>
            <a:chOff x="365760" y="1097280"/>
            <a:chExt cx="4937760" cy="141732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4937760" cy="14173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grpSp>
          <p:nvGrpSpPr>
            <p:cNvPr id="7" name="Silueta"/>
            <p:cNvGrpSpPr/>
            <p:nvPr/>
          </p:nvGrpSpPr>
          <p:grpSpPr>
            <a:xfrm>
              <a:off x="502920" y="1207008"/>
              <a:ext cx="950976" cy="1188720"/>
              <a:chOff x="502920" y="1207008"/>
              <a:chExt cx="950976" cy="118872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788213" y="1207008"/>
                <a:ext cx="380390" cy="380390"/>
              </a:xfrm>
              <a:prstGeom prst="ellipse">
                <a:avLst/>
              </a:pr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  <p:sp>
            <p:nvSpPr>
              <p:cNvPr id="9" name="Forma 8"/>
              <p:cNvSpPr/>
              <p:nvPr/>
            </p:nvSpPr>
            <p:spPr>
              <a:xfrm>
                <a:off x="502920" y="1606418"/>
                <a:ext cx="950976" cy="78931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0" y="1000"/>
                    </a:moveTo>
                    <a:cubicBezTo>
                      <a:pt x="60" y="908"/>
                      <a:pt x="36" y="596"/>
                      <a:pt x="60" y="450"/>
                    </a:cubicBezTo>
                    <a:cubicBezTo>
                      <a:pt x="83" y="303"/>
                      <a:pt x="126" y="188"/>
                      <a:pt x="200" y="120"/>
                    </a:cubicBezTo>
                    <a:cubicBezTo>
                      <a:pt x="273" y="51"/>
                      <a:pt x="400" y="40"/>
                      <a:pt x="500" y="40"/>
                    </a:cubicBezTo>
                    <a:cubicBezTo>
                      <a:pt x="600" y="40"/>
                      <a:pt x="726" y="51"/>
                      <a:pt x="800" y="120"/>
                    </a:cubicBezTo>
                    <a:cubicBezTo>
                      <a:pt x="873" y="188"/>
                      <a:pt x="916" y="303"/>
                      <a:pt x="940" y="450"/>
                    </a:cubicBezTo>
                    <a:cubicBezTo>
                      <a:pt x="963" y="596"/>
                      <a:pt x="940" y="908"/>
                      <a:pt x="940" y="1000"/>
                    </a:cubicBezTo>
                  </a:path>
                </a:pathLst>
              </a:cu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</p:grpSp>
        <p:sp>
          <p:nvSpPr>
            <p:cNvPr id="10" name="Edad y sexo"/>
            <p:cNvSpPr txBox="1"/>
            <p:nvPr/>
          </p:nvSpPr>
          <p:spPr>
            <a:xfrm>
              <a:off x="1600200" y="1234440"/>
              <a:ext cx="3566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Varón de 36 años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1" name="Motivo"/>
            <p:cNvSpPr txBox="1"/>
            <p:nvPr/>
          </p:nvSpPr>
          <p:spPr>
            <a:xfrm>
              <a:off x="1600200" y="1691640"/>
              <a:ext cx="35661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intenso y opresivo en el tórax, «en la zona de la corbata».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2" name="!!Paciente_2"/>
          <p:cNvGrpSpPr/>
          <p:nvPr/>
        </p:nvGrpSpPr>
        <p:grpSpPr>
          <a:xfrm>
            <a:off x="5669280" y="1005840"/>
            <a:ext cx="2697480" cy="5394960"/>
            <a:chOff x="5669280" y="1005840"/>
            <a:chExt cx="2697480" cy="5394960"/>
          </a:xfrm>
        </p:grpSpPr>
        <p:sp>
          <p:nvSpPr>
            <p:cNvPr id="13" name="Forma 12"/>
            <p:cNvSpPr/>
            <p:nvPr/>
          </p:nvSpPr>
          <p:spPr>
            <a:xfrm>
              <a:off x="566928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566928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15" name="Zona del dolor"/>
          <p:cNvSpPr/>
          <p:nvPr/>
        </p:nvSpPr>
        <p:spPr>
          <a:xfrm>
            <a:off x="6812280" y="2057400"/>
            <a:ext cx="502920" cy="822960"/>
          </a:xfrm>
          <a:prstGeom prst="ellipse">
            <a:avLst/>
          </a:prstGeom>
          <a:solidFill>
            <a:srgbClr val="E74C3C">
              <a:alpha val="55000"/>
            </a:srgbClr>
          </a:solidFill>
          <a:ln w="25400" cap="rnd">
            <a:solidFill>
              <a:srgbClr val="C00000"/>
            </a:solidFill>
            <a:round/>
          </a:ln>
        </p:spPr>
      </p:sp>
      <p:sp>
        <p:nvSpPr>
          <p:cNvPr id="16" name="Irradiación brazo izquierdo"/>
          <p:cNvSpPr/>
          <p:nvPr/>
        </p:nvSpPr>
        <p:spPr>
          <a:xfrm>
            <a:off x="7223760" y="2377440"/>
            <a:ext cx="822960" cy="1280160"/>
          </a:xfrm>
          <a:custGeom>
            <a:avLst/>
            <a:gdLst/>
            <a:ahLst/>
            <a:cxnLst/>
            <a:rect l="0" t="0" r="r" b="b"/>
            <a:pathLst>
              <a:path w="900" h="1400" fill="none">
                <a:moveTo>
                  <a:pt x="0" y="0"/>
                </a:moveTo>
                <a:quadBezTo>
                  <a:pt x="650" y="299"/>
                  <a:pt x="900" y="1400"/>
                </a:quadBezTo>
              </a:path>
            </a:pathLst>
          </a:custGeom>
          <a:noFill/>
          <a:ln w="50800" cap="rnd">
            <a:solidFill>
              <a:srgbClr val="C00000"/>
            </a:solidFill>
            <a:round/>
            <a:tailEnd type="triangle" w="med" len="med"/>
          </a:ln>
        </p:spPr>
      </p:sp>
      <p:grpSp>
        <p:nvGrpSpPr>
          <p:cNvPr id="17" name="Reloj 7 horas"/>
          <p:cNvGrpSpPr/>
          <p:nvPr/>
        </p:nvGrpSpPr>
        <p:grpSpPr>
          <a:xfrm>
            <a:off x="548640" y="2788920"/>
            <a:ext cx="1188720" cy="1188720"/>
            <a:chOff x="548640" y="2788920"/>
            <a:chExt cx="1188720" cy="1188720"/>
          </a:xfrm>
        </p:grpSpPr>
        <p:sp>
          <p:nvSpPr>
            <p:cNvPr id="18" name="Forma 17"/>
            <p:cNvSpPr/>
            <p:nvPr/>
          </p:nvSpPr>
          <p:spPr>
            <a:xfrm>
              <a:off x="548640" y="2788920"/>
              <a:ext cx="1188720" cy="118872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5000">
                  <a:srgbClr val="FFFFFF"/>
                </a:gs>
                <a:gs pos="100000">
                  <a:srgbClr val="EAEAEA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19" name="Flecha 18_2"/>
            <p:cNvSpPr/>
            <p:nvPr/>
          </p:nvSpPr>
          <p:spPr>
            <a:xfrm>
              <a:off x="976579" y="3383280"/>
              <a:ext cx="166421" cy="288249"/>
            </a:xfrm>
            <a:custGeom>
              <a:avLst/>
              <a:gdLst/>
              <a:ahLst/>
              <a:cxnLst/>
              <a:rect l="0" t="0" r="r" b="b"/>
              <a:pathLst>
                <a:path w="181" h="315" fill="none">
                  <a:moveTo>
                    <a:pt x="181" y="0"/>
                  </a:moveTo>
                  <a:lnTo>
                    <a:pt x="0" y="315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20" name="Flecha 20_2"/>
            <p:cNvSpPr/>
            <p:nvPr/>
          </p:nvSpPr>
          <p:spPr>
            <a:xfrm>
              <a:off x="1143000" y="2931566"/>
              <a:ext cx="9144" cy="451714"/>
            </a:xfrm>
            <a:custGeom>
              <a:avLst/>
              <a:gdLst/>
              <a:ahLst/>
              <a:cxnLst/>
              <a:rect l="0" t="0" r="r" b="b"/>
              <a:pathLst>
                <a:path w="10" h="493" fill="none">
                  <a:moveTo>
                    <a:pt x="0" y="493"/>
                  </a:moveTo>
                  <a:lnTo>
                    <a:pt x="0" y="0"/>
                  </a:lnTo>
                </a:path>
              </a:pathLst>
            </a:custGeom>
            <a:noFill/>
            <a:ln w="22225" cap="rnd">
              <a:solidFill>
                <a:srgbClr val="1E1E1E"/>
              </a:solidFill>
              <a:round/>
            </a:ln>
          </p:spPr>
        </p:sp>
      </p:grpSp>
      <p:sp>
        <p:nvSpPr>
          <p:cNvPr id="21" name="Tiempo de evolución"/>
          <p:cNvSpPr/>
          <p:nvPr/>
        </p:nvSpPr>
        <p:spPr>
          <a:xfrm>
            <a:off x="1920240" y="2788920"/>
            <a:ext cx="3383280" cy="118872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Evolución de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7 horas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200" dirty="0">
              <a:latin typeface="Calibri"/>
            </a:endParaRPr>
          </a:p>
        </p:txBody>
      </p:sp>
      <p:sp>
        <p:nvSpPr>
          <p:cNvPr id="22" name="Irradiación texto"/>
          <p:cNvSpPr/>
          <p:nvPr/>
        </p:nvSpPr>
        <p:spPr>
          <a:xfrm>
            <a:off x="365760" y="4206240"/>
            <a:ext cx="4937760" cy="10972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Irradiación al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brazo izquierdo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(hasta el dedo meñique).</a:t>
            </a:r>
            <a:endParaRPr lang="es-AR" sz="2050" dirty="0">
              <a:latin typeface="Calibri"/>
            </a:endParaRPr>
          </a:p>
        </p:txBody>
      </p:sp>
      <p:sp>
        <p:nvSpPr>
          <p:cNvPr id="23" name="Pregunta IAM"/>
          <p:cNvSpPr/>
          <p:nvPr/>
        </p:nvSpPr>
        <p:spPr>
          <a:xfrm>
            <a:off x="365760" y="5486400"/>
            <a:ext cx="4937760" cy="9601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¿Qué más necesitamos saber antes de pedir el laboratorio?</a:t>
            </a:r>
            <a:endParaRPr lang="es-AR" sz="2000" dirty="0">
              <a:latin typeface="Calibri"/>
            </a:endParaRPr>
          </a:p>
        </p:txBody>
      </p:sp>
      <p:grpSp>
        <p:nvGrpSpPr>
          <p:cNvPr id="24" name="Método caso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5" name="Forma 26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datos se presentan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 a uno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primero el paciente, luego antecedentes, ECG y biomarcadores.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6" name="Forma 27"/>
            <p:cNvSpPr/>
            <p:nvPr/>
          </p:nvSpPr>
          <p:spPr>
            <a:xfrm>
              <a:off x="8677656" y="1097280"/>
              <a:ext cx="161860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RAZONAMIENTO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CLÍNICO: UN DOLOR QUE NO CEDE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179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3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2" grpId="0" animBg="1"/>
      <p:bldP spid="21" grpId="0" animBg="1"/>
      <p:bldP spid="23" grpId="0" animBg="1"/>
    </p:bld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Riesgo Tabaquismo severo"/>
          <p:cNvGrpSpPr/>
          <p:nvPr/>
        </p:nvGrpSpPr>
        <p:grpSpPr>
          <a:xfrm>
            <a:off x="411480" y="1143000"/>
            <a:ext cx="3749040" cy="2240280"/>
            <a:chOff x="411480" y="1143000"/>
            <a:chExt cx="3749040" cy="2240280"/>
          </a:xfrm>
        </p:grpSpPr>
        <p:sp>
          <p:nvSpPr>
            <p:cNvPr id="6" name="Forma 5"/>
            <p:cNvSpPr/>
            <p:nvPr/>
          </p:nvSpPr>
          <p:spPr>
            <a:xfrm>
              <a:off x="411480" y="1143000"/>
              <a:ext cx="3749040" cy="2240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777240" y="1874520"/>
              <a:ext cx="2194560" cy="320040"/>
            </a:xfrm>
            <a:prstGeom prst="rect">
              <a:avLst/>
            </a:prstGeom>
            <a:solidFill>
              <a:srgbClr val="FDFEFE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2971800" y="1874520"/>
              <a:ext cx="457200" cy="320040"/>
            </a:xfrm>
            <a:prstGeom prst="rect">
              <a:avLst/>
            </a:prstGeom>
            <a:solidFill>
              <a:srgbClr val="E67E22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3063240" y="1234440"/>
              <a:ext cx="548640" cy="64008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200" y="1000"/>
                  </a:moveTo>
                  <a:cubicBezTo>
                    <a:pt x="0" y="700"/>
                    <a:pt x="600" y="500"/>
                    <a:pt x="300" y="200"/>
                  </a:cubicBezTo>
                  <a:cubicBezTo>
                    <a:pt x="200" y="50"/>
                    <a:pt x="500" y="0"/>
                    <a:pt x="600" y="0"/>
                  </a:cubicBezTo>
                </a:path>
              </a:pathLst>
            </a:custGeom>
            <a:noFill/>
            <a:ln w="31750" cap="rnd">
              <a:solidFill>
                <a:srgbClr val="95A5A6"/>
              </a:solidFill>
              <a:round/>
            </a:ln>
          </p:spPr>
        </p:sp>
        <p:sp>
          <p:nvSpPr>
            <p:cNvPr id="10" name="Forma 9"/>
            <p:cNvSpPr txBox="1"/>
            <p:nvPr/>
          </p:nvSpPr>
          <p:spPr>
            <a:xfrm>
              <a:off x="548640" y="2743200"/>
              <a:ext cx="3474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Tabaquismo severo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1" name="Riesgo Obesidad"/>
          <p:cNvGrpSpPr/>
          <p:nvPr/>
        </p:nvGrpSpPr>
        <p:grpSpPr>
          <a:xfrm>
            <a:off x="4343400" y="1143000"/>
            <a:ext cx="3749040" cy="2240280"/>
            <a:chOff x="4343400" y="1143000"/>
            <a:chExt cx="3749040" cy="2240280"/>
          </a:xfrm>
        </p:grpSpPr>
        <p:sp>
          <p:nvSpPr>
            <p:cNvPr id="12" name="Forma 11"/>
            <p:cNvSpPr/>
            <p:nvPr/>
          </p:nvSpPr>
          <p:spPr>
            <a:xfrm>
              <a:off x="4343400" y="1143000"/>
              <a:ext cx="3749040" cy="2240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5532120" y="1371600"/>
              <a:ext cx="1280160" cy="1280160"/>
            </a:xfrm>
            <a:prstGeom prst="ellipse">
              <a:avLst/>
            </a:prstGeom>
            <a:gradFill rotWithShape="1">
              <a:gsLst>
                <a:gs pos="0">
                  <a:srgbClr val="F8DDC5"/>
                </a:gs>
                <a:gs pos="55000">
                  <a:srgbClr val="F5CBA7"/>
                </a:gs>
                <a:gs pos="100000">
                  <a:srgbClr val="C4A285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A0522D"/>
              </a:solidFill>
              <a:round/>
            </a:ln>
          </p:spPr>
        </p:sp>
        <p:sp>
          <p:nvSpPr>
            <p:cNvPr id="14" name="Forma 13"/>
            <p:cNvSpPr txBox="1"/>
            <p:nvPr/>
          </p:nvSpPr>
          <p:spPr>
            <a:xfrm>
              <a:off x="4480560" y="2743200"/>
              <a:ext cx="3474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Obesidad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5" name="Riesgo Hipertensión arterial"/>
          <p:cNvGrpSpPr/>
          <p:nvPr/>
        </p:nvGrpSpPr>
        <p:grpSpPr>
          <a:xfrm>
            <a:off x="411480" y="3611880"/>
            <a:ext cx="3749040" cy="2240280"/>
            <a:chOff x="411480" y="3611880"/>
            <a:chExt cx="3749040" cy="2240280"/>
          </a:xfrm>
        </p:grpSpPr>
        <p:sp>
          <p:nvSpPr>
            <p:cNvPr id="16" name="Forma 15"/>
            <p:cNvSpPr/>
            <p:nvPr/>
          </p:nvSpPr>
          <p:spPr>
            <a:xfrm>
              <a:off x="411480" y="3611880"/>
              <a:ext cx="3749040" cy="2240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1508760" y="3886200"/>
              <a:ext cx="1371600" cy="1188720"/>
            </a:xfrm>
            <a:prstGeom prst="ellipse">
              <a:avLst/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</p:sp>
        <p:sp>
          <p:nvSpPr>
            <p:cNvPr id="18" name="Flecha 17_2"/>
            <p:cNvSpPr/>
            <p:nvPr/>
          </p:nvSpPr>
          <p:spPr>
            <a:xfrm>
              <a:off x="2194560" y="4114800"/>
              <a:ext cx="457200" cy="365760"/>
            </a:xfrm>
            <a:custGeom>
              <a:avLst/>
              <a:gdLst/>
              <a:ahLst/>
              <a:cxnLst/>
              <a:rect l="0" t="0" r="r" b="b"/>
              <a:pathLst>
                <a:path w="500" h="400" fill="none">
                  <a:moveTo>
                    <a:pt x="0" y="400"/>
                  </a:moveTo>
                  <a:lnTo>
                    <a:pt x="500" y="0"/>
                  </a:lnTo>
                </a:path>
              </a:pathLst>
            </a:custGeom>
            <a:noFill/>
            <a:ln w="38100" cap="rnd">
              <a:solidFill>
                <a:srgbClr val="C00000"/>
              </a:solidFill>
              <a:round/>
              <a:tailEnd type="triangle" w="med" len="med"/>
            </a:ln>
          </p:spPr>
        </p:sp>
        <p:sp>
          <p:nvSpPr>
            <p:cNvPr id="19" name="Forma 19"/>
            <p:cNvSpPr txBox="1"/>
            <p:nvPr/>
          </p:nvSpPr>
          <p:spPr>
            <a:xfrm>
              <a:off x="548640" y="5212080"/>
              <a:ext cx="3474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Hipertensión arterial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0" name="Riesgo Padre fallecido por IAM"/>
          <p:cNvGrpSpPr/>
          <p:nvPr/>
        </p:nvGrpSpPr>
        <p:grpSpPr>
          <a:xfrm>
            <a:off x="4343400" y="3611880"/>
            <a:ext cx="3749040" cy="2240280"/>
            <a:chOff x="4343400" y="3611880"/>
            <a:chExt cx="3749040" cy="2240280"/>
          </a:xfrm>
        </p:grpSpPr>
        <p:sp>
          <p:nvSpPr>
            <p:cNvPr id="21" name="Forma 21"/>
            <p:cNvSpPr/>
            <p:nvPr/>
          </p:nvSpPr>
          <p:spPr>
            <a:xfrm>
              <a:off x="4343400" y="3611880"/>
              <a:ext cx="3749040" cy="22402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22" name="Familia"/>
            <p:cNvGrpSpPr/>
            <p:nvPr/>
          </p:nvGrpSpPr>
          <p:grpSpPr>
            <a:xfrm>
              <a:off x="5212080" y="3840480"/>
              <a:ext cx="1645920" cy="1280160"/>
              <a:chOff x="5212080" y="3840480"/>
              <a:chExt cx="1645920" cy="1280160"/>
            </a:xfrm>
          </p:grpSpPr>
          <p:sp>
            <p:nvSpPr>
              <p:cNvPr id="23" name="Forma 23"/>
              <p:cNvSpPr/>
              <p:nvPr/>
            </p:nvSpPr>
            <p:spPr>
              <a:xfrm>
                <a:off x="5349240" y="3840480"/>
                <a:ext cx="457200" cy="457200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24" name="Forma 24"/>
              <p:cNvSpPr/>
              <p:nvPr/>
            </p:nvSpPr>
            <p:spPr>
              <a:xfrm rot="-5400000">
                <a:off x="5212080" y="4343400"/>
                <a:ext cx="731520" cy="777240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25" name="Forma 25"/>
              <p:cNvSpPr/>
              <p:nvPr/>
            </p:nvSpPr>
            <p:spPr>
              <a:xfrm>
                <a:off x="6263640" y="3840480"/>
                <a:ext cx="457200" cy="457200"/>
              </a:xfrm>
              <a:prstGeom prst="ellipse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  <p:sp>
            <p:nvSpPr>
              <p:cNvPr id="26" name="Forma 26"/>
              <p:cNvSpPr/>
              <p:nvPr/>
            </p:nvSpPr>
            <p:spPr>
              <a:xfrm rot="-5400000">
                <a:off x="6126480" y="4343400"/>
                <a:ext cx="731520" cy="777240"/>
              </a:xfrm>
              <a:prstGeom prst="flowChartDelay">
                <a:avLst/>
              </a:prstGeom>
              <a:solidFill>
                <a:srgbClr val="AEB6BF"/>
              </a:solidFill>
              <a:ln w="12700" cap="rnd">
                <a:solidFill>
                  <a:srgbClr val="1E1E1E"/>
                </a:solidFill>
                <a:round/>
              </a:ln>
            </p:spPr>
          </p:sp>
        </p:grpSp>
        <p:sp>
          <p:nvSpPr>
            <p:cNvPr id="27" name="Forma 27"/>
            <p:cNvSpPr txBox="1"/>
            <p:nvPr/>
          </p:nvSpPr>
          <p:spPr>
            <a:xfrm>
              <a:off x="4480560" y="5212080"/>
              <a:ext cx="34747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Padre fallecido por IAM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28" name="Sugestivo"/>
          <p:cNvSpPr/>
          <p:nvPr/>
        </p:nvSpPr>
        <p:spPr>
          <a:xfrm>
            <a:off x="8321040" y="1143000"/>
            <a:ext cx="3611880" cy="29260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Reúne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todos los elementos clásicos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IAM: la presentación es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altamente sugestiva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antes de ver el laboratorio.</a:t>
            </a:r>
            <a:endParaRPr lang="es-AR" sz="2000" dirty="0">
              <a:latin typeface="Calibri"/>
            </a:endParaRPr>
          </a:p>
        </p:txBody>
      </p:sp>
      <p:sp>
        <p:nvSpPr>
          <p:cNvPr id="29" name="Potencian"/>
          <p:cNvSpPr/>
          <p:nvPr/>
        </p:nvSpPr>
        <p:spPr>
          <a:xfrm>
            <a:off x="8321040" y="4297680"/>
            <a:ext cx="3611880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factores de riesgo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potencian entre sí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CLÍNICO: FACTORES DE RIESGO CARDIOVASCULAR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ECG caso papel"/>
          <p:cNvGrpSpPr/>
          <p:nvPr/>
        </p:nvGrpSpPr>
        <p:grpSpPr>
          <a:xfrm>
            <a:off x="365760" y="1188720"/>
            <a:ext cx="7680960" cy="2011680"/>
            <a:chOff x="365760" y="1188720"/>
            <a:chExt cx="7680960" cy="2011680"/>
          </a:xfrm>
        </p:grpSpPr>
        <p:sp>
          <p:nvSpPr>
            <p:cNvPr id="6" name="Forma 5"/>
            <p:cNvSpPr/>
            <p:nvPr/>
          </p:nvSpPr>
          <p:spPr>
            <a:xfrm>
              <a:off x="365760" y="1188720"/>
              <a:ext cx="7680960" cy="2011680"/>
            </a:xfrm>
            <a:prstGeom prst="rect">
              <a:avLst/>
            </a:prstGeom>
            <a:solidFill>
              <a:srgbClr val="FFF5F5"/>
            </a:solidFill>
            <a:ln w="15875" cap="rnd">
              <a:solidFill>
                <a:srgbClr val="E6B0AA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365760" y="1188720"/>
              <a:ext cx="7680960" cy="201168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23" y="0"/>
                  </a:moveTo>
                  <a:lnTo>
                    <a:pt x="23" y="1000"/>
                  </a:lnTo>
                </a:path>
                <a:path w="1000" h="1000" fill="none">
                  <a:moveTo>
                    <a:pt x="47" y="0"/>
                  </a:moveTo>
                  <a:lnTo>
                    <a:pt x="47" y="1000"/>
                  </a:lnTo>
                </a:path>
                <a:path w="1000" h="1000" fill="none">
                  <a:moveTo>
                    <a:pt x="71" y="0"/>
                  </a:moveTo>
                  <a:lnTo>
                    <a:pt x="71" y="1000"/>
                  </a:lnTo>
                </a:path>
                <a:path w="1000" h="1000" fill="none">
                  <a:moveTo>
                    <a:pt x="95" y="0"/>
                  </a:moveTo>
                  <a:lnTo>
                    <a:pt x="95" y="1000"/>
                  </a:lnTo>
                </a:path>
                <a:path w="1000" h="1000" fill="none">
                  <a:moveTo>
                    <a:pt x="119" y="0"/>
                  </a:moveTo>
                  <a:lnTo>
                    <a:pt x="119" y="1000"/>
                  </a:lnTo>
                </a:path>
                <a:path w="1000" h="1000" fill="none">
                  <a:moveTo>
                    <a:pt x="142" y="0"/>
                  </a:moveTo>
                  <a:lnTo>
                    <a:pt x="142" y="1000"/>
                  </a:lnTo>
                </a:path>
                <a:path w="1000" h="1000" fill="none">
                  <a:moveTo>
                    <a:pt x="166" y="0"/>
                  </a:moveTo>
                  <a:lnTo>
                    <a:pt x="166" y="1000"/>
                  </a:lnTo>
                </a:path>
                <a:path w="1000" h="1000" fill="none">
                  <a:moveTo>
                    <a:pt x="190" y="0"/>
                  </a:moveTo>
                  <a:lnTo>
                    <a:pt x="190" y="1000"/>
                  </a:lnTo>
                </a:path>
                <a:path w="1000" h="1000" fill="none">
                  <a:moveTo>
                    <a:pt x="214" y="0"/>
                  </a:moveTo>
                  <a:lnTo>
                    <a:pt x="214" y="1000"/>
                  </a:lnTo>
                </a:path>
                <a:path w="1000" h="1000" fill="none">
                  <a:moveTo>
                    <a:pt x="238" y="0"/>
                  </a:moveTo>
                  <a:lnTo>
                    <a:pt x="238" y="1000"/>
                  </a:lnTo>
                </a:path>
                <a:path w="1000" h="1000" fill="none">
                  <a:moveTo>
                    <a:pt x="261" y="0"/>
                  </a:moveTo>
                  <a:lnTo>
                    <a:pt x="261" y="1000"/>
                  </a:lnTo>
                </a:path>
                <a:path w="1000" h="1000" fill="none">
                  <a:moveTo>
                    <a:pt x="285" y="0"/>
                  </a:moveTo>
                  <a:lnTo>
                    <a:pt x="285" y="1000"/>
                  </a:lnTo>
                </a:path>
                <a:path w="1000" h="1000" fill="none">
                  <a:moveTo>
                    <a:pt x="309" y="0"/>
                  </a:moveTo>
                  <a:lnTo>
                    <a:pt x="309" y="1000"/>
                  </a:lnTo>
                </a:path>
                <a:path w="1000" h="1000" fill="none">
                  <a:moveTo>
                    <a:pt x="333" y="0"/>
                  </a:moveTo>
                  <a:lnTo>
                    <a:pt x="333" y="1000"/>
                  </a:lnTo>
                </a:path>
                <a:path w="1000" h="1000" fill="none">
                  <a:moveTo>
                    <a:pt x="357" y="0"/>
                  </a:moveTo>
                  <a:lnTo>
                    <a:pt x="357" y="1000"/>
                  </a:lnTo>
                </a:path>
                <a:path w="1000" h="1000" fill="none">
                  <a:moveTo>
                    <a:pt x="380" y="0"/>
                  </a:moveTo>
                  <a:lnTo>
                    <a:pt x="380" y="1000"/>
                  </a:lnTo>
                </a:path>
                <a:path w="1000" h="1000" fill="none">
                  <a:moveTo>
                    <a:pt x="404" y="0"/>
                  </a:moveTo>
                  <a:lnTo>
                    <a:pt x="404" y="1000"/>
                  </a:lnTo>
                </a:path>
                <a:path w="1000" h="1000" fill="none">
                  <a:moveTo>
                    <a:pt x="428" y="0"/>
                  </a:moveTo>
                  <a:lnTo>
                    <a:pt x="428" y="1000"/>
                  </a:lnTo>
                </a:path>
                <a:path w="1000" h="1000" fill="none">
                  <a:moveTo>
                    <a:pt x="452" y="0"/>
                  </a:moveTo>
                  <a:lnTo>
                    <a:pt x="452" y="1000"/>
                  </a:lnTo>
                </a:path>
                <a:path w="1000" h="1000" fill="none">
                  <a:moveTo>
                    <a:pt x="476" y="0"/>
                  </a:moveTo>
                  <a:lnTo>
                    <a:pt x="476" y="1000"/>
                  </a:lnTo>
                </a:path>
                <a:path w="1000" h="1000" fill="none">
                  <a:moveTo>
                    <a:pt x="500" y="0"/>
                  </a:moveTo>
                  <a:lnTo>
                    <a:pt x="500" y="1000"/>
                  </a:lnTo>
                </a:path>
                <a:path w="1000" h="1000" fill="none">
                  <a:moveTo>
                    <a:pt x="523" y="0"/>
                  </a:moveTo>
                  <a:lnTo>
                    <a:pt x="523" y="1000"/>
                  </a:lnTo>
                </a:path>
                <a:path w="1000" h="1000" fill="none">
                  <a:moveTo>
                    <a:pt x="547" y="0"/>
                  </a:moveTo>
                  <a:lnTo>
                    <a:pt x="547" y="1000"/>
                  </a:lnTo>
                </a:path>
                <a:path w="1000" h="1000" fill="none">
                  <a:moveTo>
                    <a:pt x="571" y="0"/>
                  </a:moveTo>
                  <a:lnTo>
                    <a:pt x="571" y="1000"/>
                  </a:lnTo>
                </a:path>
                <a:path w="1000" h="1000" fill="none">
                  <a:moveTo>
                    <a:pt x="595" y="0"/>
                  </a:moveTo>
                  <a:lnTo>
                    <a:pt x="595" y="1000"/>
                  </a:lnTo>
                </a:path>
                <a:path w="1000" h="1000" fill="none">
                  <a:moveTo>
                    <a:pt x="619" y="0"/>
                  </a:moveTo>
                  <a:lnTo>
                    <a:pt x="619" y="1000"/>
                  </a:lnTo>
                </a:path>
                <a:path w="1000" h="1000" fill="none">
                  <a:moveTo>
                    <a:pt x="642" y="0"/>
                  </a:moveTo>
                  <a:lnTo>
                    <a:pt x="642" y="1000"/>
                  </a:lnTo>
                </a:path>
                <a:path w="1000" h="1000" fill="none">
                  <a:moveTo>
                    <a:pt x="666" y="0"/>
                  </a:moveTo>
                  <a:lnTo>
                    <a:pt x="666" y="1000"/>
                  </a:lnTo>
                </a:path>
                <a:path w="1000" h="1000" fill="none">
                  <a:moveTo>
                    <a:pt x="690" y="0"/>
                  </a:moveTo>
                  <a:lnTo>
                    <a:pt x="690" y="1000"/>
                  </a:lnTo>
                </a:path>
                <a:path w="1000" h="1000" fill="none">
                  <a:moveTo>
                    <a:pt x="714" y="0"/>
                  </a:moveTo>
                  <a:lnTo>
                    <a:pt x="714" y="1000"/>
                  </a:lnTo>
                </a:path>
                <a:path w="1000" h="1000" fill="none">
                  <a:moveTo>
                    <a:pt x="738" y="0"/>
                  </a:moveTo>
                  <a:lnTo>
                    <a:pt x="738" y="1000"/>
                  </a:lnTo>
                </a:path>
                <a:path w="1000" h="1000" fill="none">
                  <a:moveTo>
                    <a:pt x="761" y="0"/>
                  </a:moveTo>
                  <a:lnTo>
                    <a:pt x="761" y="1000"/>
                  </a:lnTo>
                </a:path>
                <a:path w="1000" h="1000" fill="none">
                  <a:moveTo>
                    <a:pt x="785" y="0"/>
                  </a:moveTo>
                  <a:lnTo>
                    <a:pt x="785" y="1000"/>
                  </a:lnTo>
                </a:path>
                <a:path w="1000" h="1000" fill="none">
                  <a:moveTo>
                    <a:pt x="809" y="0"/>
                  </a:moveTo>
                  <a:lnTo>
                    <a:pt x="809" y="1000"/>
                  </a:lnTo>
                </a:path>
                <a:path w="1000" h="1000" fill="none">
                  <a:moveTo>
                    <a:pt x="833" y="0"/>
                  </a:moveTo>
                  <a:lnTo>
                    <a:pt x="833" y="1000"/>
                  </a:lnTo>
                </a:path>
                <a:path w="1000" h="1000" fill="none">
                  <a:moveTo>
                    <a:pt x="857" y="0"/>
                  </a:moveTo>
                  <a:lnTo>
                    <a:pt x="857" y="1000"/>
                  </a:lnTo>
                </a:path>
                <a:path w="1000" h="1000" fill="none">
                  <a:moveTo>
                    <a:pt x="880" y="0"/>
                  </a:moveTo>
                  <a:lnTo>
                    <a:pt x="880" y="1000"/>
                  </a:lnTo>
                </a:path>
                <a:path w="1000" h="1000" fill="none">
                  <a:moveTo>
                    <a:pt x="904" y="0"/>
                  </a:moveTo>
                  <a:lnTo>
                    <a:pt x="904" y="1000"/>
                  </a:lnTo>
                </a:path>
                <a:path w="1000" h="1000" fill="none">
                  <a:moveTo>
                    <a:pt x="928" y="0"/>
                  </a:moveTo>
                  <a:lnTo>
                    <a:pt x="928" y="1000"/>
                  </a:lnTo>
                </a:path>
                <a:path w="1000" h="1000" fill="none">
                  <a:moveTo>
                    <a:pt x="952" y="0"/>
                  </a:moveTo>
                  <a:lnTo>
                    <a:pt x="952" y="1000"/>
                  </a:lnTo>
                </a:path>
                <a:path w="1000" h="1000" fill="none">
                  <a:moveTo>
                    <a:pt x="976" y="0"/>
                  </a:moveTo>
                  <a:lnTo>
                    <a:pt x="976" y="1000"/>
                  </a:lnTo>
                </a:path>
                <a:path w="1000" h="1000" fill="none">
                  <a:moveTo>
                    <a:pt x="0" y="90"/>
                  </a:moveTo>
                  <a:lnTo>
                    <a:pt x="1000" y="90"/>
                  </a:lnTo>
                </a:path>
                <a:path w="1000" h="1000" fill="none">
                  <a:moveTo>
                    <a:pt x="0" y="181"/>
                  </a:moveTo>
                  <a:lnTo>
                    <a:pt x="1000" y="181"/>
                  </a:lnTo>
                </a:path>
                <a:path w="1000" h="1000" fill="none">
                  <a:moveTo>
                    <a:pt x="0" y="272"/>
                  </a:moveTo>
                  <a:lnTo>
                    <a:pt x="1000" y="272"/>
                  </a:lnTo>
                </a:path>
                <a:path w="1000" h="1000" fill="none">
                  <a:moveTo>
                    <a:pt x="0" y="363"/>
                  </a:moveTo>
                  <a:lnTo>
                    <a:pt x="1000" y="363"/>
                  </a:lnTo>
                </a:path>
                <a:path w="1000" h="1000" fill="none">
                  <a:moveTo>
                    <a:pt x="0" y="454"/>
                  </a:moveTo>
                  <a:lnTo>
                    <a:pt x="1000" y="454"/>
                  </a:lnTo>
                </a:path>
                <a:path w="1000" h="1000" fill="none">
                  <a:moveTo>
                    <a:pt x="0" y="545"/>
                  </a:moveTo>
                  <a:lnTo>
                    <a:pt x="1000" y="545"/>
                  </a:lnTo>
                </a:path>
                <a:path w="1000" h="1000" fill="none">
                  <a:moveTo>
                    <a:pt x="0" y="636"/>
                  </a:moveTo>
                  <a:lnTo>
                    <a:pt x="1000" y="636"/>
                  </a:lnTo>
                </a:path>
                <a:path w="1000" h="1000" fill="none">
                  <a:moveTo>
                    <a:pt x="0" y="727"/>
                  </a:moveTo>
                  <a:lnTo>
                    <a:pt x="1000" y="727"/>
                  </a:lnTo>
                </a:path>
                <a:path w="1000" h="1000" fill="none">
                  <a:moveTo>
                    <a:pt x="0" y="818"/>
                  </a:moveTo>
                  <a:lnTo>
                    <a:pt x="1000" y="818"/>
                  </a:lnTo>
                </a:path>
                <a:path w="1000" h="1000" fill="none">
                  <a:moveTo>
                    <a:pt x="0" y="909"/>
                  </a:moveTo>
                  <a:lnTo>
                    <a:pt x="1000" y="909"/>
                  </a:lnTo>
                </a:path>
              </a:pathLst>
            </a:custGeom>
            <a:noFill/>
            <a:ln w="6350" cap="rnd">
              <a:solidFill>
                <a:srgbClr val="F5B7B1"/>
              </a:solidFill>
              <a:round/>
            </a:ln>
          </p:spPr>
        </p:sp>
      </p:grpSp>
      <p:sp>
        <p:nvSpPr>
          <p:cNvPr id="8" name="!!ECG caso trazado"/>
          <p:cNvSpPr/>
          <p:nvPr/>
        </p:nvSpPr>
        <p:spPr>
          <a:xfrm>
            <a:off x="365760" y="1188720"/>
            <a:ext cx="7680960" cy="2011680"/>
          </a:xfrm>
          <a:custGeom>
            <a:avLst/>
            <a:gdLst/>
            <a:ahLst/>
            <a:cxnLst/>
            <a:rect l="0" t="0" r="r" b="b"/>
            <a:pathLst>
              <a:path w="1000" h="600" fill="none">
                <a:moveTo>
                  <a:pt x="0" y="350"/>
                </a:moveTo>
                <a:lnTo>
                  <a:pt x="26" y="350"/>
                </a:lnTo>
                <a:cubicBezTo>
                  <a:pt x="33" y="300"/>
                  <a:pt x="53" y="300"/>
                  <a:pt x="59" y="350"/>
                </a:cubicBezTo>
                <a:lnTo>
                  <a:pt x="86" y="350"/>
                </a:lnTo>
                <a:lnTo>
                  <a:pt x="93" y="380"/>
                </a:lnTo>
                <a:lnTo>
                  <a:pt x="103" y="120"/>
                </a:lnTo>
                <a:lnTo>
                  <a:pt x="113" y="440"/>
                </a:lnTo>
                <a:lnTo>
                  <a:pt x="119" y="240"/>
                </a:lnTo>
                <a:cubicBezTo>
                  <a:pt x="140" y="240"/>
                  <a:pt x="153" y="180"/>
                  <a:pt x="173" y="180"/>
                </a:cubicBezTo>
                <a:cubicBezTo>
                  <a:pt x="193" y="180"/>
                  <a:pt x="199" y="350"/>
                  <a:pt x="213" y="350"/>
                </a:cubicBezTo>
                <a:lnTo>
                  <a:pt x="333" y="350"/>
                </a:lnTo>
                <a:lnTo>
                  <a:pt x="360" y="350"/>
                </a:lnTo>
                <a:cubicBezTo>
                  <a:pt x="366" y="300"/>
                  <a:pt x="386" y="300"/>
                  <a:pt x="393" y="350"/>
                </a:cubicBezTo>
                <a:lnTo>
                  <a:pt x="420" y="350"/>
                </a:lnTo>
                <a:lnTo>
                  <a:pt x="426" y="380"/>
                </a:lnTo>
                <a:lnTo>
                  <a:pt x="436" y="120"/>
                </a:lnTo>
                <a:lnTo>
                  <a:pt x="446" y="440"/>
                </a:lnTo>
                <a:lnTo>
                  <a:pt x="453" y="240"/>
                </a:lnTo>
                <a:cubicBezTo>
                  <a:pt x="473" y="240"/>
                  <a:pt x="486" y="180"/>
                  <a:pt x="506" y="180"/>
                </a:cubicBezTo>
                <a:cubicBezTo>
                  <a:pt x="526" y="180"/>
                  <a:pt x="533" y="350"/>
                  <a:pt x="546" y="350"/>
                </a:cubicBezTo>
                <a:lnTo>
                  <a:pt x="666" y="350"/>
                </a:lnTo>
                <a:lnTo>
                  <a:pt x="693" y="350"/>
                </a:lnTo>
                <a:cubicBezTo>
                  <a:pt x="700" y="300"/>
                  <a:pt x="720" y="300"/>
                  <a:pt x="726" y="350"/>
                </a:cubicBezTo>
                <a:lnTo>
                  <a:pt x="753" y="350"/>
                </a:lnTo>
                <a:lnTo>
                  <a:pt x="760" y="380"/>
                </a:lnTo>
                <a:lnTo>
                  <a:pt x="770" y="120"/>
                </a:lnTo>
                <a:lnTo>
                  <a:pt x="780" y="440"/>
                </a:lnTo>
                <a:lnTo>
                  <a:pt x="786" y="240"/>
                </a:lnTo>
                <a:cubicBezTo>
                  <a:pt x="806" y="240"/>
                  <a:pt x="820" y="180"/>
                  <a:pt x="840" y="180"/>
                </a:cubicBezTo>
                <a:cubicBezTo>
                  <a:pt x="860" y="180"/>
                  <a:pt x="866" y="350"/>
                  <a:pt x="880" y="350"/>
                </a:cubicBezTo>
                <a:lnTo>
                  <a:pt x="1000" y="350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</a:ln>
        </p:spPr>
      </p:sp>
      <p:sp>
        <p:nvSpPr>
          <p:cNvPr id="9" name="Rótulo ECG caso"/>
          <p:cNvSpPr/>
          <p:nvPr/>
        </p:nvSpPr>
        <p:spPr>
          <a:xfrm>
            <a:off x="548640" y="3337560"/>
            <a:ext cx="3572732" cy="31432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cara inferior: elevación del segmento ST</a:t>
            </a:r>
            <a:endParaRPr lang="es-AR" sz="1500" dirty="0">
              <a:latin typeface="Calibri"/>
            </a:endParaRPr>
          </a:p>
        </p:txBody>
      </p:sp>
      <p:grpSp>
        <p:nvGrpSpPr>
          <p:cNvPr id="10" name="Laboratorio ingreso fila 0"/>
          <p:cNvGrpSpPr/>
          <p:nvPr/>
        </p:nvGrpSpPr>
        <p:grpSpPr>
          <a:xfrm>
            <a:off x="365760" y="3977640"/>
            <a:ext cx="7680960" cy="402336"/>
            <a:chOff x="365760" y="3977640"/>
            <a:chExt cx="7680960" cy="402336"/>
          </a:xfrm>
        </p:grpSpPr>
        <p:sp>
          <p:nvSpPr>
            <p:cNvPr id="11" name="Forma 10"/>
            <p:cNvSpPr/>
            <p:nvPr/>
          </p:nvSpPr>
          <p:spPr>
            <a:xfrm>
              <a:off x="365760" y="3977640"/>
              <a:ext cx="3657600" cy="402336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 al ingreso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4023360" y="3977640"/>
              <a:ext cx="4023360" cy="402336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3" name="Laboratorio ingreso fila 1"/>
          <p:cNvGrpSpPr/>
          <p:nvPr/>
        </p:nvGrpSpPr>
        <p:grpSpPr>
          <a:xfrm>
            <a:off x="365760" y="4379976"/>
            <a:ext cx="7680960" cy="402336"/>
            <a:chOff x="365760" y="4379976"/>
            <a:chExt cx="7680960" cy="402336"/>
          </a:xfrm>
        </p:grpSpPr>
        <p:sp>
          <p:nvSpPr>
            <p:cNvPr id="14" name="Forma 13"/>
            <p:cNvSpPr/>
            <p:nvPr/>
          </p:nvSpPr>
          <p:spPr>
            <a:xfrm>
              <a:off x="365760" y="4379976"/>
              <a:ext cx="3657600" cy="4023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 total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4023360" y="4379976"/>
              <a:ext cx="4023360" cy="4023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1173 UI/L (muy alta)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6" name="Laboratorio ingreso fila 2"/>
          <p:cNvGrpSpPr/>
          <p:nvPr/>
        </p:nvGrpSpPr>
        <p:grpSpPr>
          <a:xfrm>
            <a:off x="365760" y="4782312"/>
            <a:ext cx="7680960" cy="402336"/>
            <a:chOff x="365760" y="4782312"/>
            <a:chExt cx="7680960" cy="402336"/>
          </a:xfrm>
        </p:grpSpPr>
        <p:sp>
          <p:nvSpPr>
            <p:cNvPr id="17" name="Forma 16"/>
            <p:cNvSpPr/>
            <p:nvPr/>
          </p:nvSpPr>
          <p:spPr>
            <a:xfrm>
              <a:off x="365760" y="4782312"/>
              <a:ext cx="3657600" cy="40233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CPK-MB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4023360" y="4782312"/>
              <a:ext cx="4023360" cy="40233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9" name="Laboratorio ingreso fila 3"/>
          <p:cNvGrpSpPr/>
          <p:nvPr/>
        </p:nvGrpSpPr>
        <p:grpSpPr>
          <a:xfrm>
            <a:off x="365760" y="5184648"/>
            <a:ext cx="7680960" cy="402336"/>
            <a:chOff x="365760" y="5184648"/>
            <a:chExt cx="7680960" cy="402336"/>
          </a:xfrm>
        </p:grpSpPr>
        <p:sp>
          <p:nvSpPr>
            <p:cNvPr id="20" name="Forma 19"/>
            <p:cNvSpPr/>
            <p:nvPr/>
          </p:nvSpPr>
          <p:spPr>
            <a:xfrm>
              <a:off x="365760" y="5184648"/>
              <a:ext cx="3657600" cy="4023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I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4023360" y="5184648"/>
              <a:ext cx="4023360" cy="4023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elevada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2" name="Laboratorio ingreso fila 4"/>
          <p:cNvGrpSpPr/>
          <p:nvPr/>
        </p:nvGrpSpPr>
        <p:grpSpPr>
          <a:xfrm>
            <a:off x="365760" y="5586984"/>
            <a:ext cx="7680960" cy="402336"/>
            <a:chOff x="365760" y="5586984"/>
            <a:chExt cx="7680960" cy="402336"/>
          </a:xfrm>
        </p:grpSpPr>
        <p:sp>
          <p:nvSpPr>
            <p:cNvPr id="23" name="Forma 22"/>
            <p:cNvSpPr/>
            <p:nvPr/>
          </p:nvSpPr>
          <p:spPr>
            <a:xfrm>
              <a:off x="365760" y="5586984"/>
              <a:ext cx="3657600" cy="40233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Mioglobina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4023360" y="5586984"/>
              <a:ext cx="4023360" cy="40233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5" name="Laboratorio ingreso fila 5"/>
          <p:cNvGrpSpPr/>
          <p:nvPr/>
        </p:nvGrpSpPr>
        <p:grpSpPr>
          <a:xfrm>
            <a:off x="365760" y="5989320"/>
            <a:ext cx="7680960" cy="402336"/>
            <a:chOff x="365760" y="5989320"/>
            <a:chExt cx="7680960" cy="402336"/>
          </a:xfrm>
        </p:grpSpPr>
        <p:sp>
          <p:nvSpPr>
            <p:cNvPr id="26" name="Forma 25"/>
            <p:cNvSpPr/>
            <p:nvPr/>
          </p:nvSpPr>
          <p:spPr>
            <a:xfrm>
              <a:off x="365760" y="5989320"/>
              <a:ext cx="3657600" cy="4023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4023360" y="5989320"/>
              <a:ext cx="4023360" cy="4023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Elevada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8" name="ECG caso texto"/>
          <p:cNvGrpSpPr/>
          <p:nvPr/>
        </p:nvGrpSpPr>
        <p:grpSpPr>
          <a:xfrm>
            <a:off x="8549640" y="1097280"/>
            <a:ext cx="3383280" cy="2651760"/>
            <a:chOff x="8549640" y="1097280"/>
            <a:chExt cx="3383280" cy="2651760"/>
          </a:xfrm>
        </p:grpSpPr>
        <p:sp>
          <p:nvSpPr>
            <p:cNvPr id="29" name="Forma 28"/>
            <p:cNvSpPr/>
            <p:nvPr/>
          </p:nvSpPr>
          <p:spPr>
            <a:xfrm>
              <a:off x="8549640" y="1298448"/>
              <a:ext cx="3383280" cy="24505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ECG con cambios patológicos en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cara inferior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corazón.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8677656" y="1097280"/>
              <a:ext cx="61564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ECG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1" name="Pregunta biomarcadores"/>
          <p:cNvSpPr/>
          <p:nvPr/>
        </p:nvSpPr>
        <p:spPr>
          <a:xfrm>
            <a:off x="8549640" y="3977640"/>
            <a:ext cx="3383280" cy="24688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Laboratorio de ingreso con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todos los biomarcadores elevados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¿qué dice cada uno y en qué momento?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CLÍNICO: ECG Y LABORATORIO DE INGRESO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1" grpId="0" animBg="1"/>
    </p:bld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!!Paciente"/>
          <p:cNvGrpSpPr/>
          <p:nvPr/>
        </p:nvGrpSpPr>
        <p:grpSpPr>
          <a:xfrm>
            <a:off x="822960" y="1005840"/>
            <a:ext cx="2697480" cy="5394960"/>
            <a:chOff x="822960" y="1005840"/>
            <a:chExt cx="2697480" cy="5394960"/>
          </a:xfrm>
        </p:grpSpPr>
        <p:sp>
          <p:nvSpPr>
            <p:cNvPr id="6" name="Forma 5"/>
            <p:cNvSpPr/>
            <p:nvPr/>
          </p:nvSpPr>
          <p:spPr>
            <a:xfrm>
              <a:off x="8229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8229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grpSp>
        <p:nvGrpSpPr>
          <p:cNvPr id="8" name="Corazón dolor"/>
          <p:cNvGrpSpPr/>
          <p:nvPr/>
        </p:nvGrpSpPr>
        <p:grpSpPr>
          <a:xfrm>
            <a:off x="2103120" y="2148840"/>
            <a:ext cx="685800" cy="754380"/>
            <a:chOff x="2103120" y="2148840"/>
            <a:chExt cx="685800" cy="754380"/>
          </a:xfrm>
        </p:grpSpPr>
        <p:sp>
          <p:nvSpPr>
            <p:cNvPr id="9" name="Aorta"/>
            <p:cNvSpPr/>
            <p:nvPr/>
          </p:nvSpPr>
          <p:spPr>
            <a:xfrm>
              <a:off x="2363724" y="2148840"/>
              <a:ext cx="219456" cy="24140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10" name="Arteria pulmonar"/>
            <p:cNvSpPr/>
            <p:nvPr/>
          </p:nvSpPr>
          <p:spPr>
            <a:xfrm>
              <a:off x="2253996" y="2224278"/>
              <a:ext cx="150876" cy="188595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11" name="Miocardio"/>
            <p:cNvSpPr/>
            <p:nvPr/>
          </p:nvSpPr>
          <p:spPr>
            <a:xfrm>
              <a:off x="2103120" y="2284628"/>
              <a:ext cx="685800" cy="618592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2" name="Aurícula derecha"/>
            <p:cNvSpPr/>
            <p:nvPr/>
          </p:nvSpPr>
          <p:spPr>
            <a:xfrm>
              <a:off x="2130552" y="2375154"/>
              <a:ext cx="192024" cy="21122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13" name="Médula espinal T1-T5"/>
          <p:cNvSpPr/>
          <p:nvPr/>
        </p:nvSpPr>
        <p:spPr>
          <a:xfrm>
            <a:off x="2103120" y="1783080"/>
            <a:ext cx="137160" cy="2743200"/>
          </a:xfrm>
          <a:prstGeom prst="rect">
            <a:avLst/>
          </a:prstGeom>
          <a:solidFill>
            <a:srgbClr val="F4D03F">
              <a:alpha val="70000"/>
            </a:srgbClr>
          </a:solidFill>
          <a:ln w="12700" cap="rnd">
            <a:solidFill>
              <a:srgbClr val="B7950B"/>
            </a:solidFill>
            <a:round/>
          </a:ln>
        </p:spPr>
      </p:sp>
      <p:sp>
        <p:nvSpPr>
          <p:cNvPr id="14" name="Dermatomas brazo"/>
          <p:cNvSpPr/>
          <p:nvPr/>
        </p:nvSpPr>
        <p:spPr>
          <a:xfrm>
            <a:off x="2880360" y="2011680"/>
            <a:ext cx="914400" cy="20116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0"/>
                </a:moveTo>
                <a:cubicBezTo>
                  <a:pt x="66" y="0"/>
                  <a:pt x="-16" y="133"/>
                  <a:pt x="0" y="300"/>
                </a:cubicBezTo>
                <a:cubicBezTo>
                  <a:pt x="16" y="466"/>
                  <a:pt x="183" y="891"/>
                  <a:pt x="300" y="1000"/>
                </a:cubicBezTo>
                <a:cubicBezTo>
                  <a:pt x="416" y="1108"/>
                  <a:pt x="616" y="1066"/>
                  <a:pt x="700" y="950"/>
                </a:cubicBezTo>
                <a:cubicBezTo>
                  <a:pt x="783" y="833"/>
                  <a:pt x="883" y="458"/>
                  <a:pt x="800" y="300"/>
                </a:cubicBezTo>
                <a:cubicBezTo>
                  <a:pt x="716" y="141"/>
                  <a:pt x="333" y="0"/>
                  <a:pt x="200" y="0"/>
                </a:cubicBezTo>
                <a:close/>
              </a:path>
            </a:pathLst>
          </a:custGeom>
          <a:solidFill>
            <a:srgbClr val="E74C3C">
              <a:alpha val="45000"/>
            </a:srgbClr>
          </a:solidFill>
          <a:ln w="19050" cap="rnd">
            <a:solidFill>
              <a:srgbClr val="C00000"/>
            </a:solidFill>
            <a:round/>
          </a:ln>
        </p:spPr>
      </p:sp>
      <p:sp>
        <p:nvSpPr>
          <p:cNvPr id="15" name="Aferencia visceral"/>
          <p:cNvSpPr/>
          <p:nvPr/>
        </p:nvSpPr>
        <p:spPr>
          <a:xfrm>
            <a:off x="2240280" y="237744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299" h="299" fill="none">
                <a:moveTo>
                  <a:pt x="299" y="299"/>
                </a:moveTo>
                <a:lnTo>
                  <a:pt x="0" y="0"/>
                </a:lnTo>
              </a:path>
            </a:pathLst>
          </a:custGeom>
          <a:noFill/>
          <a:ln w="38100" cap="rnd">
            <a:solidFill>
              <a:srgbClr val="C00000"/>
            </a:solidFill>
            <a:round/>
            <a:tailEnd type="triangle" w="med" len="med"/>
          </a:ln>
        </p:spPr>
      </p:sp>
      <p:sp>
        <p:nvSpPr>
          <p:cNvPr id="16" name="Proyección somática"/>
          <p:cNvSpPr/>
          <p:nvPr/>
        </p:nvSpPr>
        <p:spPr>
          <a:xfrm>
            <a:off x="2240280" y="2194560"/>
            <a:ext cx="777240" cy="320040"/>
          </a:xfrm>
          <a:custGeom>
            <a:avLst/>
            <a:gdLst/>
            <a:ahLst/>
            <a:cxnLst/>
            <a:rect l="0" t="0" r="r" b="b"/>
            <a:pathLst>
              <a:path w="849" h="350" fill="none">
                <a:moveTo>
                  <a:pt x="0" y="0"/>
                </a:moveTo>
                <a:lnTo>
                  <a:pt x="849" y="350"/>
                </a:lnTo>
              </a:path>
            </a:pathLst>
          </a:custGeom>
          <a:noFill/>
          <a:ln w="38100" cap="rnd">
            <a:solidFill>
              <a:srgbClr val="C00000"/>
            </a:solidFill>
            <a:round/>
            <a:tailEnd type="triangle" w="med" len="med"/>
          </a:ln>
        </p:spPr>
      </p:sp>
      <p:sp>
        <p:nvSpPr>
          <p:cNvPr id="17" name="Clínica dolor"/>
          <p:cNvSpPr/>
          <p:nvPr/>
        </p:nvSpPr>
        <p:spPr>
          <a:xfrm>
            <a:off x="3657600" y="1097280"/>
            <a:ext cx="827532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Dolor intenso y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opresivo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 la zona de la corbata, con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irradiación al brazo izquierdo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cuello, mandíbula o espalda; puede acompañarse de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disnea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náuseas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(reflejo vagal).</a:t>
            </a:r>
            <a:endParaRPr lang="es-AR" sz="2000" dirty="0">
              <a:latin typeface="Calibri"/>
            </a:endParaRPr>
          </a:p>
        </p:txBody>
      </p:sp>
      <p:sp>
        <p:nvSpPr>
          <p:cNvPr id="18" name="Explicación material"/>
          <p:cNvSpPr/>
          <p:nvPr/>
        </p:nvSpPr>
        <p:spPr>
          <a:xfrm>
            <a:off x="3657600" y="2743200"/>
            <a:ext cx="8275320" cy="132588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material lo atribuye a que la inflamación del daño cardíaco «comprime los nervios» de la zona torácica.</a:t>
            </a:r>
            <a:endParaRPr lang="es-AR" sz="1950" dirty="0">
              <a:latin typeface="Calibri"/>
            </a:endParaRPr>
          </a:p>
        </p:txBody>
      </p:sp>
      <p:grpSp>
        <p:nvGrpSpPr>
          <p:cNvPr id="19" name="Rigor dolor"/>
          <p:cNvGrpSpPr/>
          <p:nvPr/>
        </p:nvGrpSpPr>
        <p:grpSpPr>
          <a:xfrm>
            <a:off x="3657600" y="4251960"/>
            <a:ext cx="8275320" cy="2194560"/>
            <a:chOff x="3657600" y="4251960"/>
            <a:chExt cx="8275320" cy="2194560"/>
          </a:xfrm>
        </p:grpSpPr>
        <p:sp>
          <p:nvSpPr>
            <p:cNvPr id="20" name="Forma 19"/>
            <p:cNvSpPr/>
            <p:nvPr/>
          </p:nvSpPr>
          <p:spPr>
            <a:xfrm>
              <a:off x="3657600" y="4453128"/>
              <a:ext cx="8275320" cy="199339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Explicación aceptada: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referido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Las fibras aferentes viscerales del corazón ingresan a la médula en los mismos segmentos (≈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T1–T5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que las fibras somáticas del tórax y de la cara interna del brazo; el cerebro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atribuye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el dolor a esos territorios. No se debe a compresión nerviosa por inflamación.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3785616" y="425196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DOLOR TORÁCICO IRRADIADO: CÓMO INTERPRETARLO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3" grpId="0" animBg="1"/>
      <p:bldP spid="15" grpId="0" animBg="1"/>
      <p:bldP spid="16" grpId="0" animBg="1"/>
      <p:bldP spid="14" grpId="0" animBg="1"/>
    </p:bld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D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Trípode"/>
          <p:cNvGrpSpPr/>
          <p:nvPr/>
        </p:nvGrpSpPr>
        <p:grpSpPr>
          <a:xfrm>
            <a:off x="2286000" y="1371600"/>
            <a:ext cx="3657600" cy="3200400"/>
            <a:chOff x="2286000" y="1371600"/>
            <a:chExt cx="3657600" cy="3200400"/>
          </a:xfrm>
        </p:grpSpPr>
        <p:sp>
          <p:nvSpPr>
            <p:cNvPr id="6" name="Forma 5"/>
            <p:cNvSpPr/>
            <p:nvPr/>
          </p:nvSpPr>
          <p:spPr>
            <a:xfrm>
              <a:off x="2286000" y="1371600"/>
              <a:ext cx="3657600" cy="3200400"/>
            </a:xfrm>
            <a:prstGeom prst="triangle">
              <a:avLst/>
            </a:prstGeom>
            <a:solidFill>
              <a:srgbClr val="D6EAF8">
                <a:alpha val="70000"/>
              </a:srgbClr>
            </a:solidFill>
            <a:ln w="31750" cap="rnd">
              <a:solidFill>
                <a:srgbClr val="1F3864"/>
              </a:solidFill>
              <a:round/>
            </a:ln>
          </p:spPr>
        </p:sp>
      </p:grpSp>
      <p:sp>
        <p:nvSpPr>
          <p:cNvPr id="7" name="Vértice síntomas"/>
          <p:cNvSpPr/>
          <p:nvPr/>
        </p:nvSpPr>
        <p:spPr>
          <a:xfrm>
            <a:off x="2880360" y="1051560"/>
            <a:ext cx="2468880" cy="114300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Síntomas clínicos</a:t>
            </a:r>
            <a:endParaRPr lang="es-AR" sz="2200" dirty="0">
              <a:latin typeface="Calibri"/>
            </a:endParaRPr>
          </a:p>
        </p:txBody>
      </p:sp>
      <p:sp>
        <p:nvSpPr>
          <p:cNvPr id="8" name="Vértice ECG"/>
          <p:cNvSpPr/>
          <p:nvPr/>
        </p:nvSpPr>
        <p:spPr>
          <a:xfrm>
            <a:off x="457200" y="4160520"/>
            <a:ext cx="2743200" cy="1143000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Cambios en el ECG</a:t>
            </a:r>
            <a:endParaRPr lang="es-AR" sz="2200" dirty="0">
              <a:latin typeface="Calibri"/>
            </a:endParaRPr>
          </a:p>
        </p:txBody>
      </p:sp>
      <p:sp>
        <p:nvSpPr>
          <p:cNvPr id="9" name="Vértice biomarcadores"/>
          <p:cNvSpPr/>
          <p:nvPr/>
        </p:nvSpPr>
        <p:spPr>
          <a:xfrm>
            <a:off x="4983480" y="4160520"/>
            <a:ext cx="2926080" cy="11430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Biomarcadores cardíacos</a:t>
            </a:r>
            <a:endParaRPr lang="es-AR" sz="2200" dirty="0">
              <a:latin typeface="Calibri"/>
            </a:endParaRPr>
          </a:p>
        </p:txBody>
      </p:sp>
      <p:sp>
        <p:nvSpPr>
          <p:cNvPr id="10" name="Trípode texto"/>
          <p:cNvSpPr/>
          <p:nvPr/>
        </p:nvSpPr>
        <p:spPr>
          <a:xfrm>
            <a:off x="457200" y="5532120"/>
            <a:ext cx="7452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el material: el diagnóstico se basa en 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conjunción de los tres criterios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no alcanza con uno solo.</a:t>
            </a:r>
            <a:endParaRPr lang="es-AR" sz="1950" dirty="0">
              <a:latin typeface="Calibri"/>
            </a:endParaRPr>
          </a:p>
        </p:txBody>
      </p:sp>
      <p:grpSp>
        <p:nvGrpSpPr>
          <p:cNvPr id="11" name="Rigor criterios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12" name="Forma 11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Definición universal vigente (4.ª, 2018): IAM =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ascenso y/o descenso de troponina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con al menos un valor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 percentil 99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al menos uno de: síntomas de isquemia, cambios isquémicos nuevos en el ECG, ondas Q patológicas, imagen compatible o trombo coronario. La troponina dinámica es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obligatoria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no se exigen los tres criterios a la vez.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41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7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CRITERIOS DIAGNÓSTICOS DEL IAM</a:t>
            </a:r>
            <a:endParaRPr lang="es-AR" sz="27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1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orazon"/>
          <p:cNvGrpSpPr/>
          <p:nvPr/>
        </p:nvGrpSpPr>
        <p:grpSpPr>
          <a:xfrm>
            <a:off x="320040" y="914400"/>
            <a:ext cx="3566160" cy="3922776"/>
            <a:chOff x="320040" y="914400"/>
            <a:chExt cx="3566160" cy="3922776"/>
          </a:xfrm>
        </p:grpSpPr>
        <p:sp>
          <p:nvSpPr>
            <p:cNvPr id="6" name="Aorta"/>
            <p:cNvSpPr/>
            <p:nvPr/>
          </p:nvSpPr>
          <p:spPr>
            <a:xfrm>
              <a:off x="1675181" y="914400"/>
              <a:ext cx="1141171" cy="12552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7" name="Arteria pulmonar"/>
            <p:cNvSpPr/>
            <p:nvPr/>
          </p:nvSpPr>
          <p:spPr>
            <a:xfrm>
              <a:off x="1104595" y="1306678"/>
              <a:ext cx="784555" cy="98069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8" name="Miocardio"/>
            <p:cNvSpPr/>
            <p:nvPr/>
          </p:nvSpPr>
          <p:spPr>
            <a:xfrm>
              <a:off x="320040" y="1620500"/>
              <a:ext cx="3566160" cy="32166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9" name="Aurícula derecha"/>
            <p:cNvSpPr/>
            <p:nvPr/>
          </p:nvSpPr>
          <p:spPr>
            <a:xfrm>
              <a:off x="462686" y="2091233"/>
              <a:ext cx="998525" cy="109837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10" name="!!ArteriaCoronaria izquierd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1" name="!!ArteriaCoronaria derech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2" name="!!ArteriaCoronaria corte"/>
          <p:cNvSpPr/>
          <p:nvPr/>
        </p:nvSpPr>
        <p:spPr>
          <a:xfrm>
            <a:off x="4206240" y="1828800"/>
            <a:ext cx="3840480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05050"/>
              </a:gs>
              <a:gs pos="30000">
                <a:srgbClr val="EC9D9D"/>
              </a:gs>
              <a:gs pos="55000">
                <a:srgbClr val="E57373"/>
              </a:gs>
              <a:gs pos="100000">
                <a:srgbClr val="A05050"/>
              </a:gs>
            </a:gsLst>
            <a:lin ang="5400000" scaled="0"/>
          </a:gradFill>
          <a:ln w="25400" cap="rnd">
            <a:solidFill>
              <a:srgbClr val="7B241C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sp>
        <p:nvSpPr>
          <p:cNvPr id="13" name="!!Luz coronaria"/>
          <p:cNvSpPr/>
          <p:nvPr/>
        </p:nvSpPr>
        <p:spPr>
          <a:xfrm>
            <a:off x="4343400" y="2057400"/>
            <a:ext cx="356616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B7B1"/>
              </a:gs>
              <a:gs pos="50000">
                <a:srgbClr val="FDEDEC"/>
              </a:gs>
              <a:gs pos="100000">
                <a:srgbClr val="F5B7B1"/>
              </a:gs>
            </a:gsLst>
            <a:lin ang="5400000" scaled="0"/>
          </a:gradFill>
          <a:ln w="9525" cap="rnd">
            <a:solidFill>
              <a:srgbClr val="C0392B"/>
            </a:solidFill>
            <a:round/>
          </a:ln>
        </p:spPr>
      </p:sp>
      <p:sp>
        <p:nvSpPr>
          <p:cNvPr id="14" name="!!Lupa coronaria"/>
          <p:cNvSpPr/>
          <p:nvPr/>
        </p:nvSpPr>
        <p:spPr>
          <a:xfrm>
            <a:off x="1920240" y="2468880"/>
            <a:ext cx="640080" cy="640080"/>
          </a:xfrm>
          <a:prstGeom prst="ellipse">
            <a:avLst/>
          </a:prstGeom>
          <a:noFill/>
          <a:ln w="38100" cap="rnd">
            <a:solidFill>
              <a:srgbClr val="FFC000"/>
            </a:solidFill>
            <a:round/>
          </a:ln>
        </p:spPr>
      </p:sp>
      <p:sp>
        <p:nvSpPr>
          <p:cNvPr id="15" name="!!Línea ampliación"/>
          <p:cNvSpPr/>
          <p:nvPr/>
        </p:nvSpPr>
        <p:spPr>
          <a:xfrm>
            <a:off x="2560320" y="2468880"/>
            <a:ext cx="1645920" cy="274320"/>
          </a:xfrm>
          <a:custGeom>
            <a:avLst/>
            <a:gdLst/>
            <a:ahLst/>
            <a:cxnLst/>
            <a:rect l="0" t="0" r="r" b="b"/>
            <a:pathLst>
              <a:path w="1799" h="299" fill="none">
                <a:moveTo>
                  <a:pt x="0" y="299"/>
                </a:moveTo>
                <a:lnTo>
                  <a:pt x="1799" y="0"/>
                </a:lnTo>
              </a:path>
            </a:pathLst>
          </a:custGeom>
          <a:noFill/>
          <a:ln w="25400" cap="rnd">
            <a:solidFill>
              <a:srgbClr val="FFC000"/>
            </a:solidFill>
            <a:prstDash val="dash"/>
            <a:round/>
          </a:ln>
        </p:spPr>
      </p:sp>
      <p:sp>
        <p:nvSpPr>
          <p:cNvPr id="16" name="!!Flujo 0"/>
          <p:cNvSpPr/>
          <p:nvPr/>
        </p:nvSpPr>
        <p:spPr>
          <a:xfrm>
            <a:off x="4526280" y="2286000"/>
            <a:ext cx="384048" cy="384048"/>
          </a:xfrm>
          <a:prstGeom prst="ellipse">
            <a:avLst/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9525" cap="rnd">
            <a:solidFill>
              <a:srgbClr val="6E1A12"/>
            </a:solidFill>
            <a:round/>
          </a:ln>
        </p:spPr>
      </p:sp>
      <p:sp>
        <p:nvSpPr>
          <p:cNvPr id="17" name="!!Flujo 1"/>
          <p:cNvSpPr/>
          <p:nvPr/>
        </p:nvSpPr>
        <p:spPr>
          <a:xfrm>
            <a:off x="5349240" y="2286000"/>
            <a:ext cx="384048" cy="384048"/>
          </a:xfrm>
          <a:prstGeom prst="ellipse">
            <a:avLst/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9525" cap="rnd">
            <a:solidFill>
              <a:srgbClr val="6E1A12"/>
            </a:solidFill>
            <a:round/>
          </a:ln>
        </p:spPr>
      </p:sp>
      <p:sp>
        <p:nvSpPr>
          <p:cNvPr id="18" name="!!Flujo 2"/>
          <p:cNvSpPr/>
          <p:nvPr/>
        </p:nvSpPr>
        <p:spPr>
          <a:xfrm>
            <a:off x="6949440" y="2286000"/>
            <a:ext cx="384048" cy="384048"/>
          </a:xfrm>
          <a:prstGeom prst="ellipse">
            <a:avLst/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9525" cap="rnd">
            <a:solidFill>
              <a:srgbClr val="6E1A12"/>
            </a:solidFill>
            <a:round/>
          </a:ln>
        </p:spPr>
      </p:sp>
      <p:sp>
        <p:nvSpPr>
          <p:cNvPr id="19" name="!!Flujo 3"/>
          <p:cNvSpPr/>
          <p:nvPr/>
        </p:nvSpPr>
        <p:spPr>
          <a:xfrm>
            <a:off x="7452360" y="2286000"/>
            <a:ext cx="384048" cy="384048"/>
          </a:xfrm>
          <a:prstGeom prst="ellipse">
            <a:avLst/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9525" cap="rnd">
            <a:solidFill>
              <a:srgbClr val="6E1A12"/>
            </a:solidFill>
            <a:round/>
          </a:ln>
        </p:spPr>
      </p:sp>
      <p:sp>
        <p:nvSpPr>
          <p:cNvPr id="20" name="!!O2 miocardio"/>
          <p:cNvSpPr/>
          <p:nvPr/>
        </p:nvSpPr>
        <p:spPr>
          <a:xfrm>
            <a:off x="6858000" y="34290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3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300" dirty="0">
              <a:latin typeface="Calibri"/>
            </a:endParaRPr>
          </a:p>
        </p:txBody>
      </p:sp>
      <p:grpSp>
        <p:nvGrpSpPr>
          <p:cNvPr id="21" name="!!Cardiomiocito"/>
          <p:cNvGrpSpPr/>
          <p:nvPr/>
        </p:nvGrpSpPr>
        <p:grpSpPr>
          <a:xfrm>
            <a:off x="4148633" y="4114800"/>
            <a:ext cx="3955694" cy="1737360"/>
            <a:chOff x="4148633" y="4114800"/>
            <a:chExt cx="3955694" cy="1737360"/>
          </a:xfrm>
        </p:grpSpPr>
        <p:sp>
          <p:nvSpPr>
            <p:cNvPr id="22" name="Sarcolema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3" name="Estriaciones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24" name="Disco intercalar izq"/>
            <p:cNvSpPr/>
            <p:nvPr/>
          </p:nvSpPr>
          <p:spPr>
            <a:xfrm>
              <a:off x="414863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25" name="Disco intercalar der"/>
            <p:cNvSpPr/>
            <p:nvPr/>
          </p:nvSpPr>
          <p:spPr>
            <a:xfrm>
              <a:off x="798911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grpSp>
          <p:nvGrpSpPr>
            <p:cNvPr id="26" name="Núcleo"/>
            <p:cNvGrpSpPr/>
            <p:nvPr/>
          </p:nvGrpSpPr>
          <p:grpSpPr>
            <a:xfrm>
              <a:off x="5896051" y="4774997"/>
              <a:ext cx="460858" cy="414772"/>
              <a:chOff x="5896051" y="4774997"/>
              <a:chExt cx="460858" cy="414772"/>
            </a:xfrm>
          </p:grpSpPr>
          <p:sp>
            <p:nvSpPr>
              <p:cNvPr id="27" name="Forma 26"/>
              <p:cNvSpPr/>
              <p:nvPr/>
            </p:nvSpPr>
            <p:spPr>
              <a:xfrm>
                <a:off x="5896051" y="4774997"/>
                <a:ext cx="460858" cy="414772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28" name="Forma 27"/>
              <p:cNvSpPr/>
              <p:nvPr/>
            </p:nvSpPr>
            <p:spPr>
              <a:xfrm>
                <a:off x="6135697" y="4913254"/>
                <a:ext cx="101389" cy="92172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  <p:grpSp>
          <p:nvGrpSpPr>
            <p:cNvPr id="29" name="Mitocondria"/>
            <p:cNvGrpSpPr/>
            <p:nvPr/>
          </p:nvGrpSpPr>
          <p:grpSpPr>
            <a:xfrm>
              <a:off x="4667098" y="4549140"/>
              <a:ext cx="384048" cy="192024"/>
              <a:chOff x="4667098" y="4549140"/>
              <a:chExt cx="384048" cy="192024"/>
            </a:xfrm>
          </p:grpSpPr>
          <p:sp>
            <p:nvSpPr>
              <p:cNvPr id="30" name="Forma 29"/>
              <p:cNvSpPr/>
              <p:nvPr/>
            </p:nvSpPr>
            <p:spPr>
              <a:xfrm>
                <a:off x="4667098" y="4549140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4693981" y="4576023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2" name="Forma 31"/>
              <p:cNvSpPr/>
              <p:nvPr/>
            </p:nvSpPr>
            <p:spPr>
              <a:xfrm>
                <a:off x="4693981" y="4576023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33" name="Mitocondria_2"/>
            <p:cNvGrpSpPr/>
            <p:nvPr/>
          </p:nvGrpSpPr>
          <p:grpSpPr>
            <a:xfrm>
              <a:off x="5281574" y="5191963"/>
              <a:ext cx="384048" cy="192024"/>
              <a:chOff x="5281574" y="5191963"/>
              <a:chExt cx="384048" cy="192024"/>
            </a:xfrm>
          </p:grpSpPr>
          <p:sp>
            <p:nvSpPr>
              <p:cNvPr id="34" name="Forma 33"/>
              <p:cNvSpPr/>
              <p:nvPr/>
            </p:nvSpPr>
            <p:spPr>
              <a:xfrm>
                <a:off x="5281574" y="5191963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5308458" y="5218847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5308458" y="5218847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37" name="Mitocondria_3"/>
            <p:cNvGrpSpPr/>
            <p:nvPr/>
          </p:nvGrpSpPr>
          <p:grpSpPr>
            <a:xfrm>
              <a:off x="6817766" y="4531766"/>
              <a:ext cx="384048" cy="192024"/>
              <a:chOff x="6817766" y="4531766"/>
              <a:chExt cx="384048" cy="192024"/>
            </a:xfrm>
          </p:grpSpPr>
          <p:sp>
            <p:nvSpPr>
              <p:cNvPr id="38" name="Forma 37"/>
              <p:cNvSpPr/>
              <p:nvPr/>
            </p:nvSpPr>
            <p:spPr>
              <a:xfrm>
                <a:off x="6817766" y="453176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6844650" y="455865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6844650" y="455865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1" name="Mitocondria_4"/>
            <p:cNvGrpSpPr/>
            <p:nvPr/>
          </p:nvGrpSpPr>
          <p:grpSpPr>
            <a:xfrm>
              <a:off x="7278624" y="5157216"/>
              <a:ext cx="384048" cy="192024"/>
              <a:chOff x="7278624" y="5157216"/>
              <a:chExt cx="384048" cy="192024"/>
            </a:xfrm>
          </p:grpSpPr>
          <p:sp>
            <p:nvSpPr>
              <p:cNvPr id="42" name="Forma 41"/>
              <p:cNvSpPr/>
              <p:nvPr/>
            </p:nvSpPr>
            <p:spPr>
              <a:xfrm>
                <a:off x="7278624" y="515721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7305507" y="5184099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7305507" y="5184099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5" name="Mitocondria_5"/>
            <p:cNvGrpSpPr/>
            <p:nvPr/>
          </p:nvGrpSpPr>
          <p:grpSpPr>
            <a:xfrm>
              <a:off x="6587338" y="5261458"/>
              <a:ext cx="384048" cy="192024"/>
              <a:chOff x="6587338" y="5261458"/>
              <a:chExt cx="384048" cy="192024"/>
            </a:xfrm>
          </p:grpSpPr>
          <p:sp>
            <p:nvSpPr>
              <p:cNvPr id="46" name="Forma 45"/>
              <p:cNvSpPr/>
              <p:nvPr/>
            </p:nvSpPr>
            <p:spPr>
              <a:xfrm>
                <a:off x="6587338" y="5261458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7" name="Forma 46"/>
              <p:cNvSpPr/>
              <p:nvPr/>
            </p:nvSpPr>
            <p:spPr>
              <a:xfrm>
                <a:off x="6614221" y="5288341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8" name="Forma 47"/>
              <p:cNvSpPr/>
              <p:nvPr/>
            </p:nvSpPr>
            <p:spPr>
              <a:xfrm>
                <a:off x="6614221" y="5288341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9" name="Mitocondria_6"/>
            <p:cNvGrpSpPr/>
            <p:nvPr/>
          </p:nvGrpSpPr>
          <p:grpSpPr>
            <a:xfrm>
              <a:off x="4974336" y="4774997"/>
              <a:ext cx="384048" cy="192024"/>
              <a:chOff x="4974336" y="4774997"/>
              <a:chExt cx="384048" cy="192024"/>
            </a:xfrm>
          </p:grpSpPr>
          <p:sp>
            <p:nvSpPr>
              <p:cNvPr id="50" name="Forma 49"/>
              <p:cNvSpPr/>
              <p:nvPr/>
            </p:nvSpPr>
            <p:spPr>
              <a:xfrm>
                <a:off x="4974336" y="4774997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>
                <a:off x="5001219" y="480188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>
                <a:off x="5001219" y="480188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</p:grpSp>
      <p:grpSp>
        <p:nvGrpSpPr>
          <p:cNvPr id="53" name="Caja FP1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54" name="Forma 53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arterias coronarias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llevan sangre oxigenada al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miocardio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el cardiomiocito depende de ese aporte continuo de O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5" name="Forma 54"/>
            <p:cNvSpPr/>
            <p:nvPr/>
          </p:nvSpPr>
          <p:spPr>
            <a:xfrm>
              <a:off x="8677656" y="1097280"/>
              <a:ext cx="93641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APORTE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CORAZÓN Y ARTERIAS CORONARIAS: EL APORTE DE OXÍGENO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5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1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orazon"/>
          <p:cNvGrpSpPr/>
          <p:nvPr/>
        </p:nvGrpSpPr>
        <p:grpSpPr>
          <a:xfrm>
            <a:off x="320040" y="914400"/>
            <a:ext cx="3566160" cy="3922776"/>
            <a:chOff x="320040" y="914400"/>
            <a:chExt cx="3566160" cy="3922776"/>
          </a:xfrm>
        </p:grpSpPr>
        <p:sp>
          <p:nvSpPr>
            <p:cNvPr id="6" name="Aorta"/>
            <p:cNvSpPr/>
            <p:nvPr/>
          </p:nvSpPr>
          <p:spPr>
            <a:xfrm>
              <a:off x="1675181" y="914400"/>
              <a:ext cx="1141171" cy="12552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7" name="Arteria pulmonar"/>
            <p:cNvSpPr/>
            <p:nvPr/>
          </p:nvSpPr>
          <p:spPr>
            <a:xfrm>
              <a:off x="1104595" y="1306678"/>
              <a:ext cx="784555" cy="98069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8" name="Miocardio"/>
            <p:cNvSpPr/>
            <p:nvPr/>
          </p:nvSpPr>
          <p:spPr>
            <a:xfrm>
              <a:off x="320040" y="1620500"/>
              <a:ext cx="3566160" cy="32166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9" name="Aurícula derecha"/>
            <p:cNvSpPr/>
            <p:nvPr/>
          </p:nvSpPr>
          <p:spPr>
            <a:xfrm>
              <a:off x="462686" y="2091233"/>
              <a:ext cx="998525" cy="109837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10" name="!!ArteriaCoronaria izquierd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1" name="!!ArteriaCoronaria derech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2" name="!!ArteriaCoronaria corte"/>
          <p:cNvSpPr/>
          <p:nvPr/>
        </p:nvSpPr>
        <p:spPr>
          <a:xfrm>
            <a:off x="4206240" y="1828800"/>
            <a:ext cx="3840480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05050"/>
              </a:gs>
              <a:gs pos="30000">
                <a:srgbClr val="EC9D9D"/>
              </a:gs>
              <a:gs pos="55000">
                <a:srgbClr val="E57373"/>
              </a:gs>
              <a:gs pos="100000">
                <a:srgbClr val="A05050"/>
              </a:gs>
            </a:gsLst>
            <a:lin ang="5400000" scaled="0"/>
          </a:gradFill>
          <a:ln w="25400" cap="rnd">
            <a:solidFill>
              <a:srgbClr val="7B241C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sp>
        <p:nvSpPr>
          <p:cNvPr id="13" name="!!Luz coronaria"/>
          <p:cNvSpPr/>
          <p:nvPr/>
        </p:nvSpPr>
        <p:spPr>
          <a:xfrm>
            <a:off x="4343400" y="2057400"/>
            <a:ext cx="356616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B7B1"/>
              </a:gs>
              <a:gs pos="50000">
                <a:srgbClr val="FDEDEC"/>
              </a:gs>
              <a:gs pos="100000">
                <a:srgbClr val="F5B7B1"/>
              </a:gs>
            </a:gsLst>
            <a:lin ang="5400000" scaled="0"/>
          </a:gradFill>
          <a:ln w="9525" cap="rnd">
            <a:solidFill>
              <a:srgbClr val="C0392B"/>
            </a:solidFill>
            <a:round/>
          </a:ln>
        </p:spPr>
      </p:sp>
      <p:sp>
        <p:nvSpPr>
          <p:cNvPr id="14" name="!!Lupa coronaria"/>
          <p:cNvSpPr/>
          <p:nvPr/>
        </p:nvSpPr>
        <p:spPr>
          <a:xfrm>
            <a:off x="1920240" y="2468880"/>
            <a:ext cx="640080" cy="640080"/>
          </a:xfrm>
          <a:prstGeom prst="ellipse">
            <a:avLst/>
          </a:prstGeom>
          <a:noFill/>
          <a:ln w="38100" cap="rnd">
            <a:solidFill>
              <a:srgbClr val="FFC000"/>
            </a:solidFill>
            <a:round/>
          </a:ln>
        </p:spPr>
      </p:sp>
      <p:sp>
        <p:nvSpPr>
          <p:cNvPr id="15" name="!!Línea ampliación"/>
          <p:cNvSpPr/>
          <p:nvPr/>
        </p:nvSpPr>
        <p:spPr>
          <a:xfrm>
            <a:off x="2560320" y="2468880"/>
            <a:ext cx="1645920" cy="274320"/>
          </a:xfrm>
          <a:custGeom>
            <a:avLst/>
            <a:gdLst/>
            <a:ahLst/>
            <a:cxnLst/>
            <a:rect l="0" t="0" r="r" b="b"/>
            <a:pathLst>
              <a:path w="1799" h="299" fill="none">
                <a:moveTo>
                  <a:pt x="0" y="299"/>
                </a:moveTo>
                <a:lnTo>
                  <a:pt x="1799" y="0"/>
                </a:lnTo>
              </a:path>
            </a:pathLst>
          </a:custGeom>
          <a:noFill/>
          <a:ln w="25400" cap="rnd">
            <a:solidFill>
              <a:srgbClr val="FFC000"/>
            </a:solidFill>
            <a:prstDash val="dash"/>
            <a:round/>
          </a:ln>
        </p:spPr>
      </p:sp>
      <p:sp>
        <p:nvSpPr>
          <p:cNvPr id="16" name="!!Placa"/>
          <p:cNvSpPr/>
          <p:nvPr/>
        </p:nvSpPr>
        <p:spPr>
          <a:xfrm>
            <a:off x="5577840" y="2468880"/>
            <a:ext cx="1188720" cy="41148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9E79F"/>
              </a:gs>
              <a:gs pos="100000">
                <a:srgbClr val="F4D03F"/>
              </a:gs>
            </a:gsLst>
            <a:lin ang="5400000" scaled="0"/>
          </a:gradFill>
          <a:ln w="15875" cap="rnd">
            <a:solidFill>
              <a:srgbClr val="9A7D0A"/>
            </a:solidFill>
            <a:round/>
          </a:ln>
        </p:spPr>
      </p:sp>
      <p:sp>
        <p:nvSpPr>
          <p:cNvPr id="17" name="!!Flujo 0"/>
          <p:cNvSpPr/>
          <p:nvPr/>
        </p:nvSpPr>
        <p:spPr>
          <a:xfrm>
            <a:off x="4526280" y="2286000"/>
            <a:ext cx="384048" cy="384048"/>
          </a:xfrm>
          <a:prstGeom prst="ellipse">
            <a:avLst/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9525" cap="rnd">
            <a:solidFill>
              <a:srgbClr val="6E1A12"/>
            </a:solidFill>
            <a:round/>
          </a:ln>
        </p:spPr>
      </p:sp>
      <p:sp>
        <p:nvSpPr>
          <p:cNvPr id="18" name="!!Flujo 1"/>
          <p:cNvSpPr/>
          <p:nvPr/>
        </p:nvSpPr>
        <p:spPr>
          <a:xfrm>
            <a:off x="5349240" y="2286000"/>
            <a:ext cx="384048" cy="384048"/>
          </a:xfrm>
          <a:prstGeom prst="ellipse">
            <a:avLst/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9525" cap="rnd">
            <a:solidFill>
              <a:srgbClr val="6E1A12"/>
            </a:solidFill>
            <a:round/>
          </a:ln>
        </p:spPr>
      </p:sp>
      <p:sp>
        <p:nvSpPr>
          <p:cNvPr id="19" name="!!Flujo 2"/>
          <p:cNvSpPr/>
          <p:nvPr/>
        </p:nvSpPr>
        <p:spPr>
          <a:xfrm>
            <a:off x="6949440" y="2286000"/>
            <a:ext cx="384048" cy="384048"/>
          </a:xfrm>
          <a:prstGeom prst="ellipse">
            <a:avLst/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86271E"/>
              </a:gs>
            </a:gsLst>
            <a:path path="circle">
              <a:fillToRect l="32000" t="28000" r="68000" b="72000"/>
            </a:path>
          </a:gradFill>
          <a:ln w="9525" cap="rnd">
            <a:solidFill>
              <a:srgbClr val="6E1A12"/>
            </a:solidFill>
            <a:round/>
          </a:ln>
        </p:spPr>
      </p:sp>
      <p:sp>
        <p:nvSpPr>
          <p:cNvPr id="20" name="!!Flujo 3"/>
          <p:cNvSpPr/>
          <p:nvPr/>
        </p:nvSpPr>
        <p:spPr>
          <a:xfrm>
            <a:off x="745236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1" name="!!O2 miocardio"/>
          <p:cNvSpPr/>
          <p:nvPr/>
        </p:nvSpPr>
        <p:spPr>
          <a:xfrm>
            <a:off x="6858000" y="34290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3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300" dirty="0">
              <a:latin typeface="Calibri"/>
            </a:endParaRPr>
          </a:p>
        </p:txBody>
      </p:sp>
      <p:grpSp>
        <p:nvGrpSpPr>
          <p:cNvPr id="22" name="!!Cardiomiocito"/>
          <p:cNvGrpSpPr/>
          <p:nvPr/>
        </p:nvGrpSpPr>
        <p:grpSpPr>
          <a:xfrm>
            <a:off x="4148633" y="4114800"/>
            <a:ext cx="3955694" cy="1737360"/>
            <a:chOff x="4148633" y="4114800"/>
            <a:chExt cx="3955694" cy="1737360"/>
          </a:xfrm>
        </p:grpSpPr>
        <p:sp>
          <p:nvSpPr>
            <p:cNvPr id="23" name="Sarcolema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4" name="Estriaciones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25" name="Disco intercalar izq"/>
            <p:cNvSpPr/>
            <p:nvPr/>
          </p:nvSpPr>
          <p:spPr>
            <a:xfrm>
              <a:off x="414863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26" name="Disco intercalar der"/>
            <p:cNvSpPr/>
            <p:nvPr/>
          </p:nvSpPr>
          <p:spPr>
            <a:xfrm>
              <a:off x="798911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grpSp>
          <p:nvGrpSpPr>
            <p:cNvPr id="27" name="Núcleo"/>
            <p:cNvGrpSpPr/>
            <p:nvPr/>
          </p:nvGrpSpPr>
          <p:grpSpPr>
            <a:xfrm>
              <a:off x="5896051" y="4774997"/>
              <a:ext cx="460858" cy="414772"/>
              <a:chOff x="5896051" y="4774997"/>
              <a:chExt cx="460858" cy="414772"/>
            </a:xfrm>
          </p:grpSpPr>
          <p:sp>
            <p:nvSpPr>
              <p:cNvPr id="28" name="Forma 27"/>
              <p:cNvSpPr/>
              <p:nvPr/>
            </p:nvSpPr>
            <p:spPr>
              <a:xfrm>
                <a:off x="5896051" y="4774997"/>
                <a:ext cx="460858" cy="414772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29" name="Forma 28"/>
              <p:cNvSpPr/>
              <p:nvPr/>
            </p:nvSpPr>
            <p:spPr>
              <a:xfrm>
                <a:off x="6135697" y="4913254"/>
                <a:ext cx="101389" cy="92172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  <p:grpSp>
          <p:nvGrpSpPr>
            <p:cNvPr id="30" name="Mitocondria"/>
            <p:cNvGrpSpPr/>
            <p:nvPr/>
          </p:nvGrpSpPr>
          <p:grpSpPr>
            <a:xfrm>
              <a:off x="4667098" y="4549140"/>
              <a:ext cx="384048" cy="192024"/>
              <a:chOff x="4667098" y="4549140"/>
              <a:chExt cx="384048" cy="192024"/>
            </a:xfrm>
          </p:grpSpPr>
          <p:sp>
            <p:nvSpPr>
              <p:cNvPr id="31" name="Forma 30"/>
              <p:cNvSpPr/>
              <p:nvPr/>
            </p:nvSpPr>
            <p:spPr>
              <a:xfrm>
                <a:off x="4667098" y="4549140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2" name="Forma 31"/>
              <p:cNvSpPr/>
              <p:nvPr/>
            </p:nvSpPr>
            <p:spPr>
              <a:xfrm>
                <a:off x="4693981" y="4576023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3" name="Forma 32"/>
              <p:cNvSpPr/>
              <p:nvPr/>
            </p:nvSpPr>
            <p:spPr>
              <a:xfrm>
                <a:off x="4693981" y="4576023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34" name="Mitocondria_2"/>
            <p:cNvGrpSpPr/>
            <p:nvPr/>
          </p:nvGrpSpPr>
          <p:grpSpPr>
            <a:xfrm>
              <a:off x="5281574" y="5191963"/>
              <a:ext cx="384048" cy="192024"/>
              <a:chOff x="5281574" y="5191963"/>
              <a:chExt cx="384048" cy="192024"/>
            </a:xfrm>
          </p:grpSpPr>
          <p:sp>
            <p:nvSpPr>
              <p:cNvPr id="35" name="Forma 34"/>
              <p:cNvSpPr/>
              <p:nvPr/>
            </p:nvSpPr>
            <p:spPr>
              <a:xfrm>
                <a:off x="5281574" y="5191963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5308458" y="5218847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7" name="Forma 36"/>
              <p:cNvSpPr/>
              <p:nvPr/>
            </p:nvSpPr>
            <p:spPr>
              <a:xfrm>
                <a:off x="5308458" y="5218847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38" name="Mitocondria_3"/>
            <p:cNvGrpSpPr/>
            <p:nvPr/>
          </p:nvGrpSpPr>
          <p:grpSpPr>
            <a:xfrm>
              <a:off x="6817766" y="4531766"/>
              <a:ext cx="384048" cy="192024"/>
              <a:chOff x="6817766" y="4531766"/>
              <a:chExt cx="384048" cy="192024"/>
            </a:xfrm>
          </p:grpSpPr>
          <p:sp>
            <p:nvSpPr>
              <p:cNvPr id="39" name="Forma 38"/>
              <p:cNvSpPr/>
              <p:nvPr/>
            </p:nvSpPr>
            <p:spPr>
              <a:xfrm>
                <a:off x="6817766" y="453176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6844650" y="455865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1" name="Forma 40"/>
              <p:cNvSpPr/>
              <p:nvPr/>
            </p:nvSpPr>
            <p:spPr>
              <a:xfrm>
                <a:off x="6844650" y="455865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2" name="Mitocondria_4"/>
            <p:cNvGrpSpPr/>
            <p:nvPr/>
          </p:nvGrpSpPr>
          <p:grpSpPr>
            <a:xfrm>
              <a:off x="7278624" y="5157216"/>
              <a:ext cx="384048" cy="192024"/>
              <a:chOff x="7278624" y="5157216"/>
              <a:chExt cx="384048" cy="192024"/>
            </a:xfrm>
          </p:grpSpPr>
          <p:sp>
            <p:nvSpPr>
              <p:cNvPr id="43" name="Forma 42"/>
              <p:cNvSpPr/>
              <p:nvPr/>
            </p:nvSpPr>
            <p:spPr>
              <a:xfrm>
                <a:off x="7278624" y="515721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7305507" y="5184099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5" name="Forma 44"/>
              <p:cNvSpPr/>
              <p:nvPr/>
            </p:nvSpPr>
            <p:spPr>
              <a:xfrm>
                <a:off x="7305507" y="5184099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6" name="Mitocondria_5"/>
            <p:cNvGrpSpPr/>
            <p:nvPr/>
          </p:nvGrpSpPr>
          <p:grpSpPr>
            <a:xfrm>
              <a:off x="6587338" y="5261458"/>
              <a:ext cx="384048" cy="192024"/>
              <a:chOff x="6587338" y="5261458"/>
              <a:chExt cx="384048" cy="192024"/>
            </a:xfrm>
          </p:grpSpPr>
          <p:sp>
            <p:nvSpPr>
              <p:cNvPr id="47" name="Forma 46"/>
              <p:cNvSpPr/>
              <p:nvPr/>
            </p:nvSpPr>
            <p:spPr>
              <a:xfrm>
                <a:off x="6587338" y="5261458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8" name="Forma 47"/>
              <p:cNvSpPr/>
              <p:nvPr/>
            </p:nvSpPr>
            <p:spPr>
              <a:xfrm>
                <a:off x="6614221" y="5288341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9" name="Forma 48"/>
              <p:cNvSpPr/>
              <p:nvPr/>
            </p:nvSpPr>
            <p:spPr>
              <a:xfrm>
                <a:off x="6614221" y="5288341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50" name="Mitocondria_6"/>
            <p:cNvGrpSpPr/>
            <p:nvPr/>
          </p:nvGrpSpPr>
          <p:grpSpPr>
            <a:xfrm>
              <a:off x="4974336" y="4774997"/>
              <a:ext cx="384048" cy="192024"/>
              <a:chOff x="4974336" y="4774997"/>
              <a:chExt cx="384048" cy="192024"/>
            </a:xfrm>
          </p:grpSpPr>
          <p:sp>
            <p:nvSpPr>
              <p:cNvPr id="51" name="Forma 50"/>
              <p:cNvSpPr/>
              <p:nvPr/>
            </p:nvSpPr>
            <p:spPr>
              <a:xfrm>
                <a:off x="4974336" y="4774997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>
                <a:off x="5001219" y="480188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3" name="Forma 52"/>
              <p:cNvSpPr/>
              <p:nvPr/>
            </p:nvSpPr>
            <p:spPr>
              <a:xfrm>
                <a:off x="5001219" y="480188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</p:grpSp>
      <p:grpSp>
        <p:nvGrpSpPr>
          <p:cNvPr id="54" name="Caja FP2"/>
          <p:cNvGrpSpPr/>
          <p:nvPr/>
        </p:nvGrpSpPr>
        <p:grpSpPr>
          <a:xfrm>
            <a:off x="8549640" y="1097280"/>
            <a:ext cx="3383280" cy="3383280"/>
            <a:chOff x="8549640" y="1097280"/>
            <a:chExt cx="3383280" cy="3383280"/>
          </a:xfrm>
        </p:grpSpPr>
        <p:sp>
          <p:nvSpPr>
            <p:cNvPr id="55" name="Forma 54"/>
            <p:cNvSpPr/>
            <p:nvPr/>
          </p:nvSpPr>
          <p:spPr>
            <a:xfrm>
              <a:off x="8549640" y="1298448"/>
              <a:ext cx="3383280" cy="3182112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Ateroesclerosis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depósito de placas de colesterol (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LDL oxidadas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en la pared →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estrechamiento progresivo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isquemia.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6" name="Forma 55"/>
            <p:cNvSpPr/>
            <p:nvPr/>
          </p:nvSpPr>
          <p:spPr>
            <a:xfrm>
              <a:off x="8677656" y="1097280"/>
              <a:ext cx="812084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PLACA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PLACA DE ATEROMA: ESTRECHAMIENTO CORONARIO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5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orazon"/>
          <p:cNvGrpSpPr/>
          <p:nvPr/>
        </p:nvGrpSpPr>
        <p:grpSpPr>
          <a:xfrm>
            <a:off x="320040" y="914400"/>
            <a:ext cx="3566160" cy="3922776"/>
            <a:chOff x="320040" y="914400"/>
            <a:chExt cx="3566160" cy="3922776"/>
          </a:xfrm>
        </p:grpSpPr>
        <p:sp>
          <p:nvSpPr>
            <p:cNvPr id="6" name="Aorta"/>
            <p:cNvSpPr/>
            <p:nvPr/>
          </p:nvSpPr>
          <p:spPr>
            <a:xfrm>
              <a:off x="1675181" y="914400"/>
              <a:ext cx="1141171" cy="12552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7" name="Arteria pulmonar"/>
            <p:cNvSpPr/>
            <p:nvPr/>
          </p:nvSpPr>
          <p:spPr>
            <a:xfrm>
              <a:off x="1104595" y="1306678"/>
              <a:ext cx="784555" cy="98069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8" name="Miocardio"/>
            <p:cNvSpPr/>
            <p:nvPr/>
          </p:nvSpPr>
          <p:spPr>
            <a:xfrm>
              <a:off x="320040" y="1620500"/>
              <a:ext cx="3566160" cy="32166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9" name="Aurícula derecha"/>
            <p:cNvSpPr/>
            <p:nvPr/>
          </p:nvSpPr>
          <p:spPr>
            <a:xfrm>
              <a:off x="462686" y="2091233"/>
              <a:ext cx="998525" cy="109837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10" name="!!ArteriaCoronaria izquierd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1" name="!!ArteriaCoronaria derech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2" name="!!Zona isquémica"/>
          <p:cNvSpPr/>
          <p:nvPr/>
        </p:nvSpPr>
        <p:spPr>
          <a:xfrm rot="-1200000">
            <a:off x="1143000" y="3657600"/>
            <a:ext cx="1737360" cy="1051560"/>
          </a:xfrm>
          <a:prstGeom prst="ellipse">
            <a:avLst/>
          </a:prstGeom>
          <a:solidFill>
            <a:srgbClr val="7F8C8D">
              <a:alpha val="55000"/>
            </a:srgbClr>
          </a:solidFill>
          <a:ln w="19050" cap="rnd">
            <a:solidFill>
              <a:srgbClr val="4A235A"/>
            </a:solidFill>
            <a:prstDash val="dash"/>
            <a:round/>
          </a:ln>
        </p:spPr>
      </p:sp>
      <p:sp>
        <p:nvSpPr>
          <p:cNvPr id="13" name="!!ArteriaCoronaria corte"/>
          <p:cNvSpPr/>
          <p:nvPr/>
        </p:nvSpPr>
        <p:spPr>
          <a:xfrm>
            <a:off x="4206240" y="1828800"/>
            <a:ext cx="3840480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05050"/>
              </a:gs>
              <a:gs pos="30000">
                <a:srgbClr val="EC9D9D"/>
              </a:gs>
              <a:gs pos="55000">
                <a:srgbClr val="E57373"/>
              </a:gs>
              <a:gs pos="100000">
                <a:srgbClr val="A05050"/>
              </a:gs>
            </a:gsLst>
            <a:lin ang="5400000" scaled="0"/>
          </a:gradFill>
          <a:ln w="25400" cap="rnd">
            <a:solidFill>
              <a:srgbClr val="7B241C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sp>
        <p:nvSpPr>
          <p:cNvPr id="14" name="!!Luz coronaria"/>
          <p:cNvSpPr/>
          <p:nvPr/>
        </p:nvSpPr>
        <p:spPr>
          <a:xfrm>
            <a:off x="4343400" y="2057400"/>
            <a:ext cx="356616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B7B1"/>
              </a:gs>
              <a:gs pos="50000">
                <a:srgbClr val="FDEDEC"/>
              </a:gs>
              <a:gs pos="100000">
                <a:srgbClr val="F5B7B1"/>
              </a:gs>
            </a:gsLst>
            <a:lin ang="5400000" scaled="0"/>
          </a:gradFill>
          <a:ln w="9525" cap="rnd">
            <a:solidFill>
              <a:srgbClr val="C0392B"/>
            </a:solidFill>
            <a:round/>
          </a:ln>
        </p:spPr>
      </p:sp>
      <p:sp>
        <p:nvSpPr>
          <p:cNvPr id="15" name="!!Lupa coronaria"/>
          <p:cNvSpPr/>
          <p:nvPr/>
        </p:nvSpPr>
        <p:spPr>
          <a:xfrm>
            <a:off x="1920240" y="2468880"/>
            <a:ext cx="640080" cy="640080"/>
          </a:xfrm>
          <a:prstGeom prst="ellipse">
            <a:avLst/>
          </a:prstGeom>
          <a:noFill/>
          <a:ln w="38100" cap="rnd">
            <a:solidFill>
              <a:srgbClr val="FFC000"/>
            </a:solidFill>
            <a:round/>
          </a:ln>
        </p:spPr>
      </p:sp>
      <p:sp>
        <p:nvSpPr>
          <p:cNvPr id="16" name="!!Línea ampliación"/>
          <p:cNvSpPr/>
          <p:nvPr/>
        </p:nvSpPr>
        <p:spPr>
          <a:xfrm>
            <a:off x="2560320" y="2468880"/>
            <a:ext cx="1645920" cy="274320"/>
          </a:xfrm>
          <a:custGeom>
            <a:avLst/>
            <a:gdLst/>
            <a:ahLst/>
            <a:cxnLst/>
            <a:rect l="0" t="0" r="r" b="b"/>
            <a:pathLst>
              <a:path w="1799" h="299" fill="none">
                <a:moveTo>
                  <a:pt x="0" y="299"/>
                </a:moveTo>
                <a:lnTo>
                  <a:pt x="1799" y="0"/>
                </a:lnTo>
              </a:path>
            </a:pathLst>
          </a:custGeom>
          <a:noFill/>
          <a:ln w="25400" cap="rnd">
            <a:solidFill>
              <a:srgbClr val="FFC000"/>
            </a:solidFill>
            <a:prstDash val="dash"/>
            <a:round/>
          </a:ln>
        </p:spPr>
      </p:sp>
      <p:sp>
        <p:nvSpPr>
          <p:cNvPr id="17" name="!!Placa"/>
          <p:cNvSpPr/>
          <p:nvPr/>
        </p:nvSpPr>
        <p:spPr>
          <a:xfrm>
            <a:off x="5577840" y="2130552"/>
            <a:ext cx="1188720" cy="749808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9E79F"/>
              </a:gs>
              <a:gs pos="100000">
                <a:srgbClr val="F4D03F"/>
              </a:gs>
            </a:gsLst>
            <a:lin ang="5400000" scaled="0"/>
          </a:gradFill>
          <a:ln w="15875" cap="rnd">
            <a:solidFill>
              <a:srgbClr val="9A7D0A"/>
            </a:solidFill>
            <a:round/>
          </a:ln>
        </p:spPr>
      </p:sp>
      <p:sp>
        <p:nvSpPr>
          <p:cNvPr id="18" name="!!Trombo"/>
          <p:cNvSpPr/>
          <p:nvPr/>
        </p:nvSpPr>
        <p:spPr>
          <a:xfrm>
            <a:off x="5349240" y="2075688"/>
            <a:ext cx="502920" cy="457200"/>
          </a:xfrm>
          <a:prstGeom prst="ellipse">
            <a:avLst/>
          </a:prstGeom>
          <a:gradFill rotWithShape="1">
            <a:gsLst>
              <a:gs pos="0">
                <a:srgbClr val="B26A63"/>
              </a:gs>
              <a:gs pos="55000">
                <a:srgbClr val="922B21"/>
              </a:gs>
              <a:gs pos="100000">
                <a:srgbClr val="661E17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4A0D0D"/>
            </a:solidFill>
            <a:round/>
          </a:ln>
        </p:spPr>
      </p:sp>
      <p:sp>
        <p:nvSpPr>
          <p:cNvPr id="19" name="!!Flujo 0"/>
          <p:cNvSpPr/>
          <p:nvPr/>
        </p:nvSpPr>
        <p:spPr>
          <a:xfrm>
            <a:off x="452628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0" name="!!Flujo 1"/>
          <p:cNvSpPr/>
          <p:nvPr/>
        </p:nvSpPr>
        <p:spPr>
          <a:xfrm>
            <a:off x="534924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1" name="!!Flujo 2"/>
          <p:cNvSpPr/>
          <p:nvPr/>
        </p:nvSpPr>
        <p:spPr>
          <a:xfrm>
            <a:off x="694944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2" name="!!Flujo 3"/>
          <p:cNvSpPr/>
          <p:nvPr/>
        </p:nvSpPr>
        <p:spPr>
          <a:xfrm>
            <a:off x="745236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3" name="!!O2 miocardio"/>
          <p:cNvSpPr/>
          <p:nvPr/>
        </p:nvSpPr>
        <p:spPr>
          <a:xfrm>
            <a:off x="4480560" y="34290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3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300" dirty="0">
              <a:latin typeface="Calibri"/>
            </a:endParaRPr>
          </a:p>
        </p:txBody>
      </p:sp>
      <p:grpSp>
        <p:nvGrpSpPr>
          <p:cNvPr id="24" name="!!Cardiomiocito"/>
          <p:cNvGrpSpPr/>
          <p:nvPr/>
        </p:nvGrpSpPr>
        <p:grpSpPr>
          <a:xfrm>
            <a:off x="4148633" y="4114800"/>
            <a:ext cx="3955694" cy="1737360"/>
            <a:chOff x="4148633" y="4114800"/>
            <a:chExt cx="3955694" cy="1737360"/>
          </a:xfrm>
        </p:grpSpPr>
        <p:sp>
          <p:nvSpPr>
            <p:cNvPr id="25" name="Sarcolema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6" name="Estriaciones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27" name="Disco intercalar izq"/>
            <p:cNvSpPr/>
            <p:nvPr/>
          </p:nvSpPr>
          <p:spPr>
            <a:xfrm>
              <a:off x="414863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28" name="Disco intercalar der"/>
            <p:cNvSpPr/>
            <p:nvPr/>
          </p:nvSpPr>
          <p:spPr>
            <a:xfrm>
              <a:off x="798911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grpSp>
          <p:nvGrpSpPr>
            <p:cNvPr id="29" name="Núcleo"/>
            <p:cNvGrpSpPr/>
            <p:nvPr/>
          </p:nvGrpSpPr>
          <p:grpSpPr>
            <a:xfrm>
              <a:off x="5896051" y="4774997"/>
              <a:ext cx="460858" cy="414772"/>
              <a:chOff x="5896051" y="4774997"/>
              <a:chExt cx="460858" cy="414772"/>
            </a:xfrm>
          </p:grpSpPr>
          <p:sp>
            <p:nvSpPr>
              <p:cNvPr id="30" name="Forma 29"/>
              <p:cNvSpPr/>
              <p:nvPr/>
            </p:nvSpPr>
            <p:spPr>
              <a:xfrm>
                <a:off x="5896051" y="4774997"/>
                <a:ext cx="460858" cy="414772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6135697" y="4913254"/>
                <a:ext cx="101389" cy="92172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  <p:grpSp>
          <p:nvGrpSpPr>
            <p:cNvPr id="32" name="Mitocondria"/>
            <p:cNvGrpSpPr/>
            <p:nvPr/>
          </p:nvGrpSpPr>
          <p:grpSpPr>
            <a:xfrm>
              <a:off x="4667098" y="4549140"/>
              <a:ext cx="384048" cy="192024"/>
              <a:chOff x="4667098" y="4549140"/>
              <a:chExt cx="384048" cy="192024"/>
            </a:xfrm>
          </p:grpSpPr>
          <p:sp>
            <p:nvSpPr>
              <p:cNvPr id="33" name="Forma 32"/>
              <p:cNvSpPr/>
              <p:nvPr/>
            </p:nvSpPr>
            <p:spPr>
              <a:xfrm>
                <a:off x="4667098" y="4549140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4" name="Forma 33"/>
              <p:cNvSpPr/>
              <p:nvPr/>
            </p:nvSpPr>
            <p:spPr>
              <a:xfrm>
                <a:off x="4693981" y="4576023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4693981" y="4576023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36" name="Mitocondria_2"/>
            <p:cNvGrpSpPr/>
            <p:nvPr/>
          </p:nvGrpSpPr>
          <p:grpSpPr>
            <a:xfrm>
              <a:off x="5281574" y="5191963"/>
              <a:ext cx="384048" cy="192024"/>
              <a:chOff x="5281574" y="5191963"/>
              <a:chExt cx="384048" cy="192024"/>
            </a:xfrm>
          </p:grpSpPr>
          <p:sp>
            <p:nvSpPr>
              <p:cNvPr id="37" name="Forma 36"/>
              <p:cNvSpPr/>
              <p:nvPr/>
            </p:nvSpPr>
            <p:spPr>
              <a:xfrm>
                <a:off x="5281574" y="5191963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8" name="Forma 37"/>
              <p:cNvSpPr/>
              <p:nvPr/>
            </p:nvSpPr>
            <p:spPr>
              <a:xfrm>
                <a:off x="5308458" y="5218847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5308458" y="5218847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0" name="Mitocondria_3"/>
            <p:cNvGrpSpPr/>
            <p:nvPr/>
          </p:nvGrpSpPr>
          <p:grpSpPr>
            <a:xfrm>
              <a:off x="6817766" y="4531766"/>
              <a:ext cx="384048" cy="192024"/>
              <a:chOff x="6817766" y="4531766"/>
              <a:chExt cx="384048" cy="192024"/>
            </a:xfrm>
          </p:grpSpPr>
          <p:sp>
            <p:nvSpPr>
              <p:cNvPr id="41" name="Forma 40"/>
              <p:cNvSpPr/>
              <p:nvPr/>
            </p:nvSpPr>
            <p:spPr>
              <a:xfrm>
                <a:off x="6817766" y="453176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2" name="Forma 41"/>
              <p:cNvSpPr/>
              <p:nvPr/>
            </p:nvSpPr>
            <p:spPr>
              <a:xfrm>
                <a:off x="6844650" y="455865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6844650" y="455865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4" name="Mitocondria_4"/>
            <p:cNvGrpSpPr/>
            <p:nvPr/>
          </p:nvGrpSpPr>
          <p:grpSpPr>
            <a:xfrm>
              <a:off x="7278624" y="5157216"/>
              <a:ext cx="384048" cy="192024"/>
              <a:chOff x="7278624" y="5157216"/>
              <a:chExt cx="384048" cy="192024"/>
            </a:xfrm>
          </p:grpSpPr>
          <p:sp>
            <p:nvSpPr>
              <p:cNvPr id="45" name="Forma 44"/>
              <p:cNvSpPr/>
              <p:nvPr/>
            </p:nvSpPr>
            <p:spPr>
              <a:xfrm>
                <a:off x="7278624" y="515721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6" name="Forma 45"/>
              <p:cNvSpPr/>
              <p:nvPr/>
            </p:nvSpPr>
            <p:spPr>
              <a:xfrm>
                <a:off x="7305507" y="5184099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7" name="Forma 46"/>
              <p:cNvSpPr/>
              <p:nvPr/>
            </p:nvSpPr>
            <p:spPr>
              <a:xfrm>
                <a:off x="7305507" y="5184099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8" name="Mitocondria_5"/>
            <p:cNvGrpSpPr/>
            <p:nvPr/>
          </p:nvGrpSpPr>
          <p:grpSpPr>
            <a:xfrm>
              <a:off x="6587338" y="5261458"/>
              <a:ext cx="384048" cy="192024"/>
              <a:chOff x="6587338" y="5261458"/>
              <a:chExt cx="384048" cy="192024"/>
            </a:xfrm>
          </p:grpSpPr>
          <p:sp>
            <p:nvSpPr>
              <p:cNvPr id="49" name="Forma 48"/>
              <p:cNvSpPr/>
              <p:nvPr/>
            </p:nvSpPr>
            <p:spPr>
              <a:xfrm>
                <a:off x="6587338" y="5261458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0" name="Forma 49"/>
              <p:cNvSpPr/>
              <p:nvPr/>
            </p:nvSpPr>
            <p:spPr>
              <a:xfrm>
                <a:off x="6614221" y="5288341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>
                <a:off x="6614221" y="5288341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52" name="Mitocondria_6"/>
            <p:cNvGrpSpPr/>
            <p:nvPr/>
          </p:nvGrpSpPr>
          <p:grpSpPr>
            <a:xfrm>
              <a:off x="4974336" y="4774997"/>
              <a:ext cx="384048" cy="192024"/>
              <a:chOff x="4974336" y="4774997"/>
              <a:chExt cx="384048" cy="192024"/>
            </a:xfrm>
          </p:grpSpPr>
          <p:sp>
            <p:nvSpPr>
              <p:cNvPr id="53" name="Forma 52"/>
              <p:cNvSpPr/>
              <p:nvPr/>
            </p:nvSpPr>
            <p:spPr>
              <a:xfrm>
                <a:off x="4974336" y="4774997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4" name="Forma 53"/>
              <p:cNvSpPr/>
              <p:nvPr/>
            </p:nvSpPr>
            <p:spPr>
              <a:xfrm>
                <a:off x="5001219" y="480188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5" name="Forma 54"/>
              <p:cNvSpPr/>
              <p:nvPr/>
            </p:nvSpPr>
            <p:spPr>
              <a:xfrm>
                <a:off x="5001219" y="480188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</p:grpSp>
      <p:grpSp>
        <p:nvGrpSpPr>
          <p:cNvPr id="56" name="Caja FP3"/>
          <p:cNvGrpSpPr/>
          <p:nvPr/>
        </p:nvGrpSpPr>
        <p:grpSpPr>
          <a:xfrm>
            <a:off x="8549640" y="1097280"/>
            <a:ext cx="3383280" cy="3383280"/>
            <a:chOff x="8549640" y="1097280"/>
            <a:chExt cx="3383280" cy="3383280"/>
          </a:xfrm>
        </p:grpSpPr>
        <p:sp>
          <p:nvSpPr>
            <p:cNvPr id="57" name="Forma 56"/>
            <p:cNvSpPr/>
            <p:nvPr/>
          </p:nvSpPr>
          <p:spPr>
            <a:xfrm>
              <a:off x="8549640" y="1298448"/>
              <a:ext cx="3383280" cy="318211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Oclusión de una arteria coronaria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que impide el aporte de O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territorio irrigado (en el caso,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cara inferior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queda isquémico.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8" name="Forma 57"/>
            <p:cNvSpPr/>
            <p:nvPr/>
          </p:nvSpPr>
          <p:spPr>
            <a:xfrm>
              <a:off x="8677656" y="1097280"/>
              <a:ext cx="1119455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OCLUSIÓN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OCLUSIÓN CORONARIA: ISQUEMIA DEL TERRITORIO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5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orazon"/>
          <p:cNvGrpSpPr/>
          <p:nvPr/>
        </p:nvGrpSpPr>
        <p:grpSpPr>
          <a:xfrm>
            <a:off x="320040" y="914400"/>
            <a:ext cx="3566160" cy="3922776"/>
            <a:chOff x="320040" y="914400"/>
            <a:chExt cx="3566160" cy="3922776"/>
          </a:xfrm>
        </p:grpSpPr>
        <p:sp>
          <p:nvSpPr>
            <p:cNvPr id="6" name="Aorta"/>
            <p:cNvSpPr/>
            <p:nvPr/>
          </p:nvSpPr>
          <p:spPr>
            <a:xfrm>
              <a:off x="1675181" y="914400"/>
              <a:ext cx="1141171" cy="125528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7" name="Arteria pulmonar"/>
            <p:cNvSpPr/>
            <p:nvPr/>
          </p:nvSpPr>
          <p:spPr>
            <a:xfrm>
              <a:off x="1104595" y="1306678"/>
              <a:ext cx="784555" cy="98069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8" name="Miocardio"/>
            <p:cNvSpPr/>
            <p:nvPr/>
          </p:nvSpPr>
          <p:spPr>
            <a:xfrm>
              <a:off x="320040" y="1620500"/>
              <a:ext cx="3566160" cy="321667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9" name="Aurícula derecha"/>
            <p:cNvSpPr/>
            <p:nvPr/>
          </p:nvSpPr>
          <p:spPr>
            <a:xfrm>
              <a:off x="462686" y="2091233"/>
              <a:ext cx="998525" cy="109837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10" name="!!ArteriaCoronaria izquierd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1" name="!!ArteriaCoronaria derecha"/>
          <p:cNvSpPr/>
          <p:nvPr/>
        </p:nvSpPr>
        <p:spPr>
          <a:xfrm>
            <a:off x="320040" y="1620500"/>
            <a:ext cx="3566160" cy="321667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2" name="!!Zona isquémica"/>
          <p:cNvSpPr/>
          <p:nvPr/>
        </p:nvSpPr>
        <p:spPr>
          <a:xfrm rot="-1200000">
            <a:off x="1143000" y="3657600"/>
            <a:ext cx="1737360" cy="1051560"/>
          </a:xfrm>
          <a:prstGeom prst="ellipse">
            <a:avLst/>
          </a:prstGeom>
          <a:solidFill>
            <a:srgbClr val="4A235A">
              <a:alpha val="75000"/>
            </a:srgbClr>
          </a:solidFill>
          <a:ln w="19050" cap="rnd">
            <a:solidFill>
              <a:srgbClr val="4A235A"/>
            </a:solidFill>
            <a:prstDash val="dash"/>
            <a:round/>
          </a:ln>
        </p:spPr>
      </p:sp>
      <p:sp>
        <p:nvSpPr>
          <p:cNvPr id="13" name="!!ArteriaCoronaria corte"/>
          <p:cNvSpPr/>
          <p:nvPr/>
        </p:nvSpPr>
        <p:spPr>
          <a:xfrm>
            <a:off x="4206240" y="1828800"/>
            <a:ext cx="3840480" cy="1280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05050"/>
              </a:gs>
              <a:gs pos="30000">
                <a:srgbClr val="EC9D9D"/>
              </a:gs>
              <a:gs pos="55000">
                <a:srgbClr val="E57373"/>
              </a:gs>
              <a:gs pos="100000">
                <a:srgbClr val="A05050"/>
              </a:gs>
            </a:gsLst>
            <a:lin ang="5400000" scaled="0"/>
          </a:gradFill>
          <a:ln w="25400" cap="rnd">
            <a:solidFill>
              <a:srgbClr val="7B241C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sp>
        <p:nvSpPr>
          <p:cNvPr id="14" name="!!Luz coronaria"/>
          <p:cNvSpPr/>
          <p:nvPr/>
        </p:nvSpPr>
        <p:spPr>
          <a:xfrm>
            <a:off x="4343400" y="2057400"/>
            <a:ext cx="356616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B7B1"/>
              </a:gs>
              <a:gs pos="50000">
                <a:srgbClr val="FDEDEC"/>
              </a:gs>
              <a:gs pos="100000">
                <a:srgbClr val="F5B7B1"/>
              </a:gs>
            </a:gsLst>
            <a:lin ang="5400000" scaled="0"/>
          </a:gradFill>
          <a:ln w="9525" cap="rnd">
            <a:solidFill>
              <a:srgbClr val="C0392B"/>
            </a:solidFill>
            <a:round/>
          </a:ln>
        </p:spPr>
      </p:sp>
      <p:sp>
        <p:nvSpPr>
          <p:cNvPr id="15" name="!!Lupa coronaria"/>
          <p:cNvSpPr/>
          <p:nvPr/>
        </p:nvSpPr>
        <p:spPr>
          <a:xfrm>
            <a:off x="1920240" y="2468880"/>
            <a:ext cx="640080" cy="640080"/>
          </a:xfrm>
          <a:prstGeom prst="ellipse">
            <a:avLst/>
          </a:prstGeom>
          <a:noFill/>
          <a:ln w="38100" cap="rnd">
            <a:solidFill>
              <a:srgbClr val="FFC000"/>
            </a:solidFill>
            <a:round/>
          </a:ln>
        </p:spPr>
      </p:sp>
      <p:sp>
        <p:nvSpPr>
          <p:cNvPr id="16" name="!!Línea ampliación"/>
          <p:cNvSpPr/>
          <p:nvPr/>
        </p:nvSpPr>
        <p:spPr>
          <a:xfrm>
            <a:off x="2560320" y="2468880"/>
            <a:ext cx="1645920" cy="274320"/>
          </a:xfrm>
          <a:custGeom>
            <a:avLst/>
            <a:gdLst/>
            <a:ahLst/>
            <a:cxnLst/>
            <a:rect l="0" t="0" r="r" b="b"/>
            <a:pathLst>
              <a:path w="1799" h="299" fill="none">
                <a:moveTo>
                  <a:pt x="0" y="299"/>
                </a:moveTo>
                <a:lnTo>
                  <a:pt x="1799" y="0"/>
                </a:lnTo>
              </a:path>
            </a:pathLst>
          </a:custGeom>
          <a:noFill/>
          <a:ln w="25400" cap="rnd">
            <a:solidFill>
              <a:srgbClr val="FFC000"/>
            </a:solidFill>
            <a:prstDash val="dash"/>
            <a:round/>
          </a:ln>
        </p:spPr>
      </p:sp>
      <p:sp>
        <p:nvSpPr>
          <p:cNvPr id="17" name="!!Placa"/>
          <p:cNvSpPr/>
          <p:nvPr/>
        </p:nvSpPr>
        <p:spPr>
          <a:xfrm>
            <a:off x="5577840" y="2130552"/>
            <a:ext cx="1188720" cy="749808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F9E79F"/>
              </a:gs>
              <a:gs pos="100000">
                <a:srgbClr val="F4D03F"/>
              </a:gs>
            </a:gsLst>
            <a:lin ang="5400000" scaled="0"/>
          </a:gradFill>
          <a:ln w="15875" cap="rnd">
            <a:solidFill>
              <a:srgbClr val="9A7D0A"/>
            </a:solidFill>
            <a:round/>
          </a:ln>
        </p:spPr>
      </p:sp>
      <p:sp>
        <p:nvSpPr>
          <p:cNvPr id="18" name="!!Trombo"/>
          <p:cNvSpPr/>
          <p:nvPr/>
        </p:nvSpPr>
        <p:spPr>
          <a:xfrm>
            <a:off x="5349240" y="2075688"/>
            <a:ext cx="502920" cy="457200"/>
          </a:xfrm>
          <a:prstGeom prst="ellipse">
            <a:avLst/>
          </a:prstGeom>
          <a:gradFill rotWithShape="1">
            <a:gsLst>
              <a:gs pos="0">
                <a:srgbClr val="B26A63"/>
              </a:gs>
              <a:gs pos="55000">
                <a:srgbClr val="922B21"/>
              </a:gs>
              <a:gs pos="100000">
                <a:srgbClr val="661E17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4A0D0D"/>
            </a:solidFill>
            <a:round/>
          </a:ln>
        </p:spPr>
      </p:sp>
      <p:sp>
        <p:nvSpPr>
          <p:cNvPr id="19" name="!!Flujo 0"/>
          <p:cNvSpPr/>
          <p:nvPr/>
        </p:nvSpPr>
        <p:spPr>
          <a:xfrm>
            <a:off x="452628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0" name="!!Flujo 1"/>
          <p:cNvSpPr/>
          <p:nvPr/>
        </p:nvSpPr>
        <p:spPr>
          <a:xfrm>
            <a:off x="534924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1" name="!!Flujo 2"/>
          <p:cNvSpPr/>
          <p:nvPr/>
        </p:nvSpPr>
        <p:spPr>
          <a:xfrm>
            <a:off x="694944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2" name="!!Flujo 3"/>
          <p:cNvSpPr/>
          <p:nvPr/>
        </p:nvSpPr>
        <p:spPr>
          <a:xfrm>
            <a:off x="7452360" y="2286000"/>
            <a:ext cx="384048" cy="384048"/>
          </a:xfrm>
          <a:prstGeom prst="ellipse">
            <a:avLst/>
          </a:prstGeom>
          <a:solidFill>
            <a:srgbClr val="C0392B">
              <a:alpha val="15000"/>
            </a:srgbClr>
          </a:solidFill>
          <a:ln w="3175" cap="rnd">
            <a:solidFill>
              <a:srgbClr val="6E1A12"/>
            </a:solidFill>
            <a:round/>
          </a:ln>
        </p:spPr>
      </p:sp>
      <p:sp>
        <p:nvSpPr>
          <p:cNvPr id="23" name="!!O2 miocardio"/>
          <p:cNvSpPr/>
          <p:nvPr/>
        </p:nvSpPr>
        <p:spPr>
          <a:xfrm>
            <a:off x="4480560" y="3429000"/>
            <a:ext cx="731520" cy="38404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C9EC"/>
              </a:gs>
              <a:gs pos="55000">
                <a:srgbClr val="5DADE2"/>
              </a:gs>
              <a:gs pos="100000">
                <a:srgbClr val="4A8A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2E56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s-AR" sz="1300" b="1" baseline="-25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300" dirty="0">
              <a:latin typeface="Calibri"/>
            </a:endParaRPr>
          </a:p>
        </p:txBody>
      </p:sp>
      <p:grpSp>
        <p:nvGrpSpPr>
          <p:cNvPr id="24" name="!!Cardiomiocito"/>
          <p:cNvGrpSpPr/>
          <p:nvPr/>
        </p:nvGrpSpPr>
        <p:grpSpPr>
          <a:xfrm>
            <a:off x="4148633" y="4114800"/>
            <a:ext cx="3955694" cy="1737360"/>
            <a:chOff x="4148633" y="4114800"/>
            <a:chExt cx="3955694" cy="1737360"/>
          </a:xfrm>
        </p:grpSpPr>
        <p:sp>
          <p:nvSpPr>
            <p:cNvPr id="25" name="Sarcolema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6" name="Estriaciones"/>
            <p:cNvSpPr/>
            <p:nvPr/>
          </p:nvSpPr>
          <p:spPr>
            <a:xfrm>
              <a:off x="4206240" y="4114800"/>
              <a:ext cx="38404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27" name="Disco intercalar izq"/>
            <p:cNvSpPr/>
            <p:nvPr/>
          </p:nvSpPr>
          <p:spPr>
            <a:xfrm>
              <a:off x="414863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28" name="Disco intercalar der"/>
            <p:cNvSpPr/>
            <p:nvPr/>
          </p:nvSpPr>
          <p:spPr>
            <a:xfrm>
              <a:off x="7989113" y="4375404"/>
              <a:ext cx="115214" cy="121615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grpSp>
          <p:nvGrpSpPr>
            <p:cNvPr id="29" name="Núcleo"/>
            <p:cNvGrpSpPr/>
            <p:nvPr/>
          </p:nvGrpSpPr>
          <p:grpSpPr>
            <a:xfrm>
              <a:off x="5896051" y="4774997"/>
              <a:ext cx="460858" cy="414772"/>
              <a:chOff x="5896051" y="4774997"/>
              <a:chExt cx="460858" cy="414772"/>
            </a:xfrm>
          </p:grpSpPr>
          <p:sp>
            <p:nvSpPr>
              <p:cNvPr id="30" name="Forma 29"/>
              <p:cNvSpPr/>
              <p:nvPr/>
            </p:nvSpPr>
            <p:spPr>
              <a:xfrm>
                <a:off x="5896051" y="4774997"/>
                <a:ext cx="460858" cy="414772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6135697" y="4913254"/>
                <a:ext cx="101389" cy="92172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  <p:grpSp>
          <p:nvGrpSpPr>
            <p:cNvPr id="32" name="Mitocondria"/>
            <p:cNvGrpSpPr/>
            <p:nvPr/>
          </p:nvGrpSpPr>
          <p:grpSpPr>
            <a:xfrm>
              <a:off x="4667098" y="4549140"/>
              <a:ext cx="384048" cy="192024"/>
              <a:chOff x="4667098" y="4549140"/>
              <a:chExt cx="384048" cy="192024"/>
            </a:xfrm>
          </p:grpSpPr>
          <p:sp>
            <p:nvSpPr>
              <p:cNvPr id="33" name="Forma 32"/>
              <p:cNvSpPr/>
              <p:nvPr/>
            </p:nvSpPr>
            <p:spPr>
              <a:xfrm>
                <a:off x="4667098" y="4549140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4" name="Forma 33"/>
              <p:cNvSpPr/>
              <p:nvPr/>
            </p:nvSpPr>
            <p:spPr>
              <a:xfrm>
                <a:off x="4693981" y="4576023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4693981" y="4576023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36" name="Mitocondria_2"/>
            <p:cNvGrpSpPr/>
            <p:nvPr/>
          </p:nvGrpSpPr>
          <p:grpSpPr>
            <a:xfrm>
              <a:off x="5281574" y="5191963"/>
              <a:ext cx="384048" cy="192024"/>
              <a:chOff x="5281574" y="5191963"/>
              <a:chExt cx="384048" cy="192024"/>
            </a:xfrm>
          </p:grpSpPr>
          <p:sp>
            <p:nvSpPr>
              <p:cNvPr id="37" name="Forma 36"/>
              <p:cNvSpPr/>
              <p:nvPr/>
            </p:nvSpPr>
            <p:spPr>
              <a:xfrm>
                <a:off x="5281574" y="5191963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8" name="Forma 37"/>
              <p:cNvSpPr/>
              <p:nvPr/>
            </p:nvSpPr>
            <p:spPr>
              <a:xfrm>
                <a:off x="5308458" y="5218847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5308458" y="5218847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0" name="Mitocondria_3"/>
            <p:cNvGrpSpPr/>
            <p:nvPr/>
          </p:nvGrpSpPr>
          <p:grpSpPr>
            <a:xfrm>
              <a:off x="6817766" y="4531766"/>
              <a:ext cx="384048" cy="192024"/>
              <a:chOff x="6817766" y="4531766"/>
              <a:chExt cx="384048" cy="192024"/>
            </a:xfrm>
          </p:grpSpPr>
          <p:sp>
            <p:nvSpPr>
              <p:cNvPr id="41" name="Forma 40"/>
              <p:cNvSpPr/>
              <p:nvPr/>
            </p:nvSpPr>
            <p:spPr>
              <a:xfrm>
                <a:off x="6817766" y="453176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2" name="Forma 41"/>
              <p:cNvSpPr/>
              <p:nvPr/>
            </p:nvSpPr>
            <p:spPr>
              <a:xfrm>
                <a:off x="6844650" y="455865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6844650" y="455865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4" name="Mitocondria_4"/>
            <p:cNvGrpSpPr/>
            <p:nvPr/>
          </p:nvGrpSpPr>
          <p:grpSpPr>
            <a:xfrm>
              <a:off x="7278624" y="5157216"/>
              <a:ext cx="384048" cy="192024"/>
              <a:chOff x="7278624" y="5157216"/>
              <a:chExt cx="384048" cy="192024"/>
            </a:xfrm>
          </p:grpSpPr>
          <p:sp>
            <p:nvSpPr>
              <p:cNvPr id="45" name="Forma 44"/>
              <p:cNvSpPr/>
              <p:nvPr/>
            </p:nvSpPr>
            <p:spPr>
              <a:xfrm>
                <a:off x="7278624" y="5157216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6" name="Forma 45"/>
              <p:cNvSpPr/>
              <p:nvPr/>
            </p:nvSpPr>
            <p:spPr>
              <a:xfrm>
                <a:off x="7305507" y="5184099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7" name="Forma 46"/>
              <p:cNvSpPr/>
              <p:nvPr/>
            </p:nvSpPr>
            <p:spPr>
              <a:xfrm>
                <a:off x="7305507" y="5184099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8" name="Mitocondria_5"/>
            <p:cNvGrpSpPr/>
            <p:nvPr/>
          </p:nvGrpSpPr>
          <p:grpSpPr>
            <a:xfrm>
              <a:off x="6587338" y="5261458"/>
              <a:ext cx="384048" cy="192024"/>
              <a:chOff x="6587338" y="5261458"/>
              <a:chExt cx="384048" cy="192024"/>
            </a:xfrm>
          </p:grpSpPr>
          <p:sp>
            <p:nvSpPr>
              <p:cNvPr id="49" name="Forma 48"/>
              <p:cNvSpPr/>
              <p:nvPr/>
            </p:nvSpPr>
            <p:spPr>
              <a:xfrm>
                <a:off x="6587338" y="5261458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0" name="Forma 49"/>
              <p:cNvSpPr/>
              <p:nvPr/>
            </p:nvSpPr>
            <p:spPr>
              <a:xfrm>
                <a:off x="6614221" y="5288341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>
                <a:off x="6614221" y="5288341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52" name="Mitocondria_6"/>
            <p:cNvGrpSpPr/>
            <p:nvPr/>
          </p:nvGrpSpPr>
          <p:grpSpPr>
            <a:xfrm>
              <a:off x="4974336" y="4774997"/>
              <a:ext cx="384048" cy="192024"/>
              <a:chOff x="4974336" y="4774997"/>
              <a:chExt cx="384048" cy="192024"/>
            </a:xfrm>
          </p:grpSpPr>
          <p:sp>
            <p:nvSpPr>
              <p:cNvPr id="53" name="Forma 52"/>
              <p:cNvSpPr/>
              <p:nvPr/>
            </p:nvSpPr>
            <p:spPr>
              <a:xfrm>
                <a:off x="4974336" y="4774997"/>
                <a:ext cx="384048" cy="192024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4" name="Forma 53"/>
              <p:cNvSpPr/>
              <p:nvPr/>
            </p:nvSpPr>
            <p:spPr>
              <a:xfrm>
                <a:off x="5001219" y="4801880"/>
                <a:ext cx="330281" cy="138257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5" name="Forma 54"/>
              <p:cNvSpPr/>
              <p:nvPr/>
            </p:nvSpPr>
            <p:spPr>
              <a:xfrm>
                <a:off x="5001219" y="4801880"/>
                <a:ext cx="330281" cy="13825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</p:grpSp>
      <p:sp>
        <p:nvSpPr>
          <p:cNvPr id="56" name="!!Necrosis"/>
          <p:cNvSpPr/>
          <p:nvPr/>
        </p:nvSpPr>
        <p:spPr>
          <a:xfrm>
            <a:off x="4206240" y="4114800"/>
            <a:ext cx="3840480" cy="1737360"/>
          </a:xfrm>
          <a:prstGeom prst="roundRect">
            <a:avLst>
              <a:gd name="adj" fmla="val 20000"/>
            </a:avLst>
          </a:prstGeom>
          <a:solidFill>
            <a:srgbClr val="4A235A">
              <a:alpha val="45000"/>
            </a:srgbClr>
          </a:solidFill>
          <a:ln>
            <a:noFill/>
          </a:ln>
        </p:spPr>
      </p:sp>
      <p:grpSp>
        <p:nvGrpSpPr>
          <p:cNvPr id="57" name="Caja FP4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58" name="Forma 57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IAM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muerte (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necrosis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de un área del músculo cardíaco por falta de O</a:t>
              </a:r>
              <a:r>
                <a:rPr lang="es-AR" sz="20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8677656" y="1097280"/>
              <a:ext cx="988835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INFARTO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60" name="Puente biomarcadores"/>
          <p:cNvSpPr/>
          <p:nvPr/>
        </p:nvSpPr>
        <p:spPr>
          <a:xfrm>
            <a:off x="8549640" y="406908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Las células necrosadas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liberan su contenido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 la sangre: allí nacen los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biomarcadores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3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NECROSIS DEL MIOCARDIO: EL INFARTO</a:t>
            </a:r>
            <a:endParaRPr lang="es-AR" sz="23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6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!!Zonas concéntricas"/>
          <p:cNvGrpSpPr/>
          <p:nvPr/>
        </p:nvGrpSpPr>
        <p:grpSpPr>
          <a:xfrm>
            <a:off x="457200" y="1280160"/>
            <a:ext cx="3657600" cy="3657600"/>
            <a:chOff x="457200" y="1280160"/>
            <a:chExt cx="3657600" cy="3657600"/>
          </a:xfrm>
        </p:grpSpPr>
        <p:sp>
          <p:nvSpPr>
            <p:cNvPr id="6" name="Forma 5"/>
            <p:cNvSpPr/>
            <p:nvPr/>
          </p:nvSpPr>
          <p:spPr>
            <a:xfrm>
              <a:off x="457200" y="1280160"/>
              <a:ext cx="3657600" cy="3657600"/>
            </a:xfrm>
            <a:prstGeom prst="ellipse">
              <a:avLst/>
            </a:prstGeom>
            <a:solidFill>
              <a:srgbClr val="85C1E9">
                <a:alpha val="70000"/>
              </a:srgbClr>
            </a:solidFill>
            <a:ln w="25400" cap="rnd">
              <a:solidFill>
                <a:srgbClr val="1F3864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1005840" y="1828800"/>
              <a:ext cx="2560320" cy="2560320"/>
            </a:xfrm>
            <a:prstGeom prst="ellipse">
              <a:avLst/>
            </a:prstGeom>
            <a:solidFill>
              <a:srgbClr val="F5B041">
                <a:alpha val="80000"/>
              </a:srgbClr>
            </a:solidFill>
            <a:ln w="25400" cap="rnd">
              <a:solidFill>
                <a:srgbClr val="9C640C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600200" y="2423160"/>
              <a:ext cx="1371600" cy="1371600"/>
            </a:xfrm>
            <a:prstGeom prst="ellipse">
              <a:avLst/>
            </a:prstGeom>
            <a:solidFill>
              <a:srgbClr val="4A235A">
                <a:alpha val="85000"/>
              </a:srgbClr>
            </a:solidFill>
            <a:ln w="25400" cap="rnd">
              <a:solidFill>
                <a:srgbClr val="1B0E24"/>
              </a:solidFill>
              <a:round/>
            </a:ln>
          </p:spPr>
        </p:sp>
      </p:grpSp>
      <p:grpSp>
        <p:nvGrpSpPr>
          <p:cNvPr id="9" name="Zona Necrosis"/>
          <p:cNvGrpSpPr/>
          <p:nvPr/>
        </p:nvGrpSpPr>
        <p:grpSpPr>
          <a:xfrm>
            <a:off x="4572000" y="1143000"/>
            <a:ext cx="7360920" cy="1600200"/>
            <a:chOff x="4572000" y="1143000"/>
            <a:chExt cx="7360920" cy="1600200"/>
          </a:xfrm>
        </p:grpSpPr>
        <p:sp>
          <p:nvSpPr>
            <p:cNvPr id="10" name="Forma 9"/>
            <p:cNvSpPr/>
            <p:nvPr/>
          </p:nvSpPr>
          <p:spPr>
            <a:xfrm>
              <a:off x="4572000" y="1143000"/>
              <a:ext cx="7360920" cy="1600200"/>
            </a:xfrm>
            <a:prstGeom prst="roundRect">
              <a:avLst>
                <a:gd name="adj" fmla="val 9000"/>
              </a:avLst>
            </a:prstGeom>
            <a:solidFill>
              <a:srgbClr val="E8DAE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Necrosis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Onda Q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patológica: necrosis transmural; persiste como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cicatriz eléctrica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200" dirty="0">
                <a:latin typeface="Calibri"/>
              </a:endParaRPr>
            </a:p>
          </p:txBody>
        </p:sp>
      </p:grpSp>
      <p:grpSp>
        <p:nvGrpSpPr>
          <p:cNvPr id="11" name="Zona Lesión"/>
          <p:cNvGrpSpPr/>
          <p:nvPr/>
        </p:nvGrpSpPr>
        <p:grpSpPr>
          <a:xfrm>
            <a:off x="4572000" y="2880360"/>
            <a:ext cx="7360920" cy="1600200"/>
            <a:chOff x="4572000" y="2880360"/>
            <a:chExt cx="7360920" cy="1600200"/>
          </a:xfrm>
        </p:grpSpPr>
        <p:sp>
          <p:nvSpPr>
            <p:cNvPr id="12" name="Forma 11"/>
            <p:cNvSpPr/>
            <p:nvPr/>
          </p:nvSpPr>
          <p:spPr>
            <a:xfrm>
              <a:off x="4572000" y="2880360"/>
              <a:ext cx="7360920" cy="1600200"/>
            </a:xfrm>
            <a:prstGeom prst="roundRect">
              <a:avLst>
                <a:gd name="adj" fmla="val 9000"/>
              </a:avLst>
            </a:prstGeom>
            <a:solidFill>
              <a:srgbClr val="FDE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Lesión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Elevación del ST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(«corriente de lesión»): células dañadas pero aún no muertas.</a:t>
              </a:r>
              <a:endParaRPr lang="es-AR" sz="2200" dirty="0">
                <a:latin typeface="Calibri"/>
              </a:endParaRPr>
            </a:p>
          </p:txBody>
        </p:sp>
      </p:grpSp>
      <p:grpSp>
        <p:nvGrpSpPr>
          <p:cNvPr id="13" name="Zona Isquemia"/>
          <p:cNvGrpSpPr/>
          <p:nvPr/>
        </p:nvGrpSpPr>
        <p:grpSpPr>
          <a:xfrm>
            <a:off x="4572000" y="4617720"/>
            <a:ext cx="7360920" cy="1600200"/>
            <a:chOff x="4572000" y="4617720"/>
            <a:chExt cx="7360920" cy="1600200"/>
          </a:xfrm>
        </p:grpSpPr>
        <p:sp>
          <p:nvSpPr>
            <p:cNvPr id="14" name="Forma 13"/>
            <p:cNvSpPr/>
            <p:nvPr/>
          </p:nvSpPr>
          <p:spPr>
            <a:xfrm>
              <a:off x="4572000" y="4617720"/>
              <a:ext cx="7360920" cy="160020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Isquemia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Inversión de la onda T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isquemia perilesional.</a:t>
              </a:r>
              <a:endParaRPr lang="es-AR" sz="22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NECROSIS, LESIÓN E ISQUEMIA: TRES ZONAS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1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ECG papel"/>
          <p:cNvGrpSpPr/>
          <p:nvPr/>
        </p:nvGrpSpPr>
        <p:grpSpPr>
          <a:xfrm>
            <a:off x="365760" y="1280160"/>
            <a:ext cx="7680960" cy="2926080"/>
            <a:chOff x="365760" y="1280160"/>
            <a:chExt cx="7680960" cy="2926080"/>
          </a:xfrm>
        </p:grpSpPr>
        <p:sp>
          <p:nvSpPr>
            <p:cNvPr id="6" name="Forma 5"/>
            <p:cNvSpPr/>
            <p:nvPr/>
          </p:nvSpPr>
          <p:spPr>
            <a:xfrm>
              <a:off x="365760" y="1280160"/>
              <a:ext cx="7680960" cy="2926080"/>
            </a:xfrm>
            <a:prstGeom prst="rect">
              <a:avLst/>
            </a:prstGeom>
            <a:solidFill>
              <a:srgbClr val="FFF5F5"/>
            </a:solidFill>
            <a:ln w="15875" cap="rnd">
              <a:solidFill>
                <a:srgbClr val="E6B0AA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365760" y="1280160"/>
              <a:ext cx="7680960" cy="292608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23" y="0"/>
                  </a:moveTo>
                  <a:lnTo>
                    <a:pt x="23" y="1000"/>
                  </a:lnTo>
                </a:path>
                <a:path w="1000" h="1000" fill="none">
                  <a:moveTo>
                    <a:pt x="47" y="0"/>
                  </a:moveTo>
                  <a:lnTo>
                    <a:pt x="47" y="1000"/>
                  </a:lnTo>
                </a:path>
                <a:path w="1000" h="1000" fill="none">
                  <a:moveTo>
                    <a:pt x="71" y="0"/>
                  </a:moveTo>
                  <a:lnTo>
                    <a:pt x="71" y="1000"/>
                  </a:lnTo>
                </a:path>
                <a:path w="1000" h="1000" fill="none">
                  <a:moveTo>
                    <a:pt x="95" y="0"/>
                  </a:moveTo>
                  <a:lnTo>
                    <a:pt x="95" y="1000"/>
                  </a:lnTo>
                </a:path>
                <a:path w="1000" h="1000" fill="none">
                  <a:moveTo>
                    <a:pt x="119" y="0"/>
                  </a:moveTo>
                  <a:lnTo>
                    <a:pt x="119" y="1000"/>
                  </a:lnTo>
                </a:path>
                <a:path w="1000" h="1000" fill="none">
                  <a:moveTo>
                    <a:pt x="142" y="0"/>
                  </a:moveTo>
                  <a:lnTo>
                    <a:pt x="142" y="1000"/>
                  </a:lnTo>
                </a:path>
                <a:path w="1000" h="1000" fill="none">
                  <a:moveTo>
                    <a:pt x="166" y="0"/>
                  </a:moveTo>
                  <a:lnTo>
                    <a:pt x="166" y="1000"/>
                  </a:lnTo>
                </a:path>
                <a:path w="1000" h="1000" fill="none">
                  <a:moveTo>
                    <a:pt x="190" y="0"/>
                  </a:moveTo>
                  <a:lnTo>
                    <a:pt x="190" y="1000"/>
                  </a:lnTo>
                </a:path>
                <a:path w="1000" h="1000" fill="none">
                  <a:moveTo>
                    <a:pt x="214" y="0"/>
                  </a:moveTo>
                  <a:lnTo>
                    <a:pt x="214" y="1000"/>
                  </a:lnTo>
                </a:path>
                <a:path w="1000" h="1000" fill="none">
                  <a:moveTo>
                    <a:pt x="238" y="0"/>
                  </a:moveTo>
                  <a:lnTo>
                    <a:pt x="238" y="1000"/>
                  </a:lnTo>
                </a:path>
                <a:path w="1000" h="1000" fill="none">
                  <a:moveTo>
                    <a:pt x="261" y="0"/>
                  </a:moveTo>
                  <a:lnTo>
                    <a:pt x="261" y="1000"/>
                  </a:lnTo>
                </a:path>
                <a:path w="1000" h="1000" fill="none">
                  <a:moveTo>
                    <a:pt x="285" y="0"/>
                  </a:moveTo>
                  <a:lnTo>
                    <a:pt x="285" y="1000"/>
                  </a:lnTo>
                </a:path>
                <a:path w="1000" h="1000" fill="none">
                  <a:moveTo>
                    <a:pt x="309" y="0"/>
                  </a:moveTo>
                  <a:lnTo>
                    <a:pt x="309" y="1000"/>
                  </a:lnTo>
                </a:path>
                <a:path w="1000" h="1000" fill="none">
                  <a:moveTo>
                    <a:pt x="333" y="0"/>
                  </a:moveTo>
                  <a:lnTo>
                    <a:pt x="333" y="1000"/>
                  </a:lnTo>
                </a:path>
                <a:path w="1000" h="1000" fill="none">
                  <a:moveTo>
                    <a:pt x="357" y="0"/>
                  </a:moveTo>
                  <a:lnTo>
                    <a:pt x="357" y="1000"/>
                  </a:lnTo>
                </a:path>
                <a:path w="1000" h="1000" fill="none">
                  <a:moveTo>
                    <a:pt x="380" y="0"/>
                  </a:moveTo>
                  <a:lnTo>
                    <a:pt x="380" y="1000"/>
                  </a:lnTo>
                </a:path>
                <a:path w="1000" h="1000" fill="none">
                  <a:moveTo>
                    <a:pt x="404" y="0"/>
                  </a:moveTo>
                  <a:lnTo>
                    <a:pt x="404" y="1000"/>
                  </a:lnTo>
                </a:path>
                <a:path w="1000" h="1000" fill="none">
                  <a:moveTo>
                    <a:pt x="428" y="0"/>
                  </a:moveTo>
                  <a:lnTo>
                    <a:pt x="428" y="1000"/>
                  </a:lnTo>
                </a:path>
                <a:path w="1000" h="1000" fill="none">
                  <a:moveTo>
                    <a:pt x="452" y="0"/>
                  </a:moveTo>
                  <a:lnTo>
                    <a:pt x="452" y="1000"/>
                  </a:lnTo>
                </a:path>
                <a:path w="1000" h="1000" fill="none">
                  <a:moveTo>
                    <a:pt x="476" y="0"/>
                  </a:moveTo>
                  <a:lnTo>
                    <a:pt x="476" y="1000"/>
                  </a:lnTo>
                </a:path>
                <a:path w="1000" h="1000" fill="none">
                  <a:moveTo>
                    <a:pt x="500" y="0"/>
                  </a:moveTo>
                  <a:lnTo>
                    <a:pt x="500" y="1000"/>
                  </a:lnTo>
                </a:path>
                <a:path w="1000" h="1000" fill="none">
                  <a:moveTo>
                    <a:pt x="523" y="0"/>
                  </a:moveTo>
                  <a:lnTo>
                    <a:pt x="523" y="1000"/>
                  </a:lnTo>
                </a:path>
                <a:path w="1000" h="1000" fill="none">
                  <a:moveTo>
                    <a:pt x="547" y="0"/>
                  </a:moveTo>
                  <a:lnTo>
                    <a:pt x="547" y="1000"/>
                  </a:lnTo>
                </a:path>
                <a:path w="1000" h="1000" fill="none">
                  <a:moveTo>
                    <a:pt x="571" y="0"/>
                  </a:moveTo>
                  <a:lnTo>
                    <a:pt x="571" y="1000"/>
                  </a:lnTo>
                </a:path>
                <a:path w="1000" h="1000" fill="none">
                  <a:moveTo>
                    <a:pt x="595" y="0"/>
                  </a:moveTo>
                  <a:lnTo>
                    <a:pt x="595" y="1000"/>
                  </a:lnTo>
                </a:path>
                <a:path w="1000" h="1000" fill="none">
                  <a:moveTo>
                    <a:pt x="619" y="0"/>
                  </a:moveTo>
                  <a:lnTo>
                    <a:pt x="619" y="1000"/>
                  </a:lnTo>
                </a:path>
                <a:path w="1000" h="1000" fill="none">
                  <a:moveTo>
                    <a:pt x="642" y="0"/>
                  </a:moveTo>
                  <a:lnTo>
                    <a:pt x="642" y="1000"/>
                  </a:lnTo>
                </a:path>
                <a:path w="1000" h="1000" fill="none">
                  <a:moveTo>
                    <a:pt x="666" y="0"/>
                  </a:moveTo>
                  <a:lnTo>
                    <a:pt x="666" y="1000"/>
                  </a:lnTo>
                </a:path>
                <a:path w="1000" h="1000" fill="none">
                  <a:moveTo>
                    <a:pt x="690" y="0"/>
                  </a:moveTo>
                  <a:lnTo>
                    <a:pt x="690" y="1000"/>
                  </a:lnTo>
                </a:path>
                <a:path w="1000" h="1000" fill="none">
                  <a:moveTo>
                    <a:pt x="714" y="0"/>
                  </a:moveTo>
                  <a:lnTo>
                    <a:pt x="714" y="1000"/>
                  </a:lnTo>
                </a:path>
                <a:path w="1000" h="1000" fill="none">
                  <a:moveTo>
                    <a:pt x="738" y="0"/>
                  </a:moveTo>
                  <a:lnTo>
                    <a:pt x="738" y="1000"/>
                  </a:lnTo>
                </a:path>
                <a:path w="1000" h="1000" fill="none">
                  <a:moveTo>
                    <a:pt x="761" y="0"/>
                  </a:moveTo>
                  <a:lnTo>
                    <a:pt x="761" y="1000"/>
                  </a:lnTo>
                </a:path>
                <a:path w="1000" h="1000" fill="none">
                  <a:moveTo>
                    <a:pt x="785" y="0"/>
                  </a:moveTo>
                  <a:lnTo>
                    <a:pt x="785" y="1000"/>
                  </a:lnTo>
                </a:path>
                <a:path w="1000" h="1000" fill="none">
                  <a:moveTo>
                    <a:pt x="809" y="0"/>
                  </a:moveTo>
                  <a:lnTo>
                    <a:pt x="809" y="1000"/>
                  </a:lnTo>
                </a:path>
                <a:path w="1000" h="1000" fill="none">
                  <a:moveTo>
                    <a:pt x="833" y="0"/>
                  </a:moveTo>
                  <a:lnTo>
                    <a:pt x="833" y="1000"/>
                  </a:lnTo>
                </a:path>
                <a:path w="1000" h="1000" fill="none">
                  <a:moveTo>
                    <a:pt x="857" y="0"/>
                  </a:moveTo>
                  <a:lnTo>
                    <a:pt x="857" y="1000"/>
                  </a:lnTo>
                </a:path>
                <a:path w="1000" h="1000" fill="none">
                  <a:moveTo>
                    <a:pt x="880" y="0"/>
                  </a:moveTo>
                  <a:lnTo>
                    <a:pt x="880" y="1000"/>
                  </a:lnTo>
                </a:path>
                <a:path w="1000" h="1000" fill="none">
                  <a:moveTo>
                    <a:pt x="904" y="0"/>
                  </a:moveTo>
                  <a:lnTo>
                    <a:pt x="904" y="1000"/>
                  </a:lnTo>
                </a:path>
                <a:path w="1000" h="1000" fill="none">
                  <a:moveTo>
                    <a:pt x="928" y="0"/>
                  </a:moveTo>
                  <a:lnTo>
                    <a:pt x="928" y="1000"/>
                  </a:lnTo>
                </a:path>
                <a:path w="1000" h="1000" fill="none">
                  <a:moveTo>
                    <a:pt x="952" y="0"/>
                  </a:moveTo>
                  <a:lnTo>
                    <a:pt x="952" y="1000"/>
                  </a:lnTo>
                </a:path>
                <a:path w="1000" h="1000" fill="none">
                  <a:moveTo>
                    <a:pt x="976" y="0"/>
                  </a:moveTo>
                  <a:lnTo>
                    <a:pt x="976" y="1000"/>
                  </a:lnTo>
                </a:path>
                <a:path w="1000" h="1000" fill="none">
                  <a:moveTo>
                    <a:pt x="0" y="62"/>
                  </a:moveTo>
                  <a:lnTo>
                    <a:pt x="1000" y="62"/>
                  </a:lnTo>
                </a:path>
                <a:path w="1000" h="1000" fill="none">
                  <a:moveTo>
                    <a:pt x="0" y="125"/>
                  </a:moveTo>
                  <a:lnTo>
                    <a:pt x="1000" y="125"/>
                  </a:lnTo>
                </a:path>
                <a:path w="1000" h="1000" fill="none">
                  <a:moveTo>
                    <a:pt x="0" y="187"/>
                  </a:moveTo>
                  <a:lnTo>
                    <a:pt x="1000" y="187"/>
                  </a:lnTo>
                </a:path>
                <a:path w="1000" h="1000" fill="none">
                  <a:moveTo>
                    <a:pt x="0" y="250"/>
                  </a:moveTo>
                  <a:lnTo>
                    <a:pt x="1000" y="250"/>
                  </a:lnTo>
                </a:path>
                <a:path w="1000" h="1000" fill="none">
                  <a:moveTo>
                    <a:pt x="0" y="312"/>
                  </a:moveTo>
                  <a:lnTo>
                    <a:pt x="1000" y="312"/>
                  </a:lnTo>
                </a:path>
                <a:path w="1000" h="1000" fill="none">
                  <a:moveTo>
                    <a:pt x="0" y="375"/>
                  </a:moveTo>
                  <a:lnTo>
                    <a:pt x="1000" y="375"/>
                  </a:lnTo>
                </a:path>
                <a:path w="1000" h="1000" fill="none">
                  <a:moveTo>
                    <a:pt x="0" y="437"/>
                  </a:moveTo>
                  <a:lnTo>
                    <a:pt x="1000" y="437"/>
                  </a:lnTo>
                </a:path>
                <a:path w="1000" h="1000" fill="none">
                  <a:moveTo>
                    <a:pt x="0" y="500"/>
                  </a:moveTo>
                  <a:lnTo>
                    <a:pt x="1000" y="500"/>
                  </a:lnTo>
                </a:path>
                <a:path w="1000" h="1000" fill="none">
                  <a:moveTo>
                    <a:pt x="0" y="562"/>
                  </a:moveTo>
                  <a:lnTo>
                    <a:pt x="1000" y="562"/>
                  </a:lnTo>
                </a:path>
                <a:path w="1000" h="1000" fill="none">
                  <a:moveTo>
                    <a:pt x="0" y="625"/>
                  </a:moveTo>
                  <a:lnTo>
                    <a:pt x="1000" y="625"/>
                  </a:lnTo>
                </a:path>
                <a:path w="1000" h="1000" fill="none">
                  <a:moveTo>
                    <a:pt x="0" y="687"/>
                  </a:moveTo>
                  <a:lnTo>
                    <a:pt x="1000" y="687"/>
                  </a:lnTo>
                </a:path>
                <a:path w="1000" h="1000" fill="none">
                  <a:moveTo>
                    <a:pt x="0" y="750"/>
                  </a:moveTo>
                  <a:lnTo>
                    <a:pt x="1000" y="750"/>
                  </a:lnTo>
                </a:path>
                <a:path w="1000" h="1000" fill="none">
                  <a:moveTo>
                    <a:pt x="0" y="812"/>
                  </a:moveTo>
                  <a:lnTo>
                    <a:pt x="1000" y="812"/>
                  </a:lnTo>
                </a:path>
                <a:path w="1000" h="1000" fill="none">
                  <a:moveTo>
                    <a:pt x="0" y="875"/>
                  </a:moveTo>
                  <a:lnTo>
                    <a:pt x="1000" y="875"/>
                  </a:lnTo>
                </a:path>
                <a:path w="1000" h="1000" fill="none">
                  <a:moveTo>
                    <a:pt x="0" y="937"/>
                  </a:moveTo>
                  <a:lnTo>
                    <a:pt x="1000" y="937"/>
                  </a:lnTo>
                </a:path>
              </a:pathLst>
            </a:custGeom>
            <a:noFill/>
            <a:ln w="6350" cap="rnd">
              <a:solidFill>
                <a:srgbClr val="F5B7B1"/>
              </a:solidFill>
              <a:round/>
            </a:ln>
          </p:spPr>
        </p:sp>
      </p:grpSp>
      <p:sp>
        <p:nvSpPr>
          <p:cNvPr id="8" name="!!ECG trazado"/>
          <p:cNvSpPr/>
          <p:nvPr/>
        </p:nvSpPr>
        <p:spPr>
          <a:xfrm>
            <a:off x="365760" y="1280160"/>
            <a:ext cx="7680960" cy="2926080"/>
          </a:xfrm>
          <a:custGeom>
            <a:avLst/>
            <a:gdLst/>
            <a:ahLst/>
            <a:cxnLst/>
            <a:rect l="0" t="0" r="r" b="b"/>
            <a:pathLst>
              <a:path w="1000" h="600" fill="none">
                <a:moveTo>
                  <a:pt x="0" y="350"/>
                </a:moveTo>
                <a:lnTo>
                  <a:pt x="80" y="350"/>
                </a:lnTo>
                <a:cubicBezTo>
                  <a:pt x="100" y="300"/>
                  <a:pt x="160" y="300"/>
                  <a:pt x="180" y="350"/>
                </a:cubicBezTo>
                <a:lnTo>
                  <a:pt x="260" y="350"/>
                </a:lnTo>
                <a:lnTo>
                  <a:pt x="280" y="370"/>
                </a:lnTo>
                <a:lnTo>
                  <a:pt x="310" y="70"/>
                </a:lnTo>
                <a:lnTo>
                  <a:pt x="340" y="440"/>
                </a:lnTo>
                <a:lnTo>
                  <a:pt x="360" y="350"/>
                </a:lnTo>
                <a:cubicBezTo>
                  <a:pt x="420" y="350"/>
                  <a:pt x="460" y="260"/>
                  <a:pt x="520" y="260"/>
                </a:cubicBezTo>
                <a:cubicBezTo>
                  <a:pt x="580" y="260"/>
                  <a:pt x="600" y="350"/>
                  <a:pt x="640" y="350"/>
                </a:cubicBezTo>
                <a:lnTo>
                  <a:pt x="1000" y="350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</a:ln>
        </p:spPr>
      </p:sp>
      <p:sp>
        <p:nvSpPr>
          <p:cNvPr id="9" name="Marca P"/>
          <p:cNvSpPr/>
          <p:nvPr/>
        </p:nvSpPr>
        <p:spPr>
          <a:xfrm>
            <a:off x="1044245" y="2301240"/>
            <a:ext cx="731520" cy="335280"/>
          </a:xfrm>
          <a:prstGeom prst="rect">
            <a:avLst/>
          </a:prstGeom>
          <a:solidFill>
            <a:srgbClr val="F5B041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s-AR" sz="1600" dirty="0">
              <a:latin typeface="Calibri"/>
            </a:endParaRPr>
          </a:p>
        </p:txBody>
      </p:sp>
      <p:sp>
        <p:nvSpPr>
          <p:cNvPr id="10" name="Marca QRS"/>
          <p:cNvSpPr/>
          <p:nvPr/>
        </p:nvSpPr>
        <p:spPr>
          <a:xfrm>
            <a:off x="2426818" y="1158240"/>
            <a:ext cx="914400" cy="335280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QRS</a:t>
            </a:r>
            <a:endParaRPr lang="es-AR" sz="1600" dirty="0">
              <a:latin typeface="Calibri"/>
            </a:endParaRPr>
          </a:p>
        </p:txBody>
      </p:sp>
      <p:sp>
        <p:nvSpPr>
          <p:cNvPr id="11" name="Marca ST"/>
          <p:cNvSpPr/>
          <p:nvPr/>
        </p:nvSpPr>
        <p:spPr>
          <a:xfrm>
            <a:off x="3118104" y="2484120"/>
            <a:ext cx="731520" cy="335280"/>
          </a:xfrm>
          <a:prstGeom prst="rect">
            <a:avLst/>
          </a:prstGeom>
          <a:solidFill>
            <a:srgbClr val="4E7A3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endParaRPr lang="es-AR" sz="1600" dirty="0">
              <a:latin typeface="Calibri"/>
            </a:endParaRPr>
          </a:p>
        </p:txBody>
      </p:sp>
      <p:sp>
        <p:nvSpPr>
          <p:cNvPr id="12" name="Marca T"/>
          <p:cNvSpPr/>
          <p:nvPr/>
        </p:nvSpPr>
        <p:spPr>
          <a:xfrm>
            <a:off x="4039819" y="1935480"/>
            <a:ext cx="731520" cy="335280"/>
          </a:xfrm>
          <a:prstGeom prst="rect">
            <a:avLst/>
          </a:prstGeom>
          <a:solidFill>
            <a:srgbClr val="2E86C1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lang="es-AR" sz="1600" dirty="0">
              <a:latin typeface="Calibri"/>
            </a:endParaRPr>
          </a:p>
        </p:txBody>
      </p:sp>
      <p:sp>
        <p:nvSpPr>
          <p:cNvPr id="13" name="Intervalo QT"/>
          <p:cNvSpPr/>
          <p:nvPr/>
        </p:nvSpPr>
        <p:spPr>
          <a:xfrm>
            <a:off x="2362810" y="4343400"/>
            <a:ext cx="2765146" cy="9144"/>
          </a:xfrm>
          <a:custGeom>
            <a:avLst/>
            <a:gdLst/>
            <a:ahLst/>
            <a:cxnLst/>
            <a:rect l="0" t="0" r="r" b="b"/>
            <a:pathLst>
              <a:path w="3024" h="10" fill="none">
                <a:moveTo>
                  <a:pt x="0" y="0"/>
                </a:moveTo>
                <a:lnTo>
                  <a:pt x="3024" y="0"/>
                </a:lnTo>
              </a:path>
            </a:pathLst>
          </a:custGeom>
          <a:noFill/>
          <a:ln w="31750" cap="rnd">
            <a:solidFill>
              <a:srgbClr val="1F3864"/>
            </a:solidFill>
            <a:round/>
            <a:headEnd type="triangle" w="med" len="med"/>
            <a:tailEnd type="triangle" w="med" len="med"/>
          </a:ln>
        </p:spPr>
      </p:sp>
      <p:sp>
        <p:nvSpPr>
          <p:cNvPr id="14" name="Rótulo QT"/>
          <p:cNvSpPr/>
          <p:nvPr/>
        </p:nvSpPr>
        <p:spPr>
          <a:xfrm>
            <a:off x="3072384" y="4434840"/>
            <a:ext cx="731520" cy="314325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QT</a:t>
            </a:r>
            <a:endParaRPr lang="es-AR" sz="1500" dirty="0">
              <a:latin typeface="Calibri"/>
            </a:endParaRPr>
          </a:p>
        </p:txBody>
      </p:sp>
      <p:grpSp>
        <p:nvGrpSpPr>
          <p:cNvPr id="15" name="Tabla ECG fila 0"/>
          <p:cNvGrpSpPr/>
          <p:nvPr/>
        </p:nvGrpSpPr>
        <p:grpSpPr>
          <a:xfrm>
            <a:off x="8458200" y="1097280"/>
            <a:ext cx="3520440" cy="457200"/>
            <a:chOff x="8458200" y="1097280"/>
            <a:chExt cx="3520440" cy="457200"/>
          </a:xfrm>
        </p:grpSpPr>
        <p:sp>
          <p:nvSpPr>
            <p:cNvPr id="16" name="Forma 15"/>
            <p:cNvSpPr/>
            <p:nvPr/>
          </p:nvSpPr>
          <p:spPr>
            <a:xfrm>
              <a:off x="8458200" y="1097280"/>
              <a:ext cx="1508760" cy="4572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Onda / segmento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9966960" y="1097280"/>
              <a:ext cx="2011680" cy="4572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Significado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18" name="Tabla ECG fila 1"/>
          <p:cNvGrpSpPr/>
          <p:nvPr/>
        </p:nvGrpSpPr>
        <p:grpSpPr>
          <a:xfrm>
            <a:off x="8458200" y="1554480"/>
            <a:ext cx="3520440" cy="457200"/>
            <a:chOff x="8458200" y="1554480"/>
            <a:chExt cx="3520440" cy="457200"/>
          </a:xfrm>
        </p:grpSpPr>
        <p:sp>
          <p:nvSpPr>
            <p:cNvPr id="19" name="Forma 18"/>
            <p:cNvSpPr/>
            <p:nvPr/>
          </p:nvSpPr>
          <p:spPr>
            <a:xfrm>
              <a:off x="8458200" y="1554480"/>
              <a:ext cx="150876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Onda P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9966960" y="1554480"/>
              <a:ext cx="201168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Despolarización auricular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1" name="Tabla ECG fila 2"/>
          <p:cNvGrpSpPr/>
          <p:nvPr/>
        </p:nvGrpSpPr>
        <p:grpSpPr>
          <a:xfrm>
            <a:off x="8458200" y="2011680"/>
            <a:ext cx="3520440" cy="457200"/>
            <a:chOff x="8458200" y="2011680"/>
            <a:chExt cx="3520440" cy="457200"/>
          </a:xfrm>
        </p:grpSpPr>
        <p:sp>
          <p:nvSpPr>
            <p:cNvPr id="22" name="Forma 21"/>
            <p:cNvSpPr/>
            <p:nvPr/>
          </p:nvSpPr>
          <p:spPr>
            <a:xfrm>
              <a:off x="8458200" y="2011680"/>
              <a:ext cx="150876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Complejo QRS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9966960" y="2011680"/>
              <a:ext cx="201168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Despolarización ventricular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4" name="Tabla ECG fila 3"/>
          <p:cNvGrpSpPr/>
          <p:nvPr/>
        </p:nvGrpSpPr>
        <p:grpSpPr>
          <a:xfrm>
            <a:off x="8458200" y="2468880"/>
            <a:ext cx="3520440" cy="699516"/>
            <a:chOff x="8458200" y="2468880"/>
            <a:chExt cx="3520440" cy="699516"/>
          </a:xfrm>
        </p:grpSpPr>
        <p:sp>
          <p:nvSpPr>
            <p:cNvPr id="25" name="Forma 24"/>
            <p:cNvSpPr/>
            <p:nvPr/>
          </p:nvSpPr>
          <p:spPr>
            <a:xfrm>
              <a:off x="8458200" y="2468880"/>
              <a:ext cx="1508760" cy="69951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Segmento ST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9966960" y="2468880"/>
              <a:ext cx="2011680" cy="69951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Fin de la despolarización → inicio de la repolarización; normalmente </a:t>
              </a: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isoeléctrico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7" name="Tabla ECG fila 4"/>
          <p:cNvGrpSpPr/>
          <p:nvPr/>
        </p:nvGrpSpPr>
        <p:grpSpPr>
          <a:xfrm>
            <a:off x="8458200" y="3168396"/>
            <a:ext cx="3520440" cy="457200"/>
            <a:chOff x="8458200" y="3168396"/>
            <a:chExt cx="3520440" cy="457200"/>
          </a:xfrm>
        </p:grpSpPr>
        <p:sp>
          <p:nvSpPr>
            <p:cNvPr id="28" name="Forma 27"/>
            <p:cNvSpPr/>
            <p:nvPr/>
          </p:nvSpPr>
          <p:spPr>
            <a:xfrm>
              <a:off x="8458200" y="3168396"/>
              <a:ext cx="150876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Onda T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9966960" y="3168396"/>
              <a:ext cx="201168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Repolarización ventricular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30" name="Tabla ECG fila 5"/>
          <p:cNvGrpSpPr/>
          <p:nvPr/>
        </p:nvGrpSpPr>
        <p:grpSpPr>
          <a:xfrm>
            <a:off x="8458200" y="3625596"/>
            <a:ext cx="3520440" cy="699516"/>
            <a:chOff x="8458200" y="3625596"/>
            <a:chExt cx="3520440" cy="699516"/>
          </a:xfrm>
        </p:grpSpPr>
        <p:sp>
          <p:nvSpPr>
            <p:cNvPr id="31" name="Forma 30"/>
            <p:cNvSpPr/>
            <p:nvPr/>
          </p:nvSpPr>
          <p:spPr>
            <a:xfrm>
              <a:off x="8458200" y="3625596"/>
              <a:ext cx="1508760" cy="69951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Intervalo QT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9966960" y="3625596"/>
              <a:ext cx="2011680" cy="69951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Duración total de la actividad eléctrica ventricular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33" name="Rigor ECG"/>
          <p:cNvGrpSpPr/>
          <p:nvPr/>
        </p:nvGrpSpPr>
        <p:grpSpPr>
          <a:xfrm>
            <a:off x="8458200" y="4507992"/>
            <a:ext cx="3520440" cy="1847088"/>
            <a:chOff x="8458200" y="4507992"/>
            <a:chExt cx="3520440" cy="1847088"/>
          </a:xfrm>
        </p:grpSpPr>
        <p:sp>
          <p:nvSpPr>
            <p:cNvPr id="34" name="Forma 33"/>
            <p:cNvSpPr/>
            <p:nvPr/>
          </p:nvSpPr>
          <p:spPr>
            <a:xfrm>
              <a:off x="8458200" y="4709160"/>
              <a:ext cx="3520440" cy="1645920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ECG registra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actividad eléctrica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P y el QRS preceden a la contracción auricular y ventricular, no son la contracción.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8586216" y="4507992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ELECTROCARDIOGRAMA NORMAL: ONDAS, SEGMENTOS E INTERVALOS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189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1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Etapa ECG 1"/>
          <p:cNvGrpSpPr/>
          <p:nvPr/>
        </p:nvGrpSpPr>
        <p:grpSpPr>
          <a:xfrm>
            <a:off x="365760" y="1097280"/>
            <a:ext cx="3840480" cy="2651760"/>
            <a:chOff x="365760" y="1097280"/>
            <a:chExt cx="3840480" cy="2651760"/>
          </a:xfrm>
        </p:grpSpPr>
        <p:sp>
          <p:nvSpPr>
            <p:cNvPr id="6" name="Rótulo Minutos – horas"/>
            <p:cNvSpPr/>
            <p:nvPr/>
          </p:nvSpPr>
          <p:spPr>
            <a:xfrm>
              <a:off x="365760" y="1097280"/>
              <a:ext cx="3840480" cy="29337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Minutos – horas</a:t>
              </a:r>
              <a:endParaRPr lang="es-AR" sz="1400" dirty="0">
                <a:latin typeface="Calibri"/>
              </a:endParaRPr>
            </a:p>
          </p:txBody>
        </p:sp>
        <p:grpSp>
          <p:nvGrpSpPr>
            <p:cNvPr id="7" name="ECG etapa 1 papel"/>
            <p:cNvGrpSpPr/>
            <p:nvPr/>
          </p:nvGrpSpPr>
          <p:grpSpPr>
            <a:xfrm>
              <a:off x="365760" y="1554480"/>
              <a:ext cx="3840480" cy="1691640"/>
              <a:chOff x="365760" y="1554480"/>
              <a:chExt cx="3840480" cy="169164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365760" y="1554480"/>
                <a:ext cx="3840480" cy="1691640"/>
              </a:xfrm>
              <a:prstGeom prst="rect">
                <a:avLst/>
              </a:prstGeom>
              <a:solidFill>
                <a:srgbClr val="FFF5F5"/>
              </a:solidFill>
              <a:ln w="15875" cap="rnd">
                <a:solidFill>
                  <a:srgbClr val="E6B0AA"/>
                </a:solidFill>
                <a:round/>
              </a:ln>
            </p:spPr>
          </p:sp>
          <p:sp>
            <p:nvSpPr>
              <p:cNvPr id="9" name="Forma 8"/>
              <p:cNvSpPr/>
              <p:nvPr/>
            </p:nvSpPr>
            <p:spPr>
              <a:xfrm>
                <a:off x="365760" y="1554480"/>
                <a:ext cx="3840480" cy="1691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7" y="0"/>
                    </a:moveTo>
                    <a:lnTo>
                      <a:pt x="47" y="1000"/>
                    </a:lnTo>
                  </a:path>
                  <a:path w="1000" h="1000" fill="none">
                    <a:moveTo>
                      <a:pt x="95" y="0"/>
                    </a:moveTo>
                    <a:lnTo>
                      <a:pt x="95" y="1000"/>
                    </a:lnTo>
                  </a:path>
                  <a:path w="1000" h="1000" fill="none">
                    <a:moveTo>
                      <a:pt x="142" y="0"/>
                    </a:moveTo>
                    <a:lnTo>
                      <a:pt x="142" y="1000"/>
                    </a:lnTo>
                  </a:path>
                  <a:path w="1000" h="1000" fill="none">
                    <a:moveTo>
                      <a:pt x="190" y="0"/>
                    </a:moveTo>
                    <a:lnTo>
                      <a:pt x="190" y="1000"/>
                    </a:lnTo>
                  </a:path>
                  <a:path w="1000" h="1000" fill="none">
                    <a:moveTo>
                      <a:pt x="238" y="0"/>
                    </a:moveTo>
                    <a:lnTo>
                      <a:pt x="238" y="1000"/>
                    </a:lnTo>
                  </a:path>
                  <a:path w="1000" h="1000" fill="none">
                    <a:moveTo>
                      <a:pt x="285" y="0"/>
                    </a:moveTo>
                    <a:lnTo>
                      <a:pt x="285" y="1000"/>
                    </a:lnTo>
                  </a:path>
                  <a:path w="1000" h="1000" fill="none">
                    <a:moveTo>
                      <a:pt x="333" y="0"/>
                    </a:moveTo>
                    <a:lnTo>
                      <a:pt x="333" y="1000"/>
                    </a:lnTo>
                  </a:path>
                  <a:path w="1000" h="1000" fill="none">
                    <a:moveTo>
                      <a:pt x="380" y="0"/>
                    </a:moveTo>
                    <a:lnTo>
                      <a:pt x="380" y="1000"/>
                    </a:lnTo>
                  </a:path>
                  <a:path w="1000" h="1000" fill="none">
                    <a:moveTo>
                      <a:pt x="428" y="0"/>
                    </a:moveTo>
                    <a:lnTo>
                      <a:pt x="428" y="1000"/>
                    </a:lnTo>
                  </a:path>
                  <a:path w="1000" h="1000" fill="none">
                    <a:moveTo>
                      <a:pt x="476" y="0"/>
                    </a:moveTo>
                    <a:lnTo>
                      <a:pt x="476" y="1000"/>
                    </a:lnTo>
                  </a:path>
                  <a:path w="1000" h="1000" fill="none">
                    <a:moveTo>
                      <a:pt x="523" y="0"/>
                    </a:moveTo>
                    <a:lnTo>
                      <a:pt x="523" y="1000"/>
                    </a:lnTo>
                  </a:path>
                  <a:path w="1000" h="1000" fill="none">
                    <a:moveTo>
                      <a:pt x="571" y="0"/>
                    </a:moveTo>
                    <a:lnTo>
                      <a:pt x="571" y="1000"/>
                    </a:lnTo>
                  </a:path>
                  <a:path w="1000" h="1000" fill="none">
                    <a:moveTo>
                      <a:pt x="619" y="0"/>
                    </a:moveTo>
                    <a:lnTo>
                      <a:pt x="619" y="1000"/>
                    </a:lnTo>
                  </a:path>
                  <a:path w="1000" h="1000" fill="none">
                    <a:moveTo>
                      <a:pt x="666" y="0"/>
                    </a:moveTo>
                    <a:lnTo>
                      <a:pt x="666" y="1000"/>
                    </a:lnTo>
                  </a:path>
                  <a:path w="1000" h="1000" fill="none">
                    <a:moveTo>
                      <a:pt x="714" y="0"/>
                    </a:moveTo>
                    <a:lnTo>
                      <a:pt x="714" y="1000"/>
                    </a:lnTo>
                  </a:path>
                  <a:path w="1000" h="1000" fill="none">
                    <a:moveTo>
                      <a:pt x="761" y="0"/>
                    </a:moveTo>
                    <a:lnTo>
                      <a:pt x="761" y="1000"/>
                    </a:lnTo>
                  </a:path>
                  <a:path w="1000" h="1000" fill="none">
                    <a:moveTo>
                      <a:pt x="809" y="0"/>
                    </a:moveTo>
                    <a:lnTo>
                      <a:pt x="809" y="1000"/>
                    </a:lnTo>
                  </a:path>
                  <a:path w="1000" h="1000" fill="none">
                    <a:moveTo>
                      <a:pt x="857" y="0"/>
                    </a:moveTo>
                    <a:lnTo>
                      <a:pt x="857" y="1000"/>
                    </a:lnTo>
                  </a:path>
                  <a:path w="1000" h="1000" fill="none">
                    <a:moveTo>
                      <a:pt x="904" y="0"/>
                    </a:moveTo>
                    <a:lnTo>
                      <a:pt x="904" y="1000"/>
                    </a:lnTo>
                  </a:path>
                  <a:path w="1000" h="1000" fill="none">
                    <a:moveTo>
                      <a:pt x="952" y="0"/>
                    </a:moveTo>
                    <a:lnTo>
                      <a:pt x="952" y="1000"/>
                    </a:lnTo>
                  </a:path>
                  <a:path w="1000" h="1000" fill="none">
                    <a:moveTo>
                      <a:pt x="0" y="111"/>
                    </a:moveTo>
                    <a:lnTo>
                      <a:pt x="1000" y="111"/>
                    </a:lnTo>
                  </a:path>
                  <a:path w="1000" h="1000" fill="none">
                    <a:moveTo>
                      <a:pt x="0" y="222"/>
                    </a:moveTo>
                    <a:lnTo>
                      <a:pt x="1000" y="222"/>
                    </a:lnTo>
                  </a:path>
                  <a:path w="1000" h="1000" fill="none">
                    <a:moveTo>
                      <a:pt x="0" y="333"/>
                    </a:moveTo>
                    <a:lnTo>
                      <a:pt x="1000" y="333"/>
                    </a:lnTo>
                  </a:path>
                  <a:path w="1000" h="1000" fill="none">
                    <a:moveTo>
                      <a:pt x="0" y="444"/>
                    </a:moveTo>
                    <a:lnTo>
                      <a:pt x="1000" y="444"/>
                    </a:lnTo>
                  </a:path>
                  <a:path w="1000" h="1000" fill="none">
                    <a:moveTo>
                      <a:pt x="0" y="555"/>
                    </a:moveTo>
                    <a:lnTo>
                      <a:pt x="1000" y="555"/>
                    </a:lnTo>
                  </a:path>
                  <a:path w="1000" h="1000" fill="none">
                    <a:moveTo>
                      <a:pt x="0" y="666"/>
                    </a:moveTo>
                    <a:lnTo>
                      <a:pt x="1000" y="666"/>
                    </a:lnTo>
                  </a:path>
                  <a:path w="1000" h="1000" fill="none">
                    <a:moveTo>
                      <a:pt x="0" y="777"/>
                    </a:moveTo>
                    <a:lnTo>
                      <a:pt x="1000" y="777"/>
                    </a:lnTo>
                  </a:path>
                  <a:path w="1000" h="1000" fill="none">
                    <a:moveTo>
                      <a:pt x="0" y="888"/>
                    </a:moveTo>
                    <a:lnTo>
                      <a:pt x="1000" y="888"/>
                    </a:lnTo>
                  </a:path>
                </a:pathLst>
              </a:custGeom>
              <a:noFill/>
              <a:ln w="6350" cap="rnd">
                <a:solidFill>
                  <a:srgbClr val="F5B7B1"/>
                </a:solidFill>
                <a:round/>
              </a:ln>
            </p:spPr>
          </p:sp>
        </p:grpSp>
        <p:sp>
          <p:nvSpPr>
            <p:cNvPr id="10" name="ECG etapa 1 trazado"/>
            <p:cNvSpPr/>
            <p:nvPr/>
          </p:nvSpPr>
          <p:spPr>
            <a:xfrm>
              <a:off x="365760" y="1554480"/>
              <a:ext cx="3840480" cy="1691640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350"/>
                  </a:moveTo>
                  <a:lnTo>
                    <a:pt x="40" y="350"/>
                  </a:lnTo>
                  <a:cubicBezTo>
                    <a:pt x="50" y="300"/>
                    <a:pt x="80" y="300"/>
                    <a:pt x="90" y="350"/>
                  </a:cubicBezTo>
                  <a:lnTo>
                    <a:pt x="130" y="350"/>
                  </a:lnTo>
                  <a:lnTo>
                    <a:pt x="140" y="380"/>
                  </a:lnTo>
                  <a:lnTo>
                    <a:pt x="155" y="120"/>
                  </a:lnTo>
                  <a:lnTo>
                    <a:pt x="170" y="440"/>
                  </a:lnTo>
                  <a:lnTo>
                    <a:pt x="180" y="240"/>
                  </a:lnTo>
                  <a:cubicBezTo>
                    <a:pt x="210" y="240"/>
                    <a:pt x="230" y="180"/>
                    <a:pt x="260" y="180"/>
                  </a:cubicBezTo>
                  <a:cubicBezTo>
                    <a:pt x="290" y="180"/>
                    <a:pt x="300" y="350"/>
                    <a:pt x="320" y="350"/>
                  </a:cubicBezTo>
                  <a:lnTo>
                    <a:pt x="500" y="350"/>
                  </a:lnTo>
                  <a:lnTo>
                    <a:pt x="540" y="350"/>
                  </a:lnTo>
                  <a:cubicBezTo>
                    <a:pt x="550" y="300"/>
                    <a:pt x="580" y="300"/>
                    <a:pt x="590" y="350"/>
                  </a:cubicBezTo>
                  <a:lnTo>
                    <a:pt x="630" y="350"/>
                  </a:lnTo>
                  <a:lnTo>
                    <a:pt x="640" y="380"/>
                  </a:lnTo>
                  <a:lnTo>
                    <a:pt x="655" y="120"/>
                  </a:lnTo>
                  <a:lnTo>
                    <a:pt x="670" y="440"/>
                  </a:lnTo>
                  <a:lnTo>
                    <a:pt x="680" y="240"/>
                  </a:lnTo>
                  <a:cubicBezTo>
                    <a:pt x="710" y="240"/>
                    <a:pt x="730" y="180"/>
                    <a:pt x="760" y="180"/>
                  </a:cubicBezTo>
                  <a:cubicBezTo>
                    <a:pt x="790" y="180"/>
                    <a:pt x="800" y="350"/>
                    <a:pt x="820" y="350"/>
                  </a:cubicBezTo>
                  <a:lnTo>
                    <a:pt x="1000" y="35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11" name="Forma 10"/>
            <p:cNvSpPr txBox="1"/>
            <p:nvPr/>
          </p:nvSpPr>
          <p:spPr>
            <a:xfrm>
              <a:off x="365760" y="3291840"/>
              <a:ext cx="38404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Elevación del ST (corriente de lesión)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2" name="Etapa ECG 2"/>
          <p:cNvGrpSpPr/>
          <p:nvPr/>
        </p:nvGrpSpPr>
        <p:grpSpPr>
          <a:xfrm>
            <a:off x="4389120" y="1097280"/>
            <a:ext cx="3840480" cy="2651760"/>
            <a:chOff x="4389120" y="1097280"/>
            <a:chExt cx="3840480" cy="2651760"/>
          </a:xfrm>
        </p:grpSpPr>
        <p:sp>
          <p:nvSpPr>
            <p:cNvPr id="13" name="Rótulo Horas después"/>
            <p:cNvSpPr/>
            <p:nvPr/>
          </p:nvSpPr>
          <p:spPr>
            <a:xfrm>
              <a:off x="4389120" y="1097280"/>
              <a:ext cx="3840480" cy="29337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Horas después</a:t>
              </a:r>
              <a:endParaRPr lang="es-AR" sz="1400" dirty="0">
                <a:latin typeface="Calibri"/>
              </a:endParaRPr>
            </a:p>
          </p:txBody>
        </p:sp>
        <p:grpSp>
          <p:nvGrpSpPr>
            <p:cNvPr id="14" name="ECG etapa 2 papel"/>
            <p:cNvGrpSpPr/>
            <p:nvPr/>
          </p:nvGrpSpPr>
          <p:grpSpPr>
            <a:xfrm>
              <a:off x="4389120" y="1554480"/>
              <a:ext cx="3840480" cy="1691640"/>
              <a:chOff x="4389120" y="1554480"/>
              <a:chExt cx="3840480" cy="1691640"/>
            </a:xfrm>
          </p:grpSpPr>
          <p:sp>
            <p:nvSpPr>
              <p:cNvPr id="15" name="Forma 14"/>
              <p:cNvSpPr/>
              <p:nvPr/>
            </p:nvSpPr>
            <p:spPr>
              <a:xfrm>
                <a:off x="4389120" y="1554480"/>
                <a:ext cx="3840480" cy="1691640"/>
              </a:xfrm>
              <a:prstGeom prst="rect">
                <a:avLst/>
              </a:prstGeom>
              <a:solidFill>
                <a:srgbClr val="FFF5F5"/>
              </a:solidFill>
              <a:ln w="15875" cap="rnd">
                <a:solidFill>
                  <a:srgbClr val="E6B0AA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4389120" y="1554480"/>
                <a:ext cx="3840480" cy="1691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7" y="0"/>
                    </a:moveTo>
                    <a:lnTo>
                      <a:pt x="47" y="1000"/>
                    </a:lnTo>
                  </a:path>
                  <a:path w="1000" h="1000" fill="none">
                    <a:moveTo>
                      <a:pt x="95" y="0"/>
                    </a:moveTo>
                    <a:lnTo>
                      <a:pt x="95" y="1000"/>
                    </a:lnTo>
                  </a:path>
                  <a:path w="1000" h="1000" fill="none">
                    <a:moveTo>
                      <a:pt x="142" y="0"/>
                    </a:moveTo>
                    <a:lnTo>
                      <a:pt x="142" y="1000"/>
                    </a:lnTo>
                  </a:path>
                  <a:path w="1000" h="1000" fill="none">
                    <a:moveTo>
                      <a:pt x="190" y="0"/>
                    </a:moveTo>
                    <a:lnTo>
                      <a:pt x="190" y="1000"/>
                    </a:lnTo>
                  </a:path>
                  <a:path w="1000" h="1000" fill="none">
                    <a:moveTo>
                      <a:pt x="238" y="0"/>
                    </a:moveTo>
                    <a:lnTo>
                      <a:pt x="238" y="1000"/>
                    </a:lnTo>
                  </a:path>
                  <a:path w="1000" h="1000" fill="none">
                    <a:moveTo>
                      <a:pt x="285" y="0"/>
                    </a:moveTo>
                    <a:lnTo>
                      <a:pt x="285" y="1000"/>
                    </a:lnTo>
                  </a:path>
                  <a:path w="1000" h="1000" fill="none">
                    <a:moveTo>
                      <a:pt x="333" y="0"/>
                    </a:moveTo>
                    <a:lnTo>
                      <a:pt x="333" y="1000"/>
                    </a:lnTo>
                  </a:path>
                  <a:path w="1000" h="1000" fill="none">
                    <a:moveTo>
                      <a:pt x="380" y="0"/>
                    </a:moveTo>
                    <a:lnTo>
                      <a:pt x="380" y="1000"/>
                    </a:lnTo>
                  </a:path>
                  <a:path w="1000" h="1000" fill="none">
                    <a:moveTo>
                      <a:pt x="428" y="0"/>
                    </a:moveTo>
                    <a:lnTo>
                      <a:pt x="428" y="1000"/>
                    </a:lnTo>
                  </a:path>
                  <a:path w="1000" h="1000" fill="none">
                    <a:moveTo>
                      <a:pt x="476" y="0"/>
                    </a:moveTo>
                    <a:lnTo>
                      <a:pt x="476" y="1000"/>
                    </a:lnTo>
                  </a:path>
                  <a:path w="1000" h="1000" fill="none">
                    <a:moveTo>
                      <a:pt x="523" y="0"/>
                    </a:moveTo>
                    <a:lnTo>
                      <a:pt x="523" y="1000"/>
                    </a:lnTo>
                  </a:path>
                  <a:path w="1000" h="1000" fill="none">
                    <a:moveTo>
                      <a:pt x="571" y="0"/>
                    </a:moveTo>
                    <a:lnTo>
                      <a:pt x="571" y="1000"/>
                    </a:lnTo>
                  </a:path>
                  <a:path w="1000" h="1000" fill="none">
                    <a:moveTo>
                      <a:pt x="619" y="0"/>
                    </a:moveTo>
                    <a:lnTo>
                      <a:pt x="619" y="1000"/>
                    </a:lnTo>
                  </a:path>
                  <a:path w="1000" h="1000" fill="none">
                    <a:moveTo>
                      <a:pt x="666" y="0"/>
                    </a:moveTo>
                    <a:lnTo>
                      <a:pt x="666" y="1000"/>
                    </a:lnTo>
                  </a:path>
                  <a:path w="1000" h="1000" fill="none">
                    <a:moveTo>
                      <a:pt x="714" y="0"/>
                    </a:moveTo>
                    <a:lnTo>
                      <a:pt x="714" y="1000"/>
                    </a:lnTo>
                  </a:path>
                  <a:path w="1000" h="1000" fill="none">
                    <a:moveTo>
                      <a:pt x="761" y="0"/>
                    </a:moveTo>
                    <a:lnTo>
                      <a:pt x="761" y="1000"/>
                    </a:lnTo>
                  </a:path>
                  <a:path w="1000" h="1000" fill="none">
                    <a:moveTo>
                      <a:pt x="809" y="0"/>
                    </a:moveTo>
                    <a:lnTo>
                      <a:pt x="809" y="1000"/>
                    </a:lnTo>
                  </a:path>
                  <a:path w="1000" h="1000" fill="none">
                    <a:moveTo>
                      <a:pt x="857" y="0"/>
                    </a:moveTo>
                    <a:lnTo>
                      <a:pt x="857" y="1000"/>
                    </a:lnTo>
                  </a:path>
                  <a:path w="1000" h="1000" fill="none">
                    <a:moveTo>
                      <a:pt x="904" y="0"/>
                    </a:moveTo>
                    <a:lnTo>
                      <a:pt x="904" y="1000"/>
                    </a:lnTo>
                  </a:path>
                  <a:path w="1000" h="1000" fill="none">
                    <a:moveTo>
                      <a:pt x="952" y="0"/>
                    </a:moveTo>
                    <a:lnTo>
                      <a:pt x="952" y="1000"/>
                    </a:lnTo>
                  </a:path>
                  <a:path w="1000" h="1000" fill="none">
                    <a:moveTo>
                      <a:pt x="0" y="111"/>
                    </a:moveTo>
                    <a:lnTo>
                      <a:pt x="1000" y="111"/>
                    </a:lnTo>
                  </a:path>
                  <a:path w="1000" h="1000" fill="none">
                    <a:moveTo>
                      <a:pt x="0" y="222"/>
                    </a:moveTo>
                    <a:lnTo>
                      <a:pt x="1000" y="222"/>
                    </a:lnTo>
                  </a:path>
                  <a:path w="1000" h="1000" fill="none">
                    <a:moveTo>
                      <a:pt x="0" y="333"/>
                    </a:moveTo>
                    <a:lnTo>
                      <a:pt x="1000" y="333"/>
                    </a:lnTo>
                  </a:path>
                  <a:path w="1000" h="1000" fill="none">
                    <a:moveTo>
                      <a:pt x="0" y="444"/>
                    </a:moveTo>
                    <a:lnTo>
                      <a:pt x="1000" y="444"/>
                    </a:lnTo>
                  </a:path>
                  <a:path w="1000" h="1000" fill="none">
                    <a:moveTo>
                      <a:pt x="0" y="555"/>
                    </a:moveTo>
                    <a:lnTo>
                      <a:pt x="1000" y="555"/>
                    </a:lnTo>
                  </a:path>
                  <a:path w="1000" h="1000" fill="none">
                    <a:moveTo>
                      <a:pt x="0" y="666"/>
                    </a:moveTo>
                    <a:lnTo>
                      <a:pt x="1000" y="666"/>
                    </a:lnTo>
                  </a:path>
                  <a:path w="1000" h="1000" fill="none">
                    <a:moveTo>
                      <a:pt x="0" y="777"/>
                    </a:moveTo>
                    <a:lnTo>
                      <a:pt x="1000" y="777"/>
                    </a:lnTo>
                  </a:path>
                  <a:path w="1000" h="1000" fill="none">
                    <a:moveTo>
                      <a:pt x="0" y="888"/>
                    </a:moveTo>
                    <a:lnTo>
                      <a:pt x="1000" y="888"/>
                    </a:lnTo>
                  </a:path>
                </a:pathLst>
              </a:custGeom>
              <a:noFill/>
              <a:ln w="6350" cap="rnd">
                <a:solidFill>
                  <a:srgbClr val="F5B7B1"/>
                </a:solidFill>
                <a:round/>
              </a:ln>
            </p:spPr>
          </p:sp>
        </p:grpSp>
        <p:sp>
          <p:nvSpPr>
            <p:cNvPr id="17" name="ECG etapa 2 trazado"/>
            <p:cNvSpPr/>
            <p:nvPr/>
          </p:nvSpPr>
          <p:spPr>
            <a:xfrm>
              <a:off x="4389120" y="1554480"/>
              <a:ext cx="3840480" cy="1691640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350"/>
                  </a:moveTo>
                  <a:lnTo>
                    <a:pt x="40" y="350"/>
                  </a:lnTo>
                  <a:cubicBezTo>
                    <a:pt x="50" y="300"/>
                    <a:pt x="80" y="300"/>
                    <a:pt x="90" y="350"/>
                  </a:cubicBezTo>
                  <a:lnTo>
                    <a:pt x="130" y="350"/>
                  </a:lnTo>
                  <a:lnTo>
                    <a:pt x="140" y="500"/>
                  </a:lnTo>
                  <a:lnTo>
                    <a:pt x="155" y="230"/>
                  </a:lnTo>
                  <a:lnTo>
                    <a:pt x="170" y="440"/>
                  </a:lnTo>
                  <a:lnTo>
                    <a:pt x="180" y="310"/>
                  </a:lnTo>
                  <a:cubicBezTo>
                    <a:pt x="210" y="310"/>
                    <a:pt x="230" y="430"/>
                    <a:pt x="260" y="430"/>
                  </a:cubicBezTo>
                  <a:cubicBezTo>
                    <a:pt x="290" y="430"/>
                    <a:pt x="300" y="350"/>
                    <a:pt x="320" y="350"/>
                  </a:cubicBezTo>
                  <a:lnTo>
                    <a:pt x="500" y="350"/>
                  </a:lnTo>
                  <a:lnTo>
                    <a:pt x="540" y="350"/>
                  </a:lnTo>
                  <a:cubicBezTo>
                    <a:pt x="550" y="300"/>
                    <a:pt x="580" y="300"/>
                    <a:pt x="590" y="350"/>
                  </a:cubicBezTo>
                  <a:lnTo>
                    <a:pt x="630" y="350"/>
                  </a:lnTo>
                  <a:lnTo>
                    <a:pt x="640" y="500"/>
                  </a:lnTo>
                  <a:lnTo>
                    <a:pt x="655" y="230"/>
                  </a:lnTo>
                  <a:lnTo>
                    <a:pt x="670" y="440"/>
                  </a:lnTo>
                  <a:lnTo>
                    <a:pt x="680" y="310"/>
                  </a:lnTo>
                  <a:cubicBezTo>
                    <a:pt x="710" y="310"/>
                    <a:pt x="730" y="430"/>
                    <a:pt x="760" y="430"/>
                  </a:cubicBezTo>
                  <a:cubicBezTo>
                    <a:pt x="790" y="430"/>
                    <a:pt x="800" y="350"/>
                    <a:pt x="820" y="350"/>
                  </a:cubicBezTo>
                  <a:lnTo>
                    <a:pt x="1000" y="35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18" name="Forma 17"/>
            <p:cNvSpPr txBox="1"/>
            <p:nvPr/>
          </p:nvSpPr>
          <p:spPr>
            <a:xfrm>
              <a:off x="4389120" y="3291840"/>
              <a:ext cx="38404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Disminuye R, aparece Q profunda, T invertida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9" name="Etapa ECG 3"/>
          <p:cNvGrpSpPr/>
          <p:nvPr/>
        </p:nvGrpSpPr>
        <p:grpSpPr>
          <a:xfrm>
            <a:off x="365760" y="3794760"/>
            <a:ext cx="3840480" cy="2651760"/>
            <a:chOff x="365760" y="3794760"/>
            <a:chExt cx="3840480" cy="2651760"/>
          </a:xfrm>
        </p:grpSpPr>
        <p:sp>
          <p:nvSpPr>
            <p:cNvPr id="20" name="Rótulo Días – semanas"/>
            <p:cNvSpPr/>
            <p:nvPr/>
          </p:nvSpPr>
          <p:spPr>
            <a:xfrm>
              <a:off x="365760" y="3794760"/>
              <a:ext cx="3840480" cy="29337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Días – semanas</a:t>
              </a:r>
              <a:endParaRPr lang="es-AR" sz="1400" dirty="0">
                <a:latin typeface="Calibri"/>
              </a:endParaRPr>
            </a:p>
          </p:txBody>
        </p:sp>
        <p:grpSp>
          <p:nvGrpSpPr>
            <p:cNvPr id="21" name="ECG etapa 3 papel"/>
            <p:cNvGrpSpPr/>
            <p:nvPr/>
          </p:nvGrpSpPr>
          <p:grpSpPr>
            <a:xfrm>
              <a:off x="365760" y="4251960"/>
              <a:ext cx="3840480" cy="1691640"/>
              <a:chOff x="365760" y="4251960"/>
              <a:chExt cx="3840480" cy="1691640"/>
            </a:xfrm>
          </p:grpSpPr>
          <p:sp>
            <p:nvSpPr>
              <p:cNvPr id="22" name="Forma 21"/>
              <p:cNvSpPr/>
              <p:nvPr/>
            </p:nvSpPr>
            <p:spPr>
              <a:xfrm>
                <a:off x="365760" y="4251960"/>
                <a:ext cx="3840480" cy="1691640"/>
              </a:xfrm>
              <a:prstGeom prst="rect">
                <a:avLst/>
              </a:prstGeom>
              <a:solidFill>
                <a:srgbClr val="FFF5F5"/>
              </a:solidFill>
              <a:ln w="15875" cap="rnd">
                <a:solidFill>
                  <a:srgbClr val="E6B0AA"/>
                </a:solidFill>
                <a:round/>
              </a:ln>
            </p:spPr>
          </p:sp>
          <p:sp>
            <p:nvSpPr>
              <p:cNvPr id="23" name="Forma 22"/>
              <p:cNvSpPr/>
              <p:nvPr/>
            </p:nvSpPr>
            <p:spPr>
              <a:xfrm>
                <a:off x="365760" y="4251960"/>
                <a:ext cx="3840480" cy="1691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7" y="0"/>
                    </a:moveTo>
                    <a:lnTo>
                      <a:pt x="47" y="1000"/>
                    </a:lnTo>
                  </a:path>
                  <a:path w="1000" h="1000" fill="none">
                    <a:moveTo>
                      <a:pt x="95" y="0"/>
                    </a:moveTo>
                    <a:lnTo>
                      <a:pt x="95" y="1000"/>
                    </a:lnTo>
                  </a:path>
                  <a:path w="1000" h="1000" fill="none">
                    <a:moveTo>
                      <a:pt x="142" y="0"/>
                    </a:moveTo>
                    <a:lnTo>
                      <a:pt x="142" y="1000"/>
                    </a:lnTo>
                  </a:path>
                  <a:path w="1000" h="1000" fill="none">
                    <a:moveTo>
                      <a:pt x="190" y="0"/>
                    </a:moveTo>
                    <a:lnTo>
                      <a:pt x="190" y="1000"/>
                    </a:lnTo>
                  </a:path>
                  <a:path w="1000" h="1000" fill="none">
                    <a:moveTo>
                      <a:pt x="238" y="0"/>
                    </a:moveTo>
                    <a:lnTo>
                      <a:pt x="238" y="1000"/>
                    </a:lnTo>
                  </a:path>
                  <a:path w="1000" h="1000" fill="none">
                    <a:moveTo>
                      <a:pt x="285" y="0"/>
                    </a:moveTo>
                    <a:lnTo>
                      <a:pt x="285" y="1000"/>
                    </a:lnTo>
                  </a:path>
                  <a:path w="1000" h="1000" fill="none">
                    <a:moveTo>
                      <a:pt x="333" y="0"/>
                    </a:moveTo>
                    <a:lnTo>
                      <a:pt x="333" y="1000"/>
                    </a:lnTo>
                  </a:path>
                  <a:path w="1000" h="1000" fill="none">
                    <a:moveTo>
                      <a:pt x="380" y="0"/>
                    </a:moveTo>
                    <a:lnTo>
                      <a:pt x="380" y="1000"/>
                    </a:lnTo>
                  </a:path>
                  <a:path w="1000" h="1000" fill="none">
                    <a:moveTo>
                      <a:pt x="428" y="0"/>
                    </a:moveTo>
                    <a:lnTo>
                      <a:pt x="428" y="1000"/>
                    </a:lnTo>
                  </a:path>
                  <a:path w="1000" h="1000" fill="none">
                    <a:moveTo>
                      <a:pt x="476" y="0"/>
                    </a:moveTo>
                    <a:lnTo>
                      <a:pt x="476" y="1000"/>
                    </a:lnTo>
                  </a:path>
                  <a:path w="1000" h="1000" fill="none">
                    <a:moveTo>
                      <a:pt x="523" y="0"/>
                    </a:moveTo>
                    <a:lnTo>
                      <a:pt x="523" y="1000"/>
                    </a:lnTo>
                  </a:path>
                  <a:path w="1000" h="1000" fill="none">
                    <a:moveTo>
                      <a:pt x="571" y="0"/>
                    </a:moveTo>
                    <a:lnTo>
                      <a:pt x="571" y="1000"/>
                    </a:lnTo>
                  </a:path>
                  <a:path w="1000" h="1000" fill="none">
                    <a:moveTo>
                      <a:pt x="619" y="0"/>
                    </a:moveTo>
                    <a:lnTo>
                      <a:pt x="619" y="1000"/>
                    </a:lnTo>
                  </a:path>
                  <a:path w="1000" h="1000" fill="none">
                    <a:moveTo>
                      <a:pt x="666" y="0"/>
                    </a:moveTo>
                    <a:lnTo>
                      <a:pt x="666" y="1000"/>
                    </a:lnTo>
                  </a:path>
                  <a:path w="1000" h="1000" fill="none">
                    <a:moveTo>
                      <a:pt x="714" y="0"/>
                    </a:moveTo>
                    <a:lnTo>
                      <a:pt x="714" y="1000"/>
                    </a:lnTo>
                  </a:path>
                  <a:path w="1000" h="1000" fill="none">
                    <a:moveTo>
                      <a:pt x="761" y="0"/>
                    </a:moveTo>
                    <a:lnTo>
                      <a:pt x="761" y="1000"/>
                    </a:lnTo>
                  </a:path>
                  <a:path w="1000" h="1000" fill="none">
                    <a:moveTo>
                      <a:pt x="809" y="0"/>
                    </a:moveTo>
                    <a:lnTo>
                      <a:pt x="809" y="1000"/>
                    </a:lnTo>
                  </a:path>
                  <a:path w="1000" h="1000" fill="none">
                    <a:moveTo>
                      <a:pt x="857" y="0"/>
                    </a:moveTo>
                    <a:lnTo>
                      <a:pt x="857" y="1000"/>
                    </a:lnTo>
                  </a:path>
                  <a:path w="1000" h="1000" fill="none">
                    <a:moveTo>
                      <a:pt x="904" y="0"/>
                    </a:moveTo>
                    <a:lnTo>
                      <a:pt x="904" y="1000"/>
                    </a:lnTo>
                  </a:path>
                  <a:path w="1000" h="1000" fill="none">
                    <a:moveTo>
                      <a:pt x="952" y="0"/>
                    </a:moveTo>
                    <a:lnTo>
                      <a:pt x="952" y="1000"/>
                    </a:lnTo>
                  </a:path>
                  <a:path w="1000" h="1000" fill="none">
                    <a:moveTo>
                      <a:pt x="0" y="111"/>
                    </a:moveTo>
                    <a:lnTo>
                      <a:pt x="1000" y="111"/>
                    </a:lnTo>
                  </a:path>
                  <a:path w="1000" h="1000" fill="none">
                    <a:moveTo>
                      <a:pt x="0" y="222"/>
                    </a:moveTo>
                    <a:lnTo>
                      <a:pt x="1000" y="222"/>
                    </a:lnTo>
                  </a:path>
                  <a:path w="1000" h="1000" fill="none">
                    <a:moveTo>
                      <a:pt x="0" y="333"/>
                    </a:moveTo>
                    <a:lnTo>
                      <a:pt x="1000" y="333"/>
                    </a:lnTo>
                  </a:path>
                  <a:path w="1000" h="1000" fill="none">
                    <a:moveTo>
                      <a:pt x="0" y="444"/>
                    </a:moveTo>
                    <a:lnTo>
                      <a:pt x="1000" y="444"/>
                    </a:lnTo>
                  </a:path>
                  <a:path w="1000" h="1000" fill="none">
                    <a:moveTo>
                      <a:pt x="0" y="555"/>
                    </a:moveTo>
                    <a:lnTo>
                      <a:pt x="1000" y="555"/>
                    </a:lnTo>
                  </a:path>
                  <a:path w="1000" h="1000" fill="none">
                    <a:moveTo>
                      <a:pt x="0" y="666"/>
                    </a:moveTo>
                    <a:lnTo>
                      <a:pt x="1000" y="666"/>
                    </a:lnTo>
                  </a:path>
                  <a:path w="1000" h="1000" fill="none">
                    <a:moveTo>
                      <a:pt x="0" y="777"/>
                    </a:moveTo>
                    <a:lnTo>
                      <a:pt x="1000" y="777"/>
                    </a:lnTo>
                  </a:path>
                  <a:path w="1000" h="1000" fill="none">
                    <a:moveTo>
                      <a:pt x="0" y="888"/>
                    </a:moveTo>
                    <a:lnTo>
                      <a:pt x="1000" y="888"/>
                    </a:lnTo>
                  </a:path>
                </a:pathLst>
              </a:custGeom>
              <a:noFill/>
              <a:ln w="6350" cap="rnd">
                <a:solidFill>
                  <a:srgbClr val="F5B7B1"/>
                </a:solidFill>
                <a:round/>
              </a:ln>
            </p:spPr>
          </p:sp>
        </p:grpSp>
        <p:sp>
          <p:nvSpPr>
            <p:cNvPr id="24" name="ECG etapa 3 trazado"/>
            <p:cNvSpPr/>
            <p:nvPr/>
          </p:nvSpPr>
          <p:spPr>
            <a:xfrm>
              <a:off x="365760" y="4251960"/>
              <a:ext cx="3840480" cy="1691640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350"/>
                  </a:moveTo>
                  <a:lnTo>
                    <a:pt x="40" y="350"/>
                  </a:lnTo>
                  <a:cubicBezTo>
                    <a:pt x="50" y="300"/>
                    <a:pt x="80" y="300"/>
                    <a:pt x="90" y="350"/>
                  </a:cubicBezTo>
                  <a:lnTo>
                    <a:pt x="130" y="350"/>
                  </a:lnTo>
                  <a:lnTo>
                    <a:pt x="140" y="370"/>
                  </a:lnTo>
                  <a:lnTo>
                    <a:pt x="155" y="70"/>
                  </a:lnTo>
                  <a:lnTo>
                    <a:pt x="170" y="440"/>
                  </a:lnTo>
                  <a:lnTo>
                    <a:pt x="180" y="350"/>
                  </a:lnTo>
                  <a:cubicBezTo>
                    <a:pt x="210" y="350"/>
                    <a:pt x="230" y="260"/>
                    <a:pt x="260" y="260"/>
                  </a:cubicBezTo>
                  <a:cubicBezTo>
                    <a:pt x="290" y="260"/>
                    <a:pt x="300" y="350"/>
                    <a:pt x="320" y="350"/>
                  </a:cubicBezTo>
                  <a:lnTo>
                    <a:pt x="500" y="350"/>
                  </a:lnTo>
                  <a:lnTo>
                    <a:pt x="540" y="350"/>
                  </a:lnTo>
                  <a:cubicBezTo>
                    <a:pt x="550" y="300"/>
                    <a:pt x="580" y="300"/>
                    <a:pt x="590" y="350"/>
                  </a:cubicBezTo>
                  <a:lnTo>
                    <a:pt x="630" y="350"/>
                  </a:lnTo>
                  <a:lnTo>
                    <a:pt x="640" y="370"/>
                  </a:lnTo>
                  <a:lnTo>
                    <a:pt x="655" y="70"/>
                  </a:lnTo>
                  <a:lnTo>
                    <a:pt x="670" y="440"/>
                  </a:lnTo>
                  <a:lnTo>
                    <a:pt x="680" y="350"/>
                  </a:lnTo>
                  <a:cubicBezTo>
                    <a:pt x="710" y="350"/>
                    <a:pt x="730" y="260"/>
                    <a:pt x="760" y="260"/>
                  </a:cubicBezTo>
                  <a:cubicBezTo>
                    <a:pt x="790" y="260"/>
                    <a:pt x="800" y="350"/>
                    <a:pt x="820" y="350"/>
                  </a:cubicBezTo>
                  <a:lnTo>
                    <a:pt x="1000" y="35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25" name="Forma 24"/>
            <p:cNvSpPr txBox="1"/>
            <p:nvPr/>
          </p:nvSpPr>
          <p:spPr>
            <a:xfrm>
              <a:off x="365760" y="5989320"/>
              <a:ext cx="38404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ST se normaliza; la T puede normalizarse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6" name="Etapa ECG 4"/>
          <p:cNvGrpSpPr/>
          <p:nvPr/>
        </p:nvGrpSpPr>
        <p:grpSpPr>
          <a:xfrm>
            <a:off x="4389120" y="3794760"/>
            <a:ext cx="3840480" cy="2651760"/>
            <a:chOff x="4389120" y="3794760"/>
            <a:chExt cx="3840480" cy="2651760"/>
          </a:xfrm>
        </p:grpSpPr>
        <p:sp>
          <p:nvSpPr>
            <p:cNvPr id="27" name="Rótulo Semanas – permanente"/>
            <p:cNvSpPr/>
            <p:nvPr/>
          </p:nvSpPr>
          <p:spPr>
            <a:xfrm>
              <a:off x="4389120" y="3794760"/>
              <a:ext cx="3840480" cy="29337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Semanas – permanente</a:t>
              </a:r>
              <a:endParaRPr lang="es-AR" sz="1400" dirty="0">
                <a:latin typeface="Calibri"/>
              </a:endParaRPr>
            </a:p>
          </p:txBody>
        </p:sp>
        <p:grpSp>
          <p:nvGrpSpPr>
            <p:cNvPr id="28" name="ECG etapa 4 papel"/>
            <p:cNvGrpSpPr/>
            <p:nvPr/>
          </p:nvGrpSpPr>
          <p:grpSpPr>
            <a:xfrm>
              <a:off x="4389120" y="4251960"/>
              <a:ext cx="3840480" cy="1691640"/>
              <a:chOff x="4389120" y="4251960"/>
              <a:chExt cx="3840480" cy="1691640"/>
            </a:xfrm>
          </p:grpSpPr>
          <p:sp>
            <p:nvSpPr>
              <p:cNvPr id="29" name="Forma 28"/>
              <p:cNvSpPr/>
              <p:nvPr/>
            </p:nvSpPr>
            <p:spPr>
              <a:xfrm>
                <a:off x="4389120" y="4251960"/>
                <a:ext cx="3840480" cy="1691640"/>
              </a:xfrm>
              <a:prstGeom prst="rect">
                <a:avLst/>
              </a:prstGeom>
              <a:solidFill>
                <a:srgbClr val="FFF5F5"/>
              </a:solidFill>
              <a:ln w="15875" cap="rnd">
                <a:solidFill>
                  <a:srgbClr val="E6B0AA"/>
                </a:solidFill>
                <a:round/>
              </a:ln>
            </p:spPr>
          </p:sp>
          <p:sp>
            <p:nvSpPr>
              <p:cNvPr id="30" name="Forma 29"/>
              <p:cNvSpPr/>
              <p:nvPr/>
            </p:nvSpPr>
            <p:spPr>
              <a:xfrm>
                <a:off x="4389120" y="4251960"/>
                <a:ext cx="3840480" cy="169164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7" y="0"/>
                    </a:moveTo>
                    <a:lnTo>
                      <a:pt x="47" y="1000"/>
                    </a:lnTo>
                  </a:path>
                  <a:path w="1000" h="1000" fill="none">
                    <a:moveTo>
                      <a:pt x="95" y="0"/>
                    </a:moveTo>
                    <a:lnTo>
                      <a:pt x="95" y="1000"/>
                    </a:lnTo>
                  </a:path>
                  <a:path w="1000" h="1000" fill="none">
                    <a:moveTo>
                      <a:pt x="142" y="0"/>
                    </a:moveTo>
                    <a:lnTo>
                      <a:pt x="142" y="1000"/>
                    </a:lnTo>
                  </a:path>
                  <a:path w="1000" h="1000" fill="none">
                    <a:moveTo>
                      <a:pt x="190" y="0"/>
                    </a:moveTo>
                    <a:lnTo>
                      <a:pt x="190" y="1000"/>
                    </a:lnTo>
                  </a:path>
                  <a:path w="1000" h="1000" fill="none">
                    <a:moveTo>
                      <a:pt x="238" y="0"/>
                    </a:moveTo>
                    <a:lnTo>
                      <a:pt x="238" y="1000"/>
                    </a:lnTo>
                  </a:path>
                  <a:path w="1000" h="1000" fill="none">
                    <a:moveTo>
                      <a:pt x="285" y="0"/>
                    </a:moveTo>
                    <a:lnTo>
                      <a:pt x="285" y="1000"/>
                    </a:lnTo>
                  </a:path>
                  <a:path w="1000" h="1000" fill="none">
                    <a:moveTo>
                      <a:pt x="333" y="0"/>
                    </a:moveTo>
                    <a:lnTo>
                      <a:pt x="333" y="1000"/>
                    </a:lnTo>
                  </a:path>
                  <a:path w="1000" h="1000" fill="none">
                    <a:moveTo>
                      <a:pt x="380" y="0"/>
                    </a:moveTo>
                    <a:lnTo>
                      <a:pt x="380" y="1000"/>
                    </a:lnTo>
                  </a:path>
                  <a:path w="1000" h="1000" fill="none">
                    <a:moveTo>
                      <a:pt x="428" y="0"/>
                    </a:moveTo>
                    <a:lnTo>
                      <a:pt x="428" y="1000"/>
                    </a:lnTo>
                  </a:path>
                  <a:path w="1000" h="1000" fill="none">
                    <a:moveTo>
                      <a:pt x="476" y="0"/>
                    </a:moveTo>
                    <a:lnTo>
                      <a:pt x="476" y="1000"/>
                    </a:lnTo>
                  </a:path>
                  <a:path w="1000" h="1000" fill="none">
                    <a:moveTo>
                      <a:pt x="523" y="0"/>
                    </a:moveTo>
                    <a:lnTo>
                      <a:pt x="523" y="1000"/>
                    </a:lnTo>
                  </a:path>
                  <a:path w="1000" h="1000" fill="none">
                    <a:moveTo>
                      <a:pt x="571" y="0"/>
                    </a:moveTo>
                    <a:lnTo>
                      <a:pt x="571" y="1000"/>
                    </a:lnTo>
                  </a:path>
                  <a:path w="1000" h="1000" fill="none">
                    <a:moveTo>
                      <a:pt x="619" y="0"/>
                    </a:moveTo>
                    <a:lnTo>
                      <a:pt x="619" y="1000"/>
                    </a:lnTo>
                  </a:path>
                  <a:path w="1000" h="1000" fill="none">
                    <a:moveTo>
                      <a:pt x="666" y="0"/>
                    </a:moveTo>
                    <a:lnTo>
                      <a:pt x="666" y="1000"/>
                    </a:lnTo>
                  </a:path>
                  <a:path w="1000" h="1000" fill="none">
                    <a:moveTo>
                      <a:pt x="714" y="0"/>
                    </a:moveTo>
                    <a:lnTo>
                      <a:pt x="714" y="1000"/>
                    </a:lnTo>
                  </a:path>
                  <a:path w="1000" h="1000" fill="none">
                    <a:moveTo>
                      <a:pt x="761" y="0"/>
                    </a:moveTo>
                    <a:lnTo>
                      <a:pt x="761" y="1000"/>
                    </a:lnTo>
                  </a:path>
                  <a:path w="1000" h="1000" fill="none">
                    <a:moveTo>
                      <a:pt x="809" y="0"/>
                    </a:moveTo>
                    <a:lnTo>
                      <a:pt x="809" y="1000"/>
                    </a:lnTo>
                  </a:path>
                  <a:path w="1000" h="1000" fill="none">
                    <a:moveTo>
                      <a:pt x="857" y="0"/>
                    </a:moveTo>
                    <a:lnTo>
                      <a:pt x="857" y="1000"/>
                    </a:lnTo>
                  </a:path>
                  <a:path w="1000" h="1000" fill="none">
                    <a:moveTo>
                      <a:pt x="904" y="0"/>
                    </a:moveTo>
                    <a:lnTo>
                      <a:pt x="904" y="1000"/>
                    </a:lnTo>
                  </a:path>
                  <a:path w="1000" h="1000" fill="none">
                    <a:moveTo>
                      <a:pt x="952" y="0"/>
                    </a:moveTo>
                    <a:lnTo>
                      <a:pt x="952" y="1000"/>
                    </a:lnTo>
                  </a:path>
                  <a:path w="1000" h="1000" fill="none">
                    <a:moveTo>
                      <a:pt x="0" y="111"/>
                    </a:moveTo>
                    <a:lnTo>
                      <a:pt x="1000" y="111"/>
                    </a:lnTo>
                  </a:path>
                  <a:path w="1000" h="1000" fill="none">
                    <a:moveTo>
                      <a:pt x="0" y="222"/>
                    </a:moveTo>
                    <a:lnTo>
                      <a:pt x="1000" y="222"/>
                    </a:lnTo>
                  </a:path>
                  <a:path w="1000" h="1000" fill="none">
                    <a:moveTo>
                      <a:pt x="0" y="333"/>
                    </a:moveTo>
                    <a:lnTo>
                      <a:pt x="1000" y="333"/>
                    </a:lnTo>
                  </a:path>
                  <a:path w="1000" h="1000" fill="none">
                    <a:moveTo>
                      <a:pt x="0" y="444"/>
                    </a:moveTo>
                    <a:lnTo>
                      <a:pt x="1000" y="444"/>
                    </a:lnTo>
                  </a:path>
                  <a:path w="1000" h="1000" fill="none">
                    <a:moveTo>
                      <a:pt x="0" y="555"/>
                    </a:moveTo>
                    <a:lnTo>
                      <a:pt x="1000" y="555"/>
                    </a:lnTo>
                  </a:path>
                  <a:path w="1000" h="1000" fill="none">
                    <a:moveTo>
                      <a:pt x="0" y="666"/>
                    </a:moveTo>
                    <a:lnTo>
                      <a:pt x="1000" y="666"/>
                    </a:lnTo>
                  </a:path>
                  <a:path w="1000" h="1000" fill="none">
                    <a:moveTo>
                      <a:pt x="0" y="777"/>
                    </a:moveTo>
                    <a:lnTo>
                      <a:pt x="1000" y="777"/>
                    </a:lnTo>
                  </a:path>
                  <a:path w="1000" h="1000" fill="none">
                    <a:moveTo>
                      <a:pt x="0" y="888"/>
                    </a:moveTo>
                    <a:lnTo>
                      <a:pt x="1000" y="888"/>
                    </a:lnTo>
                  </a:path>
                </a:pathLst>
              </a:custGeom>
              <a:noFill/>
              <a:ln w="6350" cap="rnd">
                <a:solidFill>
                  <a:srgbClr val="F5B7B1"/>
                </a:solidFill>
                <a:round/>
              </a:ln>
            </p:spPr>
          </p:sp>
        </p:grpSp>
        <p:sp>
          <p:nvSpPr>
            <p:cNvPr id="31" name="ECG etapa 4 trazado"/>
            <p:cNvSpPr/>
            <p:nvPr/>
          </p:nvSpPr>
          <p:spPr>
            <a:xfrm>
              <a:off x="4389120" y="4251960"/>
              <a:ext cx="3840480" cy="1691640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350"/>
                  </a:moveTo>
                  <a:lnTo>
                    <a:pt x="40" y="350"/>
                  </a:lnTo>
                  <a:cubicBezTo>
                    <a:pt x="50" y="300"/>
                    <a:pt x="80" y="300"/>
                    <a:pt x="90" y="350"/>
                  </a:cubicBezTo>
                  <a:lnTo>
                    <a:pt x="130" y="350"/>
                  </a:lnTo>
                  <a:lnTo>
                    <a:pt x="140" y="500"/>
                  </a:lnTo>
                  <a:lnTo>
                    <a:pt x="155" y="210"/>
                  </a:lnTo>
                  <a:lnTo>
                    <a:pt x="170" y="440"/>
                  </a:lnTo>
                  <a:lnTo>
                    <a:pt x="180" y="350"/>
                  </a:lnTo>
                  <a:cubicBezTo>
                    <a:pt x="210" y="350"/>
                    <a:pt x="230" y="270"/>
                    <a:pt x="260" y="270"/>
                  </a:cubicBezTo>
                  <a:cubicBezTo>
                    <a:pt x="290" y="270"/>
                    <a:pt x="300" y="350"/>
                    <a:pt x="320" y="350"/>
                  </a:cubicBezTo>
                  <a:lnTo>
                    <a:pt x="500" y="350"/>
                  </a:lnTo>
                  <a:lnTo>
                    <a:pt x="540" y="350"/>
                  </a:lnTo>
                  <a:cubicBezTo>
                    <a:pt x="550" y="300"/>
                    <a:pt x="580" y="300"/>
                    <a:pt x="590" y="350"/>
                  </a:cubicBezTo>
                  <a:lnTo>
                    <a:pt x="630" y="350"/>
                  </a:lnTo>
                  <a:lnTo>
                    <a:pt x="640" y="500"/>
                  </a:lnTo>
                  <a:lnTo>
                    <a:pt x="655" y="210"/>
                  </a:lnTo>
                  <a:lnTo>
                    <a:pt x="670" y="440"/>
                  </a:lnTo>
                  <a:lnTo>
                    <a:pt x="680" y="350"/>
                  </a:lnTo>
                  <a:cubicBezTo>
                    <a:pt x="710" y="350"/>
                    <a:pt x="730" y="270"/>
                    <a:pt x="760" y="270"/>
                  </a:cubicBezTo>
                  <a:cubicBezTo>
                    <a:pt x="790" y="270"/>
                    <a:pt x="800" y="350"/>
                    <a:pt x="820" y="350"/>
                  </a:cubicBezTo>
                  <a:lnTo>
                    <a:pt x="1000" y="35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32" name="Forma 31"/>
            <p:cNvSpPr txBox="1"/>
            <p:nvPr/>
          </p:nvSpPr>
          <p:spPr>
            <a:xfrm>
              <a:off x="4389120" y="5989320"/>
              <a:ext cx="384048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Q patológica persiste: cicatriz eléctrica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3" name="Rigor evolución ECG"/>
          <p:cNvGrpSpPr/>
          <p:nvPr/>
        </p:nvGrpSpPr>
        <p:grpSpPr>
          <a:xfrm>
            <a:off x="8458200" y="1097280"/>
            <a:ext cx="3520440" cy="5349240"/>
            <a:chOff x="8458200" y="1097280"/>
            <a:chExt cx="3520440" cy="5349240"/>
          </a:xfrm>
        </p:grpSpPr>
        <p:sp>
          <p:nvSpPr>
            <p:cNvPr id="34" name="Forma 33"/>
            <p:cNvSpPr/>
            <p:nvPr/>
          </p:nvSpPr>
          <p:spPr>
            <a:xfrm>
              <a:off x="8458200" y="1298448"/>
              <a:ext cx="352044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 una secuencia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típica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no obligatoria: muchos IAM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muestran elevación del ST (NSTEMI) ni desarrollan onda Q; la reperfusión precoz modifica la evolución. El ECG se interpreta junto con la clínica y la troponina.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858621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EVOLUCIÓN TEMPORAL DEL ECG EN EL IAM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STEMI"/>
          <p:cNvGrpSpPr/>
          <p:nvPr/>
        </p:nvGrpSpPr>
        <p:grpSpPr>
          <a:xfrm>
            <a:off x="320040" y="1371600"/>
            <a:ext cx="2560320" cy="3697605"/>
            <a:chOff x="320040" y="1371600"/>
            <a:chExt cx="2560320" cy="3697605"/>
          </a:xfrm>
        </p:grpSpPr>
        <p:sp>
          <p:nvSpPr>
            <p:cNvPr id="7" name="Forma 6"/>
            <p:cNvSpPr/>
            <p:nvPr/>
          </p:nvSpPr>
          <p:spPr>
            <a:xfrm>
              <a:off x="457200" y="1371600"/>
              <a:ext cx="2194560" cy="8229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05050"/>
                </a:gs>
                <a:gs pos="30000">
                  <a:srgbClr val="EC9D9D"/>
                </a:gs>
                <a:gs pos="55000">
                  <a:srgbClr val="E57373"/>
                </a:gs>
                <a:gs pos="100000">
                  <a:srgbClr val="A05050"/>
                </a:gs>
              </a:gsLst>
              <a:lin ang="5400000" scaled="0"/>
            </a:gradFill>
            <a:ln w="19050" cap="rnd">
              <a:solidFill>
                <a:srgbClr val="7B241C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280160" y="1417320"/>
              <a:ext cx="548640" cy="731520"/>
            </a:xfrm>
            <a:prstGeom prst="ellipse">
              <a:avLst/>
            </a:prstGeom>
            <a:gradFill rotWithShape="1">
              <a:gsLst>
                <a:gs pos="0">
                  <a:srgbClr val="B26A63"/>
                </a:gs>
                <a:gs pos="55000">
                  <a:srgbClr val="922B21"/>
                </a:gs>
                <a:gs pos="100000">
                  <a:srgbClr val="661E17"/>
                </a:gs>
              </a:gsLst>
              <a:path path="circle">
                <a:fillToRect l="32000" t="28000" r="68000" b="72000"/>
              </a:path>
            </a:gradFill>
            <a:ln>
              <a:noFill/>
            </a:ln>
          </p:spPr>
        </p:sp>
        <p:grpSp>
          <p:nvGrpSpPr>
            <p:cNvPr id="9" name="ECG STEMI papel"/>
            <p:cNvGrpSpPr/>
            <p:nvPr/>
          </p:nvGrpSpPr>
          <p:grpSpPr>
            <a:xfrm>
              <a:off x="320040" y="2468880"/>
              <a:ext cx="2560320" cy="2103120"/>
              <a:chOff x="320040" y="2468880"/>
              <a:chExt cx="2560320" cy="2103120"/>
            </a:xfrm>
          </p:grpSpPr>
          <p:sp>
            <p:nvSpPr>
              <p:cNvPr id="10" name="Forma 9"/>
              <p:cNvSpPr/>
              <p:nvPr/>
            </p:nvSpPr>
            <p:spPr>
              <a:xfrm>
                <a:off x="320040" y="2468880"/>
                <a:ext cx="2560320" cy="2103120"/>
              </a:xfrm>
              <a:prstGeom prst="rect">
                <a:avLst/>
              </a:prstGeom>
              <a:solidFill>
                <a:srgbClr val="FFF5F5"/>
              </a:solidFill>
              <a:ln w="15875" cap="rnd">
                <a:solidFill>
                  <a:srgbClr val="E6B0AA"/>
                </a:solidFill>
                <a:round/>
              </a:ln>
            </p:spPr>
          </p:sp>
          <p:sp>
            <p:nvSpPr>
              <p:cNvPr id="11" name="Forma 10"/>
              <p:cNvSpPr/>
              <p:nvPr/>
            </p:nvSpPr>
            <p:spPr>
              <a:xfrm>
                <a:off x="320040" y="2468880"/>
                <a:ext cx="2560320" cy="21031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76" y="0"/>
                    </a:moveTo>
                    <a:lnTo>
                      <a:pt x="76" y="1000"/>
                    </a:lnTo>
                  </a:path>
                  <a:path w="1000" h="1000" fill="none">
                    <a:moveTo>
                      <a:pt x="153" y="0"/>
                    </a:moveTo>
                    <a:lnTo>
                      <a:pt x="153" y="1000"/>
                    </a:lnTo>
                  </a:path>
                  <a:path w="1000" h="1000" fill="none">
                    <a:moveTo>
                      <a:pt x="230" y="0"/>
                    </a:moveTo>
                    <a:lnTo>
                      <a:pt x="230" y="1000"/>
                    </a:lnTo>
                  </a:path>
                  <a:path w="1000" h="1000" fill="none">
                    <a:moveTo>
                      <a:pt x="307" y="0"/>
                    </a:moveTo>
                    <a:lnTo>
                      <a:pt x="307" y="1000"/>
                    </a:lnTo>
                  </a:path>
                  <a:path w="1000" h="1000" fill="none">
                    <a:moveTo>
                      <a:pt x="384" y="0"/>
                    </a:moveTo>
                    <a:lnTo>
                      <a:pt x="384" y="1000"/>
                    </a:lnTo>
                  </a:path>
                  <a:path w="1000" h="1000" fill="none">
                    <a:moveTo>
                      <a:pt x="461" y="0"/>
                    </a:moveTo>
                    <a:lnTo>
                      <a:pt x="461" y="1000"/>
                    </a:lnTo>
                  </a:path>
                  <a:path w="1000" h="1000" fill="none">
                    <a:moveTo>
                      <a:pt x="538" y="0"/>
                    </a:moveTo>
                    <a:lnTo>
                      <a:pt x="538" y="1000"/>
                    </a:lnTo>
                  </a:path>
                  <a:path w="1000" h="1000" fill="none">
                    <a:moveTo>
                      <a:pt x="615" y="0"/>
                    </a:moveTo>
                    <a:lnTo>
                      <a:pt x="615" y="1000"/>
                    </a:lnTo>
                  </a:path>
                  <a:path w="1000" h="1000" fill="none">
                    <a:moveTo>
                      <a:pt x="692" y="0"/>
                    </a:moveTo>
                    <a:lnTo>
                      <a:pt x="692" y="1000"/>
                    </a:lnTo>
                  </a:path>
                  <a:path w="1000" h="1000" fill="none">
                    <a:moveTo>
                      <a:pt x="769" y="0"/>
                    </a:moveTo>
                    <a:lnTo>
                      <a:pt x="769" y="1000"/>
                    </a:lnTo>
                  </a:path>
                  <a:path w="1000" h="1000" fill="none">
                    <a:moveTo>
                      <a:pt x="846" y="0"/>
                    </a:moveTo>
                    <a:lnTo>
                      <a:pt x="846" y="1000"/>
                    </a:lnTo>
                  </a:path>
                  <a:path w="1000" h="1000" fill="none">
                    <a:moveTo>
                      <a:pt x="923" y="0"/>
                    </a:moveTo>
                    <a:lnTo>
                      <a:pt x="923" y="1000"/>
                    </a:lnTo>
                  </a:path>
                  <a:path w="1000" h="1000" fill="none">
                    <a:moveTo>
                      <a:pt x="0" y="90"/>
                    </a:moveTo>
                    <a:lnTo>
                      <a:pt x="1000" y="90"/>
                    </a:lnTo>
                  </a:path>
                  <a:path w="1000" h="1000" fill="none">
                    <a:moveTo>
                      <a:pt x="0" y="181"/>
                    </a:moveTo>
                    <a:lnTo>
                      <a:pt x="1000" y="181"/>
                    </a:lnTo>
                  </a:path>
                  <a:path w="1000" h="1000" fill="none">
                    <a:moveTo>
                      <a:pt x="0" y="272"/>
                    </a:moveTo>
                    <a:lnTo>
                      <a:pt x="1000" y="272"/>
                    </a:lnTo>
                  </a:path>
                  <a:path w="1000" h="1000" fill="none">
                    <a:moveTo>
                      <a:pt x="0" y="363"/>
                    </a:moveTo>
                    <a:lnTo>
                      <a:pt x="1000" y="363"/>
                    </a:lnTo>
                  </a:path>
                  <a:path w="1000" h="1000" fill="none">
                    <a:moveTo>
                      <a:pt x="0" y="454"/>
                    </a:moveTo>
                    <a:lnTo>
                      <a:pt x="1000" y="454"/>
                    </a:lnTo>
                  </a:path>
                  <a:path w="1000" h="1000" fill="none">
                    <a:moveTo>
                      <a:pt x="0" y="545"/>
                    </a:moveTo>
                    <a:lnTo>
                      <a:pt x="1000" y="545"/>
                    </a:lnTo>
                  </a:path>
                  <a:path w="1000" h="1000" fill="none">
                    <a:moveTo>
                      <a:pt x="0" y="636"/>
                    </a:moveTo>
                    <a:lnTo>
                      <a:pt x="1000" y="636"/>
                    </a:lnTo>
                  </a:path>
                  <a:path w="1000" h="1000" fill="none">
                    <a:moveTo>
                      <a:pt x="0" y="727"/>
                    </a:moveTo>
                    <a:lnTo>
                      <a:pt x="1000" y="727"/>
                    </a:lnTo>
                  </a:path>
                  <a:path w="1000" h="1000" fill="none">
                    <a:moveTo>
                      <a:pt x="0" y="818"/>
                    </a:moveTo>
                    <a:lnTo>
                      <a:pt x="1000" y="818"/>
                    </a:lnTo>
                  </a:path>
                  <a:path w="1000" h="1000" fill="none">
                    <a:moveTo>
                      <a:pt x="0" y="909"/>
                    </a:moveTo>
                    <a:lnTo>
                      <a:pt x="1000" y="909"/>
                    </a:lnTo>
                  </a:path>
                </a:pathLst>
              </a:custGeom>
              <a:noFill/>
              <a:ln w="6350" cap="rnd">
                <a:solidFill>
                  <a:srgbClr val="F5B7B1"/>
                </a:solidFill>
                <a:round/>
              </a:ln>
            </p:spPr>
          </p:sp>
        </p:grpSp>
        <p:sp>
          <p:nvSpPr>
            <p:cNvPr id="12" name="ECG STEMI trazado"/>
            <p:cNvSpPr/>
            <p:nvPr/>
          </p:nvSpPr>
          <p:spPr>
            <a:xfrm>
              <a:off x="320040" y="2468880"/>
              <a:ext cx="2560320" cy="2103120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350"/>
                  </a:moveTo>
                  <a:lnTo>
                    <a:pt x="80" y="350"/>
                  </a:lnTo>
                  <a:cubicBezTo>
                    <a:pt x="100" y="300"/>
                    <a:pt x="160" y="300"/>
                    <a:pt x="180" y="350"/>
                  </a:cubicBezTo>
                  <a:lnTo>
                    <a:pt x="260" y="350"/>
                  </a:lnTo>
                  <a:lnTo>
                    <a:pt x="280" y="380"/>
                  </a:lnTo>
                  <a:lnTo>
                    <a:pt x="310" y="120"/>
                  </a:lnTo>
                  <a:lnTo>
                    <a:pt x="340" y="440"/>
                  </a:lnTo>
                  <a:lnTo>
                    <a:pt x="360" y="240"/>
                  </a:lnTo>
                  <a:cubicBezTo>
                    <a:pt x="420" y="240"/>
                    <a:pt x="460" y="180"/>
                    <a:pt x="520" y="180"/>
                  </a:cubicBezTo>
                  <a:cubicBezTo>
                    <a:pt x="580" y="180"/>
                    <a:pt x="600" y="350"/>
                    <a:pt x="640" y="350"/>
                  </a:cubicBezTo>
                  <a:lnTo>
                    <a:pt x="1000" y="35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13" name="Rótulo ST elevado"/>
            <p:cNvSpPr/>
            <p:nvPr/>
          </p:nvSpPr>
          <p:spPr>
            <a:xfrm>
              <a:off x="548640" y="4754880"/>
              <a:ext cx="2103120" cy="314325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 elevado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4" name="NSTEMI"/>
          <p:cNvGrpSpPr/>
          <p:nvPr/>
        </p:nvGrpSpPr>
        <p:grpSpPr>
          <a:xfrm>
            <a:off x="9464040" y="1371600"/>
            <a:ext cx="2560320" cy="3676650"/>
            <a:chOff x="9464040" y="1371600"/>
            <a:chExt cx="2560320" cy="3676650"/>
          </a:xfrm>
        </p:grpSpPr>
        <p:sp>
          <p:nvSpPr>
            <p:cNvPr id="15" name="Forma 14"/>
            <p:cNvSpPr/>
            <p:nvPr/>
          </p:nvSpPr>
          <p:spPr>
            <a:xfrm>
              <a:off x="9555480" y="1371600"/>
              <a:ext cx="2194560" cy="8229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A05050"/>
                </a:gs>
                <a:gs pos="30000">
                  <a:srgbClr val="EC9D9D"/>
                </a:gs>
                <a:gs pos="55000">
                  <a:srgbClr val="E57373"/>
                </a:gs>
                <a:gs pos="100000">
                  <a:srgbClr val="A05050"/>
                </a:gs>
              </a:gsLst>
              <a:lin ang="5400000" scaled="0"/>
            </a:gradFill>
            <a:ln w="19050" cap="rnd">
              <a:solidFill>
                <a:srgbClr val="7B241C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10378440" y="1417320"/>
              <a:ext cx="548640" cy="411480"/>
            </a:xfrm>
            <a:prstGeom prst="ellipse">
              <a:avLst/>
            </a:prstGeom>
            <a:gradFill rotWithShape="1">
              <a:gsLst>
                <a:gs pos="0">
                  <a:srgbClr val="B26A63"/>
                </a:gs>
                <a:gs pos="55000">
                  <a:srgbClr val="922B21"/>
                </a:gs>
                <a:gs pos="100000">
                  <a:srgbClr val="661E17"/>
                </a:gs>
              </a:gsLst>
              <a:path path="circle">
                <a:fillToRect l="32000" t="28000" r="68000" b="72000"/>
              </a:path>
            </a:gradFill>
            <a:ln>
              <a:noFill/>
            </a:ln>
          </p:spPr>
        </p:sp>
        <p:grpSp>
          <p:nvGrpSpPr>
            <p:cNvPr id="17" name="ECG NSTEMI papel"/>
            <p:cNvGrpSpPr/>
            <p:nvPr/>
          </p:nvGrpSpPr>
          <p:grpSpPr>
            <a:xfrm>
              <a:off x="9464040" y="2468880"/>
              <a:ext cx="2560320" cy="2103120"/>
              <a:chOff x="9464040" y="2468880"/>
              <a:chExt cx="2560320" cy="2103120"/>
            </a:xfrm>
          </p:grpSpPr>
          <p:sp>
            <p:nvSpPr>
              <p:cNvPr id="18" name="Forma 17"/>
              <p:cNvSpPr/>
              <p:nvPr/>
            </p:nvSpPr>
            <p:spPr>
              <a:xfrm>
                <a:off x="9464040" y="2468880"/>
                <a:ext cx="2560320" cy="2103120"/>
              </a:xfrm>
              <a:prstGeom prst="rect">
                <a:avLst/>
              </a:prstGeom>
              <a:solidFill>
                <a:srgbClr val="FFF5F5"/>
              </a:solidFill>
              <a:ln w="15875" cap="rnd">
                <a:solidFill>
                  <a:srgbClr val="E6B0AA"/>
                </a:solidFill>
                <a:round/>
              </a:ln>
            </p:spPr>
          </p:sp>
          <p:sp>
            <p:nvSpPr>
              <p:cNvPr id="19" name="Forma 18"/>
              <p:cNvSpPr/>
              <p:nvPr/>
            </p:nvSpPr>
            <p:spPr>
              <a:xfrm>
                <a:off x="9464040" y="2468880"/>
                <a:ext cx="2560320" cy="21031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76" y="0"/>
                    </a:moveTo>
                    <a:lnTo>
                      <a:pt x="76" y="1000"/>
                    </a:lnTo>
                  </a:path>
                  <a:path w="1000" h="1000" fill="none">
                    <a:moveTo>
                      <a:pt x="153" y="0"/>
                    </a:moveTo>
                    <a:lnTo>
                      <a:pt x="153" y="1000"/>
                    </a:lnTo>
                  </a:path>
                  <a:path w="1000" h="1000" fill="none">
                    <a:moveTo>
                      <a:pt x="230" y="0"/>
                    </a:moveTo>
                    <a:lnTo>
                      <a:pt x="230" y="1000"/>
                    </a:lnTo>
                  </a:path>
                  <a:path w="1000" h="1000" fill="none">
                    <a:moveTo>
                      <a:pt x="307" y="0"/>
                    </a:moveTo>
                    <a:lnTo>
                      <a:pt x="307" y="1000"/>
                    </a:lnTo>
                  </a:path>
                  <a:path w="1000" h="1000" fill="none">
                    <a:moveTo>
                      <a:pt x="384" y="0"/>
                    </a:moveTo>
                    <a:lnTo>
                      <a:pt x="384" y="1000"/>
                    </a:lnTo>
                  </a:path>
                  <a:path w="1000" h="1000" fill="none">
                    <a:moveTo>
                      <a:pt x="461" y="0"/>
                    </a:moveTo>
                    <a:lnTo>
                      <a:pt x="461" y="1000"/>
                    </a:lnTo>
                  </a:path>
                  <a:path w="1000" h="1000" fill="none">
                    <a:moveTo>
                      <a:pt x="538" y="0"/>
                    </a:moveTo>
                    <a:lnTo>
                      <a:pt x="538" y="1000"/>
                    </a:lnTo>
                  </a:path>
                  <a:path w="1000" h="1000" fill="none">
                    <a:moveTo>
                      <a:pt x="615" y="0"/>
                    </a:moveTo>
                    <a:lnTo>
                      <a:pt x="615" y="1000"/>
                    </a:lnTo>
                  </a:path>
                  <a:path w="1000" h="1000" fill="none">
                    <a:moveTo>
                      <a:pt x="692" y="0"/>
                    </a:moveTo>
                    <a:lnTo>
                      <a:pt x="692" y="1000"/>
                    </a:lnTo>
                  </a:path>
                  <a:path w="1000" h="1000" fill="none">
                    <a:moveTo>
                      <a:pt x="769" y="0"/>
                    </a:moveTo>
                    <a:lnTo>
                      <a:pt x="769" y="1000"/>
                    </a:lnTo>
                  </a:path>
                  <a:path w="1000" h="1000" fill="none">
                    <a:moveTo>
                      <a:pt x="846" y="0"/>
                    </a:moveTo>
                    <a:lnTo>
                      <a:pt x="846" y="1000"/>
                    </a:lnTo>
                  </a:path>
                  <a:path w="1000" h="1000" fill="none">
                    <a:moveTo>
                      <a:pt x="923" y="0"/>
                    </a:moveTo>
                    <a:lnTo>
                      <a:pt x="923" y="1000"/>
                    </a:lnTo>
                  </a:path>
                  <a:path w="1000" h="1000" fill="none">
                    <a:moveTo>
                      <a:pt x="0" y="90"/>
                    </a:moveTo>
                    <a:lnTo>
                      <a:pt x="1000" y="90"/>
                    </a:lnTo>
                  </a:path>
                  <a:path w="1000" h="1000" fill="none">
                    <a:moveTo>
                      <a:pt x="0" y="181"/>
                    </a:moveTo>
                    <a:lnTo>
                      <a:pt x="1000" y="181"/>
                    </a:lnTo>
                  </a:path>
                  <a:path w="1000" h="1000" fill="none">
                    <a:moveTo>
                      <a:pt x="0" y="272"/>
                    </a:moveTo>
                    <a:lnTo>
                      <a:pt x="1000" y="272"/>
                    </a:lnTo>
                  </a:path>
                  <a:path w="1000" h="1000" fill="none">
                    <a:moveTo>
                      <a:pt x="0" y="363"/>
                    </a:moveTo>
                    <a:lnTo>
                      <a:pt x="1000" y="363"/>
                    </a:lnTo>
                  </a:path>
                  <a:path w="1000" h="1000" fill="none">
                    <a:moveTo>
                      <a:pt x="0" y="454"/>
                    </a:moveTo>
                    <a:lnTo>
                      <a:pt x="1000" y="454"/>
                    </a:lnTo>
                  </a:path>
                  <a:path w="1000" h="1000" fill="none">
                    <a:moveTo>
                      <a:pt x="0" y="545"/>
                    </a:moveTo>
                    <a:lnTo>
                      <a:pt x="1000" y="545"/>
                    </a:lnTo>
                  </a:path>
                  <a:path w="1000" h="1000" fill="none">
                    <a:moveTo>
                      <a:pt x="0" y="636"/>
                    </a:moveTo>
                    <a:lnTo>
                      <a:pt x="1000" y="636"/>
                    </a:lnTo>
                  </a:path>
                  <a:path w="1000" h="1000" fill="none">
                    <a:moveTo>
                      <a:pt x="0" y="727"/>
                    </a:moveTo>
                    <a:lnTo>
                      <a:pt x="1000" y="727"/>
                    </a:lnTo>
                  </a:path>
                  <a:path w="1000" h="1000" fill="none">
                    <a:moveTo>
                      <a:pt x="0" y="818"/>
                    </a:moveTo>
                    <a:lnTo>
                      <a:pt x="1000" y="818"/>
                    </a:lnTo>
                  </a:path>
                  <a:path w="1000" h="1000" fill="none">
                    <a:moveTo>
                      <a:pt x="0" y="909"/>
                    </a:moveTo>
                    <a:lnTo>
                      <a:pt x="1000" y="909"/>
                    </a:lnTo>
                  </a:path>
                </a:pathLst>
              </a:custGeom>
              <a:noFill/>
              <a:ln w="6350" cap="rnd">
                <a:solidFill>
                  <a:srgbClr val="F5B7B1"/>
                </a:solidFill>
                <a:round/>
              </a:ln>
            </p:spPr>
          </p:sp>
        </p:grpSp>
        <p:sp>
          <p:nvSpPr>
            <p:cNvPr id="20" name="ECG NSTEMI trazado"/>
            <p:cNvSpPr/>
            <p:nvPr/>
          </p:nvSpPr>
          <p:spPr>
            <a:xfrm>
              <a:off x="9464040" y="2468880"/>
              <a:ext cx="2560320" cy="2103120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350"/>
                  </a:moveTo>
                  <a:lnTo>
                    <a:pt x="80" y="350"/>
                  </a:lnTo>
                  <a:cubicBezTo>
                    <a:pt x="100" y="300"/>
                    <a:pt x="160" y="300"/>
                    <a:pt x="180" y="350"/>
                  </a:cubicBezTo>
                  <a:lnTo>
                    <a:pt x="260" y="350"/>
                  </a:lnTo>
                  <a:lnTo>
                    <a:pt x="280" y="370"/>
                  </a:lnTo>
                  <a:lnTo>
                    <a:pt x="310" y="70"/>
                  </a:lnTo>
                  <a:lnTo>
                    <a:pt x="340" y="440"/>
                  </a:lnTo>
                  <a:lnTo>
                    <a:pt x="360" y="350"/>
                  </a:lnTo>
                  <a:cubicBezTo>
                    <a:pt x="420" y="350"/>
                    <a:pt x="460" y="260"/>
                    <a:pt x="520" y="260"/>
                  </a:cubicBezTo>
                  <a:cubicBezTo>
                    <a:pt x="580" y="260"/>
                    <a:pt x="600" y="350"/>
                    <a:pt x="640" y="350"/>
                  </a:cubicBezTo>
                  <a:lnTo>
                    <a:pt x="1000" y="35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</a:ln>
          </p:spPr>
        </p:sp>
        <p:sp>
          <p:nvSpPr>
            <p:cNvPr id="21" name="Rótulo sin elevación del ST"/>
            <p:cNvSpPr/>
            <p:nvPr/>
          </p:nvSpPr>
          <p:spPr>
            <a:xfrm>
              <a:off x="9692640" y="4754880"/>
              <a:ext cx="2103120" cy="293370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sin elevación del ST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2" name="Caja STEMI"/>
          <p:cNvGrpSpPr/>
          <p:nvPr/>
        </p:nvGrpSpPr>
        <p:grpSpPr>
          <a:xfrm>
            <a:off x="3246120" y="1097280"/>
            <a:ext cx="2926080" cy="3200400"/>
            <a:chOff x="3246120" y="1097280"/>
            <a:chExt cx="2926080" cy="3200400"/>
          </a:xfrm>
        </p:grpSpPr>
        <p:sp>
          <p:nvSpPr>
            <p:cNvPr id="23" name="Forma 22"/>
            <p:cNvSpPr/>
            <p:nvPr/>
          </p:nvSpPr>
          <p:spPr>
            <a:xfrm>
              <a:off x="3246120" y="1298448"/>
              <a:ext cx="2926080" cy="29992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STEMI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(con elevación del ST): oclusión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total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coronaria. Emergencia máxima: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angioplastia primaria o trombólisis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urgente.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3374136" y="1097280"/>
              <a:ext cx="793769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STEMI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5" name="Caja NSTEMI"/>
          <p:cNvGrpSpPr/>
          <p:nvPr/>
        </p:nvGrpSpPr>
        <p:grpSpPr>
          <a:xfrm>
            <a:off x="6355080" y="1097280"/>
            <a:ext cx="2926080" cy="3200400"/>
            <a:chOff x="6355080" y="1097280"/>
            <a:chExt cx="2926080" cy="3200400"/>
          </a:xfrm>
        </p:grpSpPr>
        <p:sp>
          <p:nvSpPr>
            <p:cNvPr id="26" name="Forma 25"/>
            <p:cNvSpPr/>
            <p:nvPr/>
          </p:nvSpPr>
          <p:spPr>
            <a:xfrm>
              <a:off x="6355080" y="1298448"/>
              <a:ext cx="2926080" cy="299923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NSTEMI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(sin elevación del ST): oclusión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parcial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o suboclusión. Los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biomarcadores sí se elevan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(confirman necrosis). También requiere tratamiento urgente.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6483096" y="1097280"/>
              <a:ext cx="916743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NSTEMI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8" name="Rigor STEMI"/>
          <p:cNvGrpSpPr/>
          <p:nvPr/>
        </p:nvGrpSpPr>
        <p:grpSpPr>
          <a:xfrm>
            <a:off x="3246120" y="4526280"/>
            <a:ext cx="6035040" cy="1920240"/>
            <a:chOff x="3246120" y="4526280"/>
            <a:chExt cx="6035040" cy="1920240"/>
          </a:xfrm>
        </p:grpSpPr>
        <p:sp>
          <p:nvSpPr>
            <p:cNvPr id="29" name="Forma 28"/>
            <p:cNvSpPr/>
            <p:nvPr/>
          </p:nvSpPr>
          <p:spPr>
            <a:xfrm>
              <a:off x="3246120" y="4727448"/>
              <a:ext cx="6035040" cy="1719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correspondencia «oclusión total = STEMI / parcial = NSTEMI» es una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aproximación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algunas oclusiones totales no elevan el ST (p. ej., territorio circunflejo) y algunas elevaciones del ST no son IAM. Lo que define el NSTEMI es la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dinámica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sin elevación persistente del ST.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3374136" y="4526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STEMI Y NSTEMI</a:t>
            </a:r>
            <a:endParaRPr lang="es-AR" sz="30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Cardiomiocito concepto"/>
          <p:cNvGrpSpPr/>
          <p:nvPr/>
        </p:nvGrpSpPr>
        <p:grpSpPr>
          <a:xfrm>
            <a:off x="302666" y="1188720"/>
            <a:ext cx="4332427" cy="1828800"/>
            <a:chOff x="302666" y="1188720"/>
            <a:chExt cx="4332427" cy="1828800"/>
          </a:xfrm>
        </p:grpSpPr>
        <p:sp>
          <p:nvSpPr>
            <p:cNvPr id="6" name="Sarcolema"/>
            <p:cNvSpPr/>
            <p:nvPr/>
          </p:nvSpPr>
          <p:spPr>
            <a:xfrm>
              <a:off x="365760" y="1188720"/>
              <a:ext cx="4206240" cy="18288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65760" y="1188720"/>
              <a:ext cx="4206240" cy="182880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302666" y="1463040"/>
              <a:ext cx="126187" cy="1280160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4508906" y="1463040"/>
              <a:ext cx="126187" cy="1280160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grpSp>
          <p:nvGrpSpPr>
            <p:cNvPr id="10" name="Núcleo"/>
            <p:cNvGrpSpPr/>
            <p:nvPr/>
          </p:nvGrpSpPr>
          <p:grpSpPr>
            <a:xfrm>
              <a:off x="2216506" y="1883664"/>
              <a:ext cx="504749" cy="454274"/>
              <a:chOff x="2216506" y="1883664"/>
              <a:chExt cx="504749" cy="454274"/>
            </a:xfrm>
          </p:grpSpPr>
          <p:sp>
            <p:nvSpPr>
              <p:cNvPr id="11" name="Forma 10"/>
              <p:cNvSpPr/>
              <p:nvPr/>
            </p:nvSpPr>
            <p:spPr>
              <a:xfrm>
                <a:off x="2216506" y="1883664"/>
                <a:ext cx="504749" cy="454274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12" name="Forma 11"/>
              <p:cNvSpPr/>
              <p:nvPr/>
            </p:nvSpPr>
            <p:spPr>
              <a:xfrm>
                <a:off x="2478975" y="2035089"/>
                <a:ext cx="111045" cy="100950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  <p:grpSp>
          <p:nvGrpSpPr>
            <p:cNvPr id="13" name="Mitocondria"/>
            <p:cNvGrpSpPr/>
            <p:nvPr/>
          </p:nvGrpSpPr>
          <p:grpSpPr>
            <a:xfrm>
              <a:off x="870509" y="1645920"/>
              <a:ext cx="420624" cy="210312"/>
              <a:chOff x="870509" y="1645920"/>
              <a:chExt cx="420624" cy="210312"/>
            </a:xfrm>
          </p:grpSpPr>
          <p:sp>
            <p:nvSpPr>
              <p:cNvPr id="14" name="Forma 13"/>
              <p:cNvSpPr/>
              <p:nvPr/>
            </p:nvSpPr>
            <p:spPr>
              <a:xfrm>
                <a:off x="870509" y="1645920"/>
                <a:ext cx="420624" cy="210312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899952" y="1675364"/>
                <a:ext cx="361737" cy="151425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899952" y="1675364"/>
                <a:ext cx="361737" cy="1514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17" name="Mitocondria_2"/>
            <p:cNvGrpSpPr/>
            <p:nvPr/>
          </p:nvGrpSpPr>
          <p:grpSpPr>
            <a:xfrm>
              <a:off x="1543507" y="2322576"/>
              <a:ext cx="420624" cy="210312"/>
              <a:chOff x="1543507" y="2322576"/>
              <a:chExt cx="420624" cy="210312"/>
            </a:xfrm>
          </p:grpSpPr>
          <p:sp>
            <p:nvSpPr>
              <p:cNvPr id="18" name="Forma 17"/>
              <p:cNvSpPr/>
              <p:nvPr/>
            </p:nvSpPr>
            <p:spPr>
              <a:xfrm>
                <a:off x="1543507" y="2322576"/>
                <a:ext cx="420624" cy="210312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19" name="Forma 18"/>
              <p:cNvSpPr/>
              <p:nvPr/>
            </p:nvSpPr>
            <p:spPr>
              <a:xfrm>
                <a:off x="1572951" y="2352020"/>
                <a:ext cx="361737" cy="151425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20" name="Forma 19"/>
              <p:cNvSpPr/>
              <p:nvPr/>
            </p:nvSpPr>
            <p:spPr>
              <a:xfrm>
                <a:off x="1572951" y="2352020"/>
                <a:ext cx="361737" cy="1514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21" name="Mitocondria_3"/>
            <p:cNvGrpSpPr/>
            <p:nvPr/>
          </p:nvGrpSpPr>
          <p:grpSpPr>
            <a:xfrm>
              <a:off x="3226003" y="1627632"/>
              <a:ext cx="420624" cy="210312"/>
              <a:chOff x="3226003" y="1627632"/>
              <a:chExt cx="420624" cy="210312"/>
            </a:xfrm>
          </p:grpSpPr>
          <p:sp>
            <p:nvSpPr>
              <p:cNvPr id="22" name="Forma 21"/>
              <p:cNvSpPr/>
              <p:nvPr/>
            </p:nvSpPr>
            <p:spPr>
              <a:xfrm>
                <a:off x="3226003" y="1627632"/>
                <a:ext cx="420624" cy="210312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23" name="Forma 22"/>
              <p:cNvSpPr/>
              <p:nvPr/>
            </p:nvSpPr>
            <p:spPr>
              <a:xfrm>
                <a:off x="3255447" y="1657076"/>
                <a:ext cx="361737" cy="151425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24" name="Forma 23"/>
              <p:cNvSpPr/>
              <p:nvPr/>
            </p:nvSpPr>
            <p:spPr>
              <a:xfrm>
                <a:off x="3255447" y="1657076"/>
                <a:ext cx="361737" cy="1514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25" name="Mitocondria_4"/>
            <p:cNvGrpSpPr/>
            <p:nvPr/>
          </p:nvGrpSpPr>
          <p:grpSpPr>
            <a:xfrm>
              <a:off x="3730752" y="2286000"/>
              <a:ext cx="420624" cy="210312"/>
              <a:chOff x="3730752" y="2286000"/>
              <a:chExt cx="420624" cy="210312"/>
            </a:xfrm>
          </p:grpSpPr>
          <p:sp>
            <p:nvSpPr>
              <p:cNvPr id="26" name="Forma 25"/>
              <p:cNvSpPr/>
              <p:nvPr/>
            </p:nvSpPr>
            <p:spPr>
              <a:xfrm>
                <a:off x="3730752" y="2286000"/>
                <a:ext cx="420624" cy="210312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27" name="Forma 26"/>
              <p:cNvSpPr/>
              <p:nvPr/>
            </p:nvSpPr>
            <p:spPr>
              <a:xfrm>
                <a:off x="3760196" y="2315444"/>
                <a:ext cx="361737" cy="151425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28" name="Forma 27"/>
              <p:cNvSpPr/>
              <p:nvPr/>
            </p:nvSpPr>
            <p:spPr>
              <a:xfrm>
                <a:off x="3760196" y="2315444"/>
                <a:ext cx="361737" cy="1514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29" name="Mitocondria_5"/>
            <p:cNvGrpSpPr/>
            <p:nvPr/>
          </p:nvGrpSpPr>
          <p:grpSpPr>
            <a:xfrm>
              <a:off x="2973629" y="2395728"/>
              <a:ext cx="420624" cy="210312"/>
              <a:chOff x="2973629" y="2395728"/>
              <a:chExt cx="420624" cy="210312"/>
            </a:xfrm>
          </p:grpSpPr>
          <p:sp>
            <p:nvSpPr>
              <p:cNvPr id="30" name="Forma 29"/>
              <p:cNvSpPr/>
              <p:nvPr/>
            </p:nvSpPr>
            <p:spPr>
              <a:xfrm>
                <a:off x="2973629" y="2395728"/>
                <a:ext cx="420624" cy="210312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3003072" y="2425172"/>
                <a:ext cx="361737" cy="151425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2" name="Forma 31"/>
              <p:cNvSpPr/>
              <p:nvPr/>
            </p:nvSpPr>
            <p:spPr>
              <a:xfrm>
                <a:off x="3003072" y="2425172"/>
                <a:ext cx="361737" cy="1514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33" name="Mitocondria_6"/>
            <p:cNvGrpSpPr/>
            <p:nvPr/>
          </p:nvGrpSpPr>
          <p:grpSpPr>
            <a:xfrm>
              <a:off x="1207008" y="1883664"/>
              <a:ext cx="420624" cy="210312"/>
              <a:chOff x="1207008" y="1883664"/>
              <a:chExt cx="420624" cy="210312"/>
            </a:xfrm>
          </p:grpSpPr>
          <p:sp>
            <p:nvSpPr>
              <p:cNvPr id="34" name="Forma 33"/>
              <p:cNvSpPr/>
              <p:nvPr/>
            </p:nvSpPr>
            <p:spPr>
              <a:xfrm>
                <a:off x="1207008" y="1883664"/>
                <a:ext cx="420624" cy="210312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1236452" y="1913108"/>
                <a:ext cx="361737" cy="151425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1236452" y="1913108"/>
                <a:ext cx="361737" cy="1514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</p:grpSp>
      <p:grpSp>
        <p:nvGrpSpPr>
          <p:cNvPr id="37" name="Vaso concepto"/>
          <p:cNvGrpSpPr/>
          <p:nvPr/>
        </p:nvGrpSpPr>
        <p:grpSpPr>
          <a:xfrm>
            <a:off x="274320" y="3337560"/>
            <a:ext cx="7772400" cy="731520"/>
            <a:chOff x="274320" y="3337560"/>
            <a:chExt cx="7772400" cy="731520"/>
          </a:xfrm>
        </p:grpSpPr>
        <p:sp>
          <p:nvSpPr>
            <p:cNvPr id="38" name="Forma 37"/>
            <p:cNvSpPr/>
            <p:nvPr/>
          </p:nvSpPr>
          <p:spPr>
            <a:xfrm>
              <a:off x="274320" y="3337560"/>
              <a:ext cx="7772400" cy="7315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39" name="Forma 38"/>
            <p:cNvSpPr/>
            <p:nvPr/>
          </p:nvSpPr>
          <p:spPr>
            <a:xfrm>
              <a:off x="384048" y="3469234"/>
              <a:ext cx="7552944" cy="46817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40" name="Eritrocito"/>
            <p:cNvSpPr/>
            <p:nvPr/>
          </p:nvSpPr>
          <p:spPr>
            <a:xfrm>
              <a:off x="886416" y="3693779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1" name="Eritrocito_2"/>
            <p:cNvSpPr/>
            <p:nvPr/>
          </p:nvSpPr>
          <p:spPr>
            <a:xfrm>
              <a:off x="1543742" y="3535961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2" name="Eritrocito_3"/>
            <p:cNvSpPr/>
            <p:nvPr/>
          </p:nvSpPr>
          <p:spPr>
            <a:xfrm>
              <a:off x="2890393" y="3655034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3" name="Eritrocito_4"/>
            <p:cNvSpPr/>
            <p:nvPr/>
          </p:nvSpPr>
          <p:spPr>
            <a:xfrm>
              <a:off x="3849053" y="3576792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4" name="Eritrocito_5"/>
            <p:cNvSpPr/>
            <p:nvPr/>
          </p:nvSpPr>
          <p:spPr>
            <a:xfrm>
              <a:off x="4849597" y="3631412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5" name="Eritrocito_6"/>
            <p:cNvSpPr/>
            <p:nvPr/>
          </p:nvSpPr>
          <p:spPr>
            <a:xfrm>
              <a:off x="5866177" y="3549405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46" name="Eritrocito_7"/>
            <p:cNvSpPr/>
            <p:nvPr/>
          </p:nvSpPr>
          <p:spPr>
            <a:xfrm>
              <a:off x="6831094" y="3592409"/>
              <a:ext cx="307238" cy="307238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sp>
        <p:nvSpPr>
          <p:cNvPr id="47" name="Marcador 0"/>
          <p:cNvSpPr/>
          <p:nvPr/>
        </p:nvSpPr>
        <p:spPr>
          <a:xfrm>
            <a:off x="2011680" y="2194560"/>
            <a:ext cx="50292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000" dirty="0">
              <a:latin typeface="Calibri"/>
            </a:endParaRPr>
          </a:p>
        </p:txBody>
      </p:sp>
      <p:sp>
        <p:nvSpPr>
          <p:cNvPr id="48" name="Marcador 1"/>
          <p:cNvSpPr/>
          <p:nvPr/>
        </p:nvSpPr>
        <p:spPr>
          <a:xfrm>
            <a:off x="2560320" y="2194560"/>
            <a:ext cx="50292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000" dirty="0">
              <a:latin typeface="Calibri"/>
            </a:endParaRPr>
          </a:p>
        </p:txBody>
      </p:sp>
      <p:sp>
        <p:nvSpPr>
          <p:cNvPr id="49" name="Marcador 2"/>
          <p:cNvSpPr/>
          <p:nvPr/>
        </p:nvSpPr>
        <p:spPr>
          <a:xfrm>
            <a:off x="3108960" y="2194560"/>
            <a:ext cx="50292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000" dirty="0">
              <a:latin typeface="Calibri"/>
            </a:endParaRPr>
          </a:p>
        </p:txBody>
      </p:sp>
      <p:sp>
        <p:nvSpPr>
          <p:cNvPr id="50" name="Def biomarcador"/>
          <p:cNvSpPr/>
          <p:nvPr/>
        </p:nvSpPr>
        <p:spPr>
          <a:xfrm>
            <a:off x="4846320" y="1097280"/>
            <a:ext cx="3200400" cy="20116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Molécula medible en sangre u otros fluidos que refleja el estado fisiológico o patológico de un tejido.</a:t>
            </a:r>
            <a:endParaRPr lang="es-AR" sz="1800" dirty="0">
              <a:latin typeface="Calibri"/>
            </a:endParaRPr>
          </a:p>
        </p:txBody>
      </p:sp>
      <p:sp>
        <p:nvSpPr>
          <p:cNvPr id="51" name="Sensibilidad IAM"/>
          <p:cNvSpPr/>
          <p:nvPr/>
        </p:nvSpPr>
        <p:spPr>
          <a:xfrm>
            <a:off x="365760" y="4343400"/>
            <a:ext cx="3749040" cy="210312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Sensibilidad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detectar el IAM cuando existe (pocos falsos negativos). Un marcador muy sensible se eleva ante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cualquier daño muscular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850" dirty="0">
              <a:latin typeface="Calibri"/>
            </a:endParaRPr>
          </a:p>
        </p:txBody>
      </p:sp>
      <p:sp>
        <p:nvSpPr>
          <p:cNvPr id="52" name="Especificidad IAM"/>
          <p:cNvSpPr/>
          <p:nvPr/>
        </p:nvSpPr>
        <p:spPr>
          <a:xfrm>
            <a:off x="4297680" y="4343400"/>
            <a:ext cx="3749040" cy="210312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Especificidad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ser positivo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solo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cuando hay daño miocárdico (pocos falsos positivos).</a:t>
            </a:r>
            <a:endParaRPr lang="es-AR" sz="1850" dirty="0">
              <a:latin typeface="Calibri"/>
            </a:endParaRPr>
          </a:p>
        </p:txBody>
      </p:sp>
      <p:grpSp>
        <p:nvGrpSpPr>
          <p:cNvPr id="53" name="Ideal biomarcador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54" name="Forma 53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biomarcador ideal sería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sensible y muy específico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En la práctica, algunos son más sensibles (se elevan pronto, ante cualquier daño) y otros más específicos (solo ante daño cardíaco).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5" name="Forma 54"/>
            <p:cNvSpPr/>
            <p:nvPr/>
          </p:nvSpPr>
          <p:spPr>
            <a:xfrm>
              <a:off x="8677656" y="1097280"/>
              <a:ext cx="75922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IDEAL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BIOMARCADOR: SENSIBILIDAD Y ESPECIFICIDAD EN EL IAM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5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067 E" pathEditMode="relative" ptsTypes="">
                                      <p:cBhvr>
                                        <p:cTn id="25" dur="9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33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0 0.2067 E" pathEditMode="relative" ptsTypes="">
                                      <p:cBhvr>
                                        <p:cTn id="27" dur="9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" y="1033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00 0.2067 E" pathEditMode="relative" ptsTypes="">
                                      <p:cBhvr>
                                        <p:cTn id="29" dur="9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0" y="10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4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5" name="!!CK"/>
          <p:cNvSpPr/>
          <p:nvPr/>
        </p:nvSpPr>
        <p:spPr>
          <a:xfrm>
            <a:off x="1097280" y="1371600"/>
            <a:ext cx="2194560" cy="1828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0" y="500"/>
                </a:moveTo>
                <a:cubicBezTo>
                  <a:pt x="895" y="570"/>
                  <a:pt x="887" y="648"/>
                  <a:pt x="853" y="704"/>
                </a:cubicBezTo>
                <a:cubicBezTo>
                  <a:pt x="818" y="759"/>
                  <a:pt x="749" y="788"/>
                  <a:pt x="691" y="831"/>
                </a:cubicBezTo>
                <a:cubicBezTo>
                  <a:pt x="632" y="874"/>
                  <a:pt x="566" y="956"/>
                  <a:pt x="500" y="962"/>
                </a:cubicBezTo>
                <a:cubicBezTo>
                  <a:pt x="433" y="967"/>
                  <a:pt x="352" y="904"/>
                  <a:pt x="290" y="863"/>
                </a:cubicBezTo>
                <a:cubicBezTo>
                  <a:pt x="227" y="821"/>
                  <a:pt x="155" y="775"/>
                  <a:pt x="126" y="715"/>
                </a:cubicBezTo>
                <a:cubicBezTo>
                  <a:pt x="96" y="654"/>
                  <a:pt x="103" y="567"/>
                  <a:pt x="111" y="500"/>
                </a:cubicBezTo>
                <a:cubicBezTo>
                  <a:pt x="118" y="432"/>
                  <a:pt x="136" y="363"/>
                  <a:pt x="170" y="309"/>
                </a:cubicBezTo>
                <a:cubicBezTo>
                  <a:pt x="203" y="254"/>
                  <a:pt x="255" y="202"/>
                  <a:pt x="310" y="172"/>
                </a:cubicBezTo>
                <a:cubicBezTo>
                  <a:pt x="364" y="141"/>
                  <a:pt x="432" y="134"/>
                  <a:pt x="499" y="128"/>
                </a:cubicBezTo>
                <a:cubicBezTo>
                  <a:pt x="565" y="121"/>
                  <a:pt x="646" y="109"/>
                  <a:pt x="710" y="135"/>
                </a:cubicBezTo>
                <a:cubicBezTo>
                  <a:pt x="773" y="160"/>
                  <a:pt x="849" y="218"/>
                  <a:pt x="881" y="279"/>
                </a:cubicBezTo>
                <a:cubicBezTo>
                  <a:pt x="912" y="339"/>
                  <a:pt x="904" y="429"/>
                  <a:pt x="900" y="500"/>
                </a:cubicBezTo>
                <a:close/>
              </a:path>
            </a:pathLst>
          </a:custGeom>
          <a:gradFill rotWithShape="1">
            <a:gsLst>
              <a:gs pos="0">
                <a:srgbClr val="F8C87C"/>
              </a:gs>
              <a:gs pos="55000">
                <a:srgbClr val="F39C12"/>
              </a:gs>
              <a:gs pos="100000">
                <a:srgbClr val="B6750D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794E09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2200" dirty="0">
              <a:latin typeface="Calibri"/>
            </a:endParaRPr>
          </a:p>
        </p:txBody>
      </p:sp>
      <p:grpSp>
        <p:nvGrpSpPr>
          <p:cNvPr id="6" name="Reacción CK"/>
          <p:cNvGrpSpPr/>
          <p:nvPr/>
        </p:nvGrpSpPr>
        <p:grpSpPr>
          <a:xfrm>
            <a:off x="4480560" y="1463040"/>
            <a:ext cx="6126480" cy="457200"/>
            <a:chOff x="4480560" y="1463040"/>
            <a:chExt cx="6126480" cy="457200"/>
          </a:xfrm>
        </p:grpSpPr>
        <p:sp>
          <p:nvSpPr>
            <p:cNvPr id="7" name="Ficha Creatina"/>
            <p:cNvSpPr/>
            <p:nvPr/>
          </p:nvSpPr>
          <p:spPr>
            <a:xfrm>
              <a:off x="4480560" y="1463040"/>
              <a:ext cx="146304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CAE4F5"/>
                </a:gs>
                <a:gs pos="55000">
                  <a:srgbClr val="AED6F1"/>
                </a:gs>
                <a:gs pos="100000">
                  <a:srgbClr val="8BABC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576B78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Creatina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8" name="Ficha ATP"/>
            <p:cNvSpPr/>
            <p:nvPr/>
          </p:nvSpPr>
          <p:spPr>
            <a:xfrm>
              <a:off x="6035040" y="1463040"/>
              <a:ext cx="82296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FD659"/>
                </a:gs>
                <a:gs pos="55000">
                  <a:srgbClr val="FFC000"/>
                </a:gs>
                <a:gs pos="100000">
                  <a:srgbClr val="CC990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F600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ATP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lecha 8_2"/>
            <p:cNvSpPr/>
            <p:nvPr/>
          </p:nvSpPr>
          <p:spPr>
            <a:xfrm>
              <a:off x="6949440" y="1463040"/>
              <a:ext cx="640080" cy="9144"/>
            </a:xfrm>
            <a:custGeom>
              <a:avLst/>
              <a:gdLst/>
              <a:ahLst/>
              <a:cxnLst/>
              <a:rect l="0" t="0" r="r" b="b"/>
              <a:pathLst>
                <a:path w="700" h="10" fill="none">
                  <a:moveTo>
                    <a:pt x="0" y="0"/>
                  </a:moveTo>
                  <a:lnTo>
                    <a:pt x="70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0" name="Flecha 10_2"/>
            <p:cNvSpPr/>
            <p:nvPr/>
          </p:nvSpPr>
          <p:spPr>
            <a:xfrm>
              <a:off x="6949440" y="1828800"/>
              <a:ext cx="640080" cy="9144"/>
            </a:xfrm>
            <a:custGeom>
              <a:avLst/>
              <a:gdLst/>
              <a:ahLst/>
              <a:cxnLst/>
              <a:rect l="0" t="0" r="r" b="b"/>
              <a:pathLst>
                <a:path w="700" h="10" fill="none">
                  <a:moveTo>
                    <a:pt x="700" y="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1" name="Ficha Creatín fosfato"/>
            <p:cNvSpPr/>
            <p:nvPr/>
          </p:nvSpPr>
          <p:spPr>
            <a:xfrm>
              <a:off x="7680960" y="1463040"/>
              <a:ext cx="201168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5C9EC"/>
                </a:gs>
                <a:gs pos="55000">
                  <a:srgbClr val="5DADE2"/>
                </a:gs>
                <a:gs pos="100000">
                  <a:srgbClr val="4A8AB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E567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Creatín fosfato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2" name="Ficha ADP"/>
            <p:cNvSpPr/>
            <p:nvPr/>
          </p:nvSpPr>
          <p:spPr>
            <a:xfrm>
              <a:off x="9784080" y="1463040"/>
              <a:ext cx="82296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8A2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C6238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ADP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3" name="Función CK"/>
          <p:cNvSpPr/>
          <p:nvPr/>
        </p:nvSpPr>
        <p:spPr>
          <a:xfrm>
            <a:off x="4480560" y="2194560"/>
            <a:ext cx="7452360" cy="11887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 una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enzima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fosforila la creatina 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creatín fosfato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reserva energética rápida del músculo.</a:t>
            </a:r>
            <a:endParaRPr lang="es-AR" sz="2050" dirty="0">
              <a:latin typeface="Calibri"/>
            </a:endParaRPr>
          </a:p>
        </p:txBody>
      </p:sp>
      <p:grpSp>
        <p:nvGrpSpPr>
          <p:cNvPr id="14" name="Tejidos CK"/>
          <p:cNvGrpSpPr/>
          <p:nvPr/>
        </p:nvGrpSpPr>
        <p:grpSpPr>
          <a:xfrm>
            <a:off x="457200" y="3657600"/>
            <a:ext cx="5486400" cy="1558138"/>
            <a:chOff x="457200" y="3657600"/>
            <a:chExt cx="5486400" cy="1558138"/>
          </a:xfrm>
        </p:grpSpPr>
        <p:grpSp>
          <p:nvGrpSpPr>
            <p:cNvPr id="15" name="Músculo CK"/>
            <p:cNvGrpSpPr/>
            <p:nvPr/>
          </p:nvGrpSpPr>
          <p:grpSpPr>
            <a:xfrm>
              <a:off x="457200" y="3931920"/>
              <a:ext cx="2286000" cy="749808"/>
              <a:chOff x="457200" y="3931920"/>
              <a:chExt cx="2286000" cy="749808"/>
            </a:xfrm>
          </p:grpSpPr>
          <p:grpSp>
            <p:nvGrpSpPr>
              <p:cNvPr id="16" name="Fibra"/>
              <p:cNvGrpSpPr/>
              <p:nvPr/>
            </p:nvGrpSpPr>
            <p:grpSpPr>
              <a:xfrm>
                <a:off x="457200" y="3931920"/>
                <a:ext cx="2194560" cy="365760"/>
                <a:chOff x="457200" y="3931920"/>
                <a:chExt cx="2194560" cy="365760"/>
              </a:xfrm>
            </p:grpSpPr>
            <p:sp>
              <p:nvSpPr>
                <p:cNvPr id="17" name="Forma 18"/>
                <p:cNvSpPr/>
                <p:nvPr/>
              </p:nvSpPr>
              <p:spPr>
                <a:xfrm>
                  <a:off x="457200" y="3931920"/>
                  <a:ext cx="2194560" cy="36576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18" name="Forma 19"/>
                <p:cNvSpPr/>
                <p:nvPr/>
              </p:nvSpPr>
              <p:spPr>
                <a:xfrm>
                  <a:off x="548640" y="3931920"/>
                  <a:ext cx="2011680" cy="3657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9" y="80"/>
                      </a:moveTo>
                      <a:lnTo>
                        <a:pt x="19" y="920"/>
                      </a:lnTo>
                    </a:path>
                    <a:path w="1000" h="1000" fill="none">
                      <a:moveTo>
                        <a:pt x="57" y="80"/>
                      </a:moveTo>
                      <a:lnTo>
                        <a:pt x="57" y="920"/>
                      </a:lnTo>
                    </a:path>
                    <a:path w="1000" h="1000" fill="none">
                      <a:moveTo>
                        <a:pt x="96" y="80"/>
                      </a:moveTo>
                      <a:lnTo>
                        <a:pt x="96" y="920"/>
                      </a:lnTo>
                    </a:path>
                    <a:path w="1000" h="1000" fill="none">
                      <a:moveTo>
                        <a:pt x="134" y="80"/>
                      </a:moveTo>
                      <a:lnTo>
                        <a:pt x="134" y="920"/>
                      </a:lnTo>
                    </a:path>
                    <a:path w="1000" h="1000" fill="none">
                      <a:moveTo>
                        <a:pt x="173" y="80"/>
                      </a:moveTo>
                      <a:lnTo>
                        <a:pt x="173" y="920"/>
                      </a:lnTo>
                    </a:path>
                    <a:path w="1000" h="1000" fill="none">
                      <a:moveTo>
                        <a:pt x="211" y="80"/>
                      </a:moveTo>
                      <a:lnTo>
                        <a:pt x="211" y="920"/>
                      </a:lnTo>
                    </a:path>
                    <a:path w="1000" h="1000" fill="none">
                      <a:moveTo>
                        <a:pt x="250" y="80"/>
                      </a:moveTo>
                      <a:lnTo>
                        <a:pt x="250" y="920"/>
                      </a:lnTo>
                    </a:path>
                    <a:path w="1000" h="1000" fill="none">
                      <a:moveTo>
                        <a:pt x="288" y="80"/>
                      </a:moveTo>
                      <a:lnTo>
                        <a:pt x="288" y="920"/>
                      </a:lnTo>
                    </a:path>
                    <a:path w="1000" h="1000" fill="none">
                      <a:moveTo>
                        <a:pt x="326" y="80"/>
                      </a:moveTo>
                      <a:lnTo>
                        <a:pt x="326" y="920"/>
                      </a:lnTo>
                    </a:path>
                    <a:path w="1000" h="1000" fill="none">
                      <a:moveTo>
                        <a:pt x="365" y="80"/>
                      </a:moveTo>
                      <a:lnTo>
                        <a:pt x="365" y="920"/>
                      </a:lnTo>
                    </a:path>
                    <a:path w="1000" h="1000" fill="none">
                      <a:moveTo>
                        <a:pt x="403" y="80"/>
                      </a:moveTo>
                      <a:lnTo>
                        <a:pt x="403" y="920"/>
                      </a:lnTo>
                    </a:path>
                    <a:path w="1000" h="1000" fill="none">
                      <a:moveTo>
                        <a:pt x="442" y="80"/>
                      </a:moveTo>
                      <a:lnTo>
                        <a:pt x="442" y="920"/>
                      </a:lnTo>
                    </a:path>
                    <a:path w="1000" h="1000" fill="none">
                      <a:moveTo>
                        <a:pt x="480" y="80"/>
                      </a:moveTo>
                      <a:lnTo>
                        <a:pt x="480" y="920"/>
                      </a:lnTo>
                    </a:path>
                    <a:path w="1000" h="1000" fill="none">
                      <a:moveTo>
                        <a:pt x="519" y="80"/>
                      </a:moveTo>
                      <a:lnTo>
                        <a:pt x="519" y="920"/>
                      </a:lnTo>
                    </a:path>
                    <a:path w="1000" h="1000" fill="none">
                      <a:moveTo>
                        <a:pt x="557" y="80"/>
                      </a:moveTo>
                      <a:lnTo>
                        <a:pt x="557" y="920"/>
                      </a:lnTo>
                    </a:path>
                    <a:path w="1000" h="1000" fill="none">
                      <a:moveTo>
                        <a:pt x="596" y="80"/>
                      </a:moveTo>
                      <a:lnTo>
                        <a:pt x="596" y="920"/>
                      </a:lnTo>
                    </a:path>
                    <a:path w="1000" h="1000" fill="none">
                      <a:moveTo>
                        <a:pt x="634" y="80"/>
                      </a:moveTo>
                      <a:lnTo>
                        <a:pt x="634" y="920"/>
                      </a:lnTo>
                    </a:path>
                    <a:path w="1000" h="1000" fill="none">
                      <a:moveTo>
                        <a:pt x="673" y="80"/>
                      </a:moveTo>
                      <a:lnTo>
                        <a:pt x="673" y="920"/>
                      </a:lnTo>
                    </a:path>
                    <a:path w="1000" h="1000" fill="none">
                      <a:moveTo>
                        <a:pt x="711" y="80"/>
                      </a:moveTo>
                      <a:lnTo>
                        <a:pt x="711" y="920"/>
                      </a:lnTo>
                    </a:path>
                    <a:path w="1000" h="1000" fill="none">
                      <a:moveTo>
                        <a:pt x="750" y="80"/>
                      </a:moveTo>
                      <a:lnTo>
                        <a:pt x="750" y="920"/>
                      </a:lnTo>
                    </a:path>
                    <a:path w="1000" h="1000" fill="none">
                      <a:moveTo>
                        <a:pt x="788" y="80"/>
                      </a:moveTo>
                      <a:lnTo>
                        <a:pt x="788" y="920"/>
                      </a:lnTo>
                    </a:path>
                    <a:path w="1000" h="1000" fill="none">
                      <a:moveTo>
                        <a:pt x="826" y="80"/>
                      </a:moveTo>
                      <a:lnTo>
                        <a:pt x="826" y="920"/>
                      </a:lnTo>
                    </a:path>
                    <a:path w="1000" h="1000" fill="none">
                      <a:moveTo>
                        <a:pt x="865" y="80"/>
                      </a:moveTo>
                      <a:lnTo>
                        <a:pt x="865" y="920"/>
                      </a:lnTo>
                    </a:path>
                    <a:path w="1000" h="1000" fill="none">
                      <a:moveTo>
                        <a:pt x="903" y="80"/>
                      </a:moveTo>
                      <a:lnTo>
                        <a:pt x="903" y="920"/>
                      </a:lnTo>
                    </a:path>
                    <a:path w="1000" h="1000" fill="none">
                      <a:moveTo>
                        <a:pt x="942" y="80"/>
                      </a:moveTo>
                      <a:lnTo>
                        <a:pt x="942" y="920"/>
                      </a:lnTo>
                    </a:path>
                    <a:path w="1000" h="1000" fill="none">
                      <a:moveTo>
                        <a:pt x="980" y="80"/>
                      </a:moveTo>
                      <a:lnTo>
                        <a:pt x="980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19" name="Forma 20"/>
                <p:cNvSpPr/>
                <p:nvPr/>
              </p:nvSpPr>
              <p:spPr>
                <a:xfrm>
                  <a:off x="896112" y="3946550"/>
                  <a:ext cx="182880" cy="6583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0" name="Forma 21"/>
                <p:cNvSpPr/>
                <p:nvPr/>
              </p:nvSpPr>
              <p:spPr>
                <a:xfrm>
                  <a:off x="1664208" y="3946550"/>
                  <a:ext cx="182880" cy="6583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1" name="Forma 22"/>
                <p:cNvSpPr/>
                <p:nvPr/>
              </p:nvSpPr>
              <p:spPr>
                <a:xfrm>
                  <a:off x="2322576" y="3946550"/>
                  <a:ext cx="182880" cy="6583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2" name="Forma 23"/>
                <p:cNvSpPr/>
                <p:nvPr/>
              </p:nvSpPr>
              <p:spPr>
                <a:xfrm>
                  <a:off x="2498141" y="3946550"/>
                  <a:ext cx="146304" cy="33649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23" name="Fibra_2"/>
              <p:cNvGrpSpPr/>
              <p:nvPr/>
            </p:nvGrpSpPr>
            <p:grpSpPr>
              <a:xfrm>
                <a:off x="548640" y="4315968"/>
                <a:ext cx="2194560" cy="365760"/>
                <a:chOff x="548640" y="4315968"/>
                <a:chExt cx="2194560" cy="365760"/>
              </a:xfrm>
            </p:grpSpPr>
            <p:sp>
              <p:nvSpPr>
                <p:cNvPr id="24" name="Forma 25"/>
                <p:cNvSpPr/>
                <p:nvPr/>
              </p:nvSpPr>
              <p:spPr>
                <a:xfrm>
                  <a:off x="548640" y="4315968"/>
                  <a:ext cx="2194560" cy="36576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25" name="Forma 26"/>
                <p:cNvSpPr/>
                <p:nvPr/>
              </p:nvSpPr>
              <p:spPr>
                <a:xfrm>
                  <a:off x="640080" y="4315968"/>
                  <a:ext cx="2011680" cy="3657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9" y="80"/>
                      </a:moveTo>
                      <a:lnTo>
                        <a:pt x="19" y="920"/>
                      </a:lnTo>
                    </a:path>
                    <a:path w="1000" h="1000" fill="none">
                      <a:moveTo>
                        <a:pt x="57" y="80"/>
                      </a:moveTo>
                      <a:lnTo>
                        <a:pt x="57" y="920"/>
                      </a:lnTo>
                    </a:path>
                    <a:path w="1000" h="1000" fill="none">
                      <a:moveTo>
                        <a:pt x="96" y="80"/>
                      </a:moveTo>
                      <a:lnTo>
                        <a:pt x="96" y="920"/>
                      </a:lnTo>
                    </a:path>
                    <a:path w="1000" h="1000" fill="none">
                      <a:moveTo>
                        <a:pt x="134" y="80"/>
                      </a:moveTo>
                      <a:lnTo>
                        <a:pt x="134" y="920"/>
                      </a:lnTo>
                    </a:path>
                    <a:path w="1000" h="1000" fill="none">
                      <a:moveTo>
                        <a:pt x="173" y="80"/>
                      </a:moveTo>
                      <a:lnTo>
                        <a:pt x="173" y="920"/>
                      </a:lnTo>
                    </a:path>
                    <a:path w="1000" h="1000" fill="none">
                      <a:moveTo>
                        <a:pt x="211" y="80"/>
                      </a:moveTo>
                      <a:lnTo>
                        <a:pt x="211" y="920"/>
                      </a:lnTo>
                    </a:path>
                    <a:path w="1000" h="1000" fill="none">
                      <a:moveTo>
                        <a:pt x="250" y="80"/>
                      </a:moveTo>
                      <a:lnTo>
                        <a:pt x="250" y="920"/>
                      </a:lnTo>
                    </a:path>
                    <a:path w="1000" h="1000" fill="none">
                      <a:moveTo>
                        <a:pt x="288" y="80"/>
                      </a:moveTo>
                      <a:lnTo>
                        <a:pt x="288" y="920"/>
                      </a:lnTo>
                    </a:path>
                    <a:path w="1000" h="1000" fill="none">
                      <a:moveTo>
                        <a:pt x="326" y="80"/>
                      </a:moveTo>
                      <a:lnTo>
                        <a:pt x="326" y="920"/>
                      </a:lnTo>
                    </a:path>
                    <a:path w="1000" h="1000" fill="none">
                      <a:moveTo>
                        <a:pt x="365" y="80"/>
                      </a:moveTo>
                      <a:lnTo>
                        <a:pt x="365" y="920"/>
                      </a:lnTo>
                    </a:path>
                    <a:path w="1000" h="1000" fill="none">
                      <a:moveTo>
                        <a:pt x="403" y="80"/>
                      </a:moveTo>
                      <a:lnTo>
                        <a:pt x="403" y="920"/>
                      </a:lnTo>
                    </a:path>
                    <a:path w="1000" h="1000" fill="none">
                      <a:moveTo>
                        <a:pt x="442" y="80"/>
                      </a:moveTo>
                      <a:lnTo>
                        <a:pt x="442" y="920"/>
                      </a:lnTo>
                    </a:path>
                    <a:path w="1000" h="1000" fill="none">
                      <a:moveTo>
                        <a:pt x="480" y="80"/>
                      </a:moveTo>
                      <a:lnTo>
                        <a:pt x="480" y="920"/>
                      </a:lnTo>
                    </a:path>
                    <a:path w="1000" h="1000" fill="none">
                      <a:moveTo>
                        <a:pt x="519" y="80"/>
                      </a:moveTo>
                      <a:lnTo>
                        <a:pt x="519" y="920"/>
                      </a:lnTo>
                    </a:path>
                    <a:path w="1000" h="1000" fill="none">
                      <a:moveTo>
                        <a:pt x="557" y="80"/>
                      </a:moveTo>
                      <a:lnTo>
                        <a:pt x="557" y="920"/>
                      </a:lnTo>
                    </a:path>
                    <a:path w="1000" h="1000" fill="none">
                      <a:moveTo>
                        <a:pt x="596" y="80"/>
                      </a:moveTo>
                      <a:lnTo>
                        <a:pt x="596" y="920"/>
                      </a:lnTo>
                    </a:path>
                    <a:path w="1000" h="1000" fill="none">
                      <a:moveTo>
                        <a:pt x="634" y="80"/>
                      </a:moveTo>
                      <a:lnTo>
                        <a:pt x="634" y="920"/>
                      </a:lnTo>
                    </a:path>
                    <a:path w="1000" h="1000" fill="none">
                      <a:moveTo>
                        <a:pt x="673" y="80"/>
                      </a:moveTo>
                      <a:lnTo>
                        <a:pt x="673" y="920"/>
                      </a:lnTo>
                    </a:path>
                    <a:path w="1000" h="1000" fill="none">
                      <a:moveTo>
                        <a:pt x="711" y="80"/>
                      </a:moveTo>
                      <a:lnTo>
                        <a:pt x="711" y="920"/>
                      </a:lnTo>
                    </a:path>
                    <a:path w="1000" h="1000" fill="none">
                      <a:moveTo>
                        <a:pt x="750" y="80"/>
                      </a:moveTo>
                      <a:lnTo>
                        <a:pt x="750" y="920"/>
                      </a:lnTo>
                    </a:path>
                    <a:path w="1000" h="1000" fill="none">
                      <a:moveTo>
                        <a:pt x="788" y="80"/>
                      </a:moveTo>
                      <a:lnTo>
                        <a:pt x="788" y="920"/>
                      </a:lnTo>
                    </a:path>
                    <a:path w="1000" h="1000" fill="none">
                      <a:moveTo>
                        <a:pt x="826" y="80"/>
                      </a:moveTo>
                      <a:lnTo>
                        <a:pt x="826" y="920"/>
                      </a:lnTo>
                    </a:path>
                    <a:path w="1000" h="1000" fill="none">
                      <a:moveTo>
                        <a:pt x="865" y="80"/>
                      </a:moveTo>
                      <a:lnTo>
                        <a:pt x="865" y="920"/>
                      </a:lnTo>
                    </a:path>
                    <a:path w="1000" h="1000" fill="none">
                      <a:moveTo>
                        <a:pt x="903" y="80"/>
                      </a:moveTo>
                      <a:lnTo>
                        <a:pt x="903" y="920"/>
                      </a:lnTo>
                    </a:path>
                    <a:path w="1000" h="1000" fill="none">
                      <a:moveTo>
                        <a:pt x="942" y="80"/>
                      </a:moveTo>
                      <a:lnTo>
                        <a:pt x="942" y="920"/>
                      </a:lnTo>
                    </a:path>
                    <a:path w="1000" h="1000" fill="none">
                      <a:moveTo>
                        <a:pt x="980" y="80"/>
                      </a:moveTo>
                      <a:lnTo>
                        <a:pt x="980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26" name="Forma 27"/>
                <p:cNvSpPr/>
                <p:nvPr/>
              </p:nvSpPr>
              <p:spPr>
                <a:xfrm>
                  <a:off x="987552" y="4330598"/>
                  <a:ext cx="182880" cy="6583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7" name="Forma 28"/>
                <p:cNvSpPr/>
                <p:nvPr/>
              </p:nvSpPr>
              <p:spPr>
                <a:xfrm>
                  <a:off x="1755648" y="4330598"/>
                  <a:ext cx="182880" cy="6583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8" name="Forma 29"/>
                <p:cNvSpPr/>
                <p:nvPr/>
              </p:nvSpPr>
              <p:spPr>
                <a:xfrm>
                  <a:off x="2414016" y="4330598"/>
                  <a:ext cx="182880" cy="6583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9" name="Forma 30"/>
                <p:cNvSpPr/>
                <p:nvPr/>
              </p:nvSpPr>
              <p:spPr>
                <a:xfrm>
                  <a:off x="2589581" y="4330598"/>
                  <a:ext cx="146304" cy="33649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</p:grpSp>
        <p:grpSp>
          <p:nvGrpSpPr>
            <p:cNvPr id="30" name="Corazón CK"/>
            <p:cNvGrpSpPr/>
            <p:nvPr/>
          </p:nvGrpSpPr>
          <p:grpSpPr>
            <a:xfrm>
              <a:off x="2926080" y="3657600"/>
              <a:ext cx="1188720" cy="1307592"/>
              <a:chOff x="2926080" y="3657600"/>
              <a:chExt cx="1188720" cy="1307592"/>
            </a:xfrm>
          </p:grpSpPr>
          <p:sp>
            <p:nvSpPr>
              <p:cNvPr id="31" name="Aorta"/>
              <p:cNvSpPr/>
              <p:nvPr/>
            </p:nvSpPr>
            <p:spPr>
              <a:xfrm>
                <a:off x="3377794" y="3657600"/>
                <a:ext cx="380390" cy="41842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32" name="Arteria pulmonar"/>
              <p:cNvSpPr/>
              <p:nvPr/>
            </p:nvSpPr>
            <p:spPr>
              <a:xfrm>
                <a:off x="3187598" y="3788359"/>
                <a:ext cx="261518" cy="32689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33" name="Miocardio"/>
              <p:cNvSpPr/>
              <p:nvPr/>
            </p:nvSpPr>
            <p:spPr>
              <a:xfrm>
                <a:off x="2926080" y="3892967"/>
                <a:ext cx="1188720" cy="10722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34" name="Aurícula derecha"/>
              <p:cNvSpPr/>
              <p:nvPr/>
            </p:nvSpPr>
            <p:spPr>
              <a:xfrm>
                <a:off x="2973629" y="4049878"/>
                <a:ext cx="332842" cy="36612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grpSp>
          <p:nvGrpSpPr>
            <p:cNvPr id="35" name="Cerebro CK"/>
            <p:cNvGrpSpPr/>
            <p:nvPr/>
          </p:nvGrpSpPr>
          <p:grpSpPr>
            <a:xfrm>
              <a:off x="4297680" y="3931920"/>
              <a:ext cx="1645920" cy="1283818"/>
              <a:chOff x="4297680" y="3931920"/>
              <a:chExt cx="1645920" cy="1283818"/>
            </a:xfrm>
          </p:grpSpPr>
          <p:sp>
            <p:nvSpPr>
              <p:cNvPr id="36" name="Cerebelo"/>
              <p:cNvSpPr/>
              <p:nvPr/>
            </p:nvSpPr>
            <p:spPr>
              <a:xfrm>
                <a:off x="4297680" y="3931920"/>
                <a:ext cx="1645920" cy="128381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>
                    <a:moveTo>
                      <a:pt x="870" y="640"/>
                    </a:moveTo>
                    <a:cubicBezTo>
                      <a:pt x="870" y="692"/>
                      <a:pt x="802" y="735"/>
                      <a:pt x="720" y="735"/>
                    </a:cubicBezTo>
                    <a:cubicBezTo>
                      <a:pt x="637" y="735"/>
                      <a:pt x="570" y="692"/>
                      <a:pt x="570" y="640"/>
                    </a:cubicBezTo>
                    <a:cubicBezTo>
                      <a:pt x="570" y="587"/>
                      <a:pt x="637" y="545"/>
                      <a:pt x="720" y="545"/>
                    </a:cubicBezTo>
                    <a:cubicBezTo>
                      <a:pt x="802" y="545"/>
                      <a:pt x="870" y="587"/>
                      <a:pt x="870" y="64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0B7C0"/>
                  </a:gs>
                  <a:gs pos="55000">
                    <a:srgbClr val="E8919F"/>
                  </a:gs>
                  <a:gs pos="100000">
                    <a:srgbClr val="A2656F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C4B51"/>
                </a:solidFill>
                <a:round/>
              </a:ln>
            </p:spPr>
          </p:sp>
          <p:sp>
            <p:nvSpPr>
              <p:cNvPr id="37" name="Forma 38"/>
              <p:cNvSpPr/>
              <p:nvPr/>
            </p:nvSpPr>
            <p:spPr>
              <a:xfrm>
                <a:off x="4297680" y="3931920"/>
                <a:ext cx="1645920" cy="128381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 fill="none">
                    <a:moveTo>
                      <a:pt x="600" y="610"/>
                    </a:moveTo>
                    <a:cubicBezTo>
                      <a:pt x="610" y="680"/>
                      <a:pt x="620" y="730"/>
                      <a:pt x="640" y="780"/>
                    </a:cubicBezTo>
                  </a:path>
                </a:pathLst>
              </a:custGeom>
              <a:noFill/>
              <a:ln w="114300" cap="rnd">
                <a:solidFill>
                  <a:srgbClr val="78535A"/>
                </a:solidFill>
                <a:round/>
              </a:ln>
            </p:spPr>
          </p:sp>
          <p:sp>
            <p:nvSpPr>
              <p:cNvPr id="38" name="Forma 39"/>
              <p:cNvSpPr/>
              <p:nvPr/>
            </p:nvSpPr>
            <p:spPr>
              <a:xfrm>
                <a:off x="4297680" y="3931920"/>
                <a:ext cx="1645920" cy="128381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>
                    <a:moveTo>
                      <a:pt x="100" y="520"/>
                    </a:moveTo>
                    <a:cubicBezTo>
                      <a:pt x="78" y="481"/>
                      <a:pt x="65" y="428"/>
                      <a:pt x="70" y="380"/>
                    </a:cubicBezTo>
                    <a:cubicBezTo>
                      <a:pt x="75" y="331"/>
                      <a:pt x="98" y="273"/>
                      <a:pt x="130" y="230"/>
                    </a:cubicBezTo>
                    <a:cubicBezTo>
                      <a:pt x="161" y="186"/>
                      <a:pt x="210" y="146"/>
                      <a:pt x="260" y="120"/>
                    </a:cubicBezTo>
                    <a:cubicBezTo>
                      <a:pt x="310" y="93"/>
                      <a:pt x="373" y="78"/>
                      <a:pt x="430" y="70"/>
                    </a:cubicBezTo>
                    <a:cubicBezTo>
                      <a:pt x="486" y="61"/>
                      <a:pt x="545" y="61"/>
                      <a:pt x="600" y="70"/>
                    </a:cubicBezTo>
                    <a:cubicBezTo>
                      <a:pt x="655" y="78"/>
                      <a:pt x="711" y="95"/>
                      <a:pt x="760" y="120"/>
                    </a:cubicBezTo>
                    <a:cubicBezTo>
                      <a:pt x="808" y="145"/>
                      <a:pt x="858" y="180"/>
                      <a:pt x="890" y="220"/>
                    </a:cubicBezTo>
                    <a:cubicBezTo>
                      <a:pt x="921" y="260"/>
                      <a:pt x="943" y="316"/>
                      <a:pt x="950" y="360"/>
                    </a:cubicBezTo>
                    <a:cubicBezTo>
                      <a:pt x="956" y="403"/>
                      <a:pt x="945" y="446"/>
                      <a:pt x="930" y="480"/>
                    </a:cubicBezTo>
                    <a:cubicBezTo>
                      <a:pt x="915" y="513"/>
                      <a:pt x="888" y="540"/>
                      <a:pt x="860" y="560"/>
                    </a:cubicBezTo>
                    <a:cubicBezTo>
                      <a:pt x="831" y="580"/>
                      <a:pt x="796" y="590"/>
                      <a:pt x="760" y="600"/>
                    </a:cubicBezTo>
                    <a:cubicBezTo>
                      <a:pt x="723" y="610"/>
                      <a:pt x="676" y="613"/>
                      <a:pt x="640" y="620"/>
                    </a:cubicBezTo>
                    <a:cubicBezTo>
                      <a:pt x="603" y="626"/>
                      <a:pt x="573" y="633"/>
                      <a:pt x="540" y="640"/>
                    </a:cubicBezTo>
                    <a:cubicBezTo>
                      <a:pt x="506" y="646"/>
                      <a:pt x="476" y="658"/>
                      <a:pt x="440" y="660"/>
                    </a:cubicBezTo>
                    <a:cubicBezTo>
                      <a:pt x="403" y="661"/>
                      <a:pt x="360" y="658"/>
                      <a:pt x="320" y="650"/>
                    </a:cubicBezTo>
                    <a:cubicBezTo>
                      <a:pt x="280" y="641"/>
                      <a:pt x="236" y="631"/>
                      <a:pt x="200" y="610"/>
                    </a:cubicBezTo>
                    <a:cubicBezTo>
                      <a:pt x="163" y="588"/>
                      <a:pt x="121" y="558"/>
                      <a:pt x="100" y="5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CAD2"/>
                  </a:gs>
                  <a:gs pos="55000">
                    <a:srgbClr val="F1A7B5"/>
                  </a:gs>
                  <a:gs pos="100000">
                    <a:srgbClr val="B47D87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6C4B51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39" name="Forma 40"/>
              <p:cNvSpPr/>
              <p:nvPr/>
            </p:nvSpPr>
            <p:spPr>
              <a:xfrm>
                <a:off x="4297680" y="3931920"/>
                <a:ext cx="1645920" cy="128381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 fill="none">
                    <a:moveTo>
                      <a:pt x="180" y="300"/>
                    </a:moveTo>
                    <a:cubicBezTo>
                      <a:pt x="260" y="260"/>
                      <a:pt x="280" y="360"/>
                      <a:pt x="360" y="320"/>
                    </a:cubicBezTo>
                    <a:cubicBezTo>
                      <a:pt x="430" y="280"/>
                      <a:pt x="420" y="200"/>
                      <a:pt x="500" y="190"/>
                    </a:cubicBezTo>
                  </a:path>
                  <a:path w="1000" h="780" fill="none">
                    <a:moveTo>
                      <a:pt x="560" y="160"/>
                    </a:moveTo>
                    <a:cubicBezTo>
                      <a:pt x="620" y="230"/>
                      <a:pt x="700" y="200"/>
                      <a:pt x="760" y="260"/>
                    </a:cubicBezTo>
                    <a:cubicBezTo>
                      <a:pt x="820" y="320"/>
                      <a:pt x="800" y="380"/>
                      <a:pt x="870" y="400"/>
                    </a:cubicBezTo>
                  </a:path>
                  <a:path w="1000" h="780" fill="none">
                    <a:moveTo>
                      <a:pt x="150" y="460"/>
                    </a:moveTo>
                    <a:cubicBezTo>
                      <a:pt x="240" y="430"/>
                      <a:pt x="300" y="500"/>
                      <a:pt x="380" y="470"/>
                    </a:cubicBezTo>
                    <a:cubicBezTo>
                      <a:pt x="460" y="440"/>
                      <a:pt x="500" y="520"/>
                      <a:pt x="580" y="500"/>
                    </a:cubicBezTo>
                  </a:path>
                  <a:path w="1000" h="780" fill="none">
                    <a:moveTo>
                      <a:pt x="420" y="330"/>
                    </a:moveTo>
                    <a:cubicBezTo>
                      <a:pt x="480" y="380"/>
                      <a:pt x="560" y="330"/>
                      <a:pt x="620" y="380"/>
                    </a:cubicBezTo>
                    <a:cubicBezTo>
                      <a:pt x="680" y="430"/>
                      <a:pt x="740" y="400"/>
                      <a:pt x="800" y="470"/>
                    </a:cubicBezTo>
                  </a:path>
                  <a:path w="1000" h="780" fill="none">
                    <a:moveTo>
                      <a:pt x="300" y="560"/>
                    </a:moveTo>
                    <a:cubicBezTo>
                      <a:pt x="380" y="540"/>
                      <a:pt x="420" y="600"/>
                      <a:pt x="500" y="580"/>
                    </a:cubicBezTo>
                  </a:path>
                  <a:path w="1000" h="780" fill="none">
                    <a:moveTo>
                      <a:pt x="640" y="520"/>
                    </a:moveTo>
                    <a:cubicBezTo>
                      <a:pt x="700" y="500"/>
                      <a:pt x="760" y="540"/>
                      <a:pt x="820" y="520"/>
                    </a:cubicBezTo>
                  </a:path>
                </a:pathLst>
              </a:custGeom>
              <a:noFill/>
              <a:ln w="22225" cap="rnd">
                <a:solidFill>
                  <a:srgbClr val="90646C"/>
                </a:solidFill>
                <a:round/>
              </a:ln>
            </p:spPr>
          </p:sp>
        </p:grpSp>
      </p:grpSp>
      <p:sp>
        <p:nvSpPr>
          <p:cNvPr id="40" name="Distribución CK"/>
          <p:cNvSpPr/>
          <p:nvPr/>
        </p:nvSpPr>
        <p:spPr>
          <a:xfrm>
            <a:off x="6263640" y="3657600"/>
            <a:ext cx="5669280" cy="278892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Presente en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todos los tejidos musculares y en el cerebro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alta sensibilidad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pero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baja especificidad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para el IAM.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641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7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CREATÍN FOSFOQUINASA (CPK / CK)</a:t>
            </a:r>
            <a:endParaRPr lang="es-AR" sz="27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4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40" grpId="0" animBg="1"/>
    </p:bld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K-BB"/>
          <p:cNvGrpSpPr/>
          <p:nvPr/>
        </p:nvGrpSpPr>
        <p:grpSpPr>
          <a:xfrm>
            <a:off x="457200" y="1371600"/>
            <a:ext cx="2103120" cy="2514600"/>
            <a:chOff x="457200" y="1371600"/>
            <a:chExt cx="2103120" cy="2514600"/>
          </a:xfrm>
        </p:grpSpPr>
        <p:sp>
          <p:nvSpPr>
            <p:cNvPr id="6" name="Forma 5"/>
            <p:cNvSpPr/>
            <p:nvPr/>
          </p:nvSpPr>
          <p:spPr>
            <a:xfrm>
              <a:off x="594360" y="137160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BB8ECD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463040" y="137160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BB8ECD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8" name="Rótulo CK-BB"/>
            <p:cNvSpPr/>
            <p:nvPr/>
          </p:nvSpPr>
          <p:spPr>
            <a:xfrm>
              <a:off x="502920" y="2514600"/>
              <a:ext cx="2011680" cy="33528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CK-BB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9" name="Forma 8"/>
            <p:cNvSpPr txBox="1"/>
            <p:nvPr/>
          </p:nvSpPr>
          <p:spPr>
            <a:xfrm>
              <a:off x="457200" y="3063240"/>
              <a:ext cx="210312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Cerebro (brain)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0" name="!!CK-MM"/>
          <p:cNvGrpSpPr/>
          <p:nvPr/>
        </p:nvGrpSpPr>
        <p:grpSpPr>
          <a:xfrm>
            <a:off x="3108960" y="1371600"/>
            <a:ext cx="2103120" cy="2514600"/>
            <a:chOff x="3108960" y="1371600"/>
            <a:chExt cx="2103120" cy="2514600"/>
          </a:xfrm>
        </p:grpSpPr>
        <p:sp>
          <p:nvSpPr>
            <p:cNvPr id="11" name="Forma 10"/>
            <p:cNvSpPr/>
            <p:nvPr/>
          </p:nvSpPr>
          <p:spPr>
            <a:xfrm>
              <a:off x="3246120" y="137160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F0938A"/>
                </a:gs>
                <a:gs pos="55000">
                  <a:srgbClr val="E74C3C"/>
                </a:gs>
                <a:gs pos="100000">
                  <a:srgbClr val="AD392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326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4114800" y="137160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F0938A"/>
                </a:gs>
                <a:gs pos="55000">
                  <a:srgbClr val="E74C3C"/>
                </a:gs>
                <a:gs pos="100000">
                  <a:srgbClr val="AD392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326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3" name="Rótulo CK-MM"/>
            <p:cNvSpPr/>
            <p:nvPr/>
          </p:nvSpPr>
          <p:spPr>
            <a:xfrm>
              <a:off x="3154680" y="2514600"/>
              <a:ext cx="2011680" cy="33528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CK-MM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4" name="Forma 13"/>
            <p:cNvSpPr txBox="1"/>
            <p:nvPr/>
          </p:nvSpPr>
          <p:spPr>
            <a:xfrm>
              <a:off x="3108960" y="3063240"/>
              <a:ext cx="210312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Músculo esquelético (muscle)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5" name="!!CK-MB"/>
          <p:cNvGrpSpPr/>
          <p:nvPr/>
        </p:nvGrpSpPr>
        <p:grpSpPr>
          <a:xfrm>
            <a:off x="5760720" y="1371600"/>
            <a:ext cx="2103120" cy="2514600"/>
            <a:chOff x="5760720" y="1371600"/>
            <a:chExt cx="2103120" cy="2514600"/>
          </a:xfrm>
        </p:grpSpPr>
        <p:sp>
          <p:nvSpPr>
            <p:cNvPr id="16" name="Forma 15"/>
            <p:cNvSpPr/>
            <p:nvPr/>
          </p:nvSpPr>
          <p:spPr>
            <a:xfrm>
              <a:off x="5897880" y="137160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F0938A"/>
                </a:gs>
                <a:gs pos="55000">
                  <a:srgbClr val="E74C3C"/>
                </a:gs>
                <a:gs pos="100000">
                  <a:srgbClr val="AD392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326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6766560" y="1371600"/>
              <a:ext cx="960120" cy="960120"/>
            </a:xfrm>
            <a:prstGeom prst="ellipse">
              <a:avLst/>
            </a:prstGeom>
            <a:gradFill rotWithShape="1">
              <a:gsLst>
                <a:gs pos="0">
                  <a:srgbClr val="BB8ECD"/>
                </a:gs>
                <a:gs pos="55000">
                  <a:srgbClr val="8E44AD"/>
                </a:gs>
                <a:gs pos="100000">
                  <a:srgbClr val="6A3381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8" name="Rótulo CK-MB"/>
            <p:cNvSpPr/>
            <p:nvPr/>
          </p:nvSpPr>
          <p:spPr>
            <a:xfrm>
              <a:off x="5806440" y="2514600"/>
              <a:ext cx="2011680" cy="335280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CK-MB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9" name="Forma 18"/>
            <p:cNvSpPr txBox="1"/>
            <p:nvPr/>
          </p:nvSpPr>
          <p:spPr>
            <a:xfrm>
              <a:off x="5760720" y="3063240"/>
              <a:ext cx="210312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Corazón: más MB que en músculo o cerebro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0" name="Proporción corazón"/>
          <p:cNvGrpSpPr/>
          <p:nvPr/>
        </p:nvGrpSpPr>
        <p:grpSpPr>
          <a:xfrm>
            <a:off x="548640" y="4160520"/>
            <a:ext cx="2377440" cy="2331720"/>
            <a:chOff x="548640" y="4160520"/>
            <a:chExt cx="2377440" cy="2331720"/>
          </a:xfrm>
        </p:grpSpPr>
        <p:sp>
          <p:nvSpPr>
            <p:cNvPr id="21" name="Forma 20"/>
            <p:cNvSpPr/>
            <p:nvPr/>
          </p:nvSpPr>
          <p:spPr>
            <a:xfrm>
              <a:off x="731520" y="4160520"/>
              <a:ext cx="2011680" cy="2011680"/>
            </a:xfrm>
            <a:prstGeom prst="pie">
              <a:avLst>
                <a:gd name="adj1" fmla="val 16200000"/>
                <a:gd name="adj2" fmla="val 10800000"/>
              </a:avLst>
            </a:prstGeom>
            <a:solidFill>
              <a:srgbClr val="E74C3C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731520" y="4160520"/>
              <a:ext cx="2011680" cy="2011680"/>
            </a:xfrm>
            <a:prstGeom prst="pie">
              <a:avLst>
                <a:gd name="adj1" fmla="val 10800000"/>
                <a:gd name="adj2" fmla="val 14400000"/>
              </a:avLst>
            </a:prstGeom>
            <a:solidFill>
              <a:srgbClr val="F4D03F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731520" y="4160520"/>
              <a:ext cx="2011680" cy="2011680"/>
            </a:xfrm>
            <a:prstGeom prst="pie">
              <a:avLst>
                <a:gd name="adj1" fmla="val 14400000"/>
                <a:gd name="adj2" fmla="val 16200000"/>
              </a:avLst>
            </a:prstGeom>
            <a:solidFill>
              <a:srgbClr val="8E44AD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4" name="Forma 23"/>
            <p:cNvSpPr txBox="1"/>
            <p:nvPr/>
          </p:nvSpPr>
          <p:spPr>
            <a:xfrm>
              <a:off x="548640" y="6217920"/>
              <a:ext cx="2377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corazón: MM &gt; MB &gt; BB (esquema)</a:t>
              </a:r>
              <a:endParaRPr lang="es-AR" sz="1150" dirty="0">
                <a:latin typeface="Calibri"/>
              </a:endParaRPr>
            </a:p>
          </p:txBody>
        </p:sp>
      </p:grpSp>
      <p:sp>
        <p:nvSpPr>
          <p:cNvPr id="25" name="Proporciones CK"/>
          <p:cNvSpPr/>
          <p:nvPr/>
        </p:nvSpPr>
        <p:spPr>
          <a:xfrm>
            <a:off x="3108960" y="4160520"/>
            <a:ext cx="493776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Las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tres isoenzimas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están en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tres tejidos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cambia la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proporción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En el corazón la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MM sigue siendo la mayoritaria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pero la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es proporcionalmente más alta que en músculo o cerebro.</a:t>
            </a:r>
            <a:endParaRPr lang="es-AR" sz="1850" dirty="0">
              <a:latin typeface="Calibri"/>
            </a:endParaRPr>
          </a:p>
        </p:txBody>
      </p:sp>
      <p:grpSp>
        <p:nvGrpSpPr>
          <p:cNvPr id="26" name="Def isoenzima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7" name="Forma 26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Isoenzima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cataliza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misma reacción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con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distinta estructura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molecular.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8677656" y="1097280"/>
              <a:ext cx="122569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DEFINICIÓN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9" name="Mnemotecnia CK"/>
          <p:cNvSpPr/>
          <p:nvPr/>
        </p:nvSpPr>
        <p:spPr>
          <a:xfrm>
            <a:off x="8549640" y="4069080"/>
            <a:ext cx="3383280" cy="23774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Mnemotecnia: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 = brain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 = muscle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= mezcla → corazón.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LAS TRES ISOENZIMAS DE LA CK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 animBg="1"/>
    </p:bld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Traumatismo muscular"/>
          <p:cNvGrpSpPr/>
          <p:nvPr/>
        </p:nvGrpSpPr>
        <p:grpSpPr>
          <a:xfrm>
            <a:off x="457200" y="1188720"/>
            <a:ext cx="3291840" cy="1724193"/>
            <a:chOff x="457200" y="1188720"/>
            <a:chExt cx="3291840" cy="1724193"/>
          </a:xfrm>
        </p:grpSpPr>
        <p:grpSp>
          <p:nvGrpSpPr>
            <p:cNvPr id="6" name="Músculo trauma"/>
            <p:cNvGrpSpPr/>
            <p:nvPr/>
          </p:nvGrpSpPr>
          <p:grpSpPr>
            <a:xfrm>
              <a:off x="457200" y="1280160"/>
              <a:ext cx="3291840" cy="1632753"/>
              <a:chOff x="457200" y="1280160"/>
              <a:chExt cx="3291840" cy="1632753"/>
            </a:xfrm>
          </p:grpSpPr>
          <p:grpSp>
            <p:nvGrpSpPr>
              <p:cNvPr id="7" name="Fibra"/>
              <p:cNvGrpSpPr/>
              <p:nvPr/>
            </p:nvGrpSpPr>
            <p:grpSpPr>
              <a:xfrm>
                <a:off x="457200" y="1280160"/>
                <a:ext cx="3028493" cy="526694"/>
                <a:chOff x="457200" y="1280160"/>
                <a:chExt cx="3028493" cy="526694"/>
              </a:xfrm>
            </p:grpSpPr>
            <p:sp>
              <p:nvSpPr>
                <p:cNvPr id="8" name="Forma 7"/>
                <p:cNvSpPr/>
                <p:nvPr/>
              </p:nvSpPr>
              <p:spPr>
                <a:xfrm>
                  <a:off x="457200" y="1280160"/>
                  <a:ext cx="3028493" cy="52669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9" name="Forma 8"/>
                <p:cNvSpPr/>
                <p:nvPr/>
              </p:nvSpPr>
              <p:spPr>
                <a:xfrm>
                  <a:off x="588874" y="1280160"/>
                  <a:ext cx="2765146" cy="5266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3" y="80"/>
                      </a:moveTo>
                      <a:lnTo>
                        <a:pt x="13" y="920"/>
                      </a:lnTo>
                    </a:path>
                    <a:path w="1000" h="1000" fill="none">
                      <a:moveTo>
                        <a:pt x="41" y="80"/>
                      </a:moveTo>
                      <a:lnTo>
                        <a:pt x="41" y="920"/>
                      </a:lnTo>
                    </a:path>
                    <a:path w="1000" h="1000" fill="none">
                      <a:moveTo>
                        <a:pt x="69" y="80"/>
                      </a:moveTo>
                      <a:lnTo>
                        <a:pt x="69" y="920"/>
                      </a:lnTo>
                    </a:path>
                    <a:path w="1000" h="1000" fill="none">
                      <a:moveTo>
                        <a:pt x="97" y="80"/>
                      </a:moveTo>
                      <a:lnTo>
                        <a:pt x="97" y="920"/>
                      </a:lnTo>
                    </a:path>
                    <a:path w="1000" h="1000" fill="none">
                      <a:moveTo>
                        <a:pt x="125" y="80"/>
                      </a:moveTo>
                      <a:lnTo>
                        <a:pt x="125" y="920"/>
                      </a:lnTo>
                    </a:path>
                    <a:path w="1000" h="1000" fill="none">
                      <a:moveTo>
                        <a:pt x="152" y="80"/>
                      </a:moveTo>
                      <a:lnTo>
                        <a:pt x="152" y="920"/>
                      </a:lnTo>
                    </a:path>
                    <a:path w="1000" h="1000" fill="none">
                      <a:moveTo>
                        <a:pt x="180" y="80"/>
                      </a:moveTo>
                      <a:lnTo>
                        <a:pt x="180" y="920"/>
                      </a:lnTo>
                    </a:path>
                    <a:path w="1000" h="1000" fill="none">
                      <a:moveTo>
                        <a:pt x="208" y="80"/>
                      </a:moveTo>
                      <a:lnTo>
                        <a:pt x="208" y="920"/>
                      </a:lnTo>
                    </a:path>
                    <a:path w="1000" h="1000" fill="none">
                      <a:moveTo>
                        <a:pt x="236" y="80"/>
                      </a:moveTo>
                      <a:lnTo>
                        <a:pt x="236" y="920"/>
                      </a:lnTo>
                    </a:path>
                    <a:path w="1000" h="1000" fill="none">
                      <a:moveTo>
                        <a:pt x="263" y="80"/>
                      </a:moveTo>
                      <a:lnTo>
                        <a:pt x="263" y="920"/>
                      </a:lnTo>
                    </a:path>
                    <a:path w="1000" h="1000" fill="none">
                      <a:moveTo>
                        <a:pt x="291" y="80"/>
                      </a:moveTo>
                      <a:lnTo>
                        <a:pt x="291" y="920"/>
                      </a:lnTo>
                    </a:path>
                    <a:path w="1000" h="1000" fill="none">
                      <a:moveTo>
                        <a:pt x="319" y="80"/>
                      </a:moveTo>
                      <a:lnTo>
                        <a:pt x="319" y="920"/>
                      </a:lnTo>
                    </a:path>
                    <a:path w="1000" h="1000" fill="none">
                      <a:moveTo>
                        <a:pt x="347" y="80"/>
                      </a:moveTo>
                      <a:lnTo>
                        <a:pt x="347" y="920"/>
                      </a:lnTo>
                    </a:path>
                    <a:path w="1000" h="1000" fill="none">
                      <a:moveTo>
                        <a:pt x="375" y="80"/>
                      </a:moveTo>
                      <a:lnTo>
                        <a:pt x="375" y="920"/>
                      </a:lnTo>
                    </a:path>
                    <a:path w="1000" h="1000" fill="none">
                      <a:moveTo>
                        <a:pt x="402" y="80"/>
                      </a:moveTo>
                      <a:lnTo>
                        <a:pt x="402" y="920"/>
                      </a:lnTo>
                    </a:path>
                    <a:path w="1000" h="1000" fill="none">
                      <a:moveTo>
                        <a:pt x="430" y="80"/>
                      </a:moveTo>
                      <a:lnTo>
                        <a:pt x="430" y="920"/>
                      </a:lnTo>
                    </a:path>
                    <a:path w="1000" h="1000" fill="none">
                      <a:moveTo>
                        <a:pt x="458" y="80"/>
                      </a:moveTo>
                      <a:lnTo>
                        <a:pt x="458" y="920"/>
                      </a:lnTo>
                    </a:path>
                    <a:path w="1000" h="1000" fill="none">
                      <a:moveTo>
                        <a:pt x="486" y="80"/>
                      </a:moveTo>
                      <a:lnTo>
                        <a:pt x="486" y="920"/>
                      </a:lnTo>
                    </a:path>
                    <a:path w="1000" h="1000" fill="none">
                      <a:moveTo>
                        <a:pt x="513" y="80"/>
                      </a:moveTo>
                      <a:lnTo>
                        <a:pt x="513" y="920"/>
                      </a:lnTo>
                    </a:path>
                    <a:path w="1000" h="1000" fill="none">
                      <a:moveTo>
                        <a:pt x="541" y="80"/>
                      </a:moveTo>
                      <a:lnTo>
                        <a:pt x="541" y="920"/>
                      </a:lnTo>
                    </a:path>
                    <a:path w="1000" h="1000" fill="none">
                      <a:moveTo>
                        <a:pt x="569" y="80"/>
                      </a:moveTo>
                      <a:lnTo>
                        <a:pt x="569" y="920"/>
                      </a:lnTo>
                    </a:path>
                    <a:path w="1000" h="1000" fill="none">
                      <a:moveTo>
                        <a:pt x="597" y="80"/>
                      </a:moveTo>
                      <a:lnTo>
                        <a:pt x="597" y="920"/>
                      </a:lnTo>
                    </a:path>
                    <a:path w="1000" h="1000" fill="none">
                      <a:moveTo>
                        <a:pt x="625" y="80"/>
                      </a:moveTo>
                      <a:lnTo>
                        <a:pt x="625" y="920"/>
                      </a:lnTo>
                    </a:path>
                    <a:path w="1000" h="1000" fill="none">
                      <a:moveTo>
                        <a:pt x="652" y="80"/>
                      </a:moveTo>
                      <a:lnTo>
                        <a:pt x="652" y="920"/>
                      </a:lnTo>
                    </a:path>
                    <a:path w="1000" h="1000" fill="none">
                      <a:moveTo>
                        <a:pt x="680" y="80"/>
                      </a:moveTo>
                      <a:lnTo>
                        <a:pt x="680" y="920"/>
                      </a:lnTo>
                    </a:path>
                    <a:path w="1000" h="1000" fill="none">
                      <a:moveTo>
                        <a:pt x="708" y="80"/>
                      </a:moveTo>
                      <a:lnTo>
                        <a:pt x="708" y="920"/>
                      </a:lnTo>
                    </a:path>
                    <a:path w="1000" h="1000" fill="none">
                      <a:moveTo>
                        <a:pt x="736" y="80"/>
                      </a:moveTo>
                      <a:lnTo>
                        <a:pt x="736" y="920"/>
                      </a:lnTo>
                    </a:path>
                    <a:path w="1000" h="1000" fill="none">
                      <a:moveTo>
                        <a:pt x="763" y="80"/>
                      </a:moveTo>
                      <a:lnTo>
                        <a:pt x="763" y="920"/>
                      </a:lnTo>
                    </a:path>
                    <a:path w="1000" h="1000" fill="none">
                      <a:moveTo>
                        <a:pt x="791" y="80"/>
                      </a:moveTo>
                      <a:lnTo>
                        <a:pt x="791" y="920"/>
                      </a:lnTo>
                    </a:path>
                    <a:path w="1000" h="1000" fill="none">
                      <a:moveTo>
                        <a:pt x="819" y="80"/>
                      </a:moveTo>
                      <a:lnTo>
                        <a:pt x="819" y="920"/>
                      </a:lnTo>
                    </a:path>
                    <a:path w="1000" h="1000" fill="none">
                      <a:moveTo>
                        <a:pt x="847" y="80"/>
                      </a:moveTo>
                      <a:lnTo>
                        <a:pt x="847" y="920"/>
                      </a:lnTo>
                    </a:path>
                    <a:path w="1000" h="1000" fill="none">
                      <a:moveTo>
                        <a:pt x="875" y="80"/>
                      </a:moveTo>
                      <a:lnTo>
                        <a:pt x="875" y="920"/>
                      </a:lnTo>
                    </a:path>
                    <a:path w="1000" h="1000" fill="none">
                      <a:moveTo>
                        <a:pt x="902" y="80"/>
                      </a:moveTo>
                      <a:lnTo>
                        <a:pt x="902" y="920"/>
                      </a:lnTo>
                    </a:path>
                    <a:path w="1000" h="1000" fill="none">
                      <a:moveTo>
                        <a:pt x="930" y="80"/>
                      </a:moveTo>
                      <a:lnTo>
                        <a:pt x="930" y="920"/>
                      </a:lnTo>
                    </a:path>
                    <a:path w="1000" h="1000" fill="none">
                      <a:moveTo>
                        <a:pt x="958" y="80"/>
                      </a:moveTo>
                      <a:lnTo>
                        <a:pt x="958" y="920"/>
                      </a:lnTo>
                    </a:path>
                    <a:path w="1000" h="1000" fill="none">
                      <a:moveTo>
                        <a:pt x="986" y="80"/>
                      </a:moveTo>
                      <a:lnTo>
                        <a:pt x="986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10" name="Forma 9"/>
                <p:cNvSpPr/>
                <p:nvPr/>
              </p:nvSpPr>
              <p:spPr>
                <a:xfrm>
                  <a:off x="1062899" y="1301228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11" name="Forma 10"/>
                <p:cNvSpPr/>
                <p:nvPr/>
              </p:nvSpPr>
              <p:spPr>
                <a:xfrm>
                  <a:off x="2122871" y="1301228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12" name="Forma 11"/>
                <p:cNvSpPr/>
                <p:nvPr/>
              </p:nvSpPr>
              <p:spPr>
                <a:xfrm>
                  <a:off x="3031419" y="1301228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13" name="Forma 12"/>
                <p:cNvSpPr/>
                <p:nvPr/>
              </p:nvSpPr>
              <p:spPr>
                <a:xfrm>
                  <a:off x="3264481" y="1301228"/>
                  <a:ext cx="210678" cy="48455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14" name="Fibra_2"/>
              <p:cNvGrpSpPr/>
              <p:nvPr/>
            </p:nvGrpSpPr>
            <p:grpSpPr>
              <a:xfrm>
                <a:off x="588874" y="1833189"/>
                <a:ext cx="3028493" cy="526694"/>
                <a:chOff x="588874" y="1833189"/>
                <a:chExt cx="3028493" cy="526694"/>
              </a:xfrm>
            </p:grpSpPr>
            <p:sp>
              <p:nvSpPr>
                <p:cNvPr id="15" name="Forma 14"/>
                <p:cNvSpPr/>
                <p:nvPr/>
              </p:nvSpPr>
              <p:spPr>
                <a:xfrm>
                  <a:off x="588874" y="1833189"/>
                  <a:ext cx="3028493" cy="52669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16" name="Forma 15"/>
                <p:cNvSpPr/>
                <p:nvPr/>
              </p:nvSpPr>
              <p:spPr>
                <a:xfrm>
                  <a:off x="720547" y="1833189"/>
                  <a:ext cx="2765146" cy="5266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3" y="80"/>
                      </a:moveTo>
                      <a:lnTo>
                        <a:pt x="13" y="920"/>
                      </a:lnTo>
                    </a:path>
                    <a:path w="1000" h="1000" fill="none">
                      <a:moveTo>
                        <a:pt x="41" y="80"/>
                      </a:moveTo>
                      <a:lnTo>
                        <a:pt x="41" y="920"/>
                      </a:lnTo>
                    </a:path>
                    <a:path w="1000" h="1000" fill="none">
                      <a:moveTo>
                        <a:pt x="69" y="80"/>
                      </a:moveTo>
                      <a:lnTo>
                        <a:pt x="69" y="920"/>
                      </a:lnTo>
                    </a:path>
                    <a:path w="1000" h="1000" fill="none">
                      <a:moveTo>
                        <a:pt x="97" y="80"/>
                      </a:moveTo>
                      <a:lnTo>
                        <a:pt x="97" y="920"/>
                      </a:lnTo>
                    </a:path>
                    <a:path w="1000" h="1000" fill="none">
                      <a:moveTo>
                        <a:pt x="125" y="80"/>
                      </a:moveTo>
                      <a:lnTo>
                        <a:pt x="125" y="920"/>
                      </a:lnTo>
                    </a:path>
                    <a:path w="1000" h="1000" fill="none">
                      <a:moveTo>
                        <a:pt x="152" y="80"/>
                      </a:moveTo>
                      <a:lnTo>
                        <a:pt x="152" y="920"/>
                      </a:lnTo>
                    </a:path>
                    <a:path w="1000" h="1000" fill="none">
                      <a:moveTo>
                        <a:pt x="180" y="80"/>
                      </a:moveTo>
                      <a:lnTo>
                        <a:pt x="180" y="920"/>
                      </a:lnTo>
                    </a:path>
                    <a:path w="1000" h="1000" fill="none">
                      <a:moveTo>
                        <a:pt x="208" y="80"/>
                      </a:moveTo>
                      <a:lnTo>
                        <a:pt x="208" y="920"/>
                      </a:lnTo>
                    </a:path>
                    <a:path w="1000" h="1000" fill="none">
                      <a:moveTo>
                        <a:pt x="236" y="80"/>
                      </a:moveTo>
                      <a:lnTo>
                        <a:pt x="236" y="920"/>
                      </a:lnTo>
                    </a:path>
                    <a:path w="1000" h="1000" fill="none">
                      <a:moveTo>
                        <a:pt x="263" y="80"/>
                      </a:moveTo>
                      <a:lnTo>
                        <a:pt x="263" y="920"/>
                      </a:lnTo>
                    </a:path>
                    <a:path w="1000" h="1000" fill="none">
                      <a:moveTo>
                        <a:pt x="291" y="80"/>
                      </a:moveTo>
                      <a:lnTo>
                        <a:pt x="291" y="920"/>
                      </a:lnTo>
                    </a:path>
                    <a:path w="1000" h="1000" fill="none">
                      <a:moveTo>
                        <a:pt x="319" y="80"/>
                      </a:moveTo>
                      <a:lnTo>
                        <a:pt x="319" y="920"/>
                      </a:lnTo>
                    </a:path>
                    <a:path w="1000" h="1000" fill="none">
                      <a:moveTo>
                        <a:pt x="347" y="80"/>
                      </a:moveTo>
                      <a:lnTo>
                        <a:pt x="347" y="920"/>
                      </a:lnTo>
                    </a:path>
                    <a:path w="1000" h="1000" fill="none">
                      <a:moveTo>
                        <a:pt x="375" y="80"/>
                      </a:moveTo>
                      <a:lnTo>
                        <a:pt x="375" y="920"/>
                      </a:lnTo>
                    </a:path>
                    <a:path w="1000" h="1000" fill="none">
                      <a:moveTo>
                        <a:pt x="402" y="80"/>
                      </a:moveTo>
                      <a:lnTo>
                        <a:pt x="402" y="920"/>
                      </a:lnTo>
                    </a:path>
                    <a:path w="1000" h="1000" fill="none">
                      <a:moveTo>
                        <a:pt x="430" y="80"/>
                      </a:moveTo>
                      <a:lnTo>
                        <a:pt x="430" y="920"/>
                      </a:lnTo>
                    </a:path>
                    <a:path w="1000" h="1000" fill="none">
                      <a:moveTo>
                        <a:pt x="458" y="80"/>
                      </a:moveTo>
                      <a:lnTo>
                        <a:pt x="458" y="920"/>
                      </a:lnTo>
                    </a:path>
                    <a:path w="1000" h="1000" fill="none">
                      <a:moveTo>
                        <a:pt x="486" y="80"/>
                      </a:moveTo>
                      <a:lnTo>
                        <a:pt x="486" y="920"/>
                      </a:lnTo>
                    </a:path>
                    <a:path w="1000" h="1000" fill="none">
                      <a:moveTo>
                        <a:pt x="513" y="80"/>
                      </a:moveTo>
                      <a:lnTo>
                        <a:pt x="513" y="920"/>
                      </a:lnTo>
                    </a:path>
                    <a:path w="1000" h="1000" fill="none">
                      <a:moveTo>
                        <a:pt x="541" y="80"/>
                      </a:moveTo>
                      <a:lnTo>
                        <a:pt x="541" y="920"/>
                      </a:lnTo>
                    </a:path>
                    <a:path w="1000" h="1000" fill="none">
                      <a:moveTo>
                        <a:pt x="569" y="80"/>
                      </a:moveTo>
                      <a:lnTo>
                        <a:pt x="569" y="920"/>
                      </a:lnTo>
                    </a:path>
                    <a:path w="1000" h="1000" fill="none">
                      <a:moveTo>
                        <a:pt x="597" y="80"/>
                      </a:moveTo>
                      <a:lnTo>
                        <a:pt x="597" y="920"/>
                      </a:lnTo>
                    </a:path>
                    <a:path w="1000" h="1000" fill="none">
                      <a:moveTo>
                        <a:pt x="625" y="80"/>
                      </a:moveTo>
                      <a:lnTo>
                        <a:pt x="625" y="920"/>
                      </a:lnTo>
                    </a:path>
                    <a:path w="1000" h="1000" fill="none">
                      <a:moveTo>
                        <a:pt x="652" y="80"/>
                      </a:moveTo>
                      <a:lnTo>
                        <a:pt x="652" y="920"/>
                      </a:lnTo>
                    </a:path>
                    <a:path w="1000" h="1000" fill="none">
                      <a:moveTo>
                        <a:pt x="680" y="80"/>
                      </a:moveTo>
                      <a:lnTo>
                        <a:pt x="680" y="920"/>
                      </a:lnTo>
                    </a:path>
                    <a:path w="1000" h="1000" fill="none">
                      <a:moveTo>
                        <a:pt x="708" y="80"/>
                      </a:moveTo>
                      <a:lnTo>
                        <a:pt x="708" y="920"/>
                      </a:lnTo>
                    </a:path>
                    <a:path w="1000" h="1000" fill="none">
                      <a:moveTo>
                        <a:pt x="736" y="80"/>
                      </a:moveTo>
                      <a:lnTo>
                        <a:pt x="736" y="920"/>
                      </a:lnTo>
                    </a:path>
                    <a:path w="1000" h="1000" fill="none">
                      <a:moveTo>
                        <a:pt x="763" y="80"/>
                      </a:moveTo>
                      <a:lnTo>
                        <a:pt x="763" y="920"/>
                      </a:lnTo>
                    </a:path>
                    <a:path w="1000" h="1000" fill="none">
                      <a:moveTo>
                        <a:pt x="791" y="80"/>
                      </a:moveTo>
                      <a:lnTo>
                        <a:pt x="791" y="920"/>
                      </a:lnTo>
                    </a:path>
                    <a:path w="1000" h="1000" fill="none">
                      <a:moveTo>
                        <a:pt x="819" y="80"/>
                      </a:moveTo>
                      <a:lnTo>
                        <a:pt x="819" y="920"/>
                      </a:lnTo>
                    </a:path>
                    <a:path w="1000" h="1000" fill="none">
                      <a:moveTo>
                        <a:pt x="847" y="80"/>
                      </a:moveTo>
                      <a:lnTo>
                        <a:pt x="847" y="920"/>
                      </a:lnTo>
                    </a:path>
                    <a:path w="1000" h="1000" fill="none">
                      <a:moveTo>
                        <a:pt x="875" y="80"/>
                      </a:moveTo>
                      <a:lnTo>
                        <a:pt x="875" y="920"/>
                      </a:lnTo>
                    </a:path>
                    <a:path w="1000" h="1000" fill="none">
                      <a:moveTo>
                        <a:pt x="902" y="80"/>
                      </a:moveTo>
                      <a:lnTo>
                        <a:pt x="902" y="920"/>
                      </a:lnTo>
                    </a:path>
                    <a:path w="1000" h="1000" fill="none">
                      <a:moveTo>
                        <a:pt x="930" y="80"/>
                      </a:moveTo>
                      <a:lnTo>
                        <a:pt x="930" y="920"/>
                      </a:lnTo>
                    </a:path>
                    <a:path w="1000" h="1000" fill="none">
                      <a:moveTo>
                        <a:pt x="958" y="80"/>
                      </a:moveTo>
                      <a:lnTo>
                        <a:pt x="958" y="920"/>
                      </a:lnTo>
                    </a:path>
                    <a:path w="1000" h="1000" fill="none">
                      <a:moveTo>
                        <a:pt x="986" y="80"/>
                      </a:moveTo>
                      <a:lnTo>
                        <a:pt x="986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17" name="Forma 16"/>
                <p:cNvSpPr/>
                <p:nvPr/>
              </p:nvSpPr>
              <p:spPr>
                <a:xfrm>
                  <a:off x="1194572" y="1854257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18" name="Forma 17"/>
                <p:cNvSpPr/>
                <p:nvPr/>
              </p:nvSpPr>
              <p:spPr>
                <a:xfrm>
                  <a:off x="2254545" y="1854257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19" name="Forma 18"/>
                <p:cNvSpPr/>
                <p:nvPr/>
              </p:nvSpPr>
              <p:spPr>
                <a:xfrm>
                  <a:off x="3163092" y="1854257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0" name="Forma 19"/>
                <p:cNvSpPr/>
                <p:nvPr/>
              </p:nvSpPr>
              <p:spPr>
                <a:xfrm>
                  <a:off x="3396155" y="1854257"/>
                  <a:ext cx="210678" cy="48455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21" name="Fibra_3"/>
              <p:cNvGrpSpPr/>
              <p:nvPr/>
            </p:nvGrpSpPr>
            <p:grpSpPr>
              <a:xfrm>
                <a:off x="720547" y="2386218"/>
                <a:ext cx="3028493" cy="526694"/>
                <a:chOff x="720547" y="2386218"/>
                <a:chExt cx="3028493" cy="526694"/>
              </a:xfrm>
            </p:grpSpPr>
            <p:sp>
              <p:nvSpPr>
                <p:cNvPr id="22" name="Forma 21"/>
                <p:cNvSpPr/>
                <p:nvPr/>
              </p:nvSpPr>
              <p:spPr>
                <a:xfrm>
                  <a:off x="720547" y="2386218"/>
                  <a:ext cx="3028493" cy="52669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23" name="Forma 22"/>
                <p:cNvSpPr/>
                <p:nvPr/>
              </p:nvSpPr>
              <p:spPr>
                <a:xfrm>
                  <a:off x="852221" y="2386218"/>
                  <a:ext cx="2765146" cy="52669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3" y="80"/>
                      </a:moveTo>
                      <a:lnTo>
                        <a:pt x="13" y="920"/>
                      </a:lnTo>
                    </a:path>
                    <a:path w="1000" h="1000" fill="none">
                      <a:moveTo>
                        <a:pt x="41" y="80"/>
                      </a:moveTo>
                      <a:lnTo>
                        <a:pt x="41" y="920"/>
                      </a:lnTo>
                    </a:path>
                    <a:path w="1000" h="1000" fill="none">
                      <a:moveTo>
                        <a:pt x="69" y="80"/>
                      </a:moveTo>
                      <a:lnTo>
                        <a:pt x="69" y="920"/>
                      </a:lnTo>
                    </a:path>
                    <a:path w="1000" h="1000" fill="none">
                      <a:moveTo>
                        <a:pt x="97" y="80"/>
                      </a:moveTo>
                      <a:lnTo>
                        <a:pt x="97" y="920"/>
                      </a:lnTo>
                    </a:path>
                    <a:path w="1000" h="1000" fill="none">
                      <a:moveTo>
                        <a:pt x="125" y="80"/>
                      </a:moveTo>
                      <a:lnTo>
                        <a:pt x="125" y="920"/>
                      </a:lnTo>
                    </a:path>
                    <a:path w="1000" h="1000" fill="none">
                      <a:moveTo>
                        <a:pt x="152" y="80"/>
                      </a:moveTo>
                      <a:lnTo>
                        <a:pt x="152" y="920"/>
                      </a:lnTo>
                    </a:path>
                    <a:path w="1000" h="1000" fill="none">
                      <a:moveTo>
                        <a:pt x="180" y="80"/>
                      </a:moveTo>
                      <a:lnTo>
                        <a:pt x="180" y="920"/>
                      </a:lnTo>
                    </a:path>
                    <a:path w="1000" h="1000" fill="none">
                      <a:moveTo>
                        <a:pt x="208" y="80"/>
                      </a:moveTo>
                      <a:lnTo>
                        <a:pt x="208" y="920"/>
                      </a:lnTo>
                    </a:path>
                    <a:path w="1000" h="1000" fill="none">
                      <a:moveTo>
                        <a:pt x="236" y="80"/>
                      </a:moveTo>
                      <a:lnTo>
                        <a:pt x="236" y="920"/>
                      </a:lnTo>
                    </a:path>
                    <a:path w="1000" h="1000" fill="none">
                      <a:moveTo>
                        <a:pt x="263" y="80"/>
                      </a:moveTo>
                      <a:lnTo>
                        <a:pt x="263" y="920"/>
                      </a:lnTo>
                    </a:path>
                    <a:path w="1000" h="1000" fill="none">
                      <a:moveTo>
                        <a:pt x="291" y="80"/>
                      </a:moveTo>
                      <a:lnTo>
                        <a:pt x="291" y="920"/>
                      </a:lnTo>
                    </a:path>
                    <a:path w="1000" h="1000" fill="none">
                      <a:moveTo>
                        <a:pt x="319" y="80"/>
                      </a:moveTo>
                      <a:lnTo>
                        <a:pt x="319" y="920"/>
                      </a:lnTo>
                    </a:path>
                    <a:path w="1000" h="1000" fill="none">
                      <a:moveTo>
                        <a:pt x="347" y="80"/>
                      </a:moveTo>
                      <a:lnTo>
                        <a:pt x="347" y="920"/>
                      </a:lnTo>
                    </a:path>
                    <a:path w="1000" h="1000" fill="none">
                      <a:moveTo>
                        <a:pt x="375" y="80"/>
                      </a:moveTo>
                      <a:lnTo>
                        <a:pt x="375" y="920"/>
                      </a:lnTo>
                    </a:path>
                    <a:path w="1000" h="1000" fill="none">
                      <a:moveTo>
                        <a:pt x="402" y="80"/>
                      </a:moveTo>
                      <a:lnTo>
                        <a:pt x="402" y="920"/>
                      </a:lnTo>
                    </a:path>
                    <a:path w="1000" h="1000" fill="none">
                      <a:moveTo>
                        <a:pt x="430" y="80"/>
                      </a:moveTo>
                      <a:lnTo>
                        <a:pt x="430" y="920"/>
                      </a:lnTo>
                    </a:path>
                    <a:path w="1000" h="1000" fill="none">
                      <a:moveTo>
                        <a:pt x="458" y="80"/>
                      </a:moveTo>
                      <a:lnTo>
                        <a:pt x="458" y="920"/>
                      </a:lnTo>
                    </a:path>
                    <a:path w="1000" h="1000" fill="none">
                      <a:moveTo>
                        <a:pt x="486" y="80"/>
                      </a:moveTo>
                      <a:lnTo>
                        <a:pt x="486" y="920"/>
                      </a:lnTo>
                    </a:path>
                    <a:path w="1000" h="1000" fill="none">
                      <a:moveTo>
                        <a:pt x="513" y="80"/>
                      </a:moveTo>
                      <a:lnTo>
                        <a:pt x="513" y="920"/>
                      </a:lnTo>
                    </a:path>
                    <a:path w="1000" h="1000" fill="none">
                      <a:moveTo>
                        <a:pt x="541" y="80"/>
                      </a:moveTo>
                      <a:lnTo>
                        <a:pt x="541" y="920"/>
                      </a:lnTo>
                    </a:path>
                    <a:path w="1000" h="1000" fill="none">
                      <a:moveTo>
                        <a:pt x="569" y="80"/>
                      </a:moveTo>
                      <a:lnTo>
                        <a:pt x="569" y="920"/>
                      </a:lnTo>
                    </a:path>
                    <a:path w="1000" h="1000" fill="none">
                      <a:moveTo>
                        <a:pt x="597" y="80"/>
                      </a:moveTo>
                      <a:lnTo>
                        <a:pt x="597" y="920"/>
                      </a:lnTo>
                    </a:path>
                    <a:path w="1000" h="1000" fill="none">
                      <a:moveTo>
                        <a:pt x="625" y="80"/>
                      </a:moveTo>
                      <a:lnTo>
                        <a:pt x="625" y="920"/>
                      </a:lnTo>
                    </a:path>
                    <a:path w="1000" h="1000" fill="none">
                      <a:moveTo>
                        <a:pt x="652" y="80"/>
                      </a:moveTo>
                      <a:lnTo>
                        <a:pt x="652" y="920"/>
                      </a:lnTo>
                    </a:path>
                    <a:path w="1000" h="1000" fill="none">
                      <a:moveTo>
                        <a:pt x="680" y="80"/>
                      </a:moveTo>
                      <a:lnTo>
                        <a:pt x="680" y="920"/>
                      </a:lnTo>
                    </a:path>
                    <a:path w="1000" h="1000" fill="none">
                      <a:moveTo>
                        <a:pt x="708" y="80"/>
                      </a:moveTo>
                      <a:lnTo>
                        <a:pt x="708" y="920"/>
                      </a:lnTo>
                    </a:path>
                    <a:path w="1000" h="1000" fill="none">
                      <a:moveTo>
                        <a:pt x="736" y="80"/>
                      </a:moveTo>
                      <a:lnTo>
                        <a:pt x="736" y="920"/>
                      </a:lnTo>
                    </a:path>
                    <a:path w="1000" h="1000" fill="none">
                      <a:moveTo>
                        <a:pt x="763" y="80"/>
                      </a:moveTo>
                      <a:lnTo>
                        <a:pt x="763" y="920"/>
                      </a:lnTo>
                    </a:path>
                    <a:path w="1000" h="1000" fill="none">
                      <a:moveTo>
                        <a:pt x="791" y="80"/>
                      </a:moveTo>
                      <a:lnTo>
                        <a:pt x="791" y="920"/>
                      </a:lnTo>
                    </a:path>
                    <a:path w="1000" h="1000" fill="none">
                      <a:moveTo>
                        <a:pt x="819" y="80"/>
                      </a:moveTo>
                      <a:lnTo>
                        <a:pt x="819" y="920"/>
                      </a:lnTo>
                    </a:path>
                    <a:path w="1000" h="1000" fill="none">
                      <a:moveTo>
                        <a:pt x="847" y="80"/>
                      </a:moveTo>
                      <a:lnTo>
                        <a:pt x="847" y="920"/>
                      </a:lnTo>
                    </a:path>
                    <a:path w="1000" h="1000" fill="none">
                      <a:moveTo>
                        <a:pt x="875" y="80"/>
                      </a:moveTo>
                      <a:lnTo>
                        <a:pt x="875" y="920"/>
                      </a:lnTo>
                    </a:path>
                    <a:path w="1000" h="1000" fill="none">
                      <a:moveTo>
                        <a:pt x="902" y="80"/>
                      </a:moveTo>
                      <a:lnTo>
                        <a:pt x="902" y="920"/>
                      </a:lnTo>
                    </a:path>
                    <a:path w="1000" h="1000" fill="none">
                      <a:moveTo>
                        <a:pt x="930" y="80"/>
                      </a:moveTo>
                      <a:lnTo>
                        <a:pt x="930" y="920"/>
                      </a:lnTo>
                    </a:path>
                    <a:path w="1000" h="1000" fill="none">
                      <a:moveTo>
                        <a:pt x="958" y="80"/>
                      </a:moveTo>
                      <a:lnTo>
                        <a:pt x="958" y="920"/>
                      </a:lnTo>
                    </a:path>
                    <a:path w="1000" h="1000" fill="none">
                      <a:moveTo>
                        <a:pt x="986" y="80"/>
                      </a:moveTo>
                      <a:lnTo>
                        <a:pt x="986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24" name="Forma 23"/>
                <p:cNvSpPr/>
                <p:nvPr/>
              </p:nvSpPr>
              <p:spPr>
                <a:xfrm>
                  <a:off x="1326246" y="2407286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5" name="Forma 24"/>
                <p:cNvSpPr/>
                <p:nvPr/>
              </p:nvSpPr>
              <p:spPr>
                <a:xfrm>
                  <a:off x="2386218" y="2407286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6" name="Forma 25"/>
                <p:cNvSpPr/>
                <p:nvPr/>
              </p:nvSpPr>
              <p:spPr>
                <a:xfrm>
                  <a:off x="3294766" y="2407286"/>
                  <a:ext cx="263347" cy="9480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7" name="Forma 26"/>
                <p:cNvSpPr/>
                <p:nvPr/>
              </p:nvSpPr>
              <p:spPr>
                <a:xfrm>
                  <a:off x="3527828" y="2407286"/>
                  <a:ext cx="210678" cy="48455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</p:grpSp>
        <p:sp>
          <p:nvSpPr>
            <p:cNvPr id="28" name="Forma 27"/>
            <p:cNvSpPr/>
            <p:nvPr/>
          </p:nvSpPr>
          <p:spPr>
            <a:xfrm>
              <a:off x="1463040" y="1188720"/>
              <a:ext cx="914400" cy="822960"/>
            </a:xfrm>
            <a:prstGeom prst="irregularSeal1">
              <a:avLst/>
            </a:prstGeom>
            <a:solidFill>
              <a:srgbClr val="C00000"/>
            </a:solidFill>
            <a:ln w="12700" cap="rnd">
              <a:solidFill>
                <a:srgbClr val="1E1E1E"/>
              </a:solidFill>
              <a:round/>
            </a:ln>
          </p:spPr>
        </p:sp>
      </p:grpSp>
      <p:sp>
        <p:nvSpPr>
          <p:cNvPr id="29" name="Problema MB"/>
          <p:cNvSpPr/>
          <p:nvPr/>
        </p:nvSpPr>
        <p:spPr>
          <a:xfrm>
            <a:off x="4206240" y="1097280"/>
            <a:ext cx="7726680" cy="137160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CK-MB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también está en músculo esquelético y cerebro: una MB elevada aislada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distingue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corazón de traumatismo muscular.</a:t>
            </a:r>
            <a:endParaRPr lang="es-AR" sz="2000" dirty="0">
              <a:latin typeface="Calibri"/>
            </a:endParaRPr>
          </a:p>
        </p:txBody>
      </p:sp>
      <p:sp>
        <p:nvSpPr>
          <p:cNvPr id="30" name="Juntas"/>
          <p:cNvSpPr/>
          <p:nvPr/>
        </p:nvSpPr>
        <p:spPr>
          <a:xfrm>
            <a:off x="4206240" y="2651760"/>
            <a:ext cx="7726680" cy="11430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Siempre se piden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juntas: CK total + CK-MB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200" dirty="0">
              <a:latin typeface="Calibri"/>
            </a:endParaRPr>
          </a:p>
        </p:txBody>
      </p:sp>
      <p:grpSp>
        <p:nvGrpSpPr>
          <p:cNvPr id="31" name="Barras cociente"/>
          <p:cNvGrpSpPr/>
          <p:nvPr/>
        </p:nvGrpSpPr>
        <p:grpSpPr>
          <a:xfrm>
            <a:off x="365760" y="4206240"/>
            <a:ext cx="9601200" cy="1645920"/>
            <a:chOff x="365760" y="4206240"/>
            <a:chExt cx="9601200" cy="1645920"/>
          </a:xfrm>
        </p:grpSpPr>
        <p:sp>
          <p:nvSpPr>
            <p:cNvPr id="32" name="Forma 31"/>
            <p:cNvSpPr txBox="1"/>
            <p:nvPr/>
          </p:nvSpPr>
          <p:spPr>
            <a:xfrm>
              <a:off x="365760" y="4297680"/>
              <a:ext cx="21945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Músculo esquelético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2651760" y="4206240"/>
              <a:ext cx="7315200" cy="594360"/>
            </a:xfrm>
            <a:prstGeom prst="rect">
              <a:avLst/>
            </a:prstGeom>
            <a:solidFill>
              <a:srgbClr val="F5B7B1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91440" tIns="0" rIns="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 total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9089136" y="4206240"/>
              <a:ext cx="877824" cy="594360"/>
            </a:xfrm>
            <a:prstGeom prst="rect">
              <a:avLst/>
            </a:prstGeom>
            <a:gradFill rotWithShape="1">
              <a:gsLst>
                <a:gs pos="0">
                  <a:srgbClr val="F4D03F"/>
                </a:gs>
                <a:gs pos="100000">
                  <a:srgbClr val="B7950B"/>
                </a:gs>
              </a:gsLst>
              <a:lin ang="0" scaled="0"/>
            </a:gradFill>
            <a:ln w="1587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MB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5" name="Forma 34"/>
            <p:cNvSpPr txBox="1"/>
            <p:nvPr/>
          </p:nvSpPr>
          <p:spPr>
            <a:xfrm>
              <a:off x="365760" y="5349240"/>
              <a:ext cx="21945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Corazón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36" name="Forma 35"/>
            <p:cNvSpPr/>
            <p:nvPr/>
          </p:nvSpPr>
          <p:spPr>
            <a:xfrm>
              <a:off x="2651760" y="5257800"/>
              <a:ext cx="4754880" cy="594360"/>
            </a:xfrm>
            <a:prstGeom prst="rect">
              <a:avLst/>
            </a:prstGeom>
            <a:solidFill>
              <a:srgbClr val="F9E79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91440" tIns="0" rIns="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 total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5742432" y="5257800"/>
              <a:ext cx="1664208" cy="594360"/>
            </a:xfrm>
            <a:prstGeom prst="rect">
              <a:avLst/>
            </a:prstGeom>
            <a:gradFill rotWithShape="1">
              <a:gsLst>
                <a:gs pos="0">
                  <a:srgbClr val="F4D03F"/>
                </a:gs>
                <a:gs pos="100000">
                  <a:srgbClr val="B7950B"/>
                </a:gs>
              </a:gsLst>
              <a:lin ang="0" scaled="0"/>
            </a:gradFill>
            <a:ln w="15875" cap="rnd">
              <a:solidFill>
                <a:srgbClr val="1E1E1E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MB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38" name="Rigor cociente"/>
          <p:cNvGrpSpPr/>
          <p:nvPr/>
        </p:nvGrpSpPr>
        <p:grpSpPr>
          <a:xfrm>
            <a:off x="10149840" y="3977640"/>
            <a:ext cx="1783080" cy="2468880"/>
            <a:chOff x="10149840" y="3977640"/>
            <a:chExt cx="1783080" cy="2468880"/>
          </a:xfrm>
        </p:grpSpPr>
        <p:sp>
          <p:nvSpPr>
            <p:cNvPr id="39" name="Forma 38"/>
            <p:cNvSpPr/>
            <p:nvPr/>
          </p:nvSpPr>
          <p:spPr>
            <a:xfrm>
              <a:off x="10149840" y="4178808"/>
              <a:ext cx="1783080" cy="22677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cociente depende del método (masa o actividad); hoy la </a:t>
              </a:r>
              <a:r>
                <a:rPr lang="es-AR" sz="15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</a:t>
              </a: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 el marcador de elección.</a:t>
              </a:r>
              <a:endParaRPr lang="es-AR" sz="1550" dirty="0">
                <a:latin typeface="Calibri"/>
              </a:endParaRPr>
            </a:p>
          </p:txBody>
        </p:sp>
        <p:sp>
          <p:nvSpPr>
            <p:cNvPr id="40" name="Forma 39"/>
            <p:cNvSpPr/>
            <p:nvPr/>
          </p:nvSpPr>
          <p:spPr>
            <a:xfrm>
              <a:off x="10277856" y="39776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1" name="Cociente"/>
          <p:cNvSpPr/>
          <p:nvPr/>
        </p:nvSpPr>
        <p:spPr>
          <a:xfrm>
            <a:off x="6675120" y="5669280"/>
            <a:ext cx="3595964" cy="29337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 / CK total &gt; 5–6 % → origen miocárdico</a:t>
            </a:r>
            <a:endParaRPr lang="es-AR" sz="14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NUNCA CK-MB SOLA: EL COCIENTE CON LA CK TOTAL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4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41" grpId="0" animBg="1"/>
    </p:bld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D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Filamento delgado"/>
          <p:cNvGrpSpPr/>
          <p:nvPr/>
        </p:nvGrpSpPr>
        <p:grpSpPr>
          <a:xfrm>
            <a:off x="365760" y="1993392"/>
            <a:ext cx="7944993" cy="1260043"/>
            <a:chOff x="365760" y="1993392"/>
            <a:chExt cx="7944993" cy="1260043"/>
          </a:xfrm>
        </p:grpSpPr>
        <p:sp>
          <p:nvSpPr>
            <p:cNvPr id="6" name="Forma 5"/>
            <p:cNvSpPr/>
            <p:nvPr/>
          </p:nvSpPr>
          <p:spPr>
            <a:xfrm>
              <a:off x="36576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60579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84582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08585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132588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156591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180594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204597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228600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252603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276606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300609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324612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348615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372618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396621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420624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444627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468630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492633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516636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540639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564642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>
              <a:off x="588645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612648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636651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>
              <a:off x="660654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3" name="Forma 32"/>
            <p:cNvSpPr/>
            <p:nvPr/>
          </p:nvSpPr>
          <p:spPr>
            <a:xfrm>
              <a:off x="684657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708660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>
              <a:off x="732663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6" name="Forma 35"/>
            <p:cNvSpPr/>
            <p:nvPr/>
          </p:nvSpPr>
          <p:spPr>
            <a:xfrm>
              <a:off x="7566660" y="2112264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7" name="Forma 36"/>
            <p:cNvSpPr/>
            <p:nvPr/>
          </p:nvSpPr>
          <p:spPr>
            <a:xfrm>
              <a:off x="7806690" y="2635301"/>
              <a:ext cx="504063" cy="618134"/>
            </a:xfrm>
            <a:prstGeom prst="ellipse">
              <a:avLst/>
            </a:prstGeom>
            <a:gradFill rotWithShape="1">
              <a:gsLst>
                <a:gs pos="0">
                  <a:srgbClr val="B5D9F1"/>
                </a:gs>
                <a:gs pos="55000">
                  <a:srgbClr val="85C1E9"/>
                </a:gs>
                <a:gs pos="100000">
                  <a:srgbClr val="6390AE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2471A3"/>
              </a:solidFill>
              <a:round/>
            </a:ln>
          </p:spPr>
        </p:sp>
        <p:sp>
          <p:nvSpPr>
            <p:cNvPr id="38" name="Tropomiosina"/>
            <p:cNvSpPr/>
            <p:nvPr/>
          </p:nvSpPr>
          <p:spPr>
            <a:xfrm>
              <a:off x="365760" y="1993392"/>
              <a:ext cx="7680960" cy="1069848"/>
            </a:xfrm>
            <a:custGeom>
              <a:avLst/>
              <a:gdLst/>
              <a:ahLst/>
              <a:cxnLst/>
              <a:rect l="0" t="0" r="r" b="b"/>
              <a:pathLst>
                <a:path w="1000" h="600" fill="none">
                  <a:moveTo>
                    <a:pt x="0" y="120"/>
                  </a:moveTo>
                  <a:cubicBezTo>
                    <a:pt x="8" y="168"/>
                    <a:pt x="44" y="480"/>
                    <a:pt x="60" y="480"/>
                  </a:cubicBezTo>
                  <a:cubicBezTo>
                    <a:pt x="76" y="480"/>
                    <a:pt x="104" y="120"/>
                    <a:pt x="120" y="120"/>
                  </a:cubicBezTo>
                  <a:cubicBezTo>
                    <a:pt x="136" y="120"/>
                    <a:pt x="164" y="480"/>
                    <a:pt x="180" y="480"/>
                  </a:cubicBezTo>
                  <a:cubicBezTo>
                    <a:pt x="196" y="480"/>
                    <a:pt x="224" y="120"/>
                    <a:pt x="240" y="120"/>
                  </a:cubicBezTo>
                  <a:cubicBezTo>
                    <a:pt x="256" y="120"/>
                    <a:pt x="284" y="480"/>
                    <a:pt x="300" y="480"/>
                  </a:cubicBezTo>
                  <a:cubicBezTo>
                    <a:pt x="316" y="480"/>
                    <a:pt x="344" y="120"/>
                    <a:pt x="360" y="120"/>
                  </a:cubicBezTo>
                  <a:cubicBezTo>
                    <a:pt x="376" y="120"/>
                    <a:pt x="404" y="480"/>
                    <a:pt x="420" y="480"/>
                  </a:cubicBezTo>
                  <a:cubicBezTo>
                    <a:pt x="436" y="480"/>
                    <a:pt x="464" y="120"/>
                    <a:pt x="480" y="120"/>
                  </a:cubicBezTo>
                  <a:cubicBezTo>
                    <a:pt x="496" y="120"/>
                    <a:pt x="524" y="480"/>
                    <a:pt x="540" y="480"/>
                  </a:cubicBezTo>
                  <a:cubicBezTo>
                    <a:pt x="556" y="480"/>
                    <a:pt x="584" y="120"/>
                    <a:pt x="600" y="120"/>
                  </a:cubicBezTo>
                  <a:cubicBezTo>
                    <a:pt x="616" y="120"/>
                    <a:pt x="644" y="480"/>
                    <a:pt x="660" y="480"/>
                  </a:cubicBezTo>
                  <a:cubicBezTo>
                    <a:pt x="676" y="480"/>
                    <a:pt x="704" y="120"/>
                    <a:pt x="720" y="120"/>
                  </a:cubicBezTo>
                  <a:cubicBezTo>
                    <a:pt x="736" y="120"/>
                    <a:pt x="764" y="480"/>
                    <a:pt x="780" y="480"/>
                  </a:cubicBezTo>
                  <a:cubicBezTo>
                    <a:pt x="796" y="480"/>
                    <a:pt x="824" y="120"/>
                    <a:pt x="840" y="120"/>
                  </a:cubicBezTo>
                  <a:cubicBezTo>
                    <a:pt x="856" y="120"/>
                    <a:pt x="884" y="480"/>
                    <a:pt x="900" y="480"/>
                  </a:cubicBezTo>
                  <a:cubicBezTo>
                    <a:pt x="916" y="480"/>
                    <a:pt x="944" y="120"/>
                    <a:pt x="960" y="120"/>
                  </a:cubicBezTo>
                  <a:cubicBezTo>
                    <a:pt x="976" y="120"/>
                    <a:pt x="1012" y="432"/>
                    <a:pt x="1020" y="480"/>
                  </a:cubicBezTo>
                </a:path>
              </a:pathLst>
            </a:custGeom>
            <a:noFill/>
            <a:ln w="44450" cap="rnd">
              <a:solidFill>
                <a:srgbClr val="8E44AD"/>
              </a:solidFill>
              <a:round/>
            </a:ln>
          </p:spPr>
        </p:sp>
      </p:grpSp>
      <p:sp>
        <p:nvSpPr>
          <p:cNvPr id="39" name="!!Troponina T"/>
          <p:cNvSpPr/>
          <p:nvPr/>
        </p:nvSpPr>
        <p:spPr>
          <a:xfrm>
            <a:off x="3591763" y="1822216"/>
            <a:ext cx="874898" cy="608625"/>
          </a:xfrm>
          <a:prstGeom prst="ellipse">
            <a:avLst/>
          </a:prstGeom>
          <a:gradFill rotWithShape="1">
            <a:gsLst>
              <a:gs pos="0">
                <a:srgbClr val="F7C370"/>
              </a:gs>
              <a:gs pos="55000">
                <a:srgbClr val="F39C12"/>
              </a:gs>
              <a:gs pos="100000">
                <a:srgbClr val="B6750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9C640C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TnT</a:t>
            </a:r>
            <a:endParaRPr lang="es-AR" sz="1300" dirty="0">
              <a:latin typeface="Calibri"/>
            </a:endParaRPr>
          </a:p>
        </p:txBody>
      </p:sp>
      <p:sp>
        <p:nvSpPr>
          <p:cNvPr id="40" name="!!Troponina C"/>
          <p:cNvSpPr/>
          <p:nvPr/>
        </p:nvSpPr>
        <p:spPr>
          <a:xfrm>
            <a:off x="4238427" y="1327709"/>
            <a:ext cx="760781" cy="760781"/>
          </a:xfrm>
          <a:prstGeom prst="ellipse">
            <a:avLst/>
          </a:prstGeom>
          <a:gradFill rotWithShape="1">
            <a:gsLst>
              <a:gs pos="0">
                <a:srgbClr val="9AE6BA"/>
              </a:gs>
              <a:gs pos="55000">
                <a:srgbClr val="58D68D"/>
              </a:gs>
              <a:gs pos="100000">
                <a:srgbClr val="42A069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8449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TnC</a:t>
            </a:r>
            <a:endParaRPr lang="es-AR" sz="1300" dirty="0">
              <a:latin typeface="Calibri"/>
            </a:endParaRPr>
          </a:p>
        </p:txBody>
      </p:sp>
      <p:sp>
        <p:nvSpPr>
          <p:cNvPr id="41" name="!!Troponina I"/>
          <p:cNvSpPr/>
          <p:nvPr/>
        </p:nvSpPr>
        <p:spPr>
          <a:xfrm>
            <a:off x="4770973" y="1784177"/>
            <a:ext cx="798820" cy="646664"/>
          </a:xfrm>
          <a:prstGeom prst="ellipse">
            <a:avLst/>
          </a:prstGeom>
          <a:gradFill rotWithShape="1">
            <a:gsLst>
              <a:gs pos="0">
                <a:srgbClr val="F3A9A1"/>
              </a:gs>
              <a:gs pos="55000">
                <a:srgbClr val="EC7063"/>
              </a:gs>
              <a:gs pos="100000">
                <a:srgbClr val="B1544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922B21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TnI</a:t>
            </a:r>
            <a:endParaRPr lang="es-AR" sz="1300" dirty="0">
              <a:latin typeface="Calibri"/>
            </a:endParaRPr>
          </a:p>
        </p:txBody>
      </p:sp>
      <p:sp>
        <p:nvSpPr>
          <p:cNvPr id="42" name="Rótulo actina"/>
          <p:cNvSpPr/>
          <p:nvPr/>
        </p:nvSpPr>
        <p:spPr>
          <a:xfrm>
            <a:off x="457200" y="3794760"/>
            <a:ext cx="746233" cy="293370"/>
          </a:xfrm>
          <a:prstGeom prst="rect">
            <a:avLst/>
          </a:prstGeom>
          <a:solidFill>
            <a:srgbClr val="85C1E9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actina</a:t>
            </a:r>
            <a:endParaRPr lang="es-AR" sz="1400" dirty="0">
              <a:latin typeface="Calibri"/>
            </a:endParaRPr>
          </a:p>
        </p:txBody>
      </p:sp>
      <p:sp>
        <p:nvSpPr>
          <p:cNvPr id="43" name="Rótulo tropomiosina"/>
          <p:cNvSpPr/>
          <p:nvPr/>
        </p:nvSpPr>
        <p:spPr>
          <a:xfrm>
            <a:off x="1828800" y="3794760"/>
            <a:ext cx="1314804" cy="293370"/>
          </a:xfrm>
          <a:prstGeom prst="rect">
            <a:avLst/>
          </a:prstGeom>
          <a:solidFill>
            <a:srgbClr val="D2B4DE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tropomiosina</a:t>
            </a:r>
            <a:endParaRPr lang="es-AR" sz="1400" dirty="0">
              <a:latin typeface="Calibri"/>
            </a:endParaRPr>
          </a:p>
        </p:txBody>
      </p:sp>
      <p:sp>
        <p:nvSpPr>
          <p:cNvPr id="44" name="Calcio"/>
          <p:cNvSpPr/>
          <p:nvPr/>
        </p:nvSpPr>
        <p:spPr>
          <a:xfrm>
            <a:off x="4206240" y="1051560"/>
            <a:ext cx="457200" cy="457200"/>
          </a:xfrm>
          <a:prstGeom prst="ellipse">
            <a:avLst/>
          </a:prstGeom>
          <a:gradFill rotWithShape="1">
            <a:gsLst>
              <a:gs pos="0">
                <a:srgbClr val="F8E28B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2700" cap="rnd">
            <a:solidFill>
              <a:srgbClr val="7D6608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</a:t>
            </a:r>
            <a:r>
              <a:rPr lang="es-AR" sz="1000" b="1" baseline="30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2+</a:t>
            </a:r>
            <a:endParaRPr lang="es-AR" sz="1000" dirty="0">
              <a:latin typeface="Calibri"/>
            </a:endParaRPr>
          </a:p>
        </p:txBody>
      </p:sp>
      <p:grpSp>
        <p:nvGrpSpPr>
          <p:cNvPr id="45" name="Tabla troponinas fila 0"/>
          <p:cNvGrpSpPr/>
          <p:nvPr/>
        </p:nvGrpSpPr>
        <p:grpSpPr>
          <a:xfrm>
            <a:off x="365760" y="4297680"/>
            <a:ext cx="7680960" cy="502920"/>
            <a:chOff x="365760" y="4297680"/>
            <a:chExt cx="7680960" cy="502920"/>
          </a:xfrm>
        </p:grpSpPr>
        <p:sp>
          <p:nvSpPr>
            <p:cNvPr id="46" name="Forma 45"/>
            <p:cNvSpPr/>
            <p:nvPr/>
          </p:nvSpPr>
          <p:spPr>
            <a:xfrm>
              <a:off x="365760" y="4297680"/>
              <a:ext cx="210312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Subunidad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2468880" y="4297680"/>
              <a:ext cx="557784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Función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8" name="Tabla troponinas fila 1"/>
          <p:cNvGrpSpPr/>
          <p:nvPr/>
        </p:nvGrpSpPr>
        <p:grpSpPr>
          <a:xfrm>
            <a:off x="365760" y="4800600"/>
            <a:ext cx="7680960" cy="502920"/>
            <a:chOff x="365760" y="4800600"/>
            <a:chExt cx="7680960" cy="502920"/>
          </a:xfrm>
        </p:grpSpPr>
        <p:sp>
          <p:nvSpPr>
            <p:cNvPr id="49" name="Forma 48"/>
            <p:cNvSpPr/>
            <p:nvPr/>
          </p:nvSpPr>
          <p:spPr>
            <a:xfrm>
              <a:off x="365760" y="4800600"/>
              <a:ext cx="210312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C (TnC)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50" name="Forma 49"/>
            <p:cNvSpPr/>
            <p:nvPr/>
          </p:nvSpPr>
          <p:spPr>
            <a:xfrm>
              <a:off x="2468880" y="4800600"/>
              <a:ext cx="557784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Fija el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calcio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señal que desencadena la contracción.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51" name="Tabla troponinas fila 2"/>
          <p:cNvGrpSpPr/>
          <p:nvPr/>
        </p:nvGrpSpPr>
        <p:grpSpPr>
          <a:xfrm>
            <a:off x="365760" y="5303520"/>
            <a:ext cx="7680960" cy="502920"/>
            <a:chOff x="365760" y="5303520"/>
            <a:chExt cx="7680960" cy="502920"/>
          </a:xfrm>
        </p:grpSpPr>
        <p:sp>
          <p:nvSpPr>
            <p:cNvPr id="52" name="Forma 51"/>
            <p:cNvSpPr/>
            <p:nvPr/>
          </p:nvSpPr>
          <p:spPr>
            <a:xfrm>
              <a:off x="365760" y="5303520"/>
              <a:ext cx="210312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T (TnT)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53" name="Forma 52"/>
            <p:cNvSpPr/>
            <p:nvPr/>
          </p:nvSpPr>
          <p:spPr>
            <a:xfrm>
              <a:off x="2468880" y="5303520"/>
              <a:ext cx="557784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Fija el complejo troponina a la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tropomiosina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54" name="Tabla troponinas fila 3"/>
          <p:cNvGrpSpPr/>
          <p:nvPr/>
        </p:nvGrpSpPr>
        <p:grpSpPr>
          <a:xfrm>
            <a:off x="365760" y="5806440"/>
            <a:ext cx="7680960" cy="554736"/>
            <a:chOff x="365760" y="5806440"/>
            <a:chExt cx="7680960" cy="554736"/>
          </a:xfrm>
        </p:grpSpPr>
        <p:sp>
          <p:nvSpPr>
            <p:cNvPr id="55" name="Forma 54"/>
            <p:cNvSpPr/>
            <p:nvPr/>
          </p:nvSpPr>
          <p:spPr>
            <a:xfrm>
              <a:off x="365760" y="5806440"/>
              <a:ext cx="2103120" cy="5547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I (TnI)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56" name="Forma 55"/>
            <p:cNvSpPr/>
            <p:nvPr/>
          </p:nvSpPr>
          <p:spPr>
            <a:xfrm>
              <a:off x="2468880" y="5806440"/>
              <a:ext cx="5577840" cy="55473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Subunidad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inhibidora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regula la interacción actina–miosina dependiente de Ca</a:t>
              </a:r>
              <a:r>
                <a:rPr lang="es-AR" sz="1400" baseline="30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2+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57" name="Concepto Tn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58" name="Forma 57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Son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proteínas estructurales (no enzimas)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los biomarcadores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importantes y específicos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IAM en la práctica actual.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8677656" y="1097280"/>
              <a:ext cx="115994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CONCEPTO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TROPONINAS: PROTEÍNAS DEL APARATO CONTRÁCTIL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6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38 0.0333 E" pathEditMode="relative" ptsTypes="">
                                      <p:cBhvr>
                                        <p:cTn id="4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7" y="1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39" grpId="0" animBg="1"/>
      <p:bldP spid="40" grpId="0" animBg="1"/>
      <p:bldP spid="44" grpId="0" animBg="1"/>
      <p:bldP spid="41" grpId="0" animBg="1"/>
    </p:bld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Isoforma cardíaca"/>
          <p:cNvGrpSpPr/>
          <p:nvPr/>
        </p:nvGrpSpPr>
        <p:grpSpPr>
          <a:xfrm>
            <a:off x="548640" y="1463040"/>
            <a:ext cx="2011680" cy="1463040"/>
            <a:chOff x="548640" y="1463040"/>
            <a:chExt cx="2011680" cy="1463040"/>
          </a:xfrm>
        </p:grpSpPr>
        <p:sp>
          <p:nvSpPr>
            <p:cNvPr id="7" name="Forma 6"/>
            <p:cNvSpPr/>
            <p:nvPr/>
          </p:nvSpPr>
          <p:spPr>
            <a:xfrm>
              <a:off x="548640" y="1463040"/>
              <a:ext cx="2011680" cy="1463040"/>
            </a:xfrm>
            <a:prstGeom prst="ellipse">
              <a:avLst/>
            </a:prstGeom>
            <a:gradFill rotWithShape="1">
              <a:gsLst>
                <a:gs pos="0">
                  <a:srgbClr val="F3A9A1"/>
                </a:gs>
                <a:gs pos="55000">
                  <a:srgbClr val="EC7063"/>
                </a:gs>
                <a:gs pos="100000">
                  <a:srgbClr val="B1544A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922B21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cTnI</a:t>
              </a:r>
              <a:endParaRPr lang="es-AR" sz="16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cardíaca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8" name="Isoforma esquelética"/>
          <p:cNvGrpSpPr/>
          <p:nvPr/>
        </p:nvGrpSpPr>
        <p:grpSpPr>
          <a:xfrm>
            <a:off x="9601200" y="1463040"/>
            <a:ext cx="2011680" cy="1463040"/>
            <a:chOff x="9601200" y="1463040"/>
            <a:chExt cx="2011680" cy="1463040"/>
          </a:xfrm>
        </p:grpSpPr>
        <p:sp>
          <p:nvSpPr>
            <p:cNvPr id="9" name="Forma 8"/>
            <p:cNvSpPr/>
            <p:nvPr/>
          </p:nvSpPr>
          <p:spPr>
            <a:xfrm>
              <a:off x="9601200" y="1463040"/>
              <a:ext cx="2011680" cy="1463040"/>
            </a:xfrm>
            <a:prstGeom prst="hexagon">
              <a:avLst>
                <a:gd name="adj" fmla="val 25000"/>
                <a:gd name="vf" fmla="val 115470"/>
              </a:avLst>
            </a:prstGeom>
            <a:gradFill rotWithShape="1">
              <a:gsLst>
                <a:gs pos="0">
                  <a:srgbClr val="CCD0D5"/>
                </a:gs>
                <a:gs pos="55000">
                  <a:srgbClr val="ABB2B9"/>
                </a:gs>
                <a:gs pos="100000">
                  <a:srgbClr val="80858A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5D6D7E"/>
              </a:solidFill>
              <a:round/>
            </a:ln>
          </p:spPr>
          <p:txBody>
            <a:bodyPr wrap="square" lIns="73152" tIns="45720" rIns="73152" bIns="4572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TnI</a:t>
              </a:r>
              <a:endParaRPr lang="es-AR" sz="15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esquelética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0" name="Anticuerpo del laboratorio"/>
          <p:cNvGrpSpPr/>
          <p:nvPr/>
        </p:nvGrpSpPr>
        <p:grpSpPr>
          <a:xfrm>
            <a:off x="365760" y="3063240"/>
            <a:ext cx="2468880" cy="1600200"/>
            <a:chOff x="365760" y="3063240"/>
            <a:chExt cx="2468880" cy="1600200"/>
          </a:xfrm>
        </p:grpSpPr>
        <p:sp>
          <p:nvSpPr>
            <p:cNvPr id="11" name="Flecha 10_2"/>
            <p:cNvSpPr/>
            <p:nvPr/>
          </p:nvSpPr>
          <p:spPr>
            <a:xfrm>
              <a:off x="1554480" y="3566160"/>
              <a:ext cx="9144" cy="640080"/>
            </a:xfrm>
            <a:custGeom>
              <a:avLst/>
              <a:gdLst/>
              <a:ahLst/>
              <a:cxnLst/>
              <a:rect l="0" t="0" r="r" b="b"/>
              <a:pathLst>
                <a:path w="10" h="699" fill="none">
                  <a:moveTo>
                    <a:pt x="0" y="699"/>
                  </a:moveTo>
                  <a:lnTo>
                    <a:pt x="0" y="0"/>
                  </a:lnTo>
                </a:path>
              </a:pathLst>
            </a:custGeom>
            <a:noFill/>
            <a:ln w="101600" cap="rnd">
              <a:solidFill>
                <a:srgbClr val="2E86C1"/>
              </a:solidFill>
              <a:round/>
            </a:ln>
          </p:spPr>
        </p:sp>
        <p:sp>
          <p:nvSpPr>
            <p:cNvPr id="12" name="Flecha 12_2"/>
            <p:cNvSpPr/>
            <p:nvPr/>
          </p:nvSpPr>
          <p:spPr>
            <a:xfrm>
              <a:off x="1097280" y="3063240"/>
              <a:ext cx="457200" cy="502920"/>
            </a:xfrm>
            <a:custGeom>
              <a:avLst/>
              <a:gdLst/>
              <a:ahLst/>
              <a:cxnLst/>
              <a:rect l="0" t="0" r="r" b="b"/>
              <a:pathLst>
                <a:path w="500" h="549" fill="none">
                  <a:moveTo>
                    <a:pt x="500" y="549"/>
                  </a:moveTo>
                  <a:lnTo>
                    <a:pt x="0" y="0"/>
                  </a:lnTo>
                </a:path>
              </a:pathLst>
            </a:custGeom>
            <a:noFill/>
            <a:ln w="101600" cap="rnd">
              <a:solidFill>
                <a:srgbClr val="2E86C1"/>
              </a:solidFill>
              <a:round/>
            </a:ln>
          </p:spPr>
        </p:sp>
        <p:sp>
          <p:nvSpPr>
            <p:cNvPr id="13" name="Flecha 14_2"/>
            <p:cNvSpPr/>
            <p:nvPr/>
          </p:nvSpPr>
          <p:spPr>
            <a:xfrm>
              <a:off x="1554480" y="3063240"/>
              <a:ext cx="457200" cy="502920"/>
            </a:xfrm>
            <a:custGeom>
              <a:avLst/>
              <a:gdLst/>
              <a:ahLst/>
              <a:cxnLst/>
              <a:rect l="0" t="0" r="r" b="b"/>
              <a:pathLst>
                <a:path w="500" h="549" fill="none">
                  <a:moveTo>
                    <a:pt x="0" y="549"/>
                  </a:moveTo>
                  <a:lnTo>
                    <a:pt x="500" y="0"/>
                  </a:lnTo>
                </a:path>
              </a:pathLst>
            </a:custGeom>
            <a:noFill/>
            <a:ln w="101600" cap="rnd">
              <a:solidFill>
                <a:srgbClr val="2E86C1"/>
              </a:solidFill>
              <a:round/>
            </a:ln>
          </p:spPr>
        </p:sp>
        <p:sp>
          <p:nvSpPr>
            <p:cNvPr id="14" name="Forma 16"/>
            <p:cNvSpPr txBox="1"/>
            <p:nvPr/>
          </p:nvSpPr>
          <p:spPr>
            <a:xfrm>
              <a:off x="365760" y="4297680"/>
              <a:ext cx="24688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reconoce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5" name="No reconoce"/>
          <p:cNvGrpSpPr/>
          <p:nvPr/>
        </p:nvGrpSpPr>
        <p:grpSpPr>
          <a:xfrm>
            <a:off x="9418320" y="3063240"/>
            <a:ext cx="2468880" cy="1600200"/>
            <a:chOff x="9418320" y="3063240"/>
            <a:chExt cx="2468880" cy="1600200"/>
          </a:xfrm>
        </p:grpSpPr>
        <p:sp>
          <p:nvSpPr>
            <p:cNvPr id="16" name="Flecha 18_2"/>
            <p:cNvSpPr/>
            <p:nvPr/>
          </p:nvSpPr>
          <p:spPr>
            <a:xfrm>
              <a:off x="10607040" y="3566160"/>
              <a:ext cx="9144" cy="640080"/>
            </a:xfrm>
            <a:custGeom>
              <a:avLst/>
              <a:gdLst/>
              <a:ahLst/>
              <a:cxnLst/>
              <a:rect l="0" t="0" r="r" b="b"/>
              <a:pathLst>
                <a:path w="10" h="699" fill="none">
                  <a:moveTo>
                    <a:pt x="0" y="699"/>
                  </a:moveTo>
                  <a:lnTo>
                    <a:pt x="0" y="0"/>
                  </a:lnTo>
                </a:path>
              </a:pathLst>
            </a:custGeom>
            <a:noFill/>
            <a:ln w="101600" cap="rnd">
              <a:solidFill>
                <a:srgbClr val="7F8C8D"/>
              </a:solidFill>
              <a:round/>
            </a:ln>
          </p:spPr>
        </p:sp>
        <p:sp>
          <p:nvSpPr>
            <p:cNvPr id="17" name="Flecha 20_2"/>
            <p:cNvSpPr/>
            <p:nvPr/>
          </p:nvSpPr>
          <p:spPr>
            <a:xfrm>
              <a:off x="10149840" y="3063240"/>
              <a:ext cx="457200" cy="502920"/>
            </a:xfrm>
            <a:custGeom>
              <a:avLst/>
              <a:gdLst/>
              <a:ahLst/>
              <a:cxnLst/>
              <a:rect l="0" t="0" r="r" b="b"/>
              <a:pathLst>
                <a:path w="500" h="549" fill="none">
                  <a:moveTo>
                    <a:pt x="500" y="549"/>
                  </a:moveTo>
                  <a:lnTo>
                    <a:pt x="0" y="0"/>
                  </a:lnTo>
                </a:path>
              </a:pathLst>
            </a:custGeom>
            <a:noFill/>
            <a:ln w="101600" cap="rnd">
              <a:solidFill>
                <a:srgbClr val="7F8C8D"/>
              </a:solidFill>
              <a:round/>
            </a:ln>
          </p:spPr>
        </p:sp>
        <p:sp>
          <p:nvSpPr>
            <p:cNvPr id="18" name="Flecha 22_2"/>
            <p:cNvSpPr/>
            <p:nvPr/>
          </p:nvSpPr>
          <p:spPr>
            <a:xfrm>
              <a:off x="10607040" y="3063240"/>
              <a:ext cx="457200" cy="502920"/>
            </a:xfrm>
            <a:custGeom>
              <a:avLst/>
              <a:gdLst/>
              <a:ahLst/>
              <a:cxnLst/>
              <a:rect l="0" t="0" r="r" b="b"/>
              <a:pathLst>
                <a:path w="500" h="549" fill="none">
                  <a:moveTo>
                    <a:pt x="0" y="549"/>
                  </a:moveTo>
                  <a:lnTo>
                    <a:pt x="500" y="0"/>
                  </a:lnTo>
                </a:path>
              </a:pathLst>
            </a:custGeom>
            <a:noFill/>
            <a:ln w="101600" cap="rnd">
              <a:solidFill>
                <a:srgbClr val="7F8C8D"/>
              </a:solidFill>
              <a:round/>
            </a:ln>
          </p:spPr>
        </p:sp>
        <p:sp>
          <p:nvSpPr>
            <p:cNvPr id="19" name="Forma 24"/>
            <p:cNvSpPr txBox="1"/>
            <p:nvPr/>
          </p:nvSpPr>
          <p:spPr>
            <a:xfrm>
              <a:off x="9418320" y="4297680"/>
              <a:ext cx="24688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 reconoce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0" name="Isoformas"/>
          <p:cNvSpPr/>
          <p:nvPr/>
        </p:nvSpPr>
        <p:spPr>
          <a:xfrm>
            <a:off x="3246120" y="1097280"/>
            <a:ext cx="5943600" cy="21945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 I cardíaca (cTnI)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la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 T cardíaca (cTnT)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son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estructuralmente distintas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las isoformas del músculo esquelético.</a:t>
            </a:r>
            <a:endParaRPr lang="es-AR" sz="2200" dirty="0">
              <a:latin typeface="Calibri"/>
            </a:endParaRPr>
          </a:p>
        </p:txBody>
      </p:sp>
      <p:sp>
        <p:nvSpPr>
          <p:cNvPr id="21" name="Anticuerpo"/>
          <p:cNvSpPr/>
          <p:nvPr/>
        </p:nvSpPr>
        <p:spPr>
          <a:xfrm>
            <a:off x="3246120" y="3520440"/>
            <a:ext cx="5943600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1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AR" sz="2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anticuerpo</a:t>
            </a:r>
            <a:r>
              <a:rPr lang="es-AR" sz="21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que usa el laboratorio reconoce </a:t>
            </a:r>
            <a:r>
              <a:rPr lang="es-AR" sz="2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solo la isoforma cardíaca</a:t>
            </a:r>
            <a:r>
              <a:rPr lang="es-AR" sz="21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por eso son altamente específicas de miocardio.</a:t>
            </a:r>
            <a:endParaRPr lang="es-AR" sz="21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¿POR QUÉ LA TROPONINA ES TAN ESPECÍFICA DEL CORAZÓN?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Célula permeable"/>
          <p:cNvGrpSpPr/>
          <p:nvPr/>
        </p:nvGrpSpPr>
        <p:grpSpPr>
          <a:xfrm>
            <a:off x="365760" y="1280160"/>
            <a:ext cx="3657600" cy="2103120"/>
            <a:chOff x="365760" y="1280160"/>
            <a:chExt cx="3657600" cy="2103120"/>
          </a:xfrm>
        </p:grpSpPr>
        <p:sp>
          <p:nvSpPr>
            <p:cNvPr id="6" name="Forma 5"/>
            <p:cNvSpPr/>
            <p:nvPr/>
          </p:nvSpPr>
          <p:spPr>
            <a:xfrm>
              <a:off x="365760" y="1280160"/>
              <a:ext cx="3657600" cy="210312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5B7B1"/>
                </a:gs>
                <a:gs pos="100000">
                  <a:srgbClr val="EC9A90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prstDash val="dash"/>
              <a:round/>
            </a:ln>
          </p:spPr>
        </p:sp>
        <p:sp>
          <p:nvSpPr>
            <p:cNvPr id="7" name="Ficha CK"/>
            <p:cNvSpPr/>
            <p:nvPr/>
          </p:nvSpPr>
          <p:spPr>
            <a:xfrm>
              <a:off x="640080" y="1737360"/>
              <a:ext cx="54864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8" name="Ficha Mb"/>
            <p:cNvSpPr/>
            <p:nvPr/>
          </p:nvSpPr>
          <p:spPr>
            <a:xfrm>
              <a:off x="822960" y="2377440"/>
              <a:ext cx="50292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Mb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9" name="Ficha CK_2"/>
            <p:cNvSpPr/>
            <p:nvPr/>
          </p:nvSpPr>
          <p:spPr>
            <a:xfrm>
              <a:off x="1463040" y="1737360"/>
              <a:ext cx="54864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0" name="Ficha Mb_2"/>
            <p:cNvSpPr/>
            <p:nvPr/>
          </p:nvSpPr>
          <p:spPr>
            <a:xfrm>
              <a:off x="1600200" y="2377440"/>
              <a:ext cx="50292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Mb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1" name="Ficha CK_3"/>
            <p:cNvSpPr/>
            <p:nvPr/>
          </p:nvSpPr>
          <p:spPr>
            <a:xfrm>
              <a:off x="2286000" y="1737360"/>
              <a:ext cx="54864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2" name="Ficha Mb_3"/>
            <p:cNvSpPr/>
            <p:nvPr/>
          </p:nvSpPr>
          <p:spPr>
            <a:xfrm>
              <a:off x="2377440" y="2377440"/>
              <a:ext cx="50292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Mb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3" name="Ficha CK_4"/>
            <p:cNvSpPr/>
            <p:nvPr/>
          </p:nvSpPr>
          <p:spPr>
            <a:xfrm>
              <a:off x="3108960" y="1737360"/>
              <a:ext cx="54864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4" name="Ficha Mb_4"/>
            <p:cNvSpPr/>
            <p:nvPr/>
          </p:nvSpPr>
          <p:spPr>
            <a:xfrm>
              <a:off x="3154680" y="2377440"/>
              <a:ext cx="50292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Mb</a:t>
              </a:r>
              <a:endParaRPr lang="es-AR" sz="1000" dirty="0">
                <a:latin typeface="Calibri"/>
              </a:endParaRPr>
            </a:p>
          </p:txBody>
        </p:sp>
      </p:grpSp>
      <p:sp>
        <p:nvSpPr>
          <p:cNvPr id="15" name="Sale 0"/>
          <p:cNvSpPr/>
          <p:nvPr/>
        </p:nvSpPr>
        <p:spPr>
          <a:xfrm>
            <a:off x="4114800" y="1645920"/>
            <a:ext cx="54864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000" dirty="0">
              <a:latin typeface="Calibri"/>
            </a:endParaRPr>
          </a:p>
        </p:txBody>
      </p:sp>
      <p:sp>
        <p:nvSpPr>
          <p:cNvPr id="16" name="Sale 1"/>
          <p:cNvSpPr/>
          <p:nvPr/>
        </p:nvSpPr>
        <p:spPr>
          <a:xfrm>
            <a:off x="4114800" y="2194560"/>
            <a:ext cx="54864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000" dirty="0">
              <a:latin typeface="Calibri"/>
            </a:endParaRPr>
          </a:p>
        </p:txBody>
      </p:sp>
      <p:sp>
        <p:nvSpPr>
          <p:cNvPr id="17" name="Sale 2"/>
          <p:cNvSpPr/>
          <p:nvPr/>
        </p:nvSpPr>
        <p:spPr>
          <a:xfrm>
            <a:off x="4114800" y="2743200"/>
            <a:ext cx="54864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000" dirty="0">
              <a:latin typeface="Calibri"/>
            </a:endParaRPr>
          </a:p>
        </p:txBody>
      </p:sp>
      <p:grpSp>
        <p:nvGrpSpPr>
          <p:cNvPr id="18" name="Célula necrótica"/>
          <p:cNvGrpSpPr/>
          <p:nvPr/>
        </p:nvGrpSpPr>
        <p:grpSpPr>
          <a:xfrm>
            <a:off x="365760" y="4023360"/>
            <a:ext cx="3657600" cy="2103120"/>
            <a:chOff x="365760" y="4023360"/>
            <a:chExt cx="3657600" cy="2103120"/>
          </a:xfrm>
        </p:grpSpPr>
        <p:sp>
          <p:nvSpPr>
            <p:cNvPr id="19" name="Forma 18"/>
            <p:cNvSpPr/>
            <p:nvPr/>
          </p:nvSpPr>
          <p:spPr>
            <a:xfrm>
              <a:off x="365760" y="4023360"/>
              <a:ext cx="3657600" cy="210312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8E6E8E"/>
                </a:gs>
                <a:gs pos="100000">
                  <a:srgbClr val="5B3E5B"/>
                </a:gs>
              </a:gsLst>
              <a:lin ang="5400000" scaled="0"/>
            </a:gradFill>
            <a:ln w="31750" cap="rnd">
              <a:solidFill>
                <a:srgbClr val="1B0E24"/>
              </a:solidFill>
              <a:prstDash val="sysDash"/>
              <a:round/>
            </a:ln>
          </p:spPr>
        </p:sp>
        <p:grpSp>
          <p:nvGrpSpPr>
            <p:cNvPr id="20" name="Filamento roto"/>
            <p:cNvGrpSpPr/>
            <p:nvPr/>
          </p:nvGrpSpPr>
          <p:grpSpPr>
            <a:xfrm>
              <a:off x="548640" y="4809744"/>
              <a:ext cx="3215830" cy="581558"/>
              <a:chOff x="548640" y="4809744"/>
              <a:chExt cx="3215830" cy="581558"/>
            </a:xfrm>
          </p:grpSpPr>
          <p:sp>
            <p:nvSpPr>
              <p:cNvPr id="21" name="Forma 20"/>
              <p:cNvSpPr/>
              <p:nvPr/>
            </p:nvSpPr>
            <p:spPr>
              <a:xfrm>
                <a:off x="54864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2" name="Forma 21"/>
              <p:cNvSpPr/>
              <p:nvPr/>
            </p:nvSpPr>
            <p:spPr>
              <a:xfrm>
                <a:off x="64579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3" name="Forma 22"/>
              <p:cNvSpPr/>
              <p:nvPr/>
            </p:nvSpPr>
            <p:spPr>
              <a:xfrm>
                <a:off x="74295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4" name="Forma 23"/>
              <p:cNvSpPr/>
              <p:nvPr/>
            </p:nvSpPr>
            <p:spPr>
              <a:xfrm>
                <a:off x="84010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5" name="Forma 24"/>
              <p:cNvSpPr/>
              <p:nvPr/>
            </p:nvSpPr>
            <p:spPr>
              <a:xfrm>
                <a:off x="93726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6" name="Forma 25"/>
              <p:cNvSpPr/>
              <p:nvPr/>
            </p:nvSpPr>
            <p:spPr>
              <a:xfrm>
                <a:off x="103441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7" name="Forma 26"/>
              <p:cNvSpPr/>
              <p:nvPr/>
            </p:nvSpPr>
            <p:spPr>
              <a:xfrm>
                <a:off x="113157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8" name="Forma 27"/>
              <p:cNvSpPr/>
              <p:nvPr/>
            </p:nvSpPr>
            <p:spPr>
              <a:xfrm>
                <a:off x="122872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29" name="Forma 28"/>
              <p:cNvSpPr/>
              <p:nvPr/>
            </p:nvSpPr>
            <p:spPr>
              <a:xfrm>
                <a:off x="132588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0" name="Forma 29"/>
              <p:cNvSpPr/>
              <p:nvPr/>
            </p:nvSpPr>
            <p:spPr>
              <a:xfrm>
                <a:off x="142303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152019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2" name="Forma 31"/>
              <p:cNvSpPr/>
              <p:nvPr/>
            </p:nvSpPr>
            <p:spPr>
              <a:xfrm>
                <a:off x="161734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3" name="Forma 32"/>
              <p:cNvSpPr/>
              <p:nvPr/>
            </p:nvSpPr>
            <p:spPr>
              <a:xfrm>
                <a:off x="171450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4" name="Forma 33"/>
              <p:cNvSpPr/>
              <p:nvPr/>
            </p:nvSpPr>
            <p:spPr>
              <a:xfrm>
                <a:off x="181165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5" name="Forma 34"/>
              <p:cNvSpPr/>
              <p:nvPr/>
            </p:nvSpPr>
            <p:spPr>
              <a:xfrm>
                <a:off x="190881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200596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7" name="Forma 36"/>
              <p:cNvSpPr/>
              <p:nvPr/>
            </p:nvSpPr>
            <p:spPr>
              <a:xfrm>
                <a:off x="210312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8" name="Forma 37"/>
              <p:cNvSpPr/>
              <p:nvPr/>
            </p:nvSpPr>
            <p:spPr>
              <a:xfrm>
                <a:off x="220027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229743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239458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1" name="Forma 40"/>
              <p:cNvSpPr/>
              <p:nvPr/>
            </p:nvSpPr>
            <p:spPr>
              <a:xfrm>
                <a:off x="249174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2" name="Forma 41"/>
              <p:cNvSpPr/>
              <p:nvPr/>
            </p:nvSpPr>
            <p:spPr>
              <a:xfrm>
                <a:off x="258889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268605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278320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5" name="Forma 44"/>
              <p:cNvSpPr/>
              <p:nvPr/>
            </p:nvSpPr>
            <p:spPr>
              <a:xfrm>
                <a:off x="288036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6" name="Forma 45"/>
              <p:cNvSpPr/>
              <p:nvPr/>
            </p:nvSpPr>
            <p:spPr>
              <a:xfrm>
                <a:off x="297751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7" name="Forma 46"/>
              <p:cNvSpPr/>
              <p:nvPr/>
            </p:nvSpPr>
            <p:spPr>
              <a:xfrm>
                <a:off x="307467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8" name="Forma 47"/>
              <p:cNvSpPr/>
              <p:nvPr/>
            </p:nvSpPr>
            <p:spPr>
              <a:xfrm>
                <a:off x="317182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49" name="Forma 48"/>
              <p:cNvSpPr/>
              <p:nvPr/>
            </p:nvSpPr>
            <p:spPr>
              <a:xfrm>
                <a:off x="326898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0" name="Forma 49"/>
              <p:cNvSpPr/>
              <p:nvPr/>
            </p:nvSpPr>
            <p:spPr>
              <a:xfrm>
                <a:off x="336613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>
                <a:off x="3463290" y="4864608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>
                <a:off x="3560445" y="5106010"/>
                <a:ext cx="204026" cy="285293"/>
              </a:xfrm>
              <a:prstGeom prst="ellipse">
                <a:avLst/>
              </a:prstGeom>
              <a:gradFill rotWithShape="1">
                <a:gsLst>
                  <a:gs pos="0">
                    <a:srgbClr val="B5D9F1"/>
                  </a:gs>
                  <a:gs pos="55000">
                    <a:srgbClr val="85C1E9"/>
                  </a:gs>
                  <a:gs pos="100000">
                    <a:srgbClr val="6390AE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2471A3"/>
                </a:solidFill>
                <a:round/>
              </a:ln>
            </p:spPr>
          </p:sp>
          <p:sp>
            <p:nvSpPr>
              <p:cNvPr id="53" name="Tropomiosina"/>
              <p:cNvSpPr/>
              <p:nvPr/>
            </p:nvSpPr>
            <p:spPr>
              <a:xfrm>
                <a:off x="548640" y="4809744"/>
                <a:ext cx="3108960" cy="49377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00" fill="none">
                    <a:moveTo>
                      <a:pt x="0" y="120"/>
                    </a:moveTo>
                    <a:cubicBezTo>
                      <a:pt x="8" y="168"/>
                      <a:pt x="44" y="480"/>
                      <a:pt x="60" y="480"/>
                    </a:cubicBezTo>
                    <a:cubicBezTo>
                      <a:pt x="76" y="480"/>
                      <a:pt x="104" y="120"/>
                      <a:pt x="120" y="120"/>
                    </a:cubicBezTo>
                    <a:cubicBezTo>
                      <a:pt x="136" y="120"/>
                      <a:pt x="164" y="480"/>
                      <a:pt x="180" y="480"/>
                    </a:cubicBezTo>
                    <a:cubicBezTo>
                      <a:pt x="196" y="480"/>
                      <a:pt x="224" y="120"/>
                      <a:pt x="240" y="120"/>
                    </a:cubicBezTo>
                    <a:cubicBezTo>
                      <a:pt x="256" y="120"/>
                      <a:pt x="284" y="480"/>
                      <a:pt x="300" y="480"/>
                    </a:cubicBezTo>
                    <a:cubicBezTo>
                      <a:pt x="316" y="480"/>
                      <a:pt x="344" y="120"/>
                      <a:pt x="360" y="120"/>
                    </a:cubicBezTo>
                    <a:cubicBezTo>
                      <a:pt x="376" y="120"/>
                      <a:pt x="404" y="480"/>
                      <a:pt x="420" y="480"/>
                    </a:cubicBezTo>
                    <a:cubicBezTo>
                      <a:pt x="436" y="480"/>
                      <a:pt x="464" y="120"/>
                      <a:pt x="480" y="120"/>
                    </a:cubicBezTo>
                    <a:cubicBezTo>
                      <a:pt x="496" y="120"/>
                      <a:pt x="524" y="480"/>
                      <a:pt x="540" y="480"/>
                    </a:cubicBezTo>
                    <a:cubicBezTo>
                      <a:pt x="556" y="480"/>
                      <a:pt x="584" y="120"/>
                      <a:pt x="600" y="120"/>
                    </a:cubicBezTo>
                    <a:cubicBezTo>
                      <a:pt x="616" y="120"/>
                      <a:pt x="644" y="480"/>
                      <a:pt x="660" y="480"/>
                    </a:cubicBezTo>
                    <a:cubicBezTo>
                      <a:pt x="676" y="480"/>
                      <a:pt x="704" y="120"/>
                      <a:pt x="720" y="120"/>
                    </a:cubicBezTo>
                    <a:cubicBezTo>
                      <a:pt x="736" y="120"/>
                      <a:pt x="764" y="480"/>
                      <a:pt x="780" y="480"/>
                    </a:cubicBezTo>
                    <a:cubicBezTo>
                      <a:pt x="796" y="480"/>
                      <a:pt x="824" y="120"/>
                      <a:pt x="840" y="120"/>
                    </a:cubicBezTo>
                    <a:cubicBezTo>
                      <a:pt x="856" y="120"/>
                      <a:pt x="884" y="480"/>
                      <a:pt x="900" y="480"/>
                    </a:cubicBezTo>
                    <a:cubicBezTo>
                      <a:pt x="916" y="480"/>
                      <a:pt x="944" y="120"/>
                      <a:pt x="960" y="120"/>
                    </a:cubicBezTo>
                    <a:cubicBezTo>
                      <a:pt x="976" y="120"/>
                      <a:pt x="1012" y="432"/>
                      <a:pt x="1020" y="480"/>
                    </a:cubicBezTo>
                  </a:path>
                </a:pathLst>
              </a:custGeom>
              <a:noFill/>
              <a:ln w="44450" cap="rnd">
                <a:solidFill>
                  <a:srgbClr val="8E44AD"/>
                </a:solidFill>
                <a:round/>
              </a:ln>
            </p:spPr>
          </p:sp>
        </p:grpSp>
        <p:sp>
          <p:nvSpPr>
            <p:cNvPr id="54" name="!!Troponina T"/>
            <p:cNvSpPr/>
            <p:nvPr/>
          </p:nvSpPr>
          <p:spPr>
            <a:xfrm>
              <a:off x="1854403" y="4730740"/>
              <a:ext cx="403799" cy="280904"/>
            </a:xfrm>
            <a:prstGeom prst="ellipse">
              <a:avLst/>
            </a:prstGeom>
            <a:gradFill rotWithShape="1">
              <a:gsLst>
                <a:gs pos="0">
                  <a:srgbClr val="F7C370"/>
                </a:gs>
                <a:gs pos="55000">
                  <a:srgbClr val="F39C12"/>
                </a:gs>
                <a:gs pos="100000">
                  <a:srgbClr val="B6750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9C640C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TnT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5" name="!!Troponina C"/>
            <p:cNvSpPr/>
            <p:nvPr/>
          </p:nvSpPr>
          <p:spPr>
            <a:xfrm>
              <a:off x="2152863" y="4502506"/>
              <a:ext cx="351130" cy="351130"/>
            </a:xfrm>
            <a:prstGeom prst="ellipse">
              <a:avLst/>
            </a:prstGeom>
            <a:gradFill rotWithShape="1">
              <a:gsLst>
                <a:gs pos="0">
                  <a:srgbClr val="9AE6BA"/>
                </a:gs>
                <a:gs pos="55000">
                  <a:srgbClr val="58D68D"/>
                </a:gs>
                <a:gs pos="100000">
                  <a:srgbClr val="42A069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E8449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TnC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6" name="!!Troponina I"/>
            <p:cNvSpPr/>
            <p:nvPr/>
          </p:nvSpPr>
          <p:spPr>
            <a:xfrm>
              <a:off x="2398654" y="4713183"/>
              <a:ext cx="368686" cy="298460"/>
            </a:xfrm>
            <a:prstGeom prst="ellipse">
              <a:avLst/>
            </a:prstGeom>
            <a:gradFill rotWithShape="1">
              <a:gsLst>
                <a:gs pos="0">
                  <a:srgbClr val="F3A9A1"/>
                </a:gs>
                <a:gs pos="55000">
                  <a:srgbClr val="EC7063"/>
                </a:gs>
                <a:gs pos="100000">
                  <a:srgbClr val="B1544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922B21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TnI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57" name="Tn libre 0"/>
          <p:cNvSpPr/>
          <p:nvPr/>
        </p:nvSpPr>
        <p:spPr>
          <a:xfrm>
            <a:off x="4114800" y="4389120"/>
            <a:ext cx="64008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TnI</a:t>
            </a:r>
            <a:endParaRPr lang="es-AR" sz="1000" dirty="0">
              <a:latin typeface="Calibri"/>
            </a:endParaRPr>
          </a:p>
        </p:txBody>
      </p:sp>
      <p:sp>
        <p:nvSpPr>
          <p:cNvPr id="58" name="Tn libre 1"/>
          <p:cNvSpPr/>
          <p:nvPr/>
        </p:nvSpPr>
        <p:spPr>
          <a:xfrm>
            <a:off x="4114800" y="4937760"/>
            <a:ext cx="64008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TnT</a:t>
            </a:r>
            <a:endParaRPr lang="es-AR" sz="1000" dirty="0">
              <a:latin typeface="Calibri"/>
            </a:endParaRPr>
          </a:p>
        </p:txBody>
      </p:sp>
      <p:sp>
        <p:nvSpPr>
          <p:cNvPr id="59" name="Tn libre 2"/>
          <p:cNvSpPr/>
          <p:nvPr/>
        </p:nvSpPr>
        <p:spPr>
          <a:xfrm>
            <a:off x="4114800" y="5486400"/>
            <a:ext cx="640080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TnI</a:t>
            </a:r>
            <a:endParaRPr lang="es-AR" sz="1000" dirty="0">
              <a:latin typeface="Calibri"/>
            </a:endParaRPr>
          </a:p>
        </p:txBody>
      </p:sp>
      <p:sp>
        <p:nvSpPr>
          <p:cNvPr id="60" name="Permeabilidad"/>
          <p:cNvSpPr/>
          <p:nvPr/>
        </p:nvSpPr>
        <p:spPr>
          <a:xfrm>
            <a:off x="5029200" y="1097280"/>
            <a:ext cx="6903720" cy="2377440"/>
          </a:xfrm>
          <a:prstGeom prst="roundRect">
            <a:avLst>
              <a:gd name="adj" fmla="val 9000"/>
            </a:avLst>
          </a:prstGeom>
          <a:solidFill>
            <a:srgbClr val="FDEBD0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solo pérdida transitoria de permeabilidad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la membrana salen las moléculas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citoplasmáticas pequeñas y solubles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mioglobina y enzimas como la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sp>
        <p:nvSpPr>
          <p:cNvPr id="61" name="Necrosis Tn"/>
          <p:cNvSpPr/>
          <p:nvPr/>
        </p:nvSpPr>
        <p:spPr>
          <a:xfrm>
            <a:off x="5029200" y="3657600"/>
            <a:ext cx="6903720" cy="150876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Las troponinas forman parte del aparato contráctil: para que aparezcan en sangre se necesita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necrosis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(ruptura de toda la estructura).</a:t>
            </a:r>
            <a:endParaRPr lang="es-AR" sz="1950" dirty="0">
              <a:latin typeface="Calibri"/>
            </a:endParaRPr>
          </a:p>
        </p:txBody>
      </p:sp>
      <p:grpSp>
        <p:nvGrpSpPr>
          <p:cNvPr id="62" name="Rigor pool Tn"/>
          <p:cNvGrpSpPr/>
          <p:nvPr/>
        </p:nvGrpSpPr>
        <p:grpSpPr>
          <a:xfrm>
            <a:off x="5029200" y="5349240"/>
            <a:ext cx="6903720" cy="1097280"/>
            <a:chOff x="5029200" y="5349240"/>
            <a:chExt cx="6903720" cy="1097280"/>
          </a:xfrm>
        </p:grpSpPr>
        <p:sp>
          <p:nvSpPr>
            <p:cNvPr id="63" name="Forma 62"/>
            <p:cNvSpPr/>
            <p:nvPr/>
          </p:nvSpPr>
          <p:spPr>
            <a:xfrm>
              <a:off x="5029200" y="5550408"/>
              <a:ext cx="6903720" cy="8961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Existe además una pequeña </a:t>
              </a: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fracción citosólica</a:t>
              </a: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troponina que puede liberarse precozmente; la persistencia de 7–10 días se debe sobre todo a la </a:t>
              </a: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degradación lenta</a:t>
              </a: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aparato contráctil.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64" name="Forma 63"/>
            <p:cNvSpPr/>
            <p:nvPr/>
          </p:nvSpPr>
          <p:spPr>
            <a:xfrm>
              <a:off x="5157216" y="53492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PÉRDIDA DE PERMEABILIDAD FRENTE A NECROSIS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6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60" grpId="0" animBg="1"/>
      <p:bldP spid="57" grpId="0" animBg="1"/>
      <p:bldP spid="58" grpId="0" animBg="1"/>
      <p:bldP spid="59" grpId="0" animBg="1"/>
      <p:bldP spid="61" grpId="0" animBg="1"/>
    </p:bld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Mioglobina"/>
          <p:cNvGrpSpPr/>
          <p:nvPr/>
        </p:nvGrpSpPr>
        <p:grpSpPr>
          <a:xfrm>
            <a:off x="548640" y="1371600"/>
            <a:ext cx="2377440" cy="2468880"/>
            <a:chOff x="548640" y="1371600"/>
            <a:chExt cx="2377440" cy="2468880"/>
          </a:xfrm>
        </p:grpSpPr>
        <p:sp>
          <p:nvSpPr>
            <p:cNvPr id="6" name="Forma 5"/>
            <p:cNvSpPr/>
            <p:nvPr/>
          </p:nvSpPr>
          <p:spPr>
            <a:xfrm>
              <a:off x="731520" y="1371600"/>
              <a:ext cx="2011680" cy="2011680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922B21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1508760" y="2148840"/>
              <a:ext cx="457200" cy="457200"/>
            </a:xfrm>
            <a:prstGeom prst="diamond">
              <a:avLst/>
            </a:prstGeom>
            <a:solidFill>
              <a:srgbClr val="C0392B"/>
            </a:solidFill>
            <a:ln w="12700" cap="rnd">
              <a:solidFill>
                <a:srgbClr val="641E16"/>
              </a:solidFill>
              <a:round/>
            </a:ln>
          </p:spPr>
        </p:sp>
        <p:sp>
          <p:nvSpPr>
            <p:cNvPr id="8" name="Forma 7"/>
            <p:cNvSpPr txBox="1"/>
            <p:nvPr/>
          </p:nvSpPr>
          <p:spPr>
            <a:xfrm>
              <a:off x="548640" y="3474720"/>
              <a:ext cx="23774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922B21"/>
                  </a:solidFill>
                  <a:latin typeface="Calibri"/>
                  <a:ea typeface="Calibri"/>
                  <a:cs typeface="Calibri"/>
                  <a:sym typeface="Calibri"/>
                </a:rPr>
                <a:t>mioglobina (1 cadena, 1 hemo)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9" name="Hb comparación"/>
          <p:cNvGrpSpPr/>
          <p:nvPr/>
        </p:nvGrpSpPr>
        <p:grpSpPr>
          <a:xfrm>
            <a:off x="3326587" y="1406347"/>
            <a:ext cx="1850746" cy="1850746"/>
            <a:chOff x="3326587" y="1406347"/>
            <a:chExt cx="1850746" cy="1850746"/>
          </a:xfrm>
        </p:grpSpPr>
        <p:sp>
          <p:nvSpPr>
            <p:cNvPr id="10" name="Forma 9"/>
            <p:cNvSpPr/>
            <p:nvPr/>
          </p:nvSpPr>
          <p:spPr>
            <a:xfrm>
              <a:off x="3326587" y="1406347"/>
              <a:ext cx="1009498" cy="1009498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105156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99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299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3684118" y="1953158"/>
              <a:ext cx="294437" cy="294437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4167835" y="1406347"/>
              <a:ext cx="1009498" cy="1009498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105156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99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299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4525366" y="1953158"/>
              <a:ext cx="294437" cy="294437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3326587" y="2247595"/>
              <a:ext cx="1009498" cy="1009498"/>
            </a:xfrm>
            <a:prstGeom prst="ellipse">
              <a:avLst/>
            </a:prstGeom>
            <a:gradFill rotWithShape="1">
              <a:gsLst>
                <a:gs pos="0">
                  <a:srgbClr val="F9CF8D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0" tIns="105156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99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lang="es-AR" sz="299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3684118" y="2794406"/>
              <a:ext cx="294437" cy="294437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4167835" y="2247595"/>
              <a:ext cx="1009498" cy="1009498"/>
            </a:xfrm>
            <a:prstGeom prst="ellipse">
              <a:avLst/>
            </a:prstGeom>
            <a:gradFill rotWithShape="1">
              <a:gsLst>
                <a:gs pos="0">
                  <a:srgbClr val="EFABAB"/>
                </a:gs>
                <a:gs pos="55000">
                  <a:srgbClr val="E57373"/>
                </a:gs>
                <a:gs pos="100000">
                  <a:srgbClr val="AB565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3939"/>
              </a:solidFill>
              <a:round/>
            </a:ln>
          </p:spPr>
          <p:txBody>
            <a:bodyPr wrap="square" lIns="0" tIns="105156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99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lang="es-AR" sz="299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4525366" y="2794406"/>
              <a:ext cx="294437" cy="294437"/>
            </a:xfrm>
            <a:prstGeom prst="diamond">
              <a:avLst/>
            </a:prstGeom>
            <a:solidFill>
              <a:srgbClr val="C0392B"/>
            </a:solidFill>
            <a:ln w="9525" cap="rnd">
              <a:solidFill>
                <a:srgbClr val="641E16"/>
              </a:solidFill>
              <a:round/>
            </a:ln>
          </p:spPr>
        </p:sp>
      </p:grpSp>
      <p:sp>
        <p:nvSpPr>
          <p:cNvPr id="18" name="Rótulo Hb comp"/>
          <p:cNvSpPr txBox="1"/>
          <p:nvPr/>
        </p:nvSpPr>
        <p:spPr>
          <a:xfrm>
            <a:off x="3017520" y="34747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hemoglobina (4 cadenas)</a:t>
            </a:r>
            <a:endParaRPr lang="es-AR" sz="1300" dirty="0">
              <a:latin typeface="Calibri"/>
            </a:endParaRPr>
          </a:p>
        </p:txBody>
      </p:sp>
      <p:grpSp>
        <p:nvGrpSpPr>
          <p:cNvPr id="19" name="Tabla mioglobina fila 0"/>
          <p:cNvGrpSpPr/>
          <p:nvPr/>
        </p:nvGrpSpPr>
        <p:grpSpPr>
          <a:xfrm>
            <a:off x="365760" y="3977640"/>
            <a:ext cx="7680960" cy="457200"/>
            <a:chOff x="365760" y="3977640"/>
            <a:chExt cx="7680960" cy="457200"/>
          </a:xfrm>
        </p:grpSpPr>
        <p:sp>
          <p:nvSpPr>
            <p:cNvPr id="20" name="Forma 19"/>
            <p:cNvSpPr/>
            <p:nvPr/>
          </p:nvSpPr>
          <p:spPr>
            <a:xfrm>
              <a:off x="365760" y="3977640"/>
              <a:ext cx="2468880" cy="4572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Propiedad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2834640" y="3977640"/>
              <a:ext cx="5212080" cy="4572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Descripción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2" name="Tabla mioglobina fila 1"/>
          <p:cNvGrpSpPr/>
          <p:nvPr/>
        </p:nvGrpSpPr>
        <p:grpSpPr>
          <a:xfrm>
            <a:off x="365760" y="4434840"/>
            <a:ext cx="7680960" cy="457200"/>
            <a:chOff x="365760" y="4434840"/>
            <a:chExt cx="7680960" cy="457200"/>
          </a:xfrm>
        </p:grpSpPr>
        <p:sp>
          <p:nvSpPr>
            <p:cNvPr id="23" name="Forma 22"/>
            <p:cNvSpPr/>
            <p:nvPr/>
          </p:nvSpPr>
          <p:spPr>
            <a:xfrm>
              <a:off x="365760" y="4434840"/>
              <a:ext cx="246888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Función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2834640" y="4434840"/>
              <a:ext cx="521208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Almacena y transporta O</a:t>
              </a:r>
              <a:r>
                <a:rPr lang="es-AR" sz="13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intramuscular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5" name="Tabla mioglobina fila 2"/>
          <p:cNvGrpSpPr/>
          <p:nvPr/>
        </p:nvGrpSpPr>
        <p:grpSpPr>
          <a:xfrm>
            <a:off x="365760" y="4892040"/>
            <a:ext cx="7680960" cy="457200"/>
            <a:chOff x="365760" y="4892040"/>
            <a:chExt cx="7680960" cy="457200"/>
          </a:xfrm>
        </p:grpSpPr>
        <p:sp>
          <p:nvSpPr>
            <p:cNvPr id="26" name="Forma 25"/>
            <p:cNvSpPr/>
            <p:nvPr/>
          </p:nvSpPr>
          <p:spPr>
            <a:xfrm>
              <a:off x="365760" y="4892040"/>
              <a:ext cx="246888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Localización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2834640" y="4892040"/>
              <a:ext cx="521208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Músculo esquelético + miocardio (no específica)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8" name="Tabla mioglobina fila 3"/>
          <p:cNvGrpSpPr/>
          <p:nvPr/>
        </p:nvGrpSpPr>
        <p:grpSpPr>
          <a:xfrm>
            <a:off x="365760" y="5349240"/>
            <a:ext cx="7680960" cy="457200"/>
            <a:chOff x="365760" y="5349240"/>
            <a:chExt cx="7680960" cy="457200"/>
          </a:xfrm>
        </p:grpSpPr>
        <p:sp>
          <p:nvSpPr>
            <p:cNvPr id="29" name="Forma 28"/>
            <p:cNvSpPr/>
            <p:nvPr/>
          </p:nvSpPr>
          <p:spPr>
            <a:xfrm>
              <a:off x="365760" y="5349240"/>
              <a:ext cx="246888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Tamaño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2834640" y="5349240"/>
              <a:ext cx="5212080" cy="4572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pequeña: aparece rápido y filtra rápido por el riñón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1" name="Tabla mioglobina fila 4"/>
          <p:cNvGrpSpPr/>
          <p:nvPr/>
        </p:nvGrpSpPr>
        <p:grpSpPr>
          <a:xfrm>
            <a:off x="365760" y="5806440"/>
            <a:ext cx="7680960" cy="457200"/>
            <a:chOff x="365760" y="5806440"/>
            <a:chExt cx="7680960" cy="457200"/>
          </a:xfrm>
        </p:grpSpPr>
        <p:sp>
          <p:nvSpPr>
            <p:cNvPr id="32" name="Forma 31"/>
            <p:cNvSpPr/>
            <p:nvPr/>
          </p:nvSpPr>
          <p:spPr>
            <a:xfrm>
              <a:off x="365760" y="5806440"/>
              <a:ext cx="246888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Sensibilidad / especificidad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2834640" y="5806440"/>
              <a:ext cx="5212080" cy="4572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Altísima / muy baja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4" name="Utilidad Mb"/>
          <p:cNvGrpSpPr/>
          <p:nvPr/>
        </p:nvGrpSpPr>
        <p:grpSpPr>
          <a:xfrm>
            <a:off x="8549640" y="1097280"/>
            <a:ext cx="3383280" cy="2286000"/>
            <a:chOff x="8549640" y="1097280"/>
            <a:chExt cx="3383280" cy="2286000"/>
          </a:xfrm>
        </p:grpSpPr>
        <p:sp>
          <p:nvSpPr>
            <p:cNvPr id="35" name="Forma 34"/>
            <p:cNvSpPr/>
            <p:nvPr/>
          </p:nvSpPr>
          <p:spPr>
            <a:xfrm>
              <a:off x="8549640" y="1298448"/>
              <a:ext cx="3383280" cy="20848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Útil en guardia,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traumatismo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con síntomas de IAM: apoyo diagnóstico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temprano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Con traumatismo muscular su utilidad es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nula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36" name="Forma 35"/>
            <p:cNvSpPr/>
            <p:nvPr/>
          </p:nvSpPr>
          <p:spPr>
            <a:xfrm>
              <a:off x="8677656" y="1097280"/>
              <a:ext cx="104780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UTILIDAD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7" name="Mioglobinuria"/>
          <p:cNvSpPr/>
          <p:nvPr/>
        </p:nvSpPr>
        <p:spPr>
          <a:xfrm>
            <a:off x="8549640" y="3566160"/>
            <a:ext cx="3383280" cy="141732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Rabdomiólisis: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mioglobinuria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(orina rojo-marrón) y riesgo de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insuficiencia renal aguda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750" dirty="0">
              <a:latin typeface="Calibri"/>
            </a:endParaRPr>
          </a:p>
        </p:txBody>
      </p:sp>
      <p:grpSp>
        <p:nvGrpSpPr>
          <p:cNvPr id="38" name="Rigor mioglobina"/>
          <p:cNvGrpSpPr/>
          <p:nvPr/>
        </p:nvGrpSpPr>
        <p:grpSpPr>
          <a:xfrm>
            <a:off x="8549640" y="5166360"/>
            <a:ext cx="3383280" cy="1280160"/>
            <a:chOff x="8549640" y="5166360"/>
            <a:chExt cx="3383280" cy="1280160"/>
          </a:xfrm>
        </p:grpSpPr>
        <p:sp>
          <p:nvSpPr>
            <p:cNvPr id="39" name="Forma 38"/>
            <p:cNvSpPr/>
            <p:nvPr/>
          </p:nvSpPr>
          <p:spPr>
            <a:xfrm>
              <a:off x="8549640" y="5367528"/>
              <a:ext cx="3383280" cy="107899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mioglobina es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monomérica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una sola cadena de globina con un hemo (no dos cadenas).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40" name="Forma 39"/>
            <p:cNvSpPr/>
            <p:nvPr/>
          </p:nvSpPr>
          <p:spPr>
            <a:xfrm>
              <a:off x="8677656" y="516636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MIOGLOBINA: LA MÁS RÁPIDA, LA MENOS ESPECÍFICA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4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199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7" grpId="0" animBg="1"/>
    </p:bld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Reacción LDH"/>
          <p:cNvGrpSpPr/>
          <p:nvPr/>
        </p:nvGrpSpPr>
        <p:grpSpPr>
          <a:xfrm>
            <a:off x="548640" y="1371600"/>
            <a:ext cx="3840480" cy="1874520"/>
            <a:chOff x="548640" y="1371600"/>
            <a:chExt cx="3840480" cy="1874520"/>
          </a:xfrm>
        </p:grpSpPr>
        <p:sp>
          <p:nvSpPr>
            <p:cNvPr id="6" name="Ficha Lactato"/>
            <p:cNvSpPr/>
            <p:nvPr/>
          </p:nvSpPr>
          <p:spPr>
            <a:xfrm>
              <a:off x="548640" y="1371600"/>
              <a:ext cx="146304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71368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Lactato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lecha 6_2"/>
            <p:cNvSpPr/>
            <p:nvPr/>
          </p:nvSpPr>
          <p:spPr>
            <a:xfrm>
              <a:off x="2103120" y="1463040"/>
              <a:ext cx="731520" cy="9144"/>
            </a:xfrm>
            <a:custGeom>
              <a:avLst/>
              <a:gdLst/>
              <a:ahLst/>
              <a:cxnLst/>
              <a:rect l="0" t="0" r="r" b="b"/>
              <a:pathLst>
                <a:path w="800" h="10" fill="none">
                  <a:moveTo>
                    <a:pt x="0" y="0"/>
                  </a:moveTo>
                  <a:lnTo>
                    <a:pt x="80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lecha 8_2"/>
            <p:cNvSpPr/>
            <p:nvPr/>
          </p:nvSpPr>
          <p:spPr>
            <a:xfrm>
              <a:off x="2103120" y="1737360"/>
              <a:ext cx="731520" cy="9144"/>
            </a:xfrm>
            <a:custGeom>
              <a:avLst/>
              <a:gdLst/>
              <a:ahLst/>
              <a:cxnLst/>
              <a:rect l="0" t="0" r="r" b="b"/>
              <a:pathLst>
                <a:path w="800" h="10" fill="none">
                  <a:moveTo>
                    <a:pt x="800" y="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9" name="Ficha Piruvato"/>
            <p:cNvSpPr/>
            <p:nvPr/>
          </p:nvSpPr>
          <p:spPr>
            <a:xfrm>
              <a:off x="2926080" y="1371600"/>
              <a:ext cx="146304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0" name="LDH forma"/>
            <p:cNvSpPr/>
            <p:nvPr/>
          </p:nvSpPr>
          <p:spPr>
            <a:xfrm>
              <a:off x="1737360" y="2057400"/>
              <a:ext cx="1463040" cy="11887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C6AA"/>
                </a:gs>
                <a:gs pos="55000">
                  <a:srgbClr val="E59866"/>
                </a:gs>
                <a:gs pos="100000">
                  <a:srgbClr val="AB724C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24C33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1" name="Órganos LDH"/>
          <p:cNvGrpSpPr/>
          <p:nvPr/>
        </p:nvGrpSpPr>
        <p:grpSpPr>
          <a:xfrm>
            <a:off x="365760" y="3566160"/>
            <a:ext cx="3749040" cy="2644445"/>
            <a:chOff x="365760" y="3566160"/>
            <a:chExt cx="3749040" cy="2644445"/>
          </a:xfrm>
        </p:grpSpPr>
        <p:grpSp>
          <p:nvGrpSpPr>
            <p:cNvPr id="12" name="c"/>
            <p:cNvGrpSpPr/>
            <p:nvPr/>
          </p:nvGrpSpPr>
          <p:grpSpPr>
            <a:xfrm>
              <a:off x="365760" y="3566160"/>
              <a:ext cx="1188720" cy="1307592"/>
              <a:chOff x="365760" y="3566160"/>
              <a:chExt cx="1188720" cy="1307592"/>
            </a:xfrm>
          </p:grpSpPr>
          <p:sp>
            <p:nvSpPr>
              <p:cNvPr id="13" name="Aorta"/>
              <p:cNvSpPr/>
              <p:nvPr/>
            </p:nvSpPr>
            <p:spPr>
              <a:xfrm>
                <a:off x="817474" y="3566160"/>
                <a:ext cx="380390" cy="41842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14" name="Arteria pulmonar"/>
              <p:cNvSpPr/>
              <p:nvPr/>
            </p:nvSpPr>
            <p:spPr>
              <a:xfrm>
                <a:off x="627278" y="3696919"/>
                <a:ext cx="261518" cy="32689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15" name="Miocardio"/>
              <p:cNvSpPr/>
              <p:nvPr/>
            </p:nvSpPr>
            <p:spPr>
              <a:xfrm>
                <a:off x="365760" y="3801527"/>
                <a:ext cx="1188720" cy="10722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6" name="Aurícula derecha"/>
              <p:cNvSpPr/>
              <p:nvPr/>
            </p:nvSpPr>
            <p:spPr>
              <a:xfrm>
                <a:off x="413309" y="3958438"/>
                <a:ext cx="332842" cy="36612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sp>
          <p:nvSpPr>
            <p:cNvPr id="17" name="!!ArteriaCoronaria izquierda"/>
            <p:cNvSpPr/>
            <p:nvPr/>
          </p:nvSpPr>
          <p:spPr>
            <a:xfrm>
              <a:off x="365760" y="3801527"/>
              <a:ext cx="1188720" cy="1072225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70" y="240"/>
                  </a:moveTo>
                  <a:cubicBezTo>
                    <a:pt x="520" y="330"/>
                    <a:pt x="560" y="450"/>
                    <a:pt x="560" y="560"/>
                  </a:cubicBezTo>
                  <a:cubicBezTo>
                    <a:pt x="560" y="700"/>
                    <a:pt x="520" y="820"/>
                    <a:pt x="480" y="940"/>
                  </a:cubicBezTo>
                </a:path>
                <a:path w="1000" h="1000" fill="none">
                  <a:moveTo>
                    <a:pt x="470" y="240"/>
                  </a:moveTo>
                  <a:cubicBezTo>
                    <a:pt x="600" y="260"/>
                    <a:pt x="760" y="330"/>
                    <a:pt x="880" y="450"/>
                  </a:cubicBezTo>
                </a:path>
                <a:path w="1000" h="1000" fill="none">
                  <a:moveTo>
                    <a:pt x="560" y="470"/>
                  </a:moveTo>
                  <a:cubicBezTo>
                    <a:pt x="650" y="520"/>
                    <a:pt x="720" y="600"/>
                    <a:pt x="760" y="70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18" name="!!ArteriaCoronaria derecha"/>
            <p:cNvSpPr/>
            <p:nvPr/>
          </p:nvSpPr>
          <p:spPr>
            <a:xfrm>
              <a:off x="365760" y="3801527"/>
              <a:ext cx="1188720" cy="1072225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20" y="235"/>
                  </a:moveTo>
                  <a:cubicBezTo>
                    <a:pt x="300" y="300"/>
                    <a:pt x="180" y="420"/>
                    <a:pt x="140" y="560"/>
                  </a:cubicBezTo>
                  <a:cubicBezTo>
                    <a:pt x="120" y="650"/>
                    <a:pt x="160" y="760"/>
                    <a:pt x="260" y="82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grpSp>
          <p:nvGrpSpPr>
            <p:cNvPr id="19" name="h"/>
            <p:cNvGrpSpPr/>
            <p:nvPr/>
          </p:nvGrpSpPr>
          <p:grpSpPr>
            <a:xfrm>
              <a:off x="1645920" y="3931920"/>
              <a:ext cx="1371600" cy="969447"/>
              <a:chOff x="1645920" y="3931920"/>
              <a:chExt cx="1371600" cy="969447"/>
            </a:xfrm>
          </p:grpSpPr>
          <p:sp>
            <p:nvSpPr>
              <p:cNvPr id="20" name="Vesícula biliar"/>
              <p:cNvSpPr/>
              <p:nvPr/>
            </p:nvSpPr>
            <p:spPr>
              <a:xfrm>
                <a:off x="2016252" y="4595226"/>
                <a:ext cx="178308" cy="30614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0"/>
                    </a:moveTo>
                    <a:cubicBezTo>
                      <a:pt x="438" y="-106"/>
                      <a:pt x="866" y="-73"/>
                      <a:pt x="950" y="60"/>
                    </a:cubicBezTo>
                    <a:cubicBezTo>
                      <a:pt x="1033" y="193"/>
                      <a:pt x="883" y="643"/>
                      <a:pt x="800" y="800"/>
                    </a:cubicBezTo>
                    <a:cubicBezTo>
                      <a:pt x="716" y="956"/>
                      <a:pt x="563" y="1016"/>
                      <a:pt x="450" y="1000"/>
                    </a:cubicBezTo>
                    <a:cubicBezTo>
                      <a:pt x="336" y="983"/>
                      <a:pt x="145" y="866"/>
                      <a:pt x="120" y="700"/>
                    </a:cubicBezTo>
                    <a:cubicBezTo>
                      <a:pt x="95" y="533"/>
                      <a:pt x="161" y="106"/>
                      <a:pt x="3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099"/>
                  </a:gs>
                  <a:gs pos="55000">
                    <a:srgbClr val="8DB255"/>
                  </a:gs>
                  <a:gs pos="100000">
                    <a:srgbClr val="627C3B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E6B22"/>
                </a:solidFill>
                <a:round/>
              </a:ln>
            </p:spPr>
          </p:sp>
          <p:sp>
            <p:nvSpPr>
              <p:cNvPr id="21" name="Forma 22"/>
              <p:cNvSpPr/>
              <p:nvPr/>
            </p:nvSpPr>
            <p:spPr>
              <a:xfrm>
                <a:off x="1645920" y="3931920"/>
                <a:ext cx="1371600" cy="8503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>
                    <a:moveTo>
                      <a:pt x="40" y="250"/>
                    </a:moveTo>
                    <a:cubicBezTo>
                      <a:pt x="50" y="205"/>
                      <a:pt x="76" y="143"/>
                      <a:pt x="120" y="110"/>
                    </a:cubicBezTo>
                    <a:cubicBezTo>
                      <a:pt x="163" y="76"/>
                      <a:pt x="233" y="59"/>
                      <a:pt x="300" y="50"/>
                    </a:cubicBezTo>
                    <a:cubicBezTo>
                      <a:pt x="366" y="40"/>
                      <a:pt x="450" y="50"/>
                      <a:pt x="520" y="55"/>
                    </a:cubicBezTo>
                    <a:cubicBezTo>
                      <a:pt x="590" y="59"/>
                      <a:pt x="656" y="64"/>
                      <a:pt x="720" y="75"/>
                    </a:cubicBezTo>
                    <a:cubicBezTo>
                      <a:pt x="783" y="85"/>
                      <a:pt x="857" y="100"/>
                      <a:pt x="900" y="120"/>
                    </a:cubicBezTo>
                    <a:cubicBezTo>
                      <a:pt x="942" y="139"/>
                      <a:pt x="968" y="168"/>
                      <a:pt x="975" y="190"/>
                    </a:cubicBezTo>
                    <a:cubicBezTo>
                      <a:pt x="981" y="211"/>
                      <a:pt x="965" y="231"/>
                      <a:pt x="940" y="250"/>
                    </a:cubicBezTo>
                    <a:cubicBezTo>
                      <a:pt x="914" y="268"/>
                      <a:pt x="861" y="280"/>
                      <a:pt x="820" y="300"/>
                    </a:cubicBezTo>
                    <a:cubicBezTo>
                      <a:pt x="778" y="320"/>
                      <a:pt x="733" y="341"/>
                      <a:pt x="690" y="370"/>
                    </a:cubicBezTo>
                    <a:cubicBezTo>
                      <a:pt x="646" y="398"/>
                      <a:pt x="601" y="436"/>
                      <a:pt x="560" y="470"/>
                    </a:cubicBezTo>
                    <a:cubicBezTo>
                      <a:pt x="518" y="503"/>
                      <a:pt x="478" y="546"/>
                      <a:pt x="440" y="570"/>
                    </a:cubicBezTo>
                    <a:cubicBezTo>
                      <a:pt x="401" y="593"/>
                      <a:pt x="365" y="608"/>
                      <a:pt x="330" y="610"/>
                    </a:cubicBezTo>
                    <a:cubicBezTo>
                      <a:pt x="295" y="611"/>
                      <a:pt x="261" y="601"/>
                      <a:pt x="230" y="580"/>
                    </a:cubicBezTo>
                    <a:cubicBezTo>
                      <a:pt x="198" y="558"/>
                      <a:pt x="168" y="513"/>
                      <a:pt x="140" y="480"/>
                    </a:cubicBezTo>
                    <a:cubicBezTo>
                      <a:pt x="111" y="446"/>
                      <a:pt x="76" y="418"/>
                      <a:pt x="60" y="380"/>
                    </a:cubicBezTo>
                    <a:cubicBezTo>
                      <a:pt x="43" y="341"/>
                      <a:pt x="30" y="295"/>
                      <a:pt x="4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4948C"/>
                  </a:gs>
                  <a:gs pos="55000">
                    <a:srgbClr val="B5473A"/>
                  </a:gs>
                  <a:gs pos="100000">
                    <a:srgbClr val="7E3128"/>
                  </a:gs>
                </a:gsLst>
                <a:path path="circle">
                  <a:fillToRect l="30000" t="25000" r="70000" b="75000"/>
                </a:path>
              </a:gradFill>
              <a:ln w="25400" cap="rnd">
                <a:solidFill>
                  <a:srgbClr val="511F1A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22" name="Forma 23"/>
              <p:cNvSpPr/>
              <p:nvPr/>
            </p:nvSpPr>
            <p:spPr>
              <a:xfrm>
                <a:off x="1645920" y="3931920"/>
                <a:ext cx="1371600" cy="8503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560" y="70"/>
                    </a:moveTo>
                    <a:cubicBezTo>
                      <a:pt x="545" y="180"/>
                      <a:pt x="530" y="280"/>
                      <a:pt x="520" y="400"/>
                    </a:cubicBezTo>
                  </a:path>
                </a:pathLst>
              </a:custGeom>
              <a:noFill/>
              <a:ln w="22225" cap="rnd">
                <a:solidFill>
                  <a:srgbClr val="6C2A22"/>
                </a:solidFill>
                <a:round/>
              </a:ln>
            </p:spPr>
          </p:sp>
          <p:sp>
            <p:nvSpPr>
              <p:cNvPr id="23" name="Forma 24"/>
              <p:cNvSpPr/>
              <p:nvPr/>
            </p:nvSpPr>
            <p:spPr>
              <a:xfrm>
                <a:off x="1645920" y="3931920"/>
                <a:ext cx="1371600" cy="8503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200" y="200"/>
                    </a:moveTo>
                    <a:cubicBezTo>
                      <a:pt x="260" y="160"/>
                      <a:pt x="330" y="150"/>
                      <a:pt x="400" y="170"/>
                    </a:cubicBezTo>
                  </a:path>
                  <a:path w="1000" h="620" fill="none">
                    <a:moveTo>
                      <a:pt x="640" y="160"/>
                    </a:moveTo>
                    <a:cubicBezTo>
                      <a:pt x="700" y="150"/>
                      <a:pt x="760" y="160"/>
                      <a:pt x="820" y="190"/>
                    </a:cubicBezTo>
                  </a:path>
                </a:pathLst>
              </a:custGeom>
              <a:noFill/>
              <a:ln w="31750" cap="rnd">
                <a:solidFill>
                  <a:srgbClr val="CE877E"/>
                </a:solidFill>
                <a:round/>
              </a:ln>
            </p:spPr>
          </p:sp>
        </p:grpSp>
        <p:sp>
          <p:nvSpPr>
            <p:cNvPr id="24" name="e"/>
            <p:cNvSpPr/>
            <p:nvPr/>
          </p:nvSpPr>
          <p:spPr>
            <a:xfrm>
              <a:off x="3108960" y="393192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25" name="r"/>
            <p:cNvGrpSpPr/>
            <p:nvPr/>
          </p:nvGrpSpPr>
          <p:grpSpPr>
            <a:xfrm>
              <a:off x="731520" y="5120640"/>
              <a:ext cx="548640" cy="768096"/>
              <a:chOff x="731520" y="5120640"/>
              <a:chExt cx="548640" cy="768096"/>
            </a:xfrm>
          </p:grpSpPr>
          <p:sp>
            <p:nvSpPr>
              <p:cNvPr id="26" name="Forma 27"/>
              <p:cNvSpPr/>
              <p:nvPr/>
            </p:nvSpPr>
            <p:spPr>
              <a:xfrm>
                <a:off x="731520" y="5120640"/>
                <a:ext cx="54864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>
                    <a:moveTo>
                      <a:pt x="350" y="30"/>
                    </a:moveTo>
                    <a:cubicBezTo>
                      <a:pt x="398" y="30"/>
                      <a:pt x="471" y="31"/>
                      <a:pt x="520" y="60"/>
                    </a:cubicBezTo>
                    <a:cubicBezTo>
                      <a:pt x="568" y="88"/>
                      <a:pt x="613" y="143"/>
                      <a:pt x="640" y="200"/>
                    </a:cubicBezTo>
                    <a:cubicBezTo>
                      <a:pt x="666" y="256"/>
                      <a:pt x="676" y="330"/>
                      <a:pt x="680" y="400"/>
                    </a:cubicBezTo>
                    <a:cubicBezTo>
                      <a:pt x="683" y="470"/>
                      <a:pt x="676" y="550"/>
                      <a:pt x="660" y="620"/>
                    </a:cubicBezTo>
                    <a:cubicBezTo>
                      <a:pt x="643" y="690"/>
                      <a:pt x="620" y="763"/>
                      <a:pt x="580" y="820"/>
                    </a:cubicBezTo>
                    <a:cubicBezTo>
                      <a:pt x="540" y="876"/>
                      <a:pt x="475" y="936"/>
                      <a:pt x="420" y="960"/>
                    </a:cubicBezTo>
                    <a:cubicBezTo>
                      <a:pt x="365" y="983"/>
                      <a:pt x="296" y="976"/>
                      <a:pt x="250" y="960"/>
                    </a:cubicBezTo>
                    <a:cubicBezTo>
                      <a:pt x="203" y="943"/>
                      <a:pt x="163" y="903"/>
                      <a:pt x="140" y="860"/>
                    </a:cubicBezTo>
                    <a:cubicBezTo>
                      <a:pt x="116" y="816"/>
                      <a:pt x="105" y="743"/>
                      <a:pt x="110" y="700"/>
                    </a:cubicBezTo>
                    <a:cubicBezTo>
                      <a:pt x="115" y="656"/>
                      <a:pt x="143" y="623"/>
                      <a:pt x="170" y="600"/>
                    </a:cubicBezTo>
                    <a:cubicBezTo>
                      <a:pt x="196" y="576"/>
                      <a:pt x="248" y="576"/>
                      <a:pt x="270" y="560"/>
                    </a:cubicBezTo>
                    <a:cubicBezTo>
                      <a:pt x="291" y="543"/>
                      <a:pt x="301" y="521"/>
                      <a:pt x="300" y="500"/>
                    </a:cubicBezTo>
                    <a:cubicBezTo>
                      <a:pt x="298" y="478"/>
                      <a:pt x="283" y="446"/>
                      <a:pt x="260" y="430"/>
                    </a:cubicBezTo>
                    <a:cubicBezTo>
                      <a:pt x="236" y="413"/>
                      <a:pt x="186" y="421"/>
                      <a:pt x="160" y="400"/>
                    </a:cubicBezTo>
                    <a:cubicBezTo>
                      <a:pt x="133" y="378"/>
                      <a:pt x="103" y="341"/>
                      <a:pt x="100" y="300"/>
                    </a:cubicBezTo>
                    <a:cubicBezTo>
                      <a:pt x="96" y="258"/>
                      <a:pt x="118" y="190"/>
                      <a:pt x="140" y="150"/>
                    </a:cubicBezTo>
                    <a:cubicBezTo>
                      <a:pt x="161" y="110"/>
                      <a:pt x="195" y="80"/>
                      <a:pt x="230" y="60"/>
                    </a:cubicBezTo>
                    <a:cubicBezTo>
                      <a:pt x="265" y="40"/>
                      <a:pt x="301" y="30"/>
                      <a:pt x="350" y="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4F1A14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27" name="Forma 28"/>
              <p:cNvSpPr/>
              <p:nvPr/>
            </p:nvSpPr>
            <p:spPr>
              <a:xfrm>
                <a:off x="731520" y="5120640"/>
                <a:ext cx="54864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>
                    <a:moveTo>
                      <a:pt x="440" y="150"/>
                    </a:moveTo>
                    <a:lnTo>
                      <a:pt x="530" y="270"/>
                    </a:lnTo>
                    <a:lnTo>
                      <a:pt x="380" y="290"/>
                    </a:lnTo>
                    <a:close/>
                  </a:path>
                  <a:path w="700" h="1000">
                    <a:moveTo>
                      <a:pt x="520" y="350"/>
                    </a:moveTo>
                    <a:lnTo>
                      <a:pt x="610" y="470"/>
                    </a:lnTo>
                    <a:lnTo>
                      <a:pt x="460" y="490"/>
                    </a:lnTo>
                    <a:close/>
                  </a:path>
                  <a:path w="700" h="1000">
                    <a:moveTo>
                      <a:pt x="500" y="570"/>
                    </a:moveTo>
                    <a:lnTo>
                      <a:pt x="590" y="690"/>
                    </a:lnTo>
                    <a:lnTo>
                      <a:pt x="440" y="710"/>
                    </a:lnTo>
                    <a:close/>
                  </a:path>
                  <a:path w="700" h="1000">
                    <a:moveTo>
                      <a:pt x="380" y="750"/>
                    </a:moveTo>
                    <a:lnTo>
                      <a:pt x="470" y="870"/>
                    </a:lnTo>
                    <a:lnTo>
                      <a:pt x="320" y="890"/>
                    </a:lnTo>
                    <a:close/>
                  </a:path>
                </a:pathLst>
              </a:custGeom>
              <a:solidFill>
                <a:srgbClr val="7B2820"/>
              </a:solidFill>
              <a:ln w="9525" cap="rnd">
                <a:solidFill>
                  <a:srgbClr val="4F1A14"/>
                </a:solidFill>
                <a:round/>
              </a:ln>
            </p:spPr>
          </p:sp>
          <p:sp>
            <p:nvSpPr>
              <p:cNvPr id="28" name="Forma 29"/>
              <p:cNvSpPr/>
              <p:nvPr/>
            </p:nvSpPr>
            <p:spPr>
              <a:xfrm>
                <a:off x="731520" y="5120640"/>
                <a:ext cx="54864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>
                    <a:moveTo>
                      <a:pt x="300" y="470"/>
                    </a:moveTo>
                    <a:cubicBezTo>
                      <a:pt x="313" y="440"/>
                      <a:pt x="360" y="375"/>
                      <a:pt x="380" y="380"/>
                    </a:cubicBezTo>
                    <a:cubicBezTo>
                      <a:pt x="400" y="385"/>
                      <a:pt x="420" y="460"/>
                      <a:pt x="420" y="500"/>
                    </a:cubicBezTo>
                    <a:cubicBezTo>
                      <a:pt x="420" y="540"/>
                      <a:pt x="400" y="610"/>
                      <a:pt x="380" y="620"/>
                    </a:cubicBezTo>
                    <a:cubicBezTo>
                      <a:pt x="360" y="630"/>
                      <a:pt x="313" y="585"/>
                      <a:pt x="300" y="560"/>
                    </a:cubicBezTo>
                    <a:cubicBezTo>
                      <a:pt x="286" y="535"/>
                      <a:pt x="286" y="500"/>
                      <a:pt x="300" y="470"/>
                    </a:cubicBezTo>
                    <a:close/>
                  </a:path>
                </a:pathLst>
              </a:custGeom>
              <a:solidFill>
                <a:srgbClr val="F5CBA7"/>
              </a:solidFill>
              <a:ln w="12700" cap="rnd">
                <a:solidFill>
                  <a:srgbClr val="A04000"/>
                </a:solidFill>
                <a:round/>
              </a:ln>
            </p:spPr>
          </p:sp>
          <p:sp>
            <p:nvSpPr>
              <p:cNvPr id="29" name="Forma 30"/>
              <p:cNvSpPr/>
              <p:nvPr/>
            </p:nvSpPr>
            <p:spPr>
              <a:xfrm>
                <a:off x="731520" y="5120640"/>
                <a:ext cx="54864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700" h="1000" fill="none">
                    <a:moveTo>
                      <a:pt x="300" y="520"/>
                    </a:moveTo>
                    <a:cubicBezTo>
                      <a:pt x="220" y="560"/>
                      <a:pt x="200" y="700"/>
                      <a:pt x="230" y="1000"/>
                    </a:cubicBezTo>
                  </a:path>
                </a:pathLst>
              </a:custGeom>
              <a:noFill/>
              <a:ln w="63500" cap="rnd">
                <a:solidFill>
                  <a:srgbClr val="E59866"/>
                </a:solidFill>
                <a:round/>
              </a:ln>
            </p:spPr>
          </p:sp>
        </p:grpSp>
        <p:grpSp>
          <p:nvGrpSpPr>
            <p:cNvPr id="30" name="b"/>
            <p:cNvGrpSpPr/>
            <p:nvPr/>
          </p:nvGrpSpPr>
          <p:grpSpPr>
            <a:xfrm>
              <a:off x="1645920" y="5212080"/>
              <a:ext cx="1280160" cy="998525"/>
              <a:chOff x="1645920" y="5212080"/>
              <a:chExt cx="1280160" cy="998525"/>
            </a:xfrm>
          </p:grpSpPr>
          <p:sp>
            <p:nvSpPr>
              <p:cNvPr id="31" name="Cerebelo"/>
              <p:cNvSpPr/>
              <p:nvPr/>
            </p:nvSpPr>
            <p:spPr>
              <a:xfrm>
                <a:off x="1645920" y="5212080"/>
                <a:ext cx="128016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>
                    <a:moveTo>
                      <a:pt x="870" y="640"/>
                    </a:moveTo>
                    <a:cubicBezTo>
                      <a:pt x="870" y="692"/>
                      <a:pt x="802" y="735"/>
                      <a:pt x="720" y="735"/>
                    </a:cubicBezTo>
                    <a:cubicBezTo>
                      <a:pt x="637" y="735"/>
                      <a:pt x="570" y="692"/>
                      <a:pt x="570" y="640"/>
                    </a:cubicBezTo>
                    <a:cubicBezTo>
                      <a:pt x="570" y="587"/>
                      <a:pt x="637" y="545"/>
                      <a:pt x="720" y="545"/>
                    </a:cubicBezTo>
                    <a:cubicBezTo>
                      <a:pt x="802" y="545"/>
                      <a:pt x="870" y="587"/>
                      <a:pt x="870" y="64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0B7C0"/>
                  </a:gs>
                  <a:gs pos="55000">
                    <a:srgbClr val="E8919F"/>
                  </a:gs>
                  <a:gs pos="100000">
                    <a:srgbClr val="A2656F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C4B51"/>
                </a:solidFill>
                <a:round/>
              </a:ln>
            </p:spPr>
          </p:sp>
          <p:sp>
            <p:nvSpPr>
              <p:cNvPr id="32" name="Forma 33"/>
              <p:cNvSpPr/>
              <p:nvPr/>
            </p:nvSpPr>
            <p:spPr>
              <a:xfrm>
                <a:off x="1645920" y="5212080"/>
                <a:ext cx="128016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 fill="none">
                    <a:moveTo>
                      <a:pt x="600" y="610"/>
                    </a:moveTo>
                    <a:cubicBezTo>
                      <a:pt x="610" y="680"/>
                      <a:pt x="620" y="730"/>
                      <a:pt x="640" y="780"/>
                    </a:cubicBezTo>
                  </a:path>
                </a:pathLst>
              </a:custGeom>
              <a:noFill/>
              <a:ln w="114300" cap="rnd">
                <a:solidFill>
                  <a:srgbClr val="78535A"/>
                </a:solidFill>
                <a:round/>
              </a:ln>
            </p:spPr>
          </p:sp>
          <p:sp>
            <p:nvSpPr>
              <p:cNvPr id="33" name="Forma 34"/>
              <p:cNvSpPr/>
              <p:nvPr/>
            </p:nvSpPr>
            <p:spPr>
              <a:xfrm>
                <a:off x="1645920" y="5212080"/>
                <a:ext cx="128016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>
                    <a:moveTo>
                      <a:pt x="100" y="520"/>
                    </a:moveTo>
                    <a:cubicBezTo>
                      <a:pt x="78" y="481"/>
                      <a:pt x="65" y="428"/>
                      <a:pt x="70" y="380"/>
                    </a:cubicBezTo>
                    <a:cubicBezTo>
                      <a:pt x="75" y="331"/>
                      <a:pt x="98" y="273"/>
                      <a:pt x="130" y="230"/>
                    </a:cubicBezTo>
                    <a:cubicBezTo>
                      <a:pt x="161" y="186"/>
                      <a:pt x="210" y="146"/>
                      <a:pt x="260" y="120"/>
                    </a:cubicBezTo>
                    <a:cubicBezTo>
                      <a:pt x="310" y="93"/>
                      <a:pt x="373" y="78"/>
                      <a:pt x="430" y="70"/>
                    </a:cubicBezTo>
                    <a:cubicBezTo>
                      <a:pt x="486" y="61"/>
                      <a:pt x="545" y="61"/>
                      <a:pt x="600" y="70"/>
                    </a:cubicBezTo>
                    <a:cubicBezTo>
                      <a:pt x="655" y="78"/>
                      <a:pt x="711" y="95"/>
                      <a:pt x="760" y="120"/>
                    </a:cubicBezTo>
                    <a:cubicBezTo>
                      <a:pt x="808" y="145"/>
                      <a:pt x="858" y="180"/>
                      <a:pt x="890" y="220"/>
                    </a:cubicBezTo>
                    <a:cubicBezTo>
                      <a:pt x="921" y="260"/>
                      <a:pt x="943" y="316"/>
                      <a:pt x="950" y="360"/>
                    </a:cubicBezTo>
                    <a:cubicBezTo>
                      <a:pt x="956" y="403"/>
                      <a:pt x="945" y="446"/>
                      <a:pt x="930" y="480"/>
                    </a:cubicBezTo>
                    <a:cubicBezTo>
                      <a:pt x="915" y="513"/>
                      <a:pt x="888" y="540"/>
                      <a:pt x="860" y="560"/>
                    </a:cubicBezTo>
                    <a:cubicBezTo>
                      <a:pt x="831" y="580"/>
                      <a:pt x="796" y="590"/>
                      <a:pt x="760" y="600"/>
                    </a:cubicBezTo>
                    <a:cubicBezTo>
                      <a:pt x="723" y="610"/>
                      <a:pt x="676" y="613"/>
                      <a:pt x="640" y="620"/>
                    </a:cubicBezTo>
                    <a:cubicBezTo>
                      <a:pt x="603" y="626"/>
                      <a:pt x="573" y="633"/>
                      <a:pt x="540" y="640"/>
                    </a:cubicBezTo>
                    <a:cubicBezTo>
                      <a:pt x="506" y="646"/>
                      <a:pt x="476" y="658"/>
                      <a:pt x="440" y="660"/>
                    </a:cubicBezTo>
                    <a:cubicBezTo>
                      <a:pt x="403" y="661"/>
                      <a:pt x="360" y="658"/>
                      <a:pt x="320" y="650"/>
                    </a:cubicBezTo>
                    <a:cubicBezTo>
                      <a:pt x="280" y="641"/>
                      <a:pt x="236" y="631"/>
                      <a:pt x="200" y="610"/>
                    </a:cubicBezTo>
                    <a:cubicBezTo>
                      <a:pt x="163" y="588"/>
                      <a:pt x="121" y="558"/>
                      <a:pt x="100" y="5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6CAD2"/>
                  </a:gs>
                  <a:gs pos="55000">
                    <a:srgbClr val="F1A7B5"/>
                  </a:gs>
                  <a:gs pos="100000">
                    <a:srgbClr val="B47D87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6C4B51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34" name="Forma 35"/>
              <p:cNvSpPr/>
              <p:nvPr/>
            </p:nvSpPr>
            <p:spPr>
              <a:xfrm>
                <a:off x="1645920" y="5212080"/>
                <a:ext cx="128016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780" fill="none">
                    <a:moveTo>
                      <a:pt x="180" y="300"/>
                    </a:moveTo>
                    <a:cubicBezTo>
                      <a:pt x="260" y="260"/>
                      <a:pt x="280" y="360"/>
                      <a:pt x="360" y="320"/>
                    </a:cubicBezTo>
                    <a:cubicBezTo>
                      <a:pt x="430" y="280"/>
                      <a:pt x="420" y="200"/>
                      <a:pt x="500" y="190"/>
                    </a:cubicBezTo>
                  </a:path>
                  <a:path w="1000" h="780" fill="none">
                    <a:moveTo>
                      <a:pt x="560" y="160"/>
                    </a:moveTo>
                    <a:cubicBezTo>
                      <a:pt x="620" y="230"/>
                      <a:pt x="700" y="200"/>
                      <a:pt x="760" y="260"/>
                    </a:cubicBezTo>
                    <a:cubicBezTo>
                      <a:pt x="820" y="320"/>
                      <a:pt x="800" y="380"/>
                      <a:pt x="870" y="400"/>
                    </a:cubicBezTo>
                  </a:path>
                  <a:path w="1000" h="780" fill="none">
                    <a:moveTo>
                      <a:pt x="150" y="460"/>
                    </a:moveTo>
                    <a:cubicBezTo>
                      <a:pt x="240" y="430"/>
                      <a:pt x="300" y="500"/>
                      <a:pt x="380" y="470"/>
                    </a:cubicBezTo>
                    <a:cubicBezTo>
                      <a:pt x="460" y="440"/>
                      <a:pt x="500" y="520"/>
                      <a:pt x="580" y="500"/>
                    </a:cubicBezTo>
                  </a:path>
                  <a:path w="1000" h="780" fill="none">
                    <a:moveTo>
                      <a:pt x="420" y="330"/>
                    </a:moveTo>
                    <a:cubicBezTo>
                      <a:pt x="480" y="380"/>
                      <a:pt x="560" y="330"/>
                      <a:pt x="620" y="380"/>
                    </a:cubicBezTo>
                    <a:cubicBezTo>
                      <a:pt x="680" y="430"/>
                      <a:pt x="740" y="400"/>
                      <a:pt x="800" y="470"/>
                    </a:cubicBezTo>
                  </a:path>
                  <a:path w="1000" h="780" fill="none">
                    <a:moveTo>
                      <a:pt x="300" y="560"/>
                    </a:moveTo>
                    <a:cubicBezTo>
                      <a:pt x="380" y="540"/>
                      <a:pt x="420" y="600"/>
                      <a:pt x="500" y="580"/>
                    </a:cubicBezTo>
                  </a:path>
                  <a:path w="1000" h="780" fill="none">
                    <a:moveTo>
                      <a:pt x="640" y="520"/>
                    </a:moveTo>
                    <a:cubicBezTo>
                      <a:pt x="700" y="500"/>
                      <a:pt x="760" y="540"/>
                      <a:pt x="820" y="520"/>
                    </a:cubicBezTo>
                  </a:path>
                </a:pathLst>
              </a:custGeom>
              <a:noFill/>
              <a:ln w="22225" cap="rnd">
                <a:solidFill>
                  <a:srgbClr val="90646C"/>
                </a:solidFill>
                <a:round/>
              </a:ln>
            </p:spPr>
          </p:sp>
        </p:grpSp>
        <p:grpSp>
          <p:nvGrpSpPr>
            <p:cNvPr id="35" name="m"/>
            <p:cNvGrpSpPr/>
            <p:nvPr/>
          </p:nvGrpSpPr>
          <p:grpSpPr>
            <a:xfrm>
              <a:off x="3017520" y="5120640"/>
              <a:ext cx="1097280" cy="359908"/>
              <a:chOff x="3017520" y="5120640"/>
              <a:chExt cx="1097280" cy="359908"/>
            </a:xfrm>
          </p:grpSpPr>
          <p:grpSp>
            <p:nvGrpSpPr>
              <p:cNvPr id="36" name="Fibra"/>
              <p:cNvGrpSpPr/>
              <p:nvPr/>
            </p:nvGrpSpPr>
            <p:grpSpPr>
              <a:xfrm>
                <a:off x="3017520" y="5120640"/>
                <a:ext cx="1053389" cy="175565"/>
                <a:chOff x="3017520" y="5120640"/>
                <a:chExt cx="1053389" cy="175565"/>
              </a:xfrm>
            </p:grpSpPr>
            <p:sp>
              <p:nvSpPr>
                <p:cNvPr id="37" name="Forma 38"/>
                <p:cNvSpPr/>
                <p:nvPr/>
              </p:nvSpPr>
              <p:spPr>
                <a:xfrm>
                  <a:off x="3017520" y="5120640"/>
                  <a:ext cx="1053389" cy="17556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38" name="Forma 39"/>
                <p:cNvSpPr/>
                <p:nvPr/>
              </p:nvSpPr>
              <p:spPr>
                <a:xfrm>
                  <a:off x="3061411" y="5120640"/>
                  <a:ext cx="965606" cy="1755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41" y="80"/>
                      </a:moveTo>
                      <a:lnTo>
                        <a:pt x="41" y="920"/>
                      </a:lnTo>
                    </a:path>
                    <a:path w="1000" h="1000" fill="none">
                      <a:moveTo>
                        <a:pt x="125" y="80"/>
                      </a:moveTo>
                      <a:lnTo>
                        <a:pt x="125" y="920"/>
                      </a:lnTo>
                    </a:path>
                    <a:path w="1000" h="1000" fill="none">
                      <a:moveTo>
                        <a:pt x="208" y="80"/>
                      </a:moveTo>
                      <a:lnTo>
                        <a:pt x="208" y="920"/>
                      </a:lnTo>
                    </a:path>
                    <a:path w="1000" h="1000" fill="none">
                      <a:moveTo>
                        <a:pt x="291" y="80"/>
                      </a:moveTo>
                      <a:lnTo>
                        <a:pt x="291" y="920"/>
                      </a:lnTo>
                    </a:path>
                    <a:path w="1000" h="1000" fill="none">
                      <a:moveTo>
                        <a:pt x="375" y="80"/>
                      </a:moveTo>
                      <a:lnTo>
                        <a:pt x="375" y="920"/>
                      </a:lnTo>
                    </a:path>
                    <a:path w="1000" h="1000" fill="none">
                      <a:moveTo>
                        <a:pt x="458" y="80"/>
                      </a:moveTo>
                      <a:lnTo>
                        <a:pt x="458" y="920"/>
                      </a:lnTo>
                    </a:path>
                    <a:path w="1000" h="1000" fill="none">
                      <a:moveTo>
                        <a:pt x="541" y="80"/>
                      </a:moveTo>
                      <a:lnTo>
                        <a:pt x="541" y="920"/>
                      </a:lnTo>
                    </a:path>
                    <a:path w="1000" h="1000" fill="none">
                      <a:moveTo>
                        <a:pt x="625" y="80"/>
                      </a:moveTo>
                      <a:lnTo>
                        <a:pt x="625" y="920"/>
                      </a:lnTo>
                    </a:path>
                    <a:path w="1000" h="1000" fill="none">
                      <a:moveTo>
                        <a:pt x="708" y="80"/>
                      </a:moveTo>
                      <a:lnTo>
                        <a:pt x="708" y="920"/>
                      </a:lnTo>
                    </a:path>
                    <a:path w="1000" h="1000" fill="none">
                      <a:moveTo>
                        <a:pt x="791" y="80"/>
                      </a:moveTo>
                      <a:lnTo>
                        <a:pt x="791" y="920"/>
                      </a:lnTo>
                    </a:path>
                    <a:path w="1000" h="1000" fill="none">
                      <a:moveTo>
                        <a:pt x="875" y="80"/>
                      </a:moveTo>
                      <a:lnTo>
                        <a:pt x="875" y="920"/>
                      </a:lnTo>
                    </a:path>
                    <a:path w="1000" h="1000" fill="none">
                      <a:moveTo>
                        <a:pt x="958" y="80"/>
                      </a:moveTo>
                      <a:lnTo>
                        <a:pt x="958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39" name="Forma 40"/>
                <p:cNvSpPr/>
                <p:nvPr/>
              </p:nvSpPr>
              <p:spPr>
                <a:xfrm>
                  <a:off x="3228198" y="5127663"/>
                  <a:ext cx="87782" cy="316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0" name="Forma 41"/>
                <p:cNvSpPr/>
                <p:nvPr/>
              </p:nvSpPr>
              <p:spPr>
                <a:xfrm>
                  <a:off x="3596884" y="5127663"/>
                  <a:ext cx="87782" cy="316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1" name="Forma 42"/>
                <p:cNvSpPr/>
                <p:nvPr/>
              </p:nvSpPr>
              <p:spPr>
                <a:xfrm>
                  <a:off x="3912900" y="5127663"/>
                  <a:ext cx="87782" cy="316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2" name="Forma 43"/>
                <p:cNvSpPr/>
                <p:nvPr/>
              </p:nvSpPr>
              <p:spPr>
                <a:xfrm>
                  <a:off x="3997172" y="5127663"/>
                  <a:ext cx="70226" cy="16152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43" name="Fibra_2"/>
              <p:cNvGrpSpPr/>
              <p:nvPr/>
            </p:nvGrpSpPr>
            <p:grpSpPr>
              <a:xfrm>
                <a:off x="3061411" y="5304983"/>
                <a:ext cx="1053389" cy="175565"/>
                <a:chOff x="3061411" y="5304983"/>
                <a:chExt cx="1053389" cy="175565"/>
              </a:xfrm>
            </p:grpSpPr>
            <p:sp>
              <p:nvSpPr>
                <p:cNvPr id="44" name="Forma 45"/>
                <p:cNvSpPr/>
                <p:nvPr/>
              </p:nvSpPr>
              <p:spPr>
                <a:xfrm>
                  <a:off x="3061411" y="5304983"/>
                  <a:ext cx="1053389" cy="17556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45" name="Forma 46"/>
                <p:cNvSpPr/>
                <p:nvPr/>
              </p:nvSpPr>
              <p:spPr>
                <a:xfrm>
                  <a:off x="3105302" y="5304983"/>
                  <a:ext cx="965606" cy="1755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41" y="80"/>
                      </a:moveTo>
                      <a:lnTo>
                        <a:pt x="41" y="920"/>
                      </a:lnTo>
                    </a:path>
                    <a:path w="1000" h="1000" fill="none">
                      <a:moveTo>
                        <a:pt x="125" y="80"/>
                      </a:moveTo>
                      <a:lnTo>
                        <a:pt x="125" y="920"/>
                      </a:lnTo>
                    </a:path>
                    <a:path w="1000" h="1000" fill="none">
                      <a:moveTo>
                        <a:pt x="208" y="80"/>
                      </a:moveTo>
                      <a:lnTo>
                        <a:pt x="208" y="920"/>
                      </a:lnTo>
                    </a:path>
                    <a:path w="1000" h="1000" fill="none">
                      <a:moveTo>
                        <a:pt x="291" y="80"/>
                      </a:moveTo>
                      <a:lnTo>
                        <a:pt x="291" y="920"/>
                      </a:lnTo>
                    </a:path>
                    <a:path w="1000" h="1000" fill="none">
                      <a:moveTo>
                        <a:pt x="375" y="80"/>
                      </a:moveTo>
                      <a:lnTo>
                        <a:pt x="375" y="920"/>
                      </a:lnTo>
                    </a:path>
                    <a:path w="1000" h="1000" fill="none">
                      <a:moveTo>
                        <a:pt x="458" y="80"/>
                      </a:moveTo>
                      <a:lnTo>
                        <a:pt x="458" y="920"/>
                      </a:lnTo>
                    </a:path>
                    <a:path w="1000" h="1000" fill="none">
                      <a:moveTo>
                        <a:pt x="541" y="80"/>
                      </a:moveTo>
                      <a:lnTo>
                        <a:pt x="541" y="920"/>
                      </a:lnTo>
                    </a:path>
                    <a:path w="1000" h="1000" fill="none">
                      <a:moveTo>
                        <a:pt x="625" y="80"/>
                      </a:moveTo>
                      <a:lnTo>
                        <a:pt x="625" y="920"/>
                      </a:lnTo>
                    </a:path>
                    <a:path w="1000" h="1000" fill="none">
                      <a:moveTo>
                        <a:pt x="708" y="80"/>
                      </a:moveTo>
                      <a:lnTo>
                        <a:pt x="708" y="920"/>
                      </a:lnTo>
                    </a:path>
                    <a:path w="1000" h="1000" fill="none">
                      <a:moveTo>
                        <a:pt x="791" y="80"/>
                      </a:moveTo>
                      <a:lnTo>
                        <a:pt x="791" y="920"/>
                      </a:lnTo>
                    </a:path>
                    <a:path w="1000" h="1000" fill="none">
                      <a:moveTo>
                        <a:pt x="875" y="80"/>
                      </a:moveTo>
                      <a:lnTo>
                        <a:pt x="875" y="920"/>
                      </a:lnTo>
                    </a:path>
                    <a:path w="1000" h="1000" fill="none">
                      <a:moveTo>
                        <a:pt x="958" y="80"/>
                      </a:moveTo>
                      <a:lnTo>
                        <a:pt x="958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46" name="Forma 47"/>
                <p:cNvSpPr/>
                <p:nvPr/>
              </p:nvSpPr>
              <p:spPr>
                <a:xfrm>
                  <a:off x="3272089" y="5312006"/>
                  <a:ext cx="87782" cy="316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7" name="Forma 48"/>
                <p:cNvSpPr/>
                <p:nvPr/>
              </p:nvSpPr>
              <p:spPr>
                <a:xfrm>
                  <a:off x="3640775" y="5312006"/>
                  <a:ext cx="87782" cy="316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8" name="Forma 49"/>
                <p:cNvSpPr/>
                <p:nvPr/>
              </p:nvSpPr>
              <p:spPr>
                <a:xfrm>
                  <a:off x="3956792" y="5312006"/>
                  <a:ext cx="87782" cy="3160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9" name="Forma 50"/>
                <p:cNvSpPr/>
                <p:nvPr/>
              </p:nvSpPr>
              <p:spPr>
                <a:xfrm>
                  <a:off x="4041063" y="5312006"/>
                  <a:ext cx="70226" cy="16152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</p:grpSp>
      </p:grpSp>
      <p:sp>
        <p:nvSpPr>
          <p:cNvPr id="50" name="LDH punto 1"/>
          <p:cNvSpPr/>
          <p:nvPr/>
        </p:nvSpPr>
        <p:spPr>
          <a:xfrm>
            <a:off x="4572000" y="1097280"/>
            <a:ext cx="7360920" cy="1207008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Alta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sensibilidad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(se eleva ante cualquier daño celular),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bajísima especificidad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51" name="LDH punto 2"/>
          <p:cNvSpPr/>
          <p:nvPr/>
        </p:nvSpPr>
        <p:spPr>
          <a:xfrm>
            <a:off x="4572000" y="2441448"/>
            <a:ext cx="7360920" cy="1207008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eleva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muy tarde (8–18 h)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tarda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10–14 días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 normalizarse.</a:t>
            </a:r>
            <a:endParaRPr lang="es-AR" sz="1950" dirty="0">
              <a:latin typeface="Calibri"/>
            </a:endParaRPr>
          </a:p>
        </p:txBody>
      </p:sp>
      <p:sp>
        <p:nvSpPr>
          <p:cNvPr id="52" name="LDH punto 3"/>
          <p:cNvSpPr/>
          <p:nvPr/>
        </p:nvSpPr>
        <p:spPr>
          <a:xfrm>
            <a:off x="4572000" y="3785616"/>
            <a:ext cx="736092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recambio celular normal mantiene un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nivel basal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necesita un daño grande para elevarse significativamente.</a:t>
            </a:r>
            <a:endParaRPr lang="es-AR" sz="1950" dirty="0">
              <a:latin typeface="Calibri"/>
            </a:endParaRPr>
          </a:p>
        </p:txBody>
      </p:sp>
      <p:sp>
        <p:nvSpPr>
          <p:cNvPr id="53" name="LDH punto 4"/>
          <p:cNvSpPr/>
          <p:nvPr/>
        </p:nvSpPr>
        <p:spPr>
          <a:xfrm>
            <a:off x="4572000" y="5129784"/>
            <a:ext cx="7360920" cy="1207008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Conclusión: casi nunca sirve como marcador diagnóstico de IAM; valor relativo como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apoyo contextual tardío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LDH EN EL IAM: TARDÍA E INESPECÍFICA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5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</p:bldLst>
  </p:timing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04826" y="1097280"/>
            <a:ext cx="7911389" cy="3017520"/>
            <a:chOff x="204826" y="1097280"/>
            <a:chExt cx="7911389" cy="301752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0482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788578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grpSp>
        <p:nvGrpSpPr>
          <p:cNvPr id="10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1" name="Forma 10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" name="Forma 11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grpSp>
        <p:nvGrpSpPr>
          <p:cNvPr id="13" name="Caja LB1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14" name="Forma 13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 cardiomiocito sano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retiene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su contenido: los biomarcadores están dentro de la célula.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8677656" y="1097280"/>
              <a:ext cx="183367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PUNTO DE PARTIDA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LIBERACIÓN DE BIOMARCADORES: EL CARDIOMIOCITO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1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04826" y="1097280"/>
            <a:ext cx="7911389" cy="3017520"/>
            <a:chOff x="204826" y="1097280"/>
            <a:chExt cx="7911389" cy="301752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0482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788578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grpSp>
        <p:nvGrpSpPr>
          <p:cNvPr id="10" name="!!Filamento"/>
          <p:cNvGrpSpPr/>
          <p:nvPr/>
        </p:nvGrpSpPr>
        <p:grpSpPr>
          <a:xfrm>
            <a:off x="934517" y="2364638"/>
            <a:ext cx="6452006" cy="482803"/>
            <a:chOff x="934517" y="2364638"/>
            <a:chExt cx="6452006" cy="482803"/>
          </a:xfrm>
        </p:grpSpPr>
        <p:sp>
          <p:nvSpPr>
            <p:cNvPr id="11" name="Forma 10"/>
            <p:cNvSpPr/>
            <p:nvPr/>
          </p:nvSpPr>
          <p:spPr>
            <a:xfrm>
              <a:off x="934517" y="2364638"/>
              <a:ext cx="6452006" cy="482803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5DADE2"/>
                </a:gs>
              </a:gsLst>
              <a:lin ang="5400000" scaled="0"/>
            </a:gradFill>
            <a:ln w="12700" cap="rnd">
              <a:solidFill>
                <a:srgbClr val="2471A3"/>
              </a:solidFill>
              <a:round/>
            </a:ln>
          </p:spPr>
        </p:sp>
      </p:grpSp>
      <p:grpSp>
        <p:nvGrpSpPr>
          <p:cNvPr id="12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3" name="Forma 12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4" name="Forma 13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sp>
        <p:nvSpPr>
          <p:cNvPr id="15" name="!!Mb 1"/>
          <p:cNvSpPr/>
          <p:nvPr/>
        </p:nvSpPr>
        <p:spPr>
          <a:xfrm>
            <a:off x="1188720" y="173736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6" name="!!Mb 2"/>
          <p:cNvSpPr/>
          <p:nvPr/>
        </p:nvSpPr>
        <p:spPr>
          <a:xfrm>
            <a:off x="2377440" y="310896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7" name="!!Mb 3"/>
          <p:cNvSpPr/>
          <p:nvPr/>
        </p:nvSpPr>
        <p:spPr>
          <a:xfrm>
            <a:off x="5394960" y="164592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8" name="!!CK 1"/>
          <p:cNvSpPr/>
          <p:nvPr/>
        </p:nvSpPr>
        <p:spPr>
          <a:xfrm>
            <a:off x="1920240" y="164592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19" name="!!CK 2"/>
          <p:cNvSpPr/>
          <p:nvPr/>
        </p:nvSpPr>
        <p:spPr>
          <a:xfrm>
            <a:off x="4023360" y="315468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0" name="!!CK 3"/>
          <p:cNvSpPr/>
          <p:nvPr/>
        </p:nvSpPr>
        <p:spPr>
          <a:xfrm>
            <a:off x="6400800" y="182880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1" name="!!Troponina 1"/>
          <p:cNvSpPr/>
          <p:nvPr/>
        </p:nvSpPr>
        <p:spPr>
          <a:xfrm>
            <a:off x="2743200" y="233172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sp>
        <p:nvSpPr>
          <p:cNvPr id="22" name="!!Troponina 2"/>
          <p:cNvSpPr/>
          <p:nvPr/>
        </p:nvSpPr>
        <p:spPr>
          <a:xfrm>
            <a:off x="4754880" y="233172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grpSp>
        <p:nvGrpSpPr>
          <p:cNvPr id="23" name="Caja LB2"/>
          <p:cNvGrpSpPr/>
          <p:nvPr/>
        </p:nvGrpSpPr>
        <p:grpSpPr>
          <a:xfrm>
            <a:off x="8549640" y="1097280"/>
            <a:ext cx="3383280" cy="3657600"/>
            <a:chOff x="8549640" y="1097280"/>
            <a:chExt cx="3383280" cy="3657600"/>
          </a:xfrm>
        </p:grpSpPr>
        <p:sp>
          <p:nvSpPr>
            <p:cNvPr id="24" name="Forma 23"/>
            <p:cNvSpPr/>
            <p:nvPr/>
          </p:nvSpPr>
          <p:spPr>
            <a:xfrm>
              <a:off x="8549640" y="1298448"/>
              <a:ext cx="3383280" cy="34564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85737" indent="-1857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Mioglobina (Mb)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en 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citoplasma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pequeñas y solubles.</a:t>
              </a:r>
              <a:endParaRPr lang="es-AR" sz="1950" dirty="0">
                <a:latin typeface="Calibri"/>
              </a:endParaRPr>
            </a:p>
            <a:p>
              <a:pPr algn="l" marL="185737" indent="-1857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Troponinas (Tn)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unidas al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aparato contráctil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(filamento).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8677656" y="1097280"/>
              <a:ext cx="1194777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UBICACIÓN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ESTRUCTURAS INTRACELULARES: DÓNDE ESTÁ CADA MARCADOR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04826" y="1097280"/>
            <a:ext cx="7911389" cy="3017520"/>
            <a:chOff x="204826" y="1097280"/>
            <a:chExt cx="7911389" cy="301752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0482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788578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sp>
        <p:nvSpPr>
          <p:cNvPr id="10" name="!!Lesión"/>
          <p:cNvSpPr/>
          <p:nvPr/>
        </p:nvSpPr>
        <p:spPr>
          <a:xfrm>
            <a:off x="3776472" y="3571646"/>
            <a:ext cx="1075334" cy="905256"/>
          </a:xfrm>
          <a:prstGeom prst="irregularSeal1">
            <a:avLst/>
          </a:prstGeom>
          <a:solidFill>
            <a:srgbClr val="4A235A">
              <a:alpha val="70000"/>
            </a:srgbClr>
          </a:solidFill>
          <a:ln>
            <a:noFill/>
          </a:ln>
        </p:spPr>
      </p:sp>
      <p:grpSp>
        <p:nvGrpSpPr>
          <p:cNvPr id="11" name="!!Filamento"/>
          <p:cNvGrpSpPr/>
          <p:nvPr/>
        </p:nvGrpSpPr>
        <p:grpSpPr>
          <a:xfrm>
            <a:off x="934517" y="2364638"/>
            <a:ext cx="6452006" cy="482803"/>
            <a:chOff x="934517" y="2364638"/>
            <a:chExt cx="6452006" cy="482803"/>
          </a:xfrm>
        </p:grpSpPr>
        <p:sp>
          <p:nvSpPr>
            <p:cNvPr id="12" name="Forma 11"/>
            <p:cNvSpPr/>
            <p:nvPr/>
          </p:nvSpPr>
          <p:spPr>
            <a:xfrm>
              <a:off x="934517" y="2364638"/>
              <a:ext cx="6452006" cy="482803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5DADE2"/>
                </a:gs>
              </a:gsLst>
              <a:lin ang="5400000" scaled="0"/>
            </a:gradFill>
            <a:ln w="12700" cap="rnd">
              <a:solidFill>
                <a:srgbClr val="2471A3"/>
              </a:solidFill>
              <a:round/>
            </a:ln>
          </p:spPr>
        </p:sp>
      </p:grpSp>
      <p:grpSp>
        <p:nvGrpSpPr>
          <p:cNvPr id="13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4" name="Forma 13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5" name="Forma 14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sp>
        <p:nvSpPr>
          <p:cNvPr id="16" name="!!Mb 1"/>
          <p:cNvSpPr/>
          <p:nvPr/>
        </p:nvSpPr>
        <p:spPr>
          <a:xfrm>
            <a:off x="1188720" y="173736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7" name="!!Mb 2"/>
          <p:cNvSpPr/>
          <p:nvPr/>
        </p:nvSpPr>
        <p:spPr>
          <a:xfrm>
            <a:off x="2377440" y="310896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8" name="!!Mb 3"/>
          <p:cNvSpPr/>
          <p:nvPr/>
        </p:nvSpPr>
        <p:spPr>
          <a:xfrm>
            <a:off x="5394960" y="164592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9" name="!!CK 1"/>
          <p:cNvSpPr/>
          <p:nvPr/>
        </p:nvSpPr>
        <p:spPr>
          <a:xfrm>
            <a:off x="1920240" y="164592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0" name="!!CK 2"/>
          <p:cNvSpPr/>
          <p:nvPr/>
        </p:nvSpPr>
        <p:spPr>
          <a:xfrm>
            <a:off x="4023360" y="315468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1" name="!!CK 3"/>
          <p:cNvSpPr/>
          <p:nvPr/>
        </p:nvSpPr>
        <p:spPr>
          <a:xfrm>
            <a:off x="6400800" y="182880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2" name="!!Troponina 1"/>
          <p:cNvSpPr/>
          <p:nvPr/>
        </p:nvSpPr>
        <p:spPr>
          <a:xfrm>
            <a:off x="2743200" y="233172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sp>
        <p:nvSpPr>
          <p:cNvPr id="23" name="!!Troponina 2"/>
          <p:cNvSpPr/>
          <p:nvPr/>
        </p:nvSpPr>
        <p:spPr>
          <a:xfrm>
            <a:off x="4754880" y="233172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grpSp>
        <p:nvGrpSpPr>
          <p:cNvPr id="24" name="Caja LB3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25" name="Forma 24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isquemia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lesiona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 membrana (sarcolema): aumenta su permeabilidad.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1097280"/>
              <a:ext cx="866340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LESIÓN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LESIÓN DEL CARDIOMIOCITO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3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04826" y="1097280"/>
            <a:ext cx="7911389" cy="3017520"/>
            <a:chOff x="204826" y="1097280"/>
            <a:chExt cx="7911389" cy="301752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0482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788578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sp>
        <p:nvSpPr>
          <p:cNvPr id="10" name="!!Lesión"/>
          <p:cNvSpPr/>
          <p:nvPr/>
        </p:nvSpPr>
        <p:spPr>
          <a:xfrm>
            <a:off x="3776472" y="3571646"/>
            <a:ext cx="1075334" cy="905256"/>
          </a:xfrm>
          <a:prstGeom prst="irregularSeal1">
            <a:avLst/>
          </a:prstGeom>
          <a:solidFill>
            <a:srgbClr val="4A235A">
              <a:alpha val="70000"/>
            </a:srgbClr>
          </a:solidFill>
          <a:ln>
            <a:noFill/>
          </a:ln>
        </p:spPr>
      </p:sp>
      <p:grpSp>
        <p:nvGrpSpPr>
          <p:cNvPr id="11" name="!!Filamento"/>
          <p:cNvGrpSpPr/>
          <p:nvPr/>
        </p:nvGrpSpPr>
        <p:grpSpPr>
          <a:xfrm>
            <a:off x="934517" y="2364638"/>
            <a:ext cx="6452006" cy="482803"/>
            <a:chOff x="934517" y="2364638"/>
            <a:chExt cx="6452006" cy="482803"/>
          </a:xfrm>
        </p:grpSpPr>
        <p:sp>
          <p:nvSpPr>
            <p:cNvPr id="12" name="Forma 11"/>
            <p:cNvSpPr/>
            <p:nvPr/>
          </p:nvSpPr>
          <p:spPr>
            <a:xfrm>
              <a:off x="934517" y="2364638"/>
              <a:ext cx="6452006" cy="482803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5DADE2"/>
                </a:gs>
              </a:gsLst>
              <a:lin ang="5400000" scaled="0"/>
            </a:gradFill>
            <a:ln w="12700" cap="rnd">
              <a:solidFill>
                <a:srgbClr val="2471A3"/>
              </a:solidFill>
              <a:round/>
            </a:ln>
          </p:spPr>
        </p:sp>
      </p:grpSp>
      <p:grpSp>
        <p:nvGrpSpPr>
          <p:cNvPr id="13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4" name="Forma 13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5" name="Forma 14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sp>
        <p:nvSpPr>
          <p:cNvPr id="16" name="!!Mb 1"/>
          <p:cNvSpPr/>
          <p:nvPr/>
        </p:nvSpPr>
        <p:spPr>
          <a:xfrm>
            <a:off x="4160520" y="397764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7" name="!!Mb 2"/>
          <p:cNvSpPr/>
          <p:nvPr/>
        </p:nvSpPr>
        <p:spPr>
          <a:xfrm>
            <a:off x="4800600" y="416052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8" name="!!Mb 3"/>
          <p:cNvSpPr/>
          <p:nvPr/>
        </p:nvSpPr>
        <p:spPr>
          <a:xfrm>
            <a:off x="5486400" y="397764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9" name="!!CK 1"/>
          <p:cNvSpPr/>
          <p:nvPr/>
        </p:nvSpPr>
        <p:spPr>
          <a:xfrm>
            <a:off x="3429000" y="420624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0" name="!!CK 2"/>
          <p:cNvSpPr/>
          <p:nvPr/>
        </p:nvSpPr>
        <p:spPr>
          <a:xfrm>
            <a:off x="4526280" y="443484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1" name="!!CK 3"/>
          <p:cNvSpPr/>
          <p:nvPr/>
        </p:nvSpPr>
        <p:spPr>
          <a:xfrm>
            <a:off x="6035040" y="425196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2" name="!!Troponina 1"/>
          <p:cNvSpPr/>
          <p:nvPr/>
        </p:nvSpPr>
        <p:spPr>
          <a:xfrm>
            <a:off x="2743200" y="233172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sp>
        <p:nvSpPr>
          <p:cNvPr id="23" name="!!Troponina 2"/>
          <p:cNvSpPr/>
          <p:nvPr/>
        </p:nvSpPr>
        <p:spPr>
          <a:xfrm>
            <a:off x="4754880" y="233172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grpSp>
        <p:nvGrpSpPr>
          <p:cNvPr id="24" name="Caja LB4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5" name="Forma 24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DEBD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Salen primero las moléculas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pequeñas y solubles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citoplasma: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mioglobina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Las troponinas siguen unidas a la estructura.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1097280"/>
              <a:ext cx="124920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LIBERACIÓN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LIBERACIÓN DE LOS MARCADORES CITOPLASMÁTICOS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04826" y="1097280"/>
            <a:ext cx="7911389" cy="3017520"/>
            <a:chOff x="204826" y="1097280"/>
            <a:chExt cx="7911389" cy="301752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7680960" cy="30175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0482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7885786" y="1549908"/>
              <a:ext cx="230429" cy="2112264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sp>
        <p:nvSpPr>
          <p:cNvPr id="10" name="!!Lesión"/>
          <p:cNvSpPr/>
          <p:nvPr/>
        </p:nvSpPr>
        <p:spPr>
          <a:xfrm>
            <a:off x="3776472" y="3571646"/>
            <a:ext cx="1075334" cy="905256"/>
          </a:xfrm>
          <a:prstGeom prst="irregularSeal1">
            <a:avLst/>
          </a:prstGeom>
          <a:solidFill>
            <a:srgbClr val="4A235A">
              <a:alpha val="70000"/>
            </a:srgbClr>
          </a:solidFill>
          <a:ln>
            <a:noFill/>
          </a:ln>
        </p:spPr>
      </p:sp>
      <p:grpSp>
        <p:nvGrpSpPr>
          <p:cNvPr id="11" name="!!Filamento"/>
          <p:cNvGrpSpPr/>
          <p:nvPr/>
        </p:nvGrpSpPr>
        <p:grpSpPr>
          <a:xfrm>
            <a:off x="934517" y="2364638"/>
            <a:ext cx="6452006" cy="482803"/>
            <a:chOff x="934517" y="2364638"/>
            <a:chExt cx="6452006" cy="482803"/>
          </a:xfrm>
        </p:grpSpPr>
        <p:sp>
          <p:nvSpPr>
            <p:cNvPr id="12" name="Forma 11"/>
            <p:cNvSpPr/>
            <p:nvPr/>
          </p:nvSpPr>
          <p:spPr>
            <a:xfrm>
              <a:off x="934517" y="2364638"/>
              <a:ext cx="6452006" cy="482803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5DADE2"/>
                </a:gs>
              </a:gsLst>
              <a:lin ang="5400000" scaled="0"/>
            </a:gradFill>
            <a:ln w="12700" cap="rnd">
              <a:solidFill>
                <a:srgbClr val="2471A3"/>
              </a:solidFill>
              <a:round/>
            </a:ln>
          </p:spPr>
        </p:sp>
      </p:grpSp>
      <p:grpSp>
        <p:nvGrpSpPr>
          <p:cNvPr id="13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4" name="Forma 13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5" name="Forma 14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sp>
        <p:nvSpPr>
          <p:cNvPr id="16" name="!!Mb 1"/>
          <p:cNvSpPr/>
          <p:nvPr/>
        </p:nvSpPr>
        <p:spPr>
          <a:xfrm>
            <a:off x="1371600" y="498348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7" name="!!Mb 2"/>
          <p:cNvSpPr/>
          <p:nvPr/>
        </p:nvSpPr>
        <p:spPr>
          <a:xfrm>
            <a:off x="3291840" y="502920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8" name="!!Mb 3"/>
          <p:cNvSpPr/>
          <p:nvPr/>
        </p:nvSpPr>
        <p:spPr>
          <a:xfrm>
            <a:off x="5760720" y="498348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1100" dirty="0">
              <a:latin typeface="Calibri"/>
            </a:endParaRPr>
          </a:p>
        </p:txBody>
      </p:sp>
      <p:sp>
        <p:nvSpPr>
          <p:cNvPr id="19" name="!!CK 1"/>
          <p:cNvSpPr/>
          <p:nvPr/>
        </p:nvSpPr>
        <p:spPr>
          <a:xfrm>
            <a:off x="2103120" y="498348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0" name="!!CK 2"/>
          <p:cNvSpPr/>
          <p:nvPr/>
        </p:nvSpPr>
        <p:spPr>
          <a:xfrm>
            <a:off x="4206240" y="502920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1" name="!!CK 3"/>
          <p:cNvSpPr/>
          <p:nvPr/>
        </p:nvSpPr>
        <p:spPr>
          <a:xfrm>
            <a:off x="6583680" y="4983480"/>
            <a:ext cx="54864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1100" dirty="0">
              <a:latin typeface="Calibri"/>
            </a:endParaRPr>
          </a:p>
        </p:txBody>
      </p:sp>
      <p:sp>
        <p:nvSpPr>
          <p:cNvPr id="22" name="!!Troponina 1"/>
          <p:cNvSpPr/>
          <p:nvPr/>
        </p:nvSpPr>
        <p:spPr>
          <a:xfrm>
            <a:off x="731520" y="498348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sp>
        <p:nvSpPr>
          <p:cNvPr id="23" name="!!Troponina 2"/>
          <p:cNvSpPr/>
          <p:nvPr/>
        </p:nvSpPr>
        <p:spPr>
          <a:xfrm>
            <a:off x="4937760" y="4983480"/>
            <a:ext cx="566928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1100" dirty="0">
              <a:latin typeface="Calibri"/>
            </a:endParaRPr>
          </a:p>
        </p:txBody>
      </p:sp>
      <p:grpSp>
        <p:nvGrpSpPr>
          <p:cNvPr id="24" name="Caja LB5"/>
          <p:cNvGrpSpPr/>
          <p:nvPr/>
        </p:nvGrpSpPr>
        <p:grpSpPr>
          <a:xfrm>
            <a:off x="8549640" y="1097280"/>
            <a:ext cx="3383280" cy="3291840"/>
            <a:chOff x="8549640" y="1097280"/>
            <a:chExt cx="3383280" cy="3291840"/>
          </a:xfrm>
        </p:grpSpPr>
        <p:sp>
          <p:nvSpPr>
            <p:cNvPr id="25" name="Forma 24"/>
            <p:cNvSpPr/>
            <p:nvPr/>
          </p:nvSpPr>
          <p:spPr>
            <a:xfrm>
              <a:off x="8549640" y="1298448"/>
              <a:ext cx="3383280" cy="309067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marcadores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aparecen en la sangre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Con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necrosis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se rompe la estructura y también se liberan las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1097280"/>
              <a:ext cx="1371612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CIRCULACIÓN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APARICIÓN EN LA CIRCULACIÓN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" dur="3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56946" y="1097280"/>
            <a:ext cx="4332427" cy="2194560"/>
            <a:chOff x="256946" y="1097280"/>
            <a:chExt cx="4332427" cy="219456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4206240" cy="21945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4206240" cy="219456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56946" y="1426464"/>
              <a:ext cx="126187" cy="153619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4463186" y="1426464"/>
              <a:ext cx="126187" cy="153619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sp>
        <p:nvSpPr>
          <p:cNvPr id="10" name="!!Lesión"/>
          <p:cNvSpPr/>
          <p:nvPr/>
        </p:nvSpPr>
        <p:spPr>
          <a:xfrm>
            <a:off x="2212848" y="2896819"/>
            <a:ext cx="588874" cy="658368"/>
          </a:xfrm>
          <a:prstGeom prst="irregularSeal1">
            <a:avLst/>
          </a:prstGeom>
          <a:solidFill>
            <a:srgbClr val="4A235A">
              <a:alpha val="70000"/>
            </a:srgbClr>
          </a:solidFill>
          <a:ln>
            <a:noFill/>
          </a:ln>
        </p:spPr>
      </p:sp>
      <p:grpSp>
        <p:nvGrpSpPr>
          <p:cNvPr id="11" name="!!Filamento"/>
          <p:cNvGrpSpPr/>
          <p:nvPr/>
        </p:nvGrpSpPr>
        <p:grpSpPr>
          <a:xfrm>
            <a:off x="656539" y="2018995"/>
            <a:ext cx="3533242" cy="351130"/>
            <a:chOff x="656539" y="2018995"/>
            <a:chExt cx="3533242" cy="351130"/>
          </a:xfrm>
        </p:grpSpPr>
        <p:sp>
          <p:nvSpPr>
            <p:cNvPr id="12" name="Forma 11"/>
            <p:cNvSpPr/>
            <p:nvPr/>
          </p:nvSpPr>
          <p:spPr>
            <a:xfrm>
              <a:off x="656539" y="2018995"/>
              <a:ext cx="3533242" cy="351130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5DADE2"/>
                </a:gs>
              </a:gsLst>
              <a:lin ang="5400000" scaled="0"/>
            </a:gradFill>
            <a:ln w="12700" cap="rnd">
              <a:solidFill>
                <a:srgbClr val="2471A3"/>
              </a:solidFill>
              <a:round/>
            </a:ln>
          </p:spPr>
        </p:sp>
      </p:grpSp>
      <p:grpSp>
        <p:nvGrpSpPr>
          <p:cNvPr id="13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4" name="Forma 13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5" name="Forma 14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grpSp>
        <p:nvGrpSpPr>
          <p:cNvPr id="16" name="!!TuboMuestra"/>
          <p:cNvGrpSpPr/>
          <p:nvPr/>
        </p:nvGrpSpPr>
        <p:grpSpPr>
          <a:xfrm>
            <a:off x="4798771" y="1143000"/>
            <a:ext cx="689458" cy="2377440"/>
            <a:chOff x="4798771" y="1143000"/>
            <a:chExt cx="689458" cy="2377440"/>
          </a:xfrm>
        </p:grpSpPr>
        <p:sp>
          <p:nvSpPr>
            <p:cNvPr id="17" name="Vidrio"/>
            <p:cNvSpPr/>
            <p:nvPr/>
          </p:nvSpPr>
          <p:spPr>
            <a:xfrm>
              <a:off x="4846320" y="1380744"/>
              <a:ext cx="594360" cy="213969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8" name="Tapón"/>
            <p:cNvSpPr/>
            <p:nvPr/>
          </p:nvSpPr>
          <p:spPr>
            <a:xfrm>
              <a:off x="4798771" y="1143000"/>
              <a:ext cx="689458" cy="285293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9" name="Brillo"/>
            <p:cNvSpPr/>
            <p:nvPr/>
          </p:nvSpPr>
          <p:spPr>
            <a:xfrm>
              <a:off x="4929530" y="1523390"/>
              <a:ext cx="71323" cy="166420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0" name="!!Coágulo muestra"/>
          <p:cNvSpPr/>
          <p:nvPr/>
        </p:nvSpPr>
        <p:spPr>
          <a:xfrm>
            <a:off x="4876038" y="2474366"/>
            <a:ext cx="534924" cy="9985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21" name="!!Suero muestra"/>
          <p:cNvSpPr/>
          <p:nvPr/>
        </p:nvSpPr>
        <p:spPr>
          <a:xfrm>
            <a:off x="4876038" y="1835311"/>
            <a:ext cx="534924" cy="639056"/>
          </a:xfrm>
          <a:prstGeom prst="rect">
            <a:avLst/>
          </a:prstGeom>
          <a:gradFill rotWithShape="1">
            <a:gsLst>
              <a:gs pos="0">
                <a:srgbClr val="FCF6DB"/>
              </a:gs>
              <a:gs pos="100000">
                <a:srgbClr val="FCF3CF"/>
              </a:gs>
            </a:gsLst>
            <a:lin ang="5400000" scaled="0"/>
          </a:gradFill>
          <a:ln w="9525" cap="rnd">
            <a:solidFill>
              <a:srgbClr val="A39D86"/>
            </a:solidFill>
            <a:round/>
          </a:ln>
        </p:spPr>
      </p:sp>
      <p:sp>
        <p:nvSpPr>
          <p:cNvPr id="22" name="!!Marcador en tubo 0"/>
          <p:cNvSpPr/>
          <p:nvPr/>
        </p:nvSpPr>
        <p:spPr>
          <a:xfrm>
            <a:off x="4864608" y="1737360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800" dirty="0">
              <a:latin typeface="Calibri"/>
            </a:endParaRPr>
          </a:p>
        </p:txBody>
      </p:sp>
      <p:sp>
        <p:nvSpPr>
          <p:cNvPr id="23" name="!!Marcador en tubo 1"/>
          <p:cNvSpPr/>
          <p:nvPr/>
        </p:nvSpPr>
        <p:spPr>
          <a:xfrm>
            <a:off x="5120640" y="2029968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800" dirty="0">
              <a:latin typeface="Calibri"/>
            </a:endParaRPr>
          </a:p>
        </p:txBody>
      </p:sp>
      <p:sp>
        <p:nvSpPr>
          <p:cNvPr id="24" name="!!Marcador en tubo 2"/>
          <p:cNvSpPr/>
          <p:nvPr/>
        </p:nvSpPr>
        <p:spPr>
          <a:xfrm>
            <a:off x="4864608" y="2322576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800" dirty="0">
              <a:latin typeface="Calibri"/>
            </a:endParaRPr>
          </a:p>
        </p:txBody>
      </p:sp>
      <p:grpSp>
        <p:nvGrpSpPr>
          <p:cNvPr id="25" name="Caja LB6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26" name="Forma 25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extrae sangre: los marcadores quedan en la fase líquida que se analiza.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8677656" y="1097280"/>
              <a:ext cx="108226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MUESTRA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OBTENCIÓN DE LA MUESTRA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56946" y="1097280"/>
            <a:ext cx="4332427" cy="2194560"/>
            <a:chOff x="256946" y="1097280"/>
            <a:chExt cx="4332427" cy="219456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4206240" cy="21945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4206240" cy="219456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56946" y="1426464"/>
              <a:ext cx="126187" cy="153619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4463186" y="1426464"/>
              <a:ext cx="126187" cy="153619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sp>
        <p:nvSpPr>
          <p:cNvPr id="10" name="!!Lesión"/>
          <p:cNvSpPr/>
          <p:nvPr/>
        </p:nvSpPr>
        <p:spPr>
          <a:xfrm>
            <a:off x="2212848" y="2896819"/>
            <a:ext cx="588874" cy="658368"/>
          </a:xfrm>
          <a:prstGeom prst="irregularSeal1">
            <a:avLst/>
          </a:prstGeom>
          <a:solidFill>
            <a:srgbClr val="4A235A">
              <a:alpha val="70000"/>
            </a:srgbClr>
          </a:solidFill>
          <a:ln>
            <a:noFill/>
          </a:ln>
        </p:spPr>
      </p:sp>
      <p:grpSp>
        <p:nvGrpSpPr>
          <p:cNvPr id="11" name="!!Filamento"/>
          <p:cNvGrpSpPr/>
          <p:nvPr/>
        </p:nvGrpSpPr>
        <p:grpSpPr>
          <a:xfrm>
            <a:off x="656539" y="2018995"/>
            <a:ext cx="3533242" cy="351130"/>
            <a:chOff x="656539" y="2018995"/>
            <a:chExt cx="3533242" cy="351130"/>
          </a:xfrm>
        </p:grpSpPr>
        <p:sp>
          <p:nvSpPr>
            <p:cNvPr id="12" name="Forma 11"/>
            <p:cNvSpPr/>
            <p:nvPr/>
          </p:nvSpPr>
          <p:spPr>
            <a:xfrm>
              <a:off x="656539" y="2018995"/>
              <a:ext cx="3533242" cy="351130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5DADE2"/>
                </a:gs>
              </a:gsLst>
              <a:lin ang="5400000" scaled="0"/>
            </a:gradFill>
            <a:ln w="12700" cap="rnd">
              <a:solidFill>
                <a:srgbClr val="2471A3"/>
              </a:solidFill>
              <a:round/>
            </a:ln>
          </p:spPr>
        </p:sp>
      </p:grpSp>
      <p:grpSp>
        <p:nvGrpSpPr>
          <p:cNvPr id="13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4" name="Forma 13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5" name="Forma 14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grpSp>
        <p:nvGrpSpPr>
          <p:cNvPr id="16" name="!!TuboMuestra"/>
          <p:cNvGrpSpPr/>
          <p:nvPr/>
        </p:nvGrpSpPr>
        <p:grpSpPr>
          <a:xfrm>
            <a:off x="4798771" y="1143000"/>
            <a:ext cx="689458" cy="2377440"/>
            <a:chOff x="4798771" y="1143000"/>
            <a:chExt cx="689458" cy="2377440"/>
          </a:xfrm>
        </p:grpSpPr>
        <p:sp>
          <p:nvSpPr>
            <p:cNvPr id="17" name="Vidrio"/>
            <p:cNvSpPr/>
            <p:nvPr/>
          </p:nvSpPr>
          <p:spPr>
            <a:xfrm>
              <a:off x="4846320" y="1380744"/>
              <a:ext cx="594360" cy="213969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8" name="Tapón"/>
            <p:cNvSpPr/>
            <p:nvPr/>
          </p:nvSpPr>
          <p:spPr>
            <a:xfrm>
              <a:off x="4798771" y="1143000"/>
              <a:ext cx="689458" cy="285293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9" name="Brillo"/>
            <p:cNvSpPr/>
            <p:nvPr/>
          </p:nvSpPr>
          <p:spPr>
            <a:xfrm>
              <a:off x="4929530" y="1523390"/>
              <a:ext cx="71323" cy="166420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0" name="!!Coágulo muestra"/>
          <p:cNvSpPr/>
          <p:nvPr/>
        </p:nvSpPr>
        <p:spPr>
          <a:xfrm>
            <a:off x="4876038" y="2474366"/>
            <a:ext cx="534924" cy="9985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21" name="!!Suero muestra"/>
          <p:cNvSpPr/>
          <p:nvPr/>
        </p:nvSpPr>
        <p:spPr>
          <a:xfrm>
            <a:off x="4876038" y="1835311"/>
            <a:ext cx="534924" cy="639056"/>
          </a:xfrm>
          <a:prstGeom prst="rect">
            <a:avLst/>
          </a:prstGeom>
          <a:gradFill rotWithShape="1">
            <a:gsLst>
              <a:gs pos="0">
                <a:srgbClr val="FCF6DB"/>
              </a:gs>
              <a:gs pos="100000">
                <a:srgbClr val="FCF3CF"/>
              </a:gs>
            </a:gsLst>
            <a:lin ang="5400000" scaled="0"/>
          </a:gradFill>
          <a:ln w="9525" cap="rnd">
            <a:solidFill>
              <a:srgbClr val="A39D86"/>
            </a:solidFill>
            <a:round/>
          </a:ln>
        </p:spPr>
      </p:sp>
      <p:sp>
        <p:nvSpPr>
          <p:cNvPr id="22" name="!!Marcador en tubo 0"/>
          <p:cNvSpPr/>
          <p:nvPr/>
        </p:nvSpPr>
        <p:spPr>
          <a:xfrm>
            <a:off x="4864608" y="1737360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800" dirty="0">
              <a:latin typeface="Calibri"/>
            </a:endParaRPr>
          </a:p>
        </p:txBody>
      </p:sp>
      <p:sp>
        <p:nvSpPr>
          <p:cNvPr id="23" name="!!Marcador en tubo 1"/>
          <p:cNvSpPr/>
          <p:nvPr/>
        </p:nvSpPr>
        <p:spPr>
          <a:xfrm>
            <a:off x="5120640" y="2029968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800" dirty="0">
              <a:latin typeface="Calibri"/>
            </a:endParaRPr>
          </a:p>
        </p:txBody>
      </p:sp>
      <p:sp>
        <p:nvSpPr>
          <p:cNvPr id="24" name="!!Marcador en tubo 2"/>
          <p:cNvSpPr/>
          <p:nvPr/>
        </p:nvSpPr>
        <p:spPr>
          <a:xfrm>
            <a:off x="4864608" y="2322576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800" dirty="0">
              <a:latin typeface="Calibri"/>
            </a:endParaRPr>
          </a:p>
        </p:txBody>
      </p:sp>
      <p:grpSp>
        <p:nvGrpSpPr>
          <p:cNvPr id="25" name="!!Analizador"/>
          <p:cNvGrpSpPr/>
          <p:nvPr/>
        </p:nvGrpSpPr>
        <p:grpSpPr>
          <a:xfrm>
            <a:off x="5760720" y="1143000"/>
            <a:ext cx="2286000" cy="2377440"/>
            <a:chOff x="5760720" y="1143000"/>
            <a:chExt cx="2286000" cy="2377440"/>
          </a:xfrm>
        </p:grpSpPr>
        <p:sp>
          <p:nvSpPr>
            <p:cNvPr id="26" name="Forma 25"/>
            <p:cNvSpPr/>
            <p:nvPr/>
          </p:nvSpPr>
          <p:spPr>
            <a:xfrm>
              <a:off x="5760720" y="1143000"/>
              <a:ext cx="2286000" cy="2377440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E1E5E5"/>
                </a:gs>
                <a:gs pos="55000">
                  <a:srgbClr val="D5DBDB"/>
                </a:gs>
                <a:gs pos="100000">
                  <a:srgbClr val="AAAFA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7" name="Forma 26"/>
            <p:cNvSpPr/>
            <p:nvPr/>
          </p:nvSpPr>
          <p:spPr>
            <a:xfrm>
              <a:off x="5943600" y="1325880"/>
              <a:ext cx="1920240" cy="1280160"/>
            </a:xfrm>
            <a:prstGeom prst="rect">
              <a:avLst/>
            </a:prstGeom>
            <a:solidFill>
              <a:srgbClr val="1C2833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58D68D"/>
                  </a:solidFill>
                  <a:latin typeface="Calibri"/>
                  <a:ea typeface="Calibri"/>
                  <a:cs typeface="Calibri"/>
                  <a:sym typeface="Calibri"/>
                </a:rPr>
                <a:t>CPK 1173 UI/L</a:t>
              </a:r>
              <a:endParaRPr lang="es-AR" sz="11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58D68D"/>
                  </a:solidFill>
                  <a:latin typeface="Calibri"/>
                  <a:ea typeface="Calibri"/>
                  <a:cs typeface="Calibri"/>
                  <a:sym typeface="Calibri"/>
                </a:rPr>
                <a:t>TnI: muy elevada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6035040" y="2834640"/>
              <a:ext cx="548640" cy="457200"/>
            </a:xfrm>
            <a:prstGeom prst="roundRect">
              <a:avLst>
                <a:gd name="adj" fmla="val 30000"/>
              </a:avLst>
            </a:prstGeom>
            <a:solidFill>
              <a:srgbClr val="2E86C1"/>
            </a:solidFill>
            <a:ln>
              <a:noFill/>
            </a:ln>
          </p:spPr>
        </p:sp>
      </p:grpSp>
      <p:grpSp>
        <p:nvGrpSpPr>
          <p:cNvPr id="29" name="Caja LB7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30" name="Forma 29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laboratorio informa la concentración o la actividad de cada marcador (en el caso: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 1173 UI/L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al ingreso).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8677656" y="1097280"/>
              <a:ext cx="113041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MEDICIÓN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MEDICIÓN EN EL LABORATORIO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Cardiomiocito"/>
          <p:cNvGrpSpPr/>
          <p:nvPr/>
        </p:nvGrpSpPr>
        <p:grpSpPr>
          <a:xfrm>
            <a:off x="256946" y="1097280"/>
            <a:ext cx="4332427" cy="2194560"/>
            <a:chOff x="256946" y="1097280"/>
            <a:chExt cx="4332427" cy="2194560"/>
          </a:xfrm>
        </p:grpSpPr>
        <p:sp>
          <p:nvSpPr>
            <p:cNvPr id="6" name="Sarcolema"/>
            <p:cNvSpPr/>
            <p:nvPr/>
          </p:nvSpPr>
          <p:spPr>
            <a:xfrm>
              <a:off x="320040" y="1097280"/>
              <a:ext cx="4206240" cy="21945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200"/>
                  </a:moveTo>
                  <a:cubicBezTo>
                    <a:pt x="10" y="144"/>
                    <a:pt x="95" y="129"/>
                    <a:pt x="120" y="120"/>
                  </a:cubicBezTo>
                  <a:cubicBezTo>
                    <a:pt x="145" y="110"/>
                    <a:pt x="266" y="90"/>
                    <a:pt x="300" y="90"/>
                  </a:cubicBezTo>
                  <a:cubicBezTo>
                    <a:pt x="333" y="89"/>
                    <a:pt x="485" y="110"/>
                    <a:pt x="520" y="110"/>
                  </a:cubicBezTo>
                  <a:cubicBezTo>
                    <a:pt x="555" y="109"/>
                    <a:pt x="690" y="79"/>
                    <a:pt x="720" y="80"/>
                  </a:cubicBezTo>
                  <a:cubicBezTo>
                    <a:pt x="750" y="80"/>
                    <a:pt x="856" y="108"/>
                    <a:pt x="880" y="120"/>
                  </a:cubicBezTo>
                  <a:cubicBezTo>
                    <a:pt x="903" y="131"/>
                    <a:pt x="990" y="165"/>
                    <a:pt x="1000" y="220"/>
                  </a:cubicBezTo>
                  <a:cubicBezTo>
                    <a:pt x="1010" y="275"/>
                    <a:pt x="1010" y="725"/>
                    <a:pt x="1000" y="780"/>
                  </a:cubicBezTo>
                  <a:cubicBezTo>
                    <a:pt x="990" y="835"/>
                    <a:pt x="905" y="869"/>
                    <a:pt x="880" y="880"/>
                  </a:cubicBezTo>
                  <a:cubicBezTo>
                    <a:pt x="855" y="890"/>
                    <a:pt x="731" y="910"/>
                    <a:pt x="700" y="910"/>
                  </a:cubicBezTo>
                  <a:cubicBezTo>
                    <a:pt x="668" y="910"/>
                    <a:pt x="533" y="880"/>
                    <a:pt x="500" y="880"/>
                  </a:cubicBezTo>
                  <a:cubicBezTo>
                    <a:pt x="466" y="880"/>
                    <a:pt x="331" y="910"/>
                    <a:pt x="300" y="910"/>
                  </a:cubicBezTo>
                  <a:cubicBezTo>
                    <a:pt x="268" y="909"/>
                    <a:pt x="145" y="880"/>
                    <a:pt x="120" y="870"/>
                  </a:cubicBezTo>
                  <a:cubicBezTo>
                    <a:pt x="95" y="860"/>
                    <a:pt x="10" y="845"/>
                    <a:pt x="0" y="790"/>
                  </a:cubicBezTo>
                  <a:cubicBezTo>
                    <a:pt x="-10" y="734"/>
                    <a:pt x="-10" y="255"/>
                    <a:pt x="0" y="2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6837A"/>
                </a:gs>
                <a:gs pos="35000">
                  <a:srgbClr val="F5B7B1"/>
                </a:gs>
                <a:gs pos="65000">
                  <a:srgbClr val="EC9A90"/>
                </a:gs>
                <a:gs pos="100000">
                  <a:srgbClr val="C9564B"/>
                </a:gs>
              </a:gsLst>
              <a:lin ang="5400000" scaled="0"/>
            </a:gradFill>
            <a:ln w="31750" cap="rnd">
              <a:solidFill>
                <a:srgbClr val="7B241C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Estriaciones"/>
            <p:cNvSpPr/>
            <p:nvPr/>
          </p:nvSpPr>
          <p:spPr>
            <a:xfrm>
              <a:off x="320040" y="1097280"/>
              <a:ext cx="4206240" cy="219456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0" y="160"/>
                  </a:moveTo>
                  <a:lnTo>
                    <a:pt x="40" y="840"/>
                  </a:lnTo>
                </a:path>
                <a:path w="1000" h="1000" fill="none">
                  <a:moveTo>
                    <a:pt x="81" y="160"/>
                  </a:moveTo>
                  <a:lnTo>
                    <a:pt x="81" y="840"/>
                  </a:lnTo>
                </a:path>
                <a:path w="1000" h="1000" fill="none">
                  <a:moveTo>
                    <a:pt x="123" y="160"/>
                  </a:moveTo>
                  <a:lnTo>
                    <a:pt x="123" y="840"/>
                  </a:lnTo>
                </a:path>
                <a:path w="1000" h="1000" fill="none">
                  <a:moveTo>
                    <a:pt x="165" y="160"/>
                  </a:moveTo>
                  <a:lnTo>
                    <a:pt x="165" y="840"/>
                  </a:lnTo>
                </a:path>
                <a:path w="1000" h="1000" fill="none">
                  <a:moveTo>
                    <a:pt x="207" y="160"/>
                  </a:moveTo>
                  <a:lnTo>
                    <a:pt x="207" y="840"/>
                  </a:lnTo>
                </a:path>
                <a:path w="1000" h="1000" fill="none">
                  <a:moveTo>
                    <a:pt x="249" y="160"/>
                  </a:moveTo>
                  <a:lnTo>
                    <a:pt x="249" y="840"/>
                  </a:lnTo>
                </a:path>
                <a:path w="1000" h="1000" fill="none">
                  <a:moveTo>
                    <a:pt x="290" y="160"/>
                  </a:moveTo>
                  <a:lnTo>
                    <a:pt x="290" y="840"/>
                  </a:lnTo>
                </a:path>
                <a:path w="1000" h="1000" fill="none">
                  <a:moveTo>
                    <a:pt x="332" y="160"/>
                  </a:moveTo>
                  <a:lnTo>
                    <a:pt x="332" y="840"/>
                  </a:lnTo>
                </a:path>
                <a:path w="1000" h="1000" fill="none">
                  <a:moveTo>
                    <a:pt x="374" y="160"/>
                  </a:moveTo>
                  <a:lnTo>
                    <a:pt x="374" y="840"/>
                  </a:lnTo>
                </a:path>
                <a:path w="1000" h="1000" fill="none">
                  <a:moveTo>
                    <a:pt x="416" y="160"/>
                  </a:moveTo>
                  <a:lnTo>
                    <a:pt x="416" y="840"/>
                  </a:lnTo>
                </a:path>
                <a:path w="1000" h="1000" fill="none">
                  <a:moveTo>
                    <a:pt x="458" y="160"/>
                  </a:moveTo>
                  <a:lnTo>
                    <a:pt x="458" y="840"/>
                  </a:lnTo>
                </a:path>
                <a:path w="1000" h="1000" fill="none">
                  <a:moveTo>
                    <a:pt x="500" y="160"/>
                  </a:moveTo>
                  <a:lnTo>
                    <a:pt x="500" y="840"/>
                  </a:lnTo>
                </a:path>
                <a:path w="1000" h="1000" fill="none">
                  <a:moveTo>
                    <a:pt x="541" y="160"/>
                  </a:moveTo>
                  <a:lnTo>
                    <a:pt x="541" y="840"/>
                  </a:lnTo>
                </a:path>
                <a:path w="1000" h="1000" fill="none">
                  <a:moveTo>
                    <a:pt x="583" y="160"/>
                  </a:moveTo>
                  <a:lnTo>
                    <a:pt x="583" y="840"/>
                  </a:lnTo>
                </a:path>
                <a:path w="1000" h="1000" fill="none">
                  <a:moveTo>
                    <a:pt x="625" y="160"/>
                  </a:moveTo>
                  <a:lnTo>
                    <a:pt x="625" y="840"/>
                  </a:lnTo>
                </a:path>
                <a:path w="1000" h="1000" fill="none">
                  <a:moveTo>
                    <a:pt x="667" y="160"/>
                  </a:moveTo>
                  <a:lnTo>
                    <a:pt x="667" y="840"/>
                  </a:lnTo>
                </a:path>
                <a:path w="1000" h="1000" fill="none">
                  <a:moveTo>
                    <a:pt x="709" y="160"/>
                  </a:moveTo>
                  <a:lnTo>
                    <a:pt x="709" y="840"/>
                  </a:lnTo>
                </a:path>
                <a:path w="1000" h="1000" fill="none">
                  <a:moveTo>
                    <a:pt x="750" y="160"/>
                  </a:moveTo>
                  <a:lnTo>
                    <a:pt x="750" y="840"/>
                  </a:lnTo>
                </a:path>
                <a:path w="1000" h="1000" fill="none">
                  <a:moveTo>
                    <a:pt x="792" y="160"/>
                  </a:moveTo>
                  <a:lnTo>
                    <a:pt x="792" y="840"/>
                  </a:lnTo>
                </a:path>
                <a:path w="1000" h="1000" fill="none">
                  <a:moveTo>
                    <a:pt x="834" y="160"/>
                  </a:moveTo>
                  <a:lnTo>
                    <a:pt x="834" y="840"/>
                  </a:lnTo>
                </a:path>
                <a:path w="1000" h="1000" fill="none">
                  <a:moveTo>
                    <a:pt x="876" y="160"/>
                  </a:moveTo>
                  <a:lnTo>
                    <a:pt x="876" y="840"/>
                  </a:lnTo>
                </a:path>
                <a:path w="1000" h="1000" fill="none">
                  <a:moveTo>
                    <a:pt x="918" y="160"/>
                  </a:moveTo>
                  <a:lnTo>
                    <a:pt x="918" y="840"/>
                  </a:lnTo>
                </a:path>
                <a:path w="1000" h="1000" fill="none">
                  <a:moveTo>
                    <a:pt x="960" y="160"/>
                  </a:moveTo>
                  <a:lnTo>
                    <a:pt x="960" y="840"/>
                  </a:lnTo>
                </a:path>
              </a:pathLst>
            </a:custGeom>
            <a:noFill/>
            <a:ln w="12700" cap="rnd">
              <a:solidFill>
                <a:srgbClr val="A93226"/>
              </a:solidFill>
              <a:round/>
            </a:ln>
          </p:spPr>
        </p:sp>
        <p:sp>
          <p:nvSpPr>
            <p:cNvPr id="8" name="Disco intercalar izq"/>
            <p:cNvSpPr/>
            <p:nvPr/>
          </p:nvSpPr>
          <p:spPr>
            <a:xfrm>
              <a:off x="256946" y="1426464"/>
              <a:ext cx="126187" cy="153619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  <p:sp>
          <p:nvSpPr>
            <p:cNvPr id="9" name="Disco intercalar der"/>
            <p:cNvSpPr/>
            <p:nvPr/>
          </p:nvSpPr>
          <p:spPr>
            <a:xfrm>
              <a:off x="4463186" y="1426464"/>
              <a:ext cx="126187" cy="1536192"/>
            </a:xfrm>
            <a:prstGeom prst="rect">
              <a:avLst/>
            </a:prstGeom>
            <a:solidFill>
              <a:srgbClr val="7B241C"/>
            </a:solidFill>
            <a:ln>
              <a:noFill/>
            </a:ln>
          </p:spPr>
        </p:sp>
      </p:grpSp>
      <p:sp>
        <p:nvSpPr>
          <p:cNvPr id="10" name="!!Lesión"/>
          <p:cNvSpPr/>
          <p:nvPr/>
        </p:nvSpPr>
        <p:spPr>
          <a:xfrm>
            <a:off x="2212848" y="2896819"/>
            <a:ext cx="588874" cy="658368"/>
          </a:xfrm>
          <a:prstGeom prst="irregularSeal1">
            <a:avLst/>
          </a:prstGeom>
          <a:solidFill>
            <a:srgbClr val="4A235A">
              <a:alpha val="70000"/>
            </a:srgbClr>
          </a:solidFill>
          <a:ln>
            <a:noFill/>
          </a:ln>
        </p:spPr>
      </p:sp>
      <p:grpSp>
        <p:nvGrpSpPr>
          <p:cNvPr id="11" name="!!Filamento"/>
          <p:cNvGrpSpPr/>
          <p:nvPr/>
        </p:nvGrpSpPr>
        <p:grpSpPr>
          <a:xfrm>
            <a:off x="656539" y="2018995"/>
            <a:ext cx="3533242" cy="351130"/>
            <a:chOff x="656539" y="2018995"/>
            <a:chExt cx="3533242" cy="351130"/>
          </a:xfrm>
        </p:grpSpPr>
        <p:sp>
          <p:nvSpPr>
            <p:cNvPr id="12" name="Forma 11"/>
            <p:cNvSpPr/>
            <p:nvPr/>
          </p:nvSpPr>
          <p:spPr>
            <a:xfrm>
              <a:off x="656539" y="2018995"/>
              <a:ext cx="3533242" cy="351130"/>
            </a:xfrm>
            <a:prstGeom prst="rect">
              <a:avLst/>
            </a:prstGeom>
            <a:gradFill rotWithShape="1">
              <a:gsLst>
                <a:gs pos="0">
                  <a:srgbClr val="85C1E9"/>
                </a:gs>
                <a:gs pos="100000">
                  <a:srgbClr val="5DADE2"/>
                </a:gs>
              </a:gsLst>
              <a:lin ang="5400000" scaled="0"/>
            </a:gradFill>
            <a:ln w="12700" cap="rnd">
              <a:solidFill>
                <a:srgbClr val="2471A3"/>
              </a:solidFill>
              <a:round/>
            </a:ln>
          </p:spPr>
        </p:sp>
      </p:grpSp>
      <p:grpSp>
        <p:nvGrpSpPr>
          <p:cNvPr id="13" name="!!Capilar"/>
          <p:cNvGrpSpPr/>
          <p:nvPr/>
        </p:nvGrpSpPr>
        <p:grpSpPr>
          <a:xfrm>
            <a:off x="274320" y="4754880"/>
            <a:ext cx="7772400" cy="777240"/>
            <a:chOff x="274320" y="4754880"/>
            <a:chExt cx="7772400" cy="777240"/>
          </a:xfrm>
        </p:grpSpPr>
        <p:sp>
          <p:nvSpPr>
            <p:cNvPr id="14" name="Forma 13"/>
            <p:cNvSpPr/>
            <p:nvPr/>
          </p:nvSpPr>
          <p:spPr>
            <a:xfrm>
              <a:off x="274320" y="4754880"/>
              <a:ext cx="7772400" cy="777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5" name="Forma 14"/>
            <p:cNvSpPr/>
            <p:nvPr/>
          </p:nvSpPr>
          <p:spPr>
            <a:xfrm>
              <a:off x="390906" y="4894783"/>
              <a:ext cx="7539228" cy="49743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grpSp>
        <p:nvGrpSpPr>
          <p:cNvPr id="16" name="!!TuboMuestra"/>
          <p:cNvGrpSpPr/>
          <p:nvPr/>
        </p:nvGrpSpPr>
        <p:grpSpPr>
          <a:xfrm>
            <a:off x="4798771" y="1143000"/>
            <a:ext cx="689458" cy="2377440"/>
            <a:chOff x="4798771" y="1143000"/>
            <a:chExt cx="689458" cy="2377440"/>
          </a:xfrm>
        </p:grpSpPr>
        <p:sp>
          <p:nvSpPr>
            <p:cNvPr id="17" name="Vidrio"/>
            <p:cNvSpPr/>
            <p:nvPr/>
          </p:nvSpPr>
          <p:spPr>
            <a:xfrm>
              <a:off x="4846320" y="1380744"/>
              <a:ext cx="594360" cy="213969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820"/>
                  </a:lnTo>
                  <a:cubicBezTo>
                    <a:pt x="1000" y="930"/>
                    <a:pt x="780" y="1000"/>
                    <a:pt x="500" y="1000"/>
                  </a:cubicBezTo>
                  <a:cubicBezTo>
                    <a:pt x="220" y="1000"/>
                    <a:pt x="0" y="930"/>
                    <a:pt x="0" y="820"/>
                  </a:cubicBezTo>
                  <a:close/>
                </a:path>
              </a:pathLst>
            </a:custGeom>
            <a:solidFill>
              <a:srgbClr val="EAF2FA">
                <a:alpha val="55000"/>
              </a:srgbClr>
            </a:solidFill>
            <a:ln w="22225" cap="rnd">
              <a:solidFill>
                <a:srgbClr val="5D6D7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18" name="Tapón"/>
            <p:cNvSpPr/>
            <p:nvPr/>
          </p:nvSpPr>
          <p:spPr>
            <a:xfrm>
              <a:off x="4798771" y="1143000"/>
              <a:ext cx="689458" cy="285293"/>
            </a:xfrm>
            <a:prstGeom prst="roundRect">
              <a:avLst>
                <a:gd name="adj" fmla="val 25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86271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19" name="Brillo"/>
            <p:cNvSpPr/>
            <p:nvPr/>
          </p:nvSpPr>
          <p:spPr>
            <a:xfrm>
              <a:off x="4929530" y="1523390"/>
              <a:ext cx="71323" cy="166420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</p:spPr>
        </p:sp>
      </p:grpSp>
      <p:sp>
        <p:nvSpPr>
          <p:cNvPr id="20" name="!!Coágulo muestra"/>
          <p:cNvSpPr/>
          <p:nvPr/>
        </p:nvSpPr>
        <p:spPr>
          <a:xfrm>
            <a:off x="4876038" y="2474366"/>
            <a:ext cx="534924" cy="99852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600"/>
                </a:lnTo>
                <a:cubicBezTo>
                  <a:pt x="1000" y="850"/>
                  <a:pt x="760" y="1000"/>
                  <a:pt x="500" y="1000"/>
                </a:cubicBezTo>
                <a:cubicBezTo>
                  <a:pt x="240" y="1000"/>
                  <a:pt x="0" y="850"/>
                  <a:pt x="0" y="600"/>
                </a:cubicBezTo>
                <a:close/>
              </a:path>
            </a:pathLst>
          </a:custGeom>
          <a:gradFill rotWithShape="1">
            <a:gsLst>
              <a:gs pos="0">
                <a:srgbClr val="C65C56"/>
              </a:gs>
              <a:gs pos="55000">
                <a:srgbClr val="B3261E"/>
              </a:gs>
              <a:gs pos="100000">
                <a:srgbClr val="8F1E18"/>
              </a:gs>
            </a:gsLst>
            <a:path path="circle">
              <a:fillToRect l="40000" t="40000" r="60000" b="60000"/>
            </a:path>
          </a:gradFill>
          <a:ln w="9525" cap="rnd">
            <a:solidFill>
              <a:srgbClr val="741813"/>
            </a:solidFill>
            <a:round/>
          </a:ln>
        </p:spPr>
      </p:sp>
      <p:sp>
        <p:nvSpPr>
          <p:cNvPr id="21" name="!!Suero muestra"/>
          <p:cNvSpPr/>
          <p:nvPr/>
        </p:nvSpPr>
        <p:spPr>
          <a:xfrm>
            <a:off x="4876038" y="1835311"/>
            <a:ext cx="534924" cy="639056"/>
          </a:xfrm>
          <a:prstGeom prst="rect">
            <a:avLst/>
          </a:prstGeom>
          <a:gradFill rotWithShape="1">
            <a:gsLst>
              <a:gs pos="0">
                <a:srgbClr val="FCF6DB"/>
              </a:gs>
              <a:gs pos="100000">
                <a:srgbClr val="FCF3CF"/>
              </a:gs>
            </a:gsLst>
            <a:lin ang="5400000" scaled="0"/>
          </a:gradFill>
          <a:ln w="9525" cap="rnd">
            <a:solidFill>
              <a:srgbClr val="A39D86"/>
            </a:solidFill>
            <a:round/>
          </a:ln>
        </p:spPr>
      </p:sp>
      <p:sp>
        <p:nvSpPr>
          <p:cNvPr id="22" name="!!Marcador en tubo 0"/>
          <p:cNvSpPr/>
          <p:nvPr/>
        </p:nvSpPr>
        <p:spPr>
          <a:xfrm>
            <a:off x="4864608" y="1737360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Mb</a:t>
            </a:r>
            <a:endParaRPr lang="es-AR" sz="800" dirty="0">
              <a:latin typeface="Calibri"/>
            </a:endParaRPr>
          </a:p>
        </p:txBody>
      </p:sp>
      <p:sp>
        <p:nvSpPr>
          <p:cNvPr id="23" name="!!Marcador en tubo 1"/>
          <p:cNvSpPr/>
          <p:nvPr/>
        </p:nvSpPr>
        <p:spPr>
          <a:xfrm>
            <a:off x="5120640" y="2029968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</a:t>
            </a:r>
            <a:endParaRPr lang="es-AR" sz="800" dirty="0">
              <a:latin typeface="Calibri"/>
            </a:endParaRPr>
          </a:p>
        </p:txBody>
      </p:sp>
      <p:sp>
        <p:nvSpPr>
          <p:cNvPr id="24" name="!!Marcador en tubo 2"/>
          <p:cNvSpPr/>
          <p:nvPr/>
        </p:nvSpPr>
        <p:spPr>
          <a:xfrm>
            <a:off x="4864608" y="2322576"/>
            <a:ext cx="411480" cy="25603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2A299"/>
              </a:gs>
              <a:gs pos="55000">
                <a:srgbClr val="EC7063"/>
              </a:gs>
              <a:gs pos="100000">
                <a:srgbClr val="BC594F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6383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Tn</a:t>
            </a:r>
            <a:endParaRPr lang="es-AR" sz="800" dirty="0">
              <a:latin typeface="Calibri"/>
            </a:endParaRPr>
          </a:p>
        </p:txBody>
      </p:sp>
      <p:grpSp>
        <p:nvGrpSpPr>
          <p:cNvPr id="25" name="!!Analizador"/>
          <p:cNvGrpSpPr/>
          <p:nvPr/>
        </p:nvGrpSpPr>
        <p:grpSpPr>
          <a:xfrm>
            <a:off x="5760720" y="1143000"/>
            <a:ext cx="2286000" cy="2377440"/>
            <a:chOff x="5760720" y="1143000"/>
            <a:chExt cx="2286000" cy="2377440"/>
          </a:xfrm>
        </p:grpSpPr>
        <p:sp>
          <p:nvSpPr>
            <p:cNvPr id="26" name="Forma 25"/>
            <p:cNvSpPr/>
            <p:nvPr/>
          </p:nvSpPr>
          <p:spPr>
            <a:xfrm>
              <a:off x="5760720" y="1143000"/>
              <a:ext cx="2286000" cy="2377440"/>
            </a:xfrm>
            <a:prstGeom prst="roundRect">
              <a:avLst>
                <a:gd name="adj" fmla="val 10000"/>
              </a:avLst>
            </a:prstGeom>
            <a:gradFill rotWithShape="1">
              <a:gsLst>
                <a:gs pos="0">
                  <a:srgbClr val="E1E5E5"/>
                </a:gs>
                <a:gs pos="55000">
                  <a:srgbClr val="D5DBDB"/>
                </a:gs>
                <a:gs pos="100000">
                  <a:srgbClr val="AAAFAF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27" name="Forma 26"/>
            <p:cNvSpPr/>
            <p:nvPr/>
          </p:nvSpPr>
          <p:spPr>
            <a:xfrm>
              <a:off x="5943600" y="1325880"/>
              <a:ext cx="1920240" cy="1280160"/>
            </a:xfrm>
            <a:prstGeom prst="rect">
              <a:avLst/>
            </a:prstGeom>
            <a:solidFill>
              <a:srgbClr val="1C2833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58D68D"/>
                  </a:solidFill>
                  <a:latin typeface="Calibri"/>
                  <a:ea typeface="Calibri"/>
                  <a:cs typeface="Calibri"/>
                  <a:sym typeface="Calibri"/>
                </a:rPr>
                <a:t>CPK 1173 UI/L</a:t>
              </a:r>
              <a:endParaRPr lang="es-AR" sz="110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58D68D"/>
                  </a:solidFill>
                  <a:latin typeface="Calibri"/>
                  <a:ea typeface="Calibri"/>
                  <a:cs typeface="Calibri"/>
                  <a:sym typeface="Calibri"/>
                </a:rPr>
                <a:t>TnI: muy elevada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6035040" y="2834640"/>
              <a:ext cx="548640" cy="457200"/>
            </a:xfrm>
            <a:prstGeom prst="roundRect">
              <a:avLst>
                <a:gd name="adj" fmla="val 30000"/>
              </a:avLst>
            </a:prstGeom>
            <a:solidFill>
              <a:srgbClr val="2E86C1"/>
            </a:solidFill>
            <a:ln>
              <a:noFill/>
            </a:ln>
          </p:spPr>
        </p:sp>
      </p:grpSp>
      <p:grpSp>
        <p:nvGrpSpPr>
          <p:cNvPr id="29" name="Línea temporal LB"/>
          <p:cNvGrpSpPr/>
          <p:nvPr/>
        </p:nvGrpSpPr>
        <p:grpSpPr>
          <a:xfrm>
            <a:off x="457200" y="3794760"/>
            <a:ext cx="7498080" cy="914400"/>
            <a:chOff x="457200" y="3794760"/>
            <a:chExt cx="7498080" cy="914400"/>
          </a:xfrm>
        </p:grpSpPr>
        <p:sp>
          <p:nvSpPr>
            <p:cNvPr id="30" name="Flecha 29_2"/>
            <p:cNvSpPr/>
            <p:nvPr/>
          </p:nvSpPr>
          <p:spPr>
            <a:xfrm>
              <a:off x="457200" y="3931920"/>
              <a:ext cx="7498080" cy="9144"/>
            </a:xfrm>
            <a:custGeom>
              <a:avLst/>
              <a:gdLst/>
              <a:ahLst/>
              <a:cxnLst/>
              <a:rect l="0" t="0" r="r" b="b"/>
              <a:pathLst>
                <a:path w="8200" h="10" fill="none">
                  <a:moveTo>
                    <a:pt x="0" y="0"/>
                  </a:moveTo>
                  <a:lnTo>
                    <a:pt x="820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31" name="Flecha 31_2"/>
            <p:cNvSpPr/>
            <p:nvPr/>
          </p:nvSpPr>
          <p:spPr>
            <a:xfrm>
              <a:off x="1280160" y="379476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299" fill="none">
                  <a:moveTo>
                    <a:pt x="0" y="0"/>
                  </a:moveTo>
                  <a:lnTo>
                    <a:pt x="0" y="2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32" name="Forma 33"/>
            <p:cNvSpPr txBox="1"/>
            <p:nvPr/>
          </p:nvSpPr>
          <p:spPr>
            <a:xfrm>
              <a:off x="640080" y="4114800"/>
              <a:ext cx="14630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1–4 h</a:t>
              </a:r>
              <a:endParaRPr lang="es-AR" sz="125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mioglobina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3" name="Flecha 34_2"/>
            <p:cNvSpPr/>
            <p:nvPr/>
          </p:nvSpPr>
          <p:spPr>
            <a:xfrm>
              <a:off x="3017520" y="379476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299" fill="none">
                  <a:moveTo>
                    <a:pt x="0" y="0"/>
                  </a:moveTo>
                  <a:lnTo>
                    <a:pt x="0" y="2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34" name="Forma 36"/>
            <p:cNvSpPr txBox="1"/>
            <p:nvPr/>
          </p:nvSpPr>
          <p:spPr>
            <a:xfrm>
              <a:off x="2377440" y="4114800"/>
              <a:ext cx="14630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3–6 h</a:t>
              </a:r>
              <a:endParaRPr lang="es-AR" sz="125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troponinas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5" name="Flecha 37_2"/>
            <p:cNvSpPr/>
            <p:nvPr/>
          </p:nvSpPr>
          <p:spPr>
            <a:xfrm>
              <a:off x="4663440" y="379476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299" fill="none">
                  <a:moveTo>
                    <a:pt x="0" y="0"/>
                  </a:moveTo>
                  <a:lnTo>
                    <a:pt x="0" y="2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36" name="Forma 39"/>
            <p:cNvSpPr txBox="1"/>
            <p:nvPr/>
          </p:nvSpPr>
          <p:spPr>
            <a:xfrm>
              <a:off x="4023360" y="4114800"/>
              <a:ext cx="14630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4–6 h</a:t>
              </a:r>
              <a:endParaRPr lang="es-AR" sz="125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CK-MB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7" name="Flecha 40_2"/>
            <p:cNvSpPr/>
            <p:nvPr/>
          </p:nvSpPr>
          <p:spPr>
            <a:xfrm>
              <a:off x="6492240" y="3794760"/>
              <a:ext cx="9144" cy="274320"/>
            </a:xfrm>
            <a:custGeom>
              <a:avLst/>
              <a:gdLst/>
              <a:ahLst/>
              <a:cxnLst/>
              <a:rect l="0" t="0" r="r" b="b"/>
              <a:pathLst>
                <a:path w="10" h="299" fill="none">
                  <a:moveTo>
                    <a:pt x="0" y="0"/>
                  </a:moveTo>
                  <a:lnTo>
                    <a:pt x="0" y="299"/>
                  </a:lnTo>
                </a:path>
              </a:pathLst>
            </a:custGeom>
            <a:noFill/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38" name="Forma 42"/>
            <p:cNvSpPr txBox="1"/>
            <p:nvPr/>
          </p:nvSpPr>
          <p:spPr>
            <a:xfrm>
              <a:off x="5852160" y="4114800"/>
              <a:ext cx="14630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8–18 h</a:t>
              </a:r>
              <a:endParaRPr lang="es-AR" sz="1250" dirty="0">
                <a:latin typeface="Calibri"/>
              </a:endParaRPr>
            </a:p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39" name="Caja LB8"/>
          <p:cNvGrpSpPr/>
          <p:nvPr/>
        </p:nvGrpSpPr>
        <p:grpSpPr>
          <a:xfrm>
            <a:off x="8549640" y="1097280"/>
            <a:ext cx="3383280" cy="3291840"/>
            <a:chOff x="8549640" y="1097280"/>
            <a:chExt cx="3383280" cy="3291840"/>
          </a:xfrm>
        </p:grpSpPr>
        <p:sp>
          <p:nvSpPr>
            <p:cNvPr id="40" name="Forma 44"/>
            <p:cNvSpPr/>
            <p:nvPr/>
          </p:nvSpPr>
          <p:spPr>
            <a:xfrm>
              <a:off x="8549640" y="1298448"/>
              <a:ext cx="3383280" cy="30906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valor de un marcador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depende del momento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la toma de muestra respecto del inicio del dolor: cada uno tiene su propia </a:t>
              </a:r>
              <a:r>
                <a:rPr lang="es-AR" sz="2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cinética</a:t>
              </a:r>
              <a:r>
                <a:rPr lang="es-AR" sz="2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41" name="Forma 45"/>
            <p:cNvSpPr/>
            <p:nvPr/>
          </p:nvSpPr>
          <p:spPr>
            <a:xfrm>
              <a:off x="8677656" y="1097280"/>
              <a:ext cx="1654293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INTERPRETACIÓN TEMPORAL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4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Ejes cinética"/>
          <p:cNvGrpSpPr/>
          <p:nvPr/>
        </p:nvGrpSpPr>
        <p:grpSpPr>
          <a:xfrm>
            <a:off x="365760" y="914400"/>
            <a:ext cx="7955280" cy="5001768"/>
            <a:chOff x="365760" y="914400"/>
            <a:chExt cx="7955280" cy="5001768"/>
          </a:xfrm>
        </p:grpSpPr>
        <p:sp>
          <p:nvSpPr>
            <p:cNvPr id="6" name="Flecha 5_2"/>
            <p:cNvSpPr/>
            <p:nvPr/>
          </p:nvSpPr>
          <p:spPr>
            <a:xfrm>
              <a:off x="731520" y="1280160"/>
              <a:ext cx="9144" cy="3977640"/>
            </a:xfrm>
            <a:custGeom>
              <a:avLst/>
              <a:gdLst/>
              <a:ahLst/>
              <a:cxnLst/>
              <a:rect l="0" t="0" r="r" b="b"/>
              <a:pathLst>
                <a:path w="10" h="4350" fill="none">
                  <a:moveTo>
                    <a:pt x="0" y="435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731520" y="5257800"/>
              <a:ext cx="7315200" cy="9144"/>
            </a:xfrm>
            <a:custGeom>
              <a:avLst/>
              <a:gdLst/>
              <a:ahLst/>
              <a:cxnLst/>
              <a:rect l="0" t="0" r="r" b="b"/>
              <a:pathLst>
                <a:path w="8000" h="10" fill="none">
                  <a:moveTo>
                    <a:pt x="0" y="0"/>
                  </a:moveTo>
                  <a:lnTo>
                    <a:pt x="800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lecha 9_2"/>
            <p:cNvSpPr/>
            <p:nvPr/>
          </p:nvSpPr>
          <p:spPr>
            <a:xfrm>
              <a:off x="731520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9" name="Forma 11"/>
            <p:cNvSpPr txBox="1"/>
            <p:nvPr/>
          </p:nvSpPr>
          <p:spPr>
            <a:xfrm>
              <a:off x="365760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10" name="Flecha 12_2"/>
            <p:cNvSpPr/>
            <p:nvPr/>
          </p:nvSpPr>
          <p:spPr>
            <a:xfrm>
              <a:off x="1598371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1" name="Forma 14"/>
            <p:cNvSpPr txBox="1"/>
            <p:nvPr/>
          </p:nvSpPr>
          <p:spPr>
            <a:xfrm>
              <a:off x="1232611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6 h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12" name="Flecha 15_2"/>
            <p:cNvSpPr/>
            <p:nvPr/>
          </p:nvSpPr>
          <p:spPr>
            <a:xfrm>
              <a:off x="2320747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3" name="Forma 17"/>
            <p:cNvSpPr txBox="1"/>
            <p:nvPr/>
          </p:nvSpPr>
          <p:spPr>
            <a:xfrm>
              <a:off x="1954987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 h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14" name="Flecha 18_2"/>
            <p:cNvSpPr/>
            <p:nvPr/>
          </p:nvSpPr>
          <p:spPr>
            <a:xfrm>
              <a:off x="3332074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5" name="Forma 20"/>
            <p:cNvSpPr txBox="1"/>
            <p:nvPr/>
          </p:nvSpPr>
          <p:spPr>
            <a:xfrm>
              <a:off x="2966314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24 h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16" name="Flecha 21_2"/>
            <p:cNvSpPr/>
            <p:nvPr/>
          </p:nvSpPr>
          <p:spPr>
            <a:xfrm>
              <a:off x="4343400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7" name="Forma 23"/>
            <p:cNvSpPr txBox="1"/>
            <p:nvPr/>
          </p:nvSpPr>
          <p:spPr>
            <a:xfrm>
              <a:off x="3977640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48 h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18" name="Flecha 24_2"/>
            <p:cNvSpPr/>
            <p:nvPr/>
          </p:nvSpPr>
          <p:spPr>
            <a:xfrm>
              <a:off x="5065776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9" name="Forma 26"/>
            <p:cNvSpPr txBox="1"/>
            <p:nvPr/>
          </p:nvSpPr>
          <p:spPr>
            <a:xfrm>
              <a:off x="4700016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72 h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20" name="Flecha 27_2"/>
            <p:cNvSpPr/>
            <p:nvPr/>
          </p:nvSpPr>
          <p:spPr>
            <a:xfrm>
              <a:off x="6366053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1" name="Forma 29"/>
            <p:cNvSpPr txBox="1"/>
            <p:nvPr/>
          </p:nvSpPr>
          <p:spPr>
            <a:xfrm>
              <a:off x="6000293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 d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22" name="Flecha 30_2"/>
            <p:cNvSpPr/>
            <p:nvPr/>
          </p:nvSpPr>
          <p:spPr>
            <a:xfrm>
              <a:off x="7088429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3" name="Forma 32"/>
            <p:cNvSpPr txBox="1"/>
            <p:nvPr/>
          </p:nvSpPr>
          <p:spPr>
            <a:xfrm>
              <a:off x="6722669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 d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24" name="Flecha 33_2"/>
            <p:cNvSpPr/>
            <p:nvPr/>
          </p:nvSpPr>
          <p:spPr>
            <a:xfrm>
              <a:off x="7955280" y="525780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5" name="Forma 35"/>
            <p:cNvSpPr txBox="1"/>
            <p:nvPr/>
          </p:nvSpPr>
          <p:spPr>
            <a:xfrm>
              <a:off x="7589520" y="536752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14 d</a:t>
              </a:r>
              <a:endParaRPr lang="es-AR" sz="1150" dirty="0">
                <a:latin typeface="Calibri"/>
              </a:endParaRPr>
            </a:p>
          </p:txBody>
        </p:sp>
        <p:sp>
          <p:nvSpPr>
            <p:cNvPr id="26" name="Forma 36"/>
            <p:cNvSpPr txBox="1"/>
            <p:nvPr/>
          </p:nvSpPr>
          <p:spPr>
            <a:xfrm>
              <a:off x="822960" y="914400"/>
              <a:ext cx="41148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relativa (esquema)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7" name="Forma 37"/>
            <p:cNvSpPr txBox="1"/>
            <p:nvPr/>
          </p:nvSpPr>
          <p:spPr>
            <a:xfrm>
              <a:off x="4663440" y="5641848"/>
              <a:ext cx="33832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tiempo desde el inicio del dolor (escala no lineal)</a:t>
              </a:r>
              <a:endParaRPr lang="es-AR" sz="1100" dirty="0">
                <a:latin typeface="Calibri"/>
              </a:endParaRPr>
            </a:p>
          </p:txBody>
        </p:sp>
      </p:grpSp>
      <p:sp>
        <p:nvSpPr>
          <p:cNvPr id="28" name="Inicio del evento"/>
          <p:cNvSpPr/>
          <p:nvPr/>
        </p:nvSpPr>
        <p:spPr>
          <a:xfrm>
            <a:off x="731520" y="1325880"/>
            <a:ext cx="9144" cy="3931920"/>
          </a:xfrm>
          <a:custGeom>
            <a:avLst/>
            <a:gdLst/>
            <a:ahLst/>
            <a:cxnLst/>
            <a:rect l="0" t="0" r="r" b="b"/>
            <a:pathLst>
              <a:path w="10" h="4300" fill="none">
                <a:moveTo>
                  <a:pt x="0" y="0"/>
                </a:moveTo>
                <a:lnTo>
                  <a:pt x="0" y="4300"/>
                </a:lnTo>
              </a:path>
            </a:pathLst>
          </a:custGeom>
          <a:noFill/>
          <a:ln w="38100" cap="rnd">
            <a:solidFill>
              <a:srgbClr val="C00000"/>
            </a:solidFill>
            <a:prstDash val="dash"/>
            <a:round/>
          </a:ln>
        </p:spPr>
      </p:sp>
      <p:sp>
        <p:nvSpPr>
          <p:cNvPr id="29" name="Rótulo inicio"/>
          <p:cNvSpPr/>
          <p:nvPr/>
        </p:nvSpPr>
        <p:spPr>
          <a:xfrm>
            <a:off x="822960" y="1280160"/>
            <a:ext cx="1222147" cy="240982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inicio del dolor</a:t>
            </a:r>
            <a:endParaRPr lang="es-AR" sz="1150" dirty="0">
              <a:latin typeface="Calibri"/>
            </a:endParaRPr>
          </a:p>
        </p:txBody>
      </p:sp>
      <p:sp>
        <p:nvSpPr>
          <p:cNvPr id="30" name="!!Curva Mioglobina"/>
          <p:cNvSpPr/>
          <p:nvPr/>
        </p:nvSpPr>
        <p:spPr>
          <a:xfrm>
            <a:off x="731520" y="1325880"/>
            <a:ext cx="7223760" cy="393192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40"/>
                </a:moveTo>
                <a:cubicBezTo>
                  <a:pt x="7" y="940"/>
                  <a:pt x="35" y="992"/>
                  <a:pt x="49" y="940"/>
                </a:cubicBezTo>
                <a:cubicBezTo>
                  <a:pt x="62" y="887"/>
                  <a:pt x="78" y="686"/>
                  <a:pt x="90" y="591"/>
                </a:cubicBezTo>
                <a:cubicBezTo>
                  <a:pt x="101" y="495"/>
                  <a:pt x="102" y="291"/>
                  <a:pt x="128" y="306"/>
                </a:cubicBezTo>
                <a:cubicBezTo>
                  <a:pt x="153" y="320"/>
                  <a:pt x="222" y="590"/>
                  <a:pt x="257" y="686"/>
                </a:cubicBezTo>
                <a:cubicBezTo>
                  <a:pt x="291" y="781"/>
                  <a:pt x="248" y="901"/>
                  <a:pt x="360" y="940"/>
                </a:cubicBezTo>
                <a:cubicBezTo>
                  <a:pt x="471" y="978"/>
                  <a:pt x="904" y="940"/>
                  <a:pt x="1000" y="940"/>
                </a:cubicBezTo>
              </a:path>
            </a:pathLst>
          </a:custGeom>
          <a:noFill/>
          <a:ln w="57150" cap="rnd">
            <a:solidFill>
              <a:srgbClr val="C0392B"/>
            </a:solidFill>
            <a:round/>
          </a:ln>
        </p:spPr>
      </p:sp>
      <p:sp>
        <p:nvSpPr>
          <p:cNvPr id="31" name="!!Curva CK-MB"/>
          <p:cNvSpPr/>
          <p:nvPr/>
        </p:nvSpPr>
        <p:spPr>
          <a:xfrm>
            <a:off x="731520" y="1325880"/>
            <a:ext cx="7223760" cy="393192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40"/>
                </a:moveTo>
                <a:cubicBezTo>
                  <a:pt x="14" y="940"/>
                  <a:pt x="67" y="980"/>
                  <a:pt x="99" y="940"/>
                </a:cubicBezTo>
                <a:cubicBezTo>
                  <a:pt x="130" y="899"/>
                  <a:pt x="182" y="745"/>
                  <a:pt x="211" y="673"/>
                </a:cubicBezTo>
                <a:cubicBezTo>
                  <a:pt x="239" y="600"/>
                  <a:pt x="254" y="444"/>
                  <a:pt x="290" y="455"/>
                </a:cubicBezTo>
                <a:cubicBezTo>
                  <a:pt x="325" y="465"/>
                  <a:pt x="408" y="673"/>
                  <a:pt x="447" y="746"/>
                </a:cubicBezTo>
                <a:cubicBezTo>
                  <a:pt x="486" y="818"/>
                  <a:pt x="467" y="910"/>
                  <a:pt x="550" y="940"/>
                </a:cubicBezTo>
                <a:cubicBezTo>
                  <a:pt x="632" y="969"/>
                  <a:pt x="932" y="940"/>
                  <a:pt x="1000" y="940"/>
                </a:cubicBezTo>
              </a:path>
            </a:pathLst>
          </a:custGeom>
          <a:noFill/>
          <a:ln w="57150" cap="rnd">
            <a:solidFill>
              <a:srgbClr val="F39C12"/>
            </a:solidFill>
            <a:round/>
          </a:ln>
        </p:spPr>
      </p:sp>
      <p:sp>
        <p:nvSpPr>
          <p:cNvPr id="32" name="!!Curva Troponina I"/>
          <p:cNvSpPr/>
          <p:nvPr/>
        </p:nvSpPr>
        <p:spPr>
          <a:xfrm>
            <a:off x="731520" y="1325880"/>
            <a:ext cx="7223760" cy="393192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40"/>
                </a:moveTo>
                <a:cubicBezTo>
                  <a:pt x="13" y="940"/>
                  <a:pt x="58" y="1009"/>
                  <a:pt x="90" y="940"/>
                </a:cubicBezTo>
                <a:cubicBezTo>
                  <a:pt x="121" y="871"/>
                  <a:pt x="177" y="605"/>
                  <a:pt x="207" y="480"/>
                </a:cubicBezTo>
                <a:cubicBezTo>
                  <a:pt x="237" y="354"/>
                  <a:pt x="220" y="85"/>
                  <a:pt x="290" y="104"/>
                </a:cubicBezTo>
                <a:cubicBezTo>
                  <a:pt x="359" y="122"/>
                  <a:pt x="592" y="479"/>
                  <a:pt x="673" y="605"/>
                </a:cubicBezTo>
                <a:cubicBezTo>
                  <a:pt x="754" y="730"/>
                  <a:pt x="780" y="889"/>
                  <a:pt x="830" y="940"/>
                </a:cubicBezTo>
                <a:cubicBezTo>
                  <a:pt x="879" y="990"/>
                  <a:pt x="974" y="940"/>
                  <a:pt x="1000" y="940"/>
                </a:cubicBezTo>
              </a:path>
            </a:pathLst>
          </a:custGeom>
          <a:noFill/>
          <a:ln w="57150" cap="rnd">
            <a:solidFill>
              <a:srgbClr val="7D3C98"/>
            </a:solidFill>
            <a:round/>
          </a:ln>
        </p:spPr>
      </p:sp>
      <p:sp>
        <p:nvSpPr>
          <p:cNvPr id="33" name="!!Curva LDH"/>
          <p:cNvSpPr/>
          <p:nvPr/>
        </p:nvSpPr>
        <p:spPr>
          <a:xfrm>
            <a:off x="731520" y="1325880"/>
            <a:ext cx="7223760" cy="393192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40"/>
                </a:moveTo>
                <a:cubicBezTo>
                  <a:pt x="34" y="940"/>
                  <a:pt x="176" y="970"/>
                  <a:pt x="231" y="940"/>
                </a:cubicBezTo>
                <a:cubicBezTo>
                  <a:pt x="285" y="909"/>
                  <a:pt x="332" y="791"/>
                  <a:pt x="362" y="736"/>
                </a:cubicBezTo>
                <a:cubicBezTo>
                  <a:pt x="391" y="680"/>
                  <a:pt x="369" y="561"/>
                  <a:pt x="430" y="570"/>
                </a:cubicBezTo>
                <a:cubicBezTo>
                  <a:pt x="490" y="578"/>
                  <a:pt x="691" y="736"/>
                  <a:pt x="768" y="792"/>
                </a:cubicBezTo>
                <a:cubicBezTo>
                  <a:pt x="844" y="847"/>
                  <a:pt x="905" y="917"/>
                  <a:pt x="940" y="940"/>
                </a:cubicBezTo>
                <a:cubicBezTo>
                  <a:pt x="974" y="962"/>
                  <a:pt x="991" y="940"/>
                  <a:pt x="1000" y="940"/>
                </a:cubicBezTo>
              </a:path>
            </a:pathLst>
          </a:custGeom>
          <a:noFill/>
          <a:ln w="57150" cap="rnd">
            <a:solidFill>
              <a:srgbClr val="1E8449"/>
            </a:solidFill>
            <a:round/>
          </a:ln>
        </p:spPr>
      </p:sp>
      <p:sp>
        <p:nvSpPr>
          <p:cNvPr id="34" name="Rótulo Mioglobina"/>
          <p:cNvSpPr/>
          <p:nvPr/>
        </p:nvSpPr>
        <p:spPr>
          <a:xfrm>
            <a:off x="1237183" y="1797710"/>
            <a:ext cx="1062273" cy="261937"/>
          </a:xfrm>
          <a:prstGeom prst="rect">
            <a:avLst/>
          </a:prstGeom>
          <a:solidFill>
            <a:srgbClr val="C0392B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Mioglobina</a:t>
            </a:r>
            <a:endParaRPr lang="es-AR" sz="1250" dirty="0">
              <a:latin typeface="Calibri"/>
            </a:endParaRPr>
          </a:p>
        </p:txBody>
      </p:sp>
      <p:sp>
        <p:nvSpPr>
          <p:cNvPr id="35" name="Rótulo CK-MB"/>
          <p:cNvSpPr/>
          <p:nvPr/>
        </p:nvSpPr>
        <p:spPr>
          <a:xfrm>
            <a:off x="3476549" y="2820010"/>
            <a:ext cx="740587" cy="261937"/>
          </a:xfrm>
          <a:prstGeom prst="rect">
            <a:avLst/>
          </a:prstGeom>
          <a:solidFill>
            <a:srgbClr val="F39C12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CK-MB</a:t>
            </a:r>
            <a:endParaRPr lang="es-AR" sz="1250" dirty="0">
              <a:latin typeface="Calibri"/>
            </a:endParaRPr>
          </a:p>
        </p:txBody>
      </p:sp>
      <p:sp>
        <p:nvSpPr>
          <p:cNvPr id="36" name="Rótulo Troponina I"/>
          <p:cNvSpPr/>
          <p:nvPr/>
        </p:nvSpPr>
        <p:spPr>
          <a:xfrm>
            <a:off x="3765499" y="1280160"/>
            <a:ext cx="1058460" cy="261937"/>
          </a:xfrm>
          <a:prstGeom prst="rect">
            <a:avLst/>
          </a:prstGeom>
          <a:solidFill>
            <a:srgbClr val="7D3C98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 I</a:t>
            </a:r>
            <a:endParaRPr lang="es-AR" sz="1250" dirty="0">
              <a:latin typeface="Calibri"/>
            </a:endParaRPr>
          </a:p>
        </p:txBody>
      </p:sp>
      <p:sp>
        <p:nvSpPr>
          <p:cNvPr id="37" name="Rótulo LDH"/>
          <p:cNvSpPr/>
          <p:nvPr/>
        </p:nvSpPr>
        <p:spPr>
          <a:xfrm>
            <a:off x="5210251" y="3370478"/>
            <a:ext cx="555043" cy="261937"/>
          </a:xfrm>
          <a:prstGeom prst="rect">
            <a:avLst/>
          </a:prstGeom>
          <a:solidFill>
            <a:srgbClr val="1E8449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</a:t>
            </a:r>
            <a:endParaRPr lang="es-AR" sz="1250" dirty="0">
              <a:latin typeface="Calibri"/>
            </a:endParaRPr>
          </a:p>
        </p:txBody>
      </p:sp>
      <p:sp>
        <p:nvSpPr>
          <p:cNvPr id="38" name="Toma de muestra día 8"/>
          <p:cNvSpPr/>
          <p:nvPr/>
        </p:nvSpPr>
        <p:spPr>
          <a:xfrm>
            <a:off x="6606845" y="1508760"/>
            <a:ext cx="9144" cy="3749040"/>
          </a:xfrm>
          <a:custGeom>
            <a:avLst/>
            <a:gdLst/>
            <a:ahLst/>
            <a:cxnLst/>
            <a:rect l="0" t="0" r="r" b="b"/>
            <a:pathLst>
              <a:path w="10" h="4100" fill="none">
                <a:moveTo>
                  <a:pt x="0" y="0"/>
                </a:moveTo>
                <a:lnTo>
                  <a:pt x="0" y="4100"/>
                </a:lnTo>
              </a:path>
            </a:pathLst>
          </a:custGeom>
          <a:noFill/>
          <a:ln w="38100" cap="rnd">
            <a:solidFill>
              <a:srgbClr val="1F3864"/>
            </a:solidFill>
            <a:prstDash val="sysDash"/>
            <a:round/>
          </a:ln>
        </p:spPr>
      </p:sp>
      <p:sp>
        <p:nvSpPr>
          <p:cNvPr id="39" name="Rótulo día 8"/>
          <p:cNvSpPr/>
          <p:nvPr/>
        </p:nvSpPr>
        <p:spPr>
          <a:xfrm>
            <a:off x="5966765" y="3763670"/>
            <a:ext cx="914400" cy="261937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8</a:t>
            </a:r>
            <a:endParaRPr lang="es-AR" sz="1250" dirty="0">
              <a:latin typeface="Calibri"/>
            </a:endParaRPr>
          </a:p>
        </p:txBody>
      </p:sp>
      <p:sp>
        <p:nvSpPr>
          <p:cNvPr id="40" name="Aclaración esquema"/>
          <p:cNvSpPr/>
          <p:nvPr/>
        </p:nvSpPr>
        <p:spPr>
          <a:xfrm>
            <a:off x="8549640" y="1097280"/>
            <a:ext cx="3383280" cy="160020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Esquema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cualitativo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los tiempos son los del material; la altura de cada curva es ilustrativa.</a:t>
            </a:r>
            <a:endParaRPr lang="es-AR" sz="1650" dirty="0">
              <a:latin typeface="Calibri"/>
            </a:endParaRPr>
          </a:p>
        </p:txBody>
      </p:sp>
      <p:grpSp>
        <p:nvGrpSpPr>
          <p:cNvPr id="41" name="Comparación curvas"/>
          <p:cNvGrpSpPr/>
          <p:nvPr/>
        </p:nvGrpSpPr>
        <p:grpSpPr>
          <a:xfrm>
            <a:off x="8549640" y="2880360"/>
            <a:ext cx="3383280" cy="1783080"/>
            <a:chOff x="8549640" y="2880360"/>
            <a:chExt cx="3383280" cy="1783080"/>
          </a:xfrm>
        </p:grpSpPr>
        <p:sp>
          <p:nvSpPr>
            <p:cNvPr id="42" name="Forma 52"/>
            <p:cNvSpPr/>
            <p:nvPr/>
          </p:nvSpPr>
          <p:spPr>
            <a:xfrm>
              <a:off x="8549640" y="3081528"/>
              <a:ext cx="3383280" cy="15819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mioglobina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sube y baja primero;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CK-MB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normaliza en 48–72 h; la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persiste 7–10 días; la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 la más tardía.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43" name="Forma 53"/>
            <p:cNvSpPr/>
            <p:nvPr/>
          </p:nvSpPr>
          <p:spPr>
            <a:xfrm>
              <a:off x="8677656" y="2880360"/>
              <a:ext cx="151142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COMPARACIÓN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4" name="Interpretación día 8"/>
          <p:cNvGrpSpPr/>
          <p:nvPr/>
        </p:nvGrpSpPr>
        <p:grpSpPr>
          <a:xfrm>
            <a:off x="8549640" y="4846320"/>
            <a:ext cx="3383280" cy="1600200"/>
            <a:chOff x="8549640" y="4846320"/>
            <a:chExt cx="3383280" cy="1600200"/>
          </a:xfrm>
        </p:grpSpPr>
        <p:sp>
          <p:nvSpPr>
            <p:cNvPr id="45" name="Forma 55"/>
            <p:cNvSpPr/>
            <p:nvPr/>
          </p:nvSpPr>
          <p:spPr>
            <a:xfrm>
              <a:off x="8549640" y="5047488"/>
              <a:ext cx="3383280" cy="1399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 los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 días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solo siguen altas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lo esperable por su cinética.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46" name="Forma 56"/>
            <p:cNvSpPr/>
            <p:nvPr/>
          </p:nvSpPr>
          <p:spPr>
            <a:xfrm>
              <a:off x="8677656" y="4846320"/>
              <a:ext cx="249000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MOMENTO DE LA MUESTRA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CINÉTICA DE LOS BIOMARCADORES: LAS CURVAS SE CONSTRUYEN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209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30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1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4" grpId="0" animBg="1"/>
      <p:bldP spid="31" grpId="0" animBg="1"/>
      <p:bldP spid="35" grpId="0" animBg="1"/>
      <p:bldP spid="32" grpId="0" animBg="1"/>
      <p:bldP spid="36" grpId="0" animBg="1"/>
      <p:bldP spid="33" grpId="0" animBg="1"/>
      <p:bldP spid="37" grpId="0" animBg="1"/>
      <p:bldP spid="40" grpId="0" animBg="1"/>
      <p:bldP spid="38" grpId="0" animBg="1"/>
      <p:bldP spid="39" grpId="0" animBg="1"/>
    </p:bld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Tabla cinética fila 0"/>
          <p:cNvGrpSpPr/>
          <p:nvPr/>
        </p:nvGrpSpPr>
        <p:grpSpPr>
          <a:xfrm>
            <a:off x="320040" y="1097280"/>
            <a:ext cx="11567160" cy="566928"/>
            <a:chOff x="320040" y="1097280"/>
            <a:chExt cx="11567160" cy="566928"/>
          </a:xfrm>
        </p:grpSpPr>
        <p:sp>
          <p:nvSpPr>
            <p:cNvPr id="6" name="Forma 5"/>
            <p:cNvSpPr/>
            <p:nvPr/>
          </p:nvSpPr>
          <p:spPr>
            <a:xfrm>
              <a:off x="320040" y="1097280"/>
              <a:ext cx="15087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828800" y="1097280"/>
              <a:ext cx="91440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Inicio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2743200" y="1097280"/>
              <a:ext cx="132588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Pico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4069080" y="1097280"/>
              <a:ext cx="12801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Normalización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5349240" y="1097280"/>
              <a:ext cx="12344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Sensibilidad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6583680" y="1097280"/>
              <a:ext cx="14630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Especificidad cardíaca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8046720" y="1097280"/>
              <a:ext cx="384048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Uso principal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3" name="Tabla cinética fila 1"/>
          <p:cNvGrpSpPr/>
          <p:nvPr/>
        </p:nvGrpSpPr>
        <p:grpSpPr>
          <a:xfrm>
            <a:off x="320040" y="1664208"/>
            <a:ext cx="11567160" cy="566928"/>
            <a:chOff x="320040" y="1664208"/>
            <a:chExt cx="11567160" cy="566928"/>
          </a:xfrm>
        </p:grpSpPr>
        <p:sp>
          <p:nvSpPr>
            <p:cNvPr id="14" name="Forma 13"/>
            <p:cNvSpPr/>
            <p:nvPr/>
          </p:nvSpPr>
          <p:spPr>
            <a:xfrm>
              <a:off x="320040" y="1664208"/>
              <a:ext cx="1508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Mioglobina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1828800" y="1664208"/>
              <a:ext cx="9144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1–4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2743200" y="1664208"/>
              <a:ext cx="13258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6–7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4069080" y="1664208"/>
              <a:ext cx="12801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24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5349240" y="1664208"/>
              <a:ext cx="1234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alta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6583680" y="1664208"/>
              <a:ext cx="1463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baja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8046720" y="1664208"/>
              <a:ext cx="38404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Ayuda temprana; no confirma IAM sola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1" name="Tabla cinética fila 2"/>
          <p:cNvGrpSpPr/>
          <p:nvPr/>
        </p:nvGrpSpPr>
        <p:grpSpPr>
          <a:xfrm>
            <a:off x="320040" y="2231136"/>
            <a:ext cx="11567160" cy="566928"/>
            <a:chOff x="320040" y="2231136"/>
            <a:chExt cx="11567160" cy="566928"/>
          </a:xfrm>
        </p:grpSpPr>
        <p:sp>
          <p:nvSpPr>
            <p:cNvPr id="22" name="Forma 21"/>
            <p:cNvSpPr/>
            <p:nvPr/>
          </p:nvSpPr>
          <p:spPr>
            <a:xfrm>
              <a:off x="320040" y="2231136"/>
              <a:ext cx="15087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I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1828800" y="2231136"/>
              <a:ext cx="9144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3–6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2743200" y="2231136"/>
              <a:ext cx="13258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12–24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4069080" y="2231136"/>
              <a:ext cx="12801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7–10 días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5349240" y="2231136"/>
              <a:ext cx="1234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6583680" y="2231136"/>
              <a:ext cx="1463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alta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8046720" y="2231136"/>
              <a:ext cx="38404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Referencia diagnóstica: necrosis miocárdica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9" name="Tabla cinética fila 3"/>
          <p:cNvGrpSpPr/>
          <p:nvPr/>
        </p:nvGrpSpPr>
        <p:grpSpPr>
          <a:xfrm>
            <a:off x="320040" y="2798064"/>
            <a:ext cx="11567160" cy="566928"/>
            <a:chOff x="320040" y="2798064"/>
            <a:chExt cx="11567160" cy="566928"/>
          </a:xfrm>
        </p:grpSpPr>
        <p:sp>
          <p:nvSpPr>
            <p:cNvPr id="30" name="Forma 29"/>
            <p:cNvSpPr/>
            <p:nvPr/>
          </p:nvSpPr>
          <p:spPr>
            <a:xfrm>
              <a:off x="320040" y="2798064"/>
              <a:ext cx="1508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T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1828800" y="2798064"/>
              <a:ext cx="9144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3–6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2743200" y="2798064"/>
              <a:ext cx="13258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12–24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4069080" y="2798064"/>
              <a:ext cx="12801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7–10 días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5349240" y="2798064"/>
              <a:ext cx="1234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6583680" y="2798064"/>
              <a:ext cx="1463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6" name="Forma 35"/>
            <p:cNvSpPr/>
            <p:nvPr/>
          </p:nvSpPr>
          <p:spPr>
            <a:xfrm>
              <a:off x="8046720" y="2798064"/>
              <a:ext cx="38404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Similar a TnI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37" name="Tabla cinética fila 4"/>
          <p:cNvGrpSpPr/>
          <p:nvPr/>
        </p:nvGrpSpPr>
        <p:grpSpPr>
          <a:xfrm>
            <a:off x="320040" y="3364992"/>
            <a:ext cx="11567160" cy="566928"/>
            <a:chOff x="320040" y="3364992"/>
            <a:chExt cx="11567160" cy="566928"/>
          </a:xfrm>
        </p:grpSpPr>
        <p:sp>
          <p:nvSpPr>
            <p:cNvPr id="38" name="Forma 37"/>
            <p:cNvSpPr/>
            <p:nvPr/>
          </p:nvSpPr>
          <p:spPr>
            <a:xfrm>
              <a:off x="320040" y="3364992"/>
              <a:ext cx="15087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 total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1828800" y="3364992"/>
              <a:ext cx="9144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4–8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0" name="Forma 39"/>
            <p:cNvSpPr/>
            <p:nvPr/>
          </p:nvSpPr>
          <p:spPr>
            <a:xfrm>
              <a:off x="2743200" y="3364992"/>
              <a:ext cx="13258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12–24 h (hasta 48 h)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1" name="Forma 40"/>
            <p:cNvSpPr/>
            <p:nvPr/>
          </p:nvSpPr>
          <p:spPr>
            <a:xfrm>
              <a:off x="4069080" y="3364992"/>
              <a:ext cx="12801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48–72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2" name="Forma 41"/>
            <p:cNvSpPr/>
            <p:nvPr/>
          </p:nvSpPr>
          <p:spPr>
            <a:xfrm>
              <a:off x="5349240" y="3364992"/>
              <a:ext cx="1234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6583680" y="3364992"/>
              <a:ext cx="1463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8046720" y="3364992"/>
              <a:ext cx="38404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Siempre con CK-MB; reinfarto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45" name="Tabla cinética fila 5"/>
          <p:cNvGrpSpPr/>
          <p:nvPr/>
        </p:nvGrpSpPr>
        <p:grpSpPr>
          <a:xfrm>
            <a:off x="320040" y="3931920"/>
            <a:ext cx="11567160" cy="566928"/>
            <a:chOff x="320040" y="3931920"/>
            <a:chExt cx="11567160" cy="566928"/>
          </a:xfrm>
        </p:grpSpPr>
        <p:sp>
          <p:nvSpPr>
            <p:cNvPr id="46" name="Forma 45"/>
            <p:cNvSpPr/>
            <p:nvPr/>
          </p:nvSpPr>
          <p:spPr>
            <a:xfrm>
              <a:off x="320040" y="3931920"/>
              <a:ext cx="1508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CPK-MB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1828800" y="3931920"/>
              <a:ext cx="9144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4–6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8" name="Forma 47"/>
            <p:cNvSpPr/>
            <p:nvPr/>
          </p:nvSpPr>
          <p:spPr>
            <a:xfrm>
              <a:off x="2743200" y="3931920"/>
              <a:ext cx="13258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12–24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9" name="Forma 48"/>
            <p:cNvSpPr/>
            <p:nvPr/>
          </p:nvSpPr>
          <p:spPr>
            <a:xfrm>
              <a:off x="4069080" y="3931920"/>
              <a:ext cx="12801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48–72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0" name="Forma 49"/>
            <p:cNvSpPr/>
            <p:nvPr/>
          </p:nvSpPr>
          <p:spPr>
            <a:xfrm>
              <a:off x="5349240" y="3931920"/>
              <a:ext cx="1234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1" name="Forma 50"/>
            <p:cNvSpPr/>
            <p:nvPr/>
          </p:nvSpPr>
          <p:spPr>
            <a:xfrm>
              <a:off x="6583680" y="3931920"/>
              <a:ext cx="14630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Moderada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2" name="Forma 51"/>
            <p:cNvSpPr/>
            <p:nvPr/>
          </p:nvSpPr>
          <p:spPr>
            <a:xfrm>
              <a:off x="8046720" y="3931920"/>
              <a:ext cx="38404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Junto a CK total; nuevos eventos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53" name="Tabla cinética fila 6"/>
          <p:cNvGrpSpPr/>
          <p:nvPr/>
        </p:nvGrpSpPr>
        <p:grpSpPr>
          <a:xfrm>
            <a:off x="320040" y="4498848"/>
            <a:ext cx="11567160" cy="566928"/>
            <a:chOff x="320040" y="4498848"/>
            <a:chExt cx="11567160" cy="566928"/>
          </a:xfrm>
        </p:grpSpPr>
        <p:sp>
          <p:nvSpPr>
            <p:cNvPr id="54" name="Forma 53"/>
            <p:cNvSpPr/>
            <p:nvPr/>
          </p:nvSpPr>
          <p:spPr>
            <a:xfrm>
              <a:off x="320040" y="4498848"/>
              <a:ext cx="15087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5" name="Forma 54"/>
            <p:cNvSpPr/>
            <p:nvPr/>
          </p:nvSpPr>
          <p:spPr>
            <a:xfrm>
              <a:off x="1828800" y="4498848"/>
              <a:ext cx="9144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8–18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6" name="Forma 55"/>
            <p:cNvSpPr/>
            <p:nvPr/>
          </p:nvSpPr>
          <p:spPr>
            <a:xfrm>
              <a:off x="2743200" y="4498848"/>
              <a:ext cx="13258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24–48 h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7" name="Forma 56"/>
            <p:cNvSpPr/>
            <p:nvPr/>
          </p:nvSpPr>
          <p:spPr>
            <a:xfrm>
              <a:off x="4069080" y="4498848"/>
              <a:ext cx="12801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10–14 días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8" name="Forma 57"/>
            <p:cNvSpPr/>
            <p:nvPr/>
          </p:nvSpPr>
          <p:spPr>
            <a:xfrm>
              <a:off x="5349240" y="4498848"/>
              <a:ext cx="1234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 (tardía)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6583680" y="4498848"/>
              <a:ext cx="14630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baja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60" name="Forma 59"/>
            <p:cNvSpPr/>
            <p:nvPr/>
          </p:nvSpPr>
          <p:spPr>
            <a:xfrm>
              <a:off x="8046720" y="4498848"/>
              <a:ext cx="38404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Contextual tardío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61" name="Determinantes cinética"/>
          <p:cNvSpPr/>
          <p:nvPr/>
        </p:nvSpPr>
        <p:spPr>
          <a:xfrm>
            <a:off x="320040" y="5248656"/>
            <a:ext cx="11567160" cy="1106424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cinética depende del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tamaño y solubilidad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de si la molécula es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citoplasmática o estructural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de 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depuración renal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de 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magnitud del daño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641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7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PERFIL CINÉTICO: TABLA MAESTRA</a:t>
            </a:r>
            <a:endParaRPr lang="es-AR" sz="27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6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</p:bld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D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Grupo cinética 1"/>
          <p:cNvGrpSpPr/>
          <p:nvPr/>
        </p:nvGrpSpPr>
        <p:grpSpPr>
          <a:xfrm>
            <a:off x="708660" y="1097280"/>
            <a:ext cx="7338060" cy="1188720"/>
            <a:chOff x="708660" y="1097280"/>
            <a:chExt cx="7338060" cy="1188720"/>
          </a:xfrm>
        </p:grpSpPr>
        <p:sp>
          <p:nvSpPr>
            <p:cNvPr id="6" name="Forma 5"/>
            <p:cNvSpPr/>
            <p:nvPr/>
          </p:nvSpPr>
          <p:spPr>
            <a:xfrm>
              <a:off x="708660" y="1453896"/>
              <a:ext cx="384048" cy="384048"/>
            </a:xfrm>
            <a:prstGeom prst="ellipse">
              <a:avLst/>
            </a:prstGeom>
            <a:gradFill rotWithShape="1">
              <a:gsLst>
                <a:gs pos="0">
                  <a:srgbClr val="D9887F"/>
                </a:gs>
                <a:gs pos="55000">
                  <a:srgbClr val="C0392B"/>
                </a:gs>
                <a:gs pos="100000">
                  <a:srgbClr val="902A2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1691640" y="1097280"/>
              <a:ext cx="6355080" cy="11887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Pequeñas y solubles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Mioglobina: se liberan rápido al dañarse la membrana y filtran fácil por el riñón → aparición, pico y normalización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rápidos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8" name="Grupo cinética 2"/>
          <p:cNvGrpSpPr/>
          <p:nvPr/>
        </p:nvGrpSpPr>
        <p:grpSpPr>
          <a:xfrm>
            <a:off x="617220" y="2441448"/>
            <a:ext cx="7429500" cy="1188720"/>
            <a:chOff x="617220" y="2441448"/>
            <a:chExt cx="7429500" cy="1188720"/>
          </a:xfrm>
        </p:grpSpPr>
        <p:sp>
          <p:nvSpPr>
            <p:cNvPr id="9" name="Forma 8"/>
            <p:cNvSpPr/>
            <p:nvPr/>
          </p:nvSpPr>
          <p:spPr>
            <a:xfrm>
              <a:off x="617220" y="2688336"/>
              <a:ext cx="603504" cy="603504"/>
            </a:xfrm>
            <a:prstGeom prst="ellipse">
              <a:avLst/>
            </a:prstGeom>
            <a:gradFill rotWithShape="1">
              <a:gsLst>
                <a:gs pos="0">
                  <a:srgbClr val="F7C370"/>
                </a:gs>
                <a:gs pos="55000">
                  <a:srgbClr val="F39C12"/>
                </a:gs>
                <a:gs pos="100000">
                  <a:srgbClr val="B6750D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1691640" y="2441448"/>
              <a:ext cx="6355080" cy="11887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Enzimas citoplasmáticas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CK, CK-MB: salen con la pérdida de permeabilidad o la necrosis inicial → latencia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intermedia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depuración en 48–72 h.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1" name="Grupo cinética 3"/>
          <p:cNvGrpSpPr/>
          <p:nvPr/>
        </p:nvGrpSpPr>
        <p:grpSpPr>
          <a:xfrm>
            <a:off x="525780" y="3785616"/>
            <a:ext cx="7520940" cy="1188720"/>
            <a:chOff x="525780" y="3785616"/>
            <a:chExt cx="7520940" cy="1188720"/>
          </a:xfrm>
        </p:grpSpPr>
        <p:sp>
          <p:nvSpPr>
            <p:cNvPr id="12" name="Forma 11"/>
            <p:cNvSpPr/>
            <p:nvPr/>
          </p:nvSpPr>
          <p:spPr>
            <a:xfrm>
              <a:off x="525780" y="3922776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B18AC1"/>
                </a:gs>
                <a:gs pos="55000">
                  <a:srgbClr val="7D3C98"/>
                </a:gs>
                <a:gs pos="100000">
                  <a:srgbClr val="5D2D7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3E1E4C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1691640" y="3785616"/>
              <a:ext cx="6355080" cy="11887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Proteínas estructurales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Troponinas: solo con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necrosis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completa; moléculas grandes → latencia moderada y depuración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lenta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(7–10 días).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4" name="Grupo cinética 4"/>
          <p:cNvGrpSpPr/>
          <p:nvPr/>
        </p:nvGrpSpPr>
        <p:grpSpPr>
          <a:xfrm>
            <a:off x="434340" y="5129784"/>
            <a:ext cx="7612380" cy="1188720"/>
            <a:chOff x="434340" y="5129784"/>
            <a:chExt cx="7612380" cy="1188720"/>
          </a:xfrm>
        </p:grpSpPr>
        <p:sp>
          <p:nvSpPr>
            <p:cNvPr id="15" name="Forma 14"/>
            <p:cNvSpPr/>
            <p:nvPr/>
          </p:nvSpPr>
          <p:spPr>
            <a:xfrm>
              <a:off x="434340" y="5157216"/>
              <a:ext cx="1042416" cy="1042416"/>
            </a:xfrm>
            <a:prstGeom prst="ellipse">
              <a:avLst/>
            </a:prstGeom>
            <a:gradFill rotWithShape="1">
              <a:gsLst>
                <a:gs pos="0">
                  <a:srgbClr val="78B591"/>
                </a:gs>
                <a:gs pos="55000">
                  <a:srgbClr val="1E8449"/>
                </a:gs>
                <a:gs pos="100000">
                  <a:srgbClr val="166336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F4224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1691640" y="5129784"/>
              <a:ext cx="6355080" cy="11887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Ubicuas y grandes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LDH: el recambio normal ya mantiene niveles basales; necesita daño masivo y tarda mucho en normalizarse.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7" name="Regla cinética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18" name="Forma 17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Regla de oro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cinética depende de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estructura molecular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(tamaño, solubilidad, ubicación en la célula) y de cómo se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depura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8677656" y="1097280"/>
              <a:ext cx="81535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REGLA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¿POR QUÉ CADA BIOMARCADOR TIENE SU PROPIA CINÉTICA?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Ejes magnitud"/>
          <p:cNvGrpSpPr/>
          <p:nvPr/>
        </p:nvGrpSpPr>
        <p:grpSpPr>
          <a:xfrm>
            <a:off x="594360" y="914400"/>
            <a:ext cx="6172200" cy="4489704"/>
            <a:chOff x="594360" y="914400"/>
            <a:chExt cx="6172200" cy="4489704"/>
          </a:xfrm>
        </p:grpSpPr>
        <p:sp>
          <p:nvSpPr>
            <p:cNvPr id="6" name="Flecha 5_2"/>
            <p:cNvSpPr/>
            <p:nvPr/>
          </p:nvSpPr>
          <p:spPr>
            <a:xfrm>
              <a:off x="640080" y="1280160"/>
              <a:ext cx="9144" cy="3749040"/>
            </a:xfrm>
            <a:custGeom>
              <a:avLst/>
              <a:gdLst/>
              <a:ahLst/>
              <a:cxnLst/>
              <a:rect l="0" t="0" r="r" b="b"/>
              <a:pathLst>
                <a:path w="10" h="4100" fill="none">
                  <a:moveTo>
                    <a:pt x="0" y="41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640080" y="5029200"/>
              <a:ext cx="6126480" cy="9144"/>
            </a:xfrm>
            <a:custGeom>
              <a:avLst/>
              <a:gdLst/>
              <a:ahLst/>
              <a:cxnLst/>
              <a:rect l="0" t="0" r="r" b="b"/>
              <a:pathLst>
                <a:path w="6699" h="10" fill="none">
                  <a:moveTo>
                    <a:pt x="0" y="0"/>
                  </a:moveTo>
                  <a:lnTo>
                    <a:pt x="66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3931920" y="508406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tiempo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594360" y="91440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Infarto pequeño"/>
          <p:cNvSpPr/>
          <p:nvPr/>
        </p:nvSpPr>
        <p:spPr>
          <a:xfrm>
            <a:off x="640080" y="1371600"/>
            <a:ext cx="6035040" cy="36576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0"/>
                </a:moveTo>
                <a:cubicBezTo>
                  <a:pt x="22" y="948"/>
                  <a:pt x="97" y="977"/>
                  <a:pt x="150" y="940"/>
                </a:cubicBezTo>
                <a:cubicBezTo>
                  <a:pt x="202" y="902"/>
                  <a:pt x="290" y="721"/>
                  <a:pt x="350" y="700"/>
                </a:cubicBezTo>
                <a:cubicBezTo>
                  <a:pt x="410" y="679"/>
                  <a:pt x="452" y="764"/>
                  <a:pt x="550" y="800"/>
                </a:cubicBezTo>
                <a:cubicBezTo>
                  <a:pt x="647" y="836"/>
                  <a:pt x="932" y="919"/>
                  <a:pt x="1000" y="940"/>
                </a:cubicBezTo>
              </a:path>
            </a:pathLst>
          </a:custGeom>
          <a:noFill/>
          <a:ln w="57150" cap="rnd">
            <a:solidFill>
              <a:srgbClr val="85C1E9"/>
            </a:solidFill>
            <a:round/>
          </a:ln>
        </p:spPr>
      </p:sp>
      <p:sp>
        <p:nvSpPr>
          <p:cNvPr id="11" name="Infarto extenso"/>
          <p:cNvSpPr/>
          <p:nvPr/>
        </p:nvSpPr>
        <p:spPr>
          <a:xfrm>
            <a:off x="640080" y="1371600"/>
            <a:ext cx="6035040" cy="36576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0"/>
                </a:moveTo>
                <a:cubicBezTo>
                  <a:pt x="22" y="948"/>
                  <a:pt x="97" y="1064"/>
                  <a:pt x="150" y="940"/>
                </a:cubicBezTo>
                <a:cubicBezTo>
                  <a:pt x="202" y="815"/>
                  <a:pt x="282" y="186"/>
                  <a:pt x="350" y="120"/>
                </a:cubicBezTo>
                <a:cubicBezTo>
                  <a:pt x="417" y="54"/>
                  <a:pt x="502" y="383"/>
                  <a:pt x="600" y="500"/>
                </a:cubicBezTo>
                <a:cubicBezTo>
                  <a:pt x="697" y="617"/>
                  <a:pt x="940" y="840"/>
                  <a:pt x="1000" y="900"/>
                </a:cubicBezTo>
              </a:path>
            </a:pathLst>
          </a:custGeom>
          <a:noFill/>
          <a:ln w="57150" cap="rnd">
            <a:solidFill>
              <a:srgbClr val="7D3C98"/>
            </a:solidFill>
            <a:round/>
          </a:ln>
        </p:spPr>
      </p:sp>
      <p:sp>
        <p:nvSpPr>
          <p:cNvPr id="12" name="Rótulo pequeño"/>
          <p:cNvSpPr/>
          <p:nvPr/>
        </p:nvSpPr>
        <p:spPr>
          <a:xfrm>
            <a:off x="3108960" y="3703320"/>
            <a:ext cx="2181683" cy="272415"/>
          </a:xfrm>
          <a:prstGeom prst="rect">
            <a:avLst/>
          </a:prstGeom>
          <a:solidFill>
            <a:srgbClr val="85C1E9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infarto pequeño: pico bajo</a:t>
            </a:r>
            <a:endParaRPr lang="es-AR" sz="1300" dirty="0">
              <a:latin typeface="Calibri"/>
            </a:endParaRPr>
          </a:p>
        </p:txBody>
      </p:sp>
      <p:sp>
        <p:nvSpPr>
          <p:cNvPr id="13" name="Rótulo extenso"/>
          <p:cNvSpPr/>
          <p:nvPr/>
        </p:nvSpPr>
        <p:spPr>
          <a:xfrm>
            <a:off x="3291840" y="1417320"/>
            <a:ext cx="2425672" cy="272415"/>
          </a:xfrm>
          <a:prstGeom prst="rect">
            <a:avLst/>
          </a:prstGeom>
          <a:solidFill>
            <a:srgbClr val="7D3C98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infarto extenso: pico muy alto</a:t>
            </a:r>
            <a:endParaRPr lang="es-AR" sz="1300" dirty="0">
              <a:latin typeface="Calibri"/>
            </a:endParaRPr>
          </a:p>
        </p:txBody>
      </p:sp>
      <p:sp>
        <p:nvSpPr>
          <p:cNvPr id="14" name="Proporcional"/>
          <p:cNvSpPr/>
          <p:nvPr/>
        </p:nvSpPr>
        <p:spPr>
          <a:xfrm>
            <a:off x="7040880" y="1097280"/>
            <a:ext cx="4892040" cy="21945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valores pico son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proporcionales a la extensión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daño: los biomarcadores también sirven para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estimar el tamaño del infarto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sp>
        <p:nvSpPr>
          <p:cNvPr id="15" name="Comparación trauma"/>
          <p:cNvSpPr/>
          <p:nvPr/>
        </p:nvSpPr>
        <p:spPr>
          <a:xfrm>
            <a:off x="7040880" y="3520440"/>
            <a:ext cx="4892040" cy="2926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Comparación clínica: no es lo mismo un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golpe leve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(CPK moderadamente elevada) que una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caída de altura o un accidente vial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(CPK y mioglobina masivamente elevadas por rabdomiólisis).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 MAGNITUD DEL DAÑO SE REFLEJA EN EL PICO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1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6" name="!!Línea de tiempo"/>
          <p:cNvGrpSpPr/>
          <p:nvPr/>
        </p:nvGrpSpPr>
        <p:grpSpPr>
          <a:xfrm>
            <a:off x="457200" y="1828800"/>
            <a:ext cx="11338560" cy="9144"/>
            <a:chOff x="457200" y="1828800"/>
            <a:chExt cx="11338560" cy="9144"/>
          </a:xfrm>
        </p:grpSpPr>
        <p:sp>
          <p:nvSpPr>
            <p:cNvPr id="7" name="Flecha 6_2"/>
            <p:cNvSpPr/>
            <p:nvPr/>
          </p:nvSpPr>
          <p:spPr>
            <a:xfrm>
              <a:off x="457200" y="1828800"/>
              <a:ext cx="11338560" cy="9144"/>
            </a:xfrm>
            <a:custGeom>
              <a:avLst/>
              <a:gdLst/>
              <a:ahLst/>
              <a:cxnLst/>
              <a:rect l="0" t="0" r="r" b="b"/>
              <a:pathLst>
                <a:path w="12400" h="10" fill="none">
                  <a:moveTo>
                    <a:pt x="0" y="0"/>
                  </a:moveTo>
                  <a:lnTo>
                    <a:pt x="12400" y="0"/>
                  </a:lnTo>
                </a:path>
              </a:pathLst>
            </a:custGeom>
            <a:noFill/>
            <a:ln w="50800" cap="rnd">
              <a:solidFill>
                <a:srgbClr val="1F3864"/>
              </a:solidFill>
              <a:round/>
              <a:tailEnd type="triangle" w="med" len="med"/>
            </a:ln>
          </p:spPr>
        </p:sp>
      </p:grpSp>
      <p:grpSp>
        <p:nvGrpSpPr>
          <p:cNvPr id="8" name="Ventana 0–4 h"/>
          <p:cNvGrpSpPr/>
          <p:nvPr/>
        </p:nvGrpSpPr>
        <p:grpSpPr>
          <a:xfrm>
            <a:off x="411480" y="960120"/>
            <a:ext cx="2148840" cy="4069080"/>
            <a:chOff x="411480" y="960120"/>
            <a:chExt cx="2148840" cy="4069080"/>
          </a:xfrm>
        </p:grpSpPr>
        <p:sp>
          <p:nvSpPr>
            <p:cNvPr id="9" name="Forma 9"/>
            <p:cNvSpPr/>
            <p:nvPr/>
          </p:nvSpPr>
          <p:spPr>
            <a:xfrm>
              <a:off x="1280160" y="1645920"/>
              <a:ext cx="365760" cy="365760"/>
            </a:xfrm>
            <a:prstGeom prst="ellipse">
              <a:avLst/>
            </a:prstGeom>
            <a:solidFill>
              <a:srgbClr val="C0392B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0" name="Rótulo 0–4 h"/>
            <p:cNvSpPr/>
            <p:nvPr/>
          </p:nvSpPr>
          <p:spPr>
            <a:xfrm>
              <a:off x="640080" y="960120"/>
              <a:ext cx="1645920" cy="314325"/>
            </a:xfrm>
            <a:prstGeom prst="rect">
              <a:avLst/>
            </a:prstGeom>
            <a:solidFill>
              <a:srgbClr val="C0392B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0–4 h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1" name="Forma 11"/>
            <p:cNvSpPr/>
            <p:nvPr/>
          </p:nvSpPr>
          <p:spPr>
            <a:xfrm>
              <a:off x="411480" y="2286000"/>
              <a:ext cx="2148840" cy="2743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Mioglobina (primer marcador). ECG y síntomas son lo más relevante.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2" name="Ventana 3–6 h"/>
          <p:cNvGrpSpPr/>
          <p:nvPr/>
        </p:nvGrpSpPr>
        <p:grpSpPr>
          <a:xfrm>
            <a:off x="2697480" y="960120"/>
            <a:ext cx="2148840" cy="4069080"/>
            <a:chOff x="2697480" y="960120"/>
            <a:chExt cx="2148840" cy="4069080"/>
          </a:xfrm>
        </p:grpSpPr>
        <p:sp>
          <p:nvSpPr>
            <p:cNvPr id="13" name="Forma 13"/>
            <p:cNvSpPr/>
            <p:nvPr/>
          </p:nvSpPr>
          <p:spPr>
            <a:xfrm>
              <a:off x="3566160" y="1645920"/>
              <a:ext cx="365760" cy="365760"/>
            </a:xfrm>
            <a:prstGeom prst="ellipse">
              <a:avLst/>
            </a:prstGeom>
            <a:solidFill>
              <a:srgbClr val="7D3C98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4" name="Rótulo 3–6 h"/>
            <p:cNvSpPr/>
            <p:nvPr/>
          </p:nvSpPr>
          <p:spPr>
            <a:xfrm>
              <a:off x="2926080" y="960120"/>
              <a:ext cx="1645920" cy="314325"/>
            </a:xfrm>
            <a:prstGeom prst="rect">
              <a:avLst/>
            </a:prstGeom>
            <a:solidFill>
              <a:srgbClr val="7D3C9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3–6 h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5" name="Forma 15"/>
            <p:cNvSpPr/>
            <p:nvPr/>
          </p:nvSpPr>
          <p:spPr>
            <a:xfrm>
              <a:off x="2697480" y="2286000"/>
              <a:ext cx="2148840" cy="2743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Troponinas, CPK y CK-MB empiezan: solicitar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todo junto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al ingreso.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6" name="Ventana 12–24 h"/>
          <p:cNvGrpSpPr/>
          <p:nvPr/>
        </p:nvGrpSpPr>
        <p:grpSpPr>
          <a:xfrm>
            <a:off x="4983480" y="960120"/>
            <a:ext cx="2148840" cy="4069080"/>
            <a:chOff x="4983480" y="960120"/>
            <a:chExt cx="2148840" cy="4069080"/>
          </a:xfrm>
        </p:grpSpPr>
        <p:sp>
          <p:nvSpPr>
            <p:cNvPr id="17" name="Forma 17"/>
            <p:cNvSpPr/>
            <p:nvPr/>
          </p:nvSpPr>
          <p:spPr>
            <a:xfrm>
              <a:off x="5852160" y="1645920"/>
              <a:ext cx="365760" cy="365760"/>
            </a:xfrm>
            <a:prstGeom prst="ellipse">
              <a:avLst/>
            </a:prstGeom>
            <a:solidFill>
              <a:srgbClr val="F39C12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8" name="Rótulo 12–24 h"/>
            <p:cNvSpPr/>
            <p:nvPr/>
          </p:nvSpPr>
          <p:spPr>
            <a:xfrm>
              <a:off x="5212080" y="960120"/>
              <a:ext cx="1645920" cy="314325"/>
            </a:xfrm>
            <a:prstGeom prst="rect">
              <a:avLst/>
            </a:prstGeom>
            <a:solidFill>
              <a:srgbClr val="F39C12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12–24 h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9" name="Forma 19"/>
            <p:cNvSpPr/>
            <p:nvPr/>
          </p:nvSpPr>
          <p:spPr>
            <a:xfrm>
              <a:off x="4983480" y="2286000"/>
              <a:ext cx="2148840" cy="2743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Pico de troponinas, CPK y CK-MB: momento ideal para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confirmar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si los primeros fueron dudosos.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0" name="Ventana 48–72 h"/>
          <p:cNvGrpSpPr/>
          <p:nvPr/>
        </p:nvGrpSpPr>
        <p:grpSpPr>
          <a:xfrm>
            <a:off x="7269480" y="960120"/>
            <a:ext cx="2148840" cy="4069080"/>
            <a:chOff x="7269480" y="960120"/>
            <a:chExt cx="2148840" cy="4069080"/>
          </a:xfrm>
        </p:grpSpPr>
        <p:sp>
          <p:nvSpPr>
            <p:cNvPr id="21" name="Forma 21"/>
            <p:cNvSpPr/>
            <p:nvPr/>
          </p:nvSpPr>
          <p:spPr>
            <a:xfrm>
              <a:off x="8138160" y="1645920"/>
              <a:ext cx="365760" cy="365760"/>
            </a:xfrm>
            <a:prstGeom prst="ellipse">
              <a:avLst/>
            </a:prstGeom>
            <a:solidFill>
              <a:srgbClr val="1E8449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2" name="Rótulo 48–72 h"/>
            <p:cNvSpPr/>
            <p:nvPr/>
          </p:nvSpPr>
          <p:spPr>
            <a:xfrm>
              <a:off x="7498080" y="960120"/>
              <a:ext cx="1645920" cy="314325"/>
            </a:xfrm>
            <a:prstGeom prst="rect">
              <a:avLst/>
            </a:prstGeom>
            <a:solidFill>
              <a:srgbClr val="1E8449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48–72 h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3" name="Forma 23"/>
            <p:cNvSpPr/>
            <p:nvPr/>
          </p:nvSpPr>
          <p:spPr>
            <a:xfrm>
              <a:off x="7269480" y="2286000"/>
              <a:ext cx="2148840" cy="2743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 y CK-MB deberían normalizarse; si no → sospechar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reinfarto o extensión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4" name="Ventana 7–10 días"/>
          <p:cNvGrpSpPr/>
          <p:nvPr/>
        </p:nvGrpSpPr>
        <p:grpSpPr>
          <a:xfrm>
            <a:off x="9555480" y="960120"/>
            <a:ext cx="2148840" cy="4069080"/>
            <a:chOff x="9555480" y="960120"/>
            <a:chExt cx="2148840" cy="4069080"/>
          </a:xfrm>
        </p:grpSpPr>
        <p:sp>
          <p:nvSpPr>
            <p:cNvPr id="25" name="Forma 25"/>
            <p:cNvSpPr/>
            <p:nvPr/>
          </p:nvSpPr>
          <p:spPr>
            <a:xfrm>
              <a:off x="10424160" y="1645920"/>
              <a:ext cx="365760" cy="365760"/>
            </a:xfrm>
            <a:prstGeom prst="ellipse">
              <a:avLst/>
            </a:prstGeom>
            <a:solidFill>
              <a:srgbClr val="2E86C1"/>
            </a:soli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6" name="Rótulo 7–10 días"/>
            <p:cNvSpPr/>
            <p:nvPr/>
          </p:nvSpPr>
          <p:spPr>
            <a:xfrm>
              <a:off x="9784080" y="960120"/>
              <a:ext cx="1645920" cy="314325"/>
            </a:xfrm>
            <a:prstGeom prst="rect">
              <a:avLst/>
            </a:prstGeom>
            <a:solidFill>
              <a:srgbClr val="2E86C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7–10 días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7" name="Forma 27"/>
            <p:cNvSpPr/>
            <p:nvPr/>
          </p:nvSpPr>
          <p:spPr>
            <a:xfrm>
              <a:off x="9555480" y="2286000"/>
              <a:ext cx="2148840" cy="27432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Troponinas aún elevadas (esperable): no interpretar como nuevo evento salvo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escalada súbita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28" name="Síntesis ventana"/>
          <p:cNvSpPr/>
          <p:nvPr/>
        </p:nvSpPr>
        <p:spPr>
          <a:xfrm>
            <a:off x="411480" y="5257800"/>
            <a:ext cx="11338560" cy="11887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Cada marcador responde a una pregunta distinta según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cuánto tiempo pasó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desde el inicio del dolor.</a:t>
            </a:r>
            <a:endParaRPr lang="es-AR" sz="20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VENTANA DIAGNÓSTICA: QUÉ PEDIR SEGÚN EL TIEMPO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Ejes reinfarto"/>
          <p:cNvGrpSpPr/>
          <p:nvPr/>
        </p:nvGrpSpPr>
        <p:grpSpPr>
          <a:xfrm>
            <a:off x="594360" y="914400"/>
            <a:ext cx="7360920" cy="3575304"/>
            <a:chOff x="594360" y="914400"/>
            <a:chExt cx="7360920" cy="3575304"/>
          </a:xfrm>
        </p:grpSpPr>
        <p:sp>
          <p:nvSpPr>
            <p:cNvPr id="6" name="Flecha 5_2"/>
            <p:cNvSpPr/>
            <p:nvPr/>
          </p:nvSpPr>
          <p:spPr>
            <a:xfrm>
              <a:off x="640080" y="1280160"/>
              <a:ext cx="9144" cy="2834640"/>
            </a:xfrm>
            <a:custGeom>
              <a:avLst/>
              <a:gdLst/>
              <a:ahLst/>
              <a:cxnLst/>
              <a:rect l="0" t="0" r="r" b="b"/>
              <a:pathLst>
                <a:path w="10" h="3100" fill="none">
                  <a:moveTo>
                    <a:pt x="0" y="310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640080" y="4114800"/>
              <a:ext cx="7315200" cy="9144"/>
            </a:xfrm>
            <a:custGeom>
              <a:avLst/>
              <a:gdLst/>
              <a:ahLst/>
              <a:cxnLst/>
              <a:rect l="0" t="0" r="r" b="b"/>
              <a:pathLst>
                <a:path w="7999" h="10" fill="none">
                  <a:moveTo>
                    <a:pt x="0" y="0"/>
                  </a:moveTo>
                  <a:lnTo>
                    <a:pt x="7999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9"/>
            <p:cNvSpPr txBox="1"/>
            <p:nvPr/>
          </p:nvSpPr>
          <p:spPr>
            <a:xfrm>
              <a:off x="5120640" y="4169664"/>
              <a:ext cx="28346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días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9" name="Forma 10"/>
            <p:cNvSpPr txBox="1"/>
            <p:nvPr/>
          </p:nvSpPr>
          <p:spPr>
            <a:xfrm>
              <a:off x="594360" y="914400"/>
              <a:ext cx="3657600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concentración (esquema)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0" name="Troponina residual"/>
          <p:cNvSpPr/>
          <p:nvPr/>
        </p:nvSpPr>
        <p:spPr>
          <a:xfrm>
            <a:off x="640080" y="1371600"/>
            <a:ext cx="7223760" cy="27432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0"/>
                </a:moveTo>
                <a:cubicBezTo>
                  <a:pt x="12" y="942"/>
                  <a:pt x="53" y="1020"/>
                  <a:pt x="80" y="900"/>
                </a:cubicBezTo>
                <a:cubicBezTo>
                  <a:pt x="107" y="780"/>
                  <a:pt x="117" y="217"/>
                  <a:pt x="180" y="150"/>
                </a:cubicBezTo>
                <a:cubicBezTo>
                  <a:pt x="243" y="82"/>
                  <a:pt x="407" y="360"/>
                  <a:pt x="500" y="450"/>
                </a:cubicBezTo>
                <a:cubicBezTo>
                  <a:pt x="593" y="540"/>
                  <a:pt x="725" y="682"/>
                  <a:pt x="800" y="750"/>
                </a:cubicBezTo>
                <a:cubicBezTo>
                  <a:pt x="875" y="817"/>
                  <a:pt x="970" y="877"/>
                  <a:pt x="1000" y="900"/>
                </a:cubicBezTo>
              </a:path>
            </a:pathLst>
          </a:custGeom>
          <a:noFill/>
          <a:ln w="57150" cap="rnd">
            <a:solidFill>
              <a:srgbClr val="7D3C98"/>
            </a:solidFill>
            <a:round/>
          </a:ln>
        </p:spPr>
      </p:sp>
      <p:sp>
        <p:nvSpPr>
          <p:cNvPr id="11" name="CK-MB con nuevo pico"/>
          <p:cNvSpPr/>
          <p:nvPr/>
        </p:nvSpPr>
        <p:spPr>
          <a:xfrm>
            <a:off x="640080" y="1371600"/>
            <a:ext cx="7223760" cy="27432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50"/>
                </a:moveTo>
                <a:cubicBezTo>
                  <a:pt x="12" y="945"/>
                  <a:pt x="57" y="1010"/>
                  <a:pt x="80" y="920"/>
                </a:cubicBezTo>
                <a:cubicBezTo>
                  <a:pt x="102" y="830"/>
                  <a:pt x="117" y="347"/>
                  <a:pt x="150" y="350"/>
                </a:cubicBezTo>
                <a:cubicBezTo>
                  <a:pt x="183" y="353"/>
                  <a:pt x="240" y="850"/>
                  <a:pt x="300" y="940"/>
                </a:cubicBezTo>
                <a:cubicBezTo>
                  <a:pt x="360" y="1029"/>
                  <a:pt x="502" y="1018"/>
                  <a:pt x="550" y="945"/>
                </a:cubicBezTo>
                <a:cubicBezTo>
                  <a:pt x="598" y="871"/>
                  <a:pt x="590" y="450"/>
                  <a:pt x="620" y="450"/>
                </a:cubicBezTo>
                <a:cubicBezTo>
                  <a:pt x="650" y="449"/>
                  <a:pt x="693" y="865"/>
                  <a:pt x="750" y="940"/>
                </a:cubicBezTo>
                <a:cubicBezTo>
                  <a:pt x="807" y="1015"/>
                  <a:pt x="962" y="948"/>
                  <a:pt x="1000" y="950"/>
                </a:cubicBezTo>
              </a:path>
            </a:pathLst>
          </a:custGeom>
          <a:noFill/>
          <a:ln w="57150" cap="rnd">
            <a:solidFill>
              <a:srgbClr val="F39C12"/>
            </a:solidFill>
            <a:round/>
          </a:ln>
        </p:spPr>
      </p:sp>
      <p:sp>
        <p:nvSpPr>
          <p:cNvPr id="12" name="Rótulo Tn residual"/>
          <p:cNvSpPr/>
          <p:nvPr/>
        </p:nvSpPr>
        <p:spPr>
          <a:xfrm>
            <a:off x="3657600" y="1828800"/>
            <a:ext cx="1881042" cy="261937"/>
          </a:xfrm>
          <a:prstGeom prst="rect">
            <a:avLst/>
          </a:prstGeom>
          <a:solidFill>
            <a:srgbClr val="7D3C98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troponina: aún elevada</a:t>
            </a:r>
            <a:endParaRPr lang="es-AR" sz="1250" dirty="0">
              <a:latin typeface="Calibri"/>
            </a:endParaRPr>
          </a:p>
        </p:txBody>
      </p:sp>
      <p:sp>
        <p:nvSpPr>
          <p:cNvPr id="13" name="Rótulo nuevo pico"/>
          <p:cNvSpPr/>
          <p:nvPr/>
        </p:nvSpPr>
        <p:spPr>
          <a:xfrm>
            <a:off x="4846320" y="2926080"/>
            <a:ext cx="1838870" cy="261937"/>
          </a:xfrm>
          <a:prstGeom prst="rect">
            <a:avLst/>
          </a:prstGeom>
          <a:solidFill>
            <a:srgbClr val="F39C12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CK-MB: nuevo ascenso</a:t>
            </a:r>
            <a:endParaRPr lang="es-AR" sz="1250" dirty="0">
              <a:latin typeface="Calibri"/>
            </a:endParaRPr>
          </a:p>
        </p:txBody>
      </p:sp>
      <p:grpSp>
        <p:nvGrpSpPr>
          <p:cNvPr id="14" name="Tabla reinfarto fila 0"/>
          <p:cNvGrpSpPr/>
          <p:nvPr/>
        </p:nvGrpSpPr>
        <p:grpSpPr>
          <a:xfrm>
            <a:off x="365760" y="4434840"/>
            <a:ext cx="7772400" cy="329184"/>
            <a:chOff x="365760" y="4434840"/>
            <a:chExt cx="7772400" cy="329184"/>
          </a:xfrm>
        </p:grpSpPr>
        <p:sp>
          <p:nvSpPr>
            <p:cNvPr id="15" name="Forma 16"/>
            <p:cNvSpPr/>
            <p:nvPr/>
          </p:nvSpPr>
          <p:spPr>
            <a:xfrm>
              <a:off x="365760" y="4434840"/>
              <a:ext cx="2377440" cy="329184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6" name="Forma 17"/>
            <p:cNvSpPr/>
            <p:nvPr/>
          </p:nvSpPr>
          <p:spPr>
            <a:xfrm>
              <a:off x="2743200" y="4434840"/>
              <a:ext cx="5394960" cy="329184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¿Sirve para reinfarto? (material)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17" name="Tabla reinfarto fila 1"/>
          <p:cNvGrpSpPr/>
          <p:nvPr/>
        </p:nvGrpSpPr>
        <p:grpSpPr>
          <a:xfrm>
            <a:off x="365760" y="4764024"/>
            <a:ext cx="7772400" cy="329184"/>
            <a:chOff x="365760" y="4764024"/>
            <a:chExt cx="7772400" cy="329184"/>
          </a:xfrm>
        </p:grpSpPr>
        <p:sp>
          <p:nvSpPr>
            <p:cNvPr id="18" name="Forma 19"/>
            <p:cNvSpPr/>
            <p:nvPr/>
          </p:nvSpPr>
          <p:spPr>
            <a:xfrm>
              <a:off x="365760" y="4764024"/>
              <a:ext cx="2377440" cy="329184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 I/T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9" name="Forma 20"/>
            <p:cNvSpPr/>
            <p:nvPr/>
          </p:nvSpPr>
          <p:spPr>
            <a:xfrm>
              <a:off x="2743200" y="4764024"/>
              <a:ext cx="5394960" cy="329184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No: sigue elevada 7–10 días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0" name="Tabla reinfarto fila 2"/>
          <p:cNvGrpSpPr/>
          <p:nvPr/>
        </p:nvGrpSpPr>
        <p:grpSpPr>
          <a:xfrm>
            <a:off x="365760" y="5093208"/>
            <a:ext cx="7772400" cy="329184"/>
            <a:chOff x="365760" y="5093208"/>
            <a:chExt cx="7772400" cy="329184"/>
          </a:xfrm>
        </p:grpSpPr>
        <p:sp>
          <p:nvSpPr>
            <p:cNvPr id="21" name="Forma 22"/>
            <p:cNvSpPr/>
            <p:nvPr/>
          </p:nvSpPr>
          <p:spPr>
            <a:xfrm>
              <a:off x="365760" y="5093208"/>
              <a:ext cx="2377440" cy="329184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 total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2" name="Forma 23"/>
            <p:cNvSpPr/>
            <p:nvPr/>
          </p:nvSpPr>
          <p:spPr>
            <a:xfrm>
              <a:off x="2743200" y="5093208"/>
              <a:ext cx="5394960" cy="329184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Sí: normaliza en 48–72 h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3" name="Tabla reinfarto fila 3"/>
          <p:cNvGrpSpPr/>
          <p:nvPr/>
        </p:nvGrpSpPr>
        <p:grpSpPr>
          <a:xfrm>
            <a:off x="365760" y="5422392"/>
            <a:ext cx="7772400" cy="329184"/>
            <a:chOff x="365760" y="5422392"/>
            <a:chExt cx="7772400" cy="329184"/>
          </a:xfrm>
        </p:grpSpPr>
        <p:sp>
          <p:nvSpPr>
            <p:cNvPr id="24" name="Forma 25"/>
            <p:cNvSpPr/>
            <p:nvPr/>
          </p:nvSpPr>
          <p:spPr>
            <a:xfrm>
              <a:off x="365760" y="5422392"/>
              <a:ext cx="2377440" cy="329184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CPK-MB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5" name="Forma 26"/>
            <p:cNvSpPr/>
            <p:nvPr/>
          </p:nvSpPr>
          <p:spPr>
            <a:xfrm>
              <a:off x="2743200" y="5422392"/>
              <a:ext cx="5394960" cy="329184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Sí: preferida, más específica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6" name="Tabla reinfarto fila 4"/>
          <p:cNvGrpSpPr/>
          <p:nvPr/>
        </p:nvGrpSpPr>
        <p:grpSpPr>
          <a:xfrm>
            <a:off x="365760" y="5751576"/>
            <a:ext cx="7772400" cy="329184"/>
            <a:chOff x="365760" y="5751576"/>
            <a:chExt cx="7772400" cy="329184"/>
          </a:xfrm>
        </p:grpSpPr>
        <p:sp>
          <p:nvSpPr>
            <p:cNvPr id="27" name="Forma 28"/>
            <p:cNvSpPr/>
            <p:nvPr/>
          </p:nvSpPr>
          <p:spPr>
            <a:xfrm>
              <a:off x="365760" y="5751576"/>
              <a:ext cx="2377440" cy="329184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Mioglobina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8" name="Forma 29"/>
            <p:cNvSpPr/>
            <p:nvPr/>
          </p:nvSpPr>
          <p:spPr>
            <a:xfrm>
              <a:off x="2743200" y="5751576"/>
              <a:ext cx="5394960" cy="329184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Solo en las primeras 24 h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9" name="Tabla reinfarto fila 5"/>
          <p:cNvGrpSpPr/>
          <p:nvPr/>
        </p:nvGrpSpPr>
        <p:grpSpPr>
          <a:xfrm>
            <a:off x="365760" y="6080760"/>
            <a:ext cx="7772400" cy="329184"/>
            <a:chOff x="365760" y="6080760"/>
            <a:chExt cx="7772400" cy="329184"/>
          </a:xfrm>
        </p:grpSpPr>
        <p:sp>
          <p:nvSpPr>
            <p:cNvPr id="30" name="Forma 31"/>
            <p:cNvSpPr/>
            <p:nvPr/>
          </p:nvSpPr>
          <p:spPr>
            <a:xfrm>
              <a:off x="365760" y="6080760"/>
              <a:ext cx="2377440" cy="329184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1" name="Forma 32"/>
            <p:cNvSpPr/>
            <p:nvPr/>
          </p:nvSpPr>
          <p:spPr>
            <a:xfrm>
              <a:off x="2743200" y="6080760"/>
              <a:ext cx="5394960" cy="329184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No: tardía e inespecífica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32" name="Rigor reinfarto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33" name="Forma 34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troponinas de alta sensibilidad, la definición universal vigente diagnostica el reinfarto por un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nuevo ascenso de troponina &gt; 20 %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respecto del valor previo (con clínica compatible). La CK-MB es una alternativa histórica o cuando no hay troponina disponible.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34" name="Forma 35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REINFARTO: ¿CÓMO DETECTAR UN NUEVO EVENTO?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1" grpId="0" animBg="1"/>
      <p:bldP spid="13" grpId="0" animBg="1"/>
    </p:bldLst>
  </p:timing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Tabla tratamiento fila 0"/>
          <p:cNvGrpSpPr/>
          <p:nvPr/>
        </p:nvGrpSpPr>
        <p:grpSpPr>
          <a:xfrm>
            <a:off x="365760" y="1143000"/>
            <a:ext cx="11567160" cy="822960"/>
            <a:chOff x="365760" y="1143000"/>
            <a:chExt cx="11567160" cy="822960"/>
          </a:xfrm>
        </p:grpSpPr>
        <p:sp>
          <p:nvSpPr>
            <p:cNvPr id="6" name="Forma 5"/>
            <p:cNvSpPr/>
            <p:nvPr/>
          </p:nvSpPr>
          <p:spPr>
            <a:xfrm>
              <a:off x="365760" y="1143000"/>
              <a:ext cx="256032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Fármaco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926080" y="1143000"/>
              <a:ext cx="9006840" cy="82296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Indicación y acción (según el material)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8" name="Tabla tratamiento fila 1"/>
          <p:cNvGrpSpPr/>
          <p:nvPr/>
        </p:nvGrpSpPr>
        <p:grpSpPr>
          <a:xfrm>
            <a:off x="365760" y="1965960"/>
            <a:ext cx="11567160" cy="822960"/>
            <a:chOff x="365760" y="1965960"/>
            <a:chExt cx="11567160" cy="822960"/>
          </a:xfrm>
        </p:grpSpPr>
        <p:sp>
          <p:nvSpPr>
            <p:cNvPr id="9" name="Forma 8"/>
            <p:cNvSpPr/>
            <p:nvPr/>
          </p:nvSpPr>
          <p:spPr>
            <a:xfrm>
              <a:off x="365760" y="1965960"/>
              <a:ext cx="256032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Nitratos endovenosos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2926080" y="1965960"/>
              <a:ext cx="900684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Vasodilatación coronaria → alivio del dolor anginoso. Contraindicados con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sildenafil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(inhibidor de PDE5): hipotensión severa.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1" name="Tabla tratamiento fila 2"/>
          <p:cNvGrpSpPr/>
          <p:nvPr/>
        </p:nvGrpSpPr>
        <p:grpSpPr>
          <a:xfrm>
            <a:off x="365760" y="2788920"/>
            <a:ext cx="11567160" cy="822960"/>
            <a:chOff x="365760" y="2788920"/>
            <a:chExt cx="11567160" cy="822960"/>
          </a:xfrm>
        </p:grpSpPr>
        <p:sp>
          <p:nvSpPr>
            <p:cNvPr id="12" name="Forma 11"/>
            <p:cNvSpPr/>
            <p:nvPr/>
          </p:nvSpPr>
          <p:spPr>
            <a:xfrm>
              <a:off x="365760" y="2788920"/>
              <a:ext cx="2560320" cy="82296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Aspirina 100 mg/día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2926080" y="2788920"/>
              <a:ext cx="9006840" cy="82296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Antiagregante: inhibe la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COX-1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bloquea la síntesis de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tromboxano A</a:t>
              </a:r>
              <a:r>
                <a:rPr lang="es-AR" sz="15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4" name="Tabla tratamiento fila 3"/>
          <p:cNvGrpSpPr/>
          <p:nvPr/>
        </p:nvGrpSpPr>
        <p:grpSpPr>
          <a:xfrm>
            <a:off x="365760" y="3611880"/>
            <a:ext cx="11567160" cy="822960"/>
            <a:chOff x="365760" y="3611880"/>
            <a:chExt cx="11567160" cy="822960"/>
          </a:xfrm>
        </p:grpSpPr>
        <p:sp>
          <p:nvSpPr>
            <p:cNvPr id="15" name="Forma 14"/>
            <p:cNvSpPr/>
            <p:nvPr/>
          </p:nvSpPr>
          <p:spPr>
            <a:xfrm>
              <a:off x="365760" y="3611880"/>
              <a:ext cx="256032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Clopidogrel 75 mg/día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2926080" y="3611880"/>
              <a:ext cx="9006840" cy="82296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Antiagregante: inhibe el receptor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P2Y12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ADP; con aspirina =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doble antiagregación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7" name="Plaquetas tratamiento"/>
          <p:cNvGrpSpPr/>
          <p:nvPr/>
        </p:nvGrpSpPr>
        <p:grpSpPr>
          <a:xfrm>
            <a:off x="548640" y="4983480"/>
            <a:ext cx="3931920" cy="640080"/>
            <a:chOff x="548640" y="4983480"/>
            <a:chExt cx="3931920" cy="640080"/>
          </a:xfrm>
        </p:grpSpPr>
        <p:sp>
          <p:nvSpPr>
            <p:cNvPr id="18" name="pl0"/>
            <p:cNvSpPr/>
            <p:nvPr/>
          </p:nvSpPr>
          <p:spPr>
            <a:xfrm>
              <a:off x="548640" y="4983480"/>
              <a:ext cx="640080" cy="6400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513" y="0"/>
                    <a:pt x="566" y="330"/>
                    <a:pt x="600" y="350"/>
                  </a:cubicBezTo>
                  <a:cubicBezTo>
                    <a:pt x="633" y="370"/>
                    <a:pt x="994" y="286"/>
                    <a:pt x="1000" y="300"/>
                  </a:cubicBezTo>
                  <a:cubicBezTo>
                    <a:pt x="1005" y="314"/>
                    <a:pt x="686" y="513"/>
                    <a:pt x="680" y="560"/>
                  </a:cubicBezTo>
                  <a:cubicBezTo>
                    <a:pt x="673" y="606"/>
                    <a:pt x="912" y="990"/>
                    <a:pt x="900" y="1000"/>
                  </a:cubicBezTo>
                  <a:cubicBezTo>
                    <a:pt x="888" y="1009"/>
                    <a:pt x="553" y="700"/>
                    <a:pt x="500" y="700"/>
                  </a:cubicBezTo>
                  <a:cubicBezTo>
                    <a:pt x="446" y="700"/>
                    <a:pt x="112" y="1009"/>
                    <a:pt x="100" y="1000"/>
                  </a:cubicBezTo>
                  <a:cubicBezTo>
                    <a:pt x="88" y="990"/>
                    <a:pt x="326" y="606"/>
                    <a:pt x="320" y="560"/>
                  </a:cubicBezTo>
                  <a:cubicBezTo>
                    <a:pt x="313" y="513"/>
                    <a:pt x="-5" y="314"/>
                    <a:pt x="0" y="300"/>
                  </a:cubicBezTo>
                  <a:cubicBezTo>
                    <a:pt x="5" y="286"/>
                    <a:pt x="366" y="370"/>
                    <a:pt x="400" y="350"/>
                  </a:cubicBezTo>
                  <a:cubicBezTo>
                    <a:pt x="433" y="330"/>
                    <a:pt x="486" y="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C7CA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19" name="pl1"/>
            <p:cNvSpPr/>
            <p:nvPr/>
          </p:nvSpPr>
          <p:spPr>
            <a:xfrm>
              <a:off x="1371600" y="4983480"/>
              <a:ext cx="640080" cy="396850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0" name="pl2"/>
            <p:cNvSpPr/>
            <p:nvPr/>
          </p:nvSpPr>
          <p:spPr>
            <a:xfrm>
              <a:off x="2194560" y="4983480"/>
              <a:ext cx="640080" cy="6400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513" y="0"/>
                    <a:pt x="566" y="330"/>
                    <a:pt x="600" y="350"/>
                  </a:cubicBezTo>
                  <a:cubicBezTo>
                    <a:pt x="633" y="370"/>
                    <a:pt x="994" y="286"/>
                    <a:pt x="1000" y="300"/>
                  </a:cubicBezTo>
                  <a:cubicBezTo>
                    <a:pt x="1005" y="314"/>
                    <a:pt x="686" y="513"/>
                    <a:pt x="680" y="560"/>
                  </a:cubicBezTo>
                  <a:cubicBezTo>
                    <a:pt x="673" y="606"/>
                    <a:pt x="912" y="990"/>
                    <a:pt x="900" y="1000"/>
                  </a:cubicBezTo>
                  <a:cubicBezTo>
                    <a:pt x="888" y="1009"/>
                    <a:pt x="553" y="700"/>
                    <a:pt x="500" y="700"/>
                  </a:cubicBezTo>
                  <a:cubicBezTo>
                    <a:pt x="446" y="700"/>
                    <a:pt x="112" y="1009"/>
                    <a:pt x="100" y="1000"/>
                  </a:cubicBezTo>
                  <a:cubicBezTo>
                    <a:pt x="88" y="990"/>
                    <a:pt x="326" y="606"/>
                    <a:pt x="320" y="560"/>
                  </a:cubicBezTo>
                  <a:cubicBezTo>
                    <a:pt x="313" y="513"/>
                    <a:pt x="-5" y="314"/>
                    <a:pt x="0" y="300"/>
                  </a:cubicBezTo>
                  <a:cubicBezTo>
                    <a:pt x="5" y="286"/>
                    <a:pt x="366" y="370"/>
                    <a:pt x="400" y="350"/>
                  </a:cubicBezTo>
                  <a:cubicBezTo>
                    <a:pt x="433" y="330"/>
                    <a:pt x="486" y="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C7CA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1" name="pl3"/>
            <p:cNvSpPr/>
            <p:nvPr/>
          </p:nvSpPr>
          <p:spPr>
            <a:xfrm>
              <a:off x="3017520" y="4983480"/>
              <a:ext cx="640080" cy="396850"/>
            </a:xfrm>
            <a:prstGeom prst="ellipse">
              <a:avLst/>
            </a:prstGeom>
            <a:gradFill rotWithShape="1">
              <a:gsLst>
                <a:gs pos="0">
                  <a:srgbClr val="E4D2EB"/>
                </a:gs>
                <a:gs pos="55000">
                  <a:srgbClr val="D2B4DE"/>
                </a:gs>
                <a:gs pos="100000">
                  <a:srgbClr val="A890B1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  <p:sp>
          <p:nvSpPr>
            <p:cNvPr id="22" name="pl4"/>
            <p:cNvSpPr/>
            <p:nvPr/>
          </p:nvSpPr>
          <p:spPr>
            <a:xfrm>
              <a:off x="3840480" y="4983480"/>
              <a:ext cx="640080" cy="6400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513" y="0"/>
                    <a:pt x="566" y="330"/>
                    <a:pt x="600" y="350"/>
                  </a:cubicBezTo>
                  <a:cubicBezTo>
                    <a:pt x="633" y="370"/>
                    <a:pt x="994" y="286"/>
                    <a:pt x="1000" y="300"/>
                  </a:cubicBezTo>
                  <a:cubicBezTo>
                    <a:pt x="1005" y="314"/>
                    <a:pt x="686" y="513"/>
                    <a:pt x="680" y="560"/>
                  </a:cubicBezTo>
                  <a:cubicBezTo>
                    <a:pt x="673" y="606"/>
                    <a:pt x="912" y="990"/>
                    <a:pt x="900" y="1000"/>
                  </a:cubicBezTo>
                  <a:cubicBezTo>
                    <a:pt x="888" y="1009"/>
                    <a:pt x="553" y="700"/>
                    <a:pt x="500" y="700"/>
                  </a:cubicBezTo>
                  <a:cubicBezTo>
                    <a:pt x="446" y="700"/>
                    <a:pt x="112" y="1009"/>
                    <a:pt x="100" y="1000"/>
                  </a:cubicBezTo>
                  <a:cubicBezTo>
                    <a:pt x="88" y="990"/>
                    <a:pt x="326" y="606"/>
                    <a:pt x="320" y="560"/>
                  </a:cubicBezTo>
                  <a:cubicBezTo>
                    <a:pt x="313" y="513"/>
                    <a:pt x="-5" y="314"/>
                    <a:pt x="0" y="300"/>
                  </a:cubicBezTo>
                  <a:cubicBezTo>
                    <a:pt x="5" y="286"/>
                    <a:pt x="366" y="370"/>
                    <a:pt x="400" y="350"/>
                  </a:cubicBezTo>
                  <a:cubicBezTo>
                    <a:pt x="433" y="330"/>
                    <a:pt x="486" y="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BC3E4"/>
                </a:gs>
                <a:gs pos="55000">
                  <a:srgbClr val="C39BD3"/>
                </a:gs>
                <a:gs pos="100000">
                  <a:srgbClr val="9C7CA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6C3483"/>
              </a:solidFill>
              <a:round/>
            </a:ln>
          </p:spPr>
        </p:sp>
      </p:grpSp>
      <p:sp>
        <p:nvSpPr>
          <p:cNvPr id="23" name="Nota tratamiento"/>
          <p:cNvSpPr/>
          <p:nvPr/>
        </p:nvSpPr>
        <p:spPr>
          <a:xfrm>
            <a:off x="4846320" y="4617720"/>
            <a:ext cx="7086600" cy="173736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presenta el tratamiento </a:t>
            </a:r>
            <a:r>
              <a:rPr lang="es-AR" sz="18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tal como figura en el caso</a:t>
            </a:r>
            <a:r>
              <a:rPr lang="es-AR" sz="18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para contextualizar el seguimiento; las indicaciones terapéuticas se individualizan.</a:t>
            </a:r>
            <a:endParaRPr lang="es-AR" sz="18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EVOLUCIÓN DEL CASO: TRATAMIENTO DURANTE LA INTERNACIÓN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!!Línea base"/>
          <p:cNvSpPr/>
          <p:nvPr/>
        </p:nvSpPr>
        <p:spPr>
          <a:xfrm>
            <a:off x="365760" y="5120640"/>
            <a:ext cx="7680960" cy="9144"/>
          </a:xfrm>
          <a:custGeom>
            <a:avLst/>
            <a:gdLst/>
            <a:ahLst/>
            <a:cxnLst/>
            <a:rect l="0" t="0" r="r" b="b"/>
            <a:pathLst>
              <a:path w="8400" h="10" fill="none">
                <a:moveTo>
                  <a:pt x="0" y="0"/>
                </a:moveTo>
                <a:lnTo>
                  <a:pt x="8400" y="0"/>
                </a:lnTo>
              </a:path>
            </a:pathLst>
          </a:custGeom>
          <a:noFill/>
          <a:ln w="28575" cap="rnd">
            <a:solidFill>
              <a:srgbClr val="1E1E1E"/>
            </a:solidFill>
            <a:round/>
          </a:ln>
        </p:spPr>
      </p:sp>
      <p:sp>
        <p:nvSpPr>
          <p:cNvPr id="6" name="!!Límite superior de referencia"/>
          <p:cNvSpPr/>
          <p:nvPr/>
        </p:nvSpPr>
        <p:spPr>
          <a:xfrm>
            <a:off x="365760" y="4526280"/>
            <a:ext cx="7680960" cy="9144"/>
          </a:xfrm>
          <a:custGeom>
            <a:avLst/>
            <a:gdLst/>
            <a:ahLst/>
            <a:cxnLst/>
            <a:rect l="0" t="0" r="r" b="b"/>
            <a:pathLst>
              <a:path w="8400" h="10" fill="none">
                <a:moveTo>
                  <a:pt x="0" y="0"/>
                </a:moveTo>
                <a:lnTo>
                  <a:pt x="8400" y="0"/>
                </a:lnTo>
              </a:path>
            </a:pathLst>
          </a:custGeom>
          <a:noFill/>
          <a:ln w="25400" cap="rnd">
            <a:solidFill>
              <a:srgbClr val="4E7A30"/>
            </a:solidFill>
            <a:prstDash val="dash"/>
            <a:round/>
          </a:ln>
        </p:spPr>
      </p:sp>
      <p:sp>
        <p:nvSpPr>
          <p:cNvPr id="7" name="!!Rótulo límite"/>
          <p:cNvSpPr txBox="1"/>
          <p:nvPr/>
        </p:nvSpPr>
        <p:spPr>
          <a:xfrm>
            <a:off x="2926080" y="568756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50" b="1" dirty="0">
                <a:solidFill>
                  <a:srgbClr val="4E7A30"/>
                </a:solidFill>
                <a:latin typeface="Calibri"/>
                <a:ea typeface="Calibri"/>
                <a:cs typeface="Calibri"/>
                <a:sym typeface="Calibri"/>
              </a:rPr>
              <a:t>línea punteada: límite de referencia</a:t>
            </a:r>
            <a:endParaRPr lang="es-AR" sz="1150" dirty="0">
              <a:latin typeface="Calibri"/>
            </a:endParaRPr>
          </a:p>
        </p:txBody>
      </p:sp>
      <p:sp>
        <p:nvSpPr>
          <p:cNvPr id="8" name="!!Barra CPK total"/>
          <p:cNvSpPr/>
          <p:nvPr/>
        </p:nvSpPr>
        <p:spPr>
          <a:xfrm>
            <a:off x="548640" y="1819656"/>
            <a:ext cx="1097280" cy="3300984"/>
          </a:xfrm>
          <a:prstGeom prst="rect">
            <a:avLst/>
          </a:prstGeom>
          <a:gradFill rotWithShape="1">
            <a:gsLst>
              <a:gs pos="0">
                <a:srgbClr val="F7BE64"/>
              </a:gs>
              <a:gs pos="100000">
                <a:srgbClr val="F39C12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9" name="!!Nombre CPK total"/>
          <p:cNvSpPr txBox="1"/>
          <p:nvPr/>
        </p:nvSpPr>
        <p:spPr>
          <a:xfrm>
            <a:off x="41148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CPK total</a:t>
            </a:r>
            <a:endParaRPr lang="es-AR" sz="1300" dirty="0">
              <a:latin typeface="Calibri"/>
            </a:endParaRPr>
          </a:p>
        </p:txBody>
      </p:sp>
      <p:sp>
        <p:nvSpPr>
          <p:cNvPr id="10" name="!!Valor CPK total"/>
          <p:cNvSpPr txBox="1"/>
          <p:nvPr/>
        </p:nvSpPr>
        <p:spPr>
          <a:xfrm>
            <a:off x="365760" y="12527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AA6D0C"/>
                </a:solidFill>
                <a:latin typeface="Calibri"/>
                <a:ea typeface="Calibri"/>
                <a:cs typeface="Calibri"/>
                <a:sym typeface="Calibri"/>
              </a:rPr>
              <a:t>1173 UI/L</a:t>
            </a:r>
            <a:endParaRPr lang="es-AR" sz="1200" dirty="0">
              <a:latin typeface="Calibri"/>
            </a:endParaRPr>
          </a:p>
        </p:txBody>
      </p:sp>
      <p:sp>
        <p:nvSpPr>
          <p:cNvPr id="11" name="!!Barra CPK-MB"/>
          <p:cNvSpPr/>
          <p:nvPr/>
        </p:nvSpPr>
        <p:spPr>
          <a:xfrm>
            <a:off x="2057400" y="2340864"/>
            <a:ext cx="1097280" cy="2779776"/>
          </a:xfrm>
          <a:prstGeom prst="rect">
            <a:avLst/>
          </a:prstGeom>
          <a:gradFill rotWithShape="1">
            <a:gsLst>
              <a:gs pos="0">
                <a:srgbClr val="F8CB83"/>
              </a:gs>
              <a:gs pos="100000">
                <a:srgbClr val="F5B041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2" name="!!Nombre CPK-MB"/>
          <p:cNvSpPr txBox="1"/>
          <p:nvPr/>
        </p:nvSpPr>
        <p:spPr>
          <a:xfrm>
            <a:off x="192024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CPK-MB</a:t>
            </a:r>
            <a:endParaRPr lang="es-AR" sz="1300" dirty="0">
              <a:latin typeface="Calibri"/>
            </a:endParaRPr>
          </a:p>
        </p:txBody>
      </p:sp>
      <p:sp>
        <p:nvSpPr>
          <p:cNvPr id="13" name="!!Valor CPK-MB"/>
          <p:cNvSpPr txBox="1"/>
          <p:nvPr/>
        </p:nvSpPr>
        <p:spPr>
          <a:xfrm>
            <a:off x="1874520" y="177393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AB7B2D"/>
                </a:solidFill>
                <a:latin typeface="Calibri"/>
                <a:ea typeface="Calibri"/>
                <a:cs typeface="Calibri"/>
                <a:sym typeface="Calibri"/>
              </a:rPr>
              <a:t>elevada</a:t>
            </a:r>
            <a:endParaRPr lang="es-AR" sz="1200" dirty="0">
              <a:latin typeface="Calibri"/>
            </a:endParaRPr>
          </a:p>
        </p:txBody>
      </p:sp>
      <p:sp>
        <p:nvSpPr>
          <p:cNvPr id="14" name="!!Barra Troponina I"/>
          <p:cNvSpPr/>
          <p:nvPr/>
        </p:nvSpPr>
        <p:spPr>
          <a:xfrm>
            <a:off x="3566160" y="1715414"/>
            <a:ext cx="1097280" cy="3405226"/>
          </a:xfrm>
          <a:prstGeom prst="rect">
            <a:avLst/>
          </a:prstGeom>
          <a:gradFill rotWithShape="1">
            <a:gsLst>
              <a:gs pos="0">
                <a:srgbClr val="AA80BC"/>
              </a:gs>
              <a:gs pos="100000">
                <a:srgbClr val="7D3C98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5" name="!!Nombre Troponina I"/>
          <p:cNvSpPr txBox="1"/>
          <p:nvPr/>
        </p:nvSpPr>
        <p:spPr>
          <a:xfrm>
            <a:off x="342900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 I</a:t>
            </a:r>
            <a:endParaRPr lang="es-AR" sz="1300" dirty="0">
              <a:latin typeface="Calibri"/>
            </a:endParaRPr>
          </a:p>
        </p:txBody>
      </p:sp>
      <p:sp>
        <p:nvSpPr>
          <p:cNvPr id="16" name="!!Valor Troponina I"/>
          <p:cNvSpPr txBox="1"/>
          <p:nvPr/>
        </p:nvSpPr>
        <p:spPr>
          <a:xfrm>
            <a:off x="3383280" y="114848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572A6A"/>
                </a:solidFill>
                <a:latin typeface="Calibri"/>
                <a:ea typeface="Calibri"/>
                <a:cs typeface="Calibri"/>
                <a:sym typeface="Calibri"/>
              </a:rPr>
              <a:t>muy elevada</a:t>
            </a:r>
            <a:endParaRPr lang="es-AR" sz="1200" dirty="0">
              <a:latin typeface="Calibri"/>
            </a:endParaRPr>
          </a:p>
        </p:txBody>
      </p:sp>
      <p:sp>
        <p:nvSpPr>
          <p:cNvPr id="17" name="!!Barra LDH"/>
          <p:cNvSpPr/>
          <p:nvPr/>
        </p:nvSpPr>
        <p:spPr>
          <a:xfrm>
            <a:off x="5074920" y="3209544"/>
            <a:ext cx="1097280" cy="1911096"/>
          </a:xfrm>
          <a:prstGeom prst="rect">
            <a:avLst/>
          </a:prstGeom>
          <a:gradFill rotWithShape="1">
            <a:gsLst>
              <a:gs pos="0">
                <a:srgbClr val="6CAF88"/>
              </a:gs>
              <a:gs pos="100000">
                <a:srgbClr val="1E8449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8" name="!!Nombre LDH"/>
          <p:cNvSpPr txBox="1"/>
          <p:nvPr/>
        </p:nvSpPr>
        <p:spPr>
          <a:xfrm>
            <a:off x="493776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</a:t>
            </a:r>
            <a:endParaRPr lang="es-AR" sz="1300" dirty="0">
              <a:latin typeface="Calibri"/>
            </a:endParaRPr>
          </a:p>
        </p:txBody>
      </p:sp>
      <p:sp>
        <p:nvSpPr>
          <p:cNvPr id="19" name="!!Valor LDH"/>
          <p:cNvSpPr txBox="1"/>
          <p:nvPr/>
        </p:nvSpPr>
        <p:spPr>
          <a:xfrm>
            <a:off x="4892040" y="264261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55C33"/>
                </a:solidFill>
                <a:latin typeface="Calibri"/>
                <a:ea typeface="Calibri"/>
                <a:cs typeface="Calibri"/>
                <a:sym typeface="Calibri"/>
              </a:rPr>
              <a:t>elevada</a:t>
            </a:r>
            <a:endParaRPr lang="es-AR" sz="1200" dirty="0">
              <a:latin typeface="Calibri"/>
            </a:endParaRPr>
          </a:p>
        </p:txBody>
      </p:sp>
      <p:sp>
        <p:nvSpPr>
          <p:cNvPr id="20" name="!!Barra Mioglobina"/>
          <p:cNvSpPr/>
          <p:nvPr/>
        </p:nvSpPr>
        <p:spPr>
          <a:xfrm>
            <a:off x="6583680" y="2688336"/>
            <a:ext cx="1097280" cy="2432304"/>
          </a:xfrm>
          <a:prstGeom prst="rect">
            <a:avLst/>
          </a:prstGeom>
          <a:gradFill rotWithShape="1">
            <a:gsLst>
              <a:gs pos="0">
                <a:srgbClr val="D67E75"/>
              </a:gs>
              <a:gs pos="100000">
                <a:srgbClr val="C0392B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21" name="!!Nombre Mioglobina"/>
          <p:cNvSpPr txBox="1"/>
          <p:nvPr/>
        </p:nvSpPr>
        <p:spPr>
          <a:xfrm>
            <a:off x="644652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Mioglobina</a:t>
            </a:r>
            <a:endParaRPr lang="es-AR" sz="1300" dirty="0">
              <a:latin typeface="Calibri"/>
            </a:endParaRPr>
          </a:p>
        </p:txBody>
      </p:sp>
      <p:sp>
        <p:nvSpPr>
          <p:cNvPr id="22" name="!!Valor Mioglobina"/>
          <p:cNvSpPr txBox="1"/>
          <p:nvPr/>
        </p:nvSpPr>
        <p:spPr>
          <a:xfrm>
            <a:off x="6400800" y="212140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86271E"/>
                </a:solidFill>
                <a:latin typeface="Calibri"/>
                <a:ea typeface="Calibri"/>
                <a:cs typeface="Calibri"/>
                <a:sym typeface="Calibri"/>
              </a:rPr>
              <a:t>elevada</a:t>
            </a:r>
            <a:endParaRPr lang="es-AR" sz="1200" dirty="0">
              <a:latin typeface="Calibri"/>
            </a:endParaRPr>
          </a:p>
        </p:txBody>
      </p:sp>
      <p:sp>
        <p:nvSpPr>
          <p:cNvPr id="23" name="!!Rótulo día"/>
          <p:cNvSpPr/>
          <p:nvPr/>
        </p:nvSpPr>
        <p:spPr>
          <a:xfrm>
            <a:off x="457200" y="5852160"/>
            <a:ext cx="2377440" cy="33528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0 (ingreso)</a:t>
            </a:r>
            <a:endParaRPr lang="es-AR" sz="1600" dirty="0">
              <a:latin typeface="Calibri"/>
            </a:endParaRPr>
          </a:p>
        </p:txBody>
      </p:sp>
      <p:grpSp>
        <p:nvGrpSpPr>
          <p:cNvPr id="24" name="Caja ingreso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25" name="Forma 24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 ingreso,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todos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los marcadores estaban elevados (alturas esquemáticas; los números son los del caso).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1097280"/>
              <a:ext cx="101144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INGRESO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SEGUIMIENTO DEL CASO: LABORATORIO DE INGRESO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8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4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2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sp>
        <p:nvSpPr>
          <p:cNvPr id="5" name="!!Línea base"/>
          <p:cNvSpPr/>
          <p:nvPr/>
        </p:nvSpPr>
        <p:spPr>
          <a:xfrm>
            <a:off x="365760" y="5120640"/>
            <a:ext cx="7680960" cy="9144"/>
          </a:xfrm>
          <a:custGeom>
            <a:avLst/>
            <a:gdLst/>
            <a:ahLst/>
            <a:cxnLst/>
            <a:rect l="0" t="0" r="r" b="b"/>
            <a:pathLst>
              <a:path w="8400" h="10" fill="none">
                <a:moveTo>
                  <a:pt x="0" y="0"/>
                </a:moveTo>
                <a:lnTo>
                  <a:pt x="8400" y="0"/>
                </a:lnTo>
              </a:path>
            </a:pathLst>
          </a:custGeom>
          <a:noFill/>
          <a:ln w="28575" cap="rnd">
            <a:solidFill>
              <a:srgbClr val="1E1E1E"/>
            </a:solidFill>
            <a:round/>
          </a:ln>
        </p:spPr>
      </p:sp>
      <p:sp>
        <p:nvSpPr>
          <p:cNvPr id="6" name="!!Límite superior de referencia"/>
          <p:cNvSpPr/>
          <p:nvPr/>
        </p:nvSpPr>
        <p:spPr>
          <a:xfrm>
            <a:off x="365760" y="4526280"/>
            <a:ext cx="7680960" cy="9144"/>
          </a:xfrm>
          <a:custGeom>
            <a:avLst/>
            <a:gdLst/>
            <a:ahLst/>
            <a:cxnLst/>
            <a:rect l="0" t="0" r="r" b="b"/>
            <a:pathLst>
              <a:path w="8400" h="10" fill="none">
                <a:moveTo>
                  <a:pt x="0" y="0"/>
                </a:moveTo>
                <a:lnTo>
                  <a:pt x="8400" y="0"/>
                </a:lnTo>
              </a:path>
            </a:pathLst>
          </a:custGeom>
          <a:noFill/>
          <a:ln w="25400" cap="rnd">
            <a:solidFill>
              <a:srgbClr val="4E7A30"/>
            </a:solidFill>
            <a:prstDash val="dash"/>
            <a:round/>
          </a:ln>
        </p:spPr>
      </p:sp>
      <p:sp>
        <p:nvSpPr>
          <p:cNvPr id="7" name="!!Rótulo límite"/>
          <p:cNvSpPr txBox="1"/>
          <p:nvPr/>
        </p:nvSpPr>
        <p:spPr>
          <a:xfrm>
            <a:off x="2926080" y="568756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50" b="1" dirty="0">
                <a:solidFill>
                  <a:srgbClr val="4E7A30"/>
                </a:solidFill>
                <a:latin typeface="Calibri"/>
                <a:ea typeface="Calibri"/>
                <a:cs typeface="Calibri"/>
                <a:sym typeface="Calibri"/>
              </a:rPr>
              <a:t>línea punteada: límite de referencia</a:t>
            </a:r>
            <a:endParaRPr lang="es-AR" sz="1150" dirty="0">
              <a:latin typeface="Calibri"/>
            </a:endParaRPr>
          </a:p>
        </p:txBody>
      </p:sp>
      <p:sp>
        <p:nvSpPr>
          <p:cNvPr id="8" name="!!Barra CPK total"/>
          <p:cNvSpPr/>
          <p:nvPr/>
        </p:nvSpPr>
        <p:spPr>
          <a:xfrm>
            <a:off x="548640" y="4495190"/>
            <a:ext cx="1097280" cy="625450"/>
          </a:xfrm>
          <a:prstGeom prst="rect">
            <a:avLst/>
          </a:prstGeom>
          <a:gradFill rotWithShape="1">
            <a:gsLst>
              <a:gs pos="0">
                <a:srgbClr val="F7BE64"/>
              </a:gs>
              <a:gs pos="100000">
                <a:srgbClr val="F39C12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9" name="!!Nombre CPK total"/>
          <p:cNvSpPr txBox="1"/>
          <p:nvPr/>
        </p:nvSpPr>
        <p:spPr>
          <a:xfrm>
            <a:off x="41148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CPK total</a:t>
            </a:r>
            <a:endParaRPr lang="es-AR" sz="1300" dirty="0">
              <a:latin typeface="Calibri"/>
            </a:endParaRPr>
          </a:p>
        </p:txBody>
      </p:sp>
      <p:sp>
        <p:nvSpPr>
          <p:cNvPr id="10" name="!!Valor CPK total"/>
          <p:cNvSpPr txBox="1"/>
          <p:nvPr/>
        </p:nvSpPr>
        <p:spPr>
          <a:xfrm>
            <a:off x="365760" y="392826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AA6D0C"/>
                </a:solidFill>
                <a:latin typeface="Calibri"/>
                <a:ea typeface="Calibri"/>
                <a:cs typeface="Calibri"/>
                <a:sym typeface="Calibri"/>
              </a:rPr>
              <a:t>100 UI/L (normal)</a:t>
            </a:r>
            <a:endParaRPr lang="es-AR" sz="1200" dirty="0">
              <a:latin typeface="Calibri"/>
            </a:endParaRPr>
          </a:p>
        </p:txBody>
      </p:sp>
      <p:sp>
        <p:nvSpPr>
          <p:cNvPr id="11" name="!!Barra CPK-MB"/>
          <p:cNvSpPr/>
          <p:nvPr/>
        </p:nvSpPr>
        <p:spPr>
          <a:xfrm>
            <a:off x="2057400" y="4599432"/>
            <a:ext cx="1097280" cy="521208"/>
          </a:xfrm>
          <a:prstGeom prst="rect">
            <a:avLst/>
          </a:prstGeom>
          <a:gradFill rotWithShape="1">
            <a:gsLst>
              <a:gs pos="0">
                <a:srgbClr val="F8CB83"/>
              </a:gs>
              <a:gs pos="100000">
                <a:srgbClr val="F5B041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2" name="!!Nombre CPK-MB"/>
          <p:cNvSpPr txBox="1"/>
          <p:nvPr/>
        </p:nvSpPr>
        <p:spPr>
          <a:xfrm>
            <a:off x="192024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CPK-MB</a:t>
            </a:r>
            <a:endParaRPr lang="es-AR" sz="1300" dirty="0">
              <a:latin typeface="Calibri"/>
            </a:endParaRPr>
          </a:p>
        </p:txBody>
      </p:sp>
      <p:sp>
        <p:nvSpPr>
          <p:cNvPr id="13" name="!!Valor CPK-MB"/>
          <p:cNvSpPr txBox="1"/>
          <p:nvPr/>
        </p:nvSpPr>
        <p:spPr>
          <a:xfrm>
            <a:off x="1874520" y="403250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AB7B2D"/>
                </a:solidFill>
                <a:latin typeface="Calibri"/>
                <a:ea typeface="Calibri"/>
                <a:cs typeface="Calibri"/>
                <a:sym typeface="Calibri"/>
              </a:rPr>
              <a:t>4 ng/mL (normal)</a:t>
            </a:r>
            <a:endParaRPr lang="es-AR" sz="1200" dirty="0">
              <a:latin typeface="Calibri"/>
            </a:endParaRPr>
          </a:p>
        </p:txBody>
      </p:sp>
      <p:sp>
        <p:nvSpPr>
          <p:cNvPr id="14" name="!!Barra Troponina I"/>
          <p:cNvSpPr/>
          <p:nvPr/>
        </p:nvSpPr>
        <p:spPr>
          <a:xfrm>
            <a:off x="3566160" y="4078224"/>
            <a:ext cx="1097280" cy="1042416"/>
          </a:xfrm>
          <a:prstGeom prst="rect">
            <a:avLst/>
          </a:prstGeom>
          <a:gradFill rotWithShape="1">
            <a:gsLst>
              <a:gs pos="0">
                <a:srgbClr val="AA80BC"/>
              </a:gs>
              <a:gs pos="100000">
                <a:srgbClr val="7D3C98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5" name="!!Nombre Troponina I"/>
          <p:cNvSpPr txBox="1"/>
          <p:nvPr/>
        </p:nvSpPr>
        <p:spPr>
          <a:xfrm>
            <a:off x="342900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 I</a:t>
            </a:r>
            <a:endParaRPr lang="es-AR" sz="1300" dirty="0">
              <a:latin typeface="Calibri"/>
            </a:endParaRPr>
          </a:p>
        </p:txBody>
      </p:sp>
      <p:sp>
        <p:nvSpPr>
          <p:cNvPr id="16" name="!!Valor Troponina I"/>
          <p:cNvSpPr txBox="1"/>
          <p:nvPr/>
        </p:nvSpPr>
        <p:spPr>
          <a:xfrm>
            <a:off x="3383280" y="35112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572A6A"/>
                </a:solidFill>
                <a:latin typeface="Calibri"/>
                <a:ea typeface="Calibri"/>
                <a:cs typeface="Calibri"/>
                <a:sym typeface="Calibri"/>
              </a:rPr>
              <a:t>36 pg/mL (VN &lt; 34)</a:t>
            </a:r>
            <a:endParaRPr lang="es-AR" sz="1200" dirty="0">
              <a:latin typeface="Calibri"/>
            </a:endParaRPr>
          </a:p>
        </p:txBody>
      </p:sp>
      <p:sp>
        <p:nvSpPr>
          <p:cNvPr id="17" name="!!Barra LDH"/>
          <p:cNvSpPr/>
          <p:nvPr/>
        </p:nvSpPr>
        <p:spPr>
          <a:xfrm>
            <a:off x="5074920" y="3383280"/>
            <a:ext cx="1097280" cy="1737360"/>
          </a:xfrm>
          <a:prstGeom prst="rect">
            <a:avLst/>
          </a:prstGeom>
          <a:gradFill rotWithShape="1">
            <a:gsLst>
              <a:gs pos="0">
                <a:srgbClr val="6CAF88"/>
              </a:gs>
              <a:gs pos="100000">
                <a:srgbClr val="1E8449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8" name="!!Nombre LDH"/>
          <p:cNvSpPr txBox="1"/>
          <p:nvPr/>
        </p:nvSpPr>
        <p:spPr>
          <a:xfrm>
            <a:off x="493776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</a:t>
            </a:r>
            <a:endParaRPr lang="es-AR" sz="1300" dirty="0">
              <a:latin typeface="Calibri"/>
            </a:endParaRPr>
          </a:p>
        </p:txBody>
      </p:sp>
      <p:sp>
        <p:nvSpPr>
          <p:cNvPr id="19" name="!!Valor LDH"/>
          <p:cNvSpPr txBox="1"/>
          <p:nvPr/>
        </p:nvSpPr>
        <p:spPr>
          <a:xfrm>
            <a:off x="4892040" y="281635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55C33"/>
                </a:solidFill>
                <a:latin typeface="Calibri"/>
                <a:ea typeface="Calibri"/>
                <a:cs typeface="Calibri"/>
                <a:sym typeface="Calibri"/>
              </a:rPr>
              <a:t>sigue elevada</a:t>
            </a:r>
            <a:endParaRPr lang="es-AR" sz="1200" dirty="0">
              <a:latin typeface="Calibri"/>
            </a:endParaRPr>
          </a:p>
        </p:txBody>
      </p:sp>
      <p:sp>
        <p:nvSpPr>
          <p:cNvPr id="20" name="!!Barra Mioglobina"/>
          <p:cNvSpPr/>
          <p:nvPr/>
        </p:nvSpPr>
        <p:spPr>
          <a:xfrm>
            <a:off x="6583680" y="5074920"/>
            <a:ext cx="1097280" cy="45720"/>
          </a:xfrm>
          <a:prstGeom prst="rect">
            <a:avLst/>
          </a:prstGeom>
          <a:solidFill>
            <a:srgbClr val="D5DBDB"/>
          </a:solidFill>
          <a:ln w="6350" cap="rnd">
            <a:solidFill>
              <a:srgbClr val="1E1E1E"/>
            </a:solidFill>
            <a:round/>
          </a:ln>
        </p:spPr>
      </p:sp>
      <p:sp>
        <p:nvSpPr>
          <p:cNvPr id="21" name="!!Nombre Mioglobina"/>
          <p:cNvSpPr txBox="1"/>
          <p:nvPr/>
        </p:nvSpPr>
        <p:spPr>
          <a:xfrm>
            <a:off x="6446520" y="519379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Mioglobina</a:t>
            </a:r>
            <a:endParaRPr lang="es-AR" sz="1300" dirty="0">
              <a:latin typeface="Calibri"/>
            </a:endParaRPr>
          </a:p>
        </p:txBody>
      </p:sp>
      <p:sp>
        <p:nvSpPr>
          <p:cNvPr id="22" name="!!Valor Mioglobina"/>
          <p:cNvSpPr txBox="1"/>
          <p:nvPr/>
        </p:nvSpPr>
        <p:spPr>
          <a:xfrm>
            <a:off x="6400800" y="448421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86271E"/>
                </a:solidFill>
                <a:latin typeface="Calibri"/>
                <a:ea typeface="Calibri"/>
                <a:cs typeface="Calibri"/>
                <a:sym typeface="Calibri"/>
              </a:rPr>
              <a:t>no se dosó</a:t>
            </a:r>
            <a:endParaRPr lang="es-AR" sz="1200" dirty="0">
              <a:latin typeface="Calibri"/>
            </a:endParaRPr>
          </a:p>
        </p:txBody>
      </p:sp>
      <p:sp>
        <p:nvSpPr>
          <p:cNvPr id="23" name="!!Rótulo día"/>
          <p:cNvSpPr/>
          <p:nvPr/>
        </p:nvSpPr>
        <p:spPr>
          <a:xfrm>
            <a:off x="457200" y="5852160"/>
            <a:ext cx="2377440" cy="33528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 8</a:t>
            </a:r>
            <a:endParaRPr lang="es-AR" sz="1600" dirty="0">
              <a:latin typeface="Calibri"/>
            </a:endParaRPr>
          </a:p>
        </p:txBody>
      </p:sp>
      <p:sp>
        <p:nvSpPr>
          <p:cNvPr id="24" name="Lectura día 8 1"/>
          <p:cNvSpPr/>
          <p:nvPr/>
        </p:nvSpPr>
        <p:spPr>
          <a:xfrm>
            <a:off x="8549640" y="1097280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CPK y CK-MB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normalizadas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el daño agudo se resolvió; no hay reinfarto.</a:t>
            </a:r>
            <a:endParaRPr lang="es-AR" sz="1650" dirty="0">
              <a:latin typeface="Calibri"/>
            </a:endParaRPr>
          </a:p>
        </p:txBody>
      </p:sp>
      <p:sp>
        <p:nvSpPr>
          <p:cNvPr id="25" name="Lectura día 8 2"/>
          <p:cNvSpPr/>
          <p:nvPr/>
        </p:nvSpPr>
        <p:spPr>
          <a:xfrm>
            <a:off x="8549640" y="2441448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DADA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 I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levemente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elevada: esperable por su cinética (7–10 días).</a:t>
            </a:r>
            <a:endParaRPr lang="es-AR" sz="1650" dirty="0">
              <a:latin typeface="Calibri"/>
            </a:endParaRPr>
          </a:p>
        </p:txBody>
      </p:sp>
      <p:sp>
        <p:nvSpPr>
          <p:cNvPr id="26" name="Lectura día 8 3"/>
          <p:cNvSpPr/>
          <p:nvPr/>
        </p:nvSpPr>
        <p:spPr>
          <a:xfrm>
            <a:off x="8549640" y="3785616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sigue elevada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normaliza a los 10–14 días.</a:t>
            </a:r>
            <a:endParaRPr lang="es-AR" sz="1650" dirty="0">
              <a:latin typeface="Calibri"/>
            </a:endParaRPr>
          </a:p>
        </p:txBody>
      </p:sp>
      <p:sp>
        <p:nvSpPr>
          <p:cNvPr id="27" name="Lectura día 8 4"/>
          <p:cNvSpPr/>
          <p:nvPr/>
        </p:nvSpPr>
        <p:spPr>
          <a:xfrm>
            <a:off x="8549640" y="5129784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Mioglobina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se dosó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normaliza en 24 h; a los 8 días no aporta.</a:t>
            </a:r>
            <a:endParaRPr lang="es-AR" sz="16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SEGUIMIENTO DEL CASO: LABORATORIO A LOS 8 DÍAS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</p:bld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5" name="Dato troponina"/>
          <p:cNvSpPr/>
          <p:nvPr/>
        </p:nvSpPr>
        <p:spPr>
          <a:xfrm>
            <a:off x="365760" y="1097280"/>
            <a:ext cx="11567160" cy="9144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 I =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36 pg/mL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al día 8 (referencia &lt; 34 pg/mL).</a:t>
            </a:r>
            <a:endParaRPr lang="es-AR" sz="2200" dirty="0">
              <a:latin typeface="Calibri"/>
            </a:endParaRPr>
          </a:p>
        </p:txBody>
      </p:sp>
      <p:grpSp>
        <p:nvGrpSpPr>
          <p:cNvPr id="6" name="No reinternar"/>
          <p:cNvGrpSpPr/>
          <p:nvPr/>
        </p:nvGrpSpPr>
        <p:grpSpPr>
          <a:xfrm>
            <a:off x="365760" y="2240280"/>
            <a:ext cx="5669280" cy="2194560"/>
            <a:chOff x="365760" y="2240280"/>
            <a:chExt cx="5669280" cy="2194560"/>
          </a:xfrm>
        </p:grpSpPr>
        <p:sp>
          <p:nvSpPr>
            <p:cNvPr id="7" name="Forma 6"/>
            <p:cNvSpPr/>
            <p:nvPr/>
          </p:nvSpPr>
          <p:spPr>
            <a:xfrm>
              <a:off x="365760" y="2441448"/>
              <a:ext cx="5669280" cy="199339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la troponina levemente elevada a los 8 días es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esperable por su cinética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puede permanecer elevada hasta 10 días.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493776" y="2240280"/>
              <a:ext cx="1181296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RESPUESTA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9" name="Cuándo sí"/>
          <p:cNvGrpSpPr/>
          <p:nvPr/>
        </p:nvGrpSpPr>
        <p:grpSpPr>
          <a:xfrm>
            <a:off x="6263640" y="2240280"/>
            <a:ext cx="5669280" cy="2194560"/>
            <a:chOff x="6263640" y="2240280"/>
            <a:chExt cx="5669280" cy="2194560"/>
          </a:xfrm>
        </p:grpSpPr>
        <p:sp>
          <p:nvSpPr>
            <p:cNvPr id="10" name="Forma 9"/>
            <p:cNvSpPr/>
            <p:nvPr/>
          </p:nvSpPr>
          <p:spPr>
            <a:xfrm>
              <a:off x="6263640" y="2441448"/>
              <a:ext cx="5669280" cy="199339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 se sospecha un nuevo evento ante una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escalada súbita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(nuevo pico)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síntomas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cambios nuevos en el ECG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6391656" y="2240280"/>
              <a:ext cx="1359840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¿CUÁNDO SÍ?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12" name="CK-MB normal"/>
          <p:cNvSpPr/>
          <p:nvPr/>
        </p:nvSpPr>
        <p:spPr>
          <a:xfrm>
            <a:off x="365760" y="4663440"/>
            <a:ext cx="56692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Marcador de elección para reinfarto en el material: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CK-MB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ya normalizada en este paciente.</a:t>
            </a:r>
            <a:endParaRPr lang="es-AR" sz="1950" dirty="0">
              <a:latin typeface="Calibri"/>
            </a:endParaRPr>
          </a:p>
        </p:txBody>
      </p:sp>
      <p:grpSp>
        <p:nvGrpSpPr>
          <p:cNvPr id="13" name="Rigor reinternar"/>
          <p:cNvGrpSpPr/>
          <p:nvPr/>
        </p:nvGrpSpPr>
        <p:grpSpPr>
          <a:xfrm>
            <a:off x="6263640" y="4663440"/>
            <a:ext cx="5669280" cy="1783080"/>
            <a:chOff x="6263640" y="4663440"/>
            <a:chExt cx="5669280" cy="1783080"/>
          </a:xfrm>
        </p:grpSpPr>
        <p:sp>
          <p:nvSpPr>
            <p:cNvPr id="14" name="Forma 13"/>
            <p:cNvSpPr/>
            <p:nvPr/>
          </p:nvSpPr>
          <p:spPr>
            <a:xfrm>
              <a:off x="6263640" y="4864608"/>
              <a:ext cx="5669280" cy="15819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troponinas de alta sensibilidad, se compara con el valor previo: un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ascenso &gt; 20 %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con clínica compatible orienta a reinfarto.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6391656" y="46634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¿HAY QUE REINTERNARLO POR LA TROPONINA ELEVADA?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1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sp>
      <p:grpSp>
        <p:nvGrpSpPr>
          <p:cNvPr id="5" name="!!Pared arterial"/>
          <p:cNvGrpSpPr/>
          <p:nvPr/>
        </p:nvGrpSpPr>
        <p:grpSpPr>
          <a:xfrm>
            <a:off x="365760" y="1143000"/>
            <a:ext cx="7869936" cy="2103120"/>
            <a:chOff x="365760" y="1143000"/>
            <a:chExt cx="7869936" cy="2103120"/>
          </a:xfrm>
        </p:grpSpPr>
        <p:sp>
          <p:nvSpPr>
            <p:cNvPr id="6" name="Luz arterial"/>
            <p:cNvSpPr/>
            <p:nvPr/>
          </p:nvSpPr>
          <p:spPr>
            <a:xfrm>
              <a:off x="365760" y="1143000"/>
              <a:ext cx="7680960" cy="630936"/>
            </a:xfrm>
            <a:prstGeom prst="rect">
              <a:avLst/>
            </a:prstGeom>
            <a:gradFill rotWithShape="1">
              <a:gsLst>
                <a:gs pos="0">
                  <a:srgbClr val="F5B7B1"/>
                </a:gs>
                <a:gs pos="100000">
                  <a:srgbClr val="E6B0A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" name="Forma 6"/>
            <p:cNvSpPr/>
            <p:nvPr/>
          </p:nvSpPr>
          <p:spPr>
            <a:xfrm>
              <a:off x="365760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064029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762298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2460567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3158836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3857105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4555375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4" name="Forma 13"/>
            <p:cNvSpPr/>
            <p:nvPr/>
          </p:nvSpPr>
          <p:spPr>
            <a:xfrm>
              <a:off x="5253644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5951913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6650182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7348451" y="1773936"/>
              <a:ext cx="698269" cy="12618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DBA9"/>
                </a:gs>
                <a:gs pos="55000">
                  <a:srgbClr val="F8C471"/>
                </a:gs>
                <a:gs pos="100000">
                  <a:srgbClr val="C69C5A"/>
                </a:gs>
              </a:gsLst>
              <a:path path="circle">
                <a:fillToRect l="32000" t="28000" r="68000" b="72000"/>
              </a:path>
            </a:gradFill>
            <a:ln w="9525" cap="rnd">
              <a:solidFill>
                <a:srgbClr val="9C640C"/>
              </a:solidFill>
              <a:round/>
            </a:ln>
          </p:spPr>
        </p:sp>
        <p:sp>
          <p:nvSpPr>
            <p:cNvPr id="18" name="Íntima"/>
            <p:cNvSpPr/>
            <p:nvPr/>
          </p:nvSpPr>
          <p:spPr>
            <a:xfrm>
              <a:off x="365760" y="1900123"/>
              <a:ext cx="7680960" cy="504749"/>
            </a:xfrm>
            <a:prstGeom prst="rect">
              <a:avLst/>
            </a:prstGeom>
            <a:gradFill rotWithShape="1">
              <a:gsLst>
                <a:gs pos="0">
                  <a:srgbClr val="FDEBD0"/>
                </a:gs>
                <a:gs pos="100000">
                  <a:srgbClr val="FAD7A0"/>
                </a:gs>
              </a:gsLst>
              <a:lin ang="5400000" scaled="0"/>
            </a:gradFill>
            <a:ln w="9525" cap="rnd">
              <a:solidFill>
                <a:srgbClr val="B9770E"/>
              </a:solidFill>
              <a:round/>
            </a:ln>
          </p:spPr>
        </p:sp>
        <p:sp>
          <p:nvSpPr>
            <p:cNvPr id="19" name="Media"/>
            <p:cNvSpPr/>
            <p:nvPr/>
          </p:nvSpPr>
          <p:spPr>
            <a:xfrm>
              <a:off x="365760" y="2404872"/>
              <a:ext cx="7680960" cy="546811"/>
            </a:xfrm>
            <a:prstGeom prst="rect">
              <a:avLst/>
            </a:prstGeom>
            <a:solidFill>
              <a:srgbClr val="E59866"/>
            </a:solidFill>
            <a:ln w="9525" cap="rnd">
              <a:solidFill>
                <a:srgbClr val="873600"/>
              </a:solidFill>
              <a:round/>
            </a:ln>
          </p:spPr>
        </p:sp>
        <p:sp>
          <p:nvSpPr>
            <p:cNvPr id="20" name="Forma 19"/>
            <p:cNvSpPr/>
            <p:nvPr/>
          </p:nvSpPr>
          <p:spPr>
            <a:xfrm>
              <a:off x="36576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64008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121920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149352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207264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234696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292608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320040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377952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29" name="Forma 28"/>
            <p:cNvSpPr/>
            <p:nvPr/>
          </p:nvSpPr>
          <p:spPr>
            <a:xfrm>
              <a:off x="405384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463296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490728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2" name="Forma 31"/>
            <p:cNvSpPr/>
            <p:nvPr/>
          </p:nvSpPr>
          <p:spPr>
            <a:xfrm>
              <a:off x="548640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3" name="Forma 32"/>
            <p:cNvSpPr/>
            <p:nvPr/>
          </p:nvSpPr>
          <p:spPr>
            <a:xfrm>
              <a:off x="576072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633984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>
              <a:off x="661416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6" name="Forma 35"/>
            <p:cNvSpPr/>
            <p:nvPr/>
          </p:nvSpPr>
          <p:spPr>
            <a:xfrm>
              <a:off x="7193280" y="2467966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7" name="Forma 36"/>
            <p:cNvSpPr/>
            <p:nvPr/>
          </p:nvSpPr>
          <p:spPr>
            <a:xfrm>
              <a:off x="7467600" y="2699309"/>
              <a:ext cx="768096" cy="168250"/>
            </a:xfrm>
            <a:prstGeom prst="ellipse">
              <a:avLst/>
            </a:prstGeom>
            <a:gradFill rotWithShape="1">
              <a:gsLst>
                <a:gs pos="0">
                  <a:srgbClr val="A25B4A"/>
                </a:gs>
                <a:gs pos="30000">
                  <a:srgbClr val="EEA897"/>
                </a:gs>
                <a:gs pos="55000">
                  <a:srgbClr val="E8836B"/>
                </a:gs>
                <a:gs pos="100000">
                  <a:srgbClr val="A25B4A"/>
                </a:gs>
              </a:gsLst>
              <a:lin ang="5400000" scaled="0"/>
            </a:gradFill>
            <a:ln w="6350" cap="rnd">
              <a:solidFill>
                <a:srgbClr val="873600"/>
              </a:solidFill>
              <a:round/>
            </a:ln>
          </p:spPr>
        </p:sp>
        <p:sp>
          <p:nvSpPr>
            <p:cNvPr id="38" name="Adventicia"/>
            <p:cNvSpPr/>
            <p:nvPr/>
          </p:nvSpPr>
          <p:spPr>
            <a:xfrm>
              <a:off x="365760" y="2951683"/>
              <a:ext cx="7680960" cy="294437"/>
            </a:xfrm>
            <a:prstGeom prst="rect">
              <a:avLst/>
            </a:prstGeom>
            <a:gradFill rotWithShape="1">
              <a:gsLst>
                <a:gs pos="0">
                  <a:srgbClr val="F6DDCC"/>
                </a:gs>
                <a:gs pos="100000">
                  <a:srgbClr val="EDBB99"/>
                </a:gs>
              </a:gsLst>
              <a:lin ang="5400000" scaled="0"/>
            </a:gradFill>
            <a:ln w="9525" cap="rnd">
              <a:solidFill>
                <a:srgbClr val="873600"/>
              </a:solidFill>
              <a:round/>
            </a:ln>
          </p:spPr>
        </p:sp>
      </p:grpSp>
      <p:grpSp>
        <p:nvGrpSpPr>
          <p:cNvPr id="39" name="LDL 0"/>
          <p:cNvGrpSpPr/>
          <p:nvPr/>
        </p:nvGrpSpPr>
        <p:grpSpPr>
          <a:xfrm>
            <a:off x="1097280" y="1234440"/>
            <a:ext cx="457200" cy="457200"/>
            <a:chOff x="1097280" y="1234440"/>
            <a:chExt cx="457200" cy="457200"/>
          </a:xfrm>
        </p:grpSpPr>
        <p:sp>
          <p:nvSpPr>
            <p:cNvPr id="40" name="Forma 39"/>
            <p:cNvSpPr/>
            <p:nvPr/>
          </p:nvSpPr>
          <p:spPr>
            <a:xfrm>
              <a:off x="1097280" y="123444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BF1C5"/>
                </a:gs>
                <a:gs pos="70000">
                  <a:srgbClr val="F7DC6F"/>
                </a:gs>
                <a:gs pos="100000">
                  <a:srgbClr val="C5B058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8C6D1F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41" name="Forma 40"/>
            <p:cNvSpPr/>
            <p:nvPr/>
          </p:nvSpPr>
          <p:spPr>
            <a:xfrm>
              <a:off x="1097280" y="123444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98" y="500"/>
                  </a:moveTo>
                  <a:cubicBezTo>
                    <a:pt x="998" y="515"/>
                    <a:pt x="985" y="528"/>
                    <a:pt x="970" y="528"/>
                  </a:cubicBezTo>
                  <a:cubicBezTo>
                    <a:pt x="954" y="528"/>
                    <a:pt x="942" y="515"/>
                    <a:pt x="942" y="500"/>
                  </a:cubicBezTo>
                  <a:cubicBezTo>
                    <a:pt x="942" y="484"/>
                    <a:pt x="954" y="472"/>
                    <a:pt x="970" y="472"/>
                  </a:cubicBezTo>
                  <a:cubicBezTo>
                    <a:pt x="985" y="472"/>
                    <a:pt x="998" y="484"/>
                    <a:pt x="998" y="500"/>
                  </a:cubicBezTo>
                  <a:close/>
                  <a:moveTo>
                    <a:pt x="978" y="632"/>
                  </a:moveTo>
                  <a:cubicBezTo>
                    <a:pt x="978" y="647"/>
                    <a:pt x="965" y="660"/>
                    <a:pt x="950" y="660"/>
                  </a:cubicBezTo>
                  <a:cubicBezTo>
                    <a:pt x="934" y="660"/>
                    <a:pt x="922" y="647"/>
                    <a:pt x="922" y="632"/>
                  </a:cubicBezTo>
                  <a:cubicBezTo>
                    <a:pt x="922" y="616"/>
                    <a:pt x="934" y="604"/>
                    <a:pt x="950" y="604"/>
                  </a:cubicBezTo>
                  <a:cubicBezTo>
                    <a:pt x="965" y="604"/>
                    <a:pt x="978" y="616"/>
                    <a:pt x="978" y="632"/>
                  </a:cubicBezTo>
                  <a:close/>
                  <a:moveTo>
                    <a:pt x="923" y="754"/>
                  </a:moveTo>
                  <a:cubicBezTo>
                    <a:pt x="923" y="769"/>
                    <a:pt x="910" y="782"/>
                    <a:pt x="895" y="782"/>
                  </a:cubicBezTo>
                  <a:cubicBezTo>
                    <a:pt x="879" y="782"/>
                    <a:pt x="867" y="769"/>
                    <a:pt x="867" y="754"/>
                  </a:cubicBezTo>
                  <a:cubicBezTo>
                    <a:pt x="867" y="738"/>
                    <a:pt x="879" y="726"/>
                    <a:pt x="895" y="726"/>
                  </a:cubicBezTo>
                  <a:cubicBezTo>
                    <a:pt x="910" y="726"/>
                    <a:pt x="923" y="738"/>
                    <a:pt x="923" y="754"/>
                  </a:cubicBezTo>
                  <a:close/>
                  <a:moveTo>
                    <a:pt x="835" y="855"/>
                  </a:moveTo>
                  <a:cubicBezTo>
                    <a:pt x="835" y="870"/>
                    <a:pt x="822" y="883"/>
                    <a:pt x="807" y="883"/>
                  </a:cubicBezTo>
                  <a:cubicBezTo>
                    <a:pt x="791" y="883"/>
                    <a:pt x="779" y="870"/>
                    <a:pt x="779" y="855"/>
                  </a:cubicBezTo>
                  <a:cubicBezTo>
                    <a:pt x="779" y="839"/>
                    <a:pt x="791" y="827"/>
                    <a:pt x="807" y="827"/>
                  </a:cubicBezTo>
                  <a:cubicBezTo>
                    <a:pt x="822" y="827"/>
                    <a:pt x="835" y="839"/>
                    <a:pt x="835" y="855"/>
                  </a:cubicBezTo>
                  <a:close/>
                  <a:moveTo>
                    <a:pt x="723" y="927"/>
                  </a:moveTo>
                  <a:cubicBezTo>
                    <a:pt x="723" y="942"/>
                    <a:pt x="710" y="955"/>
                    <a:pt x="695" y="955"/>
                  </a:cubicBezTo>
                  <a:cubicBezTo>
                    <a:pt x="679" y="955"/>
                    <a:pt x="667" y="942"/>
                    <a:pt x="667" y="927"/>
                  </a:cubicBezTo>
                  <a:cubicBezTo>
                    <a:pt x="667" y="911"/>
                    <a:pt x="679" y="899"/>
                    <a:pt x="695" y="899"/>
                  </a:cubicBezTo>
                  <a:cubicBezTo>
                    <a:pt x="710" y="899"/>
                    <a:pt x="723" y="911"/>
                    <a:pt x="723" y="927"/>
                  </a:cubicBezTo>
                  <a:close/>
                  <a:moveTo>
                    <a:pt x="594" y="965"/>
                  </a:moveTo>
                  <a:cubicBezTo>
                    <a:pt x="594" y="980"/>
                    <a:pt x="581" y="993"/>
                    <a:pt x="566" y="993"/>
                  </a:cubicBezTo>
                  <a:cubicBezTo>
                    <a:pt x="550" y="993"/>
                    <a:pt x="538" y="980"/>
                    <a:pt x="538" y="965"/>
                  </a:cubicBezTo>
                  <a:cubicBezTo>
                    <a:pt x="538" y="949"/>
                    <a:pt x="550" y="937"/>
                    <a:pt x="566" y="937"/>
                  </a:cubicBezTo>
                  <a:cubicBezTo>
                    <a:pt x="581" y="937"/>
                    <a:pt x="594" y="949"/>
                    <a:pt x="594" y="965"/>
                  </a:cubicBezTo>
                  <a:close/>
                  <a:moveTo>
                    <a:pt x="461" y="965"/>
                  </a:moveTo>
                  <a:cubicBezTo>
                    <a:pt x="461" y="980"/>
                    <a:pt x="448" y="993"/>
                    <a:pt x="433" y="993"/>
                  </a:cubicBezTo>
                  <a:cubicBezTo>
                    <a:pt x="417" y="993"/>
                    <a:pt x="405" y="980"/>
                    <a:pt x="405" y="965"/>
                  </a:cubicBezTo>
                  <a:cubicBezTo>
                    <a:pt x="405" y="949"/>
                    <a:pt x="417" y="937"/>
                    <a:pt x="433" y="937"/>
                  </a:cubicBezTo>
                  <a:cubicBezTo>
                    <a:pt x="448" y="937"/>
                    <a:pt x="461" y="949"/>
                    <a:pt x="461" y="965"/>
                  </a:cubicBezTo>
                  <a:close/>
                  <a:moveTo>
                    <a:pt x="332" y="927"/>
                  </a:moveTo>
                  <a:cubicBezTo>
                    <a:pt x="332" y="942"/>
                    <a:pt x="319" y="955"/>
                    <a:pt x="304" y="955"/>
                  </a:cubicBezTo>
                  <a:cubicBezTo>
                    <a:pt x="288" y="955"/>
                    <a:pt x="276" y="942"/>
                    <a:pt x="276" y="927"/>
                  </a:cubicBezTo>
                  <a:cubicBezTo>
                    <a:pt x="276" y="911"/>
                    <a:pt x="288" y="899"/>
                    <a:pt x="304" y="899"/>
                  </a:cubicBezTo>
                  <a:cubicBezTo>
                    <a:pt x="319" y="899"/>
                    <a:pt x="332" y="911"/>
                    <a:pt x="332" y="927"/>
                  </a:cubicBezTo>
                  <a:close/>
                  <a:moveTo>
                    <a:pt x="220" y="855"/>
                  </a:moveTo>
                  <a:cubicBezTo>
                    <a:pt x="220" y="870"/>
                    <a:pt x="207" y="883"/>
                    <a:pt x="192" y="883"/>
                  </a:cubicBezTo>
                  <a:cubicBezTo>
                    <a:pt x="176" y="883"/>
                    <a:pt x="164" y="870"/>
                    <a:pt x="164" y="855"/>
                  </a:cubicBezTo>
                  <a:cubicBezTo>
                    <a:pt x="164" y="839"/>
                    <a:pt x="176" y="827"/>
                    <a:pt x="192" y="827"/>
                  </a:cubicBezTo>
                  <a:cubicBezTo>
                    <a:pt x="207" y="827"/>
                    <a:pt x="220" y="839"/>
                    <a:pt x="220" y="855"/>
                  </a:cubicBezTo>
                  <a:close/>
                  <a:moveTo>
                    <a:pt x="132" y="754"/>
                  </a:moveTo>
                  <a:cubicBezTo>
                    <a:pt x="132" y="769"/>
                    <a:pt x="119" y="782"/>
                    <a:pt x="104" y="782"/>
                  </a:cubicBezTo>
                  <a:cubicBezTo>
                    <a:pt x="88" y="782"/>
                    <a:pt x="76" y="769"/>
                    <a:pt x="76" y="754"/>
                  </a:cubicBezTo>
                  <a:cubicBezTo>
                    <a:pt x="76" y="738"/>
                    <a:pt x="88" y="726"/>
                    <a:pt x="104" y="726"/>
                  </a:cubicBezTo>
                  <a:cubicBezTo>
                    <a:pt x="119" y="726"/>
                    <a:pt x="132" y="738"/>
                    <a:pt x="132" y="754"/>
                  </a:cubicBezTo>
                  <a:close/>
                  <a:moveTo>
                    <a:pt x="77" y="632"/>
                  </a:moveTo>
                  <a:cubicBezTo>
                    <a:pt x="77" y="647"/>
                    <a:pt x="64" y="660"/>
                    <a:pt x="49" y="660"/>
                  </a:cubicBezTo>
                  <a:cubicBezTo>
                    <a:pt x="33" y="660"/>
                    <a:pt x="21" y="647"/>
                    <a:pt x="21" y="632"/>
                  </a:cubicBezTo>
                  <a:cubicBezTo>
                    <a:pt x="21" y="616"/>
                    <a:pt x="33" y="604"/>
                    <a:pt x="49" y="604"/>
                  </a:cubicBezTo>
                  <a:cubicBezTo>
                    <a:pt x="64" y="604"/>
                    <a:pt x="77" y="616"/>
                    <a:pt x="77" y="632"/>
                  </a:cubicBezTo>
                  <a:close/>
                  <a:moveTo>
                    <a:pt x="58" y="500"/>
                  </a:moveTo>
                  <a:cubicBezTo>
                    <a:pt x="58" y="515"/>
                    <a:pt x="45" y="528"/>
                    <a:pt x="30" y="528"/>
                  </a:cubicBezTo>
                  <a:cubicBezTo>
                    <a:pt x="14" y="528"/>
                    <a:pt x="2" y="515"/>
                    <a:pt x="2" y="500"/>
                  </a:cubicBezTo>
                  <a:cubicBezTo>
                    <a:pt x="2" y="484"/>
                    <a:pt x="14" y="472"/>
                    <a:pt x="30" y="472"/>
                  </a:cubicBezTo>
                  <a:cubicBezTo>
                    <a:pt x="45" y="472"/>
                    <a:pt x="58" y="484"/>
                    <a:pt x="58" y="500"/>
                  </a:cubicBezTo>
                  <a:close/>
                  <a:moveTo>
                    <a:pt x="77" y="367"/>
                  </a:moveTo>
                  <a:cubicBezTo>
                    <a:pt x="77" y="382"/>
                    <a:pt x="64" y="395"/>
                    <a:pt x="49" y="395"/>
                  </a:cubicBezTo>
                  <a:cubicBezTo>
                    <a:pt x="33" y="395"/>
                    <a:pt x="21" y="382"/>
                    <a:pt x="21" y="367"/>
                  </a:cubicBezTo>
                  <a:cubicBezTo>
                    <a:pt x="21" y="351"/>
                    <a:pt x="33" y="339"/>
                    <a:pt x="49" y="339"/>
                  </a:cubicBezTo>
                  <a:cubicBezTo>
                    <a:pt x="64" y="339"/>
                    <a:pt x="77" y="351"/>
                    <a:pt x="77" y="367"/>
                  </a:cubicBezTo>
                  <a:close/>
                  <a:moveTo>
                    <a:pt x="132" y="245"/>
                  </a:moveTo>
                  <a:cubicBezTo>
                    <a:pt x="132" y="260"/>
                    <a:pt x="119" y="273"/>
                    <a:pt x="104" y="273"/>
                  </a:cubicBezTo>
                  <a:cubicBezTo>
                    <a:pt x="88" y="273"/>
                    <a:pt x="76" y="260"/>
                    <a:pt x="76" y="245"/>
                  </a:cubicBezTo>
                  <a:cubicBezTo>
                    <a:pt x="76" y="229"/>
                    <a:pt x="88" y="217"/>
                    <a:pt x="104" y="217"/>
                  </a:cubicBezTo>
                  <a:cubicBezTo>
                    <a:pt x="119" y="217"/>
                    <a:pt x="132" y="229"/>
                    <a:pt x="132" y="245"/>
                  </a:cubicBezTo>
                  <a:close/>
                  <a:moveTo>
                    <a:pt x="220" y="144"/>
                  </a:moveTo>
                  <a:cubicBezTo>
                    <a:pt x="220" y="159"/>
                    <a:pt x="207" y="172"/>
                    <a:pt x="192" y="172"/>
                  </a:cubicBezTo>
                  <a:cubicBezTo>
                    <a:pt x="176" y="172"/>
                    <a:pt x="164" y="159"/>
                    <a:pt x="164" y="144"/>
                  </a:cubicBezTo>
                  <a:cubicBezTo>
                    <a:pt x="164" y="128"/>
                    <a:pt x="176" y="116"/>
                    <a:pt x="192" y="116"/>
                  </a:cubicBezTo>
                  <a:cubicBezTo>
                    <a:pt x="207" y="116"/>
                    <a:pt x="220" y="128"/>
                    <a:pt x="220" y="144"/>
                  </a:cubicBezTo>
                  <a:close/>
                  <a:moveTo>
                    <a:pt x="332" y="72"/>
                  </a:moveTo>
                  <a:cubicBezTo>
                    <a:pt x="332" y="87"/>
                    <a:pt x="319" y="100"/>
                    <a:pt x="304" y="100"/>
                  </a:cubicBezTo>
                  <a:cubicBezTo>
                    <a:pt x="288" y="100"/>
                    <a:pt x="276" y="87"/>
                    <a:pt x="276" y="72"/>
                  </a:cubicBezTo>
                  <a:cubicBezTo>
                    <a:pt x="276" y="56"/>
                    <a:pt x="288" y="44"/>
                    <a:pt x="304" y="44"/>
                  </a:cubicBezTo>
                  <a:cubicBezTo>
                    <a:pt x="319" y="44"/>
                    <a:pt x="332" y="56"/>
                    <a:pt x="332" y="72"/>
                  </a:cubicBezTo>
                  <a:close/>
                  <a:moveTo>
                    <a:pt x="461" y="34"/>
                  </a:moveTo>
                  <a:cubicBezTo>
                    <a:pt x="461" y="49"/>
                    <a:pt x="448" y="62"/>
                    <a:pt x="433" y="62"/>
                  </a:cubicBezTo>
                  <a:cubicBezTo>
                    <a:pt x="417" y="62"/>
                    <a:pt x="405" y="49"/>
                    <a:pt x="405" y="34"/>
                  </a:cubicBezTo>
                  <a:cubicBezTo>
                    <a:pt x="405" y="18"/>
                    <a:pt x="417" y="6"/>
                    <a:pt x="433" y="6"/>
                  </a:cubicBezTo>
                  <a:cubicBezTo>
                    <a:pt x="448" y="6"/>
                    <a:pt x="461" y="18"/>
                    <a:pt x="461" y="34"/>
                  </a:cubicBezTo>
                  <a:close/>
                  <a:moveTo>
                    <a:pt x="594" y="34"/>
                  </a:moveTo>
                  <a:cubicBezTo>
                    <a:pt x="594" y="49"/>
                    <a:pt x="581" y="62"/>
                    <a:pt x="566" y="62"/>
                  </a:cubicBezTo>
                  <a:cubicBezTo>
                    <a:pt x="550" y="62"/>
                    <a:pt x="538" y="49"/>
                    <a:pt x="538" y="34"/>
                  </a:cubicBezTo>
                  <a:cubicBezTo>
                    <a:pt x="538" y="18"/>
                    <a:pt x="550" y="6"/>
                    <a:pt x="566" y="6"/>
                  </a:cubicBezTo>
                  <a:cubicBezTo>
                    <a:pt x="581" y="6"/>
                    <a:pt x="594" y="18"/>
                    <a:pt x="594" y="34"/>
                  </a:cubicBezTo>
                  <a:close/>
                  <a:moveTo>
                    <a:pt x="723" y="72"/>
                  </a:moveTo>
                  <a:cubicBezTo>
                    <a:pt x="723" y="87"/>
                    <a:pt x="710" y="100"/>
                    <a:pt x="695" y="100"/>
                  </a:cubicBezTo>
                  <a:cubicBezTo>
                    <a:pt x="679" y="100"/>
                    <a:pt x="667" y="87"/>
                    <a:pt x="667" y="72"/>
                  </a:cubicBezTo>
                  <a:cubicBezTo>
                    <a:pt x="667" y="56"/>
                    <a:pt x="679" y="44"/>
                    <a:pt x="695" y="44"/>
                  </a:cubicBezTo>
                  <a:cubicBezTo>
                    <a:pt x="710" y="44"/>
                    <a:pt x="723" y="56"/>
                    <a:pt x="723" y="72"/>
                  </a:cubicBezTo>
                  <a:close/>
                  <a:moveTo>
                    <a:pt x="835" y="144"/>
                  </a:moveTo>
                  <a:cubicBezTo>
                    <a:pt x="835" y="159"/>
                    <a:pt x="822" y="172"/>
                    <a:pt x="807" y="172"/>
                  </a:cubicBezTo>
                  <a:cubicBezTo>
                    <a:pt x="791" y="172"/>
                    <a:pt x="779" y="159"/>
                    <a:pt x="779" y="144"/>
                  </a:cubicBezTo>
                  <a:cubicBezTo>
                    <a:pt x="779" y="128"/>
                    <a:pt x="791" y="116"/>
                    <a:pt x="807" y="116"/>
                  </a:cubicBezTo>
                  <a:cubicBezTo>
                    <a:pt x="822" y="116"/>
                    <a:pt x="835" y="128"/>
                    <a:pt x="835" y="144"/>
                  </a:cubicBezTo>
                  <a:close/>
                  <a:moveTo>
                    <a:pt x="923" y="245"/>
                  </a:moveTo>
                  <a:cubicBezTo>
                    <a:pt x="923" y="260"/>
                    <a:pt x="910" y="273"/>
                    <a:pt x="895" y="273"/>
                  </a:cubicBezTo>
                  <a:cubicBezTo>
                    <a:pt x="879" y="273"/>
                    <a:pt x="867" y="260"/>
                    <a:pt x="867" y="245"/>
                  </a:cubicBezTo>
                  <a:cubicBezTo>
                    <a:pt x="867" y="229"/>
                    <a:pt x="879" y="217"/>
                    <a:pt x="895" y="217"/>
                  </a:cubicBezTo>
                  <a:cubicBezTo>
                    <a:pt x="910" y="217"/>
                    <a:pt x="923" y="229"/>
                    <a:pt x="923" y="245"/>
                  </a:cubicBezTo>
                  <a:close/>
                  <a:moveTo>
                    <a:pt x="978" y="367"/>
                  </a:moveTo>
                  <a:cubicBezTo>
                    <a:pt x="978" y="382"/>
                    <a:pt x="965" y="395"/>
                    <a:pt x="950" y="395"/>
                  </a:cubicBezTo>
                  <a:cubicBezTo>
                    <a:pt x="934" y="395"/>
                    <a:pt x="922" y="382"/>
                    <a:pt x="922" y="367"/>
                  </a:cubicBezTo>
                  <a:cubicBezTo>
                    <a:pt x="922" y="351"/>
                    <a:pt x="934" y="339"/>
                    <a:pt x="950" y="339"/>
                  </a:cubicBezTo>
                  <a:cubicBezTo>
                    <a:pt x="965" y="339"/>
                    <a:pt x="978" y="351"/>
                    <a:pt x="978" y="367"/>
                  </a:cubicBezTo>
                  <a:close/>
                </a:path>
              </a:pathLst>
            </a:custGeom>
            <a:gradFill rotWithShape="1">
              <a:gsLst>
                <a:gs pos="0">
                  <a:srgbClr val="F5B4AD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922B21"/>
              </a:solidFill>
              <a:round/>
            </a:ln>
          </p:spPr>
        </p:sp>
        <p:sp>
          <p:nvSpPr>
            <p:cNvPr id="42" name="Forma 41"/>
            <p:cNvSpPr txBox="1"/>
            <p:nvPr/>
          </p:nvSpPr>
          <p:spPr>
            <a:xfrm>
              <a:off x="1097280" y="13716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LDL</a:t>
              </a:r>
              <a:endParaRPr lang="es-AR" sz="1000" dirty="0">
                <a:latin typeface="Calibri"/>
              </a:endParaRPr>
            </a:p>
          </p:txBody>
        </p:sp>
      </p:grpSp>
      <p:grpSp>
        <p:nvGrpSpPr>
          <p:cNvPr id="43" name="LDL 1"/>
          <p:cNvGrpSpPr/>
          <p:nvPr/>
        </p:nvGrpSpPr>
        <p:grpSpPr>
          <a:xfrm>
            <a:off x="2377440" y="1234440"/>
            <a:ext cx="457200" cy="457200"/>
            <a:chOff x="2377440" y="1234440"/>
            <a:chExt cx="457200" cy="457200"/>
          </a:xfrm>
        </p:grpSpPr>
        <p:sp>
          <p:nvSpPr>
            <p:cNvPr id="44" name="Forma 43"/>
            <p:cNvSpPr/>
            <p:nvPr/>
          </p:nvSpPr>
          <p:spPr>
            <a:xfrm>
              <a:off x="2377440" y="123444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BF1C5"/>
                </a:gs>
                <a:gs pos="70000">
                  <a:srgbClr val="F7DC6F"/>
                </a:gs>
                <a:gs pos="100000">
                  <a:srgbClr val="C5B058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8C6D1F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45" name="Forma 44"/>
            <p:cNvSpPr/>
            <p:nvPr/>
          </p:nvSpPr>
          <p:spPr>
            <a:xfrm>
              <a:off x="2377440" y="123444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98" y="500"/>
                  </a:moveTo>
                  <a:cubicBezTo>
                    <a:pt x="998" y="515"/>
                    <a:pt x="985" y="528"/>
                    <a:pt x="970" y="528"/>
                  </a:cubicBezTo>
                  <a:cubicBezTo>
                    <a:pt x="954" y="528"/>
                    <a:pt x="942" y="515"/>
                    <a:pt x="942" y="500"/>
                  </a:cubicBezTo>
                  <a:cubicBezTo>
                    <a:pt x="942" y="484"/>
                    <a:pt x="954" y="472"/>
                    <a:pt x="970" y="472"/>
                  </a:cubicBezTo>
                  <a:cubicBezTo>
                    <a:pt x="985" y="472"/>
                    <a:pt x="998" y="484"/>
                    <a:pt x="998" y="500"/>
                  </a:cubicBezTo>
                  <a:close/>
                  <a:moveTo>
                    <a:pt x="978" y="632"/>
                  </a:moveTo>
                  <a:cubicBezTo>
                    <a:pt x="978" y="647"/>
                    <a:pt x="965" y="660"/>
                    <a:pt x="950" y="660"/>
                  </a:cubicBezTo>
                  <a:cubicBezTo>
                    <a:pt x="934" y="660"/>
                    <a:pt x="922" y="647"/>
                    <a:pt x="922" y="632"/>
                  </a:cubicBezTo>
                  <a:cubicBezTo>
                    <a:pt x="922" y="616"/>
                    <a:pt x="934" y="604"/>
                    <a:pt x="950" y="604"/>
                  </a:cubicBezTo>
                  <a:cubicBezTo>
                    <a:pt x="965" y="604"/>
                    <a:pt x="978" y="616"/>
                    <a:pt x="978" y="632"/>
                  </a:cubicBezTo>
                  <a:close/>
                  <a:moveTo>
                    <a:pt x="923" y="754"/>
                  </a:moveTo>
                  <a:cubicBezTo>
                    <a:pt x="923" y="769"/>
                    <a:pt x="910" y="782"/>
                    <a:pt x="895" y="782"/>
                  </a:cubicBezTo>
                  <a:cubicBezTo>
                    <a:pt x="879" y="782"/>
                    <a:pt x="867" y="769"/>
                    <a:pt x="867" y="754"/>
                  </a:cubicBezTo>
                  <a:cubicBezTo>
                    <a:pt x="867" y="738"/>
                    <a:pt x="879" y="726"/>
                    <a:pt x="895" y="726"/>
                  </a:cubicBezTo>
                  <a:cubicBezTo>
                    <a:pt x="910" y="726"/>
                    <a:pt x="923" y="738"/>
                    <a:pt x="923" y="754"/>
                  </a:cubicBezTo>
                  <a:close/>
                  <a:moveTo>
                    <a:pt x="835" y="855"/>
                  </a:moveTo>
                  <a:cubicBezTo>
                    <a:pt x="835" y="870"/>
                    <a:pt x="822" y="883"/>
                    <a:pt x="807" y="883"/>
                  </a:cubicBezTo>
                  <a:cubicBezTo>
                    <a:pt x="791" y="883"/>
                    <a:pt x="779" y="870"/>
                    <a:pt x="779" y="855"/>
                  </a:cubicBezTo>
                  <a:cubicBezTo>
                    <a:pt x="779" y="839"/>
                    <a:pt x="791" y="827"/>
                    <a:pt x="807" y="827"/>
                  </a:cubicBezTo>
                  <a:cubicBezTo>
                    <a:pt x="822" y="827"/>
                    <a:pt x="835" y="839"/>
                    <a:pt x="835" y="855"/>
                  </a:cubicBezTo>
                  <a:close/>
                  <a:moveTo>
                    <a:pt x="723" y="927"/>
                  </a:moveTo>
                  <a:cubicBezTo>
                    <a:pt x="723" y="942"/>
                    <a:pt x="710" y="955"/>
                    <a:pt x="695" y="955"/>
                  </a:cubicBezTo>
                  <a:cubicBezTo>
                    <a:pt x="679" y="955"/>
                    <a:pt x="667" y="942"/>
                    <a:pt x="667" y="927"/>
                  </a:cubicBezTo>
                  <a:cubicBezTo>
                    <a:pt x="667" y="911"/>
                    <a:pt x="679" y="899"/>
                    <a:pt x="695" y="899"/>
                  </a:cubicBezTo>
                  <a:cubicBezTo>
                    <a:pt x="710" y="899"/>
                    <a:pt x="723" y="911"/>
                    <a:pt x="723" y="927"/>
                  </a:cubicBezTo>
                  <a:close/>
                  <a:moveTo>
                    <a:pt x="594" y="965"/>
                  </a:moveTo>
                  <a:cubicBezTo>
                    <a:pt x="594" y="980"/>
                    <a:pt x="581" y="993"/>
                    <a:pt x="566" y="993"/>
                  </a:cubicBezTo>
                  <a:cubicBezTo>
                    <a:pt x="550" y="993"/>
                    <a:pt x="538" y="980"/>
                    <a:pt x="538" y="965"/>
                  </a:cubicBezTo>
                  <a:cubicBezTo>
                    <a:pt x="538" y="949"/>
                    <a:pt x="550" y="937"/>
                    <a:pt x="566" y="937"/>
                  </a:cubicBezTo>
                  <a:cubicBezTo>
                    <a:pt x="581" y="937"/>
                    <a:pt x="594" y="949"/>
                    <a:pt x="594" y="965"/>
                  </a:cubicBezTo>
                  <a:close/>
                  <a:moveTo>
                    <a:pt x="461" y="965"/>
                  </a:moveTo>
                  <a:cubicBezTo>
                    <a:pt x="461" y="980"/>
                    <a:pt x="448" y="993"/>
                    <a:pt x="433" y="993"/>
                  </a:cubicBezTo>
                  <a:cubicBezTo>
                    <a:pt x="417" y="993"/>
                    <a:pt x="405" y="980"/>
                    <a:pt x="405" y="965"/>
                  </a:cubicBezTo>
                  <a:cubicBezTo>
                    <a:pt x="405" y="949"/>
                    <a:pt x="417" y="937"/>
                    <a:pt x="433" y="937"/>
                  </a:cubicBezTo>
                  <a:cubicBezTo>
                    <a:pt x="448" y="937"/>
                    <a:pt x="461" y="949"/>
                    <a:pt x="461" y="965"/>
                  </a:cubicBezTo>
                  <a:close/>
                  <a:moveTo>
                    <a:pt x="332" y="927"/>
                  </a:moveTo>
                  <a:cubicBezTo>
                    <a:pt x="332" y="942"/>
                    <a:pt x="319" y="955"/>
                    <a:pt x="304" y="955"/>
                  </a:cubicBezTo>
                  <a:cubicBezTo>
                    <a:pt x="288" y="955"/>
                    <a:pt x="276" y="942"/>
                    <a:pt x="276" y="927"/>
                  </a:cubicBezTo>
                  <a:cubicBezTo>
                    <a:pt x="276" y="911"/>
                    <a:pt x="288" y="899"/>
                    <a:pt x="304" y="899"/>
                  </a:cubicBezTo>
                  <a:cubicBezTo>
                    <a:pt x="319" y="899"/>
                    <a:pt x="332" y="911"/>
                    <a:pt x="332" y="927"/>
                  </a:cubicBezTo>
                  <a:close/>
                  <a:moveTo>
                    <a:pt x="220" y="855"/>
                  </a:moveTo>
                  <a:cubicBezTo>
                    <a:pt x="220" y="870"/>
                    <a:pt x="207" y="883"/>
                    <a:pt x="192" y="883"/>
                  </a:cubicBezTo>
                  <a:cubicBezTo>
                    <a:pt x="176" y="883"/>
                    <a:pt x="164" y="870"/>
                    <a:pt x="164" y="855"/>
                  </a:cubicBezTo>
                  <a:cubicBezTo>
                    <a:pt x="164" y="839"/>
                    <a:pt x="176" y="827"/>
                    <a:pt x="192" y="827"/>
                  </a:cubicBezTo>
                  <a:cubicBezTo>
                    <a:pt x="207" y="827"/>
                    <a:pt x="220" y="839"/>
                    <a:pt x="220" y="855"/>
                  </a:cubicBezTo>
                  <a:close/>
                  <a:moveTo>
                    <a:pt x="132" y="754"/>
                  </a:moveTo>
                  <a:cubicBezTo>
                    <a:pt x="132" y="769"/>
                    <a:pt x="119" y="782"/>
                    <a:pt x="104" y="782"/>
                  </a:cubicBezTo>
                  <a:cubicBezTo>
                    <a:pt x="88" y="782"/>
                    <a:pt x="76" y="769"/>
                    <a:pt x="76" y="754"/>
                  </a:cubicBezTo>
                  <a:cubicBezTo>
                    <a:pt x="76" y="738"/>
                    <a:pt x="88" y="726"/>
                    <a:pt x="104" y="726"/>
                  </a:cubicBezTo>
                  <a:cubicBezTo>
                    <a:pt x="119" y="726"/>
                    <a:pt x="132" y="738"/>
                    <a:pt x="132" y="754"/>
                  </a:cubicBezTo>
                  <a:close/>
                  <a:moveTo>
                    <a:pt x="77" y="632"/>
                  </a:moveTo>
                  <a:cubicBezTo>
                    <a:pt x="77" y="647"/>
                    <a:pt x="64" y="660"/>
                    <a:pt x="49" y="660"/>
                  </a:cubicBezTo>
                  <a:cubicBezTo>
                    <a:pt x="33" y="660"/>
                    <a:pt x="21" y="647"/>
                    <a:pt x="21" y="632"/>
                  </a:cubicBezTo>
                  <a:cubicBezTo>
                    <a:pt x="21" y="616"/>
                    <a:pt x="33" y="604"/>
                    <a:pt x="49" y="604"/>
                  </a:cubicBezTo>
                  <a:cubicBezTo>
                    <a:pt x="64" y="604"/>
                    <a:pt x="77" y="616"/>
                    <a:pt x="77" y="632"/>
                  </a:cubicBezTo>
                  <a:close/>
                  <a:moveTo>
                    <a:pt x="58" y="500"/>
                  </a:moveTo>
                  <a:cubicBezTo>
                    <a:pt x="58" y="515"/>
                    <a:pt x="45" y="528"/>
                    <a:pt x="30" y="528"/>
                  </a:cubicBezTo>
                  <a:cubicBezTo>
                    <a:pt x="14" y="528"/>
                    <a:pt x="2" y="515"/>
                    <a:pt x="2" y="500"/>
                  </a:cubicBezTo>
                  <a:cubicBezTo>
                    <a:pt x="2" y="484"/>
                    <a:pt x="14" y="472"/>
                    <a:pt x="30" y="472"/>
                  </a:cubicBezTo>
                  <a:cubicBezTo>
                    <a:pt x="45" y="472"/>
                    <a:pt x="58" y="484"/>
                    <a:pt x="58" y="500"/>
                  </a:cubicBezTo>
                  <a:close/>
                  <a:moveTo>
                    <a:pt x="77" y="367"/>
                  </a:moveTo>
                  <a:cubicBezTo>
                    <a:pt x="77" y="382"/>
                    <a:pt x="64" y="395"/>
                    <a:pt x="49" y="395"/>
                  </a:cubicBezTo>
                  <a:cubicBezTo>
                    <a:pt x="33" y="395"/>
                    <a:pt x="21" y="382"/>
                    <a:pt x="21" y="367"/>
                  </a:cubicBezTo>
                  <a:cubicBezTo>
                    <a:pt x="21" y="351"/>
                    <a:pt x="33" y="339"/>
                    <a:pt x="49" y="339"/>
                  </a:cubicBezTo>
                  <a:cubicBezTo>
                    <a:pt x="64" y="339"/>
                    <a:pt x="77" y="351"/>
                    <a:pt x="77" y="367"/>
                  </a:cubicBezTo>
                  <a:close/>
                  <a:moveTo>
                    <a:pt x="132" y="245"/>
                  </a:moveTo>
                  <a:cubicBezTo>
                    <a:pt x="132" y="260"/>
                    <a:pt x="119" y="273"/>
                    <a:pt x="104" y="273"/>
                  </a:cubicBezTo>
                  <a:cubicBezTo>
                    <a:pt x="88" y="273"/>
                    <a:pt x="76" y="260"/>
                    <a:pt x="76" y="245"/>
                  </a:cubicBezTo>
                  <a:cubicBezTo>
                    <a:pt x="76" y="229"/>
                    <a:pt x="88" y="217"/>
                    <a:pt x="104" y="217"/>
                  </a:cubicBezTo>
                  <a:cubicBezTo>
                    <a:pt x="119" y="217"/>
                    <a:pt x="132" y="229"/>
                    <a:pt x="132" y="245"/>
                  </a:cubicBezTo>
                  <a:close/>
                  <a:moveTo>
                    <a:pt x="220" y="144"/>
                  </a:moveTo>
                  <a:cubicBezTo>
                    <a:pt x="220" y="159"/>
                    <a:pt x="207" y="172"/>
                    <a:pt x="192" y="172"/>
                  </a:cubicBezTo>
                  <a:cubicBezTo>
                    <a:pt x="176" y="172"/>
                    <a:pt x="164" y="159"/>
                    <a:pt x="164" y="144"/>
                  </a:cubicBezTo>
                  <a:cubicBezTo>
                    <a:pt x="164" y="128"/>
                    <a:pt x="176" y="116"/>
                    <a:pt x="192" y="116"/>
                  </a:cubicBezTo>
                  <a:cubicBezTo>
                    <a:pt x="207" y="116"/>
                    <a:pt x="220" y="128"/>
                    <a:pt x="220" y="144"/>
                  </a:cubicBezTo>
                  <a:close/>
                  <a:moveTo>
                    <a:pt x="332" y="72"/>
                  </a:moveTo>
                  <a:cubicBezTo>
                    <a:pt x="332" y="87"/>
                    <a:pt x="319" y="100"/>
                    <a:pt x="304" y="100"/>
                  </a:cubicBezTo>
                  <a:cubicBezTo>
                    <a:pt x="288" y="100"/>
                    <a:pt x="276" y="87"/>
                    <a:pt x="276" y="72"/>
                  </a:cubicBezTo>
                  <a:cubicBezTo>
                    <a:pt x="276" y="56"/>
                    <a:pt x="288" y="44"/>
                    <a:pt x="304" y="44"/>
                  </a:cubicBezTo>
                  <a:cubicBezTo>
                    <a:pt x="319" y="44"/>
                    <a:pt x="332" y="56"/>
                    <a:pt x="332" y="72"/>
                  </a:cubicBezTo>
                  <a:close/>
                  <a:moveTo>
                    <a:pt x="461" y="34"/>
                  </a:moveTo>
                  <a:cubicBezTo>
                    <a:pt x="461" y="49"/>
                    <a:pt x="448" y="62"/>
                    <a:pt x="433" y="62"/>
                  </a:cubicBezTo>
                  <a:cubicBezTo>
                    <a:pt x="417" y="62"/>
                    <a:pt x="405" y="49"/>
                    <a:pt x="405" y="34"/>
                  </a:cubicBezTo>
                  <a:cubicBezTo>
                    <a:pt x="405" y="18"/>
                    <a:pt x="417" y="6"/>
                    <a:pt x="433" y="6"/>
                  </a:cubicBezTo>
                  <a:cubicBezTo>
                    <a:pt x="448" y="6"/>
                    <a:pt x="461" y="18"/>
                    <a:pt x="461" y="34"/>
                  </a:cubicBezTo>
                  <a:close/>
                  <a:moveTo>
                    <a:pt x="594" y="34"/>
                  </a:moveTo>
                  <a:cubicBezTo>
                    <a:pt x="594" y="49"/>
                    <a:pt x="581" y="62"/>
                    <a:pt x="566" y="62"/>
                  </a:cubicBezTo>
                  <a:cubicBezTo>
                    <a:pt x="550" y="62"/>
                    <a:pt x="538" y="49"/>
                    <a:pt x="538" y="34"/>
                  </a:cubicBezTo>
                  <a:cubicBezTo>
                    <a:pt x="538" y="18"/>
                    <a:pt x="550" y="6"/>
                    <a:pt x="566" y="6"/>
                  </a:cubicBezTo>
                  <a:cubicBezTo>
                    <a:pt x="581" y="6"/>
                    <a:pt x="594" y="18"/>
                    <a:pt x="594" y="34"/>
                  </a:cubicBezTo>
                  <a:close/>
                  <a:moveTo>
                    <a:pt x="723" y="72"/>
                  </a:moveTo>
                  <a:cubicBezTo>
                    <a:pt x="723" y="87"/>
                    <a:pt x="710" y="100"/>
                    <a:pt x="695" y="100"/>
                  </a:cubicBezTo>
                  <a:cubicBezTo>
                    <a:pt x="679" y="100"/>
                    <a:pt x="667" y="87"/>
                    <a:pt x="667" y="72"/>
                  </a:cubicBezTo>
                  <a:cubicBezTo>
                    <a:pt x="667" y="56"/>
                    <a:pt x="679" y="44"/>
                    <a:pt x="695" y="44"/>
                  </a:cubicBezTo>
                  <a:cubicBezTo>
                    <a:pt x="710" y="44"/>
                    <a:pt x="723" y="56"/>
                    <a:pt x="723" y="72"/>
                  </a:cubicBezTo>
                  <a:close/>
                  <a:moveTo>
                    <a:pt x="835" y="144"/>
                  </a:moveTo>
                  <a:cubicBezTo>
                    <a:pt x="835" y="159"/>
                    <a:pt x="822" y="172"/>
                    <a:pt x="807" y="172"/>
                  </a:cubicBezTo>
                  <a:cubicBezTo>
                    <a:pt x="791" y="172"/>
                    <a:pt x="779" y="159"/>
                    <a:pt x="779" y="144"/>
                  </a:cubicBezTo>
                  <a:cubicBezTo>
                    <a:pt x="779" y="128"/>
                    <a:pt x="791" y="116"/>
                    <a:pt x="807" y="116"/>
                  </a:cubicBezTo>
                  <a:cubicBezTo>
                    <a:pt x="822" y="116"/>
                    <a:pt x="835" y="128"/>
                    <a:pt x="835" y="144"/>
                  </a:cubicBezTo>
                  <a:close/>
                  <a:moveTo>
                    <a:pt x="923" y="245"/>
                  </a:moveTo>
                  <a:cubicBezTo>
                    <a:pt x="923" y="260"/>
                    <a:pt x="910" y="273"/>
                    <a:pt x="895" y="273"/>
                  </a:cubicBezTo>
                  <a:cubicBezTo>
                    <a:pt x="879" y="273"/>
                    <a:pt x="867" y="260"/>
                    <a:pt x="867" y="245"/>
                  </a:cubicBezTo>
                  <a:cubicBezTo>
                    <a:pt x="867" y="229"/>
                    <a:pt x="879" y="217"/>
                    <a:pt x="895" y="217"/>
                  </a:cubicBezTo>
                  <a:cubicBezTo>
                    <a:pt x="910" y="217"/>
                    <a:pt x="923" y="229"/>
                    <a:pt x="923" y="245"/>
                  </a:cubicBezTo>
                  <a:close/>
                  <a:moveTo>
                    <a:pt x="978" y="367"/>
                  </a:moveTo>
                  <a:cubicBezTo>
                    <a:pt x="978" y="382"/>
                    <a:pt x="965" y="395"/>
                    <a:pt x="950" y="395"/>
                  </a:cubicBezTo>
                  <a:cubicBezTo>
                    <a:pt x="934" y="395"/>
                    <a:pt x="922" y="382"/>
                    <a:pt x="922" y="367"/>
                  </a:cubicBezTo>
                  <a:cubicBezTo>
                    <a:pt x="922" y="351"/>
                    <a:pt x="934" y="339"/>
                    <a:pt x="950" y="339"/>
                  </a:cubicBezTo>
                  <a:cubicBezTo>
                    <a:pt x="965" y="339"/>
                    <a:pt x="978" y="351"/>
                    <a:pt x="978" y="367"/>
                  </a:cubicBezTo>
                  <a:close/>
                </a:path>
              </a:pathLst>
            </a:custGeom>
            <a:gradFill rotWithShape="1">
              <a:gsLst>
                <a:gs pos="0">
                  <a:srgbClr val="F5B4AD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922B21"/>
              </a:solidFill>
              <a:round/>
            </a:ln>
          </p:spPr>
        </p:sp>
        <p:sp>
          <p:nvSpPr>
            <p:cNvPr id="46" name="Forma 45"/>
            <p:cNvSpPr txBox="1"/>
            <p:nvPr/>
          </p:nvSpPr>
          <p:spPr>
            <a:xfrm>
              <a:off x="2377440" y="13716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LDL</a:t>
              </a:r>
              <a:endParaRPr lang="es-AR" sz="1000" dirty="0">
                <a:latin typeface="Calibri"/>
              </a:endParaRPr>
            </a:p>
          </p:txBody>
        </p:sp>
      </p:grpSp>
      <p:grpSp>
        <p:nvGrpSpPr>
          <p:cNvPr id="47" name="LDL 2"/>
          <p:cNvGrpSpPr/>
          <p:nvPr/>
        </p:nvGrpSpPr>
        <p:grpSpPr>
          <a:xfrm>
            <a:off x="3657600" y="1234440"/>
            <a:ext cx="457200" cy="457200"/>
            <a:chOff x="3657600" y="1234440"/>
            <a:chExt cx="457200" cy="457200"/>
          </a:xfrm>
        </p:grpSpPr>
        <p:sp>
          <p:nvSpPr>
            <p:cNvPr id="48" name="Forma 47"/>
            <p:cNvSpPr/>
            <p:nvPr/>
          </p:nvSpPr>
          <p:spPr>
            <a:xfrm>
              <a:off x="3657600" y="123444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BF1C5"/>
                </a:gs>
                <a:gs pos="70000">
                  <a:srgbClr val="F7DC6F"/>
                </a:gs>
                <a:gs pos="100000">
                  <a:srgbClr val="C5B058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8C6D1F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49" name="Forma 48"/>
            <p:cNvSpPr/>
            <p:nvPr/>
          </p:nvSpPr>
          <p:spPr>
            <a:xfrm>
              <a:off x="3657600" y="123444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98" y="500"/>
                  </a:moveTo>
                  <a:cubicBezTo>
                    <a:pt x="998" y="515"/>
                    <a:pt x="985" y="528"/>
                    <a:pt x="970" y="528"/>
                  </a:cubicBezTo>
                  <a:cubicBezTo>
                    <a:pt x="954" y="528"/>
                    <a:pt x="942" y="515"/>
                    <a:pt x="942" y="500"/>
                  </a:cubicBezTo>
                  <a:cubicBezTo>
                    <a:pt x="942" y="484"/>
                    <a:pt x="954" y="472"/>
                    <a:pt x="970" y="472"/>
                  </a:cubicBezTo>
                  <a:cubicBezTo>
                    <a:pt x="985" y="472"/>
                    <a:pt x="998" y="484"/>
                    <a:pt x="998" y="500"/>
                  </a:cubicBezTo>
                  <a:close/>
                  <a:moveTo>
                    <a:pt x="978" y="632"/>
                  </a:moveTo>
                  <a:cubicBezTo>
                    <a:pt x="978" y="647"/>
                    <a:pt x="965" y="660"/>
                    <a:pt x="950" y="660"/>
                  </a:cubicBezTo>
                  <a:cubicBezTo>
                    <a:pt x="934" y="660"/>
                    <a:pt x="922" y="647"/>
                    <a:pt x="922" y="632"/>
                  </a:cubicBezTo>
                  <a:cubicBezTo>
                    <a:pt x="922" y="616"/>
                    <a:pt x="934" y="604"/>
                    <a:pt x="950" y="604"/>
                  </a:cubicBezTo>
                  <a:cubicBezTo>
                    <a:pt x="965" y="604"/>
                    <a:pt x="978" y="616"/>
                    <a:pt x="978" y="632"/>
                  </a:cubicBezTo>
                  <a:close/>
                  <a:moveTo>
                    <a:pt x="923" y="754"/>
                  </a:moveTo>
                  <a:cubicBezTo>
                    <a:pt x="923" y="769"/>
                    <a:pt x="910" y="782"/>
                    <a:pt x="895" y="782"/>
                  </a:cubicBezTo>
                  <a:cubicBezTo>
                    <a:pt x="879" y="782"/>
                    <a:pt x="867" y="769"/>
                    <a:pt x="867" y="754"/>
                  </a:cubicBezTo>
                  <a:cubicBezTo>
                    <a:pt x="867" y="738"/>
                    <a:pt x="879" y="726"/>
                    <a:pt x="895" y="726"/>
                  </a:cubicBezTo>
                  <a:cubicBezTo>
                    <a:pt x="910" y="726"/>
                    <a:pt x="923" y="738"/>
                    <a:pt x="923" y="754"/>
                  </a:cubicBezTo>
                  <a:close/>
                  <a:moveTo>
                    <a:pt x="835" y="855"/>
                  </a:moveTo>
                  <a:cubicBezTo>
                    <a:pt x="835" y="870"/>
                    <a:pt x="822" y="883"/>
                    <a:pt x="807" y="883"/>
                  </a:cubicBezTo>
                  <a:cubicBezTo>
                    <a:pt x="791" y="883"/>
                    <a:pt x="779" y="870"/>
                    <a:pt x="779" y="855"/>
                  </a:cubicBezTo>
                  <a:cubicBezTo>
                    <a:pt x="779" y="839"/>
                    <a:pt x="791" y="827"/>
                    <a:pt x="807" y="827"/>
                  </a:cubicBezTo>
                  <a:cubicBezTo>
                    <a:pt x="822" y="827"/>
                    <a:pt x="835" y="839"/>
                    <a:pt x="835" y="855"/>
                  </a:cubicBezTo>
                  <a:close/>
                  <a:moveTo>
                    <a:pt x="723" y="927"/>
                  </a:moveTo>
                  <a:cubicBezTo>
                    <a:pt x="723" y="942"/>
                    <a:pt x="710" y="955"/>
                    <a:pt x="695" y="955"/>
                  </a:cubicBezTo>
                  <a:cubicBezTo>
                    <a:pt x="679" y="955"/>
                    <a:pt x="667" y="942"/>
                    <a:pt x="667" y="927"/>
                  </a:cubicBezTo>
                  <a:cubicBezTo>
                    <a:pt x="667" y="911"/>
                    <a:pt x="679" y="899"/>
                    <a:pt x="695" y="899"/>
                  </a:cubicBezTo>
                  <a:cubicBezTo>
                    <a:pt x="710" y="899"/>
                    <a:pt x="723" y="911"/>
                    <a:pt x="723" y="927"/>
                  </a:cubicBezTo>
                  <a:close/>
                  <a:moveTo>
                    <a:pt x="594" y="965"/>
                  </a:moveTo>
                  <a:cubicBezTo>
                    <a:pt x="594" y="980"/>
                    <a:pt x="581" y="993"/>
                    <a:pt x="566" y="993"/>
                  </a:cubicBezTo>
                  <a:cubicBezTo>
                    <a:pt x="550" y="993"/>
                    <a:pt x="538" y="980"/>
                    <a:pt x="538" y="965"/>
                  </a:cubicBezTo>
                  <a:cubicBezTo>
                    <a:pt x="538" y="949"/>
                    <a:pt x="550" y="937"/>
                    <a:pt x="566" y="937"/>
                  </a:cubicBezTo>
                  <a:cubicBezTo>
                    <a:pt x="581" y="937"/>
                    <a:pt x="594" y="949"/>
                    <a:pt x="594" y="965"/>
                  </a:cubicBezTo>
                  <a:close/>
                  <a:moveTo>
                    <a:pt x="461" y="965"/>
                  </a:moveTo>
                  <a:cubicBezTo>
                    <a:pt x="461" y="980"/>
                    <a:pt x="448" y="993"/>
                    <a:pt x="433" y="993"/>
                  </a:cubicBezTo>
                  <a:cubicBezTo>
                    <a:pt x="417" y="993"/>
                    <a:pt x="405" y="980"/>
                    <a:pt x="405" y="965"/>
                  </a:cubicBezTo>
                  <a:cubicBezTo>
                    <a:pt x="405" y="949"/>
                    <a:pt x="417" y="937"/>
                    <a:pt x="433" y="937"/>
                  </a:cubicBezTo>
                  <a:cubicBezTo>
                    <a:pt x="448" y="937"/>
                    <a:pt x="461" y="949"/>
                    <a:pt x="461" y="965"/>
                  </a:cubicBezTo>
                  <a:close/>
                  <a:moveTo>
                    <a:pt x="332" y="927"/>
                  </a:moveTo>
                  <a:cubicBezTo>
                    <a:pt x="332" y="942"/>
                    <a:pt x="319" y="955"/>
                    <a:pt x="304" y="955"/>
                  </a:cubicBezTo>
                  <a:cubicBezTo>
                    <a:pt x="288" y="955"/>
                    <a:pt x="276" y="942"/>
                    <a:pt x="276" y="927"/>
                  </a:cubicBezTo>
                  <a:cubicBezTo>
                    <a:pt x="276" y="911"/>
                    <a:pt x="288" y="899"/>
                    <a:pt x="304" y="899"/>
                  </a:cubicBezTo>
                  <a:cubicBezTo>
                    <a:pt x="319" y="899"/>
                    <a:pt x="332" y="911"/>
                    <a:pt x="332" y="927"/>
                  </a:cubicBezTo>
                  <a:close/>
                  <a:moveTo>
                    <a:pt x="220" y="855"/>
                  </a:moveTo>
                  <a:cubicBezTo>
                    <a:pt x="220" y="870"/>
                    <a:pt x="207" y="883"/>
                    <a:pt x="192" y="883"/>
                  </a:cubicBezTo>
                  <a:cubicBezTo>
                    <a:pt x="176" y="883"/>
                    <a:pt x="164" y="870"/>
                    <a:pt x="164" y="855"/>
                  </a:cubicBezTo>
                  <a:cubicBezTo>
                    <a:pt x="164" y="839"/>
                    <a:pt x="176" y="827"/>
                    <a:pt x="192" y="827"/>
                  </a:cubicBezTo>
                  <a:cubicBezTo>
                    <a:pt x="207" y="827"/>
                    <a:pt x="220" y="839"/>
                    <a:pt x="220" y="855"/>
                  </a:cubicBezTo>
                  <a:close/>
                  <a:moveTo>
                    <a:pt x="132" y="754"/>
                  </a:moveTo>
                  <a:cubicBezTo>
                    <a:pt x="132" y="769"/>
                    <a:pt x="119" y="782"/>
                    <a:pt x="104" y="782"/>
                  </a:cubicBezTo>
                  <a:cubicBezTo>
                    <a:pt x="88" y="782"/>
                    <a:pt x="76" y="769"/>
                    <a:pt x="76" y="754"/>
                  </a:cubicBezTo>
                  <a:cubicBezTo>
                    <a:pt x="76" y="738"/>
                    <a:pt x="88" y="726"/>
                    <a:pt x="104" y="726"/>
                  </a:cubicBezTo>
                  <a:cubicBezTo>
                    <a:pt x="119" y="726"/>
                    <a:pt x="132" y="738"/>
                    <a:pt x="132" y="754"/>
                  </a:cubicBezTo>
                  <a:close/>
                  <a:moveTo>
                    <a:pt x="77" y="632"/>
                  </a:moveTo>
                  <a:cubicBezTo>
                    <a:pt x="77" y="647"/>
                    <a:pt x="64" y="660"/>
                    <a:pt x="49" y="660"/>
                  </a:cubicBezTo>
                  <a:cubicBezTo>
                    <a:pt x="33" y="660"/>
                    <a:pt x="21" y="647"/>
                    <a:pt x="21" y="632"/>
                  </a:cubicBezTo>
                  <a:cubicBezTo>
                    <a:pt x="21" y="616"/>
                    <a:pt x="33" y="604"/>
                    <a:pt x="49" y="604"/>
                  </a:cubicBezTo>
                  <a:cubicBezTo>
                    <a:pt x="64" y="604"/>
                    <a:pt x="77" y="616"/>
                    <a:pt x="77" y="632"/>
                  </a:cubicBezTo>
                  <a:close/>
                  <a:moveTo>
                    <a:pt x="58" y="500"/>
                  </a:moveTo>
                  <a:cubicBezTo>
                    <a:pt x="58" y="515"/>
                    <a:pt x="45" y="528"/>
                    <a:pt x="30" y="528"/>
                  </a:cubicBezTo>
                  <a:cubicBezTo>
                    <a:pt x="14" y="528"/>
                    <a:pt x="2" y="515"/>
                    <a:pt x="2" y="500"/>
                  </a:cubicBezTo>
                  <a:cubicBezTo>
                    <a:pt x="2" y="484"/>
                    <a:pt x="14" y="472"/>
                    <a:pt x="30" y="472"/>
                  </a:cubicBezTo>
                  <a:cubicBezTo>
                    <a:pt x="45" y="472"/>
                    <a:pt x="58" y="484"/>
                    <a:pt x="58" y="500"/>
                  </a:cubicBezTo>
                  <a:close/>
                  <a:moveTo>
                    <a:pt x="77" y="367"/>
                  </a:moveTo>
                  <a:cubicBezTo>
                    <a:pt x="77" y="382"/>
                    <a:pt x="64" y="395"/>
                    <a:pt x="49" y="395"/>
                  </a:cubicBezTo>
                  <a:cubicBezTo>
                    <a:pt x="33" y="395"/>
                    <a:pt x="21" y="382"/>
                    <a:pt x="21" y="367"/>
                  </a:cubicBezTo>
                  <a:cubicBezTo>
                    <a:pt x="21" y="351"/>
                    <a:pt x="33" y="339"/>
                    <a:pt x="49" y="339"/>
                  </a:cubicBezTo>
                  <a:cubicBezTo>
                    <a:pt x="64" y="339"/>
                    <a:pt x="77" y="351"/>
                    <a:pt x="77" y="367"/>
                  </a:cubicBezTo>
                  <a:close/>
                  <a:moveTo>
                    <a:pt x="132" y="245"/>
                  </a:moveTo>
                  <a:cubicBezTo>
                    <a:pt x="132" y="260"/>
                    <a:pt x="119" y="273"/>
                    <a:pt x="104" y="273"/>
                  </a:cubicBezTo>
                  <a:cubicBezTo>
                    <a:pt x="88" y="273"/>
                    <a:pt x="76" y="260"/>
                    <a:pt x="76" y="245"/>
                  </a:cubicBezTo>
                  <a:cubicBezTo>
                    <a:pt x="76" y="229"/>
                    <a:pt x="88" y="217"/>
                    <a:pt x="104" y="217"/>
                  </a:cubicBezTo>
                  <a:cubicBezTo>
                    <a:pt x="119" y="217"/>
                    <a:pt x="132" y="229"/>
                    <a:pt x="132" y="245"/>
                  </a:cubicBezTo>
                  <a:close/>
                  <a:moveTo>
                    <a:pt x="220" y="144"/>
                  </a:moveTo>
                  <a:cubicBezTo>
                    <a:pt x="220" y="159"/>
                    <a:pt x="207" y="172"/>
                    <a:pt x="192" y="172"/>
                  </a:cubicBezTo>
                  <a:cubicBezTo>
                    <a:pt x="176" y="172"/>
                    <a:pt x="164" y="159"/>
                    <a:pt x="164" y="144"/>
                  </a:cubicBezTo>
                  <a:cubicBezTo>
                    <a:pt x="164" y="128"/>
                    <a:pt x="176" y="116"/>
                    <a:pt x="192" y="116"/>
                  </a:cubicBezTo>
                  <a:cubicBezTo>
                    <a:pt x="207" y="116"/>
                    <a:pt x="220" y="128"/>
                    <a:pt x="220" y="144"/>
                  </a:cubicBezTo>
                  <a:close/>
                  <a:moveTo>
                    <a:pt x="332" y="72"/>
                  </a:moveTo>
                  <a:cubicBezTo>
                    <a:pt x="332" y="87"/>
                    <a:pt x="319" y="100"/>
                    <a:pt x="304" y="100"/>
                  </a:cubicBezTo>
                  <a:cubicBezTo>
                    <a:pt x="288" y="100"/>
                    <a:pt x="276" y="87"/>
                    <a:pt x="276" y="72"/>
                  </a:cubicBezTo>
                  <a:cubicBezTo>
                    <a:pt x="276" y="56"/>
                    <a:pt x="288" y="44"/>
                    <a:pt x="304" y="44"/>
                  </a:cubicBezTo>
                  <a:cubicBezTo>
                    <a:pt x="319" y="44"/>
                    <a:pt x="332" y="56"/>
                    <a:pt x="332" y="72"/>
                  </a:cubicBezTo>
                  <a:close/>
                  <a:moveTo>
                    <a:pt x="461" y="34"/>
                  </a:moveTo>
                  <a:cubicBezTo>
                    <a:pt x="461" y="49"/>
                    <a:pt x="448" y="62"/>
                    <a:pt x="433" y="62"/>
                  </a:cubicBezTo>
                  <a:cubicBezTo>
                    <a:pt x="417" y="62"/>
                    <a:pt x="405" y="49"/>
                    <a:pt x="405" y="34"/>
                  </a:cubicBezTo>
                  <a:cubicBezTo>
                    <a:pt x="405" y="18"/>
                    <a:pt x="417" y="6"/>
                    <a:pt x="433" y="6"/>
                  </a:cubicBezTo>
                  <a:cubicBezTo>
                    <a:pt x="448" y="6"/>
                    <a:pt x="461" y="18"/>
                    <a:pt x="461" y="34"/>
                  </a:cubicBezTo>
                  <a:close/>
                  <a:moveTo>
                    <a:pt x="594" y="34"/>
                  </a:moveTo>
                  <a:cubicBezTo>
                    <a:pt x="594" y="49"/>
                    <a:pt x="581" y="62"/>
                    <a:pt x="566" y="62"/>
                  </a:cubicBezTo>
                  <a:cubicBezTo>
                    <a:pt x="550" y="62"/>
                    <a:pt x="538" y="49"/>
                    <a:pt x="538" y="34"/>
                  </a:cubicBezTo>
                  <a:cubicBezTo>
                    <a:pt x="538" y="18"/>
                    <a:pt x="550" y="6"/>
                    <a:pt x="566" y="6"/>
                  </a:cubicBezTo>
                  <a:cubicBezTo>
                    <a:pt x="581" y="6"/>
                    <a:pt x="594" y="18"/>
                    <a:pt x="594" y="34"/>
                  </a:cubicBezTo>
                  <a:close/>
                  <a:moveTo>
                    <a:pt x="723" y="72"/>
                  </a:moveTo>
                  <a:cubicBezTo>
                    <a:pt x="723" y="87"/>
                    <a:pt x="710" y="100"/>
                    <a:pt x="695" y="100"/>
                  </a:cubicBezTo>
                  <a:cubicBezTo>
                    <a:pt x="679" y="100"/>
                    <a:pt x="667" y="87"/>
                    <a:pt x="667" y="72"/>
                  </a:cubicBezTo>
                  <a:cubicBezTo>
                    <a:pt x="667" y="56"/>
                    <a:pt x="679" y="44"/>
                    <a:pt x="695" y="44"/>
                  </a:cubicBezTo>
                  <a:cubicBezTo>
                    <a:pt x="710" y="44"/>
                    <a:pt x="723" y="56"/>
                    <a:pt x="723" y="72"/>
                  </a:cubicBezTo>
                  <a:close/>
                  <a:moveTo>
                    <a:pt x="835" y="144"/>
                  </a:moveTo>
                  <a:cubicBezTo>
                    <a:pt x="835" y="159"/>
                    <a:pt x="822" y="172"/>
                    <a:pt x="807" y="172"/>
                  </a:cubicBezTo>
                  <a:cubicBezTo>
                    <a:pt x="791" y="172"/>
                    <a:pt x="779" y="159"/>
                    <a:pt x="779" y="144"/>
                  </a:cubicBezTo>
                  <a:cubicBezTo>
                    <a:pt x="779" y="128"/>
                    <a:pt x="791" y="116"/>
                    <a:pt x="807" y="116"/>
                  </a:cubicBezTo>
                  <a:cubicBezTo>
                    <a:pt x="822" y="116"/>
                    <a:pt x="835" y="128"/>
                    <a:pt x="835" y="144"/>
                  </a:cubicBezTo>
                  <a:close/>
                  <a:moveTo>
                    <a:pt x="923" y="245"/>
                  </a:moveTo>
                  <a:cubicBezTo>
                    <a:pt x="923" y="260"/>
                    <a:pt x="910" y="273"/>
                    <a:pt x="895" y="273"/>
                  </a:cubicBezTo>
                  <a:cubicBezTo>
                    <a:pt x="879" y="273"/>
                    <a:pt x="867" y="260"/>
                    <a:pt x="867" y="245"/>
                  </a:cubicBezTo>
                  <a:cubicBezTo>
                    <a:pt x="867" y="229"/>
                    <a:pt x="879" y="217"/>
                    <a:pt x="895" y="217"/>
                  </a:cubicBezTo>
                  <a:cubicBezTo>
                    <a:pt x="910" y="217"/>
                    <a:pt x="923" y="229"/>
                    <a:pt x="923" y="245"/>
                  </a:cubicBezTo>
                  <a:close/>
                  <a:moveTo>
                    <a:pt x="978" y="367"/>
                  </a:moveTo>
                  <a:cubicBezTo>
                    <a:pt x="978" y="382"/>
                    <a:pt x="965" y="395"/>
                    <a:pt x="950" y="395"/>
                  </a:cubicBezTo>
                  <a:cubicBezTo>
                    <a:pt x="934" y="395"/>
                    <a:pt x="922" y="382"/>
                    <a:pt x="922" y="367"/>
                  </a:cubicBezTo>
                  <a:cubicBezTo>
                    <a:pt x="922" y="351"/>
                    <a:pt x="934" y="339"/>
                    <a:pt x="950" y="339"/>
                  </a:cubicBezTo>
                  <a:cubicBezTo>
                    <a:pt x="965" y="339"/>
                    <a:pt x="978" y="351"/>
                    <a:pt x="978" y="367"/>
                  </a:cubicBezTo>
                  <a:close/>
                </a:path>
              </a:pathLst>
            </a:custGeom>
            <a:gradFill rotWithShape="1">
              <a:gsLst>
                <a:gs pos="0">
                  <a:srgbClr val="F5B4AD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922B21"/>
              </a:solidFill>
              <a:round/>
            </a:ln>
          </p:spPr>
        </p:sp>
        <p:sp>
          <p:nvSpPr>
            <p:cNvPr id="50" name="Forma 49"/>
            <p:cNvSpPr txBox="1"/>
            <p:nvPr/>
          </p:nvSpPr>
          <p:spPr>
            <a:xfrm>
              <a:off x="3657600" y="13716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LDL</a:t>
              </a:r>
              <a:endParaRPr lang="es-AR" sz="1000" dirty="0">
                <a:latin typeface="Calibri"/>
              </a:endParaRPr>
            </a:p>
          </p:txBody>
        </p:sp>
      </p:grpSp>
      <p:grpSp>
        <p:nvGrpSpPr>
          <p:cNvPr id="51" name="LDL 3"/>
          <p:cNvGrpSpPr/>
          <p:nvPr/>
        </p:nvGrpSpPr>
        <p:grpSpPr>
          <a:xfrm>
            <a:off x="4937760" y="1234440"/>
            <a:ext cx="457200" cy="457200"/>
            <a:chOff x="4937760" y="1234440"/>
            <a:chExt cx="457200" cy="457200"/>
          </a:xfrm>
        </p:grpSpPr>
        <p:sp>
          <p:nvSpPr>
            <p:cNvPr id="52" name="Forma 51"/>
            <p:cNvSpPr/>
            <p:nvPr/>
          </p:nvSpPr>
          <p:spPr>
            <a:xfrm>
              <a:off x="4937760" y="123444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BF1C5"/>
                </a:gs>
                <a:gs pos="70000">
                  <a:srgbClr val="F7DC6F"/>
                </a:gs>
                <a:gs pos="100000">
                  <a:srgbClr val="C5B058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8C6D1F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3" name="Forma 52"/>
            <p:cNvSpPr/>
            <p:nvPr/>
          </p:nvSpPr>
          <p:spPr>
            <a:xfrm>
              <a:off x="4937760" y="123444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98" y="500"/>
                  </a:moveTo>
                  <a:cubicBezTo>
                    <a:pt x="998" y="515"/>
                    <a:pt x="985" y="528"/>
                    <a:pt x="970" y="528"/>
                  </a:cubicBezTo>
                  <a:cubicBezTo>
                    <a:pt x="954" y="528"/>
                    <a:pt x="942" y="515"/>
                    <a:pt x="942" y="500"/>
                  </a:cubicBezTo>
                  <a:cubicBezTo>
                    <a:pt x="942" y="484"/>
                    <a:pt x="954" y="472"/>
                    <a:pt x="970" y="472"/>
                  </a:cubicBezTo>
                  <a:cubicBezTo>
                    <a:pt x="985" y="472"/>
                    <a:pt x="998" y="484"/>
                    <a:pt x="998" y="500"/>
                  </a:cubicBezTo>
                  <a:close/>
                  <a:moveTo>
                    <a:pt x="978" y="632"/>
                  </a:moveTo>
                  <a:cubicBezTo>
                    <a:pt x="978" y="647"/>
                    <a:pt x="965" y="660"/>
                    <a:pt x="950" y="660"/>
                  </a:cubicBezTo>
                  <a:cubicBezTo>
                    <a:pt x="934" y="660"/>
                    <a:pt x="922" y="647"/>
                    <a:pt x="922" y="632"/>
                  </a:cubicBezTo>
                  <a:cubicBezTo>
                    <a:pt x="922" y="616"/>
                    <a:pt x="934" y="604"/>
                    <a:pt x="950" y="604"/>
                  </a:cubicBezTo>
                  <a:cubicBezTo>
                    <a:pt x="965" y="604"/>
                    <a:pt x="978" y="616"/>
                    <a:pt x="978" y="632"/>
                  </a:cubicBezTo>
                  <a:close/>
                  <a:moveTo>
                    <a:pt x="923" y="754"/>
                  </a:moveTo>
                  <a:cubicBezTo>
                    <a:pt x="923" y="769"/>
                    <a:pt x="910" y="782"/>
                    <a:pt x="895" y="782"/>
                  </a:cubicBezTo>
                  <a:cubicBezTo>
                    <a:pt x="879" y="782"/>
                    <a:pt x="867" y="769"/>
                    <a:pt x="867" y="754"/>
                  </a:cubicBezTo>
                  <a:cubicBezTo>
                    <a:pt x="867" y="738"/>
                    <a:pt x="879" y="726"/>
                    <a:pt x="895" y="726"/>
                  </a:cubicBezTo>
                  <a:cubicBezTo>
                    <a:pt x="910" y="726"/>
                    <a:pt x="923" y="738"/>
                    <a:pt x="923" y="754"/>
                  </a:cubicBezTo>
                  <a:close/>
                  <a:moveTo>
                    <a:pt x="835" y="855"/>
                  </a:moveTo>
                  <a:cubicBezTo>
                    <a:pt x="835" y="870"/>
                    <a:pt x="822" y="883"/>
                    <a:pt x="807" y="883"/>
                  </a:cubicBezTo>
                  <a:cubicBezTo>
                    <a:pt x="791" y="883"/>
                    <a:pt x="779" y="870"/>
                    <a:pt x="779" y="855"/>
                  </a:cubicBezTo>
                  <a:cubicBezTo>
                    <a:pt x="779" y="839"/>
                    <a:pt x="791" y="827"/>
                    <a:pt x="807" y="827"/>
                  </a:cubicBezTo>
                  <a:cubicBezTo>
                    <a:pt x="822" y="827"/>
                    <a:pt x="835" y="839"/>
                    <a:pt x="835" y="855"/>
                  </a:cubicBezTo>
                  <a:close/>
                  <a:moveTo>
                    <a:pt x="723" y="927"/>
                  </a:moveTo>
                  <a:cubicBezTo>
                    <a:pt x="723" y="942"/>
                    <a:pt x="710" y="955"/>
                    <a:pt x="695" y="955"/>
                  </a:cubicBezTo>
                  <a:cubicBezTo>
                    <a:pt x="679" y="955"/>
                    <a:pt x="667" y="942"/>
                    <a:pt x="667" y="927"/>
                  </a:cubicBezTo>
                  <a:cubicBezTo>
                    <a:pt x="667" y="911"/>
                    <a:pt x="679" y="899"/>
                    <a:pt x="695" y="899"/>
                  </a:cubicBezTo>
                  <a:cubicBezTo>
                    <a:pt x="710" y="899"/>
                    <a:pt x="723" y="911"/>
                    <a:pt x="723" y="927"/>
                  </a:cubicBezTo>
                  <a:close/>
                  <a:moveTo>
                    <a:pt x="594" y="965"/>
                  </a:moveTo>
                  <a:cubicBezTo>
                    <a:pt x="594" y="980"/>
                    <a:pt x="581" y="993"/>
                    <a:pt x="566" y="993"/>
                  </a:cubicBezTo>
                  <a:cubicBezTo>
                    <a:pt x="550" y="993"/>
                    <a:pt x="538" y="980"/>
                    <a:pt x="538" y="965"/>
                  </a:cubicBezTo>
                  <a:cubicBezTo>
                    <a:pt x="538" y="949"/>
                    <a:pt x="550" y="937"/>
                    <a:pt x="566" y="937"/>
                  </a:cubicBezTo>
                  <a:cubicBezTo>
                    <a:pt x="581" y="937"/>
                    <a:pt x="594" y="949"/>
                    <a:pt x="594" y="965"/>
                  </a:cubicBezTo>
                  <a:close/>
                  <a:moveTo>
                    <a:pt x="461" y="965"/>
                  </a:moveTo>
                  <a:cubicBezTo>
                    <a:pt x="461" y="980"/>
                    <a:pt x="448" y="993"/>
                    <a:pt x="433" y="993"/>
                  </a:cubicBezTo>
                  <a:cubicBezTo>
                    <a:pt x="417" y="993"/>
                    <a:pt x="405" y="980"/>
                    <a:pt x="405" y="965"/>
                  </a:cubicBezTo>
                  <a:cubicBezTo>
                    <a:pt x="405" y="949"/>
                    <a:pt x="417" y="937"/>
                    <a:pt x="433" y="937"/>
                  </a:cubicBezTo>
                  <a:cubicBezTo>
                    <a:pt x="448" y="937"/>
                    <a:pt x="461" y="949"/>
                    <a:pt x="461" y="965"/>
                  </a:cubicBezTo>
                  <a:close/>
                  <a:moveTo>
                    <a:pt x="332" y="927"/>
                  </a:moveTo>
                  <a:cubicBezTo>
                    <a:pt x="332" y="942"/>
                    <a:pt x="319" y="955"/>
                    <a:pt x="304" y="955"/>
                  </a:cubicBezTo>
                  <a:cubicBezTo>
                    <a:pt x="288" y="955"/>
                    <a:pt x="276" y="942"/>
                    <a:pt x="276" y="927"/>
                  </a:cubicBezTo>
                  <a:cubicBezTo>
                    <a:pt x="276" y="911"/>
                    <a:pt x="288" y="899"/>
                    <a:pt x="304" y="899"/>
                  </a:cubicBezTo>
                  <a:cubicBezTo>
                    <a:pt x="319" y="899"/>
                    <a:pt x="332" y="911"/>
                    <a:pt x="332" y="927"/>
                  </a:cubicBezTo>
                  <a:close/>
                  <a:moveTo>
                    <a:pt x="220" y="855"/>
                  </a:moveTo>
                  <a:cubicBezTo>
                    <a:pt x="220" y="870"/>
                    <a:pt x="207" y="883"/>
                    <a:pt x="192" y="883"/>
                  </a:cubicBezTo>
                  <a:cubicBezTo>
                    <a:pt x="176" y="883"/>
                    <a:pt x="164" y="870"/>
                    <a:pt x="164" y="855"/>
                  </a:cubicBezTo>
                  <a:cubicBezTo>
                    <a:pt x="164" y="839"/>
                    <a:pt x="176" y="827"/>
                    <a:pt x="192" y="827"/>
                  </a:cubicBezTo>
                  <a:cubicBezTo>
                    <a:pt x="207" y="827"/>
                    <a:pt x="220" y="839"/>
                    <a:pt x="220" y="855"/>
                  </a:cubicBezTo>
                  <a:close/>
                  <a:moveTo>
                    <a:pt x="132" y="754"/>
                  </a:moveTo>
                  <a:cubicBezTo>
                    <a:pt x="132" y="769"/>
                    <a:pt x="119" y="782"/>
                    <a:pt x="104" y="782"/>
                  </a:cubicBezTo>
                  <a:cubicBezTo>
                    <a:pt x="88" y="782"/>
                    <a:pt x="76" y="769"/>
                    <a:pt x="76" y="754"/>
                  </a:cubicBezTo>
                  <a:cubicBezTo>
                    <a:pt x="76" y="738"/>
                    <a:pt x="88" y="726"/>
                    <a:pt x="104" y="726"/>
                  </a:cubicBezTo>
                  <a:cubicBezTo>
                    <a:pt x="119" y="726"/>
                    <a:pt x="132" y="738"/>
                    <a:pt x="132" y="754"/>
                  </a:cubicBezTo>
                  <a:close/>
                  <a:moveTo>
                    <a:pt x="77" y="632"/>
                  </a:moveTo>
                  <a:cubicBezTo>
                    <a:pt x="77" y="647"/>
                    <a:pt x="64" y="660"/>
                    <a:pt x="49" y="660"/>
                  </a:cubicBezTo>
                  <a:cubicBezTo>
                    <a:pt x="33" y="660"/>
                    <a:pt x="21" y="647"/>
                    <a:pt x="21" y="632"/>
                  </a:cubicBezTo>
                  <a:cubicBezTo>
                    <a:pt x="21" y="616"/>
                    <a:pt x="33" y="604"/>
                    <a:pt x="49" y="604"/>
                  </a:cubicBezTo>
                  <a:cubicBezTo>
                    <a:pt x="64" y="604"/>
                    <a:pt x="77" y="616"/>
                    <a:pt x="77" y="632"/>
                  </a:cubicBezTo>
                  <a:close/>
                  <a:moveTo>
                    <a:pt x="58" y="500"/>
                  </a:moveTo>
                  <a:cubicBezTo>
                    <a:pt x="58" y="515"/>
                    <a:pt x="45" y="528"/>
                    <a:pt x="30" y="528"/>
                  </a:cubicBezTo>
                  <a:cubicBezTo>
                    <a:pt x="14" y="528"/>
                    <a:pt x="2" y="515"/>
                    <a:pt x="2" y="500"/>
                  </a:cubicBezTo>
                  <a:cubicBezTo>
                    <a:pt x="2" y="484"/>
                    <a:pt x="14" y="472"/>
                    <a:pt x="30" y="472"/>
                  </a:cubicBezTo>
                  <a:cubicBezTo>
                    <a:pt x="45" y="472"/>
                    <a:pt x="58" y="484"/>
                    <a:pt x="58" y="500"/>
                  </a:cubicBezTo>
                  <a:close/>
                  <a:moveTo>
                    <a:pt x="77" y="367"/>
                  </a:moveTo>
                  <a:cubicBezTo>
                    <a:pt x="77" y="382"/>
                    <a:pt x="64" y="395"/>
                    <a:pt x="49" y="395"/>
                  </a:cubicBezTo>
                  <a:cubicBezTo>
                    <a:pt x="33" y="395"/>
                    <a:pt x="21" y="382"/>
                    <a:pt x="21" y="367"/>
                  </a:cubicBezTo>
                  <a:cubicBezTo>
                    <a:pt x="21" y="351"/>
                    <a:pt x="33" y="339"/>
                    <a:pt x="49" y="339"/>
                  </a:cubicBezTo>
                  <a:cubicBezTo>
                    <a:pt x="64" y="339"/>
                    <a:pt x="77" y="351"/>
                    <a:pt x="77" y="367"/>
                  </a:cubicBezTo>
                  <a:close/>
                  <a:moveTo>
                    <a:pt x="132" y="245"/>
                  </a:moveTo>
                  <a:cubicBezTo>
                    <a:pt x="132" y="260"/>
                    <a:pt x="119" y="273"/>
                    <a:pt x="104" y="273"/>
                  </a:cubicBezTo>
                  <a:cubicBezTo>
                    <a:pt x="88" y="273"/>
                    <a:pt x="76" y="260"/>
                    <a:pt x="76" y="245"/>
                  </a:cubicBezTo>
                  <a:cubicBezTo>
                    <a:pt x="76" y="229"/>
                    <a:pt x="88" y="217"/>
                    <a:pt x="104" y="217"/>
                  </a:cubicBezTo>
                  <a:cubicBezTo>
                    <a:pt x="119" y="217"/>
                    <a:pt x="132" y="229"/>
                    <a:pt x="132" y="245"/>
                  </a:cubicBezTo>
                  <a:close/>
                  <a:moveTo>
                    <a:pt x="220" y="144"/>
                  </a:moveTo>
                  <a:cubicBezTo>
                    <a:pt x="220" y="159"/>
                    <a:pt x="207" y="172"/>
                    <a:pt x="192" y="172"/>
                  </a:cubicBezTo>
                  <a:cubicBezTo>
                    <a:pt x="176" y="172"/>
                    <a:pt x="164" y="159"/>
                    <a:pt x="164" y="144"/>
                  </a:cubicBezTo>
                  <a:cubicBezTo>
                    <a:pt x="164" y="128"/>
                    <a:pt x="176" y="116"/>
                    <a:pt x="192" y="116"/>
                  </a:cubicBezTo>
                  <a:cubicBezTo>
                    <a:pt x="207" y="116"/>
                    <a:pt x="220" y="128"/>
                    <a:pt x="220" y="144"/>
                  </a:cubicBezTo>
                  <a:close/>
                  <a:moveTo>
                    <a:pt x="332" y="72"/>
                  </a:moveTo>
                  <a:cubicBezTo>
                    <a:pt x="332" y="87"/>
                    <a:pt x="319" y="100"/>
                    <a:pt x="304" y="100"/>
                  </a:cubicBezTo>
                  <a:cubicBezTo>
                    <a:pt x="288" y="100"/>
                    <a:pt x="276" y="87"/>
                    <a:pt x="276" y="72"/>
                  </a:cubicBezTo>
                  <a:cubicBezTo>
                    <a:pt x="276" y="56"/>
                    <a:pt x="288" y="44"/>
                    <a:pt x="304" y="44"/>
                  </a:cubicBezTo>
                  <a:cubicBezTo>
                    <a:pt x="319" y="44"/>
                    <a:pt x="332" y="56"/>
                    <a:pt x="332" y="72"/>
                  </a:cubicBezTo>
                  <a:close/>
                  <a:moveTo>
                    <a:pt x="461" y="34"/>
                  </a:moveTo>
                  <a:cubicBezTo>
                    <a:pt x="461" y="49"/>
                    <a:pt x="448" y="62"/>
                    <a:pt x="433" y="62"/>
                  </a:cubicBezTo>
                  <a:cubicBezTo>
                    <a:pt x="417" y="62"/>
                    <a:pt x="405" y="49"/>
                    <a:pt x="405" y="34"/>
                  </a:cubicBezTo>
                  <a:cubicBezTo>
                    <a:pt x="405" y="18"/>
                    <a:pt x="417" y="6"/>
                    <a:pt x="433" y="6"/>
                  </a:cubicBezTo>
                  <a:cubicBezTo>
                    <a:pt x="448" y="6"/>
                    <a:pt x="461" y="18"/>
                    <a:pt x="461" y="34"/>
                  </a:cubicBezTo>
                  <a:close/>
                  <a:moveTo>
                    <a:pt x="594" y="34"/>
                  </a:moveTo>
                  <a:cubicBezTo>
                    <a:pt x="594" y="49"/>
                    <a:pt x="581" y="62"/>
                    <a:pt x="566" y="62"/>
                  </a:cubicBezTo>
                  <a:cubicBezTo>
                    <a:pt x="550" y="62"/>
                    <a:pt x="538" y="49"/>
                    <a:pt x="538" y="34"/>
                  </a:cubicBezTo>
                  <a:cubicBezTo>
                    <a:pt x="538" y="18"/>
                    <a:pt x="550" y="6"/>
                    <a:pt x="566" y="6"/>
                  </a:cubicBezTo>
                  <a:cubicBezTo>
                    <a:pt x="581" y="6"/>
                    <a:pt x="594" y="18"/>
                    <a:pt x="594" y="34"/>
                  </a:cubicBezTo>
                  <a:close/>
                  <a:moveTo>
                    <a:pt x="723" y="72"/>
                  </a:moveTo>
                  <a:cubicBezTo>
                    <a:pt x="723" y="87"/>
                    <a:pt x="710" y="100"/>
                    <a:pt x="695" y="100"/>
                  </a:cubicBezTo>
                  <a:cubicBezTo>
                    <a:pt x="679" y="100"/>
                    <a:pt x="667" y="87"/>
                    <a:pt x="667" y="72"/>
                  </a:cubicBezTo>
                  <a:cubicBezTo>
                    <a:pt x="667" y="56"/>
                    <a:pt x="679" y="44"/>
                    <a:pt x="695" y="44"/>
                  </a:cubicBezTo>
                  <a:cubicBezTo>
                    <a:pt x="710" y="44"/>
                    <a:pt x="723" y="56"/>
                    <a:pt x="723" y="72"/>
                  </a:cubicBezTo>
                  <a:close/>
                  <a:moveTo>
                    <a:pt x="835" y="144"/>
                  </a:moveTo>
                  <a:cubicBezTo>
                    <a:pt x="835" y="159"/>
                    <a:pt x="822" y="172"/>
                    <a:pt x="807" y="172"/>
                  </a:cubicBezTo>
                  <a:cubicBezTo>
                    <a:pt x="791" y="172"/>
                    <a:pt x="779" y="159"/>
                    <a:pt x="779" y="144"/>
                  </a:cubicBezTo>
                  <a:cubicBezTo>
                    <a:pt x="779" y="128"/>
                    <a:pt x="791" y="116"/>
                    <a:pt x="807" y="116"/>
                  </a:cubicBezTo>
                  <a:cubicBezTo>
                    <a:pt x="822" y="116"/>
                    <a:pt x="835" y="128"/>
                    <a:pt x="835" y="144"/>
                  </a:cubicBezTo>
                  <a:close/>
                  <a:moveTo>
                    <a:pt x="923" y="245"/>
                  </a:moveTo>
                  <a:cubicBezTo>
                    <a:pt x="923" y="260"/>
                    <a:pt x="910" y="273"/>
                    <a:pt x="895" y="273"/>
                  </a:cubicBezTo>
                  <a:cubicBezTo>
                    <a:pt x="879" y="273"/>
                    <a:pt x="867" y="260"/>
                    <a:pt x="867" y="245"/>
                  </a:cubicBezTo>
                  <a:cubicBezTo>
                    <a:pt x="867" y="229"/>
                    <a:pt x="879" y="217"/>
                    <a:pt x="895" y="217"/>
                  </a:cubicBezTo>
                  <a:cubicBezTo>
                    <a:pt x="910" y="217"/>
                    <a:pt x="923" y="229"/>
                    <a:pt x="923" y="245"/>
                  </a:cubicBezTo>
                  <a:close/>
                  <a:moveTo>
                    <a:pt x="978" y="367"/>
                  </a:moveTo>
                  <a:cubicBezTo>
                    <a:pt x="978" y="382"/>
                    <a:pt x="965" y="395"/>
                    <a:pt x="950" y="395"/>
                  </a:cubicBezTo>
                  <a:cubicBezTo>
                    <a:pt x="934" y="395"/>
                    <a:pt x="922" y="382"/>
                    <a:pt x="922" y="367"/>
                  </a:cubicBezTo>
                  <a:cubicBezTo>
                    <a:pt x="922" y="351"/>
                    <a:pt x="934" y="339"/>
                    <a:pt x="950" y="339"/>
                  </a:cubicBezTo>
                  <a:cubicBezTo>
                    <a:pt x="965" y="339"/>
                    <a:pt x="978" y="351"/>
                    <a:pt x="978" y="367"/>
                  </a:cubicBezTo>
                  <a:close/>
                </a:path>
              </a:pathLst>
            </a:custGeom>
            <a:gradFill rotWithShape="1">
              <a:gsLst>
                <a:gs pos="0">
                  <a:srgbClr val="F5B4AD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6350" cap="rnd">
              <a:solidFill>
                <a:srgbClr val="922B21"/>
              </a:solidFill>
              <a:round/>
            </a:ln>
          </p:spPr>
        </p:sp>
        <p:sp>
          <p:nvSpPr>
            <p:cNvPr id="54" name="Forma 53"/>
            <p:cNvSpPr txBox="1"/>
            <p:nvPr/>
          </p:nvSpPr>
          <p:spPr>
            <a:xfrm>
              <a:off x="4937760" y="13716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LDL</a:t>
              </a:r>
              <a:endParaRPr lang="es-AR" sz="1000" dirty="0">
                <a:latin typeface="Calibri"/>
              </a:endParaRPr>
            </a:p>
          </p:txBody>
        </p:sp>
      </p:grpSp>
      <p:grpSp>
        <p:nvGrpSpPr>
          <p:cNvPr id="55" name="Tabla factores riesgo fila 0"/>
          <p:cNvGrpSpPr/>
          <p:nvPr/>
        </p:nvGrpSpPr>
        <p:grpSpPr>
          <a:xfrm>
            <a:off x="365760" y="3429000"/>
            <a:ext cx="7680960" cy="502920"/>
            <a:chOff x="365760" y="3429000"/>
            <a:chExt cx="7680960" cy="502920"/>
          </a:xfrm>
        </p:grpSpPr>
        <p:sp>
          <p:nvSpPr>
            <p:cNvPr id="56" name="Forma 55"/>
            <p:cNvSpPr/>
            <p:nvPr/>
          </p:nvSpPr>
          <p:spPr>
            <a:xfrm>
              <a:off x="365760" y="3429000"/>
              <a:ext cx="228600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Factor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57" name="Forma 56"/>
            <p:cNvSpPr/>
            <p:nvPr/>
          </p:nvSpPr>
          <p:spPr>
            <a:xfrm>
              <a:off x="2651760" y="3429000"/>
              <a:ext cx="539496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Mecanismo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58" name="Tabla factores riesgo fila 1"/>
          <p:cNvGrpSpPr/>
          <p:nvPr/>
        </p:nvGrpSpPr>
        <p:grpSpPr>
          <a:xfrm>
            <a:off x="365760" y="3931920"/>
            <a:ext cx="7680960" cy="524256"/>
            <a:chOff x="365760" y="3931920"/>
            <a:chExt cx="7680960" cy="524256"/>
          </a:xfrm>
        </p:grpSpPr>
        <p:sp>
          <p:nvSpPr>
            <p:cNvPr id="59" name="Forma 58"/>
            <p:cNvSpPr/>
            <p:nvPr/>
          </p:nvSpPr>
          <p:spPr>
            <a:xfrm>
              <a:off x="365760" y="3931920"/>
              <a:ext cx="228600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Tabaquismo severo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60" name="Forma 59"/>
            <p:cNvSpPr/>
            <p:nvPr/>
          </p:nvSpPr>
          <p:spPr>
            <a:xfrm>
              <a:off x="2651760" y="3931920"/>
              <a:ext cx="539496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LDL; las LDL oxidadas se depositan en la pared → placa → obstrucción progresiva.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61" name="Tabla factores riesgo fila 2"/>
          <p:cNvGrpSpPr/>
          <p:nvPr/>
        </p:nvGrpSpPr>
        <p:grpSpPr>
          <a:xfrm>
            <a:off x="365760" y="4456176"/>
            <a:ext cx="7680960" cy="502920"/>
            <a:chOff x="365760" y="4456176"/>
            <a:chExt cx="7680960" cy="502920"/>
          </a:xfrm>
        </p:grpSpPr>
        <p:sp>
          <p:nvSpPr>
            <p:cNvPr id="62" name="Forma 61"/>
            <p:cNvSpPr/>
            <p:nvPr/>
          </p:nvSpPr>
          <p:spPr>
            <a:xfrm>
              <a:off x="365760" y="4456176"/>
              <a:ext cx="228600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Obesidad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63" name="Forma 62"/>
            <p:cNvSpPr/>
            <p:nvPr/>
          </p:nvSpPr>
          <p:spPr>
            <a:xfrm>
              <a:off x="2651760" y="4456176"/>
              <a:ext cx="539496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Dislipemia, exceso de ácidos grasos libres, resistencia a la insulina.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64" name="Tabla factores riesgo fila 3"/>
          <p:cNvGrpSpPr/>
          <p:nvPr/>
        </p:nvGrpSpPr>
        <p:grpSpPr>
          <a:xfrm>
            <a:off x="365760" y="4959096"/>
            <a:ext cx="7680960" cy="524256"/>
            <a:chOff x="365760" y="4959096"/>
            <a:chExt cx="7680960" cy="524256"/>
          </a:xfrm>
        </p:grpSpPr>
        <p:sp>
          <p:nvSpPr>
            <p:cNvPr id="65" name="Forma 64"/>
            <p:cNvSpPr/>
            <p:nvPr/>
          </p:nvSpPr>
          <p:spPr>
            <a:xfrm>
              <a:off x="365760" y="4959096"/>
              <a:ext cx="228600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Hipertensión arterial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66" name="Forma 65"/>
            <p:cNvSpPr/>
            <p:nvPr/>
          </p:nvSpPr>
          <p:spPr>
            <a:xfrm>
              <a:off x="2651760" y="4959096"/>
              <a:ext cx="5394960" cy="52425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Microtraumatismos endoteliales → entrada de LDL oxidadas → inflamación vascular; vasos rígidos.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67" name="Tabla factores riesgo fila 4"/>
          <p:cNvGrpSpPr/>
          <p:nvPr/>
        </p:nvGrpSpPr>
        <p:grpSpPr>
          <a:xfrm>
            <a:off x="365760" y="5483352"/>
            <a:ext cx="7680960" cy="524256"/>
            <a:chOff x="365760" y="5483352"/>
            <a:chExt cx="7680960" cy="524256"/>
          </a:xfrm>
        </p:grpSpPr>
        <p:sp>
          <p:nvSpPr>
            <p:cNvPr id="68" name="Forma 67"/>
            <p:cNvSpPr/>
            <p:nvPr/>
          </p:nvSpPr>
          <p:spPr>
            <a:xfrm>
              <a:off x="365760" y="5483352"/>
              <a:ext cx="2286000" cy="5242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Antecedentes familiares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69" name="Forma 68"/>
            <p:cNvSpPr/>
            <p:nvPr/>
          </p:nvSpPr>
          <p:spPr>
            <a:xfrm>
              <a:off x="2651760" y="5483352"/>
              <a:ext cx="5394960" cy="52425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Predisposición genética (hipercolesterolemia familiar, disfunción endotelial, trombofilia).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70" name="Potenciación"/>
          <p:cNvSpPr/>
          <p:nvPr/>
        </p:nvSpPr>
        <p:spPr>
          <a:xfrm>
            <a:off x="8549640" y="1097280"/>
            <a:ext cx="3383280" cy="21945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factores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 potencian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HTA + tabaquismo + obesidad → riesgo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exponencialmente mayor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grpSp>
        <p:nvGrpSpPr>
          <p:cNvPr id="71" name="Rigor tabaco"/>
          <p:cNvGrpSpPr/>
          <p:nvPr/>
        </p:nvGrpSpPr>
        <p:grpSpPr>
          <a:xfrm>
            <a:off x="8549640" y="3520440"/>
            <a:ext cx="3383280" cy="2926080"/>
            <a:chOff x="8549640" y="3520440"/>
            <a:chExt cx="3383280" cy="2926080"/>
          </a:xfrm>
        </p:grpSpPr>
        <p:sp>
          <p:nvSpPr>
            <p:cNvPr id="72" name="Forma 71"/>
            <p:cNvSpPr/>
            <p:nvPr/>
          </p:nvSpPr>
          <p:spPr>
            <a:xfrm>
              <a:off x="8549640" y="372160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tabaquismo daña sobre todo por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disfunción endotelial, estrés oxidativo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(oxidación de LDL), descenso del HDL y un estado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protrombótico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73" name="Forma 72"/>
            <p:cNvSpPr/>
            <p:nvPr/>
          </p:nvSpPr>
          <p:spPr>
            <a:xfrm>
              <a:off x="8677656" y="35204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FACTORES DE RIESGO: MECANISMOS FISIOPATOLÓGICOS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7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219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0 0.1200 E" pathEditMode="relative" ptsTypes="">
                                      <p:cBhvr>
                                        <p:cTn id="25" dur="9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" y="600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0 0.1200 E" pathEditMode="relative" ptsTypes="">
                                      <p:cBhvr>
                                        <p:cTn id="27" dur="9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" y="60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0 0.1200 E" pathEditMode="relative" ptsTypes="">
                                      <p:cBhvr>
                                        <p:cTn id="29" dur="9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" y="60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20000" de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50 0.1200 E" pathEditMode="relative" ptsTypes="">
                                      <p:cBhvr>
                                        <p:cTn id="31" dur="9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0" y="6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grpSp>
        <p:nvGrpSpPr>
          <p:cNvPr id="5" name="Tabla completa fila 0"/>
          <p:cNvGrpSpPr/>
          <p:nvPr/>
        </p:nvGrpSpPr>
        <p:grpSpPr>
          <a:xfrm>
            <a:off x="320040" y="1097280"/>
            <a:ext cx="11567160" cy="548640"/>
            <a:chOff x="320040" y="1097280"/>
            <a:chExt cx="11567160" cy="548640"/>
          </a:xfrm>
        </p:grpSpPr>
        <p:sp>
          <p:nvSpPr>
            <p:cNvPr id="6" name="Forma 5"/>
            <p:cNvSpPr/>
            <p:nvPr/>
          </p:nvSpPr>
          <p:spPr>
            <a:xfrm>
              <a:off x="320040" y="1097280"/>
              <a:ext cx="160020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endParaRPr lang="es-AR" sz="12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920240" y="1097280"/>
              <a:ext cx="196596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Mioglobina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886200" y="1097280"/>
              <a:ext cx="205740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Troponina I/T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5943600" y="1097280"/>
              <a:ext cx="205740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CPK-MB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8001000" y="1097280"/>
              <a:ext cx="196596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CPK total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9966960" y="1097280"/>
              <a:ext cx="192024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12" name="Tabla completa fila 1"/>
          <p:cNvGrpSpPr/>
          <p:nvPr/>
        </p:nvGrpSpPr>
        <p:grpSpPr>
          <a:xfrm>
            <a:off x="320040" y="1645920"/>
            <a:ext cx="11567160" cy="548640"/>
            <a:chOff x="320040" y="1645920"/>
            <a:chExt cx="11567160" cy="548640"/>
          </a:xfrm>
        </p:grpSpPr>
        <p:sp>
          <p:nvSpPr>
            <p:cNvPr id="13" name="Forma 12"/>
            <p:cNvSpPr/>
            <p:nvPr/>
          </p:nvSpPr>
          <p:spPr>
            <a:xfrm>
              <a:off x="320040" y="1645920"/>
              <a:ext cx="16002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Tipo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1920240" y="1645920"/>
              <a:ext cx="19659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 transportadora de O</a:t>
              </a:r>
              <a:r>
                <a:rPr lang="es-AR" sz="12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3886200" y="1645920"/>
              <a:ext cx="20574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Proteína estructural cardíaca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5943600" y="1645920"/>
              <a:ext cx="20574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Isoenzima citoplasmática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8001000" y="1645920"/>
              <a:ext cx="19659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 (suma de isoenzimas)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9966960" y="1645920"/>
              <a:ext cx="192024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 metabólica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19" name="Tabla completa fila 2"/>
          <p:cNvGrpSpPr/>
          <p:nvPr/>
        </p:nvGrpSpPr>
        <p:grpSpPr>
          <a:xfrm>
            <a:off x="320040" y="2194560"/>
            <a:ext cx="11567160" cy="548640"/>
            <a:chOff x="320040" y="2194560"/>
            <a:chExt cx="11567160" cy="548640"/>
          </a:xfrm>
        </p:grpSpPr>
        <p:sp>
          <p:nvSpPr>
            <p:cNvPr id="20" name="Forma 19"/>
            <p:cNvSpPr/>
            <p:nvPr/>
          </p:nvSpPr>
          <p:spPr>
            <a:xfrm>
              <a:off x="320040" y="2194560"/>
              <a:ext cx="16002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Localización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1920240" y="2194560"/>
              <a:ext cx="19659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Músculo esquelético + corazón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3886200" y="2194560"/>
              <a:ext cx="20574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Solo corazón (isoforma cardíaca)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5943600" y="2194560"/>
              <a:ext cx="20574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Corazón &gt; esquelético &gt; cerebro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8001000" y="2194560"/>
              <a:ext cx="19659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Músculo, corazón, cerebro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9966960" y="2194560"/>
              <a:ext cx="192024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Casi todos los tejidos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26" name="Tabla completa fila 3"/>
          <p:cNvGrpSpPr/>
          <p:nvPr/>
        </p:nvGrpSpPr>
        <p:grpSpPr>
          <a:xfrm>
            <a:off x="320040" y="2743200"/>
            <a:ext cx="11567160" cy="548640"/>
            <a:chOff x="320040" y="2743200"/>
            <a:chExt cx="11567160" cy="548640"/>
          </a:xfrm>
        </p:grpSpPr>
        <p:sp>
          <p:nvSpPr>
            <p:cNvPr id="27" name="Forma 26"/>
            <p:cNvSpPr/>
            <p:nvPr/>
          </p:nvSpPr>
          <p:spPr>
            <a:xfrm>
              <a:off x="320040" y="2743200"/>
              <a:ext cx="16002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Inicio / pico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1920240" y="2743200"/>
              <a:ext cx="19659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1–4 h / 6–7 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3886200" y="2743200"/>
              <a:ext cx="20574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3–6 h / 12–24 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5943600" y="2743200"/>
              <a:ext cx="20574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4–6 h / 12–24 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8001000" y="2743200"/>
              <a:ext cx="19659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4–8 h / 12–48 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9966960" y="2743200"/>
              <a:ext cx="192024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8–18 h / 24–48 h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33" name="Tabla completa fila 4"/>
          <p:cNvGrpSpPr/>
          <p:nvPr/>
        </p:nvGrpSpPr>
        <p:grpSpPr>
          <a:xfrm>
            <a:off x="320040" y="3291840"/>
            <a:ext cx="11567160" cy="548640"/>
            <a:chOff x="320040" y="3291840"/>
            <a:chExt cx="11567160" cy="548640"/>
          </a:xfrm>
        </p:grpSpPr>
        <p:sp>
          <p:nvSpPr>
            <p:cNvPr id="34" name="Forma 33"/>
            <p:cNvSpPr/>
            <p:nvPr/>
          </p:nvSpPr>
          <p:spPr>
            <a:xfrm>
              <a:off x="320040" y="3291840"/>
              <a:ext cx="16002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Normalización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1920240" y="3291840"/>
              <a:ext cx="19659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24 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6" name="Forma 35"/>
            <p:cNvSpPr/>
            <p:nvPr/>
          </p:nvSpPr>
          <p:spPr>
            <a:xfrm>
              <a:off x="3886200" y="3291840"/>
              <a:ext cx="20574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7–10 días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5943600" y="3291840"/>
              <a:ext cx="20574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48–72 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8001000" y="3291840"/>
              <a:ext cx="19659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48–72 h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9966960" y="3291840"/>
              <a:ext cx="192024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10–14 días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40" name="Tabla completa fila 5"/>
          <p:cNvGrpSpPr/>
          <p:nvPr/>
        </p:nvGrpSpPr>
        <p:grpSpPr>
          <a:xfrm>
            <a:off x="320040" y="3840480"/>
            <a:ext cx="11567160" cy="548640"/>
            <a:chOff x="320040" y="3840480"/>
            <a:chExt cx="11567160" cy="548640"/>
          </a:xfrm>
        </p:grpSpPr>
        <p:sp>
          <p:nvSpPr>
            <p:cNvPr id="41" name="Forma 40"/>
            <p:cNvSpPr/>
            <p:nvPr/>
          </p:nvSpPr>
          <p:spPr>
            <a:xfrm>
              <a:off x="320040" y="3840480"/>
              <a:ext cx="16002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Especificidad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42" name="Forma 41"/>
            <p:cNvSpPr/>
            <p:nvPr/>
          </p:nvSpPr>
          <p:spPr>
            <a:xfrm>
              <a:off x="1920240" y="3840480"/>
              <a:ext cx="19659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baja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3886200" y="3840480"/>
              <a:ext cx="20574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alta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5943600" y="3840480"/>
              <a:ext cx="205740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Moderada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45" name="Forma 44"/>
            <p:cNvSpPr/>
            <p:nvPr/>
          </p:nvSpPr>
          <p:spPr>
            <a:xfrm>
              <a:off x="8001000" y="3840480"/>
              <a:ext cx="196596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Baja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46" name="Forma 45"/>
            <p:cNvSpPr/>
            <p:nvPr/>
          </p:nvSpPr>
          <p:spPr>
            <a:xfrm>
              <a:off x="9966960" y="3840480"/>
              <a:ext cx="192024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baja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47" name="Tabla completa fila 6"/>
          <p:cNvGrpSpPr/>
          <p:nvPr/>
        </p:nvGrpSpPr>
        <p:grpSpPr>
          <a:xfrm>
            <a:off x="320040" y="4389120"/>
            <a:ext cx="11567160" cy="548640"/>
            <a:chOff x="320040" y="4389120"/>
            <a:chExt cx="11567160" cy="548640"/>
          </a:xfrm>
        </p:grpSpPr>
        <p:sp>
          <p:nvSpPr>
            <p:cNvPr id="48" name="Forma 47"/>
            <p:cNvSpPr/>
            <p:nvPr/>
          </p:nvSpPr>
          <p:spPr>
            <a:xfrm>
              <a:off x="320040" y="4389120"/>
              <a:ext cx="16002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Uso práctico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49" name="Forma 48"/>
            <p:cNvSpPr/>
            <p:nvPr/>
          </p:nvSpPr>
          <p:spPr>
            <a:xfrm>
              <a:off x="1920240" y="4389120"/>
              <a:ext cx="19659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Marcador temprano de apoyo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50" name="Forma 49"/>
            <p:cNvSpPr/>
            <p:nvPr/>
          </p:nvSpPr>
          <p:spPr>
            <a:xfrm>
              <a:off x="3886200" y="4389120"/>
              <a:ext cx="20574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Diagnóstico de IAM y necrosis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51" name="Forma 50"/>
            <p:cNvSpPr/>
            <p:nvPr/>
          </p:nvSpPr>
          <p:spPr>
            <a:xfrm>
              <a:off x="5943600" y="4389120"/>
              <a:ext cx="205740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Evolución y reinfarto (con CK total)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52" name="Forma 51"/>
            <p:cNvSpPr/>
            <p:nvPr/>
          </p:nvSpPr>
          <p:spPr>
            <a:xfrm>
              <a:off x="8001000" y="4389120"/>
              <a:ext cx="196596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Siempre junto a MB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53" name="Forma 52"/>
            <p:cNvSpPr/>
            <p:nvPr/>
          </p:nvSpPr>
          <p:spPr>
            <a:xfrm>
              <a:off x="9966960" y="4389120"/>
              <a:ext cx="192024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2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Contextual tardío</a:t>
              </a:r>
              <a:endParaRPr lang="es-AR" sz="1250" dirty="0">
                <a:latin typeface="Calibri"/>
              </a:endParaRPr>
            </a:p>
          </p:txBody>
        </p:sp>
      </p:grpSp>
      <p:sp>
        <p:nvSpPr>
          <p:cNvPr id="54" name="Mensaje tabla"/>
          <p:cNvSpPr/>
          <p:nvPr/>
        </p:nvSpPr>
        <p:spPr>
          <a:xfrm>
            <a:off x="320040" y="5074920"/>
            <a:ext cx="11567160" cy="12801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troponina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confirma necrosis miocárdica;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CK + CK-MB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van juntas; una troponina elevada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siempre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es un nuevo infarto: hay que leer la cinética.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TABLA COMPARATIVA DE LOS BIOMARCADORES CARDÍACOS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5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86AADA"/>
          </a:solidFill>
          <a:ln>
            <a:noFill/>
          </a:ln>
        </p:spPr>
      </p:sp>
      <p:grpSp>
        <p:nvGrpSpPr>
          <p:cNvPr id="6" name="Integración D 1"/>
          <p:cNvGrpSpPr/>
          <p:nvPr/>
        </p:nvGrpSpPr>
        <p:grpSpPr>
          <a:xfrm>
            <a:off x="411480" y="1371600"/>
            <a:ext cx="2907792" cy="3703320"/>
            <a:chOff x="411480" y="1371600"/>
            <a:chExt cx="2907792" cy="3703320"/>
          </a:xfrm>
        </p:grpSpPr>
        <p:grpSp>
          <p:nvGrpSpPr>
            <p:cNvPr id="7" name="Cel D"/>
            <p:cNvGrpSpPr/>
            <p:nvPr/>
          </p:nvGrpSpPr>
          <p:grpSpPr>
            <a:xfrm>
              <a:off x="464515" y="1371600"/>
              <a:ext cx="2637130" cy="1188720"/>
              <a:chOff x="464515" y="1371600"/>
              <a:chExt cx="2637130" cy="1188720"/>
            </a:xfrm>
          </p:grpSpPr>
          <p:sp>
            <p:nvSpPr>
              <p:cNvPr id="8" name="Sarcolema"/>
              <p:cNvSpPr/>
              <p:nvPr/>
            </p:nvSpPr>
            <p:spPr>
              <a:xfrm>
                <a:off x="502920" y="1371600"/>
                <a:ext cx="2560320" cy="11887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200"/>
                    </a:moveTo>
                    <a:cubicBezTo>
                      <a:pt x="10" y="144"/>
                      <a:pt x="95" y="129"/>
                      <a:pt x="120" y="120"/>
                    </a:cubicBezTo>
                    <a:cubicBezTo>
                      <a:pt x="145" y="110"/>
                      <a:pt x="266" y="90"/>
                      <a:pt x="300" y="90"/>
                    </a:cubicBezTo>
                    <a:cubicBezTo>
                      <a:pt x="333" y="89"/>
                      <a:pt x="485" y="110"/>
                      <a:pt x="520" y="110"/>
                    </a:cubicBezTo>
                    <a:cubicBezTo>
                      <a:pt x="555" y="109"/>
                      <a:pt x="690" y="79"/>
                      <a:pt x="720" y="80"/>
                    </a:cubicBezTo>
                    <a:cubicBezTo>
                      <a:pt x="750" y="80"/>
                      <a:pt x="856" y="108"/>
                      <a:pt x="880" y="120"/>
                    </a:cubicBezTo>
                    <a:cubicBezTo>
                      <a:pt x="903" y="131"/>
                      <a:pt x="990" y="165"/>
                      <a:pt x="1000" y="220"/>
                    </a:cubicBezTo>
                    <a:cubicBezTo>
                      <a:pt x="1010" y="275"/>
                      <a:pt x="1010" y="725"/>
                      <a:pt x="1000" y="780"/>
                    </a:cubicBezTo>
                    <a:cubicBezTo>
                      <a:pt x="990" y="835"/>
                      <a:pt x="905" y="869"/>
                      <a:pt x="880" y="880"/>
                    </a:cubicBezTo>
                    <a:cubicBezTo>
                      <a:pt x="855" y="890"/>
                      <a:pt x="731" y="910"/>
                      <a:pt x="700" y="910"/>
                    </a:cubicBezTo>
                    <a:cubicBezTo>
                      <a:pt x="668" y="910"/>
                      <a:pt x="533" y="880"/>
                      <a:pt x="500" y="880"/>
                    </a:cubicBezTo>
                    <a:cubicBezTo>
                      <a:pt x="466" y="880"/>
                      <a:pt x="331" y="910"/>
                      <a:pt x="300" y="910"/>
                    </a:cubicBezTo>
                    <a:cubicBezTo>
                      <a:pt x="268" y="909"/>
                      <a:pt x="145" y="880"/>
                      <a:pt x="120" y="870"/>
                    </a:cubicBezTo>
                    <a:cubicBezTo>
                      <a:pt x="95" y="860"/>
                      <a:pt x="10" y="845"/>
                      <a:pt x="0" y="790"/>
                    </a:cubicBezTo>
                    <a:cubicBezTo>
                      <a:pt x="-10" y="734"/>
                      <a:pt x="-10" y="255"/>
                      <a:pt x="0" y="2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6837A"/>
                  </a:gs>
                  <a:gs pos="35000">
                    <a:srgbClr val="F5B7B1"/>
                  </a:gs>
                  <a:gs pos="65000">
                    <a:srgbClr val="EC9A90"/>
                  </a:gs>
                  <a:gs pos="100000">
                    <a:srgbClr val="C9564B"/>
                  </a:gs>
                </a:gsLst>
                <a:lin ang="5400000" scaled="0"/>
              </a:gradFill>
              <a:ln w="31750" cap="rnd">
                <a:solidFill>
                  <a:srgbClr val="7B241C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9" name="Estriaciones"/>
              <p:cNvSpPr/>
              <p:nvPr/>
            </p:nvSpPr>
            <p:spPr>
              <a:xfrm>
                <a:off x="502920" y="1371600"/>
                <a:ext cx="2560320" cy="11887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0" y="160"/>
                    </a:moveTo>
                    <a:lnTo>
                      <a:pt x="40" y="840"/>
                    </a:lnTo>
                  </a:path>
                  <a:path w="1000" h="1000" fill="none">
                    <a:moveTo>
                      <a:pt x="81" y="160"/>
                    </a:moveTo>
                    <a:lnTo>
                      <a:pt x="81" y="840"/>
                    </a:lnTo>
                  </a:path>
                  <a:path w="1000" h="1000" fill="none">
                    <a:moveTo>
                      <a:pt x="123" y="160"/>
                    </a:moveTo>
                    <a:lnTo>
                      <a:pt x="123" y="840"/>
                    </a:lnTo>
                  </a:path>
                  <a:path w="1000" h="1000" fill="none">
                    <a:moveTo>
                      <a:pt x="165" y="160"/>
                    </a:moveTo>
                    <a:lnTo>
                      <a:pt x="165" y="840"/>
                    </a:lnTo>
                  </a:path>
                  <a:path w="1000" h="1000" fill="none">
                    <a:moveTo>
                      <a:pt x="207" y="160"/>
                    </a:moveTo>
                    <a:lnTo>
                      <a:pt x="207" y="840"/>
                    </a:lnTo>
                  </a:path>
                  <a:path w="1000" h="1000" fill="none">
                    <a:moveTo>
                      <a:pt x="249" y="160"/>
                    </a:moveTo>
                    <a:lnTo>
                      <a:pt x="249" y="840"/>
                    </a:lnTo>
                  </a:path>
                  <a:path w="1000" h="1000" fill="none">
                    <a:moveTo>
                      <a:pt x="290" y="160"/>
                    </a:moveTo>
                    <a:lnTo>
                      <a:pt x="290" y="840"/>
                    </a:lnTo>
                  </a:path>
                  <a:path w="1000" h="1000" fill="none">
                    <a:moveTo>
                      <a:pt x="332" y="160"/>
                    </a:moveTo>
                    <a:lnTo>
                      <a:pt x="332" y="840"/>
                    </a:lnTo>
                  </a:path>
                  <a:path w="1000" h="1000" fill="none">
                    <a:moveTo>
                      <a:pt x="374" y="160"/>
                    </a:moveTo>
                    <a:lnTo>
                      <a:pt x="374" y="840"/>
                    </a:lnTo>
                  </a:path>
                  <a:path w="1000" h="1000" fill="none">
                    <a:moveTo>
                      <a:pt x="416" y="160"/>
                    </a:moveTo>
                    <a:lnTo>
                      <a:pt x="416" y="840"/>
                    </a:lnTo>
                  </a:path>
                  <a:path w="1000" h="1000" fill="none">
                    <a:moveTo>
                      <a:pt x="458" y="160"/>
                    </a:moveTo>
                    <a:lnTo>
                      <a:pt x="458" y="840"/>
                    </a:lnTo>
                  </a:path>
                  <a:path w="1000" h="1000" fill="none">
                    <a:moveTo>
                      <a:pt x="500" y="160"/>
                    </a:moveTo>
                    <a:lnTo>
                      <a:pt x="500" y="840"/>
                    </a:lnTo>
                  </a:path>
                  <a:path w="1000" h="1000" fill="none">
                    <a:moveTo>
                      <a:pt x="541" y="160"/>
                    </a:moveTo>
                    <a:lnTo>
                      <a:pt x="541" y="840"/>
                    </a:lnTo>
                  </a:path>
                  <a:path w="1000" h="1000" fill="none">
                    <a:moveTo>
                      <a:pt x="583" y="160"/>
                    </a:moveTo>
                    <a:lnTo>
                      <a:pt x="583" y="840"/>
                    </a:lnTo>
                  </a:path>
                  <a:path w="1000" h="1000" fill="none">
                    <a:moveTo>
                      <a:pt x="625" y="160"/>
                    </a:moveTo>
                    <a:lnTo>
                      <a:pt x="625" y="840"/>
                    </a:lnTo>
                  </a:path>
                  <a:path w="1000" h="1000" fill="none">
                    <a:moveTo>
                      <a:pt x="667" y="160"/>
                    </a:moveTo>
                    <a:lnTo>
                      <a:pt x="667" y="840"/>
                    </a:lnTo>
                  </a:path>
                  <a:path w="1000" h="1000" fill="none">
                    <a:moveTo>
                      <a:pt x="709" y="160"/>
                    </a:moveTo>
                    <a:lnTo>
                      <a:pt x="709" y="840"/>
                    </a:lnTo>
                  </a:path>
                  <a:path w="1000" h="1000" fill="none">
                    <a:moveTo>
                      <a:pt x="750" y="160"/>
                    </a:moveTo>
                    <a:lnTo>
                      <a:pt x="750" y="840"/>
                    </a:lnTo>
                  </a:path>
                  <a:path w="1000" h="1000" fill="none">
                    <a:moveTo>
                      <a:pt x="792" y="160"/>
                    </a:moveTo>
                    <a:lnTo>
                      <a:pt x="792" y="840"/>
                    </a:lnTo>
                  </a:path>
                  <a:path w="1000" h="1000" fill="none">
                    <a:moveTo>
                      <a:pt x="834" y="160"/>
                    </a:moveTo>
                    <a:lnTo>
                      <a:pt x="834" y="840"/>
                    </a:lnTo>
                  </a:path>
                  <a:path w="1000" h="1000" fill="none">
                    <a:moveTo>
                      <a:pt x="876" y="160"/>
                    </a:moveTo>
                    <a:lnTo>
                      <a:pt x="876" y="840"/>
                    </a:lnTo>
                  </a:path>
                  <a:path w="1000" h="1000" fill="none">
                    <a:moveTo>
                      <a:pt x="918" y="160"/>
                    </a:moveTo>
                    <a:lnTo>
                      <a:pt x="918" y="840"/>
                    </a:lnTo>
                  </a:path>
                  <a:path w="1000" h="1000" fill="none">
                    <a:moveTo>
                      <a:pt x="960" y="160"/>
                    </a:moveTo>
                    <a:lnTo>
                      <a:pt x="960" y="840"/>
                    </a:lnTo>
                  </a:path>
                </a:pathLst>
              </a:custGeom>
              <a:noFill/>
              <a:ln w="12700" cap="rnd">
                <a:solidFill>
                  <a:srgbClr val="A93226"/>
                </a:solidFill>
                <a:round/>
              </a:ln>
            </p:spPr>
          </p:sp>
          <p:sp>
            <p:nvSpPr>
              <p:cNvPr id="10" name="Disco intercalar izq"/>
              <p:cNvSpPr/>
              <p:nvPr/>
            </p:nvSpPr>
            <p:spPr>
              <a:xfrm>
                <a:off x="464515" y="1549908"/>
                <a:ext cx="76810" cy="832104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  <p:sp>
            <p:nvSpPr>
              <p:cNvPr id="11" name="Disco intercalar der"/>
              <p:cNvSpPr/>
              <p:nvPr/>
            </p:nvSpPr>
            <p:spPr>
              <a:xfrm>
                <a:off x="3024835" y="1549908"/>
                <a:ext cx="76810" cy="832104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  <p:grpSp>
            <p:nvGrpSpPr>
              <p:cNvPr id="12" name="Núcleo"/>
              <p:cNvGrpSpPr/>
              <p:nvPr/>
            </p:nvGrpSpPr>
            <p:grpSpPr>
              <a:xfrm>
                <a:off x="1629461" y="1823314"/>
                <a:ext cx="307238" cy="276515"/>
                <a:chOff x="1629461" y="1823314"/>
                <a:chExt cx="307238" cy="276515"/>
              </a:xfrm>
            </p:grpSpPr>
            <p:sp>
              <p:nvSpPr>
                <p:cNvPr id="13" name="Forma 12"/>
                <p:cNvSpPr/>
                <p:nvPr/>
              </p:nvSpPr>
              <p:spPr>
                <a:xfrm>
                  <a:off x="1629461" y="1823314"/>
                  <a:ext cx="307238" cy="2765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7A4CE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4B3663"/>
                  </a:solidFill>
                  <a:round/>
                </a:ln>
              </p:spPr>
            </p:sp>
            <p:sp>
              <p:nvSpPr>
                <p:cNvPr id="14" name="Forma 13"/>
                <p:cNvSpPr/>
                <p:nvPr/>
              </p:nvSpPr>
              <p:spPr>
                <a:xfrm>
                  <a:off x="1789225" y="1915485"/>
                  <a:ext cx="67592" cy="61448"/>
                </a:xfrm>
                <a:prstGeom prst="ellipse">
                  <a:avLst/>
                </a:prstGeom>
                <a:solidFill>
                  <a:srgbClr val="513B6B"/>
                </a:solidFill>
                <a:ln>
                  <a:noFill/>
                </a:ln>
              </p:spPr>
            </p:sp>
          </p:grpSp>
          <p:grpSp>
            <p:nvGrpSpPr>
              <p:cNvPr id="15" name="Mitocondria"/>
              <p:cNvGrpSpPr/>
              <p:nvPr/>
            </p:nvGrpSpPr>
            <p:grpSpPr>
              <a:xfrm>
                <a:off x="810158" y="1668780"/>
                <a:ext cx="256032" cy="128016"/>
                <a:chOff x="810158" y="1668780"/>
                <a:chExt cx="256032" cy="128016"/>
              </a:xfrm>
            </p:grpSpPr>
            <p:sp>
              <p:nvSpPr>
                <p:cNvPr id="16" name="Forma 15"/>
                <p:cNvSpPr/>
                <p:nvPr/>
              </p:nvSpPr>
              <p:spPr>
                <a:xfrm>
                  <a:off x="810158" y="1668780"/>
                  <a:ext cx="256032" cy="1280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17" name="Forma 16"/>
                <p:cNvSpPr/>
                <p:nvPr/>
              </p:nvSpPr>
              <p:spPr>
                <a:xfrm>
                  <a:off x="828081" y="1686702"/>
                  <a:ext cx="220188" cy="921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18" name="Forma 17"/>
                <p:cNvSpPr/>
                <p:nvPr/>
              </p:nvSpPr>
              <p:spPr>
                <a:xfrm>
                  <a:off x="828081" y="1686702"/>
                  <a:ext cx="220188" cy="921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19" name="Mitocondria_2"/>
              <p:cNvGrpSpPr/>
              <p:nvPr/>
            </p:nvGrpSpPr>
            <p:grpSpPr>
              <a:xfrm>
                <a:off x="1219810" y="2108606"/>
                <a:ext cx="256032" cy="128016"/>
                <a:chOff x="1219810" y="2108606"/>
                <a:chExt cx="256032" cy="128016"/>
              </a:xfrm>
            </p:grpSpPr>
            <p:sp>
              <p:nvSpPr>
                <p:cNvPr id="20" name="Forma 19"/>
                <p:cNvSpPr/>
                <p:nvPr/>
              </p:nvSpPr>
              <p:spPr>
                <a:xfrm>
                  <a:off x="1219810" y="2108606"/>
                  <a:ext cx="256032" cy="1280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21" name="Forma 20"/>
                <p:cNvSpPr/>
                <p:nvPr/>
              </p:nvSpPr>
              <p:spPr>
                <a:xfrm>
                  <a:off x="1237732" y="2126529"/>
                  <a:ext cx="220188" cy="921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22" name="Forma 21"/>
                <p:cNvSpPr/>
                <p:nvPr/>
              </p:nvSpPr>
              <p:spPr>
                <a:xfrm>
                  <a:off x="1237732" y="2126529"/>
                  <a:ext cx="220188" cy="921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23" name="Mitocondria_3"/>
              <p:cNvGrpSpPr/>
              <p:nvPr/>
            </p:nvGrpSpPr>
            <p:grpSpPr>
              <a:xfrm>
                <a:off x="2243938" y="1656893"/>
                <a:ext cx="256032" cy="128016"/>
                <a:chOff x="2243938" y="1656893"/>
                <a:chExt cx="256032" cy="128016"/>
              </a:xfrm>
            </p:grpSpPr>
            <p:sp>
              <p:nvSpPr>
                <p:cNvPr id="24" name="Forma 23"/>
                <p:cNvSpPr/>
                <p:nvPr/>
              </p:nvSpPr>
              <p:spPr>
                <a:xfrm>
                  <a:off x="2243938" y="1656893"/>
                  <a:ext cx="256032" cy="1280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25" name="Forma 24"/>
                <p:cNvSpPr/>
                <p:nvPr/>
              </p:nvSpPr>
              <p:spPr>
                <a:xfrm>
                  <a:off x="2261860" y="1674815"/>
                  <a:ext cx="220188" cy="921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26" name="Forma 25"/>
                <p:cNvSpPr/>
                <p:nvPr/>
              </p:nvSpPr>
              <p:spPr>
                <a:xfrm>
                  <a:off x="2261860" y="1674815"/>
                  <a:ext cx="220188" cy="921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27" name="Mitocondria_4"/>
              <p:cNvGrpSpPr/>
              <p:nvPr/>
            </p:nvGrpSpPr>
            <p:grpSpPr>
              <a:xfrm>
                <a:off x="2551176" y="2084832"/>
                <a:ext cx="256032" cy="128016"/>
                <a:chOff x="2551176" y="2084832"/>
                <a:chExt cx="256032" cy="128016"/>
              </a:xfrm>
            </p:grpSpPr>
            <p:sp>
              <p:nvSpPr>
                <p:cNvPr id="28" name="Forma 27"/>
                <p:cNvSpPr/>
                <p:nvPr/>
              </p:nvSpPr>
              <p:spPr>
                <a:xfrm>
                  <a:off x="2551176" y="2084832"/>
                  <a:ext cx="256032" cy="1280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29" name="Forma 28"/>
                <p:cNvSpPr/>
                <p:nvPr/>
              </p:nvSpPr>
              <p:spPr>
                <a:xfrm>
                  <a:off x="2569098" y="2102754"/>
                  <a:ext cx="220188" cy="921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0" name="Forma 29"/>
                <p:cNvSpPr/>
                <p:nvPr/>
              </p:nvSpPr>
              <p:spPr>
                <a:xfrm>
                  <a:off x="2569098" y="2102754"/>
                  <a:ext cx="220188" cy="921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31" name="Mitocondria_5"/>
              <p:cNvGrpSpPr/>
              <p:nvPr/>
            </p:nvGrpSpPr>
            <p:grpSpPr>
              <a:xfrm>
                <a:off x="2090318" y="2156155"/>
                <a:ext cx="256032" cy="128016"/>
                <a:chOff x="2090318" y="2156155"/>
                <a:chExt cx="256032" cy="128016"/>
              </a:xfrm>
            </p:grpSpPr>
            <p:sp>
              <p:nvSpPr>
                <p:cNvPr id="32" name="Forma 31"/>
                <p:cNvSpPr/>
                <p:nvPr/>
              </p:nvSpPr>
              <p:spPr>
                <a:xfrm>
                  <a:off x="2090318" y="2156155"/>
                  <a:ext cx="256032" cy="1280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33" name="Forma 32"/>
                <p:cNvSpPr/>
                <p:nvPr/>
              </p:nvSpPr>
              <p:spPr>
                <a:xfrm>
                  <a:off x="2108241" y="2174077"/>
                  <a:ext cx="220188" cy="921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4" name="Forma 33"/>
                <p:cNvSpPr/>
                <p:nvPr/>
              </p:nvSpPr>
              <p:spPr>
                <a:xfrm>
                  <a:off x="2108241" y="2174077"/>
                  <a:ext cx="220188" cy="921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35" name="Mitocondria_6"/>
              <p:cNvGrpSpPr/>
              <p:nvPr/>
            </p:nvGrpSpPr>
            <p:grpSpPr>
              <a:xfrm>
                <a:off x="1014984" y="1823314"/>
                <a:ext cx="256032" cy="128016"/>
                <a:chOff x="1014984" y="1823314"/>
                <a:chExt cx="256032" cy="128016"/>
              </a:xfrm>
            </p:grpSpPr>
            <p:sp>
              <p:nvSpPr>
                <p:cNvPr id="36" name="Forma 35"/>
                <p:cNvSpPr/>
                <p:nvPr/>
              </p:nvSpPr>
              <p:spPr>
                <a:xfrm>
                  <a:off x="1014984" y="1823314"/>
                  <a:ext cx="256032" cy="12801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37" name="Forma 36"/>
                <p:cNvSpPr/>
                <p:nvPr/>
              </p:nvSpPr>
              <p:spPr>
                <a:xfrm>
                  <a:off x="1032906" y="1841236"/>
                  <a:ext cx="220188" cy="921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8" name="Forma 37"/>
                <p:cNvSpPr/>
                <p:nvPr/>
              </p:nvSpPr>
              <p:spPr>
                <a:xfrm>
                  <a:off x="1032906" y="1841236"/>
                  <a:ext cx="220188" cy="921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</p:grpSp>
        <p:sp>
          <p:nvSpPr>
            <p:cNvPr id="39" name="Forma 38"/>
            <p:cNvSpPr/>
            <p:nvPr/>
          </p:nvSpPr>
          <p:spPr>
            <a:xfrm>
              <a:off x="41148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Cardiomiocito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Depende del aporte coronario de O</a:t>
              </a:r>
              <a:r>
                <a:rPr lang="es-AR" sz="19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0" name="Flecha 39_2"/>
            <p:cNvSpPr/>
            <p:nvPr/>
          </p:nvSpPr>
          <p:spPr>
            <a:xfrm>
              <a:off x="3172968" y="40690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41" name="Integración D 2"/>
          <p:cNvGrpSpPr/>
          <p:nvPr/>
        </p:nvGrpSpPr>
        <p:grpSpPr>
          <a:xfrm>
            <a:off x="3337560" y="1097280"/>
            <a:ext cx="2907792" cy="3977640"/>
            <a:chOff x="3337560" y="1097280"/>
            <a:chExt cx="2907792" cy="3977640"/>
          </a:xfrm>
        </p:grpSpPr>
        <p:grpSp>
          <p:nvGrpSpPr>
            <p:cNvPr id="42" name="Corazón D"/>
            <p:cNvGrpSpPr/>
            <p:nvPr/>
          </p:nvGrpSpPr>
          <p:grpSpPr>
            <a:xfrm>
              <a:off x="4069080" y="1097280"/>
              <a:ext cx="1371600" cy="1508760"/>
              <a:chOff x="4069080" y="1097280"/>
              <a:chExt cx="1371600" cy="1508760"/>
            </a:xfrm>
          </p:grpSpPr>
          <p:sp>
            <p:nvSpPr>
              <p:cNvPr id="43" name="Aorta"/>
              <p:cNvSpPr/>
              <p:nvPr/>
            </p:nvSpPr>
            <p:spPr>
              <a:xfrm>
                <a:off x="4590288" y="1097280"/>
                <a:ext cx="438912" cy="48280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44" name="Arteria pulmonar"/>
              <p:cNvSpPr/>
              <p:nvPr/>
            </p:nvSpPr>
            <p:spPr>
              <a:xfrm>
                <a:off x="4370832" y="1248156"/>
                <a:ext cx="301752" cy="37719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45" name="Miocardio"/>
              <p:cNvSpPr/>
              <p:nvPr/>
            </p:nvSpPr>
            <p:spPr>
              <a:xfrm>
                <a:off x="4069080" y="1368857"/>
                <a:ext cx="1371600" cy="123718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6" name="Aurícula derecha"/>
              <p:cNvSpPr/>
              <p:nvPr/>
            </p:nvSpPr>
            <p:spPr>
              <a:xfrm>
                <a:off x="4123944" y="1549908"/>
                <a:ext cx="384048" cy="42245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sp>
          <p:nvSpPr>
            <p:cNvPr id="47" name="!!ArteriaCoronaria izquierda"/>
            <p:cNvSpPr/>
            <p:nvPr/>
          </p:nvSpPr>
          <p:spPr>
            <a:xfrm>
              <a:off x="4069080" y="1368857"/>
              <a:ext cx="1371600" cy="1237183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70" y="240"/>
                  </a:moveTo>
                  <a:cubicBezTo>
                    <a:pt x="520" y="330"/>
                    <a:pt x="560" y="450"/>
                    <a:pt x="560" y="560"/>
                  </a:cubicBezTo>
                  <a:cubicBezTo>
                    <a:pt x="560" y="700"/>
                    <a:pt x="520" y="820"/>
                    <a:pt x="480" y="940"/>
                  </a:cubicBezTo>
                </a:path>
                <a:path w="1000" h="1000" fill="none">
                  <a:moveTo>
                    <a:pt x="470" y="240"/>
                  </a:moveTo>
                  <a:cubicBezTo>
                    <a:pt x="600" y="260"/>
                    <a:pt x="760" y="330"/>
                    <a:pt x="880" y="450"/>
                  </a:cubicBezTo>
                </a:path>
                <a:path w="1000" h="1000" fill="none">
                  <a:moveTo>
                    <a:pt x="560" y="470"/>
                  </a:moveTo>
                  <a:cubicBezTo>
                    <a:pt x="650" y="520"/>
                    <a:pt x="720" y="600"/>
                    <a:pt x="760" y="70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48" name="!!ArteriaCoronaria derecha"/>
            <p:cNvSpPr/>
            <p:nvPr/>
          </p:nvSpPr>
          <p:spPr>
            <a:xfrm>
              <a:off x="4069080" y="1368857"/>
              <a:ext cx="1371600" cy="1237183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20" y="235"/>
                  </a:moveTo>
                  <a:cubicBezTo>
                    <a:pt x="300" y="300"/>
                    <a:pt x="180" y="420"/>
                    <a:pt x="140" y="560"/>
                  </a:cubicBezTo>
                  <a:cubicBezTo>
                    <a:pt x="120" y="650"/>
                    <a:pt x="160" y="760"/>
                    <a:pt x="260" y="82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49" name="Forma 49"/>
            <p:cNvSpPr/>
            <p:nvPr/>
          </p:nvSpPr>
          <p:spPr>
            <a:xfrm>
              <a:off x="333756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Lesión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Oclusión coronaria → isquemia → necrosis.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0" name="Flecha 50_2"/>
            <p:cNvSpPr/>
            <p:nvPr/>
          </p:nvSpPr>
          <p:spPr>
            <a:xfrm>
              <a:off x="6099048" y="40690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51" name="Integración D 3"/>
          <p:cNvGrpSpPr/>
          <p:nvPr/>
        </p:nvGrpSpPr>
        <p:grpSpPr>
          <a:xfrm>
            <a:off x="6263640" y="1737360"/>
            <a:ext cx="2907792" cy="3337560"/>
            <a:chOff x="6263640" y="1737360"/>
            <a:chExt cx="2907792" cy="3337560"/>
          </a:xfrm>
        </p:grpSpPr>
        <p:sp>
          <p:nvSpPr>
            <p:cNvPr id="52" name="Ficha Mb"/>
            <p:cNvSpPr/>
            <p:nvPr/>
          </p:nvSpPr>
          <p:spPr>
            <a:xfrm>
              <a:off x="6537960" y="1737360"/>
              <a:ext cx="6400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Mb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3" name="Ficha CK"/>
            <p:cNvSpPr/>
            <p:nvPr/>
          </p:nvSpPr>
          <p:spPr>
            <a:xfrm>
              <a:off x="7315200" y="1737360"/>
              <a:ext cx="6400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4" name="Ficha Tn"/>
            <p:cNvSpPr/>
            <p:nvPr/>
          </p:nvSpPr>
          <p:spPr>
            <a:xfrm>
              <a:off x="8092440" y="1737360"/>
              <a:ext cx="6400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A299"/>
                </a:gs>
                <a:gs pos="55000">
                  <a:srgbClr val="EC7063"/>
                </a:gs>
                <a:gs pos="100000">
                  <a:srgbClr val="BC594F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63831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Tn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5" name="Forma 56"/>
            <p:cNvSpPr/>
            <p:nvPr/>
          </p:nvSpPr>
          <p:spPr>
            <a:xfrm>
              <a:off x="626364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Liberación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Mb y CK primero; troponinas con la necrosis.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56" name="Flecha 57_2"/>
            <p:cNvSpPr/>
            <p:nvPr/>
          </p:nvSpPr>
          <p:spPr>
            <a:xfrm>
              <a:off x="9025128" y="40690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57" name="Integración D 4"/>
          <p:cNvGrpSpPr/>
          <p:nvPr/>
        </p:nvGrpSpPr>
        <p:grpSpPr>
          <a:xfrm>
            <a:off x="9189720" y="1188720"/>
            <a:ext cx="2743200" cy="3886200"/>
            <a:chOff x="9189720" y="1188720"/>
            <a:chExt cx="2743200" cy="3886200"/>
          </a:xfrm>
        </p:grpSpPr>
        <p:sp>
          <p:nvSpPr>
            <p:cNvPr id="58" name="Curva D"/>
            <p:cNvSpPr/>
            <p:nvPr/>
          </p:nvSpPr>
          <p:spPr>
            <a:xfrm>
              <a:off x="9281160" y="1188720"/>
              <a:ext cx="2560320" cy="146304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0" y="900"/>
                  </a:moveTo>
                  <a:cubicBezTo>
                    <a:pt x="22" y="897"/>
                    <a:pt x="105" y="992"/>
                    <a:pt x="150" y="880"/>
                  </a:cubicBezTo>
                  <a:cubicBezTo>
                    <a:pt x="195" y="767"/>
                    <a:pt x="232" y="192"/>
                    <a:pt x="300" y="150"/>
                  </a:cubicBezTo>
                  <a:cubicBezTo>
                    <a:pt x="367" y="108"/>
                    <a:pt x="495" y="490"/>
                    <a:pt x="600" y="600"/>
                  </a:cubicBezTo>
                  <a:cubicBezTo>
                    <a:pt x="705" y="709"/>
                    <a:pt x="940" y="838"/>
                    <a:pt x="1000" y="880"/>
                  </a:cubicBezTo>
                </a:path>
              </a:pathLst>
            </a:custGeom>
            <a:noFill/>
            <a:ln w="44450" cap="rnd">
              <a:solidFill>
                <a:srgbClr val="7D3C98"/>
              </a:solidFill>
              <a:round/>
            </a:ln>
          </p:spPr>
        </p:sp>
        <p:sp>
          <p:nvSpPr>
            <p:cNvPr id="59" name="Forma 61"/>
            <p:cNvSpPr/>
            <p:nvPr/>
          </p:nvSpPr>
          <p:spPr>
            <a:xfrm>
              <a:off x="9189720" y="3063240"/>
              <a:ext cx="2743200" cy="201168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Evolución temporal</a:t>
              </a:r>
              <a:endParaRPr lang="es-AR" sz="19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Curvas: Mb → CK-MB → Tn → LDH.</a:t>
              </a:r>
              <a:endParaRPr lang="es-AR" sz="1950" dirty="0">
                <a:latin typeface="Calibri"/>
              </a:endParaRPr>
            </a:p>
          </p:txBody>
        </p:sp>
      </p:grpSp>
      <p:sp>
        <p:nvSpPr>
          <p:cNvPr id="60" name="Síntesis D"/>
          <p:cNvSpPr/>
          <p:nvPr/>
        </p:nvSpPr>
        <p:spPr>
          <a:xfrm>
            <a:off x="411480" y="5303520"/>
            <a:ext cx="11384280" cy="114300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diagnóstico integra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clínica, ECG y troponina dinámica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; la cinética de cada marcador indica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cuándo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ocurrió el daño y si hay un evento nuevo.</a:t>
            </a:r>
            <a:endParaRPr lang="es-AR" sz="20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INTEGRACIÓN D: DEL CARDIOMIOCITO A LA CURVA</a:t>
            </a:r>
            <a:endParaRPr lang="es-AR" sz="19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10426025" y="182880"/>
            <a:ext cx="1491350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IV · IAM</a:t>
            </a:r>
            <a:endParaRPr lang="es-AR" sz="1250" dirty="0">
              <a:latin typeface="Calibri"/>
            </a:endParaRPr>
          </a:p>
        </p:txBody>
      </p:sp>
      <p:sp>
        <p:nvSpPr>
          <p:cNvPr id="6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2AB86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4" name="Unidad"/>
          <p:cNvSpPr/>
          <p:nvPr/>
        </p:nvSpPr>
        <p:spPr>
          <a:xfrm>
            <a:off x="457200" y="411480"/>
            <a:ext cx="1404815" cy="419100"/>
          </a:xfrm>
          <a:prstGeom prst="rect">
            <a:avLst/>
          </a:prstGeom>
          <a:solidFill>
            <a:srgbClr val="1F3864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</a:t>
            </a:r>
            <a:endParaRPr lang="es-AR" sz="2000" dirty="0">
              <a:latin typeface="Calibri"/>
            </a:endParaRPr>
          </a:p>
        </p:txBody>
      </p:sp>
      <p:sp>
        <p:nvSpPr>
          <p:cNvPr id="5" name="Título unidad"/>
          <p:cNvSpPr txBox="1"/>
          <p:nvPr/>
        </p:nvSpPr>
        <p:spPr>
          <a:xfrm>
            <a:off x="365760" y="96012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00"/>
              </a:lnSpc>
              <a:spcAft>
                <a:spcPts val="300"/>
              </a:spcAft>
              <a:buNone/>
            </a:pPr>
            <a:r>
              <a:rPr lang="es-AR" sz="285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PANCREATITIS AGUDA, BIOMARCADORES HEPATOPANCREÁTICOS Y DIAGNÓSTICO DIFERENCIAL</a:t>
            </a:r>
            <a:endParaRPr lang="es-AR" sz="2850" dirty="0">
              <a:latin typeface="Segoe Print"/>
            </a:endParaRPr>
          </a:p>
        </p:txBody>
      </p:sp>
      <p:sp>
        <p:nvSpPr>
          <p:cNvPr id="6" name="Subtítulo unidad"/>
          <p:cNvSpPr txBox="1"/>
          <p:nvPr/>
        </p:nvSpPr>
        <p:spPr>
          <a:xfrm>
            <a:off x="411480" y="33832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Leer el perfil enzimático para ubicar el daño</a:t>
            </a:r>
            <a:endParaRPr lang="es-AR" sz="1800" dirty="0">
              <a:latin typeface="Calibri"/>
            </a:endParaRPr>
          </a:p>
        </p:txBody>
      </p:sp>
      <p:grpSp>
        <p:nvGrpSpPr>
          <p:cNvPr id="7" name="Temario"/>
          <p:cNvGrpSpPr/>
          <p:nvPr/>
        </p:nvGrpSpPr>
        <p:grpSpPr>
          <a:xfrm>
            <a:off x="411480" y="4023360"/>
            <a:ext cx="5486400" cy="2514600"/>
            <a:chOff x="411480" y="4023360"/>
            <a:chExt cx="5486400" cy="2514600"/>
          </a:xfrm>
        </p:grpSpPr>
        <p:sp>
          <p:nvSpPr>
            <p:cNvPr id="8" name="Forma 7"/>
            <p:cNvSpPr/>
            <p:nvPr/>
          </p:nvSpPr>
          <p:spPr>
            <a:xfrm>
              <a:off x="41148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Enzimología clínica abdominal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Transaminasas y De Ritis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FAL, GGT y bilirrubina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Colestasis</a:t>
              </a:r>
              <a:endParaRPr lang="es-AR" sz="1700" dirty="0">
                <a:latin typeface="Calibri"/>
              </a:endParaRPr>
            </a:p>
            <a:p>
              <a:pPr algn="l" marL="161925" indent="-161925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y lipasa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3200400" y="4023360"/>
              <a:ext cx="269748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Zimógenos y pancreatitis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Caso de pancreatitis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Caso de hepatitis</a:t>
              </a:r>
              <a:endParaRPr lang="es-AR" sz="1800" dirty="0">
                <a:latin typeface="Calibri"/>
              </a:endParaRPr>
            </a:p>
            <a:p>
              <a:pPr algn="l" marL="171450" indent="-171450">
                <a:spcAft>
                  <a:spcPts val="3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Diagnóstico diferencial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0" name="Arte unidad V"/>
          <p:cNvGrpSpPr/>
          <p:nvPr/>
        </p:nvGrpSpPr>
        <p:grpSpPr>
          <a:xfrm>
            <a:off x="6309360" y="548640"/>
            <a:ext cx="5612587" cy="5530291"/>
            <a:chOff x="6309360" y="548640"/>
            <a:chExt cx="5612587" cy="5530291"/>
          </a:xfrm>
        </p:grpSpPr>
        <p:grpSp>
          <p:nvGrpSpPr>
            <p:cNvPr id="11" name="!!Higado"/>
            <p:cNvGrpSpPr/>
            <p:nvPr/>
          </p:nvGrpSpPr>
          <p:grpSpPr>
            <a:xfrm>
              <a:off x="6309360" y="548640"/>
              <a:ext cx="3741725" cy="2644651"/>
              <a:chOff x="6309360" y="548640"/>
              <a:chExt cx="3741725" cy="2644651"/>
            </a:xfrm>
          </p:grpSpPr>
          <p:sp>
            <p:nvSpPr>
              <p:cNvPr id="12" name="Vesícula biliar"/>
              <p:cNvSpPr/>
              <p:nvPr/>
            </p:nvSpPr>
            <p:spPr>
              <a:xfrm>
                <a:off x="7319626" y="2358138"/>
                <a:ext cx="486424" cy="83515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0"/>
                    </a:moveTo>
                    <a:cubicBezTo>
                      <a:pt x="438" y="-106"/>
                      <a:pt x="866" y="-73"/>
                      <a:pt x="950" y="60"/>
                    </a:cubicBezTo>
                    <a:cubicBezTo>
                      <a:pt x="1033" y="193"/>
                      <a:pt x="883" y="643"/>
                      <a:pt x="800" y="800"/>
                    </a:cubicBezTo>
                    <a:cubicBezTo>
                      <a:pt x="716" y="956"/>
                      <a:pt x="563" y="1016"/>
                      <a:pt x="450" y="1000"/>
                    </a:cubicBezTo>
                    <a:cubicBezTo>
                      <a:pt x="336" y="983"/>
                      <a:pt x="145" y="866"/>
                      <a:pt x="120" y="700"/>
                    </a:cubicBezTo>
                    <a:cubicBezTo>
                      <a:pt x="95" y="533"/>
                      <a:pt x="161" y="106"/>
                      <a:pt x="3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099"/>
                  </a:gs>
                  <a:gs pos="55000">
                    <a:srgbClr val="8DB255"/>
                  </a:gs>
                  <a:gs pos="100000">
                    <a:srgbClr val="627C3B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E6B22"/>
                </a:solidFill>
                <a:round/>
              </a:ln>
            </p:spPr>
          </p:sp>
          <p:sp>
            <p:nvSpPr>
              <p:cNvPr id="13" name="Forma 12"/>
              <p:cNvSpPr/>
              <p:nvPr/>
            </p:nvSpPr>
            <p:spPr>
              <a:xfrm>
                <a:off x="6309360" y="548640"/>
                <a:ext cx="3741725" cy="231986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>
                    <a:moveTo>
                      <a:pt x="40" y="250"/>
                    </a:moveTo>
                    <a:cubicBezTo>
                      <a:pt x="50" y="205"/>
                      <a:pt x="76" y="143"/>
                      <a:pt x="120" y="110"/>
                    </a:cubicBezTo>
                    <a:cubicBezTo>
                      <a:pt x="163" y="76"/>
                      <a:pt x="233" y="59"/>
                      <a:pt x="300" y="50"/>
                    </a:cubicBezTo>
                    <a:cubicBezTo>
                      <a:pt x="366" y="40"/>
                      <a:pt x="450" y="50"/>
                      <a:pt x="520" y="55"/>
                    </a:cubicBezTo>
                    <a:cubicBezTo>
                      <a:pt x="590" y="59"/>
                      <a:pt x="656" y="64"/>
                      <a:pt x="720" y="75"/>
                    </a:cubicBezTo>
                    <a:cubicBezTo>
                      <a:pt x="783" y="85"/>
                      <a:pt x="857" y="100"/>
                      <a:pt x="900" y="120"/>
                    </a:cubicBezTo>
                    <a:cubicBezTo>
                      <a:pt x="942" y="139"/>
                      <a:pt x="968" y="168"/>
                      <a:pt x="975" y="190"/>
                    </a:cubicBezTo>
                    <a:cubicBezTo>
                      <a:pt x="981" y="211"/>
                      <a:pt x="965" y="231"/>
                      <a:pt x="940" y="250"/>
                    </a:cubicBezTo>
                    <a:cubicBezTo>
                      <a:pt x="914" y="268"/>
                      <a:pt x="861" y="280"/>
                      <a:pt x="820" y="300"/>
                    </a:cubicBezTo>
                    <a:cubicBezTo>
                      <a:pt x="778" y="320"/>
                      <a:pt x="733" y="341"/>
                      <a:pt x="690" y="370"/>
                    </a:cubicBezTo>
                    <a:cubicBezTo>
                      <a:pt x="646" y="398"/>
                      <a:pt x="601" y="436"/>
                      <a:pt x="560" y="470"/>
                    </a:cubicBezTo>
                    <a:cubicBezTo>
                      <a:pt x="518" y="503"/>
                      <a:pt x="478" y="546"/>
                      <a:pt x="440" y="570"/>
                    </a:cubicBezTo>
                    <a:cubicBezTo>
                      <a:pt x="401" y="593"/>
                      <a:pt x="365" y="608"/>
                      <a:pt x="330" y="610"/>
                    </a:cubicBezTo>
                    <a:cubicBezTo>
                      <a:pt x="295" y="611"/>
                      <a:pt x="261" y="601"/>
                      <a:pt x="230" y="580"/>
                    </a:cubicBezTo>
                    <a:cubicBezTo>
                      <a:pt x="198" y="558"/>
                      <a:pt x="168" y="513"/>
                      <a:pt x="140" y="480"/>
                    </a:cubicBezTo>
                    <a:cubicBezTo>
                      <a:pt x="111" y="446"/>
                      <a:pt x="76" y="418"/>
                      <a:pt x="60" y="380"/>
                    </a:cubicBezTo>
                    <a:cubicBezTo>
                      <a:pt x="43" y="341"/>
                      <a:pt x="30" y="295"/>
                      <a:pt x="4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4948C"/>
                  </a:gs>
                  <a:gs pos="55000">
                    <a:srgbClr val="B5473A"/>
                  </a:gs>
                  <a:gs pos="100000">
                    <a:srgbClr val="7E3128"/>
                  </a:gs>
                </a:gsLst>
                <a:path path="circle">
                  <a:fillToRect l="30000" t="25000" r="70000" b="75000"/>
                </a:path>
              </a:gradFill>
              <a:ln w="25400" cap="rnd">
                <a:solidFill>
                  <a:srgbClr val="511F1A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14" name="Forma 13"/>
              <p:cNvSpPr/>
              <p:nvPr/>
            </p:nvSpPr>
            <p:spPr>
              <a:xfrm>
                <a:off x="6309360" y="548640"/>
                <a:ext cx="3741725" cy="231986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560" y="70"/>
                    </a:moveTo>
                    <a:cubicBezTo>
                      <a:pt x="545" y="180"/>
                      <a:pt x="530" y="280"/>
                      <a:pt x="520" y="400"/>
                    </a:cubicBezTo>
                  </a:path>
                </a:pathLst>
              </a:custGeom>
              <a:noFill/>
              <a:ln w="22225" cap="rnd">
                <a:solidFill>
                  <a:srgbClr val="6C2A22"/>
                </a:solidFill>
                <a:round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6309360" y="548640"/>
                <a:ext cx="3741725" cy="231986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200" y="200"/>
                    </a:moveTo>
                    <a:cubicBezTo>
                      <a:pt x="260" y="160"/>
                      <a:pt x="330" y="150"/>
                      <a:pt x="400" y="170"/>
                    </a:cubicBezTo>
                  </a:path>
                  <a:path w="1000" h="620" fill="none">
                    <a:moveTo>
                      <a:pt x="640" y="160"/>
                    </a:moveTo>
                    <a:cubicBezTo>
                      <a:pt x="700" y="150"/>
                      <a:pt x="760" y="160"/>
                      <a:pt x="820" y="190"/>
                    </a:cubicBezTo>
                  </a:path>
                </a:pathLst>
              </a:custGeom>
              <a:noFill/>
              <a:ln w="31750" cap="rnd">
                <a:solidFill>
                  <a:srgbClr val="CE877E"/>
                </a:solidFill>
                <a:round/>
              </a:ln>
            </p:spPr>
          </p:sp>
        </p:grpSp>
        <p:sp>
          <p:nvSpPr>
            <p:cNvPr id="16" name="!!Duodeno"/>
            <p:cNvSpPr/>
            <p:nvPr/>
          </p:nvSpPr>
          <p:spPr>
            <a:xfrm>
              <a:off x="8350301" y="3774643"/>
              <a:ext cx="2040941" cy="230428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330" y="0"/>
                  </a:moveTo>
                  <a:cubicBezTo>
                    <a:pt x="260" y="300"/>
                    <a:pt x="280" y="700"/>
                    <a:pt x="520" y="860"/>
                  </a:cubicBezTo>
                  <a:cubicBezTo>
                    <a:pt x="700" y="980"/>
                    <a:pt x="930" y="900"/>
                    <a:pt x="990" y="640"/>
                  </a:cubicBezTo>
                </a:path>
              </a:pathLst>
            </a:custGeom>
            <a:noFill/>
            <a:ln w="381000" cap="rnd">
              <a:solidFill>
                <a:srgbClr val="922B21"/>
              </a:solidFill>
              <a:round/>
            </a:ln>
          </p:spPr>
        </p:sp>
        <p:sp>
          <p:nvSpPr>
            <p:cNvPr id="17" name="!!Duodeno luz"/>
            <p:cNvSpPr/>
            <p:nvPr/>
          </p:nvSpPr>
          <p:spPr>
            <a:xfrm>
              <a:off x="8350301" y="3774643"/>
              <a:ext cx="2040941" cy="230428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330" y="0"/>
                  </a:moveTo>
                  <a:cubicBezTo>
                    <a:pt x="260" y="300"/>
                    <a:pt x="280" y="700"/>
                    <a:pt x="520" y="860"/>
                  </a:cubicBezTo>
                  <a:cubicBezTo>
                    <a:pt x="700" y="980"/>
                    <a:pt x="930" y="900"/>
                    <a:pt x="990" y="640"/>
                  </a:cubicBezTo>
                </a:path>
              </a:pathLst>
            </a:custGeom>
            <a:noFill/>
            <a:ln w="292100" cap="rnd">
              <a:solidFill>
                <a:srgbClr val="F1948A"/>
              </a:solidFill>
              <a:round/>
            </a:ln>
          </p:spPr>
        </p:sp>
        <p:grpSp>
          <p:nvGrpSpPr>
            <p:cNvPr id="18" name="!!Pancreas"/>
            <p:cNvGrpSpPr/>
            <p:nvPr/>
          </p:nvGrpSpPr>
          <p:grpSpPr>
            <a:xfrm>
              <a:off x="8973922" y="3601822"/>
              <a:ext cx="2948026" cy="1238171"/>
              <a:chOff x="8973922" y="3601822"/>
              <a:chExt cx="2948026" cy="1238171"/>
            </a:xfrm>
          </p:grpSpPr>
          <p:sp>
            <p:nvSpPr>
              <p:cNvPr id="19" name="Forma 18"/>
              <p:cNvSpPr/>
              <p:nvPr/>
            </p:nvSpPr>
            <p:spPr>
              <a:xfrm>
                <a:off x="8973922" y="3601822"/>
                <a:ext cx="2948026" cy="12381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30" y="300"/>
                    </a:moveTo>
                    <a:cubicBezTo>
                      <a:pt x="20" y="271"/>
                      <a:pt x="40" y="238"/>
                      <a:pt x="60" y="220"/>
                    </a:cubicBezTo>
                    <a:cubicBezTo>
                      <a:pt x="80" y="201"/>
                      <a:pt x="118" y="188"/>
                      <a:pt x="150" y="190"/>
                    </a:cubicBezTo>
                    <a:cubicBezTo>
                      <a:pt x="181" y="191"/>
                      <a:pt x="215" y="220"/>
                      <a:pt x="250" y="230"/>
                    </a:cubicBezTo>
                    <a:cubicBezTo>
                      <a:pt x="285" y="240"/>
                      <a:pt x="321" y="255"/>
                      <a:pt x="360" y="250"/>
                    </a:cubicBezTo>
                    <a:cubicBezTo>
                      <a:pt x="398" y="245"/>
                      <a:pt x="440" y="213"/>
                      <a:pt x="480" y="200"/>
                    </a:cubicBezTo>
                    <a:cubicBezTo>
                      <a:pt x="520" y="186"/>
                      <a:pt x="556" y="180"/>
                      <a:pt x="600" y="170"/>
                    </a:cubicBezTo>
                    <a:cubicBezTo>
                      <a:pt x="643" y="160"/>
                      <a:pt x="693" y="148"/>
                      <a:pt x="740" y="140"/>
                    </a:cubicBezTo>
                    <a:cubicBezTo>
                      <a:pt x="786" y="131"/>
                      <a:pt x="841" y="118"/>
                      <a:pt x="880" y="120"/>
                    </a:cubicBezTo>
                    <a:cubicBezTo>
                      <a:pt x="918" y="121"/>
                      <a:pt x="956" y="133"/>
                      <a:pt x="970" y="150"/>
                    </a:cubicBezTo>
                    <a:cubicBezTo>
                      <a:pt x="983" y="166"/>
                      <a:pt x="978" y="203"/>
                      <a:pt x="960" y="220"/>
                    </a:cubicBezTo>
                    <a:cubicBezTo>
                      <a:pt x="941" y="236"/>
                      <a:pt x="896" y="240"/>
                      <a:pt x="860" y="250"/>
                    </a:cubicBezTo>
                    <a:cubicBezTo>
                      <a:pt x="823" y="260"/>
                      <a:pt x="780" y="268"/>
                      <a:pt x="740" y="280"/>
                    </a:cubicBezTo>
                    <a:cubicBezTo>
                      <a:pt x="700" y="291"/>
                      <a:pt x="660" y="305"/>
                      <a:pt x="620" y="320"/>
                    </a:cubicBezTo>
                    <a:cubicBezTo>
                      <a:pt x="580" y="335"/>
                      <a:pt x="540" y="356"/>
                      <a:pt x="500" y="370"/>
                    </a:cubicBezTo>
                    <a:cubicBezTo>
                      <a:pt x="460" y="383"/>
                      <a:pt x="421" y="393"/>
                      <a:pt x="380" y="400"/>
                    </a:cubicBezTo>
                    <a:cubicBezTo>
                      <a:pt x="338" y="406"/>
                      <a:pt x="293" y="411"/>
                      <a:pt x="250" y="410"/>
                    </a:cubicBezTo>
                    <a:cubicBezTo>
                      <a:pt x="206" y="408"/>
                      <a:pt x="156" y="408"/>
                      <a:pt x="120" y="390"/>
                    </a:cubicBezTo>
                    <a:cubicBezTo>
                      <a:pt x="83" y="371"/>
                      <a:pt x="40" y="328"/>
                      <a:pt x="30" y="3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5D8BE"/>
                  </a:gs>
                  <a:gs pos="55000">
                    <a:srgbClr val="EDB98A"/>
                  </a:gs>
                  <a:gs pos="100000">
                    <a:srgbClr val="B18A67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65C45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20" name="Forma 19"/>
              <p:cNvSpPr/>
              <p:nvPr/>
            </p:nvSpPr>
            <p:spPr>
              <a:xfrm>
                <a:off x="8973922" y="3601822"/>
                <a:ext cx="2948026" cy="12381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295"/>
                    </a:moveTo>
                    <a:cubicBezTo>
                      <a:pt x="100" y="306"/>
                      <a:pt x="91" y="315"/>
                      <a:pt x="80" y="315"/>
                    </a:cubicBezTo>
                    <a:cubicBezTo>
                      <a:pt x="68" y="315"/>
                      <a:pt x="60" y="306"/>
                      <a:pt x="60" y="295"/>
                    </a:cubicBezTo>
                    <a:cubicBezTo>
                      <a:pt x="60" y="283"/>
                      <a:pt x="68" y="275"/>
                      <a:pt x="80" y="275"/>
                    </a:cubicBezTo>
                    <a:cubicBezTo>
                      <a:pt x="91" y="275"/>
                      <a:pt x="100" y="283"/>
                      <a:pt x="100" y="295"/>
                    </a:cubicBezTo>
                    <a:close/>
                    <a:moveTo>
                      <a:pt x="142" y="293"/>
                    </a:moveTo>
                    <a:cubicBezTo>
                      <a:pt x="142" y="308"/>
                      <a:pt x="129" y="321"/>
                      <a:pt x="114" y="321"/>
                    </a:cubicBezTo>
                    <a:cubicBezTo>
                      <a:pt x="98" y="321"/>
                      <a:pt x="86" y="308"/>
                      <a:pt x="86" y="293"/>
                    </a:cubicBezTo>
                    <a:cubicBezTo>
                      <a:pt x="86" y="277"/>
                      <a:pt x="98" y="265"/>
                      <a:pt x="114" y="265"/>
                    </a:cubicBezTo>
                    <a:cubicBezTo>
                      <a:pt x="129" y="265"/>
                      <a:pt x="142" y="277"/>
                      <a:pt x="142" y="293"/>
                    </a:cubicBezTo>
                    <a:close/>
                    <a:moveTo>
                      <a:pt x="167" y="265"/>
                    </a:moveTo>
                    <a:cubicBezTo>
                      <a:pt x="167" y="275"/>
                      <a:pt x="158" y="284"/>
                      <a:pt x="148" y="284"/>
                    </a:cubicBezTo>
                    <a:cubicBezTo>
                      <a:pt x="137" y="284"/>
                      <a:pt x="129" y="275"/>
                      <a:pt x="129" y="265"/>
                    </a:cubicBezTo>
                    <a:cubicBezTo>
                      <a:pt x="129" y="254"/>
                      <a:pt x="137" y="246"/>
                      <a:pt x="148" y="246"/>
                    </a:cubicBezTo>
                    <a:cubicBezTo>
                      <a:pt x="158" y="246"/>
                      <a:pt x="167" y="254"/>
                      <a:pt x="167" y="265"/>
                    </a:cubicBezTo>
                    <a:close/>
                    <a:moveTo>
                      <a:pt x="202" y="289"/>
                    </a:moveTo>
                    <a:cubicBezTo>
                      <a:pt x="202" y="299"/>
                      <a:pt x="193" y="308"/>
                      <a:pt x="183" y="308"/>
                    </a:cubicBezTo>
                    <a:cubicBezTo>
                      <a:pt x="172" y="308"/>
                      <a:pt x="164" y="299"/>
                      <a:pt x="164" y="289"/>
                    </a:cubicBezTo>
                    <a:cubicBezTo>
                      <a:pt x="164" y="278"/>
                      <a:pt x="172" y="270"/>
                      <a:pt x="183" y="270"/>
                    </a:cubicBezTo>
                    <a:cubicBezTo>
                      <a:pt x="193" y="270"/>
                      <a:pt x="202" y="278"/>
                      <a:pt x="202" y="289"/>
                    </a:cubicBezTo>
                    <a:close/>
                    <a:moveTo>
                      <a:pt x="244" y="272"/>
                    </a:moveTo>
                    <a:cubicBezTo>
                      <a:pt x="244" y="286"/>
                      <a:pt x="231" y="299"/>
                      <a:pt x="217" y="299"/>
                    </a:cubicBezTo>
                    <a:cubicBezTo>
                      <a:pt x="202" y="299"/>
                      <a:pt x="190" y="286"/>
                      <a:pt x="190" y="272"/>
                    </a:cubicBezTo>
                    <a:cubicBezTo>
                      <a:pt x="190" y="257"/>
                      <a:pt x="202" y="245"/>
                      <a:pt x="217" y="245"/>
                    </a:cubicBezTo>
                    <a:cubicBezTo>
                      <a:pt x="231" y="245"/>
                      <a:pt x="244" y="257"/>
                      <a:pt x="244" y="272"/>
                    </a:cubicBezTo>
                    <a:close/>
                    <a:moveTo>
                      <a:pt x="278" y="246"/>
                    </a:moveTo>
                    <a:cubicBezTo>
                      <a:pt x="278" y="260"/>
                      <a:pt x="266" y="272"/>
                      <a:pt x="252" y="272"/>
                    </a:cubicBezTo>
                    <a:cubicBezTo>
                      <a:pt x="237" y="272"/>
                      <a:pt x="226" y="260"/>
                      <a:pt x="226" y="246"/>
                    </a:cubicBezTo>
                    <a:cubicBezTo>
                      <a:pt x="226" y="231"/>
                      <a:pt x="237" y="220"/>
                      <a:pt x="252" y="220"/>
                    </a:cubicBezTo>
                    <a:cubicBezTo>
                      <a:pt x="266" y="220"/>
                      <a:pt x="278" y="231"/>
                      <a:pt x="278" y="246"/>
                    </a:cubicBezTo>
                    <a:close/>
                    <a:moveTo>
                      <a:pt x="304" y="249"/>
                    </a:moveTo>
                    <a:cubicBezTo>
                      <a:pt x="304" y="258"/>
                      <a:pt x="295" y="267"/>
                      <a:pt x="286" y="267"/>
                    </a:cubicBezTo>
                    <a:cubicBezTo>
                      <a:pt x="276" y="267"/>
                      <a:pt x="268" y="258"/>
                      <a:pt x="268" y="249"/>
                    </a:cubicBezTo>
                    <a:cubicBezTo>
                      <a:pt x="268" y="239"/>
                      <a:pt x="276" y="231"/>
                      <a:pt x="286" y="231"/>
                    </a:cubicBezTo>
                    <a:cubicBezTo>
                      <a:pt x="295" y="231"/>
                      <a:pt x="304" y="239"/>
                      <a:pt x="304" y="249"/>
                    </a:cubicBezTo>
                    <a:close/>
                    <a:moveTo>
                      <a:pt x="344" y="235"/>
                    </a:moveTo>
                    <a:cubicBezTo>
                      <a:pt x="344" y="248"/>
                      <a:pt x="333" y="259"/>
                      <a:pt x="320" y="259"/>
                    </a:cubicBezTo>
                    <a:cubicBezTo>
                      <a:pt x="306" y="259"/>
                      <a:pt x="296" y="248"/>
                      <a:pt x="296" y="235"/>
                    </a:cubicBezTo>
                    <a:cubicBezTo>
                      <a:pt x="296" y="221"/>
                      <a:pt x="306" y="211"/>
                      <a:pt x="320" y="211"/>
                    </a:cubicBezTo>
                    <a:cubicBezTo>
                      <a:pt x="333" y="211"/>
                      <a:pt x="344" y="221"/>
                      <a:pt x="344" y="235"/>
                    </a:cubicBezTo>
                    <a:close/>
                    <a:moveTo>
                      <a:pt x="374" y="249"/>
                    </a:moveTo>
                    <a:cubicBezTo>
                      <a:pt x="374" y="259"/>
                      <a:pt x="365" y="268"/>
                      <a:pt x="355" y="268"/>
                    </a:cubicBezTo>
                    <a:cubicBezTo>
                      <a:pt x="344" y="268"/>
                      <a:pt x="336" y="259"/>
                      <a:pt x="336" y="249"/>
                    </a:cubicBezTo>
                    <a:cubicBezTo>
                      <a:pt x="336" y="238"/>
                      <a:pt x="344" y="230"/>
                      <a:pt x="355" y="230"/>
                    </a:cubicBezTo>
                    <a:cubicBezTo>
                      <a:pt x="365" y="230"/>
                      <a:pt x="374" y="238"/>
                      <a:pt x="374" y="249"/>
                    </a:cubicBezTo>
                    <a:close/>
                    <a:moveTo>
                      <a:pt x="408" y="232"/>
                    </a:moveTo>
                    <a:cubicBezTo>
                      <a:pt x="408" y="242"/>
                      <a:pt x="399" y="251"/>
                      <a:pt x="389" y="251"/>
                    </a:cubicBezTo>
                    <a:cubicBezTo>
                      <a:pt x="378" y="251"/>
                      <a:pt x="370" y="242"/>
                      <a:pt x="370" y="232"/>
                    </a:cubicBezTo>
                    <a:cubicBezTo>
                      <a:pt x="370" y="221"/>
                      <a:pt x="378" y="213"/>
                      <a:pt x="389" y="213"/>
                    </a:cubicBezTo>
                    <a:cubicBezTo>
                      <a:pt x="399" y="213"/>
                      <a:pt x="408" y="221"/>
                      <a:pt x="408" y="232"/>
                    </a:cubicBezTo>
                    <a:close/>
                    <a:moveTo>
                      <a:pt x="448" y="246"/>
                    </a:moveTo>
                    <a:cubicBezTo>
                      <a:pt x="448" y="259"/>
                      <a:pt x="437" y="270"/>
                      <a:pt x="424" y="270"/>
                    </a:cubicBezTo>
                    <a:cubicBezTo>
                      <a:pt x="410" y="270"/>
                      <a:pt x="400" y="259"/>
                      <a:pt x="400" y="246"/>
                    </a:cubicBezTo>
                    <a:cubicBezTo>
                      <a:pt x="400" y="232"/>
                      <a:pt x="410" y="222"/>
                      <a:pt x="424" y="222"/>
                    </a:cubicBezTo>
                    <a:cubicBezTo>
                      <a:pt x="437" y="222"/>
                      <a:pt x="448" y="232"/>
                      <a:pt x="448" y="246"/>
                    </a:cubicBezTo>
                    <a:close/>
                    <a:moveTo>
                      <a:pt x="485" y="207"/>
                    </a:moveTo>
                    <a:cubicBezTo>
                      <a:pt x="485" y="221"/>
                      <a:pt x="472" y="234"/>
                      <a:pt x="458" y="234"/>
                    </a:cubicBezTo>
                    <a:cubicBezTo>
                      <a:pt x="443" y="234"/>
                      <a:pt x="431" y="221"/>
                      <a:pt x="431" y="207"/>
                    </a:cubicBezTo>
                    <a:cubicBezTo>
                      <a:pt x="431" y="192"/>
                      <a:pt x="443" y="180"/>
                      <a:pt x="458" y="180"/>
                    </a:cubicBezTo>
                    <a:cubicBezTo>
                      <a:pt x="472" y="180"/>
                      <a:pt x="485" y="192"/>
                      <a:pt x="485" y="207"/>
                    </a:cubicBezTo>
                    <a:close/>
                    <a:moveTo>
                      <a:pt x="513" y="205"/>
                    </a:moveTo>
                    <a:cubicBezTo>
                      <a:pt x="513" y="216"/>
                      <a:pt x="503" y="226"/>
                      <a:pt x="492" y="226"/>
                    </a:cubicBezTo>
                    <a:cubicBezTo>
                      <a:pt x="480" y="226"/>
                      <a:pt x="471" y="216"/>
                      <a:pt x="471" y="205"/>
                    </a:cubicBezTo>
                    <a:cubicBezTo>
                      <a:pt x="471" y="193"/>
                      <a:pt x="480" y="184"/>
                      <a:pt x="492" y="184"/>
                    </a:cubicBezTo>
                    <a:cubicBezTo>
                      <a:pt x="503" y="184"/>
                      <a:pt x="513" y="193"/>
                      <a:pt x="513" y="205"/>
                    </a:cubicBezTo>
                    <a:close/>
                    <a:moveTo>
                      <a:pt x="555" y="231"/>
                    </a:moveTo>
                    <a:cubicBezTo>
                      <a:pt x="555" y="246"/>
                      <a:pt x="542" y="259"/>
                      <a:pt x="527" y="259"/>
                    </a:cubicBezTo>
                    <a:cubicBezTo>
                      <a:pt x="511" y="259"/>
                      <a:pt x="499" y="246"/>
                      <a:pt x="499" y="231"/>
                    </a:cubicBezTo>
                    <a:cubicBezTo>
                      <a:pt x="499" y="215"/>
                      <a:pt x="511" y="203"/>
                      <a:pt x="527" y="203"/>
                    </a:cubicBezTo>
                    <a:cubicBezTo>
                      <a:pt x="542" y="203"/>
                      <a:pt x="555" y="215"/>
                      <a:pt x="555" y="231"/>
                    </a:cubicBezTo>
                    <a:close/>
                    <a:moveTo>
                      <a:pt x="579" y="222"/>
                    </a:moveTo>
                    <a:cubicBezTo>
                      <a:pt x="579" y="231"/>
                      <a:pt x="570" y="240"/>
                      <a:pt x="561" y="240"/>
                    </a:cubicBezTo>
                    <a:cubicBezTo>
                      <a:pt x="551" y="240"/>
                      <a:pt x="543" y="231"/>
                      <a:pt x="543" y="222"/>
                    </a:cubicBezTo>
                    <a:cubicBezTo>
                      <a:pt x="543" y="212"/>
                      <a:pt x="551" y="204"/>
                      <a:pt x="561" y="204"/>
                    </a:cubicBezTo>
                    <a:cubicBezTo>
                      <a:pt x="570" y="204"/>
                      <a:pt x="579" y="212"/>
                      <a:pt x="579" y="222"/>
                    </a:cubicBezTo>
                    <a:close/>
                    <a:moveTo>
                      <a:pt x="623" y="215"/>
                    </a:moveTo>
                    <a:cubicBezTo>
                      <a:pt x="623" y="229"/>
                      <a:pt x="610" y="242"/>
                      <a:pt x="596" y="242"/>
                    </a:cubicBezTo>
                    <a:cubicBezTo>
                      <a:pt x="581" y="242"/>
                      <a:pt x="569" y="229"/>
                      <a:pt x="569" y="215"/>
                    </a:cubicBezTo>
                    <a:cubicBezTo>
                      <a:pt x="569" y="200"/>
                      <a:pt x="581" y="188"/>
                      <a:pt x="596" y="188"/>
                    </a:cubicBezTo>
                    <a:cubicBezTo>
                      <a:pt x="610" y="188"/>
                      <a:pt x="623" y="200"/>
                      <a:pt x="623" y="215"/>
                    </a:cubicBezTo>
                    <a:close/>
                    <a:moveTo>
                      <a:pt x="648" y="197"/>
                    </a:moveTo>
                    <a:cubicBezTo>
                      <a:pt x="648" y="206"/>
                      <a:pt x="639" y="215"/>
                      <a:pt x="630" y="215"/>
                    </a:cubicBezTo>
                    <a:cubicBezTo>
                      <a:pt x="620" y="215"/>
                      <a:pt x="612" y="206"/>
                      <a:pt x="612" y="197"/>
                    </a:cubicBezTo>
                    <a:cubicBezTo>
                      <a:pt x="612" y="187"/>
                      <a:pt x="620" y="179"/>
                      <a:pt x="630" y="179"/>
                    </a:cubicBezTo>
                    <a:cubicBezTo>
                      <a:pt x="639" y="179"/>
                      <a:pt x="648" y="187"/>
                      <a:pt x="648" y="197"/>
                    </a:cubicBezTo>
                    <a:close/>
                    <a:moveTo>
                      <a:pt x="682" y="180"/>
                    </a:moveTo>
                    <a:cubicBezTo>
                      <a:pt x="682" y="189"/>
                      <a:pt x="673" y="198"/>
                      <a:pt x="664" y="198"/>
                    </a:cubicBezTo>
                    <a:cubicBezTo>
                      <a:pt x="654" y="198"/>
                      <a:pt x="646" y="189"/>
                      <a:pt x="646" y="180"/>
                    </a:cubicBezTo>
                    <a:cubicBezTo>
                      <a:pt x="646" y="170"/>
                      <a:pt x="654" y="162"/>
                      <a:pt x="664" y="162"/>
                    </a:cubicBezTo>
                    <a:cubicBezTo>
                      <a:pt x="673" y="162"/>
                      <a:pt x="682" y="170"/>
                      <a:pt x="682" y="180"/>
                    </a:cubicBezTo>
                    <a:close/>
                    <a:moveTo>
                      <a:pt x="719" y="194"/>
                    </a:moveTo>
                    <a:cubicBezTo>
                      <a:pt x="719" y="205"/>
                      <a:pt x="710" y="214"/>
                      <a:pt x="699" y="214"/>
                    </a:cubicBezTo>
                    <a:cubicBezTo>
                      <a:pt x="687" y="214"/>
                      <a:pt x="679" y="205"/>
                      <a:pt x="679" y="194"/>
                    </a:cubicBezTo>
                    <a:cubicBezTo>
                      <a:pt x="679" y="182"/>
                      <a:pt x="687" y="174"/>
                      <a:pt x="699" y="174"/>
                    </a:cubicBezTo>
                    <a:cubicBezTo>
                      <a:pt x="710" y="174"/>
                      <a:pt x="719" y="182"/>
                      <a:pt x="719" y="194"/>
                    </a:cubicBezTo>
                    <a:close/>
                    <a:moveTo>
                      <a:pt x="757" y="171"/>
                    </a:moveTo>
                    <a:cubicBezTo>
                      <a:pt x="757" y="184"/>
                      <a:pt x="746" y="195"/>
                      <a:pt x="733" y="195"/>
                    </a:cubicBezTo>
                    <a:cubicBezTo>
                      <a:pt x="719" y="195"/>
                      <a:pt x="709" y="184"/>
                      <a:pt x="709" y="171"/>
                    </a:cubicBezTo>
                    <a:cubicBezTo>
                      <a:pt x="709" y="157"/>
                      <a:pt x="719" y="147"/>
                      <a:pt x="733" y="147"/>
                    </a:cubicBezTo>
                    <a:cubicBezTo>
                      <a:pt x="746" y="147"/>
                      <a:pt x="757" y="157"/>
                      <a:pt x="757" y="171"/>
                    </a:cubicBezTo>
                    <a:close/>
                    <a:moveTo>
                      <a:pt x="794" y="156"/>
                    </a:moveTo>
                    <a:cubicBezTo>
                      <a:pt x="794" y="170"/>
                      <a:pt x="782" y="182"/>
                      <a:pt x="768" y="182"/>
                    </a:cubicBezTo>
                    <a:cubicBezTo>
                      <a:pt x="753" y="182"/>
                      <a:pt x="742" y="170"/>
                      <a:pt x="742" y="156"/>
                    </a:cubicBezTo>
                    <a:cubicBezTo>
                      <a:pt x="742" y="141"/>
                      <a:pt x="753" y="130"/>
                      <a:pt x="768" y="130"/>
                    </a:cubicBezTo>
                    <a:cubicBezTo>
                      <a:pt x="782" y="130"/>
                      <a:pt x="794" y="141"/>
                      <a:pt x="794" y="156"/>
                    </a:cubicBezTo>
                    <a:close/>
                    <a:moveTo>
                      <a:pt x="829" y="147"/>
                    </a:moveTo>
                    <a:cubicBezTo>
                      <a:pt x="829" y="161"/>
                      <a:pt x="816" y="174"/>
                      <a:pt x="802" y="174"/>
                    </a:cubicBezTo>
                    <a:cubicBezTo>
                      <a:pt x="787" y="174"/>
                      <a:pt x="775" y="161"/>
                      <a:pt x="775" y="147"/>
                    </a:cubicBezTo>
                    <a:cubicBezTo>
                      <a:pt x="775" y="132"/>
                      <a:pt x="787" y="120"/>
                      <a:pt x="802" y="120"/>
                    </a:cubicBezTo>
                    <a:cubicBezTo>
                      <a:pt x="816" y="120"/>
                      <a:pt x="829" y="132"/>
                      <a:pt x="829" y="147"/>
                    </a:cubicBezTo>
                    <a:close/>
                    <a:moveTo>
                      <a:pt x="862" y="153"/>
                    </a:moveTo>
                    <a:cubicBezTo>
                      <a:pt x="862" y="167"/>
                      <a:pt x="850" y="179"/>
                      <a:pt x="836" y="179"/>
                    </a:cubicBezTo>
                    <a:cubicBezTo>
                      <a:pt x="821" y="179"/>
                      <a:pt x="810" y="167"/>
                      <a:pt x="810" y="153"/>
                    </a:cubicBezTo>
                    <a:cubicBezTo>
                      <a:pt x="810" y="138"/>
                      <a:pt x="821" y="127"/>
                      <a:pt x="836" y="127"/>
                    </a:cubicBezTo>
                    <a:cubicBezTo>
                      <a:pt x="850" y="127"/>
                      <a:pt x="862" y="138"/>
                      <a:pt x="862" y="153"/>
                    </a:cubicBezTo>
                    <a:close/>
                    <a:moveTo>
                      <a:pt x="891" y="170"/>
                    </a:moveTo>
                    <a:cubicBezTo>
                      <a:pt x="891" y="181"/>
                      <a:pt x="882" y="190"/>
                      <a:pt x="871" y="190"/>
                    </a:cubicBezTo>
                    <a:cubicBezTo>
                      <a:pt x="859" y="190"/>
                      <a:pt x="851" y="181"/>
                      <a:pt x="851" y="170"/>
                    </a:cubicBezTo>
                    <a:cubicBezTo>
                      <a:pt x="851" y="158"/>
                      <a:pt x="859" y="150"/>
                      <a:pt x="871" y="150"/>
                    </a:cubicBezTo>
                    <a:cubicBezTo>
                      <a:pt x="882" y="150"/>
                      <a:pt x="891" y="158"/>
                      <a:pt x="891" y="170"/>
                    </a:cubicBezTo>
                    <a:close/>
                    <a:moveTo>
                      <a:pt x="932" y="127"/>
                    </a:moveTo>
                    <a:cubicBezTo>
                      <a:pt x="932" y="141"/>
                      <a:pt x="919" y="154"/>
                      <a:pt x="905" y="154"/>
                    </a:cubicBezTo>
                    <a:cubicBezTo>
                      <a:pt x="890" y="154"/>
                      <a:pt x="878" y="141"/>
                      <a:pt x="878" y="127"/>
                    </a:cubicBezTo>
                    <a:cubicBezTo>
                      <a:pt x="878" y="112"/>
                      <a:pt x="890" y="100"/>
                      <a:pt x="905" y="100"/>
                    </a:cubicBezTo>
                    <a:cubicBezTo>
                      <a:pt x="919" y="100"/>
                      <a:pt x="932" y="112"/>
                      <a:pt x="932" y="127"/>
                    </a:cubicBezTo>
                    <a:close/>
                    <a:moveTo>
                      <a:pt x="968" y="151"/>
                    </a:moveTo>
                    <a:cubicBezTo>
                      <a:pt x="968" y="166"/>
                      <a:pt x="955" y="179"/>
                      <a:pt x="940" y="179"/>
                    </a:cubicBezTo>
                    <a:cubicBezTo>
                      <a:pt x="924" y="179"/>
                      <a:pt x="912" y="166"/>
                      <a:pt x="912" y="151"/>
                    </a:cubicBezTo>
                    <a:cubicBezTo>
                      <a:pt x="912" y="135"/>
                      <a:pt x="924" y="123"/>
                      <a:pt x="940" y="123"/>
                    </a:cubicBezTo>
                    <a:cubicBezTo>
                      <a:pt x="955" y="123"/>
                      <a:pt x="968" y="135"/>
                      <a:pt x="968" y="151"/>
                    </a:cubicBezTo>
                    <a:close/>
                  </a:path>
                </a:pathLst>
              </a:custGeom>
              <a:noFill/>
              <a:ln w="9525" cap="rnd">
                <a:solidFill>
                  <a:srgbClr val="B18A67"/>
                </a:solidFill>
                <a:round/>
              </a:ln>
            </p:spPr>
          </p:sp>
          <p:sp>
            <p:nvSpPr>
              <p:cNvPr id="21" name="Islotes"/>
              <p:cNvSpPr/>
              <p:nvPr/>
            </p:nvSpPr>
            <p:spPr>
              <a:xfrm>
                <a:off x="8973922" y="3601822"/>
                <a:ext cx="2948026" cy="12381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286" y="300"/>
                    </a:moveTo>
                    <a:cubicBezTo>
                      <a:pt x="286" y="314"/>
                      <a:pt x="274" y="326"/>
                      <a:pt x="260" y="326"/>
                    </a:cubicBezTo>
                    <a:cubicBezTo>
                      <a:pt x="245" y="326"/>
                      <a:pt x="234" y="314"/>
                      <a:pt x="234" y="300"/>
                    </a:cubicBezTo>
                    <a:cubicBezTo>
                      <a:pt x="234" y="285"/>
                      <a:pt x="245" y="274"/>
                      <a:pt x="260" y="274"/>
                    </a:cubicBezTo>
                    <a:cubicBezTo>
                      <a:pt x="274" y="274"/>
                      <a:pt x="286" y="285"/>
                      <a:pt x="286" y="300"/>
                    </a:cubicBezTo>
                    <a:close/>
                    <a:moveTo>
                      <a:pt x="542" y="260"/>
                    </a:moveTo>
                    <a:cubicBezTo>
                      <a:pt x="542" y="272"/>
                      <a:pt x="532" y="282"/>
                      <a:pt x="520" y="282"/>
                    </a:cubicBezTo>
                    <a:cubicBezTo>
                      <a:pt x="507" y="282"/>
                      <a:pt x="498" y="272"/>
                      <a:pt x="498" y="260"/>
                    </a:cubicBezTo>
                    <a:cubicBezTo>
                      <a:pt x="498" y="247"/>
                      <a:pt x="507" y="238"/>
                      <a:pt x="520" y="238"/>
                    </a:cubicBezTo>
                    <a:cubicBezTo>
                      <a:pt x="532" y="238"/>
                      <a:pt x="542" y="247"/>
                      <a:pt x="542" y="260"/>
                    </a:cubicBezTo>
                    <a:close/>
                    <a:moveTo>
                      <a:pt x="784" y="200"/>
                    </a:moveTo>
                    <a:cubicBezTo>
                      <a:pt x="784" y="213"/>
                      <a:pt x="773" y="224"/>
                      <a:pt x="760" y="224"/>
                    </a:cubicBezTo>
                    <a:cubicBezTo>
                      <a:pt x="746" y="224"/>
                      <a:pt x="736" y="213"/>
                      <a:pt x="736" y="200"/>
                    </a:cubicBezTo>
                    <a:cubicBezTo>
                      <a:pt x="736" y="186"/>
                      <a:pt x="746" y="176"/>
                      <a:pt x="760" y="176"/>
                    </a:cubicBezTo>
                    <a:cubicBezTo>
                      <a:pt x="773" y="176"/>
                      <a:pt x="784" y="186"/>
                      <a:pt x="784" y="200"/>
                    </a:cubicBezTo>
                    <a:close/>
                    <a:moveTo>
                      <a:pt x="438" y="320"/>
                    </a:moveTo>
                    <a:cubicBezTo>
                      <a:pt x="438" y="329"/>
                      <a:pt x="429" y="338"/>
                      <a:pt x="420" y="338"/>
                    </a:cubicBezTo>
                    <a:cubicBezTo>
                      <a:pt x="410" y="338"/>
                      <a:pt x="402" y="329"/>
                      <a:pt x="402" y="320"/>
                    </a:cubicBezTo>
                    <a:cubicBezTo>
                      <a:pt x="402" y="310"/>
                      <a:pt x="410" y="302"/>
                      <a:pt x="420" y="302"/>
                    </a:cubicBezTo>
                    <a:cubicBezTo>
                      <a:pt x="429" y="302"/>
                      <a:pt x="438" y="310"/>
                      <a:pt x="438" y="3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DBD8"/>
                  </a:gs>
                  <a:gs pos="55000">
                    <a:srgbClr val="F5B7B1"/>
                  </a:gs>
                  <a:gs pos="100000">
                    <a:srgbClr val="C4928D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C0392B"/>
                </a:solidFill>
                <a:round/>
              </a:ln>
            </p:spPr>
          </p:sp>
          <p:sp>
            <p:nvSpPr>
              <p:cNvPr id="22" name="Forma 21"/>
              <p:cNvSpPr/>
              <p:nvPr/>
            </p:nvSpPr>
            <p:spPr>
              <a:xfrm>
                <a:off x="8973922" y="3601822"/>
                <a:ext cx="2948026" cy="12381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320"/>
                    </a:moveTo>
                    <a:cubicBezTo>
                      <a:pt x="300" y="300"/>
                      <a:pt x="600" y="230"/>
                      <a:pt x="930" y="170"/>
                    </a:cubicBezTo>
                  </a:path>
                </a:pathLst>
              </a:custGeom>
              <a:noFill/>
              <a:ln w="25400" cap="rnd">
                <a:solidFill>
                  <a:srgbClr val="F7DC6F"/>
                </a:solidFill>
                <a:round/>
              </a:ln>
            </p:spPr>
          </p:sp>
        </p:grpSp>
        <p:sp>
          <p:nvSpPr>
            <p:cNvPr id="23" name="!!Vesicula"/>
            <p:cNvSpPr/>
            <p:nvPr/>
          </p:nvSpPr>
          <p:spPr>
            <a:xfrm>
              <a:off x="7216445" y="3025750"/>
              <a:ext cx="680314" cy="126735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20" y="-53"/>
                    <a:pt x="691" y="-20"/>
                    <a:pt x="800" y="80"/>
                  </a:cubicBezTo>
                  <a:cubicBezTo>
                    <a:pt x="908" y="180"/>
                    <a:pt x="983" y="446"/>
                    <a:pt x="950" y="600"/>
                  </a:cubicBezTo>
                  <a:cubicBezTo>
                    <a:pt x="916" y="753"/>
                    <a:pt x="725" y="950"/>
                    <a:pt x="600" y="1000"/>
                  </a:cubicBezTo>
                  <a:cubicBezTo>
                    <a:pt x="475" y="1050"/>
                    <a:pt x="286" y="1000"/>
                    <a:pt x="200" y="900"/>
                  </a:cubicBezTo>
                  <a:cubicBezTo>
                    <a:pt x="113" y="800"/>
                    <a:pt x="63" y="550"/>
                    <a:pt x="80" y="400"/>
                  </a:cubicBezTo>
                  <a:cubicBezTo>
                    <a:pt x="96" y="250"/>
                    <a:pt x="180" y="53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E6B22"/>
              </a:solidFill>
              <a:round/>
            </a:ln>
          </p:spPr>
        </p:sp>
        <p:sp>
          <p:nvSpPr>
            <p:cNvPr id="24" name="!!Conductos hepaticos"/>
            <p:cNvSpPr/>
            <p:nvPr/>
          </p:nvSpPr>
          <p:spPr>
            <a:xfrm>
              <a:off x="8463686" y="2622499"/>
              <a:ext cx="340157" cy="748894"/>
            </a:xfrm>
            <a:custGeom>
              <a:avLst/>
              <a:gdLst/>
              <a:ahLst/>
              <a:cxnLst/>
              <a:rect l="0" t="0" r="r" b="b"/>
              <a:pathLst>
                <a:path w="371" h="819" fill="none">
                  <a:moveTo>
                    <a:pt x="0" y="0"/>
                  </a:moveTo>
                  <a:quadBezTo>
                    <a:pt x="185" y="378"/>
                    <a:pt x="371" y="819"/>
                  </a:quadBezTo>
                </a:path>
              </a:pathLst>
            </a:custGeom>
            <a:noFill/>
            <a:ln w="76200" cap="rnd">
              <a:solidFill>
                <a:srgbClr val="1E8449"/>
              </a:solidFill>
              <a:round/>
            </a:ln>
          </p:spPr>
        </p:sp>
        <p:sp>
          <p:nvSpPr>
            <p:cNvPr id="25" name="!!Conducto cistico"/>
            <p:cNvSpPr/>
            <p:nvPr/>
          </p:nvSpPr>
          <p:spPr>
            <a:xfrm>
              <a:off x="7840066" y="3429000"/>
              <a:ext cx="963778" cy="115214"/>
            </a:xfrm>
            <a:custGeom>
              <a:avLst/>
              <a:gdLst/>
              <a:ahLst/>
              <a:cxnLst/>
              <a:rect l="0" t="0" r="r" b="b"/>
              <a:pathLst>
                <a:path w="1054" h="125" fill="none">
                  <a:moveTo>
                    <a:pt x="0" y="125"/>
                  </a:moveTo>
                  <a:quadBezTo>
                    <a:pt x="558" y="125"/>
                    <a:pt x="1054" y="0"/>
                  </a:quadBezTo>
                </a:path>
              </a:pathLst>
            </a:custGeom>
            <a:noFill/>
            <a:ln w="76200" cap="rnd">
              <a:solidFill>
                <a:srgbClr val="1E8449"/>
              </a:solidFill>
              <a:round/>
            </a:ln>
          </p:spPr>
        </p:sp>
        <p:sp>
          <p:nvSpPr>
            <p:cNvPr id="26" name="!!Coledoco"/>
            <p:cNvSpPr/>
            <p:nvPr/>
          </p:nvSpPr>
          <p:spPr>
            <a:xfrm>
              <a:off x="8803843" y="3371393"/>
              <a:ext cx="170078" cy="1728216"/>
            </a:xfrm>
            <a:custGeom>
              <a:avLst/>
              <a:gdLst/>
              <a:ahLst/>
              <a:cxnLst/>
              <a:rect l="0" t="0" r="r" b="b"/>
              <a:pathLst>
                <a:path w="185" h="1889" fill="none">
                  <a:moveTo>
                    <a:pt x="0" y="0"/>
                  </a:moveTo>
                  <a:quadBezTo>
                    <a:pt x="62" y="944"/>
                    <a:pt x="185" y="1889"/>
                  </a:quadBezTo>
                </a:path>
              </a:pathLst>
            </a:custGeom>
            <a:noFill/>
            <a:ln w="76200" cap="rnd">
              <a:solidFill>
                <a:srgbClr val="1E8449"/>
              </a:solidFill>
              <a:round/>
            </a:ln>
          </p:spPr>
        </p:sp>
        <p:sp>
          <p:nvSpPr>
            <p:cNvPr id="27" name="!!Conducto pancreatico"/>
            <p:cNvSpPr/>
            <p:nvPr/>
          </p:nvSpPr>
          <p:spPr>
            <a:xfrm>
              <a:off x="9087307" y="4062679"/>
              <a:ext cx="2607869" cy="1065733"/>
            </a:xfrm>
            <a:custGeom>
              <a:avLst/>
              <a:gdLst/>
              <a:ahLst/>
              <a:cxnLst/>
              <a:rect l="0" t="0" r="r" b="b"/>
              <a:pathLst>
                <a:path w="2851" h="1165" fill="none">
                  <a:moveTo>
                    <a:pt x="2851" y="0"/>
                  </a:moveTo>
                  <a:quadBezTo>
                    <a:pt x="1301" y="567"/>
                    <a:pt x="0" y="1165"/>
                  </a:quadBezTo>
                </a:path>
              </a:pathLst>
            </a:custGeom>
            <a:noFill/>
            <a:ln w="63500" cap="rnd">
              <a:solidFill>
                <a:srgbClr val="B7950B"/>
              </a:solidFill>
              <a:round/>
            </a:ln>
          </p:spPr>
        </p:sp>
        <p:sp>
          <p:nvSpPr>
            <p:cNvPr id="28" name="!!Ampolla de Vater"/>
            <p:cNvSpPr/>
            <p:nvPr/>
          </p:nvSpPr>
          <p:spPr>
            <a:xfrm>
              <a:off x="8832190" y="5015484"/>
              <a:ext cx="283464" cy="283464"/>
            </a:xfrm>
            <a:prstGeom prst="ellipse">
              <a:avLst/>
            </a:prstGeom>
            <a:solidFill>
              <a:srgbClr val="F4D03F"/>
            </a:solidFill>
            <a:ln w="15875" cap="rnd">
              <a:solidFill>
                <a:srgbClr val="7D6608"/>
              </a:solidFill>
              <a:round/>
            </a:ln>
          </p:spPr>
        </p:sp>
      </p:grpSp>
      <p:sp>
        <p:nvSpPr>
          <p:cNvPr id="2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Perfil Hígado"/>
          <p:cNvGrpSpPr/>
          <p:nvPr/>
        </p:nvGrpSpPr>
        <p:grpSpPr>
          <a:xfrm>
            <a:off x="365760" y="1463040"/>
            <a:ext cx="2377440" cy="2716530"/>
            <a:chOff x="365760" y="1463040"/>
            <a:chExt cx="2377440" cy="2716530"/>
          </a:xfrm>
        </p:grpSpPr>
        <p:grpSp>
          <p:nvGrpSpPr>
            <p:cNvPr id="6" name="Hígado perfil"/>
            <p:cNvGrpSpPr/>
            <p:nvPr/>
          </p:nvGrpSpPr>
          <p:grpSpPr>
            <a:xfrm>
              <a:off x="365760" y="1463040"/>
              <a:ext cx="2377440" cy="1680375"/>
              <a:chOff x="365760" y="1463040"/>
              <a:chExt cx="2377440" cy="1680375"/>
            </a:xfrm>
          </p:grpSpPr>
          <p:sp>
            <p:nvSpPr>
              <p:cNvPr id="7" name="Vesícula biliar"/>
              <p:cNvSpPr/>
              <p:nvPr/>
            </p:nvSpPr>
            <p:spPr>
              <a:xfrm>
                <a:off x="1007669" y="2612770"/>
                <a:ext cx="309067" cy="53064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0"/>
                    </a:moveTo>
                    <a:cubicBezTo>
                      <a:pt x="438" y="-106"/>
                      <a:pt x="866" y="-73"/>
                      <a:pt x="950" y="60"/>
                    </a:cubicBezTo>
                    <a:cubicBezTo>
                      <a:pt x="1033" y="193"/>
                      <a:pt x="883" y="643"/>
                      <a:pt x="800" y="800"/>
                    </a:cubicBezTo>
                    <a:cubicBezTo>
                      <a:pt x="716" y="956"/>
                      <a:pt x="563" y="1016"/>
                      <a:pt x="450" y="1000"/>
                    </a:cubicBezTo>
                    <a:cubicBezTo>
                      <a:pt x="336" y="983"/>
                      <a:pt x="145" y="866"/>
                      <a:pt x="120" y="700"/>
                    </a:cubicBezTo>
                    <a:cubicBezTo>
                      <a:pt x="95" y="533"/>
                      <a:pt x="161" y="106"/>
                      <a:pt x="3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099"/>
                  </a:gs>
                  <a:gs pos="55000">
                    <a:srgbClr val="8DB255"/>
                  </a:gs>
                  <a:gs pos="100000">
                    <a:srgbClr val="627C3B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E6B22"/>
                </a:solidFill>
                <a:round/>
              </a:ln>
            </p:spPr>
          </p:sp>
          <p:sp>
            <p:nvSpPr>
              <p:cNvPr id="8" name="Forma 7"/>
              <p:cNvSpPr/>
              <p:nvPr/>
            </p:nvSpPr>
            <p:spPr>
              <a:xfrm>
                <a:off x="365760" y="1463040"/>
                <a:ext cx="2377440" cy="147401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>
                    <a:moveTo>
                      <a:pt x="40" y="250"/>
                    </a:moveTo>
                    <a:cubicBezTo>
                      <a:pt x="50" y="205"/>
                      <a:pt x="76" y="143"/>
                      <a:pt x="120" y="110"/>
                    </a:cubicBezTo>
                    <a:cubicBezTo>
                      <a:pt x="163" y="76"/>
                      <a:pt x="233" y="59"/>
                      <a:pt x="300" y="50"/>
                    </a:cubicBezTo>
                    <a:cubicBezTo>
                      <a:pt x="366" y="40"/>
                      <a:pt x="450" y="50"/>
                      <a:pt x="520" y="55"/>
                    </a:cubicBezTo>
                    <a:cubicBezTo>
                      <a:pt x="590" y="59"/>
                      <a:pt x="656" y="64"/>
                      <a:pt x="720" y="75"/>
                    </a:cubicBezTo>
                    <a:cubicBezTo>
                      <a:pt x="783" y="85"/>
                      <a:pt x="857" y="100"/>
                      <a:pt x="900" y="120"/>
                    </a:cubicBezTo>
                    <a:cubicBezTo>
                      <a:pt x="942" y="139"/>
                      <a:pt x="968" y="168"/>
                      <a:pt x="975" y="190"/>
                    </a:cubicBezTo>
                    <a:cubicBezTo>
                      <a:pt x="981" y="211"/>
                      <a:pt x="965" y="231"/>
                      <a:pt x="940" y="250"/>
                    </a:cubicBezTo>
                    <a:cubicBezTo>
                      <a:pt x="914" y="268"/>
                      <a:pt x="861" y="280"/>
                      <a:pt x="820" y="300"/>
                    </a:cubicBezTo>
                    <a:cubicBezTo>
                      <a:pt x="778" y="320"/>
                      <a:pt x="733" y="341"/>
                      <a:pt x="690" y="370"/>
                    </a:cubicBezTo>
                    <a:cubicBezTo>
                      <a:pt x="646" y="398"/>
                      <a:pt x="601" y="436"/>
                      <a:pt x="560" y="470"/>
                    </a:cubicBezTo>
                    <a:cubicBezTo>
                      <a:pt x="518" y="503"/>
                      <a:pt x="478" y="546"/>
                      <a:pt x="440" y="570"/>
                    </a:cubicBezTo>
                    <a:cubicBezTo>
                      <a:pt x="401" y="593"/>
                      <a:pt x="365" y="608"/>
                      <a:pt x="330" y="610"/>
                    </a:cubicBezTo>
                    <a:cubicBezTo>
                      <a:pt x="295" y="611"/>
                      <a:pt x="261" y="601"/>
                      <a:pt x="230" y="580"/>
                    </a:cubicBezTo>
                    <a:cubicBezTo>
                      <a:pt x="198" y="558"/>
                      <a:pt x="168" y="513"/>
                      <a:pt x="140" y="480"/>
                    </a:cubicBezTo>
                    <a:cubicBezTo>
                      <a:pt x="111" y="446"/>
                      <a:pt x="76" y="418"/>
                      <a:pt x="60" y="380"/>
                    </a:cubicBezTo>
                    <a:cubicBezTo>
                      <a:pt x="43" y="341"/>
                      <a:pt x="30" y="295"/>
                      <a:pt x="4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4948C"/>
                  </a:gs>
                  <a:gs pos="55000">
                    <a:srgbClr val="B5473A"/>
                  </a:gs>
                  <a:gs pos="100000">
                    <a:srgbClr val="7E3128"/>
                  </a:gs>
                </a:gsLst>
                <a:path path="circle">
                  <a:fillToRect l="30000" t="25000" r="70000" b="75000"/>
                </a:path>
              </a:gradFill>
              <a:ln w="25400" cap="rnd">
                <a:solidFill>
                  <a:srgbClr val="511F1A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9" name="Forma 8"/>
              <p:cNvSpPr/>
              <p:nvPr/>
            </p:nvSpPr>
            <p:spPr>
              <a:xfrm>
                <a:off x="365760" y="1463040"/>
                <a:ext cx="2377440" cy="147401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560" y="70"/>
                    </a:moveTo>
                    <a:cubicBezTo>
                      <a:pt x="545" y="180"/>
                      <a:pt x="530" y="280"/>
                      <a:pt x="520" y="400"/>
                    </a:cubicBezTo>
                  </a:path>
                </a:pathLst>
              </a:custGeom>
              <a:noFill/>
              <a:ln w="22225" cap="rnd">
                <a:solidFill>
                  <a:srgbClr val="6C2A22"/>
                </a:solidFill>
                <a:round/>
              </a:ln>
            </p:spPr>
          </p:sp>
          <p:sp>
            <p:nvSpPr>
              <p:cNvPr id="10" name="Forma 9"/>
              <p:cNvSpPr/>
              <p:nvPr/>
            </p:nvSpPr>
            <p:spPr>
              <a:xfrm>
                <a:off x="365760" y="1463040"/>
                <a:ext cx="2377440" cy="147401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200" y="200"/>
                    </a:moveTo>
                    <a:cubicBezTo>
                      <a:pt x="260" y="160"/>
                      <a:pt x="330" y="150"/>
                      <a:pt x="400" y="170"/>
                    </a:cubicBezTo>
                  </a:path>
                  <a:path w="1000" h="620" fill="none">
                    <a:moveTo>
                      <a:pt x="640" y="160"/>
                    </a:moveTo>
                    <a:cubicBezTo>
                      <a:pt x="700" y="150"/>
                      <a:pt x="760" y="160"/>
                      <a:pt x="820" y="190"/>
                    </a:cubicBezTo>
                  </a:path>
                </a:pathLst>
              </a:custGeom>
              <a:noFill/>
              <a:ln w="31750" cap="rnd">
                <a:solidFill>
                  <a:srgbClr val="CE877E"/>
                </a:solidFill>
                <a:round/>
              </a:ln>
            </p:spPr>
          </p:sp>
        </p:grpSp>
        <p:sp>
          <p:nvSpPr>
            <p:cNvPr id="11" name="Rótulo Hígado"/>
            <p:cNvSpPr/>
            <p:nvPr/>
          </p:nvSpPr>
          <p:spPr>
            <a:xfrm>
              <a:off x="548640" y="3337560"/>
              <a:ext cx="210312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Hígado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2" name="Rótulo ALT · AST · LDH"/>
            <p:cNvSpPr/>
            <p:nvPr/>
          </p:nvSpPr>
          <p:spPr>
            <a:xfrm>
              <a:off x="548640" y="3886200"/>
              <a:ext cx="2103120" cy="29337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 · AST · LDH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3" name="Perfil Vías biliares"/>
          <p:cNvGrpSpPr/>
          <p:nvPr/>
        </p:nvGrpSpPr>
        <p:grpSpPr>
          <a:xfrm>
            <a:off x="3291840" y="1280160"/>
            <a:ext cx="2103120" cy="2899410"/>
            <a:chOff x="3291840" y="1280160"/>
            <a:chExt cx="2103120" cy="2899410"/>
          </a:xfrm>
        </p:grpSpPr>
        <p:sp>
          <p:nvSpPr>
            <p:cNvPr id="14" name="Vesícula perfil"/>
            <p:cNvSpPr/>
            <p:nvPr/>
          </p:nvSpPr>
          <p:spPr>
            <a:xfrm>
              <a:off x="3566160" y="1280160"/>
              <a:ext cx="1097280" cy="17373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20" y="-53"/>
                    <a:pt x="691" y="-20"/>
                    <a:pt x="800" y="80"/>
                  </a:cubicBezTo>
                  <a:cubicBezTo>
                    <a:pt x="908" y="180"/>
                    <a:pt x="983" y="446"/>
                    <a:pt x="950" y="600"/>
                  </a:cubicBezTo>
                  <a:cubicBezTo>
                    <a:pt x="916" y="753"/>
                    <a:pt x="725" y="950"/>
                    <a:pt x="600" y="1000"/>
                  </a:cubicBezTo>
                  <a:cubicBezTo>
                    <a:pt x="475" y="1050"/>
                    <a:pt x="286" y="1000"/>
                    <a:pt x="200" y="900"/>
                  </a:cubicBezTo>
                  <a:cubicBezTo>
                    <a:pt x="113" y="800"/>
                    <a:pt x="63" y="550"/>
                    <a:pt x="80" y="400"/>
                  </a:cubicBezTo>
                  <a:cubicBezTo>
                    <a:pt x="96" y="250"/>
                    <a:pt x="180" y="53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E6B22"/>
              </a:solidFill>
              <a:round/>
            </a:ln>
          </p:spPr>
        </p:sp>
        <p:sp>
          <p:nvSpPr>
            <p:cNvPr id="15" name="Rótulo Vías biliares"/>
            <p:cNvSpPr/>
            <p:nvPr/>
          </p:nvSpPr>
          <p:spPr>
            <a:xfrm>
              <a:off x="3291840" y="3337560"/>
              <a:ext cx="210312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Vías biliares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Rótulo FAL · GGT"/>
            <p:cNvSpPr/>
            <p:nvPr/>
          </p:nvSpPr>
          <p:spPr>
            <a:xfrm>
              <a:off x="3291840" y="3886200"/>
              <a:ext cx="2103120" cy="29337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 · GGT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Perfil Páncreas"/>
          <p:cNvGrpSpPr/>
          <p:nvPr/>
        </p:nvGrpSpPr>
        <p:grpSpPr>
          <a:xfrm>
            <a:off x="5440680" y="1737360"/>
            <a:ext cx="2377440" cy="2442210"/>
            <a:chOff x="5440680" y="1737360"/>
            <a:chExt cx="2377440" cy="2442210"/>
          </a:xfrm>
        </p:grpSpPr>
        <p:grpSp>
          <p:nvGrpSpPr>
            <p:cNvPr id="18" name="Páncreas perfil"/>
            <p:cNvGrpSpPr/>
            <p:nvPr/>
          </p:nvGrpSpPr>
          <p:grpSpPr>
            <a:xfrm>
              <a:off x="5440680" y="1737360"/>
              <a:ext cx="2377440" cy="998525"/>
              <a:chOff x="5440680" y="1737360"/>
              <a:chExt cx="2377440" cy="998525"/>
            </a:xfrm>
          </p:grpSpPr>
          <p:sp>
            <p:nvSpPr>
              <p:cNvPr id="19" name="Forma 18"/>
              <p:cNvSpPr/>
              <p:nvPr/>
            </p:nvSpPr>
            <p:spPr>
              <a:xfrm>
                <a:off x="5440680" y="1737360"/>
                <a:ext cx="237744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30" y="300"/>
                    </a:moveTo>
                    <a:cubicBezTo>
                      <a:pt x="20" y="271"/>
                      <a:pt x="40" y="238"/>
                      <a:pt x="60" y="220"/>
                    </a:cubicBezTo>
                    <a:cubicBezTo>
                      <a:pt x="80" y="201"/>
                      <a:pt x="118" y="188"/>
                      <a:pt x="150" y="190"/>
                    </a:cubicBezTo>
                    <a:cubicBezTo>
                      <a:pt x="181" y="191"/>
                      <a:pt x="215" y="220"/>
                      <a:pt x="250" y="230"/>
                    </a:cubicBezTo>
                    <a:cubicBezTo>
                      <a:pt x="285" y="240"/>
                      <a:pt x="321" y="255"/>
                      <a:pt x="360" y="250"/>
                    </a:cubicBezTo>
                    <a:cubicBezTo>
                      <a:pt x="398" y="245"/>
                      <a:pt x="440" y="213"/>
                      <a:pt x="480" y="200"/>
                    </a:cubicBezTo>
                    <a:cubicBezTo>
                      <a:pt x="520" y="186"/>
                      <a:pt x="556" y="180"/>
                      <a:pt x="600" y="170"/>
                    </a:cubicBezTo>
                    <a:cubicBezTo>
                      <a:pt x="643" y="160"/>
                      <a:pt x="693" y="148"/>
                      <a:pt x="740" y="140"/>
                    </a:cubicBezTo>
                    <a:cubicBezTo>
                      <a:pt x="786" y="131"/>
                      <a:pt x="841" y="118"/>
                      <a:pt x="880" y="120"/>
                    </a:cubicBezTo>
                    <a:cubicBezTo>
                      <a:pt x="918" y="121"/>
                      <a:pt x="956" y="133"/>
                      <a:pt x="970" y="150"/>
                    </a:cubicBezTo>
                    <a:cubicBezTo>
                      <a:pt x="983" y="166"/>
                      <a:pt x="978" y="203"/>
                      <a:pt x="960" y="220"/>
                    </a:cubicBezTo>
                    <a:cubicBezTo>
                      <a:pt x="941" y="236"/>
                      <a:pt x="896" y="240"/>
                      <a:pt x="860" y="250"/>
                    </a:cubicBezTo>
                    <a:cubicBezTo>
                      <a:pt x="823" y="260"/>
                      <a:pt x="780" y="268"/>
                      <a:pt x="740" y="280"/>
                    </a:cubicBezTo>
                    <a:cubicBezTo>
                      <a:pt x="700" y="291"/>
                      <a:pt x="660" y="305"/>
                      <a:pt x="620" y="320"/>
                    </a:cubicBezTo>
                    <a:cubicBezTo>
                      <a:pt x="580" y="335"/>
                      <a:pt x="540" y="356"/>
                      <a:pt x="500" y="370"/>
                    </a:cubicBezTo>
                    <a:cubicBezTo>
                      <a:pt x="460" y="383"/>
                      <a:pt x="421" y="393"/>
                      <a:pt x="380" y="400"/>
                    </a:cubicBezTo>
                    <a:cubicBezTo>
                      <a:pt x="338" y="406"/>
                      <a:pt x="293" y="411"/>
                      <a:pt x="250" y="410"/>
                    </a:cubicBezTo>
                    <a:cubicBezTo>
                      <a:pt x="206" y="408"/>
                      <a:pt x="156" y="408"/>
                      <a:pt x="120" y="390"/>
                    </a:cubicBezTo>
                    <a:cubicBezTo>
                      <a:pt x="83" y="371"/>
                      <a:pt x="40" y="328"/>
                      <a:pt x="30" y="3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5D8BE"/>
                  </a:gs>
                  <a:gs pos="55000">
                    <a:srgbClr val="EDB98A"/>
                  </a:gs>
                  <a:gs pos="100000">
                    <a:srgbClr val="B18A67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65C45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20" name="Forma 19"/>
              <p:cNvSpPr/>
              <p:nvPr/>
            </p:nvSpPr>
            <p:spPr>
              <a:xfrm>
                <a:off x="5440680" y="1737360"/>
                <a:ext cx="237744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295"/>
                    </a:moveTo>
                    <a:cubicBezTo>
                      <a:pt x="100" y="306"/>
                      <a:pt x="91" y="315"/>
                      <a:pt x="80" y="315"/>
                    </a:cubicBezTo>
                    <a:cubicBezTo>
                      <a:pt x="68" y="315"/>
                      <a:pt x="60" y="306"/>
                      <a:pt x="60" y="295"/>
                    </a:cubicBezTo>
                    <a:cubicBezTo>
                      <a:pt x="60" y="283"/>
                      <a:pt x="68" y="275"/>
                      <a:pt x="80" y="275"/>
                    </a:cubicBezTo>
                    <a:cubicBezTo>
                      <a:pt x="91" y="275"/>
                      <a:pt x="100" y="283"/>
                      <a:pt x="100" y="295"/>
                    </a:cubicBezTo>
                    <a:close/>
                    <a:moveTo>
                      <a:pt x="142" y="293"/>
                    </a:moveTo>
                    <a:cubicBezTo>
                      <a:pt x="142" y="308"/>
                      <a:pt x="129" y="321"/>
                      <a:pt x="114" y="321"/>
                    </a:cubicBezTo>
                    <a:cubicBezTo>
                      <a:pt x="98" y="321"/>
                      <a:pt x="86" y="308"/>
                      <a:pt x="86" y="293"/>
                    </a:cubicBezTo>
                    <a:cubicBezTo>
                      <a:pt x="86" y="277"/>
                      <a:pt x="98" y="265"/>
                      <a:pt x="114" y="265"/>
                    </a:cubicBezTo>
                    <a:cubicBezTo>
                      <a:pt x="129" y="265"/>
                      <a:pt x="142" y="277"/>
                      <a:pt x="142" y="293"/>
                    </a:cubicBezTo>
                    <a:close/>
                    <a:moveTo>
                      <a:pt x="167" y="265"/>
                    </a:moveTo>
                    <a:cubicBezTo>
                      <a:pt x="167" y="275"/>
                      <a:pt x="158" y="284"/>
                      <a:pt x="148" y="284"/>
                    </a:cubicBezTo>
                    <a:cubicBezTo>
                      <a:pt x="137" y="284"/>
                      <a:pt x="129" y="275"/>
                      <a:pt x="129" y="265"/>
                    </a:cubicBezTo>
                    <a:cubicBezTo>
                      <a:pt x="129" y="254"/>
                      <a:pt x="137" y="246"/>
                      <a:pt x="148" y="246"/>
                    </a:cubicBezTo>
                    <a:cubicBezTo>
                      <a:pt x="158" y="246"/>
                      <a:pt x="167" y="254"/>
                      <a:pt x="167" y="265"/>
                    </a:cubicBezTo>
                    <a:close/>
                    <a:moveTo>
                      <a:pt x="202" y="289"/>
                    </a:moveTo>
                    <a:cubicBezTo>
                      <a:pt x="202" y="299"/>
                      <a:pt x="193" y="308"/>
                      <a:pt x="183" y="308"/>
                    </a:cubicBezTo>
                    <a:cubicBezTo>
                      <a:pt x="172" y="308"/>
                      <a:pt x="164" y="299"/>
                      <a:pt x="164" y="289"/>
                    </a:cubicBezTo>
                    <a:cubicBezTo>
                      <a:pt x="164" y="278"/>
                      <a:pt x="172" y="270"/>
                      <a:pt x="183" y="270"/>
                    </a:cubicBezTo>
                    <a:cubicBezTo>
                      <a:pt x="193" y="270"/>
                      <a:pt x="202" y="278"/>
                      <a:pt x="202" y="289"/>
                    </a:cubicBezTo>
                    <a:close/>
                    <a:moveTo>
                      <a:pt x="244" y="272"/>
                    </a:moveTo>
                    <a:cubicBezTo>
                      <a:pt x="244" y="286"/>
                      <a:pt x="231" y="299"/>
                      <a:pt x="217" y="299"/>
                    </a:cubicBezTo>
                    <a:cubicBezTo>
                      <a:pt x="202" y="299"/>
                      <a:pt x="190" y="286"/>
                      <a:pt x="190" y="272"/>
                    </a:cubicBezTo>
                    <a:cubicBezTo>
                      <a:pt x="190" y="257"/>
                      <a:pt x="202" y="245"/>
                      <a:pt x="217" y="245"/>
                    </a:cubicBezTo>
                    <a:cubicBezTo>
                      <a:pt x="231" y="245"/>
                      <a:pt x="244" y="257"/>
                      <a:pt x="244" y="272"/>
                    </a:cubicBezTo>
                    <a:close/>
                    <a:moveTo>
                      <a:pt x="278" y="246"/>
                    </a:moveTo>
                    <a:cubicBezTo>
                      <a:pt x="278" y="260"/>
                      <a:pt x="266" y="272"/>
                      <a:pt x="252" y="272"/>
                    </a:cubicBezTo>
                    <a:cubicBezTo>
                      <a:pt x="237" y="272"/>
                      <a:pt x="226" y="260"/>
                      <a:pt x="226" y="246"/>
                    </a:cubicBezTo>
                    <a:cubicBezTo>
                      <a:pt x="226" y="231"/>
                      <a:pt x="237" y="220"/>
                      <a:pt x="252" y="220"/>
                    </a:cubicBezTo>
                    <a:cubicBezTo>
                      <a:pt x="266" y="220"/>
                      <a:pt x="278" y="231"/>
                      <a:pt x="278" y="246"/>
                    </a:cubicBezTo>
                    <a:close/>
                    <a:moveTo>
                      <a:pt x="304" y="249"/>
                    </a:moveTo>
                    <a:cubicBezTo>
                      <a:pt x="304" y="258"/>
                      <a:pt x="295" y="267"/>
                      <a:pt x="286" y="267"/>
                    </a:cubicBezTo>
                    <a:cubicBezTo>
                      <a:pt x="276" y="267"/>
                      <a:pt x="268" y="258"/>
                      <a:pt x="268" y="249"/>
                    </a:cubicBezTo>
                    <a:cubicBezTo>
                      <a:pt x="268" y="239"/>
                      <a:pt x="276" y="231"/>
                      <a:pt x="286" y="231"/>
                    </a:cubicBezTo>
                    <a:cubicBezTo>
                      <a:pt x="295" y="231"/>
                      <a:pt x="304" y="239"/>
                      <a:pt x="304" y="249"/>
                    </a:cubicBezTo>
                    <a:close/>
                    <a:moveTo>
                      <a:pt x="344" y="235"/>
                    </a:moveTo>
                    <a:cubicBezTo>
                      <a:pt x="344" y="248"/>
                      <a:pt x="333" y="259"/>
                      <a:pt x="320" y="259"/>
                    </a:cubicBezTo>
                    <a:cubicBezTo>
                      <a:pt x="306" y="259"/>
                      <a:pt x="296" y="248"/>
                      <a:pt x="296" y="235"/>
                    </a:cubicBezTo>
                    <a:cubicBezTo>
                      <a:pt x="296" y="221"/>
                      <a:pt x="306" y="211"/>
                      <a:pt x="320" y="211"/>
                    </a:cubicBezTo>
                    <a:cubicBezTo>
                      <a:pt x="333" y="211"/>
                      <a:pt x="344" y="221"/>
                      <a:pt x="344" y="235"/>
                    </a:cubicBezTo>
                    <a:close/>
                    <a:moveTo>
                      <a:pt x="374" y="249"/>
                    </a:moveTo>
                    <a:cubicBezTo>
                      <a:pt x="374" y="259"/>
                      <a:pt x="365" y="268"/>
                      <a:pt x="355" y="268"/>
                    </a:cubicBezTo>
                    <a:cubicBezTo>
                      <a:pt x="344" y="268"/>
                      <a:pt x="336" y="259"/>
                      <a:pt x="336" y="249"/>
                    </a:cubicBezTo>
                    <a:cubicBezTo>
                      <a:pt x="336" y="238"/>
                      <a:pt x="344" y="230"/>
                      <a:pt x="355" y="230"/>
                    </a:cubicBezTo>
                    <a:cubicBezTo>
                      <a:pt x="365" y="230"/>
                      <a:pt x="374" y="238"/>
                      <a:pt x="374" y="249"/>
                    </a:cubicBezTo>
                    <a:close/>
                    <a:moveTo>
                      <a:pt x="408" y="232"/>
                    </a:moveTo>
                    <a:cubicBezTo>
                      <a:pt x="408" y="242"/>
                      <a:pt x="399" y="251"/>
                      <a:pt x="389" y="251"/>
                    </a:cubicBezTo>
                    <a:cubicBezTo>
                      <a:pt x="378" y="251"/>
                      <a:pt x="370" y="242"/>
                      <a:pt x="370" y="232"/>
                    </a:cubicBezTo>
                    <a:cubicBezTo>
                      <a:pt x="370" y="221"/>
                      <a:pt x="378" y="213"/>
                      <a:pt x="389" y="213"/>
                    </a:cubicBezTo>
                    <a:cubicBezTo>
                      <a:pt x="399" y="213"/>
                      <a:pt x="408" y="221"/>
                      <a:pt x="408" y="232"/>
                    </a:cubicBezTo>
                    <a:close/>
                    <a:moveTo>
                      <a:pt x="448" y="246"/>
                    </a:moveTo>
                    <a:cubicBezTo>
                      <a:pt x="448" y="259"/>
                      <a:pt x="437" y="270"/>
                      <a:pt x="424" y="270"/>
                    </a:cubicBezTo>
                    <a:cubicBezTo>
                      <a:pt x="410" y="270"/>
                      <a:pt x="400" y="259"/>
                      <a:pt x="400" y="246"/>
                    </a:cubicBezTo>
                    <a:cubicBezTo>
                      <a:pt x="400" y="232"/>
                      <a:pt x="410" y="222"/>
                      <a:pt x="424" y="222"/>
                    </a:cubicBezTo>
                    <a:cubicBezTo>
                      <a:pt x="437" y="222"/>
                      <a:pt x="448" y="232"/>
                      <a:pt x="448" y="246"/>
                    </a:cubicBezTo>
                    <a:close/>
                    <a:moveTo>
                      <a:pt x="485" y="207"/>
                    </a:moveTo>
                    <a:cubicBezTo>
                      <a:pt x="485" y="221"/>
                      <a:pt x="472" y="234"/>
                      <a:pt x="458" y="234"/>
                    </a:cubicBezTo>
                    <a:cubicBezTo>
                      <a:pt x="443" y="234"/>
                      <a:pt x="431" y="221"/>
                      <a:pt x="431" y="207"/>
                    </a:cubicBezTo>
                    <a:cubicBezTo>
                      <a:pt x="431" y="192"/>
                      <a:pt x="443" y="180"/>
                      <a:pt x="458" y="180"/>
                    </a:cubicBezTo>
                    <a:cubicBezTo>
                      <a:pt x="472" y="180"/>
                      <a:pt x="485" y="192"/>
                      <a:pt x="485" y="207"/>
                    </a:cubicBezTo>
                    <a:close/>
                    <a:moveTo>
                      <a:pt x="513" y="205"/>
                    </a:moveTo>
                    <a:cubicBezTo>
                      <a:pt x="513" y="216"/>
                      <a:pt x="503" y="226"/>
                      <a:pt x="492" y="226"/>
                    </a:cubicBezTo>
                    <a:cubicBezTo>
                      <a:pt x="480" y="226"/>
                      <a:pt x="471" y="216"/>
                      <a:pt x="471" y="205"/>
                    </a:cubicBezTo>
                    <a:cubicBezTo>
                      <a:pt x="471" y="193"/>
                      <a:pt x="480" y="184"/>
                      <a:pt x="492" y="184"/>
                    </a:cubicBezTo>
                    <a:cubicBezTo>
                      <a:pt x="503" y="184"/>
                      <a:pt x="513" y="193"/>
                      <a:pt x="513" y="205"/>
                    </a:cubicBezTo>
                    <a:close/>
                    <a:moveTo>
                      <a:pt x="555" y="231"/>
                    </a:moveTo>
                    <a:cubicBezTo>
                      <a:pt x="555" y="246"/>
                      <a:pt x="542" y="259"/>
                      <a:pt x="527" y="259"/>
                    </a:cubicBezTo>
                    <a:cubicBezTo>
                      <a:pt x="511" y="259"/>
                      <a:pt x="499" y="246"/>
                      <a:pt x="499" y="231"/>
                    </a:cubicBezTo>
                    <a:cubicBezTo>
                      <a:pt x="499" y="215"/>
                      <a:pt x="511" y="203"/>
                      <a:pt x="527" y="203"/>
                    </a:cubicBezTo>
                    <a:cubicBezTo>
                      <a:pt x="542" y="203"/>
                      <a:pt x="555" y="215"/>
                      <a:pt x="555" y="231"/>
                    </a:cubicBezTo>
                    <a:close/>
                    <a:moveTo>
                      <a:pt x="579" y="222"/>
                    </a:moveTo>
                    <a:cubicBezTo>
                      <a:pt x="579" y="231"/>
                      <a:pt x="570" y="240"/>
                      <a:pt x="561" y="240"/>
                    </a:cubicBezTo>
                    <a:cubicBezTo>
                      <a:pt x="551" y="240"/>
                      <a:pt x="543" y="231"/>
                      <a:pt x="543" y="222"/>
                    </a:cubicBezTo>
                    <a:cubicBezTo>
                      <a:pt x="543" y="212"/>
                      <a:pt x="551" y="204"/>
                      <a:pt x="561" y="204"/>
                    </a:cubicBezTo>
                    <a:cubicBezTo>
                      <a:pt x="570" y="204"/>
                      <a:pt x="579" y="212"/>
                      <a:pt x="579" y="222"/>
                    </a:cubicBezTo>
                    <a:close/>
                    <a:moveTo>
                      <a:pt x="623" y="215"/>
                    </a:moveTo>
                    <a:cubicBezTo>
                      <a:pt x="623" y="229"/>
                      <a:pt x="610" y="242"/>
                      <a:pt x="596" y="242"/>
                    </a:cubicBezTo>
                    <a:cubicBezTo>
                      <a:pt x="581" y="242"/>
                      <a:pt x="569" y="229"/>
                      <a:pt x="569" y="215"/>
                    </a:cubicBezTo>
                    <a:cubicBezTo>
                      <a:pt x="569" y="200"/>
                      <a:pt x="581" y="188"/>
                      <a:pt x="596" y="188"/>
                    </a:cubicBezTo>
                    <a:cubicBezTo>
                      <a:pt x="610" y="188"/>
                      <a:pt x="623" y="200"/>
                      <a:pt x="623" y="215"/>
                    </a:cubicBezTo>
                    <a:close/>
                    <a:moveTo>
                      <a:pt x="648" y="197"/>
                    </a:moveTo>
                    <a:cubicBezTo>
                      <a:pt x="648" y="206"/>
                      <a:pt x="639" y="215"/>
                      <a:pt x="630" y="215"/>
                    </a:cubicBezTo>
                    <a:cubicBezTo>
                      <a:pt x="620" y="215"/>
                      <a:pt x="612" y="206"/>
                      <a:pt x="612" y="197"/>
                    </a:cubicBezTo>
                    <a:cubicBezTo>
                      <a:pt x="612" y="187"/>
                      <a:pt x="620" y="179"/>
                      <a:pt x="630" y="179"/>
                    </a:cubicBezTo>
                    <a:cubicBezTo>
                      <a:pt x="639" y="179"/>
                      <a:pt x="648" y="187"/>
                      <a:pt x="648" y="197"/>
                    </a:cubicBezTo>
                    <a:close/>
                    <a:moveTo>
                      <a:pt x="682" y="180"/>
                    </a:moveTo>
                    <a:cubicBezTo>
                      <a:pt x="682" y="189"/>
                      <a:pt x="673" y="198"/>
                      <a:pt x="664" y="198"/>
                    </a:cubicBezTo>
                    <a:cubicBezTo>
                      <a:pt x="654" y="198"/>
                      <a:pt x="646" y="189"/>
                      <a:pt x="646" y="180"/>
                    </a:cubicBezTo>
                    <a:cubicBezTo>
                      <a:pt x="646" y="170"/>
                      <a:pt x="654" y="162"/>
                      <a:pt x="664" y="162"/>
                    </a:cubicBezTo>
                    <a:cubicBezTo>
                      <a:pt x="673" y="162"/>
                      <a:pt x="682" y="170"/>
                      <a:pt x="682" y="180"/>
                    </a:cubicBezTo>
                    <a:close/>
                    <a:moveTo>
                      <a:pt x="719" y="194"/>
                    </a:moveTo>
                    <a:cubicBezTo>
                      <a:pt x="719" y="205"/>
                      <a:pt x="710" y="214"/>
                      <a:pt x="699" y="214"/>
                    </a:cubicBezTo>
                    <a:cubicBezTo>
                      <a:pt x="687" y="214"/>
                      <a:pt x="679" y="205"/>
                      <a:pt x="679" y="194"/>
                    </a:cubicBezTo>
                    <a:cubicBezTo>
                      <a:pt x="679" y="182"/>
                      <a:pt x="687" y="174"/>
                      <a:pt x="699" y="174"/>
                    </a:cubicBezTo>
                    <a:cubicBezTo>
                      <a:pt x="710" y="174"/>
                      <a:pt x="719" y="182"/>
                      <a:pt x="719" y="194"/>
                    </a:cubicBezTo>
                    <a:close/>
                    <a:moveTo>
                      <a:pt x="757" y="171"/>
                    </a:moveTo>
                    <a:cubicBezTo>
                      <a:pt x="757" y="184"/>
                      <a:pt x="746" y="195"/>
                      <a:pt x="733" y="195"/>
                    </a:cubicBezTo>
                    <a:cubicBezTo>
                      <a:pt x="719" y="195"/>
                      <a:pt x="709" y="184"/>
                      <a:pt x="709" y="171"/>
                    </a:cubicBezTo>
                    <a:cubicBezTo>
                      <a:pt x="709" y="157"/>
                      <a:pt x="719" y="147"/>
                      <a:pt x="733" y="147"/>
                    </a:cubicBezTo>
                    <a:cubicBezTo>
                      <a:pt x="746" y="147"/>
                      <a:pt x="757" y="157"/>
                      <a:pt x="757" y="171"/>
                    </a:cubicBezTo>
                    <a:close/>
                    <a:moveTo>
                      <a:pt x="794" y="156"/>
                    </a:moveTo>
                    <a:cubicBezTo>
                      <a:pt x="794" y="170"/>
                      <a:pt x="782" y="182"/>
                      <a:pt x="768" y="182"/>
                    </a:cubicBezTo>
                    <a:cubicBezTo>
                      <a:pt x="753" y="182"/>
                      <a:pt x="742" y="170"/>
                      <a:pt x="742" y="156"/>
                    </a:cubicBezTo>
                    <a:cubicBezTo>
                      <a:pt x="742" y="141"/>
                      <a:pt x="753" y="130"/>
                      <a:pt x="768" y="130"/>
                    </a:cubicBezTo>
                    <a:cubicBezTo>
                      <a:pt x="782" y="130"/>
                      <a:pt x="794" y="141"/>
                      <a:pt x="794" y="156"/>
                    </a:cubicBezTo>
                    <a:close/>
                    <a:moveTo>
                      <a:pt x="829" y="147"/>
                    </a:moveTo>
                    <a:cubicBezTo>
                      <a:pt x="829" y="161"/>
                      <a:pt x="816" y="174"/>
                      <a:pt x="802" y="174"/>
                    </a:cubicBezTo>
                    <a:cubicBezTo>
                      <a:pt x="787" y="174"/>
                      <a:pt x="775" y="161"/>
                      <a:pt x="775" y="147"/>
                    </a:cubicBezTo>
                    <a:cubicBezTo>
                      <a:pt x="775" y="132"/>
                      <a:pt x="787" y="120"/>
                      <a:pt x="802" y="120"/>
                    </a:cubicBezTo>
                    <a:cubicBezTo>
                      <a:pt x="816" y="120"/>
                      <a:pt x="829" y="132"/>
                      <a:pt x="829" y="147"/>
                    </a:cubicBezTo>
                    <a:close/>
                    <a:moveTo>
                      <a:pt x="862" y="153"/>
                    </a:moveTo>
                    <a:cubicBezTo>
                      <a:pt x="862" y="167"/>
                      <a:pt x="850" y="179"/>
                      <a:pt x="836" y="179"/>
                    </a:cubicBezTo>
                    <a:cubicBezTo>
                      <a:pt x="821" y="179"/>
                      <a:pt x="810" y="167"/>
                      <a:pt x="810" y="153"/>
                    </a:cubicBezTo>
                    <a:cubicBezTo>
                      <a:pt x="810" y="138"/>
                      <a:pt x="821" y="127"/>
                      <a:pt x="836" y="127"/>
                    </a:cubicBezTo>
                    <a:cubicBezTo>
                      <a:pt x="850" y="127"/>
                      <a:pt x="862" y="138"/>
                      <a:pt x="862" y="153"/>
                    </a:cubicBezTo>
                    <a:close/>
                    <a:moveTo>
                      <a:pt x="891" y="170"/>
                    </a:moveTo>
                    <a:cubicBezTo>
                      <a:pt x="891" y="181"/>
                      <a:pt x="882" y="190"/>
                      <a:pt x="871" y="190"/>
                    </a:cubicBezTo>
                    <a:cubicBezTo>
                      <a:pt x="859" y="190"/>
                      <a:pt x="851" y="181"/>
                      <a:pt x="851" y="170"/>
                    </a:cubicBezTo>
                    <a:cubicBezTo>
                      <a:pt x="851" y="158"/>
                      <a:pt x="859" y="150"/>
                      <a:pt x="871" y="150"/>
                    </a:cubicBezTo>
                    <a:cubicBezTo>
                      <a:pt x="882" y="150"/>
                      <a:pt x="891" y="158"/>
                      <a:pt x="891" y="170"/>
                    </a:cubicBezTo>
                    <a:close/>
                    <a:moveTo>
                      <a:pt x="932" y="127"/>
                    </a:moveTo>
                    <a:cubicBezTo>
                      <a:pt x="932" y="141"/>
                      <a:pt x="919" y="154"/>
                      <a:pt x="905" y="154"/>
                    </a:cubicBezTo>
                    <a:cubicBezTo>
                      <a:pt x="890" y="154"/>
                      <a:pt x="878" y="141"/>
                      <a:pt x="878" y="127"/>
                    </a:cubicBezTo>
                    <a:cubicBezTo>
                      <a:pt x="878" y="112"/>
                      <a:pt x="890" y="100"/>
                      <a:pt x="905" y="100"/>
                    </a:cubicBezTo>
                    <a:cubicBezTo>
                      <a:pt x="919" y="100"/>
                      <a:pt x="932" y="112"/>
                      <a:pt x="932" y="127"/>
                    </a:cubicBezTo>
                    <a:close/>
                    <a:moveTo>
                      <a:pt x="968" y="151"/>
                    </a:moveTo>
                    <a:cubicBezTo>
                      <a:pt x="968" y="166"/>
                      <a:pt x="955" y="179"/>
                      <a:pt x="940" y="179"/>
                    </a:cubicBezTo>
                    <a:cubicBezTo>
                      <a:pt x="924" y="179"/>
                      <a:pt x="912" y="166"/>
                      <a:pt x="912" y="151"/>
                    </a:cubicBezTo>
                    <a:cubicBezTo>
                      <a:pt x="912" y="135"/>
                      <a:pt x="924" y="123"/>
                      <a:pt x="940" y="123"/>
                    </a:cubicBezTo>
                    <a:cubicBezTo>
                      <a:pt x="955" y="123"/>
                      <a:pt x="968" y="135"/>
                      <a:pt x="968" y="151"/>
                    </a:cubicBezTo>
                    <a:close/>
                  </a:path>
                </a:pathLst>
              </a:custGeom>
              <a:noFill/>
              <a:ln w="9525" cap="rnd">
                <a:solidFill>
                  <a:srgbClr val="B18A67"/>
                </a:solidFill>
                <a:round/>
              </a:ln>
            </p:spPr>
          </p:sp>
          <p:sp>
            <p:nvSpPr>
              <p:cNvPr id="21" name="Islotes"/>
              <p:cNvSpPr/>
              <p:nvPr/>
            </p:nvSpPr>
            <p:spPr>
              <a:xfrm>
                <a:off x="5440680" y="1737360"/>
                <a:ext cx="237744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286" y="300"/>
                    </a:moveTo>
                    <a:cubicBezTo>
                      <a:pt x="286" y="314"/>
                      <a:pt x="274" y="326"/>
                      <a:pt x="260" y="326"/>
                    </a:cubicBezTo>
                    <a:cubicBezTo>
                      <a:pt x="245" y="326"/>
                      <a:pt x="234" y="314"/>
                      <a:pt x="234" y="300"/>
                    </a:cubicBezTo>
                    <a:cubicBezTo>
                      <a:pt x="234" y="285"/>
                      <a:pt x="245" y="274"/>
                      <a:pt x="260" y="274"/>
                    </a:cubicBezTo>
                    <a:cubicBezTo>
                      <a:pt x="274" y="274"/>
                      <a:pt x="286" y="285"/>
                      <a:pt x="286" y="300"/>
                    </a:cubicBezTo>
                    <a:close/>
                    <a:moveTo>
                      <a:pt x="542" y="260"/>
                    </a:moveTo>
                    <a:cubicBezTo>
                      <a:pt x="542" y="272"/>
                      <a:pt x="532" y="282"/>
                      <a:pt x="520" y="282"/>
                    </a:cubicBezTo>
                    <a:cubicBezTo>
                      <a:pt x="507" y="282"/>
                      <a:pt x="498" y="272"/>
                      <a:pt x="498" y="260"/>
                    </a:cubicBezTo>
                    <a:cubicBezTo>
                      <a:pt x="498" y="247"/>
                      <a:pt x="507" y="238"/>
                      <a:pt x="520" y="238"/>
                    </a:cubicBezTo>
                    <a:cubicBezTo>
                      <a:pt x="532" y="238"/>
                      <a:pt x="542" y="247"/>
                      <a:pt x="542" y="260"/>
                    </a:cubicBezTo>
                    <a:close/>
                    <a:moveTo>
                      <a:pt x="784" y="200"/>
                    </a:moveTo>
                    <a:cubicBezTo>
                      <a:pt x="784" y="213"/>
                      <a:pt x="773" y="224"/>
                      <a:pt x="760" y="224"/>
                    </a:cubicBezTo>
                    <a:cubicBezTo>
                      <a:pt x="746" y="224"/>
                      <a:pt x="736" y="213"/>
                      <a:pt x="736" y="200"/>
                    </a:cubicBezTo>
                    <a:cubicBezTo>
                      <a:pt x="736" y="186"/>
                      <a:pt x="746" y="176"/>
                      <a:pt x="760" y="176"/>
                    </a:cubicBezTo>
                    <a:cubicBezTo>
                      <a:pt x="773" y="176"/>
                      <a:pt x="784" y="186"/>
                      <a:pt x="784" y="200"/>
                    </a:cubicBezTo>
                    <a:close/>
                    <a:moveTo>
                      <a:pt x="438" y="320"/>
                    </a:moveTo>
                    <a:cubicBezTo>
                      <a:pt x="438" y="329"/>
                      <a:pt x="429" y="338"/>
                      <a:pt x="420" y="338"/>
                    </a:cubicBezTo>
                    <a:cubicBezTo>
                      <a:pt x="410" y="338"/>
                      <a:pt x="402" y="329"/>
                      <a:pt x="402" y="320"/>
                    </a:cubicBezTo>
                    <a:cubicBezTo>
                      <a:pt x="402" y="310"/>
                      <a:pt x="410" y="302"/>
                      <a:pt x="420" y="302"/>
                    </a:cubicBezTo>
                    <a:cubicBezTo>
                      <a:pt x="429" y="302"/>
                      <a:pt x="438" y="310"/>
                      <a:pt x="438" y="3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DBD8"/>
                  </a:gs>
                  <a:gs pos="55000">
                    <a:srgbClr val="F5B7B1"/>
                  </a:gs>
                  <a:gs pos="100000">
                    <a:srgbClr val="C4928D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C0392B"/>
                </a:solidFill>
                <a:round/>
              </a:ln>
            </p:spPr>
          </p:sp>
          <p:sp>
            <p:nvSpPr>
              <p:cNvPr id="22" name="Forma 21"/>
              <p:cNvSpPr/>
              <p:nvPr/>
            </p:nvSpPr>
            <p:spPr>
              <a:xfrm>
                <a:off x="5440680" y="1737360"/>
                <a:ext cx="2377440" cy="9985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320"/>
                    </a:moveTo>
                    <a:cubicBezTo>
                      <a:pt x="300" y="300"/>
                      <a:pt x="600" y="230"/>
                      <a:pt x="930" y="170"/>
                    </a:cubicBezTo>
                  </a:path>
                </a:pathLst>
              </a:custGeom>
              <a:noFill/>
              <a:ln w="25400" cap="rnd">
                <a:solidFill>
                  <a:srgbClr val="F7DC6F"/>
                </a:solidFill>
                <a:round/>
              </a:ln>
            </p:spPr>
          </p:sp>
        </p:grpSp>
        <p:sp>
          <p:nvSpPr>
            <p:cNvPr id="23" name="Rótulo Páncreas"/>
            <p:cNvSpPr/>
            <p:nvPr/>
          </p:nvSpPr>
          <p:spPr>
            <a:xfrm>
              <a:off x="5623560" y="3337560"/>
              <a:ext cx="2103120" cy="314325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Páncreas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4" name="Rótulo Amilasa · lipasa"/>
            <p:cNvSpPr/>
            <p:nvPr/>
          </p:nvSpPr>
          <p:spPr>
            <a:xfrm>
              <a:off x="5623560" y="3886200"/>
              <a:ext cx="2103120" cy="293370"/>
            </a:xfrm>
            <a:prstGeom prst="rect">
              <a:avLst/>
            </a:prstGeom>
            <a:solidFill>
              <a:srgbClr val="FFCC4A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45720" tIns="9144" rIns="45720" bIns="9144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· lipasa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5" name="Perfil texto"/>
          <p:cNvSpPr/>
          <p:nvPr/>
        </p:nvSpPr>
        <p:spPr>
          <a:xfrm>
            <a:off x="365760" y="4572000"/>
            <a:ext cx="7680960" cy="1874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Cada tejido tiene un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perfil enzimático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particular. Cuando se daña, sus enzimas pasan a la sangre en cantidades medibles: interpretarlas permite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localizar el daño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grpSp>
        <p:nvGrpSpPr>
          <p:cNvPr id="26" name="Regla de oro abdomen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27" name="Forma 26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 solo biomarcador no dice nada.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La integración de </a:t>
              </a: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varios biomarcadores + síntomas clínicos</a:t>
              </a:r>
              <a:r>
                <a:rPr lang="es-AR" sz="2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 lo que permite el diagnóstico.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8677656" y="1097280"/>
              <a:ext cx="146431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REGLA DE ORO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ENZIMOLOGÍA CLÍNICA ABDOMINAL: CADA TEJIDO, UN PERFIL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Mecanismo Pérdida de permeabilidad"/>
          <p:cNvGrpSpPr/>
          <p:nvPr/>
        </p:nvGrpSpPr>
        <p:grpSpPr>
          <a:xfrm>
            <a:off x="365760" y="1097280"/>
            <a:ext cx="5623560" cy="2514600"/>
            <a:chOff x="365760" y="1097280"/>
            <a:chExt cx="5623560" cy="2514600"/>
          </a:xfrm>
        </p:grpSpPr>
        <p:sp>
          <p:nvSpPr>
            <p:cNvPr id="7" name="Forma 6"/>
            <p:cNvSpPr/>
            <p:nvPr/>
          </p:nvSpPr>
          <p:spPr>
            <a:xfrm>
              <a:off x="365760" y="1097280"/>
              <a:ext cx="562356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594360" y="1554480"/>
              <a:ext cx="1645920" cy="1371600"/>
            </a:xfrm>
            <a:prstGeom prst="roundRect">
              <a:avLst>
                <a:gd name="adj" fmla="val 30000"/>
              </a:avLst>
            </a:prstGeom>
            <a:gradFill rotWithShape="1">
              <a:gsLst>
                <a:gs pos="0">
                  <a:srgbClr val="F5CBA7"/>
                </a:gs>
                <a:gs pos="100000">
                  <a:srgbClr val="E59866"/>
                </a:gs>
              </a:gsLst>
              <a:lin ang="5400000" scaled="0"/>
            </a:gradFill>
            <a:ln w="25400" cap="rnd">
              <a:solidFill>
                <a:srgbClr val="A04000"/>
              </a:solidFill>
              <a:prstDash val="dash"/>
              <a:round/>
            </a:ln>
          </p:spPr>
        </p:sp>
        <p:sp>
          <p:nvSpPr>
            <p:cNvPr id="9" name="Ficha ALT"/>
            <p:cNvSpPr/>
            <p:nvPr/>
          </p:nvSpPr>
          <p:spPr>
            <a:xfrm>
              <a:off x="2331720" y="1600200"/>
              <a:ext cx="64008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7B0D6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7436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0" name="Ficha ALT_2"/>
            <p:cNvSpPr/>
            <p:nvPr/>
          </p:nvSpPr>
          <p:spPr>
            <a:xfrm>
              <a:off x="2331720" y="2057400"/>
              <a:ext cx="64008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7B0D6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7436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1" name="Ficha ALT_3"/>
            <p:cNvSpPr/>
            <p:nvPr/>
          </p:nvSpPr>
          <p:spPr>
            <a:xfrm>
              <a:off x="2331720" y="2514600"/>
              <a:ext cx="64008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7B0D6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7436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2" name="Forma 11"/>
            <p:cNvSpPr txBox="1"/>
            <p:nvPr/>
          </p:nvSpPr>
          <p:spPr>
            <a:xfrm>
              <a:off x="3108960" y="1234440"/>
              <a:ext cx="274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Pérdida de permeabilidad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3" name="Forma 12"/>
            <p:cNvSpPr txBox="1"/>
            <p:nvPr/>
          </p:nvSpPr>
          <p:spPr>
            <a:xfrm>
              <a:off x="3108960" y="1965960"/>
              <a:ext cx="2743200" cy="1554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Daño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leve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(ej.: hepatitis viral inicial): salen enzimas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citoplasmáticas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(en hígado, sobre todo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4" name="Mecanismo Necrosis celular completa"/>
          <p:cNvGrpSpPr/>
          <p:nvPr/>
        </p:nvGrpSpPr>
        <p:grpSpPr>
          <a:xfrm>
            <a:off x="6172200" y="1097280"/>
            <a:ext cx="5623560" cy="2514600"/>
            <a:chOff x="6172200" y="1097280"/>
            <a:chExt cx="5623560" cy="2514600"/>
          </a:xfrm>
        </p:grpSpPr>
        <p:sp>
          <p:nvSpPr>
            <p:cNvPr id="15" name="Forma 14"/>
            <p:cNvSpPr/>
            <p:nvPr/>
          </p:nvSpPr>
          <p:spPr>
            <a:xfrm>
              <a:off x="6172200" y="1097280"/>
              <a:ext cx="562356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6400800" y="1554480"/>
              <a:ext cx="1645920" cy="1371600"/>
            </a:xfrm>
            <a:prstGeom prst="irregularSeal2">
              <a:avLst/>
            </a:prstGeom>
            <a:gradFill rotWithShape="1">
              <a:gsLst>
                <a:gs pos="0">
                  <a:srgbClr val="8E6E8E"/>
                </a:gs>
                <a:gs pos="100000">
                  <a:srgbClr val="5B3E5B"/>
                </a:gs>
              </a:gsLst>
              <a:lin ang="5400000" scaled="0"/>
            </a:gradFill>
            <a:ln w="19050" cap="rnd">
              <a:solidFill>
                <a:srgbClr val="1B0E24"/>
              </a:solidFill>
              <a:round/>
            </a:ln>
          </p:spPr>
        </p:sp>
        <p:sp>
          <p:nvSpPr>
            <p:cNvPr id="17" name="Ficha ALT_4"/>
            <p:cNvSpPr/>
            <p:nvPr/>
          </p:nvSpPr>
          <p:spPr>
            <a:xfrm>
              <a:off x="8138160" y="1600200"/>
              <a:ext cx="64008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7B0D6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7436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8" name="Ficha AST"/>
            <p:cNvSpPr/>
            <p:nvPr/>
          </p:nvSpPr>
          <p:spPr>
            <a:xfrm>
              <a:off x="8138160" y="2057400"/>
              <a:ext cx="64008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19" name="Ficha AST_2"/>
            <p:cNvSpPr/>
            <p:nvPr/>
          </p:nvSpPr>
          <p:spPr>
            <a:xfrm>
              <a:off x="8138160" y="2514600"/>
              <a:ext cx="640080" cy="3291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endParaRPr lang="es-AR" sz="1000" dirty="0">
                <a:latin typeface="Calibri"/>
              </a:endParaRPr>
            </a:p>
          </p:txBody>
        </p:sp>
        <p:sp>
          <p:nvSpPr>
            <p:cNvPr id="20" name="Forma 19"/>
            <p:cNvSpPr txBox="1"/>
            <p:nvPr/>
          </p:nvSpPr>
          <p:spPr>
            <a:xfrm>
              <a:off x="8915400" y="1234440"/>
              <a:ext cx="274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Necrosis celular completa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1" name="Forma 20"/>
            <p:cNvSpPr txBox="1"/>
            <p:nvPr/>
          </p:nvSpPr>
          <p:spPr>
            <a:xfrm>
              <a:off x="8915400" y="1965960"/>
              <a:ext cx="2743200" cy="1554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Daño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grave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(ej.: cirrosis, hepatocarcinoma): sale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todo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incluidas enzimas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mitocondriales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(ALT y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2" name="Mecanismo Obstrucción de conductos"/>
          <p:cNvGrpSpPr/>
          <p:nvPr/>
        </p:nvGrpSpPr>
        <p:grpSpPr>
          <a:xfrm>
            <a:off x="365760" y="3794760"/>
            <a:ext cx="5623560" cy="2514600"/>
            <a:chOff x="365760" y="3794760"/>
            <a:chExt cx="5623560" cy="2514600"/>
          </a:xfrm>
        </p:grpSpPr>
        <p:sp>
          <p:nvSpPr>
            <p:cNvPr id="23" name="Forma 22"/>
            <p:cNvSpPr/>
            <p:nvPr/>
          </p:nvSpPr>
          <p:spPr>
            <a:xfrm>
              <a:off x="365760" y="3794760"/>
              <a:ext cx="562356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94360" y="4663440"/>
              <a:ext cx="2194560" cy="548640"/>
            </a:xfrm>
            <a:prstGeom prst="rect">
              <a:avLst/>
            </a:prstGeom>
            <a:gradFill rotWithShape="1">
              <a:gsLst>
                <a:gs pos="0">
                  <a:srgbClr val="A9DFBF"/>
                </a:gs>
                <a:gs pos="100000">
                  <a:srgbClr val="27AE60"/>
                </a:gs>
              </a:gsLst>
              <a:lin ang="5400000" scaled="0"/>
            </a:gradFill>
            <a:ln w="19050" cap="rnd">
              <a:solidFill>
                <a:srgbClr val="1E8449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1554480" y="4572000"/>
              <a:ext cx="594360" cy="731520"/>
            </a:xfrm>
            <a:prstGeom prst="ellipse">
              <a:avLst/>
            </a:prstGeom>
            <a:gradFill rotWithShape="1">
              <a:gsLst>
                <a:gs pos="0">
                  <a:srgbClr val="B2BABA"/>
                </a:gs>
                <a:gs pos="55000">
                  <a:srgbClr val="7F8C8D"/>
                </a:gs>
                <a:gs pos="100000">
                  <a:srgbClr val="58626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6" name="Forma 25"/>
            <p:cNvSpPr txBox="1"/>
            <p:nvPr/>
          </p:nvSpPr>
          <p:spPr>
            <a:xfrm>
              <a:off x="3108960" y="3931920"/>
              <a:ext cx="274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Obstrucción de conductos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7" name="Forma 26"/>
            <p:cNvSpPr txBox="1"/>
            <p:nvPr/>
          </p:nvSpPr>
          <p:spPr>
            <a:xfrm>
              <a:off x="3108960" y="4663440"/>
              <a:ext cx="2743200" cy="1554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Colestasis: sin daño celular directo inicial; la bilis no fluye → daño secundario; suben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 y GGT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8" name="Mecanismo Autodigestión pancreática"/>
          <p:cNvGrpSpPr/>
          <p:nvPr/>
        </p:nvGrpSpPr>
        <p:grpSpPr>
          <a:xfrm>
            <a:off x="6172200" y="3794760"/>
            <a:ext cx="5623560" cy="2514600"/>
            <a:chOff x="6172200" y="3794760"/>
            <a:chExt cx="5623560" cy="2514600"/>
          </a:xfrm>
        </p:grpSpPr>
        <p:sp>
          <p:nvSpPr>
            <p:cNvPr id="29" name="Forma 28"/>
            <p:cNvSpPr/>
            <p:nvPr/>
          </p:nvSpPr>
          <p:spPr>
            <a:xfrm>
              <a:off x="6172200" y="3794760"/>
              <a:ext cx="562356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30" name="Páncreas autodigestión"/>
            <p:cNvGrpSpPr/>
            <p:nvPr/>
          </p:nvGrpSpPr>
          <p:grpSpPr>
            <a:xfrm>
              <a:off x="6263640" y="4480560"/>
              <a:ext cx="2286000" cy="960120"/>
              <a:chOff x="6263640" y="4480560"/>
              <a:chExt cx="2286000" cy="960120"/>
            </a:xfrm>
          </p:grpSpPr>
          <p:sp>
            <p:nvSpPr>
              <p:cNvPr id="31" name="Forma 30"/>
              <p:cNvSpPr/>
              <p:nvPr/>
            </p:nvSpPr>
            <p:spPr>
              <a:xfrm>
                <a:off x="6263640" y="4480560"/>
                <a:ext cx="2286000" cy="9601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30" y="300"/>
                    </a:moveTo>
                    <a:cubicBezTo>
                      <a:pt x="20" y="271"/>
                      <a:pt x="40" y="238"/>
                      <a:pt x="60" y="220"/>
                    </a:cubicBezTo>
                    <a:cubicBezTo>
                      <a:pt x="80" y="201"/>
                      <a:pt x="118" y="188"/>
                      <a:pt x="150" y="190"/>
                    </a:cubicBezTo>
                    <a:cubicBezTo>
                      <a:pt x="181" y="191"/>
                      <a:pt x="215" y="220"/>
                      <a:pt x="250" y="230"/>
                    </a:cubicBezTo>
                    <a:cubicBezTo>
                      <a:pt x="285" y="240"/>
                      <a:pt x="321" y="255"/>
                      <a:pt x="360" y="250"/>
                    </a:cubicBezTo>
                    <a:cubicBezTo>
                      <a:pt x="398" y="245"/>
                      <a:pt x="440" y="213"/>
                      <a:pt x="480" y="200"/>
                    </a:cubicBezTo>
                    <a:cubicBezTo>
                      <a:pt x="520" y="186"/>
                      <a:pt x="556" y="180"/>
                      <a:pt x="600" y="170"/>
                    </a:cubicBezTo>
                    <a:cubicBezTo>
                      <a:pt x="643" y="160"/>
                      <a:pt x="693" y="148"/>
                      <a:pt x="740" y="140"/>
                    </a:cubicBezTo>
                    <a:cubicBezTo>
                      <a:pt x="786" y="131"/>
                      <a:pt x="841" y="118"/>
                      <a:pt x="880" y="120"/>
                    </a:cubicBezTo>
                    <a:cubicBezTo>
                      <a:pt x="918" y="121"/>
                      <a:pt x="956" y="133"/>
                      <a:pt x="970" y="150"/>
                    </a:cubicBezTo>
                    <a:cubicBezTo>
                      <a:pt x="983" y="166"/>
                      <a:pt x="978" y="203"/>
                      <a:pt x="960" y="220"/>
                    </a:cubicBezTo>
                    <a:cubicBezTo>
                      <a:pt x="941" y="236"/>
                      <a:pt x="896" y="240"/>
                      <a:pt x="860" y="250"/>
                    </a:cubicBezTo>
                    <a:cubicBezTo>
                      <a:pt x="823" y="260"/>
                      <a:pt x="780" y="268"/>
                      <a:pt x="740" y="280"/>
                    </a:cubicBezTo>
                    <a:cubicBezTo>
                      <a:pt x="700" y="291"/>
                      <a:pt x="660" y="305"/>
                      <a:pt x="620" y="320"/>
                    </a:cubicBezTo>
                    <a:cubicBezTo>
                      <a:pt x="580" y="335"/>
                      <a:pt x="540" y="356"/>
                      <a:pt x="500" y="370"/>
                    </a:cubicBezTo>
                    <a:cubicBezTo>
                      <a:pt x="460" y="383"/>
                      <a:pt x="421" y="393"/>
                      <a:pt x="380" y="400"/>
                    </a:cubicBezTo>
                    <a:cubicBezTo>
                      <a:pt x="338" y="406"/>
                      <a:pt x="293" y="411"/>
                      <a:pt x="250" y="410"/>
                    </a:cubicBezTo>
                    <a:cubicBezTo>
                      <a:pt x="206" y="408"/>
                      <a:pt x="156" y="408"/>
                      <a:pt x="120" y="390"/>
                    </a:cubicBezTo>
                    <a:cubicBezTo>
                      <a:pt x="83" y="371"/>
                      <a:pt x="40" y="328"/>
                      <a:pt x="30" y="3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5D8BE"/>
                  </a:gs>
                  <a:gs pos="55000">
                    <a:srgbClr val="EDB98A"/>
                  </a:gs>
                  <a:gs pos="100000">
                    <a:srgbClr val="B18A67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65C45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32" name="Forma 31"/>
              <p:cNvSpPr/>
              <p:nvPr/>
            </p:nvSpPr>
            <p:spPr>
              <a:xfrm>
                <a:off x="6263640" y="4480560"/>
                <a:ext cx="2286000" cy="9601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295"/>
                    </a:moveTo>
                    <a:cubicBezTo>
                      <a:pt x="100" y="306"/>
                      <a:pt x="91" y="315"/>
                      <a:pt x="80" y="315"/>
                    </a:cubicBezTo>
                    <a:cubicBezTo>
                      <a:pt x="68" y="315"/>
                      <a:pt x="60" y="306"/>
                      <a:pt x="60" y="295"/>
                    </a:cubicBezTo>
                    <a:cubicBezTo>
                      <a:pt x="60" y="283"/>
                      <a:pt x="68" y="275"/>
                      <a:pt x="80" y="275"/>
                    </a:cubicBezTo>
                    <a:cubicBezTo>
                      <a:pt x="91" y="275"/>
                      <a:pt x="100" y="283"/>
                      <a:pt x="100" y="295"/>
                    </a:cubicBezTo>
                    <a:close/>
                    <a:moveTo>
                      <a:pt x="142" y="293"/>
                    </a:moveTo>
                    <a:cubicBezTo>
                      <a:pt x="142" y="308"/>
                      <a:pt x="129" y="321"/>
                      <a:pt x="114" y="321"/>
                    </a:cubicBezTo>
                    <a:cubicBezTo>
                      <a:pt x="98" y="321"/>
                      <a:pt x="86" y="308"/>
                      <a:pt x="86" y="293"/>
                    </a:cubicBezTo>
                    <a:cubicBezTo>
                      <a:pt x="86" y="277"/>
                      <a:pt x="98" y="265"/>
                      <a:pt x="114" y="265"/>
                    </a:cubicBezTo>
                    <a:cubicBezTo>
                      <a:pt x="129" y="265"/>
                      <a:pt x="142" y="277"/>
                      <a:pt x="142" y="293"/>
                    </a:cubicBezTo>
                    <a:close/>
                    <a:moveTo>
                      <a:pt x="167" y="265"/>
                    </a:moveTo>
                    <a:cubicBezTo>
                      <a:pt x="167" y="275"/>
                      <a:pt x="158" y="284"/>
                      <a:pt x="148" y="284"/>
                    </a:cubicBezTo>
                    <a:cubicBezTo>
                      <a:pt x="137" y="284"/>
                      <a:pt x="129" y="275"/>
                      <a:pt x="129" y="265"/>
                    </a:cubicBezTo>
                    <a:cubicBezTo>
                      <a:pt x="129" y="254"/>
                      <a:pt x="137" y="246"/>
                      <a:pt x="148" y="246"/>
                    </a:cubicBezTo>
                    <a:cubicBezTo>
                      <a:pt x="158" y="246"/>
                      <a:pt x="167" y="254"/>
                      <a:pt x="167" y="265"/>
                    </a:cubicBezTo>
                    <a:close/>
                    <a:moveTo>
                      <a:pt x="202" y="289"/>
                    </a:moveTo>
                    <a:cubicBezTo>
                      <a:pt x="202" y="299"/>
                      <a:pt x="193" y="308"/>
                      <a:pt x="183" y="308"/>
                    </a:cubicBezTo>
                    <a:cubicBezTo>
                      <a:pt x="172" y="308"/>
                      <a:pt x="164" y="299"/>
                      <a:pt x="164" y="289"/>
                    </a:cubicBezTo>
                    <a:cubicBezTo>
                      <a:pt x="164" y="278"/>
                      <a:pt x="172" y="270"/>
                      <a:pt x="183" y="270"/>
                    </a:cubicBezTo>
                    <a:cubicBezTo>
                      <a:pt x="193" y="270"/>
                      <a:pt x="202" y="278"/>
                      <a:pt x="202" y="289"/>
                    </a:cubicBezTo>
                    <a:close/>
                    <a:moveTo>
                      <a:pt x="244" y="272"/>
                    </a:moveTo>
                    <a:cubicBezTo>
                      <a:pt x="244" y="286"/>
                      <a:pt x="231" y="299"/>
                      <a:pt x="217" y="299"/>
                    </a:cubicBezTo>
                    <a:cubicBezTo>
                      <a:pt x="202" y="299"/>
                      <a:pt x="190" y="286"/>
                      <a:pt x="190" y="272"/>
                    </a:cubicBezTo>
                    <a:cubicBezTo>
                      <a:pt x="190" y="257"/>
                      <a:pt x="202" y="245"/>
                      <a:pt x="217" y="245"/>
                    </a:cubicBezTo>
                    <a:cubicBezTo>
                      <a:pt x="231" y="245"/>
                      <a:pt x="244" y="257"/>
                      <a:pt x="244" y="272"/>
                    </a:cubicBezTo>
                    <a:close/>
                    <a:moveTo>
                      <a:pt x="278" y="246"/>
                    </a:moveTo>
                    <a:cubicBezTo>
                      <a:pt x="278" y="260"/>
                      <a:pt x="266" y="272"/>
                      <a:pt x="252" y="272"/>
                    </a:cubicBezTo>
                    <a:cubicBezTo>
                      <a:pt x="237" y="272"/>
                      <a:pt x="226" y="260"/>
                      <a:pt x="226" y="246"/>
                    </a:cubicBezTo>
                    <a:cubicBezTo>
                      <a:pt x="226" y="231"/>
                      <a:pt x="237" y="220"/>
                      <a:pt x="252" y="220"/>
                    </a:cubicBezTo>
                    <a:cubicBezTo>
                      <a:pt x="266" y="220"/>
                      <a:pt x="278" y="231"/>
                      <a:pt x="278" y="246"/>
                    </a:cubicBezTo>
                    <a:close/>
                    <a:moveTo>
                      <a:pt x="304" y="249"/>
                    </a:moveTo>
                    <a:cubicBezTo>
                      <a:pt x="304" y="258"/>
                      <a:pt x="295" y="267"/>
                      <a:pt x="286" y="267"/>
                    </a:cubicBezTo>
                    <a:cubicBezTo>
                      <a:pt x="276" y="267"/>
                      <a:pt x="268" y="258"/>
                      <a:pt x="268" y="249"/>
                    </a:cubicBezTo>
                    <a:cubicBezTo>
                      <a:pt x="268" y="239"/>
                      <a:pt x="276" y="231"/>
                      <a:pt x="286" y="231"/>
                    </a:cubicBezTo>
                    <a:cubicBezTo>
                      <a:pt x="295" y="231"/>
                      <a:pt x="304" y="239"/>
                      <a:pt x="304" y="249"/>
                    </a:cubicBezTo>
                    <a:close/>
                    <a:moveTo>
                      <a:pt x="344" y="235"/>
                    </a:moveTo>
                    <a:cubicBezTo>
                      <a:pt x="344" y="248"/>
                      <a:pt x="333" y="259"/>
                      <a:pt x="320" y="259"/>
                    </a:cubicBezTo>
                    <a:cubicBezTo>
                      <a:pt x="306" y="259"/>
                      <a:pt x="296" y="248"/>
                      <a:pt x="296" y="235"/>
                    </a:cubicBezTo>
                    <a:cubicBezTo>
                      <a:pt x="296" y="221"/>
                      <a:pt x="306" y="211"/>
                      <a:pt x="320" y="211"/>
                    </a:cubicBezTo>
                    <a:cubicBezTo>
                      <a:pt x="333" y="211"/>
                      <a:pt x="344" y="221"/>
                      <a:pt x="344" y="235"/>
                    </a:cubicBezTo>
                    <a:close/>
                    <a:moveTo>
                      <a:pt x="374" y="249"/>
                    </a:moveTo>
                    <a:cubicBezTo>
                      <a:pt x="374" y="259"/>
                      <a:pt x="365" y="268"/>
                      <a:pt x="355" y="268"/>
                    </a:cubicBezTo>
                    <a:cubicBezTo>
                      <a:pt x="344" y="268"/>
                      <a:pt x="336" y="259"/>
                      <a:pt x="336" y="249"/>
                    </a:cubicBezTo>
                    <a:cubicBezTo>
                      <a:pt x="336" y="238"/>
                      <a:pt x="344" y="230"/>
                      <a:pt x="355" y="230"/>
                    </a:cubicBezTo>
                    <a:cubicBezTo>
                      <a:pt x="365" y="230"/>
                      <a:pt x="374" y="238"/>
                      <a:pt x="374" y="249"/>
                    </a:cubicBezTo>
                    <a:close/>
                    <a:moveTo>
                      <a:pt x="408" y="232"/>
                    </a:moveTo>
                    <a:cubicBezTo>
                      <a:pt x="408" y="242"/>
                      <a:pt x="399" y="251"/>
                      <a:pt x="389" y="251"/>
                    </a:cubicBezTo>
                    <a:cubicBezTo>
                      <a:pt x="378" y="251"/>
                      <a:pt x="370" y="242"/>
                      <a:pt x="370" y="232"/>
                    </a:cubicBezTo>
                    <a:cubicBezTo>
                      <a:pt x="370" y="221"/>
                      <a:pt x="378" y="213"/>
                      <a:pt x="389" y="213"/>
                    </a:cubicBezTo>
                    <a:cubicBezTo>
                      <a:pt x="399" y="213"/>
                      <a:pt x="408" y="221"/>
                      <a:pt x="408" y="232"/>
                    </a:cubicBezTo>
                    <a:close/>
                    <a:moveTo>
                      <a:pt x="448" y="246"/>
                    </a:moveTo>
                    <a:cubicBezTo>
                      <a:pt x="448" y="259"/>
                      <a:pt x="437" y="270"/>
                      <a:pt x="424" y="270"/>
                    </a:cubicBezTo>
                    <a:cubicBezTo>
                      <a:pt x="410" y="270"/>
                      <a:pt x="400" y="259"/>
                      <a:pt x="400" y="246"/>
                    </a:cubicBezTo>
                    <a:cubicBezTo>
                      <a:pt x="400" y="232"/>
                      <a:pt x="410" y="222"/>
                      <a:pt x="424" y="222"/>
                    </a:cubicBezTo>
                    <a:cubicBezTo>
                      <a:pt x="437" y="222"/>
                      <a:pt x="448" y="232"/>
                      <a:pt x="448" y="246"/>
                    </a:cubicBezTo>
                    <a:close/>
                    <a:moveTo>
                      <a:pt x="485" y="207"/>
                    </a:moveTo>
                    <a:cubicBezTo>
                      <a:pt x="485" y="221"/>
                      <a:pt x="472" y="234"/>
                      <a:pt x="458" y="234"/>
                    </a:cubicBezTo>
                    <a:cubicBezTo>
                      <a:pt x="443" y="234"/>
                      <a:pt x="431" y="221"/>
                      <a:pt x="431" y="207"/>
                    </a:cubicBezTo>
                    <a:cubicBezTo>
                      <a:pt x="431" y="192"/>
                      <a:pt x="443" y="180"/>
                      <a:pt x="458" y="180"/>
                    </a:cubicBezTo>
                    <a:cubicBezTo>
                      <a:pt x="472" y="180"/>
                      <a:pt x="485" y="192"/>
                      <a:pt x="485" y="207"/>
                    </a:cubicBezTo>
                    <a:close/>
                    <a:moveTo>
                      <a:pt x="513" y="205"/>
                    </a:moveTo>
                    <a:cubicBezTo>
                      <a:pt x="513" y="216"/>
                      <a:pt x="503" y="226"/>
                      <a:pt x="492" y="226"/>
                    </a:cubicBezTo>
                    <a:cubicBezTo>
                      <a:pt x="480" y="226"/>
                      <a:pt x="471" y="216"/>
                      <a:pt x="471" y="205"/>
                    </a:cubicBezTo>
                    <a:cubicBezTo>
                      <a:pt x="471" y="193"/>
                      <a:pt x="480" y="184"/>
                      <a:pt x="492" y="184"/>
                    </a:cubicBezTo>
                    <a:cubicBezTo>
                      <a:pt x="503" y="184"/>
                      <a:pt x="513" y="193"/>
                      <a:pt x="513" y="205"/>
                    </a:cubicBezTo>
                    <a:close/>
                    <a:moveTo>
                      <a:pt x="555" y="231"/>
                    </a:moveTo>
                    <a:cubicBezTo>
                      <a:pt x="555" y="246"/>
                      <a:pt x="542" y="259"/>
                      <a:pt x="527" y="259"/>
                    </a:cubicBezTo>
                    <a:cubicBezTo>
                      <a:pt x="511" y="259"/>
                      <a:pt x="499" y="246"/>
                      <a:pt x="499" y="231"/>
                    </a:cubicBezTo>
                    <a:cubicBezTo>
                      <a:pt x="499" y="215"/>
                      <a:pt x="511" y="203"/>
                      <a:pt x="527" y="203"/>
                    </a:cubicBezTo>
                    <a:cubicBezTo>
                      <a:pt x="542" y="203"/>
                      <a:pt x="555" y="215"/>
                      <a:pt x="555" y="231"/>
                    </a:cubicBezTo>
                    <a:close/>
                    <a:moveTo>
                      <a:pt x="579" y="222"/>
                    </a:moveTo>
                    <a:cubicBezTo>
                      <a:pt x="579" y="231"/>
                      <a:pt x="570" y="240"/>
                      <a:pt x="561" y="240"/>
                    </a:cubicBezTo>
                    <a:cubicBezTo>
                      <a:pt x="551" y="240"/>
                      <a:pt x="543" y="231"/>
                      <a:pt x="543" y="222"/>
                    </a:cubicBezTo>
                    <a:cubicBezTo>
                      <a:pt x="543" y="212"/>
                      <a:pt x="551" y="204"/>
                      <a:pt x="561" y="204"/>
                    </a:cubicBezTo>
                    <a:cubicBezTo>
                      <a:pt x="570" y="204"/>
                      <a:pt x="579" y="212"/>
                      <a:pt x="579" y="222"/>
                    </a:cubicBezTo>
                    <a:close/>
                    <a:moveTo>
                      <a:pt x="623" y="215"/>
                    </a:moveTo>
                    <a:cubicBezTo>
                      <a:pt x="623" y="229"/>
                      <a:pt x="610" y="242"/>
                      <a:pt x="596" y="242"/>
                    </a:cubicBezTo>
                    <a:cubicBezTo>
                      <a:pt x="581" y="242"/>
                      <a:pt x="569" y="229"/>
                      <a:pt x="569" y="215"/>
                    </a:cubicBezTo>
                    <a:cubicBezTo>
                      <a:pt x="569" y="200"/>
                      <a:pt x="581" y="188"/>
                      <a:pt x="596" y="188"/>
                    </a:cubicBezTo>
                    <a:cubicBezTo>
                      <a:pt x="610" y="188"/>
                      <a:pt x="623" y="200"/>
                      <a:pt x="623" y="215"/>
                    </a:cubicBezTo>
                    <a:close/>
                    <a:moveTo>
                      <a:pt x="648" y="197"/>
                    </a:moveTo>
                    <a:cubicBezTo>
                      <a:pt x="648" y="206"/>
                      <a:pt x="639" y="215"/>
                      <a:pt x="630" y="215"/>
                    </a:cubicBezTo>
                    <a:cubicBezTo>
                      <a:pt x="620" y="215"/>
                      <a:pt x="612" y="206"/>
                      <a:pt x="612" y="197"/>
                    </a:cubicBezTo>
                    <a:cubicBezTo>
                      <a:pt x="612" y="187"/>
                      <a:pt x="620" y="179"/>
                      <a:pt x="630" y="179"/>
                    </a:cubicBezTo>
                    <a:cubicBezTo>
                      <a:pt x="639" y="179"/>
                      <a:pt x="648" y="187"/>
                      <a:pt x="648" y="197"/>
                    </a:cubicBezTo>
                    <a:close/>
                    <a:moveTo>
                      <a:pt x="682" y="180"/>
                    </a:moveTo>
                    <a:cubicBezTo>
                      <a:pt x="682" y="189"/>
                      <a:pt x="673" y="198"/>
                      <a:pt x="664" y="198"/>
                    </a:cubicBezTo>
                    <a:cubicBezTo>
                      <a:pt x="654" y="198"/>
                      <a:pt x="646" y="189"/>
                      <a:pt x="646" y="180"/>
                    </a:cubicBezTo>
                    <a:cubicBezTo>
                      <a:pt x="646" y="170"/>
                      <a:pt x="654" y="162"/>
                      <a:pt x="664" y="162"/>
                    </a:cubicBezTo>
                    <a:cubicBezTo>
                      <a:pt x="673" y="162"/>
                      <a:pt x="682" y="170"/>
                      <a:pt x="682" y="180"/>
                    </a:cubicBezTo>
                    <a:close/>
                    <a:moveTo>
                      <a:pt x="719" y="194"/>
                    </a:moveTo>
                    <a:cubicBezTo>
                      <a:pt x="719" y="205"/>
                      <a:pt x="710" y="214"/>
                      <a:pt x="699" y="214"/>
                    </a:cubicBezTo>
                    <a:cubicBezTo>
                      <a:pt x="687" y="214"/>
                      <a:pt x="679" y="205"/>
                      <a:pt x="679" y="194"/>
                    </a:cubicBezTo>
                    <a:cubicBezTo>
                      <a:pt x="679" y="182"/>
                      <a:pt x="687" y="174"/>
                      <a:pt x="699" y="174"/>
                    </a:cubicBezTo>
                    <a:cubicBezTo>
                      <a:pt x="710" y="174"/>
                      <a:pt x="719" y="182"/>
                      <a:pt x="719" y="194"/>
                    </a:cubicBezTo>
                    <a:close/>
                    <a:moveTo>
                      <a:pt x="757" y="171"/>
                    </a:moveTo>
                    <a:cubicBezTo>
                      <a:pt x="757" y="184"/>
                      <a:pt x="746" y="195"/>
                      <a:pt x="733" y="195"/>
                    </a:cubicBezTo>
                    <a:cubicBezTo>
                      <a:pt x="719" y="195"/>
                      <a:pt x="709" y="184"/>
                      <a:pt x="709" y="171"/>
                    </a:cubicBezTo>
                    <a:cubicBezTo>
                      <a:pt x="709" y="157"/>
                      <a:pt x="719" y="147"/>
                      <a:pt x="733" y="147"/>
                    </a:cubicBezTo>
                    <a:cubicBezTo>
                      <a:pt x="746" y="147"/>
                      <a:pt x="757" y="157"/>
                      <a:pt x="757" y="171"/>
                    </a:cubicBezTo>
                    <a:close/>
                    <a:moveTo>
                      <a:pt x="794" y="156"/>
                    </a:moveTo>
                    <a:cubicBezTo>
                      <a:pt x="794" y="170"/>
                      <a:pt x="782" y="182"/>
                      <a:pt x="768" y="182"/>
                    </a:cubicBezTo>
                    <a:cubicBezTo>
                      <a:pt x="753" y="182"/>
                      <a:pt x="742" y="170"/>
                      <a:pt x="742" y="156"/>
                    </a:cubicBezTo>
                    <a:cubicBezTo>
                      <a:pt x="742" y="141"/>
                      <a:pt x="753" y="130"/>
                      <a:pt x="768" y="130"/>
                    </a:cubicBezTo>
                    <a:cubicBezTo>
                      <a:pt x="782" y="130"/>
                      <a:pt x="794" y="141"/>
                      <a:pt x="794" y="156"/>
                    </a:cubicBezTo>
                    <a:close/>
                    <a:moveTo>
                      <a:pt x="829" y="147"/>
                    </a:moveTo>
                    <a:cubicBezTo>
                      <a:pt x="829" y="161"/>
                      <a:pt x="816" y="174"/>
                      <a:pt x="802" y="174"/>
                    </a:cubicBezTo>
                    <a:cubicBezTo>
                      <a:pt x="787" y="174"/>
                      <a:pt x="775" y="161"/>
                      <a:pt x="775" y="147"/>
                    </a:cubicBezTo>
                    <a:cubicBezTo>
                      <a:pt x="775" y="132"/>
                      <a:pt x="787" y="120"/>
                      <a:pt x="802" y="120"/>
                    </a:cubicBezTo>
                    <a:cubicBezTo>
                      <a:pt x="816" y="120"/>
                      <a:pt x="829" y="132"/>
                      <a:pt x="829" y="147"/>
                    </a:cubicBezTo>
                    <a:close/>
                    <a:moveTo>
                      <a:pt x="862" y="153"/>
                    </a:moveTo>
                    <a:cubicBezTo>
                      <a:pt x="862" y="167"/>
                      <a:pt x="850" y="179"/>
                      <a:pt x="836" y="179"/>
                    </a:cubicBezTo>
                    <a:cubicBezTo>
                      <a:pt x="821" y="179"/>
                      <a:pt x="810" y="167"/>
                      <a:pt x="810" y="153"/>
                    </a:cubicBezTo>
                    <a:cubicBezTo>
                      <a:pt x="810" y="138"/>
                      <a:pt x="821" y="127"/>
                      <a:pt x="836" y="127"/>
                    </a:cubicBezTo>
                    <a:cubicBezTo>
                      <a:pt x="850" y="127"/>
                      <a:pt x="862" y="138"/>
                      <a:pt x="862" y="153"/>
                    </a:cubicBezTo>
                    <a:close/>
                    <a:moveTo>
                      <a:pt x="891" y="170"/>
                    </a:moveTo>
                    <a:cubicBezTo>
                      <a:pt x="891" y="181"/>
                      <a:pt x="882" y="190"/>
                      <a:pt x="871" y="190"/>
                    </a:cubicBezTo>
                    <a:cubicBezTo>
                      <a:pt x="859" y="190"/>
                      <a:pt x="851" y="181"/>
                      <a:pt x="851" y="170"/>
                    </a:cubicBezTo>
                    <a:cubicBezTo>
                      <a:pt x="851" y="158"/>
                      <a:pt x="859" y="150"/>
                      <a:pt x="871" y="150"/>
                    </a:cubicBezTo>
                    <a:cubicBezTo>
                      <a:pt x="882" y="150"/>
                      <a:pt x="891" y="158"/>
                      <a:pt x="891" y="170"/>
                    </a:cubicBezTo>
                    <a:close/>
                    <a:moveTo>
                      <a:pt x="932" y="127"/>
                    </a:moveTo>
                    <a:cubicBezTo>
                      <a:pt x="932" y="141"/>
                      <a:pt x="919" y="154"/>
                      <a:pt x="905" y="154"/>
                    </a:cubicBezTo>
                    <a:cubicBezTo>
                      <a:pt x="890" y="154"/>
                      <a:pt x="878" y="141"/>
                      <a:pt x="878" y="127"/>
                    </a:cubicBezTo>
                    <a:cubicBezTo>
                      <a:pt x="878" y="112"/>
                      <a:pt x="890" y="100"/>
                      <a:pt x="905" y="100"/>
                    </a:cubicBezTo>
                    <a:cubicBezTo>
                      <a:pt x="919" y="100"/>
                      <a:pt x="932" y="112"/>
                      <a:pt x="932" y="127"/>
                    </a:cubicBezTo>
                    <a:close/>
                    <a:moveTo>
                      <a:pt x="968" y="151"/>
                    </a:moveTo>
                    <a:cubicBezTo>
                      <a:pt x="968" y="166"/>
                      <a:pt x="955" y="179"/>
                      <a:pt x="940" y="179"/>
                    </a:cubicBezTo>
                    <a:cubicBezTo>
                      <a:pt x="924" y="179"/>
                      <a:pt x="912" y="166"/>
                      <a:pt x="912" y="151"/>
                    </a:cubicBezTo>
                    <a:cubicBezTo>
                      <a:pt x="912" y="135"/>
                      <a:pt x="924" y="123"/>
                      <a:pt x="940" y="123"/>
                    </a:cubicBezTo>
                    <a:cubicBezTo>
                      <a:pt x="955" y="123"/>
                      <a:pt x="968" y="135"/>
                      <a:pt x="968" y="151"/>
                    </a:cubicBezTo>
                    <a:close/>
                  </a:path>
                </a:pathLst>
              </a:custGeom>
              <a:noFill/>
              <a:ln w="9525" cap="rnd">
                <a:solidFill>
                  <a:srgbClr val="B18A67"/>
                </a:solidFill>
                <a:round/>
              </a:ln>
            </p:spPr>
          </p:sp>
          <p:sp>
            <p:nvSpPr>
              <p:cNvPr id="33" name="Islotes"/>
              <p:cNvSpPr/>
              <p:nvPr/>
            </p:nvSpPr>
            <p:spPr>
              <a:xfrm>
                <a:off x="6263640" y="4480560"/>
                <a:ext cx="2286000" cy="9601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286" y="300"/>
                    </a:moveTo>
                    <a:cubicBezTo>
                      <a:pt x="286" y="314"/>
                      <a:pt x="274" y="326"/>
                      <a:pt x="260" y="326"/>
                    </a:cubicBezTo>
                    <a:cubicBezTo>
                      <a:pt x="245" y="326"/>
                      <a:pt x="234" y="314"/>
                      <a:pt x="234" y="300"/>
                    </a:cubicBezTo>
                    <a:cubicBezTo>
                      <a:pt x="234" y="285"/>
                      <a:pt x="245" y="274"/>
                      <a:pt x="260" y="274"/>
                    </a:cubicBezTo>
                    <a:cubicBezTo>
                      <a:pt x="274" y="274"/>
                      <a:pt x="286" y="285"/>
                      <a:pt x="286" y="300"/>
                    </a:cubicBezTo>
                    <a:close/>
                    <a:moveTo>
                      <a:pt x="542" y="260"/>
                    </a:moveTo>
                    <a:cubicBezTo>
                      <a:pt x="542" y="272"/>
                      <a:pt x="532" y="282"/>
                      <a:pt x="520" y="282"/>
                    </a:cubicBezTo>
                    <a:cubicBezTo>
                      <a:pt x="507" y="282"/>
                      <a:pt x="498" y="272"/>
                      <a:pt x="498" y="260"/>
                    </a:cubicBezTo>
                    <a:cubicBezTo>
                      <a:pt x="498" y="247"/>
                      <a:pt x="507" y="238"/>
                      <a:pt x="520" y="238"/>
                    </a:cubicBezTo>
                    <a:cubicBezTo>
                      <a:pt x="532" y="238"/>
                      <a:pt x="542" y="247"/>
                      <a:pt x="542" y="260"/>
                    </a:cubicBezTo>
                    <a:close/>
                    <a:moveTo>
                      <a:pt x="784" y="200"/>
                    </a:moveTo>
                    <a:cubicBezTo>
                      <a:pt x="784" y="213"/>
                      <a:pt x="773" y="224"/>
                      <a:pt x="760" y="224"/>
                    </a:cubicBezTo>
                    <a:cubicBezTo>
                      <a:pt x="746" y="224"/>
                      <a:pt x="736" y="213"/>
                      <a:pt x="736" y="200"/>
                    </a:cubicBezTo>
                    <a:cubicBezTo>
                      <a:pt x="736" y="186"/>
                      <a:pt x="746" y="176"/>
                      <a:pt x="760" y="176"/>
                    </a:cubicBezTo>
                    <a:cubicBezTo>
                      <a:pt x="773" y="176"/>
                      <a:pt x="784" y="186"/>
                      <a:pt x="784" y="200"/>
                    </a:cubicBezTo>
                    <a:close/>
                    <a:moveTo>
                      <a:pt x="438" y="320"/>
                    </a:moveTo>
                    <a:cubicBezTo>
                      <a:pt x="438" y="329"/>
                      <a:pt x="429" y="338"/>
                      <a:pt x="420" y="338"/>
                    </a:cubicBezTo>
                    <a:cubicBezTo>
                      <a:pt x="410" y="338"/>
                      <a:pt x="402" y="329"/>
                      <a:pt x="402" y="320"/>
                    </a:cubicBezTo>
                    <a:cubicBezTo>
                      <a:pt x="402" y="310"/>
                      <a:pt x="410" y="302"/>
                      <a:pt x="420" y="302"/>
                    </a:cubicBezTo>
                    <a:cubicBezTo>
                      <a:pt x="429" y="302"/>
                      <a:pt x="438" y="310"/>
                      <a:pt x="438" y="3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DBD8"/>
                  </a:gs>
                  <a:gs pos="55000">
                    <a:srgbClr val="F5B7B1"/>
                  </a:gs>
                  <a:gs pos="100000">
                    <a:srgbClr val="C4928D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C0392B"/>
                </a:solidFill>
                <a:round/>
              </a:ln>
            </p:spPr>
          </p:sp>
          <p:sp>
            <p:nvSpPr>
              <p:cNvPr id="34" name="Forma 33"/>
              <p:cNvSpPr/>
              <p:nvPr/>
            </p:nvSpPr>
            <p:spPr>
              <a:xfrm>
                <a:off x="6263640" y="4480560"/>
                <a:ext cx="2286000" cy="9601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320"/>
                    </a:moveTo>
                    <a:cubicBezTo>
                      <a:pt x="300" y="300"/>
                      <a:pt x="600" y="230"/>
                      <a:pt x="930" y="170"/>
                    </a:cubicBezTo>
                  </a:path>
                </a:pathLst>
              </a:custGeom>
              <a:noFill/>
              <a:ln w="25400" cap="rnd">
                <a:solidFill>
                  <a:srgbClr val="F7DC6F"/>
                </a:solidFill>
                <a:round/>
              </a:ln>
            </p:spPr>
          </p:sp>
        </p:grpSp>
        <p:sp>
          <p:nvSpPr>
            <p:cNvPr id="35" name="Forma 34"/>
            <p:cNvSpPr/>
            <p:nvPr/>
          </p:nvSpPr>
          <p:spPr>
            <a:xfrm>
              <a:off x="7086600" y="4297680"/>
              <a:ext cx="822960" cy="822960"/>
            </a:xfrm>
            <a:prstGeom prst="irregularSeal1">
              <a:avLst/>
            </a:prstGeom>
            <a:solidFill>
              <a:srgbClr val="C00000">
                <a:alpha val="60000"/>
              </a:srgbClr>
            </a:solidFill>
            <a:ln>
              <a:noFill/>
            </a:ln>
          </p:spPr>
        </p:sp>
        <p:sp>
          <p:nvSpPr>
            <p:cNvPr id="36" name="Forma 35"/>
            <p:cNvSpPr txBox="1"/>
            <p:nvPr/>
          </p:nvSpPr>
          <p:spPr>
            <a:xfrm>
              <a:off x="8915400" y="3931920"/>
              <a:ext cx="2743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Autodigestión pancreática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37" name="Forma 36"/>
            <p:cNvSpPr txBox="1"/>
            <p:nvPr/>
          </p:nvSpPr>
          <p:spPr>
            <a:xfrm>
              <a:off x="8915400" y="4663440"/>
              <a:ext cx="2743200" cy="15544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zimógenos se activan dentro del páncreas → necrosis →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y lipasa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 la sangre.</a:t>
              </a:r>
              <a:endParaRPr lang="es-AR" sz="135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CUATRO MECANISMOS DE LIBERACIÓN ENZIMÁTICA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Sinusoide"/>
          <p:cNvGrpSpPr/>
          <p:nvPr/>
        </p:nvGrpSpPr>
        <p:grpSpPr>
          <a:xfrm>
            <a:off x="274320" y="5257800"/>
            <a:ext cx="7772400" cy="868680"/>
            <a:chOff x="274320" y="5257800"/>
            <a:chExt cx="7772400" cy="868680"/>
          </a:xfrm>
        </p:grpSpPr>
        <p:sp>
          <p:nvSpPr>
            <p:cNvPr id="6" name="Forma 5"/>
            <p:cNvSpPr/>
            <p:nvPr/>
          </p:nvSpPr>
          <p:spPr>
            <a:xfrm>
              <a:off x="274320" y="5257800"/>
              <a:ext cx="7772400" cy="8686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404622" y="5414162"/>
              <a:ext cx="7511796" cy="55595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8" name="Eritrocito"/>
            <p:cNvSpPr/>
            <p:nvPr/>
          </p:nvSpPr>
          <p:spPr>
            <a:xfrm>
              <a:off x="986010" y="5680810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9" name="Eritrocito_2"/>
            <p:cNvSpPr/>
            <p:nvPr/>
          </p:nvSpPr>
          <p:spPr>
            <a:xfrm>
              <a:off x="1741183" y="5493402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0" name="Eritrocito_3"/>
            <p:cNvSpPr/>
            <p:nvPr/>
          </p:nvSpPr>
          <p:spPr>
            <a:xfrm>
              <a:off x="3288290" y="5634801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1" name="Eritrocito_4"/>
            <p:cNvSpPr/>
            <p:nvPr/>
          </p:nvSpPr>
          <p:spPr>
            <a:xfrm>
              <a:off x="4389651" y="5541888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2" name="Eritrocito_5"/>
            <p:cNvSpPr/>
            <p:nvPr/>
          </p:nvSpPr>
          <p:spPr>
            <a:xfrm>
              <a:off x="5539131" y="5606749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3" name="Eritrocito_6"/>
            <p:cNvSpPr/>
            <p:nvPr/>
          </p:nvSpPr>
          <p:spPr>
            <a:xfrm>
              <a:off x="6707034" y="5509366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sp>
        <p:nvSpPr>
          <p:cNvPr id="14" name="!!Rótulo sangre"/>
          <p:cNvSpPr txBox="1"/>
          <p:nvPr/>
        </p:nvSpPr>
        <p:spPr>
          <a:xfrm>
            <a:off x="411480" y="61722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sangre (sinusoide)</a:t>
            </a:r>
            <a:endParaRPr lang="es-AR" sz="1200" dirty="0">
              <a:latin typeface="Calibri"/>
            </a:endParaRPr>
          </a:p>
        </p:txBody>
      </p:sp>
      <p:sp>
        <p:nvSpPr>
          <p:cNvPr id="15" name="!!Hepatocito"/>
          <p:cNvSpPr/>
          <p:nvPr/>
        </p:nvSpPr>
        <p:spPr>
          <a:xfrm>
            <a:off x="1097280" y="1051560"/>
            <a:ext cx="5852160" cy="4023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0" y="120"/>
                </a:moveTo>
                <a:cubicBezTo>
                  <a:pt x="124" y="76"/>
                  <a:pt x="423" y="30"/>
                  <a:pt x="500" y="30"/>
                </a:cubicBezTo>
                <a:cubicBezTo>
                  <a:pt x="577" y="29"/>
                  <a:pt x="875" y="65"/>
                  <a:pt x="920" y="110"/>
                </a:cubicBezTo>
                <a:cubicBezTo>
                  <a:pt x="964" y="154"/>
                  <a:pt x="991" y="444"/>
                  <a:pt x="990" y="520"/>
                </a:cubicBezTo>
                <a:cubicBezTo>
                  <a:pt x="988" y="595"/>
                  <a:pt x="944" y="886"/>
                  <a:pt x="900" y="930"/>
                </a:cubicBezTo>
                <a:cubicBezTo>
                  <a:pt x="855" y="973"/>
                  <a:pt x="574" y="990"/>
                  <a:pt x="500" y="990"/>
                </a:cubicBezTo>
                <a:cubicBezTo>
                  <a:pt x="425" y="989"/>
                  <a:pt x="134" y="964"/>
                  <a:pt x="90" y="920"/>
                </a:cubicBezTo>
                <a:cubicBezTo>
                  <a:pt x="45" y="875"/>
                  <a:pt x="15" y="573"/>
                  <a:pt x="15" y="500"/>
                </a:cubicBezTo>
                <a:cubicBezTo>
                  <a:pt x="14" y="426"/>
                  <a:pt x="35" y="163"/>
                  <a:pt x="80" y="120"/>
                </a:cubicBezTo>
                <a:close/>
              </a:path>
            </a:pathLst>
          </a:custGeom>
          <a:gradFill rotWithShape="1">
            <a:gsLst>
              <a:gs pos="0">
                <a:srgbClr val="F2CABE"/>
              </a:gs>
              <a:gs pos="55000">
                <a:srgbClr val="E8A08A"/>
              </a:gs>
              <a:gs pos="100000">
                <a:srgbClr val="AE7867"/>
              </a:gs>
            </a:gsLst>
            <a:path path="circle">
              <a:fillToRect l="32000" t="28000" r="68000" b="72000"/>
            </a:path>
          </a:gradFill>
          <a:ln w="31750" cap="rnd">
            <a:solidFill>
              <a:srgbClr val="68483E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grpSp>
        <p:nvGrpSpPr>
          <p:cNvPr id="16" name="!!Núcleo hepatocito"/>
          <p:cNvGrpSpPr/>
          <p:nvPr/>
        </p:nvGrpSpPr>
        <p:grpSpPr>
          <a:xfrm>
            <a:off x="3566160" y="2331720"/>
            <a:ext cx="1188720" cy="1069848"/>
            <a:chOff x="3566160" y="2331720"/>
            <a:chExt cx="1188720" cy="1069848"/>
          </a:xfrm>
        </p:grpSpPr>
        <p:sp>
          <p:nvSpPr>
            <p:cNvPr id="17" name="Forma 16"/>
            <p:cNvSpPr/>
            <p:nvPr/>
          </p:nvSpPr>
          <p:spPr>
            <a:xfrm>
              <a:off x="3566160" y="2331720"/>
              <a:ext cx="1188720" cy="1069848"/>
            </a:xfrm>
            <a:prstGeom prst="ellipse">
              <a:avLst/>
            </a:prstGeom>
            <a:gradFill rotWithShape="1">
              <a:gsLst>
                <a:gs pos="0">
                  <a:srgbClr val="B7A4CE"/>
                </a:gs>
                <a:gs pos="55000">
                  <a:srgbClr val="7D5BA6"/>
                </a:gs>
                <a:gs pos="100000">
                  <a:srgbClr val="573F74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4B3663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4184294" y="2688336"/>
              <a:ext cx="261518" cy="237744"/>
            </a:xfrm>
            <a:prstGeom prst="ellipse">
              <a:avLst/>
            </a:prstGeom>
            <a:solidFill>
              <a:srgbClr val="513B6B"/>
            </a:solidFill>
            <a:ln>
              <a:noFill/>
            </a:ln>
          </p:spPr>
        </p:sp>
      </p:grpSp>
      <p:sp>
        <p:nvSpPr>
          <p:cNvPr id="19" name="!!Canalículo biliar"/>
          <p:cNvSpPr/>
          <p:nvPr/>
        </p:nvSpPr>
        <p:spPr>
          <a:xfrm>
            <a:off x="6492240" y="1828800"/>
            <a:ext cx="320040" cy="21945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9DFBF"/>
              </a:gs>
              <a:gs pos="100000">
                <a:srgbClr val="27AE60"/>
              </a:gs>
            </a:gsLst>
            <a:lin ang="0" scaled="0"/>
          </a:gradFill>
          <a:ln w="15875" cap="rnd">
            <a:solidFill>
              <a:srgbClr val="1E8449"/>
            </a:solidFill>
            <a:round/>
          </a:ln>
        </p:spPr>
      </p:sp>
      <p:grpSp>
        <p:nvGrpSpPr>
          <p:cNvPr id="20" name="!!Mitocondria 1"/>
          <p:cNvGrpSpPr/>
          <p:nvPr/>
        </p:nvGrpSpPr>
        <p:grpSpPr>
          <a:xfrm>
            <a:off x="1554480" y="1600200"/>
            <a:ext cx="1234440" cy="617220"/>
            <a:chOff x="1554480" y="1600200"/>
            <a:chExt cx="1234440" cy="617220"/>
          </a:xfrm>
        </p:grpSpPr>
        <p:sp>
          <p:nvSpPr>
            <p:cNvPr id="21" name="Forma 20"/>
            <p:cNvSpPr/>
            <p:nvPr/>
          </p:nvSpPr>
          <p:spPr>
            <a:xfrm>
              <a:off x="1554480" y="160020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1640891" y="168661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1640891" y="168661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24" name="!!Mitocondria 2"/>
          <p:cNvGrpSpPr/>
          <p:nvPr/>
        </p:nvGrpSpPr>
        <p:grpSpPr>
          <a:xfrm>
            <a:off x="4937760" y="1508760"/>
            <a:ext cx="1234440" cy="617220"/>
            <a:chOff x="4937760" y="1508760"/>
            <a:chExt cx="1234440" cy="617220"/>
          </a:xfrm>
        </p:grpSpPr>
        <p:sp>
          <p:nvSpPr>
            <p:cNvPr id="25" name="Forma 24"/>
            <p:cNvSpPr/>
            <p:nvPr/>
          </p:nvSpPr>
          <p:spPr>
            <a:xfrm>
              <a:off x="4937760" y="150876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5024171" y="159517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5024171" y="159517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28" name="!!Mitocondria 3"/>
          <p:cNvGrpSpPr/>
          <p:nvPr/>
        </p:nvGrpSpPr>
        <p:grpSpPr>
          <a:xfrm>
            <a:off x="1645920" y="3611880"/>
            <a:ext cx="1234440" cy="617220"/>
            <a:chOff x="1645920" y="3611880"/>
            <a:chExt cx="1234440" cy="617220"/>
          </a:xfrm>
        </p:grpSpPr>
        <p:sp>
          <p:nvSpPr>
            <p:cNvPr id="29" name="Forma 28"/>
            <p:cNvSpPr/>
            <p:nvPr/>
          </p:nvSpPr>
          <p:spPr>
            <a:xfrm>
              <a:off x="1645920" y="361188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1732331" y="369829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1732331" y="369829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32" name="!!Mitocondria 4"/>
          <p:cNvGrpSpPr/>
          <p:nvPr/>
        </p:nvGrpSpPr>
        <p:grpSpPr>
          <a:xfrm>
            <a:off x="5029200" y="3611880"/>
            <a:ext cx="1234440" cy="617220"/>
            <a:chOff x="5029200" y="3611880"/>
            <a:chExt cx="1234440" cy="617220"/>
          </a:xfrm>
        </p:grpSpPr>
        <p:sp>
          <p:nvSpPr>
            <p:cNvPr id="33" name="Forma 32"/>
            <p:cNvSpPr/>
            <p:nvPr/>
          </p:nvSpPr>
          <p:spPr>
            <a:xfrm>
              <a:off x="5029200" y="361188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5115611" y="369829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>
              <a:off x="5115611" y="369829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sp>
        <p:nvSpPr>
          <p:cNvPr id="36" name="!!ALT 1"/>
          <p:cNvSpPr/>
          <p:nvPr/>
        </p:nvSpPr>
        <p:spPr>
          <a:xfrm>
            <a:off x="2651760" y="164592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7" name="!!ALT 2"/>
          <p:cNvSpPr/>
          <p:nvPr/>
        </p:nvSpPr>
        <p:spPr>
          <a:xfrm>
            <a:off x="2377440" y="29260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8" name="!!ALT 3"/>
          <p:cNvSpPr/>
          <p:nvPr/>
        </p:nvSpPr>
        <p:spPr>
          <a:xfrm>
            <a:off x="4572000" y="288036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9" name="!!ALT 4"/>
          <p:cNvSpPr/>
          <p:nvPr/>
        </p:nvSpPr>
        <p:spPr>
          <a:xfrm>
            <a:off x="3108960" y="411480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40" name="!!ALT 5"/>
          <p:cNvSpPr/>
          <p:nvPr/>
        </p:nvSpPr>
        <p:spPr>
          <a:xfrm>
            <a:off x="4754880" y="237744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41" name="!!AST 1"/>
          <p:cNvSpPr/>
          <p:nvPr/>
        </p:nvSpPr>
        <p:spPr>
          <a:xfrm>
            <a:off x="1874520" y="169164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sp>
        <p:nvSpPr>
          <p:cNvPr id="42" name="!!AST 2"/>
          <p:cNvSpPr/>
          <p:nvPr/>
        </p:nvSpPr>
        <p:spPr>
          <a:xfrm>
            <a:off x="5257800" y="160020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sp>
        <p:nvSpPr>
          <p:cNvPr id="43" name="!!AST 3"/>
          <p:cNvSpPr/>
          <p:nvPr/>
        </p:nvSpPr>
        <p:spPr>
          <a:xfrm>
            <a:off x="1965960" y="370332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grpSp>
        <p:nvGrpSpPr>
          <p:cNvPr id="44" name="Caja ALT ubic"/>
          <p:cNvGrpSpPr/>
          <p:nvPr/>
        </p:nvGrpSpPr>
        <p:grpSpPr>
          <a:xfrm>
            <a:off x="8549640" y="1097280"/>
            <a:ext cx="3383280" cy="2194560"/>
            <a:chOff x="8549640" y="1097280"/>
            <a:chExt cx="3383280" cy="2194560"/>
          </a:xfrm>
        </p:grpSpPr>
        <p:sp>
          <p:nvSpPr>
            <p:cNvPr id="45" name="Forma 44"/>
            <p:cNvSpPr/>
            <p:nvPr/>
          </p:nvSpPr>
          <p:spPr>
            <a:xfrm>
              <a:off x="8549640" y="1298448"/>
              <a:ext cx="3383280" cy="199339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 (GPT)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abundante en el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citoplasma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hepatocito.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46" name="Forma 45"/>
            <p:cNvSpPr/>
            <p:nvPr/>
          </p:nvSpPr>
          <p:spPr>
            <a:xfrm>
              <a:off x="8677656" y="1097280"/>
              <a:ext cx="1329107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CITOPLASMA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7" name="Caja AST ubic"/>
          <p:cNvGrpSpPr/>
          <p:nvPr/>
        </p:nvGrpSpPr>
        <p:grpSpPr>
          <a:xfrm>
            <a:off x="8549640" y="3520440"/>
            <a:ext cx="3383280" cy="2926080"/>
            <a:chOff x="8549640" y="3520440"/>
            <a:chExt cx="3383280" cy="2926080"/>
          </a:xfrm>
        </p:grpSpPr>
        <p:sp>
          <p:nvSpPr>
            <p:cNvPr id="48" name="Forma 47"/>
            <p:cNvSpPr/>
            <p:nvPr/>
          </p:nvSpPr>
          <p:spPr>
            <a:xfrm>
              <a:off x="8549640" y="372160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 (GOT)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principalmente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mitocondrial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(también citoplasmática, en menor proporción).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49" name="Forma 48"/>
            <p:cNvSpPr/>
            <p:nvPr/>
          </p:nvSpPr>
          <p:spPr>
            <a:xfrm>
              <a:off x="8677656" y="3520440"/>
              <a:ext cx="1469833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MITOCONDRIA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HEPATOCITO: DÓNDE ESTÁN LA ALT Y LA AST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5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 animBg="1"/>
      <p:bldP spid="1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Sinusoide"/>
          <p:cNvGrpSpPr/>
          <p:nvPr/>
        </p:nvGrpSpPr>
        <p:grpSpPr>
          <a:xfrm>
            <a:off x="274320" y="5257800"/>
            <a:ext cx="7772400" cy="868680"/>
            <a:chOff x="274320" y="5257800"/>
            <a:chExt cx="7772400" cy="868680"/>
          </a:xfrm>
        </p:grpSpPr>
        <p:sp>
          <p:nvSpPr>
            <p:cNvPr id="6" name="Forma 5"/>
            <p:cNvSpPr/>
            <p:nvPr/>
          </p:nvSpPr>
          <p:spPr>
            <a:xfrm>
              <a:off x="274320" y="5257800"/>
              <a:ext cx="7772400" cy="8686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404622" y="5414162"/>
              <a:ext cx="7511796" cy="55595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8" name="Eritrocito"/>
            <p:cNvSpPr/>
            <p:nvPr/>
          </p:nvSpPr>
          <p:spPr>
            <a:xfrm>
              <a:off x="986010" y="5680810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9" name="Eritrocito_2"/>
            <p:cNvSpPr/>
            <p:nvPr/>
          </p:nvSpPr>
          <p:spPr>
            <a:xfrm>
              <a:off x="1741183" y="5493402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0" name="Eritrocito_3"/>
            <p:cNvSpPr/>
            <p:nvPr/>
          </p:nvSpPr>
          <p:spPr>
            <a:xfrm>
              <a:off x="3288290" y="5634801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1" name="Eritrocito_4"/>
            <p:cNvSpPr/>
            <p:nvPr/>
          </p:nvSpPr>
          <p:spPr>
            <a:xfrm>
              <a:off x="4389651" y="5541888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2" name="Eritrocito_5"/>
            <p:cNvSpPr/>
            <p:nvPr/>
          </p:nvSpPr>
          <p:spPr>
            <a:xfrm>
              <a:off x="5539131" y="5606749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3" name="Eritrocito_6"/>
            <p:cNvSpPr/>
            <p:nvPr/>
          </p:nvSpPr>
          <p:spPr>
            <a:xfrm>
              <a:off x="6707034" y="5509366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sp>
        <p:nvSpPr>
          <p:cNvPr id="14" name="!!Rótulo sangre"/>
          <p:cNvSpPr txBox="1"/>
          <p:nvPr/>
        </p:nvSpPr>
        <p:spPr>
          <a:xfrm>
            <a:off x="411480" y="61722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sangre (sinusoide)</a:t>
            </a:r>
            <a:endParaRPr lang="es-AR" sz="1200" dirty="0">
              <a:latin typeface="Calibri"/>
            </a:endParaRPr>
          </a:p>
        </p:txBody>
      </p:sp>
      <p:sp>
        <p:nvSpPr>
          <p:cNvPr id="15" name="!!Hepatocito"/>
          <p:cNvSpPr/>
          <p:nvPr/>
        </p:nvSpPr>
        <p:spPr>
          <a:xfrm>
            <a:off x="1097280" y="1051560"/>
            <a:ext cx="5852160" cy="4023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0" y="120"/>
                </a:moveTo>
                <a:cubicBezTo>
                  <a:pt x="124" y="76"/>
                  <a:pt x="423" y="30"/>
                  <a:pt x="500" y="30"/>
                </a:cubicBezTo>
                <a:cubicBezTo>
                  <a:pt x="577" y="29"/>
                  <a:pt x="875" y="65"/>
                  <a:pt x="920" y="110"/>
                </a:cubicBezTo>
                <a:cubicBezTo>
                  <a:pt x="964" y="154"/>
                  <a:pt x="991" y="444"/>
                  <a:pt x="990" y="520"/>
                </a:cubicBezTo>
                <a:cubicBezTo>
                  <a:pt x="988" y="595"/>
                  <a:pt x="944" y="886"/>
                  <a:pt x="900" y="930"/>
                </a:cubicBezTo>
                <a:cubicBezTo>
                  <a:pt x="855" y="973"/>
                  <a:pt x="574" y="990"/>
                  <a:pt x="500" y="990"/>
                </a:cubicBezTo>
                <a:cubicBezTo>
                  <a:pt x="425" y="989"/>
                  <a:pt x="134" y="964"/>
                  <a:pt x="90" y="920"/>
                </a:cubicBezTo>
                <a:cubicBezTo>
                  <a:pt x="45" y="875"/>
                  <a:pt x="15" y="573"/>
                  <a:pt x="15" y="500"/>
                </a:cubicBezTo>
                <a:cubicBezTo>
                  <a:pt x="14" y="426"/>
                  <a:pt x="35" y="163"/>
                  <a:pt x="80" y="120"/>
                </a:cubicBezTo>
                <a:close/>
              </a:path>
            </a:pathLst>
          </a:custGeom>
          <a:gradFill rotWithShape="1">
            <a:gsLst>
              <a:gs pos="0">
                <a:srgbClr val="F2CABE"/>
              </a:gs>
              <a:gs pos="55000">
                <a:srgbClr val="E8A08A"/>
              </a:gs>
              <a:gs pos="100000">
                <a:srgbClr val="AE7867"/>
              </a:gs>
            </a:gsLst>
            <a:path path="circle">
              <a:fillToRect l="32000" t="28000" r="68000" b="72000"/>
            </a:path>
          </a:gradFill>
          <a:ln w="31750" cap="rnd">
            <a:solidFill>
              <a:srgbClr val="68483E"/>
            </a:solidFill>
            <a:prstDash val="dash"/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grpSp>
        <p:nvGrpSpPr>
          <p:cNvPr id="16" name="!!Núcleo hepatocito"/>
          <p:cNvGrpSpPr/>
          <p:nvPr/>
        </p:nvGrpSpPr>
        <p:grpSpPr>
          <a:xfrm>
            <a:off x="3566160" y="2331720"/>
            <a:ext cx="1188720" cy="1069848"/>
            <a:chOff x="3566160" y="2331720"/>
            <a:chExt cx="1188720" cy="1069848"/>
          </a:xfrm>
        </p:grpSpPr>
        <p:sp>
          <p:nvSpPr>
            <p:cNvPr id="17" name="Forma 16"/>
            <p:cNvSpPr/>
            <p:nvPr/>
          </p:nvSpPr>
          <p:spPr>
            <a:xfrm>
              <a:off x="3566160" y="2331720"/>
              <a:ext cx="1188720" cy="1069848"/>
            </a:xfrm>
            <a:prstGeom prst="ellipse">
              <a:avLst/>
            </a:prstGeom>
            <a:gradFill rotWithShape="1">
              <a:gsLst>
                <a:gs pos="0">
                  <a:srgbClr val="B7A4CE"/>
                </a:gs>
                <a:gs pos="55000">
                  <a:srgbClr val="7D5BA6"/>
                </a:gs>
                <a:gs pos="100000">
                  <a:srgbClr val="573F74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4B3663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4184294" y="2688336"/>
              <a:ext cx="261518" cy="237744"/>
            </a:xfrm>
            <a:prstGeom prst="ellipse">
              <a:avLst/>
            </a:prstGeom>
            <a:solidFill>
              <a:srgbClr val="513B6B"/>
            </a:solidFill>
            <a:ln>
              <a:noFill/>
            </a:ln>
          </p:spPr>
        </p:sp>
      </p:grpSp>
      <p:sp>
        <p:nvSpPr>
          <p:cNvPr id="19" name="!!Canalículo biliar"/>
          <p:cNvSpPr/>
          <p:nvPr/>
        </p:nvSpPr>
        <p:spPr>
          <a:xfrm>
            <a:off x="6492240" y="1828800"/>
            <a:ext cx="320040" cy="21945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9DFBF"/>
              </a:gs>
              <a:gs pos="100000">
                <a:srgbClr val="27AE60"/>
              </a:gs>
            </a:gsLst>
            <a:lin ang="0" scaled="0"/>
          </a:gradFill>
          <a:ln w="15875" cap="rnd">
            <a:solidFill>
              <a:srgbClr val="1E8449"/>
            </a:solidFill>
            <a:round/>
          </a:ln>
        </p:spPr>
      </p:sp>
      <p:grpSp>
        <p:nvGrpSpPr>
          <p:cNvPr id="20" name="!!Mitocondria 1"/>
          <p:cNvGrpSpPr/>
          <p:nvPr/>
        </p:nvGrpSpPr>
        <p:grpSpPr>
          <a:xfrm>
            <a:off x="1554480" y="1600200"/>
            <a:ext cx="1234440" cy="617220"/>
            <a:chOff x="1554480" y="1600200"/>
            <a:chExt cx="1234440" cy="617220"/>
          </a:xfrm>
        </p:grpSpPr>
        <p:sp>
          <p:nvSpPr>
            <p:cNvPr id="21" name="Forma 20"/>
            <p:cNvSpPr/>
            <p:nvPr/>
          </p:nvSpPr>
          <p:spPr>
            <a:xfrm>
              <a:off x="1554480" y="160020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1640891" y="168661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1640891" y="168661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24" name="!!Mitocondria 2"/>
          <p:cNvGrpSpPr/>
          <p:nvPr/>
        </p:nvGrpSpPr>
        <p:grpSpPr>
          <a:xfrm>
            <a:off x="4937760" y="1508760"/>
            <a:ext cx="1234440" cy="617220"/>
            <a:chOff x="4937760" y="1508760"/>
            <a:chExt cx="1234440" cy="617220"/>
          </a:xfrm>
        </p:grpSpPr>
        <p:sp>
          <p:nvSpPr>
            <p:cNvPr id="25" name="Forma 24"/>
            <p:cNvSpPr/>
            <p:nvPr/>
          </p:nvSpPr>
          <p:spPr>
            <a:xfrm>
              <a:off x="4937760" y="150876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5024171" y="159517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5024171" y="159517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28" name="!!Mitocondria 3"/>
          <p:cNvGrpSpPr/>
          <p:nvPr/>
        </p:nvGrpSpPr>
        <p:grpSpPr>
          <a:xfrm>
            <a:off x="1645920" y="3611880"/>
            <a:ext cx="1234440" cy="617220"/>
            <a:chOff x="1645920" y="3611880"/>
            <a:chExt cx="1234440" cy="617220"/>
          </a:xfrm>
        </p:grpSpPr>
        <p:sp>
          <p:nvSpPr>
            <p:cNvPr id="29" name="Forma 28"/>
            <p:cNvSpPr/>
            <p:nvPr/>
          </p:nvSpPr>
          <p:spPr>
            <a:xfrm>
              <a:off x="1645920" y="361188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1732331" y="369829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1732331" y="369829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32" name="!!Mitocondria 4"/>
          <p:cNvGrpSpPr/>
          <p:nvPr/>
        </p:nvGrpSpPr>
        <p:grpSpPr>
          <a:xfrm>
            <a:off x="5029200" y="3611880"/>
            <a:ext cx="1234440" cy="617220"/>
            <a:chOff x="5029200" y="3611880"/>
            <a:chExt cx="1234440" cy="617220"/>
          </a:xfrm>
        </p:grpSpPr>
        <p:sp>
          <p:nvSpPr>
            <p:cNvPr id="33" name="Forma 32"/>
            <p:cNvSpPr/>
            <p:nvPr/>
          </p:nvSpPr>
          <p:spPr>
            <a:xfrm>
              <a:off x="5029200" y="361188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5115611" y="369829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>
              <a:off x="5115611" y="369829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sp>
        <p:nvSpPr>
          <p:cNvPr id="36" name="!!ALT 1"/>
          <p:cNvSpPr/>
          <p:nvPr/>
        </p:nvSpPr>
        <p:spPr>
          <a:xfrm>
            <a:off x="2651760" y="164592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7" name="!!ALT 2"/>
          <p:cNvSpPr/>
          <p:nvPr/>
        </p:nvSpPr>
        <p:spPr>
          <a:xfrm>
            <a:off x="219456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8" name="!!ALT 3"/>
          <p:cNvSpPr/>
          <p:nvPr/>
        </p:nvSpPr>
        <p:spPr>
          <a:xfrm>
            <a:off x="3840480" y="548640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9" name="!!ALT 4"/>
          <p:cNvSpPr/>
          <p:nvPr/>
        </p:nvSpPr>
        <p:spPr>
          <a:xfrm>
            <a:off x="557784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40" name="!!ALT 5"/>
          <p:cNvSpPr/>
          <p:nvPr/>
        </p:nvSpPr>
        <p:spPr>
          <a:xfrm>
            <a:off x="4754880" y="237744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41" name="!!AST 1"/>
          <p:cNvSpPr/>
          <p:nvPr/>
        </p:nvSpPr>
        <p:spPr>
          <a:xfrm>
            <a:off x="1874520" y="169164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sp>
        <p:nvSpPr>
          <p:cNvPr id="42" name="!!AST 2"/>
          <p:cNvSpPr/>
          <p:nvPr/>
        </p:nvSpPr>
        <p:spPr>
          <a:xfrm>
            <a:off x="5257800" y="160020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sp>
        <p:nvSpPr>
          <p:cNvPr id="43" name="!!AST 3"/>
          <p:cNvSpPr/>
          <p:nvPr/>
        </p:nvSpPr>
        <p:spPr>
          <a:xfrm>
            <a:off x="1965960" y="370332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grpSp>
        <p:nvGrpSpPr>
          <p:cNvPr id="44" name="Caja HP2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45" name="Forma 44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Una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lesión de la membrana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plasmática basta para que salga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(no requiere necrosis completa): por eso se eleva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precozmente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la hepatitis.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6" name="Forma 45"/>
            <p:cNvSpPr/>
            <p:nvPr/>
          </p:nvSpPr>
          <p:spPr>
            <a:xfrm>
              <a:off x="8677656" y="1097280"/>
              <a:ext cx="1598786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PERMEABILIDAD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181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6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DAÑO DE MEMBRANA: SALE LA ALT</a:t>
            </a:r>
            <a:endParaRPr lang="es-AR" sz="26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" dur="30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3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Sinusoide"/>
          <p:cNvGrpSpPr/>
          <p:nvPr/>
        </p:nvGrpSpPr>
        <p:grpSpPr>
          <a:xfrm>
            <a:off x="274320" y="5257800"/>
            <a:ext cx="7772400" cy="868680"/>
            <a:chOff x="274320" y="5257800"/>
            <a:chExt cx="7772400" cy="868680"/>
          </a:xfrm>
        </p:grpSpPr>
        <p:sp>
          <p:nvSpPr>
            <p:cNvPr id="6" name="Forma 5"/>
            <p:cNvSpPr/>
            <p:nvPr/>
          </p:nvSpPr>
          <p:spPr>
            <a:xfrm>
              <a:off x="274320" y="5257800"/>
              <a:ext cx="7772400" cy="8686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404622" y="5414162"/>
              <a:ext cx="7511796" cy="55595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  <p:sp>
          <p:nvSpPr>
            <p:cNvPr id="8" name="Eritrocito"/>
            <p:cNvSpPr/>
            <p:nvPr/>
          </p:nvSpPr>
          <p:spPr>
            <a:xfrm>
              <a:off x="986010" y="5680810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9" name="Eritrocito_2"/>
            <p:cNvSpPr/>
            <p:nvPr/>
          </p:nvSpPr>
          <p:spPr>
            <a:xfrm>
              <a:off x="1741183" y="5493402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0" name="Eritrocito_3"/>
            <p:cNvSpPr/>
            <p:nvPr/>
          </p:nvSpPr>
          <p:spPr>
            <a:xfrm>
              <a:off x="3288290" y="5634801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1" name="Eritrocito_4"/>
            <p:cNvSpPr/>
            <p:nvPr/>
          </p:nvSpPr>
          <p:spPr>
            <a:xfrm>
              <a:off x="4389651" y="5541888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2" name="Eritrocito_5"/>
            <p:cNvSpPr/>
            <p:nvPr/>
          </p:nvSpPr>
          <p:spPr>
            <a:xfrm>
              <a:off x="5539131" y="5606749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  <p:sp>
          <p:nvSpPr>
            <p:cNvPr id="13" name="Eritrocito_6"/>
            <p:cNvSpPr/>
            <p:nvPr/>
          </p:nvSpPr>
          <p:spPr>
            <a:xfrm>
              <a:off x="6707034" y="5509366"/>
              <a:ext cx="364846" cy="364846"/>
            </a:xfrm>
            <a:prstGeom prst="ellipse">
              <a:avLst/>
            </a:prstGeom>
            <a:gradFill rotWithShape="1">
              <a:gsLst>
                <a:gs pos="0">
                  <a:srgbClr val="E06A5F"/>
                </a:gs>
                <a:gs pos="38000">
                  <a:srgbClr val="EF8C80"/>
                </a:gs>
                <a:gs pos="72000">
                  <a:srgbClr val="C9372C"/>
                </a:gs>
                <a:gs pos="100000">
                  <a:srgbClr val="7B1F17"/>
                </a:gs>
              </a:gsLst>
              <a:path path="circle">
                <a:fillToRect l="50000" t="50000" r="50000" b="50000"/>
              </a:path>
            </a:gradFill>
            <a:ln w="9525" cap="rnd">
              <a:solidFill>
                <a:srgbClr val="6E1A12"/>
              </a:solidFill>
              <a:round/>
            </a:ln>
          </p:spPr>
        </p:sp>
      </p:grpSp>
      <p:sp>
        <p:nvSpPr>
          <p:cNvPr id="14" name="!!Rótulo sangre"/>
          <p:cNvSpPr txBox="1"/>
          <p:nvPr/>
        </p:nvSpPr>
        <p:spPr>
          <a:xfrm>
            <a:off x="411480" y="61722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sangre (sinusoide)</a:t>
            </a:r>
            <a:endParaRPr lang="es-AR" sz="1200" dirty="0">
              <a:latin typeface="Calibri"/>
            </a:endParaRPr>
          </a:p>
        </p:txBody>
      </p:sp>
      <p:sp>
        <p:nvSpPr>
          <p:cNvPr id="15" name="!!Hepatocito"/>
          <p:cNvSpPr/>
          <p:nvPr/>
        </p:nvSpPr>
        <p:spPr>
          <a:xfrm>
            <a:off x="1097280" y="1051560"/>
            <a:ext cx="5852160" cy="4023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0" y="120"/>
                </a:moveTo>
                <a:cubicBezTo>
                  <a:pt x="124" y="76"/>
                  <a:pt x="423" y="30"/>
                  <a:pt x="500" y="30"/>
                </a:cubicBezTo>
                <a:cubicBezTo>
                  <a:pt x="577" y="29"/>
                  <a:pt x="875" y="65"/>
                  <a:pt x="920" y="110"/>
                </a:cubicBezTo>
                <a:cubicBezTo>
                  <a:pt x="964" y="154"/>
                  <a:pt x="991" y="444"/>
                  <a:pt x="990" y="520"/>
                </a:cubicBezTo>
                <a:cubicBezTo>
                  <a:pt x="988" y="595"/>
                  <a:pt x="944" y="886"/>
                  <a:pt x="900" y="930"/>
                </a:cubicBezTo>
                <a:cubicBezTo>
                  <a:pt x="855" y="973"/>
                  <a:pt x="574" y="990"/>
                  <a:pt x="500" y="990"/>
                </a:cubicBezTo>
                <a:cubicBezTo>
                  <a:pt x="425" y="989"/>
                  <a:pt x="134" y="964"/>
                  <a:pt x="90" y="920"/>
                </a:cubicBezTo>
                <a:cubicBezTo>
                  <a:pt x="45" y="875"/>
                  <a:pt x="15" y="573"/>
                  <a:pt x="15" y="500"/>
                </a:cubicBezTo>
                <a:cubicBezTo>
                  <a:pt x="14" y="426"/>
                  <a:pt x="35" y="163"/>
                  <a:pt x="80" y="120"/>
                </a:cubicBezTo>
                <a:close/>
              </a:path>
            </a:pathLst>
          </a:custGeom>
          <a:gradFill rotWithShape="1">
            <a:gsLst>
              <a:gs pos="0">
                <a:srgbClr val="C8B6BF"/>
              </a:gs>
              <a:gs pos="55000">
                <a:srgbClr val="9B7B8B"/>
              </a:gs>
              <a:gs pos="100000">
                <a:srgbClr val="745C68"/>
              </a:gs>
            </a:gsLst>
            <a:path path="circle">
              <a:fillToRect l="32000" t="28000" r="68000" b="72000"/>
            </a:path>
          </a:gradFill>
          <a:ln w="31750" cap="rnd">
            <a:solidFill>
              <a:srgbClr val="45373E"/>
            </a:solidFill>
            <a:prstDash val="dash"/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</p:sp>
      <p:grpSp>
        <p:nvGrpSpPr>
          <p:cNvPr id="16" name="!!Núcleo hepatocito"/>
          <p:cNvGrpSpPr/>
          <p:nvPr/>
        </p:nvGrpSpPr>
        <p:grpSpPr>
          <a:xfrm>
            <a:off x="3566160" y="2331720"/>
            <a:ext cx="1188720" cy="1069848"/>
            <a:chOff x="3566160" y="2331720"/>
            <a:chExt cx="1188720" cy="1069848"/>
          </a:xfrm>
        </p:grpSpPr>
        <p:sp>
          <p:nvSpPr>
            <p:cNvPr id="17" name="Forma 16"/>
            <p:cNvSpPr/>
            <p:nvPr/>
          </p:nvSpPr>
          <p:spPr>
            <a:xfrm>
              <a:off x="3566160" y="2331720"/>
              <a:ext cx="1188720" cy="1069848"/>
            </a:xfrm>
            <a:prstGeom prst="ellipse">
              <a:avLst/>
            </a:prstGeom>
            <a:gradFill rotWithShape="1">
              <a:gsLst>
                <a:gs pos="0">
                  <a:srgbClr val="B7A4CE"/>
                </a:gs>
                <a:gs pos="55000">
                  <a:srgbClr val="7D5BA6"/>
                </a:gs>
                <a:gs pos="100000">
                  <a:srgbClr val="573F74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4B3663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4184294" y="2688336"/>
              <a:ext cx="261518" cy="237744"/>
            </a:xfrm>
            <a:prstGeom prst="ellipse">
              <a:avLst/>
            </a:prstGeom>
            <a:solidFill>
              <a:srgbClr val="513B6B"/>
            </a:solidFill>
            <a:ln>
              <a:noFill/>
            </a:ln>
          </p:spPr>
        </p:sp>
      </p:grpSp>
      <p:sp>
        <p:nvSpPr>
          <p:cNvPr id="19" name="!!Canalículo biliar"/>
          <p:cNvSpPr/>
          <p:nvPr/>
        </p:nvSpPr>
        <p:spPr>
          <a:xfrm>
            <a:off x="6492240" y="1828800"/>
            <a:ext cx="320040" cy="21945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A9DFBF"/>
              </a:gs>
              <a:gs pos="100000">
                <a:srgbClr val="27AE60"/>
              </a:gs>
            </a:gsLst>
            <a:lin ang="0" scaled="0"/>
          </a:gradFill>
          <a:ln w="15875" cap="rnd">
            <a:solidFill>
              <a:srgbClr val="1E8449"/>
            </a:solidFill>
            <a:round/>
          </a:ln>
        </p:spPr>
      </p:sp>
      <p:grpSp>
        <p:nvGrpSpPr>
          <p:cNvPr id="20" name="!!Mitocondria 1"/>
          <p:cNvGrpSpPr/>
          <p:nvPr/>
        </p:nvGrpSpPr>
        <p:grpSpPr>
          <a:xfrm>
            <a:off x="1554480" y="1600200"/>
            <a:ext cx="1234440" cy="617220"/>
            <a:chOff x="1554480" y="1600200"/>
            <a:chExt cx="1234440" cy="617220"/>
          </a:xfrm>
        </p:grpSpPr>
        <p:sp>
          <p:nvSpPr>
            <p:cNvPr id="21" name="Forma 20"/>
            <p:cNvSpPr/>
            <p:nvPr/>
          </p:nvSpPr>
          <p:spPr>
            <a:xfrm>
              <a:off x="1554480" y="160020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1640891" y="168661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1640891" y="168661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24" name="!!Mitocondria 2"/>
          <p:cNvGrpSpPr/>
          <p:nvPr/>
        </p:nvGrpSpPr>
        <p:grpSpPr>
          <a:xfrm>
            <a:off x="4937760" y="1508760"/>
            <a:ext cx="1234440" cy="617220"/>
            <a:chOff x="4937760" y="1508760"/>
            <a:chExt cx="1234440" cy="617220"/>
          </a:xfrm>
        </p:grpSpPr>
        <p:sp>
          <p:nvSpPr>
            <p:cNvPr id="25" name="Forma 24"/>
            <p:cNvSpPr/>
            <p:nvPr/>
          </p:nvSpPr>
          <p:spPr>
            <a:xfrm>
              <a:off x="4937760" y="150876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26" name="Forma 25"/>
            <p:cNvSpPr/>
            <p:nvPr/>
          </p:nvSpPr>
          <p:spPr>
            <a:xfrm>
              <a:off x="5024171" y="159517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5024171" y="159517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28" name="!!Mitocondria 3"/>
          <p:cNvGrpSpPr/>
          <p:nvPr/>
        </p:nvGrpSpPr>
        <p:grpSpPr>
          <a:xfrm>
            <a:off x="1645920" y="3611880"/>
            <a:ext cx="1234440" cy="617220"/>
            <a:chOff x="1645920" y="3611880"/>
            <a:chExt cx="1234440" cy="617220"/>
          </a:xfrm>
        </p:grpSpPr>
        <p:sp>
          <p:nvSpPr>
            <p:cNvPr id="29" name="Forma 28"/>
            <p:cNvSpPr/>
            <p:nvPr/>
          </p:nvSpPr>
          <p:spPr>
            <a:xfrm>
              <a:off x="1645920" y="361188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1732331" y="369829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1732331" y="369829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grpSp>
        <p:nvGrpSpPr>
          <p:cNvPr id="32" name="!!Mitocondria 4"/>
          <p:cNvGrpSpPr/>
          <p:nvPr/>
        </p:nvGrpSpPr>
        <p:grpSpPr>
          <a:xfrm>
            <a:off x="5029200" y="3611880"/>
            <a:ext cx="1234440" cy="617220"/>
            <a:chOff x="5029200" y="3611880"/>
            <a:chExt cx="1234440" cy="617220"/>
          </a:xfrm>
        </p:grpSpPr>
        <p:sp>
          <p:nvSpPr>
            <p:cNvPr id="33" name="Forma 32"/>
            <p:cNvSpPr/>
            <p:nvPr/>
          </p:nvSpPr>
          <p:spPr>
            <a:xfrm>
              <a:off x="5029200" y="3611880"/>
              <a:ext cx="1234440" cy="617220"/>
            </a:xfrm>
            <a:prstGeom prst="ellipse">
              <a:avLst/>
            </a:prstGeom>
            <a:gradFill rotWithShape="1">
              <a:gsLst>
                <a:gs pos="0">
                  <a:srgbClr val="F3BD7E"/>
                </a:gs>
                <a:gs pos="55000">
                  <a:srgbClr val="EE9A3A"/>
                </a:gs>
                <a:gs pos="100000">
                  <a:srgbClr val="A66B28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774D1D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5115611" y="3698291"/>
              <a:ext cx="1061618" cy="444398"/>
            </a:xfrm>
            <a:prstGeom prst="ellipse">
              <a:avLst/>
            </a:prstGeom>
            <a:solidFill>
              <a:srgbClr val="F8D8B4"/>
            </a:solidFill>
            <a:ln w="9525" cap="rnd">
              <a:solidFill>
                <a:srgbClr val="B2732B"/>
              </a:solidFill>
              <a:round/>
            </a:ln>
          </p:spPr>
        </p:sp>
        <p:sp>
          <p:nvSpPr>
            <p:cNvPr id="35" name="Forma 34"/>
            <p:cNvSpPr/>
            <p:nvPr/>
          </p:nvSpPr>
          <p:spPr>
            <a:xfrm>
              <a:off x="5115611" y="3698291"/>
              <a:ext cx="1061618" cy="444398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90" y="200"/>
                  </a:moveTo>
                  <a:cubicBezTo>
                    <a:pt x="95" y="260"/>
                    <a:pt x="136" y="800"/>
                    <a:pt x="148" y="800"/>
                  </a:cubicBezTo>
                  <a:cubicBezTo>
                    <a:pt x="160" y="800"/>
                    <a:pt x="195" y="200"/>
                    <a:pt x="207" y="200"/>
                  </a:cubicBezTo>
                  <a:cubicBezTo>
                    <a:pt x="218" y="200"/>
                    <a:pt x="254" y="800"/>
                    <a:pt x="265" y="800"/>
                  </a:cubicBezTo>
                  <a:cubicBezTo>
                    <a:pt x="277" y="800"/>
                    <a:pt x="312" y="200"/>
                    <a:pt x="324" y="200"/>
                  </a:cubicBezTo>
                  <a:cubicBezTo>
                    <a:pt x="336" y="200"/>
                    <a:pt x="371" y="800"/>
                    <a:pt x="382" y="800"/>
                  </a:cubicBezTo>
                  <a:cubicBezTo>
                    <a:pt x="394" y="800"/>
                    <a:pt x="429" y="200"/>
                    <a:pt x="441" y="200"/>
                  </a:cubicBezTo>
                  <a:cubicBezTo>
                    <a:pt x="453" y="200"/>
                    <a:pt x="488" y="800"/>
                    <a:pt x="500" y="800"/>
                  </a:cubicBezTo>
                  <a:cubicBezTo>
                    <a:pt x="511" y="800"/>
                    <a:pt x="546" y="200"/>
                    <a:pt x="558" y="200"/>
                  </a:cubicBezTo>
                  <a:cubicBezTo>
                    <a:pt x="570" y="200"/>
                    <a:pt x="605" y="800"/>
                    <a:pt x="617" y="800"/>
                  </a:cubicBezTo>
                  <a:cubicBezTo>
                    <a:pt x="628" y="800"/>
                    <a:pt x="664" y="200"/>
                    <a:pt x="675" y="200"/>
                  </a:cubicBezTo>
                  <a:cubicBezTo>
                    <a:pt x="687" y="200"/>
                    <a:pt x="722" y="800"/>
                    <a:pt x="734" y="800"/>
                  </a:cubicBezTo>
                  <a:cubicBezTo>
                    <a:pt x="746" y="800"/>
                    <a:pt x="781" y="200"/>
                    <a:pt x="792" y="200"/>
                  </a:cubicBezTo>
                  <a:cubicBezTo>
                    <a:pt x="804" y="200"/>
                    <a:pt x="839" y="800"/>
                    <a:pt x="851" y="800"/>
                  </a:cubicBezTo>
                  <a:cubicBezTo>
                    <a:pt x="863" y="800"/>
                    <a:pt x="904" y="260"/>
                    <a:pt x="910" y="200"/>
                  </a:cubicBezTo>
                </a:path>
              </a:pathLst>
            </a:custGeom>
            <a:noFill/>
            <a:ln w="15875" cap="rnd">
              <a:solidFill>
                <a:srgbClr val="9A6425"/>
              </a:solidFill>
              <a:round/>
            </a:ln>
          </p:spPr>
        </p:sp>
      </p:grpSp>
      <p:sp>
        <p:nvSpPr>
          <p:cNvPr id="36" name="!!ALT 1"/>
          <p:cNvSpPr/>
          <p:nvPr/>
        </p:nvSpPr>
        <p:spPr>
          <a:xfrm>
            <a:off x="109728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7" name="!!ALT 2"/>
          <p:cNvSpPr/>
          <p:nvPr/>
        </p:nvSpPr>
        <p:spPr>
          <a:xfrm>
            <a:off x="219456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8" name="!!ALT 3"/>
          <p:cNvSpPr/>
          <p:nvPr/>
        </p:nvSpPr>
        <p:spPr>
          <a:xfrm>
            <a:off x="3840480" y="548640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39" name="!!ALT 4"/>
          <p:cNvSpPr/>
          <p:nvPr/>
        </p:nvSpPr>
        <p:spPr>
          <a:xfrm>
            <a:off x="557784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40" name="!!ALT 5"/>
          <p:cNvSpPr/>
          <p:nvPr/>
        </p:nvSpPr>
        <p:spPr>
          <a:xfrm>
            <a:off x="667512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7B0D6"/>
              </a:gs>
              <a:gs pos="55000">
                <a:srgbClr val="2E86C1"/>
              </a:gs>
              <a:gs pos="100000">
                <a:srgbClr val="246B9A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7436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lang="es-AR" sz="1050" dirty="0">
              <a:latin typeface="Calibri"/>
            </a:endParaRPr>
          </a:p>
        </p:txBody>
      </p:sp>
      <p:sp>
        <p:nvSpPr>
          <p:cNvPr id="41" name="!!AST 1"/>
          <p:cNvSpPr/>
          <p:nvPr/>
        </p:nvSpPr>
        <p:spPr>
          <a:xfrm>
            <a:off x="292608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sp>
        <p:nvSpPr>
          <p:cNvPr id="42" name="!!AST 2"/>
          <p:cNvSpPr/>
          <p:nvPr/>
        </p:nvSpPr>
        <p:spPr>
          <a:xfrm>
            <a:off x="466344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sp>
        <p:nvSpPr>
          <p:cNvPr id="43" name="!!AST 3"/>
          <p:cNvSpPr/>
          <p:nvPr/>
        </p:nvSpPr>
        <p:spPr>
          <a:xfrm>
            <a:off x="7223760" y="5440680"/>
            <a:ext cx="621792" cy="32918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7E75"/>
              </a:gs>
              <a:gs pos="55000">
                <a:srgbClr val="C0392B"/>
              </a:gs>
              <a:gs pos="100000">
                <a:srgbClr val="992D2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1C15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endParaRPr lang="es-AR" sz="1050" dirty="0">
              <a:latin typeface="Calibri"/>
            </a:endParaRPr>
          </a:p>
        </p:txBody>
      </p:sp>
      <p:grpSp>
        <p:nvGrpSpPr>
          <p:cNvPr id="44" name="Caja HP3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45" name="Forma 44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necrosis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se destruyen las organelas: sale también la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 mitocondrial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 Ejemplos: cirrosis, hepatocarcinoma, hepatitis alcohólica.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46" name="Forma 45"/>
            <p:cNvSpPr/>
            <p:nvPr/>
          </p:nvSpPr>
          <p:spPr>
            <a:xfrm>
              <a:off x="8677656" y="1097280"/>
              <a:ext cx="1076825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NECROSIS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NECROSIS: SALE TAMBIÉN LA AST MITOCONDRIAL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" dur="30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30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</p:bld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5" name="Reacción ALT"/>
          <p:cNvGrpSpPr/>
          <p:nvPr/>
        </p:nvGrpSpPr>
        <p:grpSpPr>
          <a:xfrm>
            <a:off x="457200" y="1371600"/>
            <a:ext cx="3703320" cy="1920240"/>
            <a:chOff x="457200" y="1371600"/>
            <a:chExt cx="3703320" cy="1920240"/>
          </a:xfrm>
        </p:grpSpPr>
        <p:sp>
          <p:nvSpPr>
            <p:cNvPr id="6" name="Ficha Alanina"/>
            <p:cNvSpPr/>
            <p:nvPr/>
          </p:nvSpPr>
          <p:spPr>
            <a:xfrm>
              <a:off x="457200" y="1371600"/>
              <a:ext cx="146304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2CA97"/>
                </a:gs>
                <a:gs pos="55000">
                  <a:srgbClr val="27AE60"/>
                </a:gs>
                <a:gs pos="100000">
                  <a:srgbClr val="1F8B4C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3573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Alanina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 txBox="1"/>
            <p:nvPr/>
          </p:nvSpPr>
          <p:spPr>
            <a:xfrm>
              <a:off x="1965960" y="1371600"/>
              <a:ext cx="365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8" name="Ficha α-cetoglutarato"/>
            <p:cNvSpPr/>
            <p:nvPr/>
          </p:nvSpPr>
          <p:spPr>
            <a:xfrm>
              <a:off x="2331720" y="1371600"/>
              <a:ext cx="182880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CB83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α-cetoglutarato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lecha 8_2"/>
            <p:cNvSpPr/>
            <p:nvPr/>
          </p:nvSpPr>
          <p:spPr>
            <a:xfrm>
              <a:off x="1463040" y="1920240"/>
              <a:ext cx="9144" cy="685800"/>
            </a:xfrm>
            <a:custGeom>
              <a:avLst/>
              <a:gdLst/>
              <a:ahLst/>
              <a:cxnLst/>
              <a:rect l="0" t="0" r="r" b="b"/>
              <a:pathLst>
                <a:path w="10" h="750" fill="none">
                  <a:moveTo>
                    <a:pt x="0" y="0"/>
                  </a:moveTo>
                  <a:lnTo>
                    <a:pt x="0" y="75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0" name="ALT forma"/>
            <p:cNvSpPr/>
            <p:nvPr/>
          </p:nvSpPr>
          <p:spPr>
            <a:xfrm>
              <a:off x="1828800" y="1965960"/>
              <a:ext cx="1188720" cy="8229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BCDC"/>
                </a:gs>
                <a:gs pos="55000">
                  <a:srgbClr val="2E86C1"/>
                </a:gs>
                <a:gs pos="100000">
                  <a:srgbClr val="226490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17436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1" name="Ficha Piruvato"/>
            <p:cNvSpPr/>
            <p:nvPr/>
          </p:nvSpPr>
          <p:spPr>
            <a:xfrm>
              <a:off x="457200" y="2834640"/>
              <a:ext cx="146304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Piruvato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2" name="Forma 12"/>
            <p:cNvSpPr txBox="1"/>
            <p:nvPr/>
          </p:nvSpPr>
          <p:spPr>
            <a:xfrm>
              <a:off x="1965960" y="2834640"/>
              <a:ext cx="365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3" name="Ficha Glutamato"/>
            <p:cNvSpPr/>
            <p:nvPr/>
          </p:nvSpPr>
          <p:spPr>
            <a:xfrm>
              <a:off x="2331720" y="2834640"/>
              <a:ext cx="182880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7C1AF"/>
                </a:gs>
                <a:gs pos="55000">
                  <a:srgbClr val="16A085"/>
                </a:gs>
                <a:gs pos="100000">
                  <a:srgbClr val="11806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B504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Glutamato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4" name="Hígado ALT"/>
          <p:cNvGrpSpPr/>
          <p:nvPr/>
        </p:nvGrpSpPr>
        <p:grpSpPr>
          <a:xfrm>
            <a:off x="548640" y="3840480"/>
            <a:ext cx="3291840" cy="2326673"/>
            <a:chOff x="548640" y="3840480"/>
            <a:chExt cx="3291840" cy="2326673"/>
          </a:xfrm>
        </p:grpSpPr>
        <p:sp>
          <p:nvSpPr>
            <p:cNvPr id="15" name="Vesícula biliar"/>
            <p:cNvSpPr/>
            <p:nvPr/>
          </p:nvSpPr>
          <p:spPr>
            <a:xfrm>
              <a:off x="1437437" y="5432414"/>
              <a:ext cx="427939" cy="734739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16" name="Forma 16"/>
            <p:cNvSpPr/>
            <p:nvPr/>
          </p:nvSpPr>
          <p:spPr>
            <a:xfrm>
              <a:off x="548640" y="3840480"/>
              <a:ext cx="3291840" cy="2040941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7" name="Forma 17"/>
            <p:cNvSpPr/>
            <p:nvPr/>
          </p:nvSpPr>
          <p:spPr>
            <a:xfrm>
              <a:off x="548640" y="3840480"/>
              <a:ext cx="3291840" cy="2040941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18" name="Forma 18"/>
            <p:cNvSpPr/>
            <p:nvPr/>
          </p:nvSpPr>
          <p:spPr>
            <a:xfrm>
              <a:off x="548640" y="3840480"/>
              <a:ext cx="3291840" cy="2040941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sp>
        <p:nvSpPr>
          <p:cNvPr id="19" name="ALT Nombre"/>
          <p:cNvSpPr/>
          <p:nvPr/>
        </p:nvSpPr>
        <p:spPr>
          <a:xfrm>
            <a:off x="4526280" y="1097280"/>
            <a:ext cx="7406640" cy="1207008"/>
          </a:xfrm>
          <a:prstGeom prst="roundRect">
            <a:avLst>
              <a:gd name="adj" fmla="val 9000"/>
            </a:avLst>
          </a:prstGeom>
          <a:solidFill>
            <a:srgbClr val="D8E6F2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(glutámico-pirúvica transaminasa) =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(alanina aminotransferasa).</a:t>
            </a:r>
            <a:endParaRPr lang="es-AR" sz="1950" dirty="0">
              <a:latin typeface="Calibri"/>
            </a:endParaRPr>
          </a:p>
        </p:txBody>
      </p:sp>
      <p:sp>
        <p:nvSpPr>
          <p:cNvPr id="20" name="ALT Localización"/>
          <p:cNvSpPr/>
          <p:nvPr/>
        </p:nvSpPr>
        <p:spPr>
          <a:xfrm>
            <a:off x="4526280" y="2441448"/>
            <a:ext cx="7406640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Localización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Principalmente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citoplasma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del hepatocito.</a:t>
            </a:r>
            <a:endParaRPr lang="es-AR" sz="1950" dirty="0">
              <a:latin typeface="Calibri"/>
            </a:endParaRPr>
          </a:p>
        </p:txBody>
      </p:sp>
      <p:sp>
        <p:nvSpPr>
          <p:cNvPr id="21" name="ALT Especificidad"/>
          <p:cNvSpPr/>
          <p:nvPr/>
        </p:nvSpPr>
        <p:spPr>
          <a:xfrm>
            <a:off x="4526280" y="3785616"/>
            <a:ext cx="7406640" cy="1207008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Especificidad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La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más específica del hígado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entre las transaminasas; preferida para el diagnóstico de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hepatitis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950" dirty="0">
              <a:latin typeface="Calibri"/>
            </a:endParaRPr>
          </a:p>
        </p:txBody>
      </p:sp>
      <p:sp>
        <p:nvSpPr>
          <p:cNvPr id="22" name="ALT Valores"/>
          <p:cNvSpPr/>
          <p:nvPr/>
        </p:nvSpPr>
        <p:spPr>
          <a:xfrm>
            <a:off x="4526280" y="5129784"/>
            <a:ext cx="7406640" cy="1207008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Hombres &lt; 40 UI/L; mujeres &lt; 31–37 UI/L. En hepatitis viral aguda: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400–500 UI/L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(≈ 10 veces el VN).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ALT / GPT: LA TRANSAMINASA MÁS ESPECÍFICA DEL HÍGADO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Reacción AST"/>
          <p:cNvGrpSpPr/>
          <p:nvPr/>
        </p:nvGrpSpPr>
        <p:grpSpPr>
          <a:xfrm>
            <a:off x="457200" y="1371600"/>
            <a:ext cx="3794760" cy="1920240"/>
            <a:chOff x="457200" y="1371600"/>
            <a:chExt cx="3794760" cy="1920240"/>
          </a:xfrm>
        </p:grpSpPr>
        <p:sp>
          <p:nvSpPr>
            <p:cNvPr id="6" name="Ficha Aspartato"/>
            <p:cNvSpPr/>
            <p:nvPr/>
          </p:nvSpPr>
          <p:spPr>
            <a:xfrm>
              <a:off x="457200" y="1371600"/>
              <a:ext cx="155448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92E4B4"/>
                </a:gs>
                <a:gs pos="55000">
                  <a:srgbClr val="58D68D"/>
                </a:gs>
                <a:gs pos="100000">
                  <a:srgbClr val="46AB70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2C6B4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Aspartato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 txBox="1"/>
            <p:nvPr/>
          </p:nvSpPr>
          <p:spPr>
            <a:xfrm>
              <a:off x="2057400" y="1371600"/>
              <a:ext cx="365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8" name="Ficha α-cetoglutarato"/>
            <p:cNvSpPr/>
            <p:nvPr/>
          </p:nvSpPr>
          <p:spPr>
            <a:xfrm>
              <a:off x="2423160" y="1371600"/>
              <a:ext cx="182880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CB83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α-cetoglutarato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9" name="Flecha 8_2"/>
            <p:cNvSpPr/>
            <p:nvPr/>
          </p:nvSpPr>
          <p:spPr>
            <a:xfrm>
              <a:off x="1463040" y="1920240"/>
              <a:ext cx="9144" cy="685800"/>
            </a:xfrm>
            <a:custGeom>
              <a:avLst/>
              <a:gdLst/>
              <a:ahLst/>
              <a:cxnLst/>
              <a:rect l="0" t="0" r="r" b="b"/>
              <a:pathLst>
                <a:path w="10" h="750" fill="none">
                  <a:moveTo>
                    <a:pt x="0" y="0"/>
                  </a:moveTo>
                  <a:lnTo>
                    <a:pt x="0" y="75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0" name="AST forma"/>
            <p:cNvSpPr/>
            <p:nvPr/>
          </p:nvSpPr>
          <p:spPr>
            <a:xfrm>
              <a:off x="1828800" y="1965960"/>
              <a:ext cx="1188720" cy="8229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87" y="500"/>
                  </a:moveTo>
                  <a:cubicBezTo>
                    <a:pt x="888" y="572"/>
                    <a:pt x="906" y="652"/>
                    <a:pt x="882" y="721"/>
                  </a:cubicBezTo>
                  <a:cubicBezTo>
                    <a:pt x="857" y="789"/>
                    <a:pt x="802" y="871"/>
                    <a:pt x="739" y="913"/>
                  </a:cubicBezTo>
                  <a:cubicBezTo>
                    <a:pt x="675" y="954"/>
                    <a:pt x="578" y="973"/>
                    <a:pt x="500" y="972"/>
                  </a:cubicBezTo>
                  <a:cubicBezTo>
                    <a:pt x="421" y="970"/>
                    <a:pt x="320" y="951"/>
                    <a:pt x="266" y="904"/>
                  </a:cubicBezTo>
                  <a:cubicBezTo>
                    <a:pt x="211" y="856"/>
                    <a:pt x="200" y="756"/>
                    <a:pt x="172" y="689"/>
                  </a:cubicBezTo>
                  <a:cubicBezTo>
                    <a:pt x="144" y="621"/>
                    <a:pt x="99" y="563"/>
                    <a:pt x="98" y="500"/>
                  </a:cubicBezTo>
                  <a:cubicBezTo>
                    <a:pt x="97" y="436"/>
                    <a:pt x="135" y="369"/>
                    <a:pt x="166" y="307"/>
                  </a:cubicBezTo>
                  <a:cubicBezTo>
                    <a:pt x="196" y="244"/>
                    <a:pt x="227" y="170"/>
                    <a:pt x="283" y="125"/>
                  </a:cubicBezTo>
                  <a:cubicBezTo>
                    <a:pt x="338" y="79"/>
                    <a:pt x="427" y="32"/>
                    <a:pt x="499" y="33"/>
                  </a:cubicBezTo>
                  <a:cubicBezTo>
                    <a:pt x="570" y="33"/>
                    <a:pt x="650" y="88"/>
                    <a:pt x="713" y="130"/>
                  </a:cubicBezTo>
                  <a:cubicBezTo>
                    <a:pt x="775" y="171"/>
                    <a:pt x="843" y="222"/>
                    <a:pt x="872" y="284"/>
                  </a:cubicBezTo>
                  <a:cubicBezTo>
                    <a:pt x="901" y="345"/>
                    <a:pt x="885" y="427"/>
                    <a:pt x="887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928A"/>
                </a:gs>
                <a:gs pos="55000">
                  <a:srgbClr val="C0392B"/>
                </a:gs>
                <a:gs pos="100000">
                  <a:srgbClr val="902A20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601C15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1" name="Ficha Oxalacetato"/>
            <p:cNvSpPr/>
            <p:nvPr/>
          </p:nvSpPr>
          <p:spPr>
            <a:xfrm>
              <a:off x="457200" y="2834640"/>
              <a:ext cx="155448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Oxalacetato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2" name="Forma 12"/>
            <p:cNvSpPr txBox="1"/>
            <p:nvPr/>
          </p:nvSpPr>
          <p:spPr>
            <a:xfrm>
              <a:off x="2057400" y="2834640"/>
              <a:ext cx="365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3" name="Ficha Glutamato"/>
            <p:cNvSpPr/>
            <p:nvPr/>
          </p:nvSpPr>
          <p:spPr>
            <a:xfrm>
              <a:off x="2423160" y="2834640"/>
              <a:ext cx="1828800" cy="4572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7C1AF"/>
                </a:gs>
                <a:gs pos="55000">
                  <a:srgbClr val="16A085"/>
                </a:gs>
                <a:gs pos="100000">
                  <a:srgbClr val="11806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0B5042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Glutamato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4" name="Tejidos AST"/>
          <p:cNvGrpSpPr/>
          <p:nvPr/>
        </p:nvGrpSpPr>
        <p:grpSpPr>
          <a:xfrm>
            <a:off x="4480560" y="1097280"/>
            <a:ext cx="3108960" cy="2331720"/>
            <a:chOff x="4480560" y="1097280"/>
            <a:chExt cx="3108960" cy="2331720"/>
          </a:xfrm>
        </p:grpSpPr>
        <p:grpSp>
          <p:nvGrpSpPr>
            <p:cNvPr id="15" name="h"/>
            <p:cNvGrpSpPr/>
            <p:nvPr/>
          </p:nvGrpSpPr>
          <p:grpSpPr>
            <a:xfrm>
              <a:off x="4480560" y="1280160"/>
              <a:ext cx="1737360" cy="1227966"/>
              <a:chOff x="4480560" y="1280160"/>
              <a:chExt cx="1737360" cy="1227966"/>
            </a:xfrm>
          </p:grpSpPr>
          <p:sp>
            <p:nvSpPr>
              <p:cNvPr id="16" name="Vesícula biliar"/>
              <p:cNvSpPr/>
              <p:nvPr/>
            </p:nvSpPr>
            <p:spPr>
              <a:xfrm>
                <a:off x="4949647" y="2120347"/>
                <a:ext cx="225857" cy="38777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0"/>
                    </a:moveTo>
                    <a:cubicBezTo>
                      <a:pt x="438" y="-106"/>
                      <a:pt x="866" y="-73"/>
                      <a:pt x="950" y="60"/>
                    </a:cubicBezTo>
                    <a:cubicBezTo>
                      <a:pt x="1033" y="193"/>
                      <a:pt x="883" y="643"/>
                      <a:pt x="800" y="800"/>
                    </a:cubicBezTo>
                    <a:cubicBezTo>
                      <a:pt x="716" y="956"/>
                      <a:pt x="563" y="1016"/>
                      <a:pt x="450" y="1000"/>
                    </a:cubicBezTo>
                    <a:cubicBezTo>
                      <a:pt x="336" y="983"/>
                      <a:pt x="145" y="866"/>
                      <a:pt x="120" y="700"/>
                    </a:cubicBezTo>
                    <a:cubicBezTo>
                      <a:pt x="95" y="533"/>
                      <a:pt x="161" y="106"/>
                      <a:pt x="3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099"/>
                  </a:gs>
                  <a:gs pos="55000">
                    <a:srgbClr val="8DB255"/>
                  </a:gs>
                  <a:gs pos="100000">
                    <a:srgbClr val="627C3B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E6B22"/>
                </a:solidFill>
                <a:round/>
              </a:ln>
            </p:spPr>
          </p:sp>
          <p:sp>
            <p:nvSpPr>
              <p:cNvPr id="17" name="Forma 17"/>
              <p:cNvSpPr/>
              <p:nvPr/>
            </p:nvSpPr>
            <p:spPr>
              <a:xfrm>
                <a:off x="4480560" y="1280160"/>
                <a:ext cx="1737360" cy="107716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>
                    <a:moveTo>
                      <a:pt x="40" y="250"/>
                    </a:moveTo>
                    <a:cubicBezTo>
                      <a:pt x="50" y="205"/>
                      <a:pt x="76" y="143"/>
                      <a:pt x="120" y="110"/>
                    </a:cubicBezTo>
                    <a:cubicBezTo>
                      <a:pt x="163" y="76"/>
                      <a:pt x="233" y="59"/>
                      <a:pt x="300" y="50"/>
                    </a:cubicBezTo>
                    <a:cubicBezTo>
                      <a:pt x="366" y="40"/>
                      <a:pt x="450" y="50"/>
                      <a:pt x="520" y="55"/>
                    </a:cubicBezTo>
                    <a:cubicBezTo>
                      <a:pt x="590" y="59"/>
                      <a:pt x="656" y="64"/>
                      <a:pt x="720" y="75"/>
                    </a:cubicBezTo>
                    <a:cubicBezTo>
                      <a:pt x="783" y="85"/>
                      <a:pt x="857" y="100"/>
                      <a:pt x="900" y="120"/>
                    </a:cubicBezTo>
                    <a:cubicBezTo>
                      <a:pt x="942" y="139"/>
                      <a:pt x="968" y="168"/>
                      <a:pt x="975" y="190"/>
                    </a:cubicBezTo>
                    <a:cubicBezTo>
                      <a:pt x="981" y="211"/>
                      <a:pt x="965" y="231"/>
                      <a:pt x="940" y="250"/>
                    </a:cubicBezTo>
                    <a:cubicBezTo>
                      <a:pt x="914" y="268"/>
                      <a:pt x="861" y="280"/>
                      <a:pt x="820" y="300"/>
                    </a:cubicBezTo>
                    <a:cubicBezTo>
                      <a:pt x="778" y="320"/>
                      <a:pt x="733" y="341"/>
                      <a:pt x="690" y="370"/>
                    </a:cubicBezTo>
                    <a:cubicBezTo>
                      <a:pt x="646" y="398"/>
                      <a:pt x="601" y="436"/>
                      <a:pt x="560" y="470"/>
                    </a:cubicBezTo>
                    <a:cubicBezTo>
                      <a:pt x="518" y="503"/>
                      <a:pt x="478" y="546"/>
                      <a:pt x="440" y="570"/>
                    </a:cubicBezTo>
                    <a:cubicBezTo>
                      <a:pt x="401" y="593"/>
                      <a:pt x="365" y="608"/>
                      <a:pt x="330" y="610"/>
                    </a:cubicBezTo>
                    <a:cubicBezTo>
                      <a:pt x="295" y="611"/>
                      <a:pt x="261" y="601"/>
                      <a:pt x="230" y="580"/>
                    </a:cubicBezTo>
                    <a:cubicBezTo>
                      <a:pt x="198" y="558"/>
                      <a:pt x="168" y="513"/>
                      <a:pt x="140" y="480"/>
                    </a:cubicBezTo>
                    <a:cubicBezTo>
                      <a:pt x="111" y="446"/>
                      <a:pt x="76" y="418"/>
                      <a:pt x="60" y="380"/>
                    </a:cubicBezTo>
                    <a:cubicBezTo>
                      <a:pt x="43" y="341"/>
                      <a:pt x="30" y="295"/>
                      <a:pt x="4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4948C"/>
                  </a:gs>
                  <a:gs pos="55000">
                    <a:srgbClr val="B5473A"/>
                  </a:gs>
                  <a:gs pos="100000">
                    <a:srgbClr val="7E3128"/>
                  </a:gs>
                </a:gsLst>
                <a:path path="circle">
                  <a:fillToRect l="30000" t="25000" r="70000" b="75000"/>
                </a:path>
              </a:gradFill>
              <a:ln w="25400" cap="rnd">
                <a:solidFill>
                  <a:srgbClr val="511F1A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18" name="Forma 18"/>
              <p:cNvSpPr/>
              <p:nvPr/>
            </p:nvSpPr>
            <p:spPr>
              <a:xfrm>
                <a:off x="4480560" y="1280160"/>
                <a:ext cx="1737360" cy="107716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560" y="70"/>
                    </a:moveTo>
                    <a:cubicBezTo>
                      <a:pt x="545" y="180"/>
                      <a:pt x="530" y="280"/>
                      <a:pt x="520" y="400"/>
                    </a:cubicBezTo>
                  </a:path>
                </a:pathLst>
              </a:custGeom>
              <a:noFill/>
              <a:ln w="22225" cap="rnd">
                <a:solidFill>
                  <a:srgbClr val="6C2A22"/>
                </a:solidFill>
                <a:round/>
              </a:ln>
            </p:spPr>
          </p:sp>
          <p:sp>
            <p:nvSpPr>
              <p:cNvPr id="19" name="Forma 19"/>
              <p:cNvSpPr/>
              <p:nvPr/>
            </p:nvSpPr>
            <p:spPr>
              <a:xfrm>
                <a:off x="4480560" y="1280160"/>
                <a:ext cx="1737360" cy="107716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200" y="200"/>
                    </a:moveTo>
                    <a:cubicBezTo>
                      <a:pt x="260" y="160"/>
                      <a:pt x="330" y="150"/>
                      <a:pt x="400" y="170"/>
                    </a:cubicBezTo>
                  </a:path>
                  <a:path w="1000" h="620" fill="none">
                    <a:moveTo>
                      <a:pt x="640" y="160"/>
                    </a:moveTo>
                    <a:cubicBezTo>
                      <a:pt x="700" y="150"/>
                      <a:pt x="760" y="160"/>
                      <a:pt x="820" y="190"/>
                    </a:cubicBezTo>
                  </a:path>
                </a:pathLst>
              </a:custGeom>
              <a:noFill/>
              <a:ln w="31750" cap="rnd">
                <a:solidFill>
                  <a:srgbClr val="CE877E"/>
                </a:solidFill>
                <a:round/>
              </a:ln>
            </p:spPr>
          </p:sp>
        </p:grpSp>
        <p:grpSp>
          <p:nvGrpSpPr>
            <p:cNvPr id="20" name="c"/>
            <p:cNvGrpSpPr/>
            <p:nvPr/>
          </p:nvGrpSpPr>
          <p:grpSpPr>
            <a:xfrm>
              <a:off x="6400800" y="1097280"/>
              <a:ext cx="1188720" cy="1307592"/>
              <a:chOff x="6400800" y="1097280"/>
              <a:chExt cx="1188720" cy="1307592"/>
            </a:xfrm>
          </p:grpSpPr>
          <p:sp>
            <p:nvSpPr>
              <p:cNvPr id="21" name="Aorta"/>
              <p:cNvSpPr/>
              <p:nvPr/>
            </p:nvSpPr>
            <p:spPr>
              <a:xfrm>
                <a:off x="6852514" y="1097280"/>
                <a:ext cx="380390" cy="41842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22" name="Arteria pulmonar"/>
              <p:cNvSpPr/>
              <p:nvPr/>
            </p:nvSpPr>
            <p:spPr>
              <a:xfrm>
                <a:off x="6662318" y="1228039"/>
                <a:ext cx="261518" cy="32689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23" name="Miocardio"/>
              <p:cNvSpPr/>
              <p:nvPr/>
            </p:nvSpPr>
            <p:spPr>
              <a:xfrm>
                <a:off x="6400800" y="1332647"/>
                <a:ext cx="1188720" cy="107222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4" name="Aurícula derecha"/>
              <p:cNvSpPr/>
              <p:nvPr/>
            </p:nvSpPr>
            <p:spPr>
              <a:xfrm>
                <a:off x="6448349" y="1489558"/>
                <a:ext cx="332842" cy="36612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grpSp>
          <p:nvGrpSpPr>
            <p:cNvPr id="25" name="m"/>
            <p:cNvGrpSpPr/>
            <p:nvPr/>
          </p:nvGrpSpPr>
          <p:grpSpPr>
            <a:xfrm>
              <a:off x="4572000" y="2560320"/>
              <a:ext cx="1737360" cy="569854"/>
              <a:chOff x="4572000" y="2560320"/>
              <a:chExt cx="1737360" cy="569854"/>
            </a:xfrm>
          </p:grpSpPr>
          <p:grpSp>
            <p:nvGrpSpPr>
              <p:cNvPr id="26" name="Fibra"/>
              <p:cNvGrpSpPr/>
              <p:nvPr/>
            </p:nvGrpSpPr>
            <p:grpSpPr>
              <a:xfrm>
                <a:off x="4572000" y="2560320"/>
                <a:ext cx="1667866" cy="277978"/>
                <a:chOff x="4572000" y="2560320"/>
                <a:chExt cx="1667866" cy="277978"/>
              </a:xfrm>
            </p:grpSpPr>
            <p:sp>
              <p:nvSpPr>
                <p:cNvPr id="27" name="Forma 27"/>
                <p:cNvSpPr/>
                <p:nvPr/>
              </p:nvSpPr>
              <p:spPr>
                <a:xfrm>
                  <a:off x="4572000" y="2560320"/>
                  <a:ext cx="1667866" cy="27797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28" name="Forma 28"/>
                <p:cNvSpPr/>
                <p:nvPr/>
              </p:nvSpPr>
              <p:spPr>
                <a:xfrm>
                  <a:off x="4641494" y="2560320"/>
                  <a:ext cx="1528877" cy="27797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25" y="80"/>
                      </a:moveTo>
                      <a:lnTo>
                        <a:pt x="25" y="920"/>
                      </a:lnTo>
                    </a:path>
                    <a:path w="1000" h="1000" fill="none">
                      <a:moveTo>
                        <a:pt x="75" y="80"/>
                      </a:moveTo>
                      <a:lnTo>
                        <a:pt x="75" y="920"/>
                      </a:lnTo>
                    </a:path>
                    <a:path w="1000" h="1000" fill="none">
                      <a:moveTo>
                        <a:pt x="125" y="80"/>
                      </a:moveTo>
                      <a:lnTo>
                        <a:pt x="125" y="920"/>
                      </a:lnTo>
                    </a:path>
                    <a:path w="1000" h="1000" fill="none">
                      <a:moveTo>
                        <a:pt x="175" y="80"/>
                      </a:moveTo>
                      <a:lnTo>
                        <a:pt x="175" y="920"/>
                      </a:lnTo>
                    </a:path>
                    <a:path w="1000" h="1000" fill="none">
                      <a:moveTo>
                        <a:pt x="225" y="80"/>
                      </a:moveTo>
                      <a:lnTo>
                        <a:pt x="225" y="920"/>
                      </a:lnTo>
                    </a:path>
                    <a:path w="1000" h="1000" fill="none">
                      <a:moveTo>
                        <a:pt x="275" y="80"/>
                      </a:moveTo>
                      <a:lnTo>
                        <a:pt x="275" y="920"/>
                      </a:lnTo>
                    </a:path>
                    <a:path w="1000" h="1000" fill="none">
                      <a:moveTo>
                        <a:pt x="325" y="80"/>
                      </a:moveTo>
                      <a:lnTo>
                        <a:pt x="325" y="920"/>
                      </a:lnTo>
                    </a:path>
                    <a:path w="1000" h="1000" fill="none">
                      <a:moveTo>
                        <a:pt x="375" y="80"/>
                      </a:moveTo>
                      <a:lnTo>
                        <a:pt x="375" y="920"/>
                      </a:lnTo>
                    </a:path>
                    <a:path w="1000" h="1000" fill="none">
                      <a:moveTo>
                        <a:pt x="425" y="80"/>
                      </a:moveTo>
                      <a:lnTo>
                        <a:pt x="425" y="920"/>
                      </a:lnTo>
                    </a:path>
                    <a:path w="1000" h="1000" fill="none">
                      <a:moveTo>
                        <a:pt x="475" y="80"/>
                      </a:moveTo>
                      <a:lnTo>
                        <a:pt x="475" y="920"/>
                      </a:lnTo>
                    </a:path>
                    <a:path w="1000" h="1000" fill="none">
                      <a:moveTo>
                        <a:pt x="525" y="80"/>
                      </a:moveTo>
                      <a:lnTo>
                        <a:pt x="525" y="920"/>
                      </a:lnTo>
                    </a:path>
                    <a:path w="1000" h="1000" fill="none">
                      <a:moveTo>
                        <a:pt x="575" y="80"/>
                      </a:moveTo>
                      <a:lnTo>
                        <a:pt x="575" y="920"/>
                      </a:lnTo>
                    </a:path>
                    <a:path w="1000" h="1000" fill="none">
                      <a:moveTo>
                        <a:pt x="625" y="80"/>
                      </a:moveTo>
                      <a:lnTo>
                        <a:pt x="625" y="920"/>
                      </a:lnTo>
                    </a:path>
                    <a:path w="1000" h="1000" fill="none">
                      <a:moveTo>
                        <a:pt x="675" y="80"/>
                      </a:moveTo>
                      <a:lnTo>
                        <a:pt x="675" y="920"/>
                      </a:lnTo>
                    </a:path>
                    <a:path w="1000" h="1000" fill="none">
                      <a:moveTo>
                        <a:pt x="725" y="80"/>
                      </a:moveTo>
                      <a:lnTo>
                        <a:pt x="725" y="920"/>
                      </a:lnTo>
                    </a:path>
                    <a:path w="1000" h="1000" fill="none">
                      <a:moveTo>
                        <a:pt x="775" y="80"/>
                      </a:moveTo>
                      <a:lnTo>
                        <a:pt x="775" y="920"/>
                      </a:lnTo>
                    </a:path>
                    <a:path w="1000" h="1000" fill="none">
                      <a:moveTo>
                        <a:pt x="825" y="80"/>
                      </a:moveTo>
                      <a:lnTo>
                        <a:pt x="825" y="920"/>
                      </a:lnTo>
                    </a:path>
                    <a:path w="1000" h="1000" fill="none">
                      <a:moveTo>
                        <a:pt x="875" y="80"/>
                      </a:moveTo>
                      <a:lnTo>
                        <a:pt x="875" y="920"/>
                      </a:lnTo>
                    </a:path>
                    <a:path w="1000" h="1000" fill="none">
                      <a:moveTo>
                        <a:pt x="925" y="80"/>
                      </a:moveTo>
                      <a:lnTo>
                        <a:pt x="925" y="920"/>
                      </a:lnTo>
                    </a:path>
                    <a:path w="1000" h="1000" fill="none">
                      <a:moveTo>
                        <a:pt x="975" y="80"/>
                      </a:moveTo>
                      <a:lnTo>
                        <a:pt x="975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29" name="Forma 29"/>
                <p:cNvSpPr/>
                <p:nvPr/>
              </p:nvSpPr>
              <p:spPr>
                <a:xfrm>
                  <a:off x="4905573" y="2571439"/>
                  <a:ext cx="138989" cy="500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0" name="Forma 30"/>
                <p:cNvSpPr/>
                <p:nvPr/>
              </p:nvSpPr>
              <p:spPr>
                <a:xfrm>
                  <a:off x="5489326" y="2571439"/>
                  <a:ext cx="138989" cy="500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1" name="Forma 31"/>
                <p:cNvSpPr/>
                <p:nvPr/>
              </p:nvSpPr>
              <p:spPr>
                <a:xfrm>
                  <a:off x="5989686" y="2571439"/>
                  <a:ext cx="138989" cy="500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2" name="Forma 32"/>
                <p:cNvSpPr/>
                <p:nvPr/>
              </p:nvSpPr>
              <p:spPr>
                <a:xfrm>
                  <a:off x="6123115" y="2571439"/>
                  <a:ext cx="111191" cy="25573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33" name="Fibra_2"/>
              <p:cNvGrpSpPr/>
              <p:nvPr/>
            </p:nvGrpSpPr>
            <p:grpSpPr>
              <a:xfrm>
                <a:off x="4641494" y="2852196"/>
                <a:ext cx="1667866" cy="277978"/>
                <a:chOff x="4641494" y="2852196"/>
                <a:chExt cx="1667866" cy="277978"/>
              </a:xfrm>
            </p:grpSpPr>
            <p:sp>
              <p:nvSpPr>
                <p:cNvPr id="34" name="Forma 34"/>
                <p:cNvSpPr/>
                <p:nvPr/>
              </p:nvSpPr>
              <p:spPr>
                <a:xfrm>
                  <a:off x="4641494" y="2852196"/>
                  <a:ext cx="1667866" cy="27797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35" name="Forma 35"/>
                <p:cNvSpPr/>
                <p:nvPr/>
              </p:nvSpPr>
              <p:spPr>
                <a:xfrm>
                  <a:off x="4710989" y="2852196"/>
                  <a:ext cx="1528877" cy="27797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25" y="80"/>
                      </a:moveTo>
                      <a:lnTo>
                        <a:pt x="25" y="920"/>
                      </a:lnTo>
                    </a:path>
                    <a:path w="1000" h="1000" fill="none">
                      <a:moveTo>
                        <a:pt x="75" y="80"/>
                      </a:moveTo>
                      <a:lnTo>
                        <a:pt x="75" y="920"/>
                      </a:lnTo>
                    </a:path>
                    <a:path w="1000" h="1000" fill="none">
                      <a:moveTo>
                        <a:pt x="125" y="80"/>
                      </a:moveTo>
                      <a:lnTo>
                        <a:pt x="125" y="920"/>
                      </a:lnTo>
                    </a:path>
                    <a:path w="1000" h="1000" fill="none">
                      <a:moveTo>
                        <a:pt x="175" y="80"/>
                      </a:moveTo>
                      <a:lnTo>
                        <a:pt x="175" y="920"/>
                      </a:lnTo>
                    </a:path>
                    <a:path w="1000" h="1000" fill="none">
                      <a:moveTo>
                        <a:pt x="225" y="80"/>
                      </a:moveTo>
                      <a:lnTo>
                        <a:pt x="225" y="920"/>
                      </a:lnTo>
                    </a:path>
                    <a:path w="1000" h="1000" fill="none">
                      <a:moveTo>
                        <a:pt x="275" y="80"/>
                      </a:moveTo>
                      <a:lnTo>
                        <a:pt x="275" y="920"/>
                      </a:lnTo>
                    </a:path>
                    <a:path w="1000" h="1000" fill="none">
                      <a:moveTo>
                        <a:pt x="325" y="80"/>
                      </a:moveTo>
                      <a:lnTo>
                        <a:pt x="325" y="920"/>
                      </a:lnTo>
                    </a:path>
                    <a:path w="1000" h="1000" fill="none">
                      <a:moveTo>
                        <a:pt x="375" y="80"/>
                      </a:moveTo>
                      <a:lnTo>
                        <a:pt x="375" y="920"/>
                      </a:lnTo>
                    </a:path>
                    <a:path w="1000" h="1000" fill="none">
                      <a:moveTo>
                        <a:pt x="425" y="80"/>
                      </a:moveTo>
                      <a:lnTo>
                        <a:pt x="425" y="920"/>
                      </a:lnTo>
                    </a:path>
                    <a:path w="1000" h="1000" fill="none">
                      <a:moveTo>
                        <a:pt x="475" y="80"/>
                      </a:moveTo>
                      <a:lnTo>
                        <a:pt x="475" y="920"/>
                      </a:lnTo>
                    </a:path>
                    <a:path w="1000" h="1000" fill="none">
                      <a:moveTo>
                        <a:pt x="525" y="80"/>
                      </a:moveTo>
                      <a:lnTo>
                        <a:pt x="525" y="920"/>
                      </a:lnTo>
                    </a:path>
                    <a:path w="1000" h="1000" fill="none">
                      <a:moveTo>
                        <a:pt x="575" y="80"/>
                      </a:moveTo>
                      <a:lnTo>
                        <a:pt x="575" y="920"/>
                      </a:lnTo>
                    </a:path>
                    <a:path w="1000" h="1000" fill="none">
                      <a:moveTo>
                        <a:pt x="625" y="80"/>
                      </a:moveTo>
                      <a:lnTo>
                        <a:pt x="625" y="920"/>
                      </a:lnTo>
                    </a:path>
                    <a:path w="1000" h="1000" fill="none">
                      <a:moveTo>
                        <a:pt x="675" y="80"/>
                      </a:moveTo>
                      <a:lnTo>
                        <a:pt x="675" y="920"/>
                      </a:lnTo>
                    </a:path>
                    <a:path w="1000" h="1000" fill="none">
                      <a:moveTo>
                        <a:pt x="725" y="80"/>
                      </a:moveTo>
                      <a:lnTo>
                        <a:pt x="725" y="920"/>
                      </a:lnTo>
                    </a:path>
                    <a:path w="1000" h="1000" fill="none">
                      <a:moveTo>
                        <a:pt x="775" y="80"/>
                      </a:moveTo>
                      <a:lnTo>
                        <a:pt x="775" y="920"/>
                      </a:lnTo>
                    </a:path>
                    <a:path w="1000" h="1000" fill="none">
                      <a:moveTo>
                        <a:pt x="825" y="80"/>
                      </a:moveTo>
                      <a:lnTo>
                        <a:pt x="825" y="920"/>
                      </a:lnTo>
                    </a:path>
                    <a:path w="1000" h="1000" fill="none">
                      <a:moveTo>
                        <a:pt x="875" y="80"/>
                      </a:moveTo>
                      <a:lnTo>
                        <a:pt x="875" y="920"/>
                      </a:lnTo>
                    </a:path>
                    <a:path w="1000" h="1000" fill="none">
                      <a:moveTo>
                        <a:pt x="925" y="80"/>
                      </a:moveTo>
                      <a:lnTo>
                        <a:pt x="925" y="920"/>
                      </a:lnTo>
                    </a:path>
                    <a:path w="1000" h="1000" fill="none">
                      <a:moveTo>
                        <a:pt x="975" y="80"/>
                      </a:moveTo>
                      <a:lnTo>
                        <a:pt x="975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36" name="Forma 36"/>
                <p:cNvSpPr/>
                <p:nvPr/>
              </p:nvSpPr>
              <p:spPr>
                <a:xfrm>
                  <a:off x="4975068" y="2863316"/>
                  <a:ext cx="138989" cy="500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7" name="Forma 37"/>
                <p:cNvSpPr/>
                <p:nvPr/>
              </p:nvSpPr>
              <p:spPr>
                <a:xfrm>
                  <a:off x="5558820" y="2863316"/>
                  <a:ext cx="138989" cy="500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8" name="Forma 38"/>
                <p:cNvSpPr/>
                <p:nvPr/>
              </p:nvSpPr>
              <p:spPr>
                <a:xfrm>
                  <a:off x="6059180" y="2863316"/>
                  <a:ext cx="138989" cy="500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9" name="Forma 39"/>
                <p:cNvSpPr/>
                <p:nvPr/>
              </p:nvSpPr>
              <p:spPr>
                <a:xfrm>
                  <a:off x="6192609" y="2863316"/>
                  <a:ext cx="111191" cy="25573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</p:grpSp>
        <p:sp>
          <p:nvSpPr>
            <p:cNvPr id="40" name="e"/>
            <p:cNvSpPr/>
            <p:nvPr/>
          </p:nvSpPr>
          <p:spPr>
            <a:xfrm>
              <a:off x="6675120" y="260604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</p:grpSp>
      <p:sp>
        <p:nvSpPr>
          <p:cNvPr id="41" name="AST def"/>
          <p:cNvSpPr/>
          <p:nvPr/>
        </p:nvSpPr>
        <p:spPr>
          <a:xfrm>
            <a:off x="365760" y="3657600"/>
            <a:ext cx="7680960" cy="132588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GOT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(glutámico-oxalacética transaminasa) =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AST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Principalmente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mitocondrial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se eleva cuando hay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necrosis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sp>
        <p:nvSpPr>
          <p:cNvPr id="42" name="AST tejidos"/>
          <p:cNvSpPr/>
          <p:nvPr/>
        </p:nvSpPr>
        <p:spPr>
          <a:xfrm>
            <a:off x="365760" y="5166360"/>
            <a:ext cx="7680960" cy="1280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También está en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músculo cardíaco, músculo esquelético y eritrocitos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no es exclusivamente hepática.</a:t>
            </a:r>
            <a:endParaRPr lang="es-AR" sz="2000" dirty="0">
              <a:latin typeface="Calibri"/>
            </a:endParaRPr>
          </a:p>
        </p:txBody>
      </p:sp>
      <p:sp>
        <p:nvSpPr>
          <p:cNvPr id="43" name="Juntas GOT GPT"/>
          <p:cNvSpPr/>
          <p:nvPr/>
        </p:nvSpPr>
        <p:spPr>
          <a:xfrm>
            <a:off x="8549640" y="1097280"/>
            <a:ext cx="3383280" cy="53492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Por eso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GOT y GPT se piden juntas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la combinación orienta al tejido de origen.</a:t>
            </a:r>
            <a:endParaRPr lang="es-AR" sz="22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AST / GOT: MITOCONDRIAL Y NO EXCLUSIVAMENTE HEPÁTICA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4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229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</p:bld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!!Fórmula De Ritis"/>
          <p:cNvGrpSpPr/>
          <p:nvPr/>
        </p:nvGrpSpPr>
        <p:grpSpPr>
          <a:xfrm>
            <a:off x="457200" y="1188720"/>
            <a:ext cx="3840480" cy="1828800"/>
            <a:chOff x="457200" y="1188720"/>
            <a:chExt cx="3840480" cy="1828800"/>
          </a:xfrm>
        </p:grpSpPr>
        <p:sp>
          <p:nvSpPr>
            <p:cNvPr id="6" name="Forma 5"/>
            <p:cNvSpPr/>
            <p:nvPr/>
          </p:nvSpPr>
          <p:spPr>
            <a:xfrm>
              <a:off x="457200" y="1188720"/>
              <a:ext cx="3840480" cy="1828800"/>
            </a:xfrm>
            <a:prstGeom prst="roundRect">
              <a:avLst>
                <a:gd name="adj" fmla="val 12000"/>
              </a:avLst>
            </a:prstGeom>
            <a:solidFill>
              <a:srgbClr val="FFCC4A"/>
            </a:solidFill>
            <a:ln w="31750" cap="rnd">
              <a:solidFill>
                <a:srgbClr val="1E1E1E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7" name="Forma 6"/>
            <p:cNvSpPr txBox="1"/>
            <p:nvPr/>
          </p:nvSpPr>
          <p:spPr>
            <a:xfrm>
              <a:off x="457200" y="1280160"/>
              <a:ext cx="38404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AST (GOT)</a:t>
              </a:r>
              <a:endParaRPr lang="es-AR" sz="2400" dirty="0">
                <a:latin typeface="Calibri"/>
              </a:endParaRPr>
            </a:p>
          </p:txBody>
        </p:sp>
        <p:sp>
          <p:nvSpPr>
            <p:cNvPr id="8" name="Flecha 7_2"/>
            <p:cNvSpPr/>
            <p:nvPr/>
          </p:nvSpPr>
          <p:spPr>
            <a:xfrm>
              <a:off x="914400" y="2103120"/>
              <a:ext cx="2926080" cy="9144"/>
            </a:xfrm>
            <a:custGeom>
              <a:avLst/>
              <a:gdLst/>
              <a:ahLst/>
              <a:cxnLst/>
              <a:rect l="0" t="0" r="r" b="b"/>
              <a:pathLst>
                <a:path w="3200" h="10" fill="none">
                  <a:moveTo>
                    <a:pt x="0" y="0"/>
                  </a:moveTo>
                  <a:lnTo>
                    <a:pt x="320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</a:ln>
          </p:spPr>
        </p:sp>
        <p:sp>
          <p:nvSpPr>
            <p:cNvPr id="9" name="Forma 9"/>
            <p:cNvSpPr txBox="1"/>
            <p:nvPr/>
          </p:nvSpPr>
          <p:spPr>
            <a:xfrm>
              <a:off x="457200" y="2240280"/>
              <a:ext cx="384048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400" b="1" dirty="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ALT (GPT)</a:t>
              </a:r>
              <a:endParaRPr lang="es-AR" sz="2400" dirty="0">
                <a:latin typeface="Calibri"/>
              </a:endParaRPr>
            </a:p>
          </p:txBody>
        </p:sp>
      </p:grpSp>
      <p:grpSp>
        <p:nvGrpSpPr>
          <p:cNvPr id="10" name="Balanza De Ritis"/>
          <p:cNvGrpSpPr/>
          <p:nvPr/>
        </p:nvGrpSpPr>
        <p:grpSpPr>
          <a:xfrm>
            <a:off x="457200" y="3931920"/>
            <a:ext cx="3749040" cy="2286000"/>
            <a:chOff x="457200" y="3931920"/>
            <a:chExt cx="3749040" cy="2286000"/>
          </a:xfrm>
        </p:grpSpPr>
        <p:sp>
          <p:nvSpPr>
            <p:cNvPr id="11" name="Forma 11"/>
            <p:cNvSpPr/>
            <p:nvPr/>
          </p:nvSpPr>
          <p:spPr>
            <a:xfrm>
              <a:off x="2011680" y="5120640"/>
              <a:ext cx="731520" cy="1097280"/>
            </a:xfrm>
            <a:prstGeom prst="triangle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2" name="Forma 12"/>
            <p:cNvSpPr/>
            <p:nvPr/>
          </p:nvSpPr>
          <p:spPr>
            <a:xfrm rot="-480000">
              <a:off x="548640" y="4937760"/>
              <a:ext cx="3657600" cy="164592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</p:sp>
        <p:sp>
          <p:nvSpPr>
            <p:cNvPr id="13" name="Ficha ALT"/>
            <p:cNvSpPr/>
            <p:nvPr/>
          </p:nvSpPr>
          <p:spPr>
            <a:xfrm>
              <a:off x="457200" y="4206240"/>
              <a:ext cx="1005840" cy="50292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7B0D6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7436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4" name="Ficha AST"/>
            <p:cNvSpPr/>
            <p:nvPr/>
          </p:nvSpPr>
          <p:spPr>
            <a:xfrm>
              <a:off x="3291840" y="3931920"/>
              <a:ext cx="8229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5" name="Tabla De Ritis fila 0"/>
          <p:cNvGrpSpPr/>
          <p:nvPr/>
        </p:nvGrpSpPr>
        <p:grpSpPr>
          <a:xfrm>
            <a:off x="4663440" y="1097280"/>
            <a:ext cx="7269480" cy="868680"/>
            <a:chOff x="4663440" y="1097280"/>
            <a:chExt cx="7269480" cy="868680"/>
          </a:xfrm>
        </p:grpSpPr>
        <p:sp>
          <p:nvSpPr>
            <p:cNvPr id="16" name="Forma 16"/>
            <p:cNvSpPr/>
            <p:nvPr/>
          </p:nvSpPr>
          <p:spPr>
            <a:xfrm>
              <a:off x="4663440" y="1097280"/>
              <a:ext cx="219456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GOT/GPT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7" name="Forma 17"/>
            <p:cNvSpPr/>
            <p:nvPr/>
          </p:nvSpPr>
          <p:spPr>
            <a:xfrm>
              <a:off x="6858000" y="1097280"/>
              <a:ext cx="5074920" cy="86868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 (material)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8" name="Tabla De Ritis fila 1"/>
          <p:cNvGrpSpPr/>
          <p:nvPr/>
        </p:nvGrpSpPr>
        <p:grpSpPr>
          <a:xfrm>
            <a:off x="4663440" y="1965960"/>
            <a:ext cx="7269480" cy="868680"/>
            <a:chOff x="4663440" y="1965960"/>
            <a:chExt cx="7269480" cy="868680"/>
          </a:xfrm>
        </p:grpSpPr>
        <p:sp>
          <p:nvSpPr>
            <p:cNvPr id="19" name="Forma 19"/>
            <p:cNvSpPr/>
            <p:nvPr/>
          </p:nvSpPr>
          <p:spPr>
            <a:xfrm>
              <a:off x="4663440" y="1965960"/>
              <a:ext cx="21945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1 (GPT &gt; GOT)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0" name="Forma 20"/>
            <p:cNvSpPr/>
            <p:nvPr/>
          </p:nvSpPr>
          <p:spPr>
            <a:xfrm>
              <a:off x="6858000" y="1965960"/>
              <a:ext cx="507492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Hepatitis viral aguda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daño de membrana → sale más ALT citoplasmática.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1" name="Tabla De Ritis fila 2"/>
          <p:cNvGrpSpPr/>
          <p:nvPr/>
        </p:nvGrpSpPr>
        <p:grpSpPr>
          <a:xfrm>
            <a:off x="4663440" y="2834640"/>
            <a:ext cx="7269480" cy="868680"/>
            <a:chOff x="4663440" y="2834640"/>
            <a:chExt cx="7269480" cy="868680"/>
          </a:xfrm>
        </p:grpSpPr>
        <p:sp>
          <p:nvSpPr>
            <p:cNvPr id="22" name="Forma 22"/>
            <p:cNvSpPr/>
            <p:nvPr/>
          </p:nvSpPr>
          <p:spPr>
            <a:xfrm>
              <a:off x="4663440" y="2834640"/>
              <a:ext cx="219456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 1 (GOT ≥ GPT)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3" name="Forma 23"/>
            <p:cNvSpPr/>
            <p:nvPr/>
          </p:nvSpPr>
          <p:spPr>
            <a:xfrm>
              <a:off x="6858000" y="2834640"/>
              <a:ext cx="5074920" cy="86868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Necrosis hepática, cirrosis, hepatocarcinoma, hepatitis alcohólica: se rompen organelas → sale AST mitocondrial.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4" name="Tabla De Ritis fila 3"/>
          <p:cNvGrpSpPr/>
          <p:nvPr/>
        </p:nvGrpSpPr>
        <p:grpSpPr>
          <a:xfrm>
            <a:off x="4663440" y="3703320"/>
            <a:ext cx="7269480" cy="868680"/>
            <a:chOff x="4663440" y="3703320"/>
            <a:chExt cx="7269480" cy="868680"/>
          </a:xfrm>
        </p:grpSpPr>
        <p:sp>
          <p:nvSpPr>
            <p:cNvPr id="25" name="Forma 25"/>
            <p:cNvSpPr/>
            <p:nvPr/>
          </p:nvSpPr>
          <p:spPr>
            <a:xfrm>
              <a:off x="4663440" y="3703320"/>
              <a:ext cx="219456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 2 con GOT &gt; 300 UI/L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6" name="Forma 26"/>
            <p:cNvSpPr/>
            <p:nvPr/>
          </p:nvSpPr>
          <p:spPr>
            <a:xfrm>
              <a:off x="6858000" y="3703320"/>
              <a:ext cx="5074920" cy="86868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Altamente sugestivo de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hepatitis alcohólica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(la GOT raramente supera 300–400 UI/L).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7" name="Rigor De Ritis"/>
          <p:cNvGrpSpPr/>
          <p:nvPr/>
        </p:nvGrpSpPr>
        <p:grpSpPr>
          <a:xfrm>
            <a:off x="4663440" y="4754880"/>
            <a:ext cx="7269480" cy="1600200"/>
            <a:chOff x="4663440" y="4754880"/>
            <a:chExt cx="7269480" cy="1600200"/>
          </a:xfrm>
        </p:grpSpPr>
        <p:sp>
          <p:nvSpPr>
            <p:cNvPr id="28" name="Forma 28"/>
            <p:cNvSpPr/>
            <p:nvPr/>
          </p:nvSpPr>
          <p:spPr>
            <a:xfrm>
              <a:off x="4663440" y="4956048"/>
              <a:ext cx="7269480" cy="139903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cociente </a:t>
              </a:r>
              <a:r>
                <a:rPr lang="es-AR" sz="17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orienta</a:t>
              </a:r>
              <a:r>
                <a:rPr lang="es-AR" sz="17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no diagnostica: depende de valores absolutos, del tiempo de evolución y de fuentes extrahepáticas de AST (músculo, corazón, hemólisis). Siempre se interpreta con la clínica y el resto del perfil.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29" name="Forma 29"/>
            <p:cNvSpPr/>
            <p:nvPr/>
          </p:nvSpPr>
          <p:spPr>
            <a:xfrm>
              <a:off x="4791456" y="47548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ÍNDICE DE DE RITIS (AST/ALT)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ADA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DE4E4"/>
          </a:solidFill>
          <a:ln>
            <a:noFill/>
          </a:ln>
        </p:spPr>
      </p:sp>
      <p:grpSp>
        <p:nvGrpSpPr>
          <p:cNvPr id="6" name="AST fuente 1"/>
          <p:cNvGrpSpPr/>
          <p:nvPr/>
        </p:nvGrpSpPr>
        <p:grpSpPr>
          <a:xfrm>
            <a:off x="411480" y="1097280"/>
            <a:ext cx="3657600" cy="3931920"/>
            <a:chOff x="411480" y="1097280"/>
            <a:chExt cx="3657600" cy="3931920"/>
          </a:xfrm>
        </p:grpSpPr>
        <p:sp>
          <p:nvSpPr>
            <p:cNvPr id="7" name="Forma 6"/>
            <p:cNvSpPr/>
            <p:nvPr/>
          </p:nvSpPr>
          <p:spPr>
            <a:xfrm>
              <a:off x="411480" y="1097280"/>
              <a:ext cx="3657600" cy="39319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8" name="c"/>
            <p:cNvGrpSpPr/>
            <p:nvPr/>
          </p:nvGrpSpPr>
          <p:grpSpPr>
            <a:xfrm>
              <a:off x="1417320" y="1280160"/>
              <a:ext cx="1645920" cy="1810512"/>
              <a:chOff x="1417320" y="1280160"/>
              <a:chExt cx="1645920" cy="1810512"/>
            </a:xfrm>
          </p:grpSpPr>
          <p:sp>
            <p:nvSpPr>
              <p:cNvPr id="9" name="Aorta"/>
              <p:cNvSpPr/>
              <p:nvPr/>
            </p:nvSpPr>
            <p:spPr>
              <a:xfrm>
                <a:off x="2042770" y="1280160"/>
                <a:ext cx="526694" cy="57936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10" name="Arteria pulmonar"/>
              <p:cNvSpPr/>
              <p:nvPr/>
            </p:nvSpPr>
            <p:spPr>
              <a:xfrm>
                <a:off x="1779422" y="1461211"/>
                <a:ext cx="362102" cy="45262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11" name="Miocardio"/>
              <p:cNvSpPr/>
              <p:nvPr/>
            </p:nvSpPr>
            <p:spPr>
              <a:xfrm>
                <a:off x="1417320" y="1606052"/>
                <a:ext cx="1645920" cy="148462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12" name="Aurícula derecha"/>
              <p:cNvSpPr/>
              <p:nvPr/>
            </p:nvSpPr>
            <p:spPr>
              <a:xfrm>
                <a:off x="1483157" y="1823314"/>
                <a:ext cx="460858" cy="50694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sp>
          <p:nvSpPr>
            <p:cNvPr id="13" name="!!ArteriaCoronaria izquierda"/>
            <p:cNvSpPr/>
            <p:nvPr/>
          </p:nvSpPr>
          <p:spPr>
            <a:xfrm>
              <a:off x="1417320" y="1606052"/>
              <a:ext cx="1645920" cy="14846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70" y="240"/>
                  </a:moveTo>
                  <a:cubicBezTo>
                    <a:pt x="520" y="330"/>
                    <a:pt x="560" y="450"/>
                    <a:pt x="560" y="560"/>
                  </a:cubicBezTo>
                  <a:cubicBezTo>
                    <a:pt x="560" y="700"/>
                    <a:pt x="520" y="820"/>
                    <a:pt x="480" y="940"/>
                  </a:cubicBezTo>
                </a:path>
                <a:path w="1000" h="1000" fill="none">
                  <a:moveTo>
                    <a:pt x="470" y="240"/>
                  </a:moveTo>
                  <a:cubicBezTo>
                    <a:pt x="600" y="260"/>
                    <a:pt x="760" y="330"/>
                    <a:pt x="880" y="450"/>
                  </a:cubicBezTo>
                </a:path>
                <a:path w="1000" h="1000" fill="none">
                  <a:moveTo>
                    <a:pt x="560" y="470"/>
                  </a:moveTo>
                  <a:cubicBezTo>
                    <a:pt x="650" y="520"/>
                    <a:pt x="720" y="600"/>
                    <a:pt x="760" y="70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14" name="!!ArteriaCoronaria derecha"/>
            <p:cNvSpPr/>
            <p:nvPr/>
          </p:nvSpPr>
          <p:spPr>
            <a:xfrm>
              <a:off x="1417320" y="1606052"/>
              <a:ext cx="1645920" cy="148462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20" y="235"/>
                  </a:moveTo>
                  <a:cubicBezTo>
                    <a:pt x="300" y="300"/>
                    <a:pt x="180" y="420"/>
                    <a:pt x="140" y="560"/>
                  </a:cubicBezTo>
                  <a:cubicBezTo>
                    <a:pt x="120" y="650"/>
                    <a:pt x="160" y="760"/>
                    <a:pt x="260" y="82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15" name="Ficha AST"/>
            <p:cNvSpPr/>
            <p:nvPr/>
          </p:nvSpPr>
          <p:spPr>
            <a:xfrm>
              <a:off x="1828800" y="3291840"/>
              <a:ext cx="8229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Forma 15"/>
            <p:cNvSpPr txBox="1"/>
            <p:nvPr/>
          </p:nvSpPr>
          <p:spPr>
            <a:xfrm>
              <a:off x="594360" y="3840480"/>
              <a:ext cx="3291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Infarto agudo de miocardio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17" name="Forma 16"/>
            <p:cNvSpPr txBox="1"/>
            <p:nvPr/>
          </p:nvSpPr>
          <p:spPr>
            <a:xfrm>
              <a:off x="594360" y="4297680"/>
              <a:ext cx="32918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 del músculo cardíaco (Unidad IV).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8" name="AST fuente 2"/>
          <p:cNvGrpSpPr/>
          <p:nvPr/>
        </p:nvGrpSpPr>
        <p:grpSpPr>
          <a:xfrm>
            <a:off x="4297680" y="1097280"/>
            <a:ext cx="3657600" cy="3931920"/>
            <a:chOff x="4297680" y="1097280"/>
            <a:chExt cx="3657600" cy="3931920"/>
          </a:xfrm>
        </p:grpSpPr>
        <p:sp>
          <p:nvSpPr>
            <p:cNvPr id="19" name="Forma 18"/>
            <p:cNvSpPr/>
            <p:nvPr/>
          </p:nvSpPr>
          <p:spPr>
            <a:xfrm>
              <a:off x="4297680" y="1097280"/>
              <a:ext cx="3657600" cy="39319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grpSp>
          <p:nvGrpSpPr>
            <p:cNvPr id="20" name="m"/>
            <p:cNvGrpSpPr/>
            <p:nvPr/>
          </p:nvGrpSpPr>
          <p:grpSpPr>
            <a:xfrm>
              <a:off x="4754880" y="1554480"/>
              <a:ext cx="2743200" cy="1360627"/>
              <a:chOff x="4754880" y="1554480"/>
              <a:chExt cx="2743200" cy="1360627"/>
            </a:xfrm>
          </p:grpSpPr>
          <p:grpSp>
            <p:nvGrpSpPr>
              <p:cNvPr id="21" name="Fibra"/>
              <p:cNvGrpSpPr/>
              <p:nvPr/>
            </p:nvGrpSpPr>
            <p:grpSpPr>
              <a:xfrm>
                <a:off x="4754880" y="1554480"/>
                <a:ext cx="2523744" cy="438912"/>
                <a:chOff x="4754880" y="1554480"/>
                <a:chExt cx="2523744" cy="438912"/>
              </a:xfrm>
            </p:grpSpPr>
            <p:sp>
              <p:nvSpPr>
                <p:cNvPr id="22" name="Forma 21"/>
                <p:cNvSpPr/>
                <p:nvPr/>
              </p:nvSpPr>
              <p:spPr>
                <a:xfrm>
                  <a:off x="4754880" y="1554480"/>
                  <a:ext cx="2523744" cy="43891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23" name="Forma 22"/>
                <p:cNvSpPr/>
                <p:nvPr/>
              </p:nvSpPr>
              <p:spPr>
                <a:xfrm>
                  <a:off x="4864608" y="1554480"/>
                  <a:ext cx="2304288" cy="4389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6" y="80"/>
                      </a:moveTo>
                      <a:lnTo>
                        <a:pt x="16" y="920"/>
                      </a:lnTo>
                    </a:path>
                    <a:path w="1000" h="1000" fill="none">
                      <a:moveTo>
                        <a:pt x="50" y="80"/>
                      </a:moveTo>
                      <a:lnTo>
                        <a:pt x="50" y="920"/>
                      </a:lnTo>
                    </a:path>
                    <a:path w="1000" h="1000" fill="none">
                      <a:moveTo>
                        <a:pt x="83" y="80"/>
                      </a:moveTo>
                      <a:lnTo>
                        <a:pt x="83" y="920"/>
                      </a:lnTo>
                    </a:path>
                    <a:path w="1000" h="1000" fill="none">
                      <a:moveTo>
                        <a:pt x="116" y="80"/>
                      </a:moveTo>
                      <a:lnTo>
                        <a:pt x="116" y="920"/>
                      </a:lnTo>
                    </a:path>
                    <a:path w="1000" h="1000" fill="none">
                      <a:moveTo>
                        <a:pt x="150" y="80"/>
                      </a:moveTo>
                      <a:lnTo>
                        <a:pt x="150" y="920"/>
                      </a:lnTo>
                    </a:path>
                    <a:path w="1000" h="1000" fill="none">
                      <a:moveTo>
                        <a:pt x="183" y="80"/>
                      </a:moveTo>
                      <a:lnTo>
                        <a:pt x="183" y="920"/>
                      </a:lnTo>
                    </a:path>
                    <a:path w="1000" h="1000" fill="none">
                      <a:moveTo>
                        <a:pt x="216" y="80"/>
                      </a:moveTo>
                      <a:lnTo>
                        <a:pt x="216" y="920"/>
                      </a:lnTo>
                    </a:path>
                    <a:path w="1000" h="1000" fill="none">
                      <a:moveTo>
                        <a:pt x="250" y="80"/>
                      </a:moveTo>
                      <a:lnTo>
                        <a:pt x="250" y="920"/>
                      </a:lnTo>
                    </a:path>
                    <a:path w="1000" h="1000" fill="none">
                      <a:moveTo>
                        <a:pt x="283" y="80"/>
                      </a:moveTo>
                      <a:lnTo>
                        <a:pt x="283" y="920"/>
                      </a:lnTo>
                    </a:path>
                    <a:path w="1000" h="1000" fill="none">
                      <a:moveTo>
                        <a:pt x="316" y="80"/>
                      </a:moveTo>
                      <a:lnTo>
                        <a:pt x="316" y="920"/>
                      </a:lnTo>
                    </a:path>
                    <a:path w="1000" h="1000" fill="none">
                      <a:moveTo>
                        <a:pt x="350" y="80"/>
                      </a:moveTo>
                      <a:lnTo>
                        <a:pt x="350" y="920"/>
                      </a:lnTo>
                    </a:path>
                    <a:path w="1000" h="1000" fill="none">
                      <a:moveTo>
                        <a:pt x="383" y="80"/>
                      </a:moveTo>
                      <a:lnTo>
                        <a:pt x="383" y="920"/>
                      </a:lnTo>
                    </a:path>
                    <a:path w="1000" h="1000" fill="none">
                      <a:moveTo>
                        <a:pt x="416" y="80"/>
                      </a:moveTo>
                      <a:lnTo>
                        <a:pt x="416" y="920"/>
                      </a:lnTo>
                    </a:path>
                    <a:path w="1000" h="1000" fill="none">
                      <a:moveTo>
                        <a:pt x="450" y="80"/>
                      </a:moveTo>
                      <a:lnTo>
                        <a:pt x="450" y="920"/>
                      </a:lnTo>
                    </a:path>
                    <a:path w="1000" h="1000" fill="none">
                      <a:moveTo>
                        <a:pt x="483" y="80"/>
                      </a:moveTo>
                      <a:lnTo>
                        <a:pt x="483" y="920"/>
                      </a:lnTo>
                    </a:path>
                    <a:path w="1000" h="1000" fill="none">
                      <a:moveTo>
                        <a:pt x="516" y="80"/>
                      </a:moveTo>
                      <a:lnTo>
                        <a:pt x="516" y="920"/>
                      </a:lnTo>
                    </a:path>
                    <a:path w="1000" h="1000" fill="none">
                      <a:moveTo>
                        <a:pt x="550" y="80"/>
                      </a:moveTo>
                      <a:lnTo>
                        <a:pt x="550" y="920"/>
                      </a:lnTo>
                    </a:path>
                    <a:path w="1000" h="1000" fill="none">
                      <a:moveTo>
                        <a:pt x="583" y="80"/>
                      </a:moveTo>
                      <a:lnTo>
                        <a:pt x="583" y="920"/>
                      </a:lnTo>
                    </a:path>
                    <a:path w="1000" h="1000" fill="none">
                      <a:moveTo>
                        <a:pt x="616" y="80"/>
                      </a:moveTo>
                      <a:lnTo>
                        <a:pt x="616" y="920"/>
                      </a:lnTo>
                    </a:path>
                    <a:path w="1000" h="1000" fill="none">
                      <a:moveTo>
                        <a:pt x="650" y="80"/>
                      </a:moveTo>
                      <a:lnTo>
                        <a:pt x="650" y="920"/>
                      </a:lnTo>
                    </a:path>
                    <a:path w="1000" h="1000" fill="none">
                      <a:moveTo>
                        <a:pt x="683" y="80"/>
                      </a:moveTo>
                      <a:lnTo>
                        <a:pt x="683" y="920"/>
                      </a:lnTo>
                    </a:path>
                    <a:path w="1000" h="1000" fill="none">
                      <a:moveTo>
                        <a:pt x="716" y="80"/>
                      </a:moveTo>
                      <a:lnTo>
                        <a:pt x="716" y="920"/>
                      </a:lnTo>
                    </a:path>
                    <a:path w="1000" h="1000" fill="none">
                      <a:moveTo>
                        <a:pt x="750" y="80"/>
                      </a:moveTo>
                      <a:lnTo>
                        <a:pt x="750" y="920"/>
                      </a:lnTo>
                    </a:path>
                    <a:path w="1000" h="1000" fill="none">
                      <a:moveTo>
                        <a:pt x="783" y="80"/>
                      </a:moveTo>
                      <a:lnTo>
                        <a:pt x="783" y="920"/>
                      </a:lnTo>
                    </a:path>
                    <a:path w="1000" h="1000" fill="none">
                      <a:moveTo>
                        <a:pt x="816" y="80"/>
                      </a:moveTo>
                      <a:lnTo>
                        <a:pt x="816" y="920"/>
                      </a:lnTo>
                    </a:path>
                    <a:path w="1000" h="1000" fill="none">
                      <a:moveTo>
                        <a:pt x="850" y="80"/>
                      </a:moveTo>
                      <a:lnTo>
                        <a:pt x="850" y="920"/>
                      </a:lnTo>
                    </a:path>
                    <a:path w="1000" h="1000" fill="none">
                      <a:moveTo>
                        <a:pt x="883" y="80"/>
                      </a:moveTo>
                      <a:lnTo>
                        <a:pt x="883" y="920"/>
                      </a:lnTo>
                    </a:path>
                    <a:path w="1000" h="1000" fill="none">
                      <a:moveTo>
                        <a:pt x="916" y="80"/>
                      </a:moveTo>
                      <a:lnTo>
                        <a:pt x="916" y="920"/>
                      </a:lnTo>
                    </a:path>
                    <a:path w="1000" h="1000" fill="none">
                      <a:moveTo>
                        <a:pt x="950" y="80"/>
                      </a:moveTo>
                      <a:lnTo>
                        <a:pt x="950" y="920"/>
                      </a:lnTo>
                    </a:path>
                    <a:path w="1000" h="1000" fill="none">
                      <a:moveTo>
                        <a:pt x="983" y="80"/>
                      </a:moveTo>
                      <a:lnTo>
                        <a:pt x="983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24" name="Forma 23"/>
                <p:cNvSpPr/>
                <p:nvPr/>
              </p:nvSpPr>
              <p:spPr>
                <a:xfrm>
                  <a:off x="5259629" y="1572036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5" name="Forma 24"/>
                <p:cNvSpPr/>
                <p:nvPr/>
              </p:nvSpPr>
              <p:spPr>
                <a:xfrm>
                  <a:off x="6142939" y="1572036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6" name="Forma 25"/>
                <p:cNvSpPr/>
                <p:nvPr/>
              </p:nvSpPr>
              <p:spPr>
                <a:xfrm>
                  <a:off x="6900062" y="1572036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27" name="Forma 26"/>
                <p:cNvSpPr/>
                <p:nvPr/>
              </p:nvSpPr>
              <p:spPr>
                <a:xfrm>
                  <a:off x="7094281" y="1572036"/>
                  <a:ext cx="175565" cy="40379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28" name="Fibra_2"/>
              <p:cNvGrpSpPr/>
              <p:nvPr/>
            </p:nvGrpSpPr>
            <p:grpSpPr>
              <a:xfrm>
                <a:off x="4864608" y="2015338"/>
                <a:ext cx="2523744" cy="438912"/>
                <a:chOff x="4864608" y="2015338"/>
                <a:chExt cx="2523744" cy="438912"/>
              </a:xfrm>
            </p:grpSpPr>
            <p:sp>
              <p:nvSpPr>
                <p:cNvPr id="29" name="Forma 28"/>
                <p:cNvSpPr/>
                <p:nvPr/>
              </p:nvSpPr>
              <p:spPr>
                <a:xfrm>
                  <a:off x="4864608" y="2015338"/>
                  <a:ext cx="2523744" cy="43891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30" name="Forma 29"/>
                <p:cNvSpPr/>
                <p:nvPr/>
              </p:nvSpPr>
              <p:spPr>
                <a:xfrm>
                  <a:off x="4974336" y="2015338"/>
                  <a:ext cx="2304288" cy="4389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6" y="80"/>
                      </a:moveTo>
                      <a:lnTo>
                        <a:pt x="16" y="920"/>
                      </a:lnTo>
                    </a:path>
                    <a:path w="1000" h="1000" fill="none">
                      <a:moveTo>
                        <a:pt x="50" y="80"/>
                      </a:moveTo>
                      <a:lnTo>
                        <a:pt x="50" y="920"/>
                      </a:lnTo>
                    </a:path>
                    <a:path w="1000" h="1000" fill="none">
                      <a:moveTo>
                        <a:pt x="83" y="80"/>
                      </a:moveTo>
                      <a:lnTo>
                        <a:pt x="83" y="920"/>
                      </a:lnTo>
                    </a:path>
                    <a:path w="1000" h="1000" fill="none">
                      <a:moveTo>
                        <a:pt x="116" y="80"/>
                      </a:moveTo>
                      <a:lnTo>
                        <a:pt x="116" y="920"/>
                      </a:lnTo>
                    </a:path>
                    <a:path w="1000" h="1000" fill="none">
                      <a:moveTo>
                        <a:pt x="150" y="80"/>
                      </a:moveTo>
                      <a:lnTo>
                        <a:pt x="150" y="920"/>
                      </a:lnTo>
                    </a:path>
                    <a:path w="1000" h="1000" fill="none">
                      <a:moveTo>
                        <a:pt x="183" y="80"/>
                      </a:moveTo>
                      <a:lnTo>
                        <a:pt x="183" y="920"/>
                      </a:lnTo>
                    </a:path>
                    <a:path w="1000" h="1000" fill="none">
                      <a:moveTo>
                        <a:pt x="216" y="80"/>
                      </a:moveTo>
                      <a:lnTo>
                        <a:pt x="216" y="920"/>
                      </a:lnTo>
                    </a:path>
                    <a:path w="1000" h="1000" fill="none">
                      <a:moveTo>
                        <a:pt x="250" y="80"/>
                      </a:moveTo>
                      <a:lnTo>
                        <a:pt x="250" y="920"/>
                      </a:lnTo>
                    </a:path>
                    <a:path w="1000" h="1000" fill="none">
                      <a:moveTo>
                        <a:pt x="283" y="80"/>
                      </a:moveTo>
                      <a:lnTo>
                        <a:pt x="283" y="920"/>
                      </a:lnTo>
                    </a:path>
                    <a:path w="1000" h="1000" fill="none">
                      <a:moveTo>
                        <a:pt x="316" y="80"/>
                      </a:moveTo>
                      <a:lnTo>
                        <a:pt x="316" y="920"/>
                      </a:lnTo>
                    </a:path>
                    <a:path w="1000" h="1000" fill="none">
                      <a:moveTo>
                        <a:pt x="350" y="80"/>
                      </a:moveTo>
                      <a:lnTo>
                        <a:pt x="350" y="920"/>
                      </a:lnTo>
                    </a:path>
                    <a:path w="1000" h="1000" fill="none">
                      <a:moveTo>
                        <a:pt x="383" y="80"/>
                      </a:moveTo>
                      <a:lnTo>
                        <a:pt x="383" y="920"/>
                      </a:lnTo>
                    </a:path>
                    <a:path w="1000" h="1000" fill="none">
                      <a:moveTo>
                        <a:pt x="416" y="80"/>
                      </a:moveTo>
                      <a:lnTo>
                        <a:pt x="416" y="920"/>
                      </a:lnTo>
                    </a:path>
                    <a:path w="1000" h="1000" fill="none">
                      <a:moveTo>
                        <a:pt x="450" y="80"/>
                      </a:moveTo>
                      <a:lnTo>
                        <a:pt x="450" y="920"/>
                      </a:lnTo>
                    </a:path>
                    <a:path w="1000" h="1000" fill="none">
                      <a:moveTo>
                        <a:pt x="483" y="80"/>
                      </a:moveTo>
                      <a:lnTo>
                        <a:pt x="483" y="920"/>
                      </a:lnTo>
                    </a:path>
                    <a:path w="1000" h="1000" fill="none">
                      <a:moveTo>
                        <a:pt x="516" y="80"/>
                      </a:moveTo>
                      <a:lnTo>
                        <a:pt x="516" y="920"/>
                      </a:lnTo>
                    </a:path>
                    <a:path w="1000" h="1000" fill="none">
                      <a:moveTo>
                        <a:pt x="550" y="80"/>
                      </a:moveTo>
                      <a:lnTo>
                        <a:pt x="550" y="920"/>
                      </a:lnTo>
                    </a:path>
                    <a:path w="1000" h="1000" fill="none">
                      <a:moveTo>
                        <a:pt x="583" y="80"/>
                      </a:moveTo>
                      <a:lnTo>
                        <a:pt x="583" y="920"/>
                      </a:lnTo>
                    </a:path>
                    <a:path w="1000" h="1000" fill="none">
                      <a:moveTo>
                        <a:pt x="616" y="80"/>
                      </a:moveTo>
                      <a:lnTo>
                        <a:pt x="616" y="920"/>
                      </a:lnTo>
                    </a:path>
                    <a:path w="1000" h="1000" fill="none">
                      <a:moveTo>
                        <a:pt x="650" y="80"/>
                      </a:moveTo>
                      <a:lnTo>
                        <a:pt x="650" y="920"/>
                      </a:lnTo>
                    </a:path>
                    <a:path w="1000" h="1000" fill="none">
                      <a:moveTo>
                        <a:pt x="683" y="80"/>
                      </a:moveTo>
                      <a:lnTo>
                        <a:pt x="683" y="920"/>
                      </a:lnTo>
                    </a:path>
                    <a:path w="1000" h="1000" fill="none">
                      <a:moveTo>
                        <a:pt x="716" y="80"/>
                      </a:moveTo>
                      <a:lnTo>
                        <a:pt x="716" y="920"/>
                      </a:lnTo>
                    </a:path>
                    <a:path w="1000" h="1000" fill="none">
                      <a:moveTo>
                        <a:pt x="750" y="80"/>
                      </a:moveTo>
                      <a:lnTo>
                        <a:pt x="750" y="920"/>
                      </a:lnTo>
                    </a:path>
                    <a:path w="1000" h="1000" fill="none">
                      <a:moveTo>
                        <a:pt x="783" y="80"/>
                      </a:moveTo>
                      <a:lnTo>
                        <a:pt x="783" y="920"/>
                      </a:lnTo>
                    </a:path>
                    <a:path w="1000" h="1000" fill="none">
                      <a:moveTo>
                        <a:pt x="816" y="80"/>
                      </a:moveTo>
                      <a:lnTo>
                        <a:pt x="816" y="920"/>
                      </a:lnTo>
                    </a:path>
                    <a:path w="1000" h="1000" fill="none">
                      <a:moveTo>
                        <a:pt x="850" y="80"/>
                      </a:moveTo>
                      <a:lnTo>
                        <a:pt x="850" y="920"/>
                      </a:lnTo>
                    </a:path>
                    <a:path w="1000" h="1000" fill="none">
                      <a:moveTo>
                        <a:pt x="883" y="80"/>
                      </a:moveTo>
                      <a:lnTo>
                        <a:pt x="883" y="920"/>
                      </a:lnTo>
                    </a:path>
                    <a:path w="1000" h="1000" fill="none">
                      <a:moveTo>
                        <a:pt x="916" y="80"/>
                      </a:moveTo>
                      <a:lnTo>
                        <a:pt x="916" y="920"/>
                      </a:lnTo>
                    </a:path>
                    <a:path w="1000" h="1000" fill="none">
                      <a:moveTo>
                        <a:pt x="950" y="80"/>
                      </a:moveTo>
                      <a:lnTo>
                        <a:pt x="950" y="920"/>
                      </a:lnTo>
                    </a:path>
                    <a:path w="1000" h="1000" fill="none">
                      <a:moveTo>
                        <a:pt x="983" y="80"/>
                      </a:moveTo>
                      <a:lnTo>
                        <a:pt x="983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31" name="Forma 30"/>
                <p:cNvSpPr/>
                <p:nvPr/>
              </p:nvSpPr>
              <p:spPr>
                <a:xfrm>
                  <a:off x="5369357" y="2032894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2" name="Forma 31"/>
                <p:cNvSpPr/>
                <p:nvPr/>
              </p:nvSpPr>
              <p:spPr>
                <a:xfrm>
                  <a:off x="6252667" y="2032894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3" name="Forma 32"/>
                <p:cNvSpPr/>
                <p:nvPr/>
              </p:nvSpPr>
              <p:spPr>
                <a:xfrm>
                  <a:off x="7009790" y="2032894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4" name="Forma 33"/>
                <p:cNvSpPr/>
                <p:nvPr/>
              </p:nvSpPr>
              <p:spPr>
                <a:xfrm>
                  <a:off x="7204009" y="2032894"/>
                  <a:ext cx="175565" cy="40379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  <p:grpSp>
            <p:nvGrpSpPr>
              <p:cNvPr id="35" name="Fibra_3"/>
              <p:cNvGrpSpPr/>
              <p:nvPr/>
            </p:nvGrpSpPr>
            <p:grpSpPr>
              <a:xfrm>
                <a:off x="4974336" y="2476195"/>
                <a:ext cx="2523744" cy="438912"/>
                <a:chOff x="4974336" y="2476195"/>
                <a:chExt cx="2523744" cy="438912"/>
              </a:xfrm>
            </p:grpSpPr>
            <p:sp>
              <p:nvSpPr>
                <p:cNvPr id="36" name="Forma 35"/>
                <p:cNvSpPr/>
                <p:nvPr/>
              </p:nvSpPr>
              <p:spPr>
                <a:xfrm>
                  <a:off x="4974336" y="2476195"/>
                  <a:ext cx="2523744" cy="43891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7C2C25"/>
                    </a:gs>
                    <a:gs pos="30000">
                      <a:srgbClr val="DA827B"/>
                    </a:gs>
                    <a:gs pos="55000">
                      <a:srgbClr val="C9483D"/>
                    </a:gs>
                    <a:gs pos="100000">
                      <a:srgbClr val="7C2C25"/>
                    </a:gs>
                  </a:gsLst>
                  <a:lin ang="5400000" scaled="0"/>
                </a:gradFill>
                <a:ln w="15875" cap="rnd">
                  <a:solidFill>
                    <a:srgbClr val="5A201B"/>
                  </a:solidFill>
                  <a:round/>
                </a:ln>
                <a:effectLst>
                  <a:outerShdw blurRad="101600" dist="50800" dir="2700000" algn="tl" rotWithShape="0">
                    <a:srgbClr val="000000">
                      <a:alpha val="30000"/>
                    </a:srgbClr>
                  </a:outerShdw>
                </a:effectLst>
              </p:spPr>
            </p:sp>
            <p:sp>
              <p:nvSpPr>
                <p:cNvPr id="37" name="Forma 36"/>
                <p:cNvSpPr/>
                <p:nvPr/>
              </p:nvSpPr>
              <p:spPr>
                <a:xfrm>
                  <a:off x="5084064" y="2476195"/>
                  <a:ext cx="2304288" cy="4389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16" y="80"/>
                      </a:moveTo>
                      <a:lnTo>
                        <a:pt x="16" y="920"/>
                      </a:lnTo>
                    </a:path>
                    <a:path w="1000" h="1000" fill="none">
                      <a:moveTo>
                        <a:pt x="50" y="80"/>
                      </a:moveTo>
                      <a:lnTo>
                        <a:pt x="50" y="920"/>
                      </a:lnTo>
                    </a:path>
                    <a:path w="1000" h="1000" fill="none">
                      <a:moveTo>
                        <a:pt x="83" y="80"/>
                      </a:moveTo>
                      <a:lnTo>
                        <a:pt x="83" y="920"/>
                      </a:lnTo>
                    </a:path>
                    <a:path w="1000" h="1000" fill="none">
                      <a:moveTo>
                        <a:pt x="116" y="80"/>
                      </a:moveTo>
                      <a:lnTo>
                        <a:pt x="116" y="920"/>
                      </a:lnTo>
                    </a:path>
                    <a:path w="1000" h="1000" fill="none">
                      <a:moveTo>
                        <a:pt x="150" y="80"/>
                      </a:moveTo>
                      <a:lnTo>
                        <a:pt x="150" y="920"/>
                      </a:lnTo>
                    </a:path>
                    <a:path w="1000" h="1000" fill="none">
                      <a:moveTo>
                        <a:pt x="183" y="80"/>
                      </a:moveTo>
                      <a:lnTo>
                        <a:pt x="183" y="920"/>
                      </a:lnTo>
                    </a:path>
                    <a:path w="1000" h="1000" fill="none">
                      <a:moveTo>
                        <a:pt x="216" y="80"/>
                      </a:moveTo>
                      <a:lnTo>
                        <a:pt x="216" y="920"/>
                      </a:lnTo>
                    </a:path>
                    <a:path w="1000" h="1000" fill="none">
                      <a:moveTo>
                        <a:pt x="250" y="80"/>
                      </a:moveTo>
                      <a:lnTo>
                        <a:pt x="250" y="920"/>
                      </a:lnTo>
                    </a:path>
                    <a:path w="1000" h="1000" fill="none">
                      <a:moveTo>
                        <a:pt x="283" y="80"/>
                      </a:moveTo>
                      <a:lnTo>
                        <a:pt x="283" y="920"/>
                      </a:lnTo>
                    </a:path>
                    <a:path w="1000" h="1000" fill="none">
                      <a:moveTo>
                        <a:pt x="316" y="80"/>
                      </a:moveTo>
                      <a:lnTo>
                        <a:pt x="316" y="920"/>
                      </a:lnTo>
                    </a:path>
                    <a:path w="1000" h="1000" fill="none">
                      <a:moveTo>
                        <a:pt x="350" y="80"/>
                      </a:moveTo>
                      <a:lnTo>
                        <a:pt x="350" y="920"/>
                      </a:lnTo>
                    </a:path>
                    <a:path w="1000" h="1000" fill="none">
                      <a:moveTo>
                        <a:pt x="383" y="80"/>
                      </a:moveTo>
                      <a:lnTo>
                        <a:pt x="383" y="920"/>
                      </a:lnTo>
                    </a:path>
                    <a:path w="1000" h="1000" fill="none">
                      <a:moveTo>
                        <a:pt x="416" y="80"/>
                      </a:moveTo>
                      <a:lnTo>
                        <a:pt x="416" y="920"/>
                      </a:lnTo>
                    </a:path>
                    <a:path w="1000" h="1000" fill="none">
                      <a:moveTo>
                        <a:pt x="450" y="80"/>
                      </a:moveTo>
                      <a:lnTo>
                        <a:pt x="450" y="920"/>
                      </a:lnTo>
                    </a:path>
                    <a:path w="1000" h="1000" fill="none">
                      <a:moveTo>
                        <a:pt x="483" y="80"/>
                      </a:moveTo>
                      <a:lnTo>
                        <a:pt x="483" y="920"/>
                      </a:lnTo>
                    </a:path>
                    <a:path w="1000" h="1000" fill="none">
                      <a:moveTo>
                        <a:pt x="516" y="80"/>
                      </a:moveTo>
                      <a:lnTo>
                        <a:pt x="516" y="920"/>
                      </a:lnTo>
                    </a:path>
                    <a:path w="1000" h="1000" fill="none">
                      <a:moveTo>
                        <a:pt x="550" y="80"/>
                      </a:moveTo>
                      <a:lnTo>
                        <a:pt x="550" y="920"/>
                      </a:lnTo>
                    </a:path>
                    <a:path w="1000" h="1000" fill="none">
                      <a:moveTo>
                        <a:pt x="583" y="80"/>
                      </a:moveTo>
                      <a:lnTo>
                        <a:pt x="583" y="920"/>
                      </a:lnTo>
                    </a:path>
                    <a:path w="1000" h="1000" fill="none">
                      <a:moveTo>
                        <a:pt x="616" y="80"/>
                      </a:moveTo>
                      <a:lnTo>
                        <a:pt x="616" y="920"/>
                      </a:lnTo>
                    </a:path>
                    <a:path w="1000" h="1000" fill="none">
                      <a:moveTo>
                        <a:pt x="650" y="80"/>
                      </a:moveTo>
                      <a:lnTo>
                        <a:pt x="650" y="920"/>
                      </a:lnTo>
                    </a:path>
                    <a:path w="1000" h="1000" fill="none">
                      <a:moveTo>
                        <a:pt x="683" y="80"/>
                      </a:moveTo>
                      <a:lnTo>
                        <a:pt x="683" y="920"/>
                      </a:lnTo>
                    </a:path>
                    <a:path w="1000" h="1000" fill="none">
                      <a:moveTo>
                        <a:pt x="716" y="80"/>
                      </a:moveTo>
                      <a:lnTo>
                        <a:pt x="716" y="920"/>
                      </a:lnTo>
                    </a:path>
                    <a:path w="1000" h="1000" fill="none">
                      <a:moveTo>
                        <a:pt x="750" y="80"/>
                      </a:moveTo>
                      <a:lnTo>
                        <a:pt x="750" y="920"/>
                      </a:lnTo>
                    </a:path>
                    <a:path w="1000" h="1000" fill="none">
                      <a:moveTo>
                        <a:pt x="783" y="80"/>
                      </a:moveTo>
                      <a:lnTo>
                        <a:pt x="783" y="920"/>
                      </a:lnTo>
                    </a:path>
                    <a:path w="1000" h="1000" fill="none">
                      <a:moveTo>
                        <a:pt x="816" y="80"/>
                      </a:moveTo>
                      <a:lnTo>
                        <a:pt x="816" y="920"/>
                      </a:lnTo>
                    </a:path>
                    <a:path w="1000" h="1000" fill="none">
                      <a:moveTo>
                        <a:pt x="850" y="80"/>
                      </a:moveTo>
                      <a:lnTo>
                        <a:pt x="850" y="920"/>
                      </a:lnTo>
                    </a:path>
                    <a:path w="1000" h="1000" fill="none">
                      <a:moveTo>
                        <a:pt x="883" y="80"/>
                      </a:moveTo>
                      <a:lnTo>
                        <a:pt x="883" y="920"/>
                      </a:lnTo>
                    </a:path>
                    <a:path w="1000" h="1000" fill="none">
                      <a:moveTo>
                        <a:pt x="916" y="80"/>
                      </a:moveTo>
                      <a:lnTo>
                        <a:pt x="916" y="920"/>
                      </a:lnTo>
                    </a:path>
                    <a:path w="1000" h="1000" fill="none">
                      <a:moveTo>
                        <a:pt x="950" y="80"/>
                      </a:moveTo>
                      <a:lnTo>
                        <a:pt x="950" y="920"/>
                      </a:lnTo>
                    </a:path>
                    <a:path w="1000" h="1000" fill="none">
                      <a:moveTo>
                        <a:pt x="983" y="80"/>
                      </a:moveTo>
                      <a:lnTo>
                        <a:pt x="983" y="920"/>
                      </a:lnTo>
                    </a:path>
                  </a:pathLst>
                </a:custGeom>
                <a:noFill/>
                <a:ln w="12700" cap="rnd">
                  <a:solidFill>
                    <a:srgbClr val="822E27"/>
                  </a:solidFill>
                  <a:round/>
                </a:ln>
              </p:spPr>
            </p:sp>
            <p:sp>
              <p:nvSpPr>
                <p:cNvPr id="38" name="Forma 37"/>
                <p:cNvSpPr/>
                <p:nvPr/>
              </p:nvSpPr>
              <p:spPr>
                <a:xfrm>
                  <a:off x="5479085" y="2493752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39" name="Forma 38"/>
                <p:cNvSpPr/>
                <p:nvPr/>
              </p:nvSpPr>
              <p:spPr>
                <a:xfrm>
                  <a:off x="6362395" y="2493752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0" name="Forma 39"/>
                <p:cNvSpPr/>
                <p:nvPr/>
              </p:nvSpPr>
              <p:spPr>
                <a:xfrm>
                  <a:off x="7119518" y="2493752"/>
                  <a:ext cx="219456" cy="7900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19CC9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>
                  <a:noFill/>
                </a:ln>
              </p:spPr>
            </p:sp>
            <p:sp>
              <p:nvSpPr>
                <p:cNvPr id="41" name="Forma 40"/>
                <p:cNvSpPr/>
                <p:nvPr/>
              </p:nvSpPr>
              <p:spPr>
                <a:xfrm>
                  <a:off x="7313737" y="2493752"/>
                  <a:ext cx="175565" cy="40379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9E79F"/>
                    </a:gs>
                    <a:gs pos="100000">
                      <a:srgbClr val="E59866"/>
                    </a:gs>
                  </a:gsLst>
                  <a:path path="circle">
                    <a:fillToRect l="50000" t="50000" r="50000" b="50000"/>
                  </a:path>
                </a:gradFill>
                <a:ln w="12700" cap="rnd">
                  <a:solidFill>
                    <a:srgbClr val="64241E"/>
                  </a:solidFill>
                  <a:round/>
                </a:ln>
              </p:spPr>
            </p:sp>
          </p:grpSp>
        </p:grpSp>
        <p:sp>
          <p:nvSpPr>
            <p:cNvPr id="42" name="Ficha AST_2"/>
            <p:cNvSpPr/>
            <p:nvPr/>
          </p:nvSpPr>
          <p:spPr>
            <a:xfrm>
              <a:off x="5715000" y="3291840"/>
              <a:ext cx="8229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43" name="Forma 42"/>
            <p:cNvSpPr txBox="1"/>
            <p:nvPr/>
          </p:nvSpPr>
          <p:spPr>
            <a:xfrm>
              <a:off x="4480560" y="3840480"/>
              <a:ext cx="3291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Rabdomiólisis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44" name="Forma 43"/>
            <p:cNvSpPr txBox="1"/>
            <p:nvPr/>
          </p:nvSpPr>
          <p:spPr>
            <a:xfrm>
              <a:off x="4480560" y="4297680"/>
              <a:ext cx="32918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 del músculo esquelético.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45" name="AST fuente 3"/>
          <p:cNvGrpSpPr/>
          <p:nvPr/>
        </p:nvGrpSpPr>
        <p:grpSpPr>
          <a:xfrm>
            <a:off x="8183880" y="1097280"/>
            <a:ext cx="3657600" cy="3931920"/>
            <a:chOff x="8183880" y="1097280"/>
            <a:chExt cx="3657600" cy="3931920"/>
          </a:xfrm>
        </p:grpSpPr>
        <p:sp>
          <p:nvSpPr>
            <p:cNvPr id="46" name="Forma 45"/>
            <p:cNvSpPr/>
            <p:nvPr/>
          </p:nvSpPr>
          <p:spPr>
            <a:xfrm>
              <a:off x="8183880" y="1097280"/>
              <a:ext cx="3657600" cy="39319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47" name="e0"/>
            <p:cNvSpPr/>
            <p:nvPr/>
          </p:nvSpPr>
          <p:spPr>
            <a:xfrm>
              <a:off x="8641080" y="173736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48" name="e1"/>
            <p:cNvSpPr/>
            <p:nvPr/>
          </p:nvSpPr>
          <p:spPr>
            <a:xfrm>
              <a:off x="9555480" y="219456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49" name="e2"/>
            <p:cNvSpPr/>
            <p:nvPr/>
          </p:nvSpPr>
          <p:spPr>
            <a:xfrm>
              <a:off x="10469880" y="1737360"/>
              <a:ext cx="868680" cy="86868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sp>
          <p:nvSpPr>
            <p:cNvPr id="50" name="Ficha AST_3"/>
            <p:cNvSpPr/>
            <p:nvPr/>
          </p:nvSpPr>
          <p:spPr>
            <a:xfrm>
              <a:off x="9601200" y="3291840"/>
              <a:ext cx="822960" cy="4114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7E75"/>
                </a:gs>
                <a:gs pos="55000">
                  <a:srgbClr val="C0392B"/>
                </a:gs>
                <a:gs pos="100000">
                  <a:srgbClr val="992D2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1C1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AST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51" name="Forma 50"/>
            <p:cNvSpPr txBox="1"/>
            <p:nvPr/>
          </p:nvSpPr>
          <p:spPr>
            <a:xfrm>
              <a:off x="8366760" y="3840480"/>
              <a:ext cx="329184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7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Hemólisis</a:t>
              </a:r>
              <a:endParaRPr lang="es-AR" sz="1700" dirty="0">
                <a:latin typeface="Calibri"/>
              </a:endParaRPr>
            </a:p>
          </p:txBody>
        </p:sp>
        <p:sp>
          <p:nvSpPr>
            <p:cNvPr id="52" name="Forma 51"/>
            <p:cNvSpPr txBox="1"/>
            <p:nvPr/>
          </p:nvSpPr>
          <p:spPr>
            <a:xfrm>
              <a:off x="8366760" y="4297680"/>
              <a:ext cx="329184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AST de los eritrocitos (Unidad III).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53" name="Conclusión AST"/>
          <p:cNvSpPr/>
          <p:nvPr/>
        </p:nvSpPr>
        <p:spPr>
          <a:xfrm>
            <a:off x="411480" y="5257800"/>
            <a:ext cx="11430000" cy="11887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Por eso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GOT y GPT se piden juntas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una AST alta con ALT normal obliga a buscar el origen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fuera del hígado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AST ELEVADA SIN ENFERMEDAD HEPÁTICA</a:t>
            </a:r>
            <a:endParaRPr lang="es-AR" sz="22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5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Tabla FAL fila 0"/>
          <p:cNvGrpSpPr/>
          <p:nvPr/>
        </p:nvGrpSpPr>
        <p:grpSpPr>
          <a:xfrm>
            <a:off x="365760" y="1097280"/>
            <a:ext cx="7680960" cy="777240"/>
            <a:chOff x="365760" y="1097280"/>
            <a:chExt cx="7680960" cy="77724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2651760" cy="7772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Tejido / situación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017520" y="1097280"/>
              <a:ext cx="5029200" cy="7772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Causa de elevación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8" name="Tabla FAL fila 1"/>
          <p:cNvGrpSpPr/>
          <p:nvPr/>
        </p:nvGrpSpPr>
        <p:grpSpPr>
          <a:xfrm>
            <a:off x="365760" y="1874520"/>
            <a:ext cx="7680960" cy="777240"/>
            <a:chOff x="365760" y="1874520"/>
            <a:chExt cx="7680960" cy="777240"/>
          </a:xfrm>
        </p:grpSpPr>
        <p:sp>
          <p:nvSpPr>
            <p:cNvPr id="9" name="Forma 8"/>
            <p:cNvSpPr/>
            <p:nvPr/>
          </p:nvSpPr>
          <p:spPr>
            <a:xfrm>
              <a:off x="365760" y="1874520"/>
              <a:ext cx="265176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Vías biliares / vesícula (colestasis)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3017520" y="1874520"/>
              <a:ext cx="502920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Colecistitis, colangitis, obstrucción biliar: marcador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principal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 obstrucción.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1" name="Tabla FAL fila 2"/>
          <p:cNvGrpSpPr/>
          <p:nvPr/>
        </p:nvGrpSpPr>
        <p:grpSpPr>
          <a:xfrm>
            <a:off x="365760" y="2651760"/>
            <a:ext cx="7680960" cy="777240"/>
            <a:chOff x="365760" y="2651760"/>
            <a:chExt cx="7680960" cy="777240"/>
          </a:xfrm>
        </p:grpSpPr>
        <p:sp>
          <p:nvSpPr>
            <p:cNvPr id="12" name="Forma 11"/>
            <p:cNvSpPr/>
            <p:nvPr/>
          </p:nvSpPr>
          <p:spPr>
            <a:xfrm>
              <a:off x="365760" y="2651760"/>
              <a:ext cx="265176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Hígado (canalículos biliares)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017520" y="2651760"/>
              <a:ext cx="502920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Hepatitis colestásica, cirrosis biliar primaria.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4" name="Tabla FAL fila 3"/>
          <p:cNvGrpSpPr/>
          <p:nvPr/>
        </p:nvGrpSpPr>
        <p:grpSpPr>
          <a:xfrm>
            <a:off x="365760" y="3429000"/>
            <a:ext cx="7680960" cy="777240"/>
            <a:chOff x="365760" y="3429000"/>
            <a:chExt cx="7680960" cy="777240"/>
          </a:xfrm>
        </p:grpSpPr>
        <p:sp>
          <p:nvSpPr>
            <p:cNvPr id="15" name="Forma 14"/>
            <p:cNvSpPr/>
            <p:nvPr/>
          </p:nvSpPr>
          <p:spPr>
            <a:xfrm>
              <a:off x="365760" y="3429000"/>
              <a:ext cx="265176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Hueso (osteoblastos)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3017520" y="3429000"/>
              <a:ext cx="502920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Crecimiento óseo (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niños: muy elevada = normal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), Paget, metástasis óseas, fracturas en consolidación, hiperparatiroidismo.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Tabla FAL fila 4"/>
          <p:cNvGrpSpPr/>
          <p:nvPr/>
        </p:nvGrpSpPr>
        <p:grpSpPr>
          <a:xfrm>
            <a:off x="365760" y="4206240"/>
            <a:ext cx="7680960" cy="777240"/>
            <a:chOff x="365760" y="4206240"/>
            <a:chExt cx="7680960" cy="777240"/>
          </a:xfrm>
        </p:grpSpPr>
        <p:sp>
          <p:nvSpPr>
            <p:cNvPr id="18" name="Forma 17"/>
            <p:cNvSpPr/>
            <p:nvPr/>
          </p:nvSpPr>
          <p:spPr>
            <a:xfrm>
              <a:off x="365760" y="4206240"/>
              <a:ext cx="265176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Placenta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3017520" y="4206240"/>
              <a:ext cx="502920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Embarazo, tercer trimestre: </a:t>
              </a: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elevada = normal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20" name="Def FAL"/>
          <p:cNvSpPr/>
          <p:nvPr/>
        </p:nvSpPr>
        <p:spPr>
          <a:xfrm>
            <a:off x="365760" y="5166360"/>
            <a:ext cx="7680960" cy="11887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Hidroliza ésteres de fosfato en medio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alcalino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Rango adulto: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40–130 UI/L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En niños se usan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rangos pediátricos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(actividad osteoblástica).</a:t>
            </a:r>
            <a:endParaRPr lang="es-AR" sz="1950" dirty="0">
              <a:latin typeface="Calibri"/>
            </a:endParaRPr>
          </a:p>
        </p:txBody>
      </p:sp>
      <p:grpSp>
        <p:nvGrpSpPr>
          <p:cNvPr id="21" name="Íconos FAL"/>
          <p:cNvGrpSpPr/>
          <p:nvPr/>
        </p:nvGrpSpPr>
        <p:grpSpPr>
          <a:xfrm>
            <a:off x="8778240" y="1005840"/>
            <a:ext cx="1920240" cy="2377440"/>
            <a:chOff x="8778240" y="1005840"/>
            <a:chExt cx="1920240" cy="2377440"/>
          </a:xfrm>
        </p:grpSpPr>
        <p:sp>
          <p:nvSpPr>
            <p:cNvPr id="22" name="Forma 21"/>
            <p:cNvSpPr/>
            <p:nvPr/>
          </p:nvSpPr>
          <p:spPr>
            <a:xfrm>
              <a:off x="8778240" y="1188720"/>
              <a:ext cx="1005840" cy="16459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20" y="-53"/>
                    <a:pt x="691" y="-20"/>
                    <a:pt x="800" y="80"/>
                  </a:cubicBezTo>
                  <a:cubicBezTo>
                    <a:pt x="908" y="180"/>
                    <a:pt x="983" y="446"/>
                    <a:pt x="950" y="600"/>
                  </a:cubicBezTo>
                  <a:cubicBezTo>
                    <a:pt x="916" y="753"/>
                    <a:pt x="725" y="950"/>
                    <a:pt x="600" y="1000"/>
                  </a:cubicBezTo>
                  <a:cubicBezTo>
                    <a:pt x="475" y="1050"/>
                    <a:pt x="286" y="1000"/>
                    <a:pt x="200" y="900"/>
                  </a:cubicBezTo>
                  <a:cubicBezTo>
                    <a:pt x="113" y="800"/>
                    <a:pt x="63" y="550"/>
                    <a:pt x="80" y="400"/>
                  </a:cubicBezTo>
                  <a:cubicBezTo>
                    <a:pt x="96" y="250"/>
                    <a:pt x="180" y="53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4E6B22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10058400" y="1188720"/>
              <a:ext cx="457200" cy="19202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FAFA"/>
                </a:gs>
                <a:gs pos="55000">
                  <a:srgbClr val="F8F9F9"/>
                </a:gs>
                <a:gs pos="100000">
                  <a:srgbClr val="C6C7C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9875520" y="1005840"/>
              <a:ext cx="822960" cy="457200"/>
            </a:xfrm>
            <a:prstGeom prst="ellipse">
              <a:avLst/>
            </a:prstGeom>
            <a:gradFill rotWithShape="1">
              <a:gsLst>
                <a:gs pos="0">
                  <a:srgbClr val="FAFAFA"/>
                </a:gs>
                <a:gs pos="55000">
                  <a:srgbClr val="F8F9F9"/>
                </a:gs>
                <a:gs pos="100000">
                  <a:srgbClr val="C6C7C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9875520" y="2926080"/>
              <a:ext cx="822960" cy="457200"/>
            </a:xfrm>
            <a:prstGeom prst="ellipse">
              <a:avLst/>
            </a:prstGeom>
            <a:gradFill rotWithShape="1">
              <a:gsLst>
                <a:gs pos="0">
                  <a:srgbClr val="FAFAFA"/>
                </a:gs>
                <a:gs pos="55000">
                  <a:srgbClr val="F8F9F9"/>
                </a:gs>
                <a:gs pos="100000">
                  <a:srgbClr val="C6C7C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F8C8D"/>
              </a:solidFill>
              <a:round/>
            </a:ln>
          </p:spPr>
        </p:sp>
      </p:grpSp>
      <p:sp>
        <p:nvSpPr>
          <p:cNvPr id="26" name="FAL adultos"/>
          <p:cNvSpPr/>
          <p:nvPr/>
        </p:nvSpPr>
        <p:spPr>
          <a:xfrm>
            <a:off x="8549640" y="3657600"/>
            <a:ext cx="3383280" cy="2788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Adultos: FAL elevada indica problema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biliar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(primero) u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óseo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(segundo).</a:t>
            </a:r>
            <a:endParaRPr lang="es-AR" sz="20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FOSFATASA ALCALINA (FAL): VÍA BILIAR Y HUESO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6" grpId="0" animBg="1"/>
    </p:bldLst>
  </p:timing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Def GGT"/>
          <p:cNvGrpSpPr/>
          <p:nvPr/>
        </p:nvGrpSpPr>
        <p:grpSpPr>
          <a:xfrm>
            <a:off x="365760" y="1097280"/>
            <a:ext cx="4754880" cy="2194560"/>
            <a:chOff x="365760" y="1097280"/>
            <a:chExt cx="4754880" cy="2194560"/>
          </a:xfrm>
        </p:grpSpPr>
        <p:sp>
          <p:nvSpPr>
            <p:cNvPr id="6" name="Forma 5"/>
            <p:cNvSpPr/>
            <p:nvPr/>
          </p:nvSpPr>
          <p:spPr>
            <a:xfrm>
              <a:off x="365760" y="1298448"/>
              <a:ext cx="4754880" cy="19933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47637" indent="-1476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Marcador de </a:t>
              </a:r>
              <a:r>
                <a:rPr lang="es-AR" sz="15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colestasis</a:t>
              </a: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(junto con la FAL)</a:t>
              </a:r>
              <a:endParaRPr lang="es-AR" sz="1550" dirty="0">
                <a:latin typeface="Calibri"/>
              </a:endParaRPr>
            </a:p>
            <a:p>
              <a:pPr algn="l" marL="147637" indent="-1476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sensible al </a:t>
              </a:r>
              <a:r>
                <a:rPr lang="es-AR" sz="15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alcohol</a:t>
              </a: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(se eleva desproporcionadamente)</a:t>
              </a:r>
              <a:endParaRPr lang="es-AR" sz="1550" dirty="0">
                <a:latin typeface="Calibri"/>
              </a:endParaRPr>
            </a:p>
            <a:p>
              <a:pPr algn="l" marL="147637" indent="-1476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Presente en hígado, riñón, páncreas, intestino, próstata</a:t>
              </a:r>
              <a:endParaRPr lang="es-AR" sz="1550" dirty="0">
                <a:latin typeface="Calibri"/>
              </a:endParaRPr>
            </a:p>
            <a:p>
              <a:pPr algn="l" marL="147637" indent="-147637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5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está en el hueso</a:t>
              </a:r>
              <a:endParaRPr lang="es-AR" sz="15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493776" y="1097280"/>
              <a:ext cx="640312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GGT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8" name="Decisión FAL"/>
          <p:cNvGrpSpPr/>
          <p:nvPr/>
        </p:nvGrpSpPr>
        <p:grpSpPr>
          <a:xfrm>
            <a:off x="5120640" y="1097280"/>
            <a:ext cx="4023360" cy="4114800"/>
            <a:chOff x="5120640" y="1097280"/>
            <a:chExt cx="4023360" cy="4114800"/>
          </a:xfrm>
        </p:grpSpPr>
        <p:sp>
          <p:nvSpPr>
            <p:cNvPr id="9" name="Forma 8"/>
            <p:cNvSpPr/>
            <p:nvPr/>
          </p:nvSpPr>
          <p:spPr>
            <a:xfrm>
              <a:off x="5486400" y="1097280"/>
              <a:ext cx="2743200" cy="914400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2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 elevada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0" name="Flecha 9_2"/>
            <p:cNvSpPr/>
            <p:nvPr/>
          </p:nvSpPr>
          <p:spPr>
            <a:xfrm>
              <a:off x="5852160" y="2057400"/>
              <a:ext cx="457200" cy="594360"/>
            </a:xfrm>
            <a:custGeom>
              <a:avLst/>
              <a:gdLst/>
              <a:ahLst/>
              <a:cxnLst/>
              <a:rect l="0" t="0" r="r" b="b"/>
              <a:pathLst>
                <a:path w="500" h="649" fill="none">
                  <a:moveTo>
                    <a:pt x="500" y="0"/>
                  </a:moveTo>
                  <a:lnTo>
                    <a:pt x="0" y="649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1" name="Flecha 11_2"/>
            <p:cNvSpPr/>
            <p:nvPr/>
          </p:nvSpPr>
          <p:spPr>
            <a:xfrm>
              <a:off x="7406640" y="2057400"/>
              <a:ext cx="457200" cy="594360"/>
            </a:xfrm>
            <a:custGeom>
              <a:avLst/>
              <a:gdLst/>
              <a:ahLst/>
              <a:cxnLst/>
              <a:rect l="0" t="0" r="r" b="b"/>
              <a:pathLst>
                <a:path w="500" h="649" fill="none">
                  <a:moveTo>
                    <a:pt x="0" y="0"/>
                  </a:moveTo>
                  <a:lnTo>
                    <a:pt x="500" y="649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2" name="Forma 13"/>
            <p:cNvSpPr/>
            <p:nvPr/>
          </p:nvSpPr>
          <p:spPr>
            <a:xfrm>
              <a:off x="5120640" y="2697480"/>
              <a:ext cx="1828800" cy="82296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GGT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alta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3" name="Forma 14"/>
            <p:cNvSpPr/>
            <p:nvPr/>
          </p:nvSpPr>
          <p:spPr>
            <a:xfrm>
              <a:off x="7315200" y="2697480"/>
              <a:ext cx="1828800" cy="82296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GGT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14" name="Flecha 15_2"/>
            <p:cNvSpPr/>
            <p:nvPr/>
          </p:nvSpPr>
          <p:spPr>
            <a:xfrm>
              <a:off x="6035040" y="3566160"/>
              <a:ext cx="9144" cy="502920"/>
            </a:xfrm>
            <a:custGeom>
              <a:avLst/>
              <a:gdLst/>
              <a:ahLst/>
              <a:cxnLst/>
              <a:rect l="0" t="0" r="r" b="b"/>
              <a:pathLst>
                <a:path w="10" h="550" fill="none">
                  <a:moveTo>
                    <a:pt x="0" y="0"/>
                  </a:moveTo>
                  <a:lnTo>
                    <a:pt x="0" y="55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5" name="Flecha 17_2"/>
            <p:cNvSpPr/>
            <p:nvPr/>
          </p:nvSpPr>
          <p:spPr>
            <a:xfrm>
              <a:off x="8229600" y="3566160"/>
              <a:ext cx="9144" cy="502920"/>
            </a:xfrm>
            <a:custGeom>
              <a:avLst/>
              <a:gdLst/>
              <a:ahLst/>
              <a:cxnLst/>
              <a:rect l="0" t="0" r="r" b="b"/>
              <a:pathLst>
                <a:path w="10" h="550" fill="none">
                  <a:moveTo>
                    <a:pt x="0" y="0"/>
                  </a:moveTo>
                  <a:lnTo>
                    <a:pt x="0" y="55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6" name="Forma 19"/>
            <p:cNvSpPr/>
            <p:nvPr/>
          </p:nvSpPr>
          <p:spPr>
            <a:xfrm>
              <a:off x="5120640" y="4114800"/>
              <a:ext cx="1828800" cy="109728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Origen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biliar / hepático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7" name="Forma 20"/>
            <p:cNvSpPr/>
            <p:nvPr/>
          </p:nvSpPr>
          <p:spPr>
            <a:xfrm>
              <a:off x="7315200" y="4114800"/>
              <a:ext cx="1828800" cy="109728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Origen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óseo</a:t>
              </a:r>
              <a:endParaRPr lang="es-AR" sz="1950" dirty="0">
                <a:latin typeface="Calibri"/>
              </a:endParaRPr>
            </a:p>
          </p:txBody>
        </p:sp>
      </p:grpSp>
      <p:sp>
        <p:nvSpPr>
          <p:cNvPr id="18" name="LDH abdominal"/>
          <p:cNvSpPr/>
          <p:nvPr/>
        </p:nvSpPr>
        <p:spPr>
          <a:xfrm>
            <a:off x="365760" y="3520440"/>
            <a:ext cx="4754880" cy="16916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LDH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en el contexto abdominal: omnipresente y poco específica; en la hepatitis puede estar levemente elevada; marcador inespecífico de necrosis.</a:t>
            </a:r>
            <a:endParaRPr lang="es-AR" sz="1750" dirty="0">
              <a:latin typeface="Calibri"/>
            </a:endParaRPr>
          </a:p>
        </p:txBody>
      </p:sp>
      <p:grpSp>
        <p:nvGrpSpPr>
          <p:cNvPr id="19" name="Rigor GGT"/>
          <p:cNvGrpSpPr/>
          <p:nvPr/>
        </p:nvGrpSpPr>
        <p:grpSpPr>
          <a:xfrm>
            <a:off x="365760" y="5440680"/>
            <a:ext cx="11567160" cy="1005840"/>
            <a:chOff x="365760" y="5440680"/>
            <a:chExt cx="11567160" cy="1005840"/>
          </a:xfrm>
        </p:grpSpPr>
        <p:sp>
          <p:nvSpPr>
            <p:cNvPr id="20" name="Forma 23"/>
            <p:cNvSpPr/>
            <p:nvPr/>
          </p:nvSpPr>
          <p:spPr>
            <a:xfrm>
              <a:off x="365760" y="5641848"/>
              <a:ext cx="11567160" cy="8046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GGT no es un marcador «vesicular» específico: refleja colestasis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hepatobiliar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en general (está en el epitelio biliar y en la membrana canalicular) y se induce por alcohol y fármacos.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1" name="Forma 24"/>
            <p:cNvSpPr/>
            <p:nvPr/>
          </p:nvSpPr>
          <p:spPr>
            <a:xfrm>
              <a:off x="493776" y="54406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2" name="Hueso"/>
          <p:cNvGrpSpPr/>
          <p:nvPr/>
        </p:nvGrpSpPr>
        <p:grpSpPr>
          <a:xfrm>
            <a:off x="9235440" y="1097280"/>
            <a:ext cx="2651760" cy="3337560"/>
            <a:chOff x="9235440" y="1097280"/>
            <a:chExt cx="2651760" cy="3337560"/>
          </a:xfrm>
        </p:grpSpPr>
        <p:sp>
          <p:nvSpPr>
            <p:cNvPr id="23" name="Forma 26"/>
            <p:cNvSpPr/>
            <p:nvPr/>
          </p:nvSpPr>
          <p:spPr>
            <a:xfrm>
              <a:off x="9692640" y="1280160"/>
              <a:ext cx="457200" cy="237744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AFAFA"/>
                </a:gs>
                <a:gs pos="55000">
                  <a:srgbClr val="F8F9F9"/>
                </a:gs>
                <a:gs pos="100000">
                  <a:srgbClr val="C6C7C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4" name="Forma 27"/>
            <p:cNvSpPr/>
            <p:nvPr/>
          </p:nvSpPr>
          <p:spPr>
            <a:xfrm>
              <a:off x="9509760" y="1097280"/>
              <a:ext cx="822960" cy="457200"/>
            </a:xfrm>
            <a:prstGeom prst="ellipse">
              <a:avLst/>
            </a:prstGeom>
            <a:gradFill rotWithShape="1">
              <a:gsLst>
                <a:gs pos="0">
                  <a:srgbClr val="FAFAFA"/>
                </a:gs>
                <a:gs pos="55000">
                  <a:srgbClr val="F8F9F9"/>
                </a:gs>
                <a:gs pos="100000">
                  <a:srgbClr val="C6C7C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5" name="Forma 28"/>
            <p:cNvSpPr/>
            <p:nvPr/>
          </p:nvSpPr>
          <p:spPr>
            <a:xfrm>
              <a:off x="9509760" y="3474720"/>
              <a:ext cx="822960" cy="457200"/>
            </a:xfrm>
            <a:prstGeom prst="ellipse">
              <a:avLst/>
            </a:prstGeom>
            <a:gradFill rotWithShape="1">
              <a:gsLst>
                <a:gs pos="0">
                  <a:srgbClr val="FAFAFA"/>
                </a:gs>
                <a:gs pos="55000">
                  <a:srgbClr val="F8F9F9"/>
                </a:gs>
                <a:gs pos="100000">
                  <a:srgbClr val="C6C7C7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6" name="Forma 29"/>
            <p:cNvSpPr txBox="1"/>
            <p:nvPr/>
          </p:nvSpPr>
          <p:spPr>
            <a:xfrm>
              <a:off x="9235440" y="4069080"/>
              <a:ext cx="26517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sin GGT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GGT: EL ALIADO PARA SABER DE DÓNDE VIENE LA FAL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Tabla bilirrubina PA fila 0"/>
          <p:cNvGrpSpPr/>
          <p:nvPr/>
        </p:nvGrpSpPr>
        <p:grpSpPr>
          <a:xfrm>
            <a:off x="365760" y="1097280"/>
            <a:ext cx="7680960" cy="685800"/>
            <a:chOff x="365760" y="1097280"/>
            <a:chExt cx="7680960" cy="68580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118872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Fracción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1554480" y="1097280"/>
              <a:ext cx="192024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Equivalente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474720" y="1097280"/>
              <a:ext cx="228600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Cómo se mide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5760720" y="1097280"/>
              <a:ext cx="2286000" cy="68580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Significado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0" name="Tabla bilirrubina PA fila 1"/>
          <p:cNvGrpSpPr/>
          <p:nvPr/>
        </p:nvGrpSpPr>
        <p:grpSpPr>
          <a:xfrm>
            <a:off x="365760" y="1783080"/>
            <a:ext cx="7680960" cy="685800"/>
            <a:chOff x="365760" y="1783080"/>
            <a:chExt cx="7680960" cy="685800"/>
          </a:xfrm>
        </p:grpSpPr>
        <p:sp>
          <p:nvSpPr>
            <p:cNvPr id="11" name="Forma 10"/>
            <p:cNvSpPr/>
            <p:nvPr/>
          </p:nvSpPr>
          <p:spPr>
            <a:xfrm>
              <a:off x="365760" y="1783080"/>
              <a:ext cx="118872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Directa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1554480" y="1783080"/>
              <a:ext cx="192024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Conjugada / soluble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474720" y="1783080"/>
              <a:ext cx="22860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Directamente (hidrosoluble)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5760720" y="1783080"/>
              <a:ext cx="22860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Colestasis, hepatitis, obstrucción biliar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5" name="Tabla bilirrubina PA fila 2"/>
          <p:cNvGrpSpPr/>
          <p:nvPr/>
        </p:nvGrpSpPr>
        <p:grpSpPr>
          <a:xfrm>
            <a:off x="365760" y="2468880"/>
            <a:ext cx="7680960" cy="685800"/>
            <a:chOff x="365760" y="2468880"/>
            <a:chExt cx="7680960" cy="685800"/>
          </a:xfrm>
        </p:grpSpPr>
        <p:sp>
          <p:nvSpPr>
            <p:cNvPr id="16" name="Forma 15"/>
            <p:cNvSpPr/>
            <p:nvPr/>
          </p:nvSpPr>
          <p:spPr>
            <a:xfrm>
              <a:off x="365760" y="2468880"/>
              <a:ext cx="118872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Indirecta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1554480" y="2468880"/>
              <a:ext cx="192024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conjugada / insoluble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3474720" y="2468880"/>
              <a:ext cx="228600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calcula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BT − BD (va unida a albúmina)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5760720" y="2468880"/>
              <a:ext cx="2286000" cy="68580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Hemólisis (problema prehepático)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0" name="Tabla bilirrubina PA fila 3"/>
          <p:cNvGrpSpPr/>
          <p:nvPr/>
        </p:nvGrpSpPr>
        <p:grpSpPr>
          <a:xfrm>
            <a:off x="365760" y="3154680"/>
            <a:ext cx="7680960" cy="685800"/>
            <a:chOff x="365760" y="3154680"/>
            <a:chExt cx="7680960" cy="685800"/>
          </a:xfrm>
        </p:grpSpPr>
        <p:sp>
          <p:nvSpPr>
            <p:cNvPr id="21" name="Forma 20"/>
            <p:cNvSpPr/>
            <p:nvPr/>
          </p:nvSpPr>
          <p:spPr>
            <a:xfrm>
              <a:off x="365760" y="3154680"/>
              <a:ext cx="118872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Total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1554480" y="3154680"/>
              <a:ext cx="192024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Suma de ambas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3474720" y="3154680"/>
              <a:ext cx="22860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mide en el laboratorio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760720" y="3154680"/>
              <a:ext cx="2286000" cy="68580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0,2–1,2 mg/dL; ictericia &gt; 2–3 mg/dL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5" name="Tipos de ictericia"/>
          <p:cNvGrpSpPr/>
          <p:nvPr/>
        </p:nvGrpSpPr>
        <p:grpSpPr>
          <a:xfrm>
            <a:off x="365760" y="4069080"/>
            <a:ext cx="7635240" cy="2286000"/>
            <a:chOff x="365760" y="4069080"/>
            <a:chExt cx="7635240" cy="2286000"/>
          </a:xfrm>
        </p:grpSpPr>
        <p:sp>
          <p:nvSpPr>
            <p:cNvPr id="26" name="Forma 25"/>
            <p:cNvSpPr/>
            <p:nvPr/>
          </p:nvSpPr>
          <p:spPr>
            <a:xfrm>
              <a:off x="365760" y="4069080"/>
              <a:ext cx="2423160" cy="2286000"/>
            </a:xfrm>
            <a:prstGeom prst="roundRect">
              <a:avLst>
                <a:gd name="adj" fmla="val 9000"/>
              </a:avLst>
            </a:prstGeom>
            <a:solidFill>
              <a:srgbClr val="FFF2CC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Prehepática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 ↑: hemólisis, incompatibilidad, neonatal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7" name="Flecha 26_2"/>
            <p:cNvSpPr/>
            <p:nvPr/>
          </p:nvSpPr>
          <p:spPr>
            <a:xfrm>
              <a:off x="2807208" y="480060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8" name="Forma 28"/>
            <p:cNvSpPr/>
            <p:nvPr/>
          </p:nvSpPr>
          <p:spPr>
            <a:xfrm>
              <a:off x="2971800" y="4069080"/>
              <a:ext cx="2423160" cy="2286000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Hepática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BD ↑: hepatitis, cirrosis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9" name="Flecha 29_2"/>
            <p:cNvSpPr/>
            <p:nvPr/>
          </p:nvSpPr>
          <p:spPr>
            <a:xfrm>
              <a:off x="5413248" y="480060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30" name="Forma 31"/>
            <p:cNvSpPr/>
            <p:nvPr/>
          </p:nvSpPr>
          <p:spPr>
            <a:xfrm>
              <a:off x="5577840" y="4069080"/>
              <a:ext cx="2423160" cy="2286000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Posthepática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BD ↑: obstrucción biliar; ictericia + coluria + acolia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31" name="Rigor reactivo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32" name="Forma 33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bilirrubina directa se determina con el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reactivo diazo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(reacción de van den Bergh). El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reactivo de Ehrlich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(p-dimetilaminobenzaldehído) se usa para el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urobilinógeno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no para la bilirrubina.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33" name="Forma 34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BILIRRUBINA: FRACCIONES Y TIPOS DE ICTERICIA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Higado"/>
          <p:cNvGrpSpPr/>
          <p:nvPr/>
        </p:nvGrpSpPr>
        <p:grpSpPr>
          <a:xfrm>
            <a:off x="274320" y="1005840"/>
            <a:ext cx="5190134" cy="3668387"/>
            <a:chOff x="274320" y="1005840"/>
            <a:chExt cx="5190134" cy="3668387"/>
          </a:xfrm>
        </p:grpSpPr>
        <p:sp>
          <p:nvSpPr>
            <p:cNvPr id="6" name="Vesícula biliar"/>
            <p:cNvSpPr/>
            <p:nvPr/>
          </p:nvSpPr>
          <p:spPr>
            <a:xfrm>
              <a:off x="1675656" y="3515789"/>
              <a:ext cx="674717" cy="115843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8" name="Forma 7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sp>
        <p:nvSpPr>
          <p:cNvPr id="10" name="!!Duodeno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381000" cap="rnd">
            <a:solidFill>
              <a:srgbClr val="922B21"/>
            </a:solidFill>
            <a:round/>
          </a:ln>
        </p:spPr>
      </p:sp>
      <p:sp>
        <p:nvSpPr>
          <p:cNvPr id="11" name="!!Duodeno luz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292100" cap="rnd">
            <a:solidFill>
              <a:srgbClr val="F1948A"/>
            </a:solidFill>
            <a:round/>
          </a:ln>
        </p:spPr>
      </p:sp>
      <p:grpSp>
        <p:nvGrpSpPr>
          <p:cNvPr id="12" name="!!Pancreas"/>
          <p:cNvGrpSpPr/>
          <p:nvPr/>
        </p:nvGrpSpPr>
        <p:grpSpPr>
          <a:xfrm>
            <a:off x="3970325" y="3865169"/>
            <a:ext cx="4089197" cy="1717463"/>
            <a:chOff x="3970325" y="3865169"/>
            <a:chExt cx="4089197" cy="1717463"/>
          </a:xfrm>
        </p:grpSpPr>
        <p:sp>
          <p:nvSpPr>
            <p:cNvPr id="13" name="Forma 12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4" name="Forma 13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15" name="Islotes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17" name="!!Vesicula"/>
          <p:cNvSpPr/>
          <p:nvPr/>
        </p:nvSpPr>
        <p:spPr>
          <a:xfrm>
            <a:off x="1532534" y="3325673"/>
            <a:ext cx="943661" cy="118689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cubicBezTo>
                  <a:pt x="420" y="-53"/>
                  <a:pt x="691" y="-20"/>
                  <a:pt x="800" y="80"/>
                </a:cubicBezTo>
                <a:cubicBezTo>
                  <a:pt x="908" y="180"/>
                  <a:pt x="983" y="446"/>
                  <a:pt x="950" y="600"/>
                </a:cubicBezTo>
                <a:cubicBezTo>
                  <a:pt x="916" y="753"/>
                  <a:pt x="725" y="950"/>
                  <a:pt x="600" y="1000"/>
                </a:cubicBezTo>
                <a:cubicBezTo>
                  <a:pt x="475" y="1050"/>
                  <a:pt x="286" y="1000"/>
                  <a:pt x="200" y="900"/>
                </a:cubicBezTo>
                <a:cubicBezTo>
                  <a:pt x="113" y="800"/>
                  <a:pt x="63" y="550"/>
                  <a:pt x="80" y="400"/>
                </a:cubicBezTo>
                <a:cubicBezTo>
                  <a:pt x="96" y="250"/>
                  <a:pt x="180" y="53"/>
                  <a:pt x="300" y="0"/>
                </a:cubicBezTo>
                <a:close/>
              </a:path>
            </a:pathLst>
          </a:custGeom>
          <a:gradFill rotWithShape="1">
            <a:gsLst>
              <a:gs pos="0">
                <a:srgbClr val="BAD099"/>
              </a:gs>
              <a:gs pos="55000">
                <a:srgbClr val="8DB255"/>
              </a:gs>
              <a:gs pos="100000">
                <a:srgbClr val="627C3B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4E6B22"/>
            </a:solidFill>
            <a:round/>
          </a:ln>
        </p:spPr>
      </p:sp>
      <p:sp>
        <p:nvSpPr>
          <p:cNvPr id="18" name="!!Conductos hepaticos"/>
          <p:cNvSpPr/>
          <p:nvPr/>
        </p:nvSpPr>
        <p:spPr>
          <a:xfrm>
            <a:off x="3262579" y="2948026"/>
            <a:ext cx="471830" cy="701345"/>
          </a:xfrm>
          <a:custGeom>
            <a:avLst/>
            <a:gdLst/>
            <a:ahLst/>
            <a:cxnLst/>
            <a:rect l="0" t="0" r="r" b="b"/>
            <a:pathLst>
              <a:path w="516" h="766" fill="none">
                <a:moveTo>
                  <a:pt x="0" y="0"/>
                </a:moveTo>
                <a:quadBezTo>
                  <a:pt x="258" y="354"/>
                  <a:pt x="516" y="766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19" name="!!Conducto cistico"/>
          <p:cNvSpPr/>
          <p:nvPr/>
        </p:nvSpPr>
        <p:spPr>
          <a:xfrm>
            <a:off x="2397557" y="3703320"/>
            <a:ext cx="1336853" cy="107899"/>
          </a:xfrm>
          <a:custGeom>
            <a:avLst/>
            <a:gdLst/>
            <a:ahLst/>
            <a:cxnLst/>
            <a:rect l="0" t="0" r="r" b="b"/>
            <a:pathLst>
              <a:path w="1461" h="117" fill="none">
                <a:moveTo>
                  <a:pt x="0" y="117"/>
                </a:moveTo>
                <a:quadBezTo>
                  <a:pt x="774" y="117"/>
                  <a:pt x="1461" y="0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0" name="!!Coledoco"/>
          <p:cNvSpPr/>
          <p:nvPr/>
        </p:nvSpPr>
        <p:spPr>
          <a:xfrm>
            <a:off x="3734410" y="3649370"/>
            <a:ext cx="235915" cy="1618488"/>
          </a:xfrm>
          <a:custGeom>
            <a:avLst/>
            <a:gdLst/>
            <a:ahLst/>
            <a:cxnLst/>
            <a:rect l="0" t="0" r="r" b="b"/>
            <a:pathLst>
              <a:path w="258" h="1769" fill="none">
                <a:moveTo>
                  <a:pt x="0" y="0"/>
                </a:moveTo>
                <a:quadBezTo>
                  <a:pt x="86" y="884"/>
                  <a:pt x="258" y="1769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1" name="!!Conducto pancreatico"/>
          <p:cNvSpPr/>
          <p:nvPr/>
        </p:nvSpPr>
        <p:spPr>
          <a:xfrm>
            <a:off x="4127602" y="4296766"/>
            <a:ext cx="3617366" cy="998068"/>
          </a:xfrm>
          <a:custGeom>
            <a:avLst/>
            <a:gdLst/>
            <a:ahLst/>
            <a:cxnLst/>
            <a:rect l="0" t="0" r="r" b="b"/>
            <a:pathLst>
              <a:path w="3956" h="1091" fill="none">
                <a:moveTo>
                  <a:pt x="3956" y="0"/>
                </a:moveTo>
                <a:quadBezTo>
                  <a:pt x="1805" y="531"/>
                  <a:pt x="0" y="1091"/>
                </a:quadBezTo>
              </a:path>
            </a:pathLst>
          </a:custGeom>
          <a:noFill/>
          <a:ln w="63500" cap="rnd">
            <a:solidFill>
              <a:srgbClr val="B7950B"/>
            </a:solidFill>
            <a:round/>
          </a:ln>
        </p:spPr>
      </p:sp>
      <p:sp>
        <p:nvSpPr>
          <p:cNvPr id="22" name="!!Ampolla de Vater"/>
          <p:cNvSpPr/>
          <p:nvPr/>
        </p:nvSpPr>
        <p:spPr>
          <a:xfrm>
            <a:off x="3773729" y="5125212"/>
            <a:ext cx="393192" cy="393192"/>
          </a:xfrm>
          <a:prstGeom prst="ellipse">
            <a:avLst/>
          </a:prstGeom>
          <a:solidFill>
            <a:srgbClr val="F4D03F"/>
          </a:solidFill>
          <a:ln w="15875" cap="rnd">
            <a:solidFill>
              <a:srgbClr val="7D6608"/>
            </a:solidFill>
            <a:round/>
          </a:ln>
        </p:spPr>
      </p:sp>
      <p:sp>
        <p:nvSpPr>
          <p:cNvPr id="23" name="!!Bilis 0"/>
          <p:cNvSpPr/>
          <p:nvPr/>
        </p:nvSpPr>
        <p:spPr>
          <a:xfrm>
            <a:off x="3240634" y="2955341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4" name="!!Bilis 1"/>
          <p:cNvSpPr/>
          <p:nvPr/>
        </p:nvSpPr>
        <p:spPr>
          <a:xfrm>
            <a:off x="3476549" y="3332988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5" name="!!Bilis 2"/>
          <p:cNvSpPr/>
          <p:nvPr/>
        </p:nvSpPr>
        <p:spPr>
          <a:xfrm>
            <a:off x="3673145" y="3926434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6" name="!!Bilis 3"/>
          <p:cNvSpPr/>
          <p:nvPr/>
        </p:nvSpPr>
        <p:spPr>
          <a:xfrm>
            <a:off x="3751783" y="4519879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7" name="!!Bilis 4"/>
          <p:cNvSpPr/>
          <p:nvPr/>
        </p:nvSpPr>
        <p:spPr>
          <a:xfrm>
            <a:off x="3830422" y="5005426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grpSp>
        <p:nvGrpSpPr>
          <p:cNvPr id="28" name="Caja CO1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9" name="Forma 28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bilis se forma en el hígado, baja por los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conductos hepáticos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se almacena en la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vesícula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(conducto cístico) y llega al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duodeno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por el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colédoco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la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ampolla de Vater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junto al conducto pancreático.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8677656" y="1097280"/>
              <a:ext cx="123192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RECORRIDO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CIRCULACIÓN BILIAR NORMAL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Higado"/>
          <p:cNvGrpSpPr/>
          <p:nvPr/>
        </p:nvGrpSpPr>
        <p:grpSpPr>
          <a:xfrm>
            <a:off x="274320" y="1005840"/>
            <a:ext cx="5190134" cy="3668387"/>
            <a:chOff x="274320" y="1005840"/>
            <a:chExt cx="5190134" cy="3668387"/>
          </a:xfrm>
        </p:grpSpPr>
        <p:sp>
          <p:nvSpPr>
            <p:cNvPr id="6" name="Vesícula biliar"/>
            <p:cNvSpPr/>
            <p:nvPr/>
          </p:nvSpPr>
          <p:spPr>
            <a:xfrm>
              <a:off x="1675656" y="3515789"/>
              <a:ext cx="674717" cy="115843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8" name="Forma 7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sp>
        <p:nvSpPr>
          <p:cNvPr id="10" name="!!Duodeno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381000" cap="rnd">
            <a:solidFill>
              <a:srgbClr val="922B21"/>
            </a:solidFill>
            <a:round/>
          </a:ln>
        </p:spPr>
      </p:sp>
      <p:sp>
        <p:nvSpPr>
          <p:cNvPr id="11" name="!!Duodeno luz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292100" cap="rnd">
            <a:solidFill>
              <a:srgbClr val="F1948A"/>
            </a:solidFill>
            <a:round/>
          </a:ln>
        </p:spPr>
      </p:sp>
      <p:grpSp>
        <p:nvGrpSpPr>
          <p:cNvPr id="12" name="!!Pancreas"/>
          <p:cNvGrpSpPr/>
          <p:nvPr/>
        </p:nvGrpSpPr>
        <p:grpSpPr>
          <a:xfrm>
            <a:off x="3970325" y="3865169"/>
            <a:ext cx="4089197" cy="1717463"/>
            <a:chOff x="3970325" y="3865169"/>
            <a:chExt cx="4089197" cy="1717463"/>
          </a:xfrm>
        </p:grpSpPr>
        <p:sp>
          <p:nvSpPr>
            <p:cNvPr id="13" name="Forma 12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4" name="Forma 13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15" name="Islotes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17" name="!!Vesicula"/>
          <p:cNvSpPr/>
          <p:nvPr/>
        </p:nvSpPr>
        <p:spPr>
          <a:xfrm>
            <a:off x="1532534" y="3325673"/>
            <a:ext cx="943661" cy="118689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cubicBezTo>
                  <a:pt x="420" y="-53"/>
                  <a:pt x="691" y="-20"/>
                  <a:pt x="800" y="80"/>
                </a:cubicBezTo>
                <a:cubicBezTo>
                  <a:pt x="908" y="180"/>
                  <a:pt x="983" y="446"/>
                  <a:pt x="950" y="600"/>
                </a:cubicBezTo>
                <a:cubicBezTo>
                  <a:pt x="916" y="753"/>
                  <a:pt x="725" y="950"/>
                  <a:pt x="600" y="1000"/>
                </a:cubicBezTo>
                <a:cubicBezTo>
                  <a:pt x="475" y="1050"/>
                  <a:pt x="286" y="1000"/>
                  <a:pt x="200" y="900"/>
                </a:cubicBezTo>
                <a:cubicBezTo>
                  <a:pt x="113" y="800"/>
                  <a:pt x="63" y="550"/>
                  <a:pt x="80" y="400"/>
                </a:cubicBezTo>
                <a:cubicBezTo>
                  <a:pt x="96" y="250"/>
                  <a:pt x="180" y="53"/>
                  <a:pt x="300" y="0"/>
                </a:cubicBezTo>
                <a:close/>
              </a:path>
            </a:pathLst>
          </a:custGeom>
          <a:gradFill rotWithShape="1">
            <a:gsLst>
              <a:gs pos="0">
                <a:srgbClr val="BAD099"/>
              </a:gs>
              <a:gs pos="55000">
                <a:srgbClr val="8DB255"/>
              </a:gs>
              <a:gs pos="100000">
                <a:srgbClr val="627C3B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4E6B22"/>
            </a:solidFill>
            <a:round/>
          </a:ln>
        </p:spPr>
      </p:sp>
      <p:sp>
        <p:nvSpPr>
          <p:cNvPr id="18" name="!!Conductos hepaticos"/>
          <p:cNvSpPr/>
          <p:nvPr/>
        </p:nvSpPr>
        <p:spPr>
          <a:xfrm>
            <a:off x="3262579" y="2948026"/>
            <a:ext cx="471830" cy="701345"/>
          </a:xfrm>
          <a:custGeom>
            <a:avLst/>
            <a:gdLst/>
            <a:ahLst/>
            <a:cxnLst/>
            <a:rect l="0" t="0" r="r" b="b"/>
            <a:pathLst>
              <a:path w="516" h="766" fill="none">
                <a:moveTo>
                  <a:pt x="0" y="0"/>
                </a:moveTo>
                <a:quadBezTo>
                  <a:pt x="258" y="354"/>
                  <a:pt x="516" y="766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19" name="!!Conducto cistico"/>
          <p:cNvSpPr/>
          <p:nvPr/>
        </p:nvSpPr>
        <p:spPr>
          <a:xfrm>
            <a:off x="2397557" y="3703320"/>
            <a:ext cx="1336853" cy="107899"/>
          </a:xfrm>
          <a:custGeom>
            <a:avLst/>
            <a:gdLst/>
            <a:ahLst/>
            <a:cxnLst/>
            <a:rect l="0" t="0" r="r" b="b"/>
            <a:pathLst>
              <a:path w="1461" h="117" fill="none">
                <a:moveTo>
                  <a:pt x="0" y="117"/>
                </a:moveTo>
                <a:quadBezTo>
                  <a:pt x="774" y="117"/>
                  <a:pt x="1461" y="0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0" name="!!Coledoco"/>
          <p:cNvSpPr/>
          <p:nvPr/>
        </p:nvSpPr>
        <p:spPr>
          <a:xfrm>
            <a:off x="3734410" y="3649370"/>
            <a:ext cx="235915" cy="1618488"/>
          </a:xfrm>
          <a:custGeom>
            <a:avLst/>
            <a:gdLst/>
            <a:ahLst/>
            <a:cxnLst/>
            <a:rect l="0" t="0" r="r" b="b"/>
            <a:pathLst>
              <a:path w="258" h="1769" fill="none">
                <a:moveTo>
                  <a:pt x="0" y="0"/>
                </a:moveTo>
                <a:quadBezTo>
                  <a:pt x="86" y="884"/>
                  <a:pt x="258" y="1769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1" name="!!Conducto pancreatico"/>
          <p:cNvSpPr/>
          <p:nvPr/>
        </p:nvSpPr>
        <p:spPr>
          <a:xfrm>
            <a:off x="4127602" y="4296766"/>
            <a:ext cx="3617366" cy="998068"/>
          </a:xfrm>
          <a:custGeom>
            <a:avLst/>
            <a:gdLst/>
            <a:ahLst/>
            <a:cxnLst/>
            <a:rect l="0" t="0" r="r" b="b"/>
            <a:pathLst>
              <a:path w="3956" h="1091" fill="none">
                <a:moveTo>
                  <a:pt x="3956" y="0"/>
                </a:moveTo>
                <a:quadBezTo>
                  <a:pt x="1805" y="531"/>
                  <a:pt x="0" y="1091"/>
                </a:quadBezTo>
              </a:path>
            </a:pathLst>
          </a:custGeom>
          <a:noFill/>
          <a:ln w="63500" cap="rnd">
            <a:solidFill>
              <a:srgbClr val="B7950B"/>
            </a:solidFill>
            <a:round/>
          </a:ln>
        </p:spPr>
      </p:sp>
      <p:sp>
        <p:nvSpPr>
          <p:cNvPr id="22" name="!!Ampolla de Vater"/>
          <p:cNvSpPr/>
          <p:nvPr/>
        </p:nvSpPr>
        <p:spPr>
          <a:xfrm>
            <a:off x="3773729" y="5125212"/>
            <a:ext cx="393192" cy="393192"/>
          </a:xfrm>
          <a:prstGeom prst="ellipse">
            <a:avLst/>
          </a:prstGeom>
          <a:solidFill>
            <a:srgbClr val="F4D03F"/>
          </a:solidFill>
          <a:ln w="15875" cap="rnd">
            <a:solidFill>
              <a:srgbClr val="7D6608"/>
            </a:solidFill>
            <a:round/>
          </a:ln>
        </p:spPr>
      </p:sp>
      <p:sp>
        <p:nvSpPr>
          <p:cNvPr id="23" name="!!Bilis 0"/>
          <p:cNvSpPr/>
          <p:nvPr/>
        </p:nvSpPr>
        <p:spPr>
          <a:xfrm>
            <a:off x="3201314" y="2901391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4" name="!!Bilis 1"/>
          <p:cNvSpPr/>
          <p:nvPr/>
        </p:nvSpPr>
        <p:spPr>
          <a:xfrm>
            <a:off x="3319272" y="3063240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5" name="!!Bilis 2"/>
          <p:cNvSpPr/>
          <p:nvPr/>
        </p:nvSpPr>
        <p:spPr>
          <a:xfrm>
            <a:off x="3437230" y="3225089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6" name="!!Bilis 3"/>
          <p:cNvSpPr/>
          <p:nvPr/>
        </p:nvSpPr>
        <p:spPr>
          <a:xfrm>
            <a:off x="3555187" y="3440887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7" name="!!Bilis 4"/>
          <p:cNvSpPr/>
          <p:nvPr/>
        </p:nvSpPr>
        <p:spPr>
          <a:xfrm>
            <a:off x="3649553" y="3710635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8" name="!!Cálculo"/>
          <p:cNvSpPr/>
          <p:nvPr/>
        </p:nvSpPr>
        <p:spPr>
          <a:xfrm>
            <a:off x="3627608" y="4167835"/>
            <a:ext cx="402336" cy="365760"/>
          </a:xfrm>
          <a:prstGeom prst="ellipse">
            <a:avLst/>
          </a:prstGeom>
          <a:gradFill rotWithShape="1">
            <a:gsLst>
              <a:gs pos="0">
                <a:srgbClr val="B2BABA"/>
              </a:gs>
              <a:gs pos="55000">
                <a:srgbClr val="7F8C8D"/>
              </a:gs>
              <a:gs pos="100000">
                <a:srgbClr val="58626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1E1E"/>
            </a:solidFill>
            <a:round/>
          </a:ln>
        </p:spPr>
      </p:sp>
      <p:grpSp>
        <p:nvGrpSpPr>
          <p:cNvPr id="29" name="Caja CO2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30" name="Forma 29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Colestasis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obstrucción o deterioro del flujo biliar (intra o extrahepática). La bilis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acumula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por encima del obstáculo.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8677656" y="1097280"/>
              <a:ext cx="1439891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OBSTRUCCIÓN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OBSTRUCCIÓN DEL CONDUCTO: LA BILIS NO FLUYE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3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Higado"/>
          <p:cNvGrpSpPr/>
          <p:nvPr/>
        </p:nvGrpSpPr>
        <p:grpSpPr>
          <a:xfrm>
            <a:off x="274320" y="1005840"/>
            <a:ext cx="5190134" cy="3668387"/>
            <a:chOff x="274320" y="1005840"/>
            <a:chExt cx="5190134" cy="3668387"/>
          </a:xfrm>
        </p:grpSpPr>
        <p:sp>
          <p:nvSpPr>
            <p:cNvPr id="6" name="Vesícula biliar"/>
            <p:cNvSpPr/>
            <p:nvPr/>
          </p:nvSpPr>
          <p:spPr>
            <a:xfrm>
              <a:off x="1675656" y="3515789"/>
              <a:ext cx="674717" cy="115843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8" name="Forma 7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sp>
        <p:nvSpPr>
          <p:cNvPr id="10" name="!!Duodeno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381000" cap="rnd">
            <a:solidFill>
              <a:srgbClr val="922B21"/>
            </a:solidFill>
            <a:round/>
          </a:ln>
        </p:spPr>
      </p:sp>
      <p:sp>
        <p:nvSpPr>
          <p:cNvPr id="11" name="!!Duodeno luz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292100" cap="rnd">
            <a:solidFill>
              <a:srgbClr val="F1948A"/>
            </a:solidFill>
            <a:round/>
          </a:ln>
        </p:spPr>
      </p:sp>
      <p:grpSp>
        <p:nvGrpSpPr>
          <p:cNvPr id="12" name="!!Pancreas"/>
          <p:cNvGrpSpPr/>
          <p:nvPr/>
        </p:nvGrpSpPr>
        <p:grpSpPr>
          <a:xfrm>
            <a:off x="3970325" y="3865169"/>
            <a:ext cx="4089197" cy="1717463"/>
            <a:chOff x="3970325" y="3865169"/>
            <a:chExt cx="4089197" cy="1717463"/>
          </a:xfrm>
        </p:grpSpPr>
        <p:sp>
          <p:nvSpPr>
            <p:cNvPr id="13" name="Forma 12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4" name="Forma 13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15" name="Islotes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17" name="!!Vesicula"/>
          <p:cNvSpPr/>
          <p:nvPr/>
        </p:nvSpPr>
        <p:spPr>
          <a:xfrm>
            <a:off x="1532534" y="3325673"/>
            <a:ext cx="943661" cy="118689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cubicBezTo>
                  <a:pt x="420" y="-53"/>
                  <a:pt x="691" y="-20"/>
                  <a:pt x="800" y="80"/>
                </a:cubicBezTo>
                <a:cubicBezTo>
                  <a:pt x="908" y="180"/>
                  <a:pt x="983" y="446"/>
                  <a:pt x="950" y="600"/>
                </a:cubicBezTo>
                <a:cubicBezTo>
                  <a:pt x="916" y="753"/>
                  <a:pt x="725" y="950"/>
                  <a:pt x="600" y="1000"/>
                </a:cubicBezTo>
                <a:cubicBezTo>
                  <a:pt x="475" y="1050"/>
                  <a:pt x="286" y="1000"/>
                  <a:pt x="200" y="900"/>
                </a:cubicBezTo>
                <a:cubicBezTo>
                  <a:pt x="113" y="800"/>
                  <a:pt x="63" y="550"/>
                  <a:pt x="80" y="400"/>
                </a:cubicBezTo>
                <a:cubicBezTo>
                  <a:pt x="96" y="250"/>
                  <a:pt x="180" y="53"/>
                  <a:pt x="300" y="0"/>
                </a:cubicBezTo>
                <a:close/>
              </a:path>
            </a:pathLst>
          </a:custGeom>
          <a:gradFill rotWithShape="1">
            <a:gsLst>
              <a:gs pos="0">
                <a:srgbClr val="BAD099"/>
              </a:gs>
              <a:gs pos="55000">
                <a:srgbClr val="8DB255"/>
              </a:gs>
              <a:gs pos="100000">
                <a:srgbClr val="627C3B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4E6B22"/>
            </a:solidFill>
            <a:round/>
          </a:ln>
        </p:spPr>
      </p:sp>
      <p:sp>
        <p:nvSpPr>
          <p:cNvPr id="18" name="!!Conductos hepaticos"/>
          <p:cNvSpPr/>
          <p:nvPr/>
        </p:nvSpPr>
        <p:spPr>
          <a:xfrm>
            <a:off x="3262579" y="2948026"/>
            <a:ext cx="471830" cy="701345"/>
          </a:xfrm>
          <a:custGeom>
            <a:avLst/>
            <a:gdLst/>
            <a:ahLst/>
            <a:cxnLst/>
            <a:rect l="0" t="0" r="r" b="b"/>
            <a:pathLst>
              <a:path w="516" h="766" fill="none">
                <a:moveTo>
                  <a:pt x="0" y="0"/>
                </a:moveTo>
                <a:quadBezTo>
                  <a:pt x="258" y="354"/>
                  <a:pt x="516" y="766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19" name="!!Conducto cistico"/>
          <p:cNvSpPr/>
          <p:nvPr/>
        </p:nvSpPr>
        <p:spPr>
          <a:xfrm>
            <a:off x="2397557" y="3703320"/>
            <a:ext cx="1336853" cy="107899"/>
          </a:xfrm>
          <a:custGeom>
            <a:avLst/>
            <a:gdLst/>
            <a:ahLst/>
            <a:cxnLst/>
            <a:rect l="0" t="0" r="r" b="b"/>
            <a:pathLst>
              <a:path w="1461" h="117" fill="none">
                <a:moveTo>
                  <a:pt x="0" y="117"/>
                </a:moveTo>
                <a:quadBezTo>
                  <a:pt x="774" y="117"/>
                  <a:pt x="1461" y="0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0" name="!!Coledoco"/>
          <p:cNvSpPr/>
          <p:nvPr/>
        </p:nvSpPr>
        <p:spPr>
          <a:xfrm>
            <a:off x="3734410" y="3649370"/>
            <a:ext cx="235915" cy="1618488"/>
          </a:xfrm>
          <a:custGeom>
            <a:avLst/>
            <a:gdLst/>
            <a:ahLst/>
            <a:cxnLst/>
            <a:rect l="0" t="0" r="r" b="b"/>
            <a:pathLst>
              <a:path w="258" h="1769" fill="none">
                <a:moveTo>
                  <a:pt x="0" y="0"/>
                </a:moveTo>
                <a:quadBezTo>
                  <a:pt x="86" y="884"/>
                  <a:pt x="258" y="1769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1" name="!!Conducto pancreatico"/>
          <p:cNvSpPr/>
          <p:nvPr/>
        </p:nvSpPr>
        <p:spPr>
          <a:xfrm>
            <a:off x="4127602" y="4296766"/>
            <a:ext cx="3617366" cy="998068"/>
          </a:xfrm>
          <a:custGeom>
            <a:avLst/>
            <a:gdLst/>
            <a:ahLst/>
            <a:cxnLst/>
            <a:rect l="0" t="0" r="r" b="b"/>
            <a:pathLst>
              <a:path w="3956" h="1091" fill="none">
                <a:moveTo>
                  <a:pt x="3956" y="0"/>
                </a:moveTo>
                <a:quadBezTo>
                  <a:pt x="1805" y="531"/>
                  <a:pt x="0" y="1091"/>
                </a:quadBezTo>
              </a:path>
            </a:pathLst>
          </a:custGeom>
          <a:noFill/>
          <a:ln w="63500" cap="rnd">
            <a:solidFill>
              <a:srgbClr val="B7950B"/>
            </a:solidFill>
            <a:round/>
          </a:ln>
        </p:spPr>
      </p:sp>
      <p:sp>
        <p:nvSpPr>
          <p:cNvPr id="22" name="!!Ampolla de Vater"/>
          <p:cNvSpPr/>
          <p:nvPr/>
        </p:nvSpPr>
        <p:spPr>
          <a:xfrm>
            <a:off x="3773729" y="5125212"/>
            <a:ext cx="393192" cy="393192"/>
          </a:xfrm>
          <a:prstGeom prst="ellipse">
            <a:avLst/>
          </a:prstGeom>
          <a:solidFill>
            <a:srgbClr val="F4D03F"/>
          </a:solidFill>
          <a:ln w="15875" cap="rnd">
            <a:solidFill>
              <a:srgbClr val="7D6608"/>
            </a:solidFill>
            <a:round/>
          </a:ln>
        </p:spPr>
      </p:sp>
      <p:sp>
        <p:nvSpPr>
          <p:cNvPr id="23" name="!!Bilis 0"/>
          <p:cNvSpPr/>
          <p:nvPr/>
        </p:nvSpPr>
        <p:spPr>
          <a:xfrm>
            <a:off x="3201314" y="2901391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4" name="!!Bilis 1"/>
          <p:cNvSpPr/>
          <p:nvPr/>
        </p:nvSpPr>
        <p:spPr>
          <a:xfrm>
            <a:off x="3319272" y="3063240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5" name="!!Bilis 2"/>
          <p:cNvSpPr/>
          <p:nvPr/>
        </p:nvSpPr>
        <p:spPr>
          <a:xfrm>
            <a:off x="3437230" y="3225089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6" name="!!Bilis 3"/>
          <p:cNvSpPr/>
          <p:nvPr/>
        </p:nvSpPr>
        <p:spPr>
          <a:xfrm>
            <a:off x="3555187" y="3440887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7" name="!!Bilis 4"/>
          <p:cNvSpPr/>
          <p:nvPr/>
        </p:nvSpPr>
        <p:spPr>
          <a:xfrm>
            <a:off x="3649553" y="3710635"/>
            <a:ext cx="201168" cy="201168"/>
          </a:xfrm>
          <a:prstGeom prst="ellipse">
            <a:avLst/>
          </a:prstGeom>
          <a:solidFill>
            <a:srgbClr val="27AE60"/>
          </a:solidFill>
          <a:ln w="9525" cap="rnd">
            <a:solidFill>
              <a:srgbClr val="145A32"/>
            </a:solidFill>
            <a:round/>
          </a:ln>
        </p:spPr>
      </p:sp>
      <p:sp>
        <p:nvSpPr>
          <p:cNvPr id="28" name="!!Cálculo"/>
          <p:cNvSpPr/>
          <p:nvPr/>
        </p:nvSpPr>
        <p:spPr>
          <a:xfrm>
            <a:off x="3627608" y="4167835"/>
            <a:ext cx="402336" cy="365760"/>
          </a:xfrm>
          <a:prstGeom prst="ellipse">
            <a:avLst/>
          </a:prstGeom>
          <a:gradFill rotWithShape="1">
            <a:gsLst>
              <a:gs pos="0">
                <a:srgbClr val="B2BABA"/>
              </a:gs>
              <a:gs pos="55000">
                <a:srgbClr val="7F8C8D"/>
              </a:gs>
              <a:gs pos="100000">
                <a:srgbClr val="58626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29" name="!!Marcador colestasis 0"/>
          <p:cNvSpPr/>
          <p:nvPr/>
        </p:nvSpPr>
        <p:spPr>
          <a:xfrm>
            <a:off x="2011680" y="1143000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2CA97"/>
              </a:gs>
              <a:gs pos="55000">
                <a:srgbClr val="27AE60"/>
              </a:gs>
              <a:gs pos="100000">
                <a:srgbClr val="1F8B4C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13573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 lang="es-AR" sz="1100" dirty="0">
              <a:latin typeface="Calibri"/>
            </a:endParaRPr>
          </a:p>
        </p:txBody>
      </p:sp>
      <p:sp>
        <p:nvSpPr>
          <p:cNvPr id="30" name="!!Marcador colestasis 1"/>
          <p:cNvSpPr/>
          <p:nvPr/>
        </p:nvSpPr>
        <p:spPr>
          <a:xfrm>
            <a:off x="2788920" y="1143000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BE64"/>
              </a:gs>
              <a:gs pos="55000">
                <a:srgbClr val="F39C12"/>
              </a:gs>
              <a:gs pos="100000">
                <a:srgbClr val="C27C0E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94E09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FAL</a:t>
            </a:r>
            <a:endParaRPr lang="es-AR" sz="1100" dirty="0">
              <a:latin typeface="Calibri"/>
            </a:endParaRPr>
          </a:p>
        </p:txBody>
      </p:sp>
      <p:sp>
        <p:nvSpPr>
          <p:cNvPr id="31" name="!!Marcador colestasis 2"/>
          <p:cNvSpPr/>
          <p:nvPr/>
        </p:nvSpPr>
        <p:spPr>
          <a:xfrm>
            <a:off x="3566160" y="1143000"/>
            <a:ext cx="7315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CBA8D9"/>
              </a:gs>
              <a:gs pos="55000">
                <a:srgbClr val="AF7AC5"/>
              </a:gs>
              <a:gs pos="100000">
                <a:srgbClr val="8C619D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573D62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GGT</a:t>
            </a:r>
            <a:endParaRPr lang="es-AR" sz="1100" dirty="0">
              <a:latin typeface="Calibri"/>
            </a:endParaRPr>
          </a:p>
        </p:txBody>
      </p:sp>
      <p:grpSp>
        <p:nvGrpSpPr>
          <p:cNvPr id="32" name="Caja CO3"/>
          <p:cNvGrpSpPr/>
          <p:nvPr/>
        </p:nvGrpSpPr>
        <p:grpSpPr>
          <a:xfrm>
            <a:off x="8549640" y="1097280"/>
            <a:ext cx="3383280" cy="2103120"/>
            <a:chOff x="8549640" y="1097280"/>
            <a:chExt cx="3383280" cy="2103120"/>
          </a:xfrm>
        </p:grpSpPr>
        <p:sp>
          <p:nvSpPr>
            <p:cNvPr id="33" name="Forma 32"/>
            <p:cNvSpPr/>
            <p:nvPr/>
          </p:nvSpPr>
          <p:spPr>
            <a:xfrm>
              <a:off x="8549640" y="1298448"/>
              <a:ext cx="3383280" cy="190195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Suben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directa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GGT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las transaminasas solo si hay daño hepático secundario.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8677656" y="1097280"/>
              <a:ext cx="1432265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LABORATORIO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5" name="Tríada colestasis"/>
          <p:cNvGrpSpPr/>
          <p:nvPr/>
        </p:nvGrpSpPr>
        <p:grpSpPr>
          <a:xfrm>
            <a:off x="8549640" y="3429000"/>
            <a:ext cx="3383280" cy="3017520"/>
            <a:chOff x="8549640" y="3429000"/>
            <a:chExt cx="3383280" cy="3017520"/>
          </a:xfrm>
        </p:grpSpPr>
        <p:sp>
          <p:nvSpPr>
            <p:cNvPr id="36" name="Forma 35"/>
            <p:cNvSpPr/>
            <p:nvPr/>
          </p:nvSpPr>
          <p:spPr>
            <a:xfrm>
              <a:off x="8549640" y="3630168"/>
              <a:ext cx="3383280" cy="281635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Ictericia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(BD a la sangre y los tejidos) ·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coluria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(BD hidrosoluble filtra por el riñón: orina «color té») ·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acolia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(sin bilis en el intestino: heces claras).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8677656" y="3429000"/>
              <a:ext cx="897740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TRÍADA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CONSECUENCIAS BIOQUÍMICAS Y CLÍNICAS DE LA COLESTASIS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6" name="Tríada ICTERICIA"/>
          <p:cNvGrpSpPr/>
          <p:nvPr/>
        </p:nvGrpSpPr>
        <p:grpSpPr>
          <a:xfrm>
            <a:off x="411480" y="1097280"/>
            <a:ext cx="3657600" cy="4206240"/>
            <a:chOff x="411480" y="1097280"/>
            <a:chExt cx="3657600" cy="4206240"/>
          </a:xfrm>
        </p:grpSpPr>
        <p:sp>
          <p:nvSpPr>
            <p:cNvPr id="7" name="Forma 6"/>
            <p:cNvSpPr/>
            <p:nvPr/>
          </p:nvSpPr>
          <p:spPr>
            <a:xfrm>
              <a:off x="411480" y="1097280"/>
              <a:ext cx="3657600" cy="42062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1143000" y="1463040"/>
              <a:ext cx="2194560" cy="1188720"/>
            </a:xfrm>
            <a:prstGeom prst="ellipse">
              <a:avLst/>
            </a:prstGeom>
            <a:gradFill rotWithShape="1">
              <a:gsLst>
                <a:gs pos="0">
                  <a:srgbClr val="F9E69A"/>
                </a:gs>
                <a:gs pos="55000">
                  <a:srgbClr val="F7DC6F"/>
                </a:gs>
                <a:gs pos="100000">
                  <a:srgbClr val="C5B058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828800" y="1645920"/>
              <a:ext cx="822960" cy="822960"/>
            </a:xfrm>
            <a:prstGeom prst="ellipse">
              <a:avLst/>
            </a:prstGeom>
            <a:gradFill rotWithShape="1">
              <a:gsLst>
                <a:gs pos="0">
                  <a:srgbClr val="8D7973"/>
                </a:gs>
                <a:gs pos="55000">
                  <a:srgbClr val="5D4037"/>
                </a:gs>
                <a:gs pos="100000">
                  <a:srgbClr val="412C26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10" name="Forma 9"/>
            <p:cNvSpPr txBox="1"/>
            <p:nvPr/>
          </p:nvSpPr>
          <p:spPr>
            <a:xfrm>
              <a:off x="594360" y="2926080"/>
              <a:ext cx="32918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ICTERICIA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1" name="Forma 10"/>
            <p:cNvSpPr txBox="1"/>
            <p:nvPr/>
          </p:nvSpPr>
          <p:spPr>
            <a:xfrm>
              <a:off x="640080" y="3474720"/>
              <a:ext cx="3200400" cy="1737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directa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se vuelca a la sangre y se deposita en los tejidos: piel y mucosas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amarillas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2" name="Tríada COLURIA"/>
          <p:cNvGrpSpPr/>
          <p:nvPr/>
        </p:nvGrpSpPr>
        <p:grpSpPr>
          <a:xfrm>
            <a:off x="4297680" y="1097280"/>
            <a:ext cx="3657600" cy="4206240"/>
            <a:chOff x="4297680" y="1097280"/>
            <a:chExt cx="3657600" cy="4206240"/>
          </a:xfrm>
        </p:grpSpPr>
        <p:sp>
          <p:nvSpPr>
            <p:cNvPr id="13" name="Forma 12"/>
            <p:cNvSpPr/>
            <p:nvPr/>
          </p:nvSpPr>
          <p:spPr>
            <a:xfrm>
              <a:off x="4297680" y="1097280"/>
              <a:ext cx="3657600" cy="42062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5532120" y="1371600"/>
              <a:ext cx="1188720" cy="1463040"/>
            </a:xfrm>
            <a:prstGeom prst="can">
              <a:avLst/>
            </a:prstGeom>
            <a:gradFill rotWithShape="1">
              <a:gsLst>
                <a:gs pos="0">
                  <a:srgbClr val="A0522D"/>
                </a:gs>
                <a:gs pos="100000">
                  <a:srgbClr val="6E2C00"/>
                </a:gs>
              </a:gsLst>
              <a:lin ang="0" scaled="0"/>
            </a:gradFill>
            <a:ln w="19050" cap="rnd">
              <a:solidFill>
                <a:srgbClr val="1E1E1E"/>
              </a:solidFill>
              <a:round/>
            </a:ln>
          </p:spPr>
        </p:sp>
        <p:sp>
          <p:nvSpPr>
            <p:cNvPr id="15" name="Forma 14"/>
            <p:cNvSpPr txBox="1"/>
            <p:nvPr/>
          </p:nvSpPr>
          <p:spPr>
            <a:xfrm>
              <a:off x="4480560" y="2926080"/>
              <a:ext cx="32918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COLURIA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16" name="Forma 15"/>
            <p:cNvSpPr txBox="1"/>
            <p:nvPr/>
          </p:nvSpPr>
          <p:spPr>
            <a:xfrm>
              <a:off x="4526280" y="3474720"/>
              <a:ext cx="3200400" cy="1737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BD es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hidrosoluble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filtra por el riñón y colorea la orina de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marrón oscuro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(«color té»).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7" name="Tríada ACOLIA"/>
          <p:cNvGrpSpPr/>
          <p:nvPr/>
        </p:nvGrpSpPr>
        <p:grpSpPr>
          <a:xfrm>
            <a:off x="8183880" y="1097280"/>
            <a:ext cx="3657600" cy="4206240"/>
            <a:chOff x="8183880" y="1097280"/>
            <a:chExt cx="3657600" cy="4206240"/>
          </a:xfrm>
        </p:grpSpPr>
        <p:sp>
          <p:nvSpPr>
            <p:cNvPr id="18" name="Forma 17"/>
            <p:cNvSpPr/>
            <p:nvPr/>
          </p:nvSpPr>
          <p:spPr>
            <a:xfrm>
              <a:off x="8183880" y="1097280"/>
              <a:ext cx="3657600" cy="420624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2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9098280" y="1554480"/>
              <a:ext cx="1828800" cy="1005840"/>
            </a:xfrm>
            <a:prstGeom prst="ellipse">
              <a:avLst/>
            </a:prstGeom>
            <a:gradFill rotWithShape="1">
              <a:gsLst>
                <a:gs pos="0">
                  <a:srgbClr val="F4F5F6"/>
                </a:gs>
                <a:gs pos="55000">
                  <a:srgbClr val="F2F3F4"/>
                </a:gs>
                <a:gs pos="100000">
                  <a:srgbClr val="C1C2C3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7F8C8D"/>
              </a:solidFill>
              <a:round/>
            </a:ln>
          </p:spPr>
        </p:sp>
        <p:sp>
          <p:nvSpPr>
            <p:cNvPr id="20" name="Forma 19"/>
            <p:cNvSpPr txBox="1"/>
            <p:nvPr/>
          </p:nvSpPr>
          <p:spPr>
            <a:xfrm>
              <a:off x="8366760" y="2926080"/>
              <a:ext cx="3291840" cy="502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22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ACOLIA</a:t>
              </a:r>
              <a:endParaRPr lang="es-AR" sz="2200" dirty="0">
                <a:latin typeface="Calibri"/>
              </a:endParaRPr>
            </a:p>
          </p:txBody>
        </p:sp>
        <p:sp>
          <p:nvSpPr>
            <p:cNvPr id="21" name="Forma 20"/>
            <p:cNvSpPr txBox="1"/>
            <p:nvPr/>
          </p:nvSpPr>
          <p:spPr>
            <a:xfrm>
              <a:off x="8412480" y="3474720"/>
              <a:ext cx="3200400" cy="1737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bilis no llega al intestino: sin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estercobilina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las heces son </a:t>
              </a: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blancas / color arcilla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2" name="Rigor acolia"/>
          <p:cNvGrpSpPr/>
          <p:nvPr/>
        </p:nvGrpSpPr>
        <p:grpSpPr>
          <a:xfrm>
            <a:off x="411480" y="5486400"/>
            <a:ext cx="11430000" cy="960120"/>
            <a:chOff x="411480" y="5486400"/>
            <a:chExt cx="11430000" cy="960120"/>
          </a:xfrm>
        </p:grpSpPr>
        <p:sp>
          <p:nvSpPr>
            <p:cNvPr id="23" name="Forma 22"/>
            <p:cNvSpPr/>
            <p:nvPr/>
          </p:nvSpPr>
          <p:spPr>
            <a:xfrm>
              <a:off x="411480" y="5687568"/>
              <a:ext cx="11430000" cy="75895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acolia sugiere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obstrucción biliar completa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pero no es estrictamente patognomónica: también puede verse en colestasis intrahepática grave.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539496" y="548640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4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TRÍADA DE LA COLESTASIS: ICTERICIA, COLURIA Y ACOLIA</a:t>
            </a:r>
            <a:endParaRPr lang="es-AR" sz="18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Reacción amilasa"/>
          <p:cNvGrpSpPr/>
          <p:nvPr/>
        </p:nvGrpSpPr>
        <p:grpSpPr>
          <a:xfrm>
            <a:off x="365760" y="1188720"/>
            <a:ext cx="7680960" cy="1097280"/>
            <a:chOff x="365760" y="1188720"/>
            <a:chExt cx="7680960" cy="1097280"/>
          </a:xfrm>
        </p:grpSpPr>
        <p:sp>
          <p:nvSpPr>
            <p:cNvPr id="6" name="Forma 5"/>
            <p:cNvSpPr/>
            <p:nvPr/>
          </p:nvSpPr>
          <p:spPr>
            <a:xfrm>
              <a:off x="457200" y="137160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841248" y="155448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1225296" y="137160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1609344" y="155448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10" name="Forma 9"/>
            <p:cNvSpPr/>
            <p:nvPr/>
          </p:nvSpPr>
          <p:spPr>
            <a:xfrm>
              <a:off x="1993392" y="137160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11" name="Forma 10"/>
            <p:cNvSpPr/>
            <p:nvPr/>
          </p:nvSpPr>
          <p:spPr>
            <a:xfrm>
              <a:off x="2377440" y="155448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2761488" y="137160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13" name="Forma 12"/>
            <p:cNvSpPr txBox="1"/>
            <p:nvPr/>
          </p:nvSpPr>
          <p:spPr>
            <a:xfrm>
              <a:off x="365760" y="1965960"/>
              <a:ext cx="29260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7D6608"/>
                  </a:solidFill>
                  <a:latin typeface="Calibri"/>
                  <a:ea typeface="Calibri"/>
                  <a:cs typeface="Calibri"/>
                  <a:sym typeface="Calibri"/>
                </a:rPr>
                <a:t>almidón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4" name="Amilasa forma"/>
            <p:cNvSpPr/>
            <p:nvPr/>
          </p:nvSpPr>
          <p:spPr>
            <a:xfrm>
              <a:off x="3291840" y="1188720"/>
              <a:ext cx="137160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71" y="500"/>
                  </a:moveTo>
                  <a:cubicBezTo>
                    <a:pt x="970" y="574"/>
                    <a:pt x="922" y="652"/>
                    <a:pt x="883" y="721"/>
                  </a:cubicBezTo>
                  <a:cubicBezTo>
                    <a:pt x="844" y="789"/>
                    <a:pt x="800" y="884"/>
                    <a:pt x="737" y="911"/>
                  </a:cubicBezTo>
                  <a:cubicBezTo>
                    <a:pt x="673" y="937"/>
                    <a:pt x="575" y="886"/>
                    <a:pt x="500" y="880"/>
                  </a:cubicBezTo>
                  <a:cubicBezTo>
                    <a:pt x="424" y="873"/>
                    <a:pt x="351" y="898"/>
                    <a:pt x="284" y="874"/>
                  </a:cubicBezTo>
                  <a:cubicBezTo>
                    <a:pt x="216" y="849"/>
                    <a:pt x="126" y="795"/>
                    <a:pt x="95" y="733"/>
                  </a:cubicBezTo>
                  <a:cubicBezTo>
                    <a:pt x="63" y="670"/>
                    <a:pt x="83" y="570"/>
                    <a:pt x="97" y="500"/>
                  </a:cubicBezTo>
                  <a:cubicBezTo>
                    <a:pt x="110" y="430"/>
                    <a:pt x="139" y="366"/>
                    <a:pt x="176" y="313"/>
                  </a:cubicBezTo>
                  <a:cubicBezTo>
                    <a:pt x="212" y="259"/>
                    <a:pt x="260" y="212"/>
                    <a:pt x="314" y="179"/>
                  </a:cubicBezTo>
                  <a:cubicBezTo>
                    <a:pt x="367" y="145"/>
                    <a:pt x="430" y="124"/>
                    <a:pt x="499" y="112"/>
                  </a:cubicBezTo>
                  <a:cubicBezTo>
                    <a:pt x="567" y="99"/>
                    <a:pt x="662" y="78"/>
                    <a:pt x="727" y="106"/>
                  </a:cubicBezTo>
                  <a:cubicBezTo>
                    <a:pt x="791" y="133"/>
                    <a:pt x="844" y="211"/>
                    <a:pt x="885" y="277"/>
                  </a:cubicBezTo>
                  <a:cubicBezTo>
                    <a:pt x="925" y="342"/>
                    <a:pt x="971" y="426"/>
                    <a:pt x="971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9D396"/>
                </a:gs>
                <a:gs pos="55000">
                  <a:srgbClr val="F5B041"/>
                </a:gs>
                <a:gs pos="100000">
                  <a:srgbClr val="B78430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A5820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5" name="Flecha 14_2"/>
            <p:cNvSpPr/>
            <p:nvPr/>
          </p:nvSpPr>
          <p:spPr>
            <a:xfrm>
              <a:off x="4754880" y="1691640"/>
              <a:ext cx="548640" cy="9144"/>
            </a:xfrm>
            <a:custGeom>
              <a:avLst/>
              <a:gdLst/>
              <a:ahLst/>
              <a:cxnLst/>
              <a:rect l="0" t="0" r="r" b="b"/>
              <a:pathLst>
                <a:path w="599" h="10" fill="none">
                  <a:moveTo>
                    <a:pt x="0" y="0"/>
                  </a:moveTo>
                  <a:lnTo>
                    <a:pt x="59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6" name="Forma 16"/>
            <p:cNvSpPr/>
            <p:nvPr/>
          </p:nvSpPr>
          <p:spPr>
            <a:xfrm>
              <a:off x="5440680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17" name="Forma 17"/>
            <p:cNvSpPr/>
            <p:nvPr/>
          </p:nvSpPr>
          <p:spPr>
            <a:xfrm>
              <a:off x="5788152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18" name="Forma 18"/>
            <p:cNvSpPr/>
            <p:nvPr/>
          </p:nvSpPr>
          <p:spPr>
            <a:xfrm>
              <a:off x="6309360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19" name="Forma 19"/>
            <p:cNvSpPr/>
            <p:nvPr/>
          </p:nvSpPr>
          <p:spPr>
            <a:xfrm>
              <a:off x="6656832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20" name="Forma 20"/>
            <p:cNvSpPr/>
            <p:nvPr/>
          </p:nvSpPr>
          <p:spPr>
            <a:xfrm>
              <a:off x="7178040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21" name="Forma 21"/>
            <p:cNvSpPr/>
            <p:nvPr/>
          </p:nvSpPr>
          <p:spPr>
            <a:xfrm>
              <a:off x="7525512" y="1463040"/>
              <a:ext cx="384048" cy="384048"/>
            </a:xfrm>
            <a:prstGeom prst="hexagon">
              <a:avLst>
                <a:gd name="adj" fmla="val 28000"/>
                <a:gd name="vf" fmla="val 115470"/>
              </a:avLst>
            </a:prstGeom>
            <a:gradFill rotWithShape="1">
              <a:gsLst>
                <a:gs pos="0">
                  <a:srgbClr val="F7E082"/>
                </a:gs>
                <a:gs pos="55000">
                  <a:srgbClr val="F4D03F"/>
                </a:gs>
                <a:gs pos="100000">
                  <a:srgbClr val="C3A632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9A7D0A"/>
              </a:solidFill>
              <a:round/>
            </a:ln>
          </p:spPr>
        </p:sp>
        <p:sp>
          <p:nvSpPr>
            <p:cNvPr id="22" name="Forma 22"/>
            <p:cNvSpPr txBox="1"/>
            <p:nvPr/>
          </p:nvSpPr>
          <p:spPr>
            <a:xfrm>
              <a:off x="5303520" y="1965960"/>
              <a:ext cx="2743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7D6608"/>
                  </a:solidFill>
                  <a:latin typeface="Calibri"/>
                  <a:ea typeface="Calibri"/>
                  <a:cs typeface="Calibri"/>
                  <a:sym typeface="Calibri"/>
                </a:rPr>
                <a:t>disacáridos / maltosa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3" name="Tabla amilasa fila 0"/>
          <p:cNvGrpSpPr/>
          <p:nvPr/>
        </p:nvGrpSpPr>
        <p:grpSpPr>
          <a:xfrm>
            <a:off x="365760" y="2514600"/>
            <a:ext cx="7680960" cy="502920"/>
            <a:chOff x="365760" y="2514600"/>
            <a:chExt cx="7680960" cy="502920"/>
          </a:xfrm>
        </p:grpSpPr>
        <p:sp>
          <p:nvSpPr>
            <p:cNvPr id="24" name="Forma 24"/>
            <p:cNvSpPr/>
            <p:nvPr/>
          </p:nvSpPr>
          <p:spPr>
            <a:xfrm>
              <a:off x="365760" y="2514600"/>
              <a:ext cx="256032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Propiedad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5" name="Forma 25"/>
            <p:cNvSpPr/>
            <p:nvPr/>
          </p:nvSpPr>
          <p:spPr>
            <a:xfrm>
              <a:off x="2926080" y="2514600"/>
              <a:ext cx="512064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Descripción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6" name="Tabla amilasa fila 1"/>
          <p:cNvGrpSpPr/>
          <p:nvPr/>
        </p:nvGrpSpPr>
        <p:grpSpPr>
          <a:xfrm>
            <a:off x="365760" y="3017520"/>
            <a:ext cx="7680960" cy="502920"/>
            <a:chOff x="365760" y="3017520"/>
            <a:chExt cx="7680960" cy="502920"/>
          </a:xfrm>
        </p:grpSpPr>
        <p:sp>
          <p:nvSpPr>
            <p:cNvPr id="27" name="Forma 27"/>
            <p:cNvSpPr/>
            <p:nvPr/>
          </p:nvSpPr>
          <p:spPr>
            <a:xfrm>
              <a:off x="365760" y="3017520"/>
              <a:ext cx="256032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Origen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8" name="Forma 28"/>
            <p:cNvSpPr/>
            <p:nvPr/>
          </p:nvSpPr>
          <p:spPr>
            <a:xfrm>
              <a:off x="2926080" y="3017520"/>
              <a:ext cx="512064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Páncreas exocrino +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glándulas salivales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9" name="Tabla amilasa fila 2"/>
          <p:cNvGrpSpPr/>
          <p:nvPr/>
        </p:nvGrpSpPr>
        <p:grpSpPr>
          <a:xfrm>
            <a:off x="365760" y="3520440"/>
            <a:ext cx="7680960" cy="502920"/>
            <a:chOff x="365760" y="3520440"/>
            <a:chExt cx="7680960" cy="502920"/>
          </a:xfrm>
        </p:grpSpPr>
        <p:sp>
          <p:nvSpPr>
            <p:cNvPr id="30" name="Forma 30"/>
            <p:cNvSpPr/>
            <p:nvPr/>
          </p:nvSpPr>
          <p:spPr>
            <a:xfrm>
              <a:off x="365760" y="3520440"/>
              <a:ext cx="256032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Especificidad pancreática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1" name="Forma 31"/>
            <p:cNvSpPr/>
            <p:nvPr/>
          </p:nvSpPr>
          <p:spPr>
            <a:xfrm>
              <a:off x="2926080" y="3520440"/>
              <a:ext cx="512064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Moderada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también la produce la parótida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2" name="Tabla amilasa fila 3"/>
          <p:cNvGrpSpPr/>
          <p:nvPr/>
        </p:nvGrpSpPr>
        <p:grpSpPr>
          <a:xfrm>
            <a:off x="365760" y="4023360"/>
            <a:ext cx="7680960" cy="502920"/>
            <a:chOff x="365760" y="4023360"/>
            <a:chExt cx="7680960" cy="502920"/>
          </a:xfrm>
        </p:grpSpPr>
        <p:sp>
          <p:nvSpPr>
            <p:cNvPr id="33" name="Forma 33"/>
            <p:cNvSpPr/>
            <p:nvPr/>
          </p:nvSpPr>
          <p:spPr>
            <a:xfrm>
              <a:off x="365760" y="4023360"/>
              <a:ext cx="256032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Elevación no pancreática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4" name="Forma 34"/>
            <p:cNvSpPr/>
            <p:nvPr/>
          </p:nvSpPr>
          <p:spPr>
            <a:xfrm>
              <a:off x="2926080" y="4023360"/>
              <a:ext cx="512064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Parotitis (paperas): amilasa salival ↑ sin problema pancreático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5" name="Tabla amilasa fila 4"/>
          <p:cNvGrpSpPr/>
          <p:nvPr/>
        </p:nvGrpSpPr>
        <p:grpSpPr>
          <a:xfrm>
            <a:off x="365760" y="4526280"/>
            <a:ext cx="7680960" cy="502920"/>
            <a:chOff x="365760" y="4526280"/>
            <a:chExt cx="7680960" cy="502920"/>
          </a:xfrm>
        </p:grpSpPr>
        <p:sp>
          <p:nvSpPr>
            <p:cNvPr id="36" name="Forma 36"/>
            <p:cNvSpPr/>
            <p:nvPr/>
          </p:nvSpPr>
          <p:spPr>
            <a:xfrm>
              <a:off x="365760" y="4526280"/>
              <a:ext cx="256032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Cinética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7" name="Forma 37"/>
            <p:cNvSpPr/>
            <p:nvPr/>
          </p:nvSpPr>
          <p:spPr>
            <a:xfrm>
              <a:off x="2926080" y="4526280"/>
              <a:ext cx="512064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Inicio 6–12 h · pico 24 h · normalización 48–72 h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8" name="Tabla amilasa fila 5"/>
          <p:cNvGrpSpPr/>
          <p:nvPr/>
        </p:nvGrpSpPr>
        <p:grpSpPr>
          <a:xfrm>
            <a:off x="365760" y="5029200"/>
            <a:ext cx="7680960" cy="502920"/>
            <a:chOff x="365760" y="5029200"/>
            <a:chExt cx="7680960" cy="502920"/>
          </a:xfrm>
        </p:grpSpPr>
        <p:sp>
          <p:nvSpPr>
            <p:cNvPr id="39" name="Forma 39"/>
            <p:cNvSpPr/>
            <p:nvPr/>
          </p:nvSpPr>
          <p:spPr>
            <a:xfrm>
              <a:off x="365760" y="5029200"/>
              <a:ext cx="256032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40" name="Forma 40"/>
            <p:cNvSpPr/>
            <p:nvPr/>
          </p:nvSpPr>
          <p:spPr>
            <a:xfrm>
              <a:off x="2926080" y="5029200"/>
              <a:ext cx="512064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Elevación &gt; 3 veces el VN → altamente sugestiva de pancreatitis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41" name="Tabla amilasa fila 6"/>
          <p:cNvGrpSpPr/>
          <p:nvPr/>
        </p:nvGrpSpPr>
        <p:grpSpPr>
          <a:xfrm>
            <a:off x="365760" y="5532120"/>
            <a:ext cx="7680960" cy="539496"/>
            <a:chOff x="365760" y="5532120"/>
            <a:chExt cx="7680960" cy="539496"/>
          </a:xfrm>
        </p:grpSpPr>
        <p:sp>
          <p:nvSpPr>
            <p:cNvPr id="42" name="Forma 42"/>
            <p:cNvSpPr/>
            <p:nvPr/>
          </p:nvSpPr>
          <p:spPr>
            <a:xfrm>
              <a:off x="365760" y="5532120"/>
              <a:ext cx="256032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Amilasuria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43" name="Forma 43"/>
            <p:cNvSpPr/>
            <p:nvPr/>
          </p:nvSpPr>
          <p:spPr>
            <a:xfrm>
              <a:off x="2926080" y="5532120"/>
              <a:ext cx="5120640" cy="539496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 eleva después que la sérica y dura más: útil si el paciente llega tarde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44" name="Parótida"/>
          <p:cNvGrpSpPr/>
          <p:nvPr/>
        </p:nvGrpSpPr>
        <p:grpSpPr>
          <a:xfrm>
            <a:off x="8778240" y="1188720"/>
            <a:ext cx="2011680" cy="1828800"/>
            <a:chOff x="8778240" y="1188720"/>
            <a:chExt cx="2011680" cy="1828800"/>
          </a:xfrm>
        </p:grpSpPr>
        <p:sp>
          <p:nvSpPr>
            <p:cNvPr id="45" name="Forma 45"/>
            <p:cNvSpPr/>
            <p:nvPr/>
          </p:nvSpPr>
          <p:spPr>
            <a:xfrm>
              <a:off x="9052560" y="1188720"/>
              <a:ext cx="1463040" cy="14630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500" y="0"/>
                  </a:moveTo>
                  <a:cubicBezTo>
                    <a:pt x="633" y="-50"/>
                    <a:pt x="816" y="100"/>
                    <a:pt x="900" y="200"/>
                  </a:cubicBezTo>
                  <a:cubicBezTo>
                    <a:pt x="983" y="300"/>
                    <a:pt x="1033" y="466"/>
                    <a:pt x="1000" y="600"/>
                  </a:cubicBezTo>
                  <a:cubicBezTo>
                    <a:pt x="966" y="733"/>
                    <a:pt x="816" y="950"/>
                    <a:pt x="700" y="1000"/>
                  </a:cubicBezTo>
                  <a:cubicBezTo>
                    <a:pt x="583" y="1050"/>
                    <a:pt x="400" y="983"/>
                    <a:pt x="300" y="900"/>
                  </a:cubicBezTo>
                  <a:cubicBezTo>
                    <a:pt x="200" y="816"/>
                    <a:pt x="66" y="650"/>
                    <a:pt x="100" y="500"/>
                  </a:cubicBezTo>
                  <a:cubicBezTo>
                    <a:pt x="133" y="350"/>
                    <a:pt x="366" y="50"/>
                    <a:pt x="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9DFCA"/>
                </a:gs>
                <a:gs pos="55000">
                  <a:srgbClr val="F5CBA7"/>
                </a:gs>
                <a:gs pos="100000">
                  <a:srgbClr val="B7987D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A0522D"/>
              </a:solidFill>
              <a:round/>
            </a:ln>
          </p:spPr>
        </p:sp>
        <p:sp>
          <p:nvSpPr>
            <p:cNvPr id="46" name="Forma 46"/>
            <p:cNvSpPr txBox="1"/>
            <p:nvPr/>
          </p:nvSpPr>
          <p:spPr>
            <a:xfrm>
              <a:off x="8778240" y="2697480"/>
              <a:ext cx="201168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A0522D"/>
                  </a:solidFill>
                  <a:latin typeface="Calibri"/>
                  <a:ea typeface="Calibri"/>
                  <a:cs typeface="Calibri"/>
                  <a:sym typeface="Calibri"/>
                </a:rPr>
                <a:t>glándula parótida</a:t>
              </a:r>
              <a:endParaRPr lang="es-AR" sz="1250" dirty="0">
                <a:latin typeface="Calibri"/>
              </a:endParaRPr>
            </a:p>
          </p:txBody>
        </p:sp>
      </p:grpSp>
      <p:grpSp>
        <p:nvGrpSpPr>
          <p:cNvPr id="47" name="Páncreas amilasa"/>
          <p:cNvGrpSpPr/>
          <p:nvPr/>
        </p:nvGrpSpPr>
        <p:grpSpPr>
          <a:xfrm>
            <a:off x="8778240" y="3291840"/>
            <a:ext cx="2926080" cy="1228954"/>
            <a:chOff x="8778240" y="3291840"/>
            <a:chExt cx="2926080" cy="1228954"/>
          </a:xfrm>
        </p:grpSpPr>
        <p:sp>
          <p:nvSpPr>
            <p:cNvPr id="48" name="Forma 48"/>
            <p:cNvSpPr/>
            <p:nvPr/>
          </p:nvSpPr>
          <p:spPr>
            <a:xfrm>
              <a:off x="8778240" y="3291840"/>
              <a:ext cx="2926080" cy="1228954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49" name="Forma 49"/>
            <p:cNvSpPr/>
            <p:nvPr/>
          </p:nvSpPr>
          <p:spPr>
            <a:xfrm>
              <a:off x="8778240" y="3291840"/>
              <a:ext cx="2926080" cy="1228954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50" name="Islotes"/>
            <p:cNvSpPr/>
            <p:nvPr/>
          </p:nvSpPr>
          <p:spPr>
            <a:xfrm>
              <a:off x="8778240" y="3291840"/>
              <a:ext cx="2926080" cy="1228954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51" name="Forma 51"/>
            <p:cNvSpPr/>
            <p:nvPr/>
          </p:nvSpPr>
          <p:spPr>
            <a:xfrm>
              <a:off x="8778240" y="3291840"/>
              <a:ext cx="2926080" cy="1228954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52" name="Función amilasa"/>
          <p:cNvSpPr/>
          <p:nvPr/>
        </p:nvSpPr>
        <p:spPr>
          <a:xfrm>
            <a:off x="8549640" y="4572000"/>
            <a:ext cx="3383280" cy="187452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Hidroliza el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almidón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(polisacáridos) a disacáridos y maltosa.</a:t>
            </a:r>
            <a:endParaRPr lang="es-AR" sz="19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AMILASA SÉRICA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5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239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Reacción lipasa"/>
          <p:cNvGrpSpPr/>
          <p:nvPr/>
        </p:nvGrpSpPr>
        <p:grpSpPr>
          <a:xfrm>
            <a:off x="365760" y="1280160"/>
            <a:ext cx="3657600" cy="3291840"/>
            <a:chOff x="365760" y="1280160"/>
            <a:chExt cx="3657600" cy="3291840"/>
          </a:xfrm>
        </p:grpSpPr>
        <p:sp>
          <p:nvSpPr>
            <p:cNvPr id="6" name="Forma 5"/>
            <p:cNvSpPr/>
            <p:nvPr/>
          </p:nvSpPr>
          <p:spPr>
            <a:xfrm>
              <a:off x="548640" y="1280160"/>
              <a:ext cx="320040" cy="1371600"/>
            </a:xfrm>
            <a:prstGeom prst="rect">
              <a:avLst/>
            </a:prstGeom>
            <a:gradFill rotWithShape="1">
              <a:gsLst>
                <a:gs pos="0">
                  <a:srgbClr val="F5CE57"/>
                </a:gs>
                <a:gs pos="55000">
                  <a:srgbClr val="F2B90F"/>
                </a:gs>
                <a:gs pos="100000">
                  <a:srgbClr val="C1940C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1E1E1E"/>
              </a:solidFill>
              <a:round/>
            </a:ln>
          </p:spPr>
        </p:sp>
        <p:grpSp>
          <p:nvGrpSpPr>
            <p:cNvPr id="7" name="AG 0"/>
            <p:cNvGrpSpPr/>
            <p:nvPr/>
          </p:nvGrpSpPr>
          <p:grpSpPr>
            <a:xfrm>
              <a:off x="850392" y="1335024"/>
              <a:ext cx="1664208" cy="265176"/>
              <a:chOff x="850392" y="1335024"/>
              <a:chExt cx="1664208" cy="265176"/>
            </a:xfrm>
          </p:grpSpPr>
          <p:sp>
            <p:nvSpPr>
              <p:cNvPr id="8" name="Flecha 7_2"/>
              <p:cNvSpPr/>
              <p:nvPr/>
            </p:nvSpPr>
            <p:spPr>
              <a:xfrm>
                <a:off x="1014984" y="1389888"/>
                <a:ext cx="1499616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1640" h="229" fill="none">
                    <a:moveTo>
                      <a:pt x="0" y="0"/>
                    </a:moveTo>
                    <a:lnTo>
                      <a:pt x="205" y="229"/>
                    </a:lnTo>
                    <a:lnTo>
                      <a:pt x="410" y="0"/>
                    </a:lnTo>
                    <a:lnTo>
                      <a:pt x="615" y="229"/>
                    </a:lnTo>
                    <a:lnTo>
                      <a:pt x="820" y="0"/>
                    </a:lnTo>
                    <a:lnTo>
                      <a:pt x="1025" y="229"/>
                    </a:lnTo>
                    <a:lnTo>
                      <a:pt x="1230" y="0"/>
                    </a:lnTo>
                    <a:lnTo>
                      <a:pt x="1435" y="229"/>
                    </a:lnTo>
                    <a:lnTo>
                      <a:pt x="1640" y="0"/>
                    </a:lnTo>
                  </a:path>
                </a:pathLst>
              </a:custGeom>
              <a:noFill/>
              <a:ln w="28575" cap="rnd">
                <a:solidFill>
                  <a:srgbClr val="B7950B"/>
                </a:solidFill>
                <a:round/>
              </a:ln>
            </p:spPr>
          </p:sp>
          <p:sp>
            <p:nvSpPr>
              <p:cNvPr id="9" name="Forma 9"/>
              <p:cNvSpPr/>
              <p:nvPr/>
            </p:nvSpPr>
            <p:spPr>
              <a:xfrm>
                <a:off x="850392" y="1335024"/>
                <a:ext cx="182880" cy="182880"/>
              </a:xfrm>
              <a:prstGeom prst="ellipse">
                <a:avLst/>
              </a:prstGeom>
              <a:gradFill rotWithShape="1">
                <a:gsLst>
                  <a:gs pos="0">
                    <a:srgbClr val="F0938A"/>
                  </a:gs>
                  <a:gs pos="55000">
                    <a:srgbClr val="E74C3C"/>
                  </a:gs>
                  <a:gs pos="100000">
                    <a:srgbClr val="B83C30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8A2D24"/>
                </a:solidFill>
                <a:round/>
              </a:ln>
            </p:spPr>
          </p:sp>
        </p:grpSp>
        <p:grpSp>
          <p:nvGrpSpPr>
            <p:cNvPr id="10" name="AG 1"/>
            <p:cNvGrpSpPr/>
            <p:nvPr/>
          </p:nvGrpSpPr>
          <p:grpSpPr>
            <a:xfrm>
              <a:off x="850392" y="1792224"/>
              <a:ext cx="1664208" cy="265176"/>
              <a:chOff x="850392" y="1792224"/>
              <a:chExt cx="1664208" cy="265176"/>
            </a:xfrm>
          </p:grpSpPr>
          <p:sp>
            <p:nvSpPr>
              <p:cNvPr id="11" name="Flecha 11_2"/>
              <p:cNvSpPr/>
              <p:nvPr/>
            </p:nvSpPr>
            <p:spPr>
              <a:xfrm>
                <a:off x="1014984" y="1847088"/>
                <a:ext cx="1499616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1640" h="229" fill="none">
                    <a:moveTo>
                      <a:pt x="0" y="0"/>
                    </a:moveTo>
                    <a:lnTo>
                      <a:pt x="205" y="229"/>
                    </a:lnTo>
                    <a:lnTo>
                      <a:pt x="410" y="0"/>
                    </a:lnTo>
                    <a:lnTo>
                      <a:pt x="615" y="229"/>
                    </a:lnTo>
                    <a:lnTo>
                      <a:pt x="820" y="0"/>
                    </a:lnTo>
                    <a:lnTo>
                      <a:pt x="1025" y="229"/>
                    </a:lnTo>
                    <a:lnTo>
                      <a:pt x="1230" y="0"/>
                    </a:lnTo>
                    <a:lnTo>
                      <a:pt x="1435" y="229"/>
                    </a:lnTo>
                    <a:lnTo>
                      <a:pt x="1640" y="0"/>
                    </a:lnTo>
                  </a:path>
                </a:pathLst>
              </a:custGeom>
              <a:noFill/>
              <a:ln w="28575" cap="rnd">
                <a:solidFill>
                  <a:srgbClr val="B7950B"/>
                </a:solidFill>
                <a:round/>
              </a:ln>
            </p:spPr>
          </p:sp>
          <p:sp>
            <p:nvSpPr>
              <p:cNvPr id="12" name="Forma 13"/>
              <p:cNvSpPr/>
              <p:nvPr/>
            </p:nvSpPr>
            <p:spPr>
              <a:xfrm>
                <a:off x="850392" y="1792224"/>
                <a:ext cx="182880" cy="182880"/>
              </a:xfrm>
              <a:prstGeom prst="ellipse">
                <a:avLst/>
              </a:prstGeom>
              <a:gradFill rotWithShape="1">
                <a:gsLst>
                  <a:gs pos="0">
                    <a:srgbClr val="F0938A"/>
                  </a:gs>
                  <a:gs pos="55000">
                    <a:srgbClr val="E74C3C"/>
                  </a:gs>
                  <a:gs pos="100000">
                    <a:srgbClr val="B83C30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8A2D24"/>
                </a:solidFill>
                <a:round/>
              </a:ln>
            </p:spPr>
          </p:sp>
        </p:grpSp>
        <p:grpSp>
          <p:nvGrpSpPr>
            <p:cNvPr id="13" name="AG 2"/>
            <p:cNvGrpSpPr/>
            <p:nvPr/>
          </p:nvGrpSpPr>
          <p:grpSpPr>
            <a:xfrm>
              <a:off x="850392" y="2249424"/>
              <a:ext cx="1664208" cy="265176"/>
              <a:chOff x="850392" y="2249424"/>
              <a:chExt cx="1664208" cy="265176"/>
            </a:xfrm>
          </p:grpSpPr>
          <p:sp>
            <p:nvSpPr>
              <p:cNvPr id="14" name="Flecha 15_2"/>
              <p:cNvSpPr/>
              <p:nvPr/>
            </p:nvSpPr>
            <p:spPr>
              <a:xfrm>
                <a:off x="1014984" y="2304288"/>
                <a:ext cx="1499616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1640" h="229" fill="none">
                    <a:moveTo>
                      <a:pt x="0" y="0"/>
                    </a:moveTo>
                    <a:lnTo>
                      <a:pt x="205" y="229"/>
                    </a:lnTo>
                    <a:lnTo>
                      <a:pt x="410" y="0"/>
                    </a:lnTo>
                    <a:lnTo>
                      <a:pt x="615" y="229"/>
                    </a:lnTo>
                    <a:lnTo>
                      <a:pt x="820" y="0"/>
                    </a:lnTo>
                    <a:lnTo>
                      <a:pt x="1025" y="229"/>
                    </a:lnTo>
                    <a:lnTo>
                      <a:pt x="1230" y="0"/>
                    </a:lnTo>
                    <a:lnTo>
                      <a:pt x="1435" y="229"/>
                    </a:lnTo>
                    <a:lnTo>
                      <a:pt x="1640" y="0"/>
                    </a:lnTo>
                  </a:path>
                </a:pathLst>
              </a:custGeom>
              <a:noFill/>
              <a:ln w="28575" cap="rnd">
                <a:solidFill>
                  <a:srgbClr val="B7950B"/>
                </a:solidFill>
                <a:round/>
              </a:ln>
            </p:spPr>
          </p:sp>
          <p:sp>
            <p:nvSpPr>
              <p:cNvPr id="15" name="Forma 17"/>
              <p:cNvSpPr/>
              <p:nvPr/>
            </p:nvSpPr>
            <p:spPr>
              <a:xfrm>
                <a:off x="850392" y="2249424"/>
                <a:ext cx="182880" cy="182880"/>
              </a:xfrm>
              <a:prstGeom prst="ellipse">
                <a:avLst/>
              </a:prstGeom>
              <a:gradFill rotWithShape="1">
                <a:gsLst>
                  <a:gs pos="0">
                    <a:srgbClr val="F0938A"/>
                  </a:gs>
                  <a:gs pos="55000">
                    <a:srgbClr val="E74C3C"/>
                  </a:gs>
                  <a:gs pos="100000">
                    <a:srgbClr val="B83C30"/>
                  </a:gs>
                </a:gsLst>
                <a:path path="circle">
                  <a:fillToRect l="32000" t="28000" r="68000" b="72000"/>
                </a:path>
              </a:gradFill>
              <a:ln w="9525" cap="rnd">
                <a:solidFill>
                  <a:srgbClr val="8A2D24"/>
                </a:solidFill>
                <a:round/>
              </a:ln>
            </p:spPr>
          </p:sp>
        </p:grpSp>
        <p:sp>
          <p:nvSpPr>
            <p:cNvPr id="16" name="Lipasa forma"/>
            <p:cNvSpPr/>
            <p:nvPr/>
          </p:nvSpPr>
          <p:spPr>
            <a:xfrm>
              <a:off x="914400" y="2834640"/>
              <a:ext cx="1463040" cy="10058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929" y="500"/>
                  </a:moveTo>
                  <a:cubicBezTo>
                    <a:pt x="931" y="573"/>
                    <a:pt x="923" y="663"/>
                    <a:pt x="887" y="724"/>
                  </a:cubicBezTo>
                  <a:cubicBezTo>
                    <a:pt x="850" y="784"/>
                    <a:pt x="772" y="831"/>
                    <a:pt x="708" y="861"/>
                  </a:cubicBezTo>
                  <a:cubicBezTo>
                    <a:pt x="643" y="891"/>
                    <a:pt x="567" y="908"/>
                    <a:pt x="500" y="904"/>
                  </a:cubicBezTo>
                  <a:cubicBezTo>
                    <a:pt x="433" y="899"/>
                    <a:pt x="362" y="869"/>
                    <a:pt x="306" y="835"/>
                  </a:cubicBezTo>
                  <a:cubicBezTo>
                    <a:pt x="249" y="800"/>
                    <a:pt x="206" y="751"/>
                    <a:pt x="159" y="696"/>
                  </a:cubicBezTo>
                  <a:cubicBezTo>
                    <a:pt x="111" y="640"/>
                    <a:pt x="29" y="570"/>
                    <a:pt x="20" y="500"/>
                  </a:cubicBezTo>
                  <a:cubicBezTo>
                    <a:pt x="11" y="429"/>
                    <a:pt x="56" y="325"/>
                    <a:pt x="105" y="272"/>
                  </a:cubicBezTo>
                  <a:cubicBezTo>
                    <a:pt x="154" y="218"/>
                    <a:pt x="248" y="209"/>
                    <a:pt x="314" y="179"/>
                  </a:cubicBezTo>
                  <a:cubicBezTo>
                    <a:pt x="379" y="148"/>
                    <a:pt x="431" y="96"/>
                    <a:pt x="499" y="87"/>
                  </a:cubicBezTo>
                  <a:cubicBezTo>
                    <a:pt x="566" y="77"/>
                    <a:pt x="655" y="91"/>
                    <a:pt x="717" y="124"/>
                  </a:cubicBezTo>
                  <a:cubicBezTo>
                    <a:pt x="779" y="157"/>
                    <a:pt x="835" y="222"/>
                    <a:pt x="871" y="285"/>
                  </a:cubicBezTo>
                  <a:cubicBezTo>
                    <a:pt x="906" y="347"/>
                    <a:pt x="926" y="426"/>
                    <a:pt x="929" y="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8C87C"/>
                </a:gs>
                <a:gs pos="55000">
                  <a:srgbClr val="F39C12"/>
                </a:gs>
                <a:gs pos="100000">
                  <a:srgbClr val="B6750D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94E09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  <p:txBody>
            <a:bodyPr wrap="square" lIns="27432" tIns="27432" rIns="27432" bIns="27432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17" name="Forma 19"/>
            <p:cNvSpPr txBox="1"/>
            <p:nvPr/>
          </p:nvSpPr>
          <p:spPr>
            <a:xfrm>
              <a:off x="365760" y="3931920"/>
              <a:ext cx="36576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triglicéridos → ácidos grasos + glicerol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8" name="Tabla lipasa fila 0"/>
          <p:cNvGrpSpPr/>
          <p:nvPr/>
        </p:nvGrpSpPr>
        <p:grpSpPr>
          <a:xfrm>
            <a:off x="4572000" y="1097280"/>
            <a:ext cx="7360920" cy="502920"/>
            <a:chOff x="4572000" y="1097280"/>
            <a:chExt cx="7360920" cy="502920"/>
          </a:xfrm>
        </p:grpSpPr>
        <p:sp>
          <p:nvSpPr>
            <p:cNvPr id="19" name="Forma 21"/>
            <p:cNvSpPr/>
            <p:nvPr/>
          </p:nvSpPr>
          <p:spPr>
            <a:xfrm>
              <a:off x="4572000" y="1097280"/>
              <a:ext cx="210312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Propiedad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0" name="Forma 22"/>
            <p:cNvSpPr/>
            <p:nvPr/>
          </p:nvSpPr>
          <p:spPr>
            <a:xfrm>
              <a:off x="6675120" y="1097280"/>
              <a:ext cx="5257800" cy="50292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Descripción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1" name="Tabla lipasa fila 1"/>
          <p:cNvGrpSpPr/>
          <p:nvPr/>
        </p:nvGrpSpPr>
        <p:grpSpPr>
          <a:xfrm>
            <a:off x="4572000" y="1600200"/>
            <a:ext cx="7360920" cy="502920"/>
            <a:chOff x="4572000" y="1600200"/>
            <a:chExt cx="7360920" cy="502920"/>
          </a:xfrm>
        </p:grpSpPr>
        <p:sp>
          <p:nvSpPr>
            <p:cNvPr id="22" name="Forma 24"/>
            <p:cNvSpPr/>
            <p:nvPr/>
          </p:nvSpPr>
          <p:spPr>
            <a:xfrm>
              <a:off x="4572000" y="1600200"/>
              <a:ext cx="210312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Origen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3" name="Forma 25"/>
            <p:cNvSpPr/>
            <p:nvPr/>
          </p:nvSpPr>
          <p:spPr>
            <a:xfrm>
              <a:off x="6675120" y="1600200"/>
              <a:ext cx="525780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Páncreas exocrino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Tabla lipasa fila 2"/>
          <p:cNvGrpSpPr/>
          <p:nvPr/>
        </p:nvGrpSpPr>
        <p:grpSpPr>
          <a:xfrm>
            <a:off x="4572000" y="2103120"/>
            <a:ext cx="7360920" cy="502920"/>
            <a:chOff x="4572000" y="2103120"/>
            <a:chExt cx="7360920" cy="502920"/>
          </a:xfrm>
        </p:grpSpPr>
        <p:sp>
          <p:nvSpPr>
            <p:cNvPr id="25" name="Forma 27"/>
            <p:cNvSpPr/>
            <p:nvPr/>
          </p:nvSpPr>
          <p:spPr>
            <a:xfrm>
              <a:off x="4572000" y="2103120"/>
              <a:ext cx="210312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Especificidad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6" name="Forma 28"/>
            <p:cNvSpPr/>
            <p:nvPr/>
          </p:nvSpPr>
          <p:spPr>
            <a:xfrm>
              <a:off x="6675120" y="2103120"/>
              <a:ext cx="525780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alta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para páncreas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7" name="Tabla lipasa fila 3"/>
          <p:cNvGrpSpPr/>
          <p:nvPr/>
        </p:nvGrpSpPr>
        <p:grpSpPr>
          <a:xfrm>
            <a:off x="4572000" y="2606040"/>
            <a:ext cx="7360920" cy="502920"/>
            <a:chOff x="4572000" y="2606040"/>
            <a:chExt cx="7360920" cy="502920"/>
          </a:xfrm>
        </p:grpSpPr>
        <p:sp>
          <p:nvSpPr>
            <p:cNvPr id="28" name="Forma 30"/>
            <p:cNvSpPr/>
            <p:nvPr/>
          </p:nvSpPr>
          <p:spPr>
            <a:xfrm>
              <a:off x="4572000" y="2606040"/>
              <a:ext cx="210312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Inicio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29" name="Forma 31"/>
            <p:cNvSpPr/>
            <p:nvPr/>
          </p:nvSpPr>
          <p:spPr>
            <a:xfrm>
              <a:off x="6675120" y="2606040"/>
              <a:ext cx="525780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Similar o levemente posterior a la amilasa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0" name="Tabla lipasa fila 4"/>
          <p:cNvGrpSpPr/>
          <p:nvPr/>
        </p:nvGrpSpPr>
        <p:grpSpPr>
          <a:xfrm>
            <a:off x="4572000" y="3108960"/>
            <a:ext cx="7360920" cy="502920"/>
            <a:chOff x="4572000" y="3108960"/>
            <a:chExt cx="7360920" cy="502920"/>
          </a:xfrm>
        </p:grpSpPr>
        <p:sp>
          <p:nvSpPr>
            <p:cNvPr id="31" name="Forma 33"/>
            <p:cNvSpPr/>
            <p:nvPr/>
          </p:nvSpPr>
          <p:spPr>
            <a:xfrm>
              <a:off x="4572000" y="3108960"/>
              <a:ext cx="210312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Pico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2" name="Forma 34"/>
            <p:cNvSpPr/>
            <p:nvPr/>
          </p:nvSpPr>
          <p:spPr>
            <a:xfrm>
              <a:off x="6675120" y="3108960"/>
              <a:ext cx="525780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24 h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3" name="Tabla lipasa fila 5"/>
          <p:cNvGrpSpPr/>
          <p:nvPr/>
        </p:nvGrpSpPr>
        <p:grpSpPr>
          <a:xfrm>
            <a:off x="4572000" y="3611880"/>
            <a:ext cx="7360920" cy="502920"/>
            <a:chOff x="4572000" y="3611880"/>
            <a:chExt cx="7360920" cy="502920"/>
          </a:xfrm>
        </p:grpSpPr>
        <p:sp>
          <p:nvSpPr>
            <p:cNvPr id="34" name="Forma 36"/>
            <p:cNvSpPr/>
            <p:nvPr/>
          </p:nvSpPr>
          <p:spPr>
            <a:xfrm>
              <a:off x="4572000" y="3611880"/>
              <a:ext cx="210312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Normalización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5" name="Forma 37"/>
            <p:cNvSpPr/>
            <p:nvPr/>
          </p:nvSpPr>
          <p:spPr>
            <a:xfrm>
              <a:off x="6675120" y="3611880"/>
              <a:ext cx="5257800" cy="50292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3–5 días</a:t>
              </a: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(dura más que la amilasa)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36" name="Tabla lipasa fila 6"/>
          <p:cNvGrpSpPr/>
          <p:nvPr/>
        </p:nvGrpSpPr>
        <p:grpSpPr>
          <a:xfrm>
            <a:off x="4572000" y="4114800"/>
            <a:ext cx="7360920" cy="502920"/>
            <a:chOff x="4572000" y="4114800"/>
            <a:chExt cx="7360920" cy="502920"/>
          </a:xfrm>
        </p:grpSpPr>
        <p:sp>
          <p:nvSpPr>
            <p:cNvPr id="37" name="Forma 39"/>
            <p:cNvSpPr/>
            <p:nvPr/>
          </p:nvSpPr>
          <p:spPr>
            <a:xfrm>
              <a:off x="4572000" y="4114800"/>
              <a:ext cx="210312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Ventajas</a:t>
              </a:r>
              <a:endParaRPr lang="es-AR" sz="1400" dirty="0">
                <a:latin typeface="Calibri"/>
              </a:endParaRPr>
            </a:p>
          </p:txBody>
        </p:sp>
        <p:sp>
          <p:nvSpPr>
            <p:cNvPr id="38" name="Forma 40"/>
            <p:cNvSpPr/>
            <p:nvPr/>
          </p:nvSpPr>
          <p:spPr>
            <a:xfrm>
              <a:off x="6675120" y="4114800"/>
              <a:ext cx="5257800" cy="50292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Más específica; útil si el paciente llega tarde (&gt; 48 h)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9" name="Siempre juntas"/>
          <p:cNvSpPr/>
          <p:nvPr/>
        </p:nvSpPr>
        <p:spPr>
          <a:xfrm>
            <a:off x="365760" y="4754880"/>
            <a:ext cx="3931920" cy="169164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 + lipasa siempre juntas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la amilasa aparece antes; la lipasa es más específica y dura más.</a:t>
            </a:r>
            <a:endParaRPr lang="es-AR" sz="1950" dirty="0">
              <a:latin typeface="Calibri"/>
            </a:endParaRPr>
          </a:p>
        </p:txBody>
      </p:sp>
      <p:grpSp>
        <p:nvGrpSpPr>
          <p:cNvPr id="40" name="Rigor lipasa"/>
          <p:cNvGrpSpPr/>
          <p:nvPr/>
        </p:nvGrpSpPr>
        <p:grpSpPr>
          <a:xfrm>
            <a:off x="4572000" y="4800600"/>
            <a:ext cx="7360920" cy="1554480"/>
            <a:chOff x="4572000" y="4800600"/>
            <a:chExt cx="7360920" cy="1554480"/>
          </a:xfrm>
        </p:grpSpPr>
        <p:sp>
          <p:nvSpPr>
            <p:cNvPr id="41" name="Forma 43"/>
            <p:cNvSpPr/>
            <p:nvPr/>
          </p:nvSpPr>
          <p:spPr>
            <a:xfrm>
              <a:off x="4572000" y="5001768"/>
              <a:ext cx="7360920" cy="13533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lipasa no es </a:t>
              </a: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absolutamente</a:t>
              </a: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exclusiva: puede elevarse, en menor grado, en insuficiencia renal, perforación o isquemia intestinal y otras situaciones abdominales. Por eso se interpreta con el umbral (&gt; 3 × VN) y la clínica.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42" name="Forma 44"/>
            <p:cNvSpPr/>
            <p:nvPr/>
          </p:nvSpPr>
          <p:spPr>
            <a:xfrm>
              <a:off x="4700016" y="480060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LIPASA SÉRICA: MÁS ESPECÍFICA Y MÁS DURADERA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4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Ejes páncreas"/>
          <p:cNvGrpSpPr/>
          <p:nvPr/>
        </p:nvGrpSpPr>
        <p:grpSpPr>
          <a:xfrm>
            <a:off x="365760" y="960120"/>
            <a:ext cx="7680960" cy="4636008"/>
            <a:chOff x="365760" y="960120"/>
            <a:chExt cx="7680960" cy="4636008"/>
          </a:xfrm>
        </p:grpSpPr>
        <p:sp>
          <p:nvSpPr>
            <p:cNvPr id="6" name="Flecha 5_2"/>
            <p:cNvSpPr/>
            <p:nvPr/>
          </p:nvSpPr>
          <p:spPr>
            <a:xfrm>
              <a:off x="731520" y="1325880"/>
              <a:ext cx="9144" cy="3886200"/>
            </a:xfrm>
            <a:custGeom>
              <a:avLst/>
              <a:gdLst/>
              <a:ahLst/>
              <a:cxnLst/>
              <a:rect l="0" t="0" r="r" b="b"/>
              <a:pathLst>
                <a:path w="10" h="4250" fill="none">
                  <a:moveTo>
                    <a:pt x="0" y="4250"/>
                  </a:move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7" name="Flecha 7_2"/>
            <p:cNvSpPr/>
            <p:nvPr/>
          </p:nvSpPr>
          <p:spPr>
            <a:xfrm>
              <a:off x="731520" y="5212080"/>
              <a:ext cx="7315200" cy="9144"/>
            </a:xfrm>
            <a:custGeom>
              <a:avLst/>
              <a:gdLst/>
              <a:ahLst/>
              <a:cxnLst/>
              <a:rect l="0" t="0" r="r" b="b"/>
              <a:pathLst>
                <a:path w="8000" h="10" fill="none">
                  <a:moveTo>
                    <a:pt x="0" y="0"/>
                  </a:moveTo>
                  <a:lnTo>
                    <a:pt x="8000" y="0"/>
                  </a:lnTo>
                </a:path>
              </a:pathLst>
            </a:custGeom>
            <a:noFill/>
            <a:ln w="28575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lecha 9_2"/>
            <p:cNvSpPr/>
            <p:nvPr/>
          </p:nvSpPr>
          <p:spPr>
            <a:xfrm>
              <a:off x="731520" y="521208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9" name="Forma 11"/>
            <p:cNvSpPr txBox="1"/>
            <p:nvPr/>
          </p:nvSpPr>
          <p:spPr>
            <a:xfrm>
              <a:off x="365760" y="53218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0" name="Flecha 12_2"/>
            <p:cNvSpPr/>
            <p:nvPr/>
          </p:nvSpPr>
          <p:spPr>
            <a:xfrm>
              <a:off x="1388225" y="521208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1" name="Forma 14"/>
            <p:cNvSpPr txBox="1"/>
            <p:nvPr/>
          </p:nvSpPr>
          <p:spPr>
            <a:xfrm>
              <a:off x="1022465" y="53218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 h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2" name="Flecha 15_2"/>
            <p:cNvSpPr/>
            <p:nvPr/>
          </p:nvSpPr>
          <p:spPr>
            <a:xfrm>
              <a:off x="2044931" y="521208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3" name="Forma 17"/>
            <p:cNvSpPr txBox="1"/>
            <p:nvPr/>
          </p:nvSpPr>
          <p:spPr>
            <a:xfrm>
              <a:off x="1679171" y="53218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24 h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4" name="Flecha 18_2"/>
            <p:cNvSpPr/>
            <p:nvPr/>
          </p:nvSpPr>
          <p:spPr>
            <a:xfrm>
              <a:off x="3358342" y="521208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5" name="Forma 20"/>
            <p:cNvSpPr txBox="1"/>
            <p:nvPr/>
          </p:nvSpPr>
          <p:spPr>
            <a:xfrm>
              <a:off x="2992582" y="53218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48 h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6" name="Flecha 21_2"/>
            <p:cNvSpPr/>
            <p:nvPr/>
          </p:nvSpPr>
          <p:spPr>
            <a:xfrm>
              <a:off x="4671753" y="521208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7" name="Forma 23"/>
            <p:cNvSpPr txBox="1"/>
            <p:nvPr/>
          </p:nvSpPr>
          <p:spPr>
            <a:xfrm>
              <a:off x="4305993" y="53218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72 h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8" name="Flecha 24_2"/>
            <p:cNvSpPr/>
            <p:nvPr/>
          </p:nvSpPr>
          <p:spPr>
            <a:xfrm>
              <a:off x="5985164" y="521208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19" name="Forma 26"/>
            <p:cNvSpPr txBox="1"/>
            <p:nvPr/>
          </p:nvSpPr>
          <p:spPr>
            <a:xfrm>
              <a:off x="5619404" y="53218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4 d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0" name="Flecha 27_2"/>
            <p:cNvSpPr/>
            <p:nvPr/>
          </p:nvSpPr>
          <p:spPr>
            <a:xfrm>
              <a:off x="7298575" y="5212080"/>
              <a:ext cx="9144" cy="91440"/>
            </a:xfrm>
            <a:custGeom>
              <a:avLst/>
              <a:gdLst/>
              <a:ahLst/>
              <a:cxnLst/>
              <a:rect l="0" t="0" r="r" b="b"/>
              <a:pathLst>
                <a:path w="10" h="99" fill="none">
                  <a:moveTo>
                    <a:pt x="0" y="0"/>
                  </a:moveTo>
                  <a:lnTo>
                    <a:pt x="0" y="99"/>
                  </a:lnTo>
                </a:path>
              </a:pathLst>
            </a:custGeom>
            <a:noFill/>
            <a:ln w="15875" cap="rnd">
              <a:solidFill>
                <a:srgbClr val="1E1E1E"/>
              </a:solidFill>
              <a:round/>
            </a:ln>
          </p:spPr>
        </p:sp>
        <p:sp>
          <p:nvSpPr>
            <p:cNvPr id="21" name="Forma 29"/>
            <p:cNvSpPr txBox="1"/>
            <p:nvPr/>
          </p:nvSpPr>
          <p:spPr>
            <a:xfrm>
              <a:off x="6932815" y="5321808"/>
              <a:ext cx="7315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5 d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2" name="Forma 30"/>
            <p:cNvSpPr txBox="1"/>
            <p:nvPr/>
          </p:nvSpPr>
          <p:spPr>
            <a:xfrm>
              <a:off x="822960" y="960120"/>
              <a:ext cx="45720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actividad sérica (múltiplos del VN, esquema)</a:t>
              </a:r>
              <a:endParaRPr lang="es-AR" sz="1250" dirty="0">
                <a:latin typeface="Calibri"/>
              </a:endParaRPr>
            </a:p>
          </p:txBody>
        </p:sp>
      </p:grpSp>
      <p:sp>
        <p:nvSpPr>
          <p:cNvPr id="23" name="Umbral 3 VN"/>
          <p:cNvSpPr/>
          <p:nvPr/>
        </p:nvSpPr>
        <p:spPr>
          <a:xfrm>
            <a:off x="731520" y="3483864"/>
            <a:ext cx="7223760" cy="9144"/>
          </a:xfrm>
          <a:custGeom>
            <a:avLst/>
            <a:gdLst/>
            <a:ahLst/>
            <a:cxnLst/>
            <a:rect l="0" t="0" r="r" b="b"/>
            <a:pathLst>
              <a:path w="7900" h="10" fill="none">
                <a:moveTo>
                  <a:pt x="0" y="0"/>
                </a:moveTo>
                <a:lnTo>
                  <a:pt x="7900" y="0"/>
                </a:lnTo>
              </a:path>
            </a:pathLst>
          </a:custGeom>
          <a:noFill/>
          <a:ln w="25400" cap="rnd">
            <a:solidFill>
              <a:srgbClr val="C00000"/>
            </a:solidFill>
            <a:prstDash val="dash"/>
            <a:round/>
          </a:ln>
        </p:spPr>
      </p:sp>
      <p:sp>
        <p:nvSpPr>
          <p:cNvPr id="24" name="Rótulo 3VN"/>
          <p:cNvSpPr/>
          <p:nvPr/>
        </p:nvSpPr>
        <p:spPr>
          <a:xfrm>
            <a:off x="6492240" y="3072384"/>
            <a:ext cx="1097280" cy="272415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× VN</a:t>
            </a:r>
            <a:endParaRPr lang="es-AR" sz="1300" dirty="0">
              <a:latin typeface="Calibri"/>
            </a:endParaRPr>
          </a:p>
        </p:txBody>
      </p:sp>
      <p:sp>
        <p:nvSpPr>
          <p:cNvPr id="25" name="Curva amilasa"/>
          <p:cNvSpPr/>
          <p:nvPr/>
        </p:nvSpPr>
        <p:spPr>
          <a:xfrm>
            <a:off x="731520" y="1371600"/>
            <a:ext cx="7223760" cy="384048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15"/>
                </a:moveTo>
                <a:cubicBezTo>
                  <a:pt x="9" y="915"/>
                  <a:pt x="41" y="977"/>
                  <a:pt x="60" y="915"/>
                </a:cubicBezTo>
                <a:cubicBezTo>
                  <a:pt x="78" y="852"/>
                  <a:pt x="102" y="609"/>
                  <a:pt x="121" y="501"/>
                </a:cubicBezTo>
                <a:cubicBezTo>
                  <a:pt x="139" y="393"/>
                  <a:pt x="151" y="177"/>
                  <a:pt x="181" y="195"/>
                </a:cubicBezTo>
                <a:cubicBezTo>
                  <a:pt x="210" y="212"/>
                  <a:pt x="277" y="509"/>
                  <a:pt x="318" y="615"/>
                </a:cubicBezTo>
                <a:cubicBezTo>
                  <a:pt x="358" y="720"/>
                  <a:pt x="351" y="852"/>
                  <a:pt x="454" y="897"/>
                </a:cubicBezTo>
                <a:cubicBezTo>
                  <a:pt x="556" y="942"/>
                  <a:pt x="918" y="912"/>
                  <a:pt x="1000" y="915"/>
                </a:cubicBezTo>
              </a:path>
            </a:pathLst>
          </a:custGeom>
          <a:noFill/>
          <a:ln w="57150" cap="rnd">
            <a:solidFill>
              <a:srgbClr val="F5B041"/>
            </a:solidFill>
            <a:round/>
          </a:ln>
        </p:spPr>
      </p:sp>
      <p:sp>
        <p:nvSpPr>
          <p:cNvPr id="26" name="Curva lipasa"/>
          <p:cNvSpPr/>
          <p:nvPr/>
        </p:nvSpPr>
        <p:spPr>
          <a:xfrm>
            <a:off x="731520" y="1371600"/>
            <a:ext cx="7223760" cy="384048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0" y="915"/>
                </a:moveTo>
                <a:cubicBezTo>
                  <a:pt x="11" y="915"/>
                  <a:pt x="55" y="985"/>
                  <a:pt x="75" y="915"/>
                </a:cubicBezTo>
                <a:cubicBezTo>
                  <a:pt x="94" y="844"/>
                  <a:pt x="112" y="568"/>
                  <a:pt x="128" y="447"/>
                </a:cubicBezTo>
                <a:cubicBezTo>
                  <a:pt x="143" y="325"/>
                  <a:pt x="125" y="85"/>
                  <a:pt x="181" y="105"/>
                </a:cubicBezTo>
                <a:cubicBezTo>
                  <a:pt x="236" y="124"/>
                  <a:pt x="404" y="456"/>
                  <a:pt x="500" y="575"/>
                </a:cubicBezTo>
                <a:cubicBezTo>
                  <a:pt x="595" y="693"/>
                  <a:pt x="743" y="846"/>
                  <a:pt x="818" y="897"/>
                </a:cubicBezTo>
                <a:cubicBezTo>
                  <a:pt x="893" y="948"/>
                  <a:pt x="972" y="912"/>
                  <a:pt x="1000" y="915"/>
                </a:cubicBezTo>
              </a:path>
            </a:pathLst>
          </a:custGeom>
          <a:noFill/>
          <a:ln w="57150" cap="rnd">
            <a:solidFill>
              <a:srgbClr val="C0560E"/>
            </a:solidFill>
            <a:round/>
          </a:ln>
        </p:spPr>
      </p:sp>
      <p:sp>
        <p:nvSpPr>
          <p:cNvPr id="27" name="Rótulo amilasa"/>
          <p:cNvSpPr/>
          <p:nvPr/>
        </p:nvSpPr>
        <p:spPr>
          <a:xfrm>
            <a:off x="1670609" y="1417320"/>
            <a:ext cx="2350079" cy="251460"/>
          </a:xfrm>
          <a:prstGeom prst="rect">
            <a:avLst/>
          </a:prstGeom>
          <a:solidFill>
            <a:srgbClr val="F5B041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amilasa: 6–12 h · 24 h · 48–72 h</a:t>
            </a:r>
            <a:endParaRPr lang="es-AR" sz="1200" dirty="0">
              <a:latin typeface="Calibri"/>
            </a:endParaRPr>
          </a:p>
        </p:txBody>
      </p:sp>
      <p:sp>
        <p:nvSpPr>
          <p:cNvPr id="28" name="Rótulo lipasa"/>
          <p:cNvSpPr/>
          <p:nvPr/>
        </p:nvSpPr>
        <p:spPr>
          <a:xfrm>
            <a:off x="3765499" y="2331720"/>
            <a:ext cx="2511162" cy="251460"/>
          </a:xfrm>
          <a:prstGeom prst="rect">
            <a:avLst/>
          </a:prstGeom>
          <a:solidFill>
            <a:srgbClr val="C0560E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lipasa: pico 24 h · normaliza 3–5 d</a:t>
            </a:r>
            <a:endParaRPr lang="es-AR" sz="1200" dirty="0">
              <a:latin typeface="Calibri"/>
            </a:endParaRPr>
          </a:p>
        </p:txBody>
      </p:sp>
      <p:grpSp>
        <p:nvGrpSpPr>
          <p:cNvPr id="29" name="Consulta tardía"/>
          <p:cNvGrpSpPr/>
          <p:nvPr/>
        </p:nvGrpSpPr>
        <p:grpSpPr>
          <a:xfrm>
            <a:off x="8549640" y="1097280"/>
            <a:ext cx="3383280" cy="2560320"/>
            <a:chOff x="8549640" y="1097280"/>
            <a:chExt cx="3383280" cy="2560320"/>
          </a:xfrm>
        </p:grpSpPr>
        <p:sp>
          <p:nvSpPr>
            <p:cNvPr id="30" name="Forma 38"/>
            <p:cNvSpPr/>
            <p:nvPr/>
          </p:nvSpPr>
          <p:spPr>
            <a:xfrm>
              <a:off x="8549640" y="1298448"/>
              <a:ext cx="3383280" cy="235915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 el paciente llega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después de 48 h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la amilasa puede haberse normalizado: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(y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amilasuria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) siguen siendo útiles.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31" name="Forma 39"/>
            <p:cNvSpPr/>
            <p:nvPr/>
          </p:nvSpPr>
          <p:spPr>
            <a:xfrm>
              <a:off x="8677656" y="1097280"/>
              <a:ext cx="1742596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CONSULTA TARDÍA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2" name="Aclaración páncreas"/>
          <p:cNvSpPr/>
          <p:nvPr/>
        </p:nvSpPr>
        <p:spPr>
          <a:xfrm>
            <a:off x="8549640" y="3886200"/>
            <a:ext cx="3383280" cy="256032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Esquema cualitativo con los tiempos del material; alturas ilustrativas.</a:t>
            </a:r>
            <a:endParaRPr lang="es-AR" sz="18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AMILASA Y LIPASA EN EL TIEMPO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  <p:bldP spid="26" grpId="0" animBg="1"/>
      <p:bldP spid="28" grpId="0" animBg="1"/>
      <p:bldP spid="32" grpId="0" animBg="1"/>
    </p:bld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Tabla zimógenos fila 0"/>
          <p:cNvGrpSpPr/>
          <p:nvPr/>
        </p:nvGrpSpPr>
        <p:grpSpPr>
          <a:xfrm>
            <a:off x="4572000" y="1097280"/>
            <a:ext cx="7360920" cy="548640"/>
            <a:chOff x="4572000" y="1097280"/>
            <a:chExt cx="7360920" cy="548640"/>
          </a:xfrm>
        </p:grpSpPr>
        <p:sp>
          <p:nvSpPr>
            <p:cNvPr id="6" name="Forma 5"/>
            <p:cNvSpPr/>
            <p:nvPr/>
          </p:nvSpPr>
          <p:spPr>
            <a:xfrm>
              <a:off x="4572000" y="1097280"/>
              <a:ext cx="292608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Zimógeno (inactivo)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7498080" y="1097280"/>
              <a:ext cx="4434840" cy="5486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Enzima activa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8" name="Tabla zimógenos fila 1"/>
          <p:cNvGrpSpPr/>
          <p:nvPr/>
        </p:nvGrpSpPr>
        <p:grpSpPr>
          <a:xfrm>
            <a:off x="4572000" y="1645920"/>
            <a:ext cx="7360920" cy="548640"/>
            <a:chOff x="4572000" y="1645920"/>
            <a:chExt cx="7360920" cy="548640"/>
          </a:xfrm>
        </p:grpSpPr>
        <p:sp>
          <p:nvSpPr>
            <p:cNvPr id="9" name="Forma 8"/>
            <p:cNvSpPr/>
            <p:nvPr/>
          </p:nvSpPr>
          <p:spPr>
            <a:xfrm>
              <a:off x="4572000" y="1645920"/>
              <a:ext cx="292608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Tripsinógeno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7498080" y="1645920"/>
              <a:ext cx="443484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Tripsina (digiere proteínas)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1" name="Tabla zimógenos fila 2"/>
          <p:cNvGrpSpPr/>
          <p:nvPr/>
        </p:nvGrpSpPr>
        <p:grpSpPr>
          <a:xfrm>
            <a:off x="4572000" y="2194560"/>
            <a:ext cx="7360920" cy="548640"/>
            <a:chOff x="4572000" y="2194560"/>
            <a:chExt cx="7360920" cy="548640"/>
          </a:xfrm>
        </p:grpSpPr>
        <p:sp>
          <p:nvSpPr>
            <p:cNvPr id="12" name="Forma 11"/>
            <p:cNvSpPr/>
            <p:nvPr/>
          </p:nvSpPr>
          <p:spPr>
            <a:xfrm>
              <a:off x="4572000" y="2194560"/>
              <a:ext cx="292608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Quimotripsinógeno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7498080" y="2194560"/>
              <a:ext cx="443484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Quimotripsina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4" name="Tabla zimógenos fila 3"/>
          <p:cNvGrpSpPr/>
          <p:nvPr/>
        </p:nvGrpSpPr>
        <p:grpSpPr>
          <a:xfrm>
            <a:off x="4572000" y="2743200"/>
            <a:ext cx="7360920" cy="548640"/>
            <a:chOff x="4572000" y="2743200"/>
            <a:chExt cx="7360920" cy="548640"/>
          </a:xfrm>
        </p:grpSpPr>
        <p:sp>
          <p:nvSpPr>
            <p:cNvPr id="15" name="Forma 14"/>
            <p:cNvSpPr/>
            <p:nvPr/>
          </p:nvSpPr>
          <p:spPr>
            <a:xfrm>
              <a:off x="4572000" y="2743200"/>
              <a:ext cx="292608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Proelastasa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7498080" y="2743200"/>
              <a:ext cx="443484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Elastasa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7" name="Tabla zimógenos fila 4"/>
          <p:cNvGrpSpPr/>
          <p:nvPr/>
        </p:nvGrpSpPr>
        <p:grpSpPr>
          <a:xfrm>
            <a:off x="4572000" y="3291840"/>
            <a:ext cx="7360920" cy="548640"/>
            <a:chOff x="4572000" y="3291840"/>
            <a:chExt cx="7360920" cy="548640"/>
          </a:xfrm>
        </p:grpSpPr>
        <p:sp>
          <p:nvSpPr>
            <p:cNvPr id="18" name="Forma 17"/>
            <p:cNvSpPr/>
            <p:nvPr/>
          </p:nvSpPr>
          <p:spPr>
            <a:xfrm>
              <a:off x="4572000" y="3291840"/>
              <a:ext cx="292608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Profosfolipasa A</a:t>
              </a:r>
              <a:r>
                <a:rPr lang="es-AR" sz="15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7498080" y="3291840"/>
              <a:ext cx="443484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Fosfolipasa A</a:t>
              </a:r>
              <a:r>
                <a:rPr lang="es-AR" sz="15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(digiere membranas)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0" name="Tabla zimógenos fila 5"/>
          <p:cNvGrpSpPr/>
          <p:nvPr/>
        </p:nvGrpSpPr>
        <p:grpSpPr>
          <a:xfrm>
            <a:off x="4572000" y="3840480"/>
            <a:ext cx="7360920" cy="548640"/>
            <a:chOff x="4572000" y="3840480"/>
            <a:chExt cx="7360920" cy="548640"/>
          </a:xfrm>
        </p:grpSpPr>
        <p:sp>
          <p:nvSpPr>
            <p:cNvPr id="21" name="Forma 20"/>
            <p:cNvSpPr/>
            <p:nvPr/>
          </p:nvSpPr>
          <p:spPr>
            <a:xfrm>
              <a:off x="4572000" y="3840480"/>
              <a:ext cx="292608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Prolipasa + colipasa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7498080" y="3840480"/>
              <a:ext cx="4434840" cy="5486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 (digiere triglicéridos)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3" name="Tabla zimógenos fila 6"/>
          <p:cNvGrpSpPr/>
          <p:nvPr/>
        </p:nvGrpSpPr>
        <p:grpSpPr>
          <a:xfrm>
            <a:off x="4572000" y="4389120"/>
            <a:ext cx="7360920" cy="548640"/>
            <a:chOff x="4572000" y="4389120"/>
            <a:chExt cx="7360920" cy="548640"/>
          </a:xfrm>
        </p:grpSpPr>
        <p:sp>
          <p:nvSpPr>
            <p:cNvPr id="24" name="Forma 23"/>
            <p:cNvSpPr/>
            <p:nvPr/>
          </p:nvSpPr>
          <p:spPr>
            <a:xfrm>
              <a:off x="4572000" y="4389120"/>
              <a:ext cx="292608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Proamilasa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7498080" y="4389120"/>
              <a:ext cx="4434840" cy="5486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6" name="Célula acinar zimógenos"/>
          <p:cNvGrpSpPr/>
          <p:nvPr/>
        </p:nvGrpSpPr>
        <p:grpSpPr>
          <a:xfrm>
            <a:off x="731520" y="1188720"/>
            <a:ext cx="2834640" cy="3749040"/>
            <a:chOff x="731520" y="1188720"/>
            <a:chExt cx="2834640" cy="3749040"/>
          </a:xfrm>
        </p:grpSpPr>
        <p:sp>
          <p:nvSpPr>
            <p:cNvPr id="27" name="Membrana acinar"/>
            <p:cNvSpPr/>
            <p:nvPr/>
          </p:nvSpPr>
          <p:spPr>
            <a:xfrm>
              <a:off x="731520" y="1188720"/>
              <a:ext cx="2834640" cy="37490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0" y="1000"/>
                  </a:moveTo>
                  <a:lnTo>
                    <a:pt x="940" y="1000"/>
                  </a:lnTo>
                  <a:cubicBezTo>
                    <a:pt x="900" y="700"/>
                    <a:pt x="780" y="200"/>
                    <a:pt x="640" y="40"/>
                  </a:cubicBezTo>
                  <a:lnTo>
                    <a:pt x="360" y="40"/>
                  </a:lnTo>
                  <a:cubicBezTo>
                    <a:pt x="220" y="200"/>
                    <a:pt x="100" y="700"/>
                    <a:pt x="6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8BBD0"/>
                </a:gs>
              </a:gsLst>
              <a:lin ang="5400000" scaled="0"/>
            </a:gradFill>
            <a:ln w="28575" cap="rnd">
              <a:solidFill>
                <a:srgbClr val="880E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grpSp>
          <p:nvGrpSpPr>
            <p:cNvPr id="28" name="Retículo endoplasmático"/>
            <p:cNvGrpSpPr/>
            <p:nvPr/>
          </p:nvGrpSpPr>
          <p:grpSpPr>
            <a:xfrm>
              <a:off x="1298448" y="3651089"/>
              <a:ext cx="1700784" cy="434889"/>
              <a:chOff x="1298448" y="3651089"/>
              <a:chExt cx="1700784" cy="434889"/>
            </a:xfrm>
          </p:grpSpPr>
          <p:sp>
            <p:nvSpPr>
              <p:cNvPr id="29" name="Forma 28"/>
              <p:cNvSpPr/>
              <p:nvPr/>
            </p:nvSpPr>
            <p:spPr>
              <a:xfrm>
                <a:off x="1298448" y="3663086"/>
                <a:ext cx="1700784" cy="1124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30" name="Forma 29"/>
              <p:cNvSpPr/>
              <p:nvPr/>
            </p:nvSpPr>
            <p:spPr>
              <a:xfrm>
                <a:off x="1298448" y="3651089"/>
                <a:ext cx="1700784" cy="13496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31" name="Forma 30"/>
              <p:cNvSpPr/>
              <p:nvPr/>
            </p:nvSpPr>
            <p:spPr>
              <a:xfrm>
                <a:off x="1298448" y="3813048"/>
                <a:ext cx="1700784" cy="1124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32" name="Forma 31"/>
              <p:cNvSpPr/>
              <p:nvPr/>
            </p:nvSpPr>
            <p:spPr>
              <a:xfrm>
                <a:off x="1298448" y="3801051"/>
                <a:ext cx="1700784" cy="13496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33" name="Forma 32"/>
              <p:cNvSpPr/>
              <p:nvPr/>
            </p:nvSpPr>
            <p:spPr>
              <a:xfrm>
                <a:off x="1298448" y="3963010"/>
                <a:ext cx="1700784" cy="112471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34" name="Forma 33"/>
              <p:cNvSpPr/>
              <p:nvPr/>
            </p:nvSpPr>
            <p:spPr>
              <a:xfrm>
                <a:off x="1298448" y="3951013"/>
                <a:ext cx="1700784" cy="13496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35" name="Núcleo basal"/>
            <p:cNvGrpSpPr/>
            <p:nvPr/>
          </p:nvGrpSpPr>
          <p:grpSpPr>
            <a:xfrm>
              <a:off x="1751990" y="4112971"/>
              <a:ext cx="793699" cy="714329"/>
              <a:chOff x="1751990" y="4112971"/>
              <a:chExt cx="793699" cy="714329"/>
            </a:xfrm>
          </p:grpSpPr>
          <p:sp>
            <p:nvSpPr>
              <p:cNvPr id="36" name="Forma 35"/>
              <p:cNvSpPr/>
              <p:nvPr/>
            </p:nvSpPr>
            <p:spPr>
              <a:xfrm>
                <a:off x="1751990" y="4112971"/>
                <a:ext cx="793699" cy="714329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37" name="Forma 36"/>
              <p:cNvSpPr/>
              <p:nvPr/>
            </p:nvSpPr>
            <p:spPr>
              <a:xfrm>
                <a:off x="2164714" y="4351081"/>
                <a:ext cx="174614" cy="158740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</p:grpSp>
      <p:sp>
        <p:nvSpPr>
          <p:cNvPr id="38" name="!!Zimogeno 1"/>
          <p:cNvSpPr/>
          <p:nvPr/>
        </p:nvSpPr>
        <p:spPr>
          <a:xfrm>
            <a:off x="2454101" y="3131051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39" name="!!Zimogeno 2"/>
          <p:cNvSpPr/>
          <p:nvPr/>
        </p:nvSpPr>
        <p:spPr>
          <a:xfrm>
            <a:off x="1740182" y="1772244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40" name="!!Zimogeno 3"/>
          <p:cNvSpPr/>
          <p:nvPr/>
        </p:nvSpPr>
        <p:spPr>
          <a:xfrm>
            <a:off x="2358432" y="2797461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41" name="!!Zimogeno 4"/>
          <p:cNvSpPr/>
          <p:nvPr/>
        </p:nvSpPr>
        <p:spPr>
          <a:xfrm>
            <a:off x="2226862" y="2123795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42" name="!!Zimogeno 5"/>
          <p:cNvSpPr/>
          <p:nvPr/>
        </p:nvSpPr>
        <p:spPr>
          <a:xfrm>
            <a:off x="2176235" y="2594073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43" name="!!Zimogeno 6"/>
          <p:cNvSpPr/>
          <p:nvPr/>
        </p:nvSpPr>
        <p:spPr>
          <a:xfrm>
            <a:off x="2156599" y="1887994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44" name="!!Zimogeno 7"/>
          <p:cNvSpPr/>
          <p:nvPr/>
        </p:nvSpPr>
        <p:spPr>
          <a:xfrm>
            <a:off x="2037120" y="2258259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45" name="!!Zimogeno 8"/>
          <p:cNvSpPr/>
          <p:nvPr/>
        </p:nvSpPr>
        <p:spPr>
          <a:xfrm>
            <a:off x="2269152" y="3205045"/>
            <a:ext cx="368503" cy="368503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46" name="Def zimógeno"/>
          <p:cNvSpPr/>
          <p:nvPr/>
        </p:nvSpPr>
        <p:spPr>
          <a:xfrm>
            <a:off x="365760" y="5120640"/>
            <a:ext cx="3931920" cy="13258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Forma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inactiva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una enzima: el páncreas la produce así para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autodigerirse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antes de llegar al duodeno.</a:t>
            </a:r>
            <a:endParaRPr lang="es-AR" sz="1650" dirty="0">
              <a:latin typeface="Calibri"/>
            </a:endParaRPr>
          </a:p>
        </p:txBody>
      </p:sp>
      <p:grpSp>
        <p:nvGrpSpPr>
          <p:cNvPr id="47" name="Rigor zimógenos"/>
          <p:cNvGrpSpPr/>
          <p:nvPr/>
        </p:nvGrpSpPr>
        <p:grpSpPr>
          <a:xfrm>
            <a:off x="4572000" y="5120640"/>
            <a:ext cx="7360920" cy="1234440"/>
            <a:chOff x="4572000" y="5120640"/>
            <a:chExt cx="7360920" cy="1234440"/>
          </a:xfrm>
        </p:grpSpPr>
        <p:sp>
          <p:nvSpPr>
            <p:cNvPr id="48" name="Forma 47"/>
            <p:cNvSpPr/>
            <p:nvPr/>
          </p:nvSpPr>
          <p:spPr>
            <a:xfrm>
              <a:off x="4572000" y="5321808"/>
              <a:ext cx="7360920" cy="10332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Precisión: la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la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pancreáticas se secretan en forma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el precursor que activa la tripsina es la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procolipasa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(cofactor de la lipasa). Los zimógenos verdaderos son tripsinógeno, quimotripsinógeno, proelastasa, procarboxipeptidasas y profosfolipasa A</a:t>
              </a:r>
              <a:r>
                <a:rPr lang="es-AR" sz="145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49" name="Forma 48"/>
            <p:cNvSpPr/>
            <p:nvPr/>
          </p:nvSpPr>
          <p:spPr>
            <a:xfrm>
              <a:off x="4700016" y="51206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ZIMÓGENOS: ENZIMAS FABRICADAS INACTIVAS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5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sp>
        <p:nvSpPr>
          <p:cNvPr id="5" name="!!Duodeno luz"/>
          <p:cNvSpPr/>
          <p:nvPr/>
        </p:nvSpPr>
        <p:spPr>
          <a:xfrm>
            <a:off x="365760" y="4023360"/>
            <a:ext cx="7680960" cy="1371600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A86760"/>
              </a:gs>
              <a:gs pos="30000">
                <a:srgbClr val="F5B4AD"/>
              </a:gs>
              <a:gs pos="55000">
                <a:srgbClr val="F1948A"/>
              </a:gs>
              <a:gs pos="100000">
                <a:srgbClr val="A86760"/>
              </a:gs>
            </a:gsLst>
            <a:lin ang="5400000" scaled="0"/>
          </a:gradFill>
          <a:ln w="25400" cap="rnd">
            <a:solidFill>
              <a:srgbClr val="922B21"/>
            </a:solidFill>
            <a:round/>
          </a:ln>
        </p:spPr>
      </p:sp>
      <p:sp>
        <p:nvSpPr>
          <p:cNvPr id="6" name="Rótulo duodeno"/>
          <p:cNvSpPr txBox="1"/>
          <p:nvPr/>
        </p:nvSpPr>
        <p:spPr>
          <a:xfrm>
            <a:off x="548640" y="5440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922B21"/>
                </a:solidFill>
                <a:latin typeface="Calibri"/>
                <a:ea typeface="Calibri"/>
                <a:cs typeface="Calibri"/>
                <a:sym typeface="Calibri"/>
              </a:rPr>
              <a:t>luz duodenal</a:t>
            </a:r>
            <a:endParaRPr lang="es-AR" sz="1300" dirty="0">
              <a:latin typeface="Calibri"/>
            </a:endParaRPr>
          </a:p>
        </p:txBody>
      </p:sp>
      <p:grpSp>
        <p:nvGrpSpPr>
          <p:cNvPr id="7" name="Célula acinar activación"/>
          <p:cNvGrpSpPr/>
          <p:nvPr/>
        </p:nvGrpSpPr>
        <p:grpSpPr>
          <a:xfrm>
            <a:off x="548640" y="1097280"/>
            <a:ext cx="1645920" cy="2194560"/>
            <a:chOff x="548640" y="1097280"/>
            <a:chExt cx="1645920" cy="2194560"/>
          </a:xfrm>
        </p:grpSpPr>
        <p:sp>
          <p:nvSpPr>
            <p:cNvPr id="8" name="Membrana acinar"/>
            <p:cNvSpPr/>
            <p:nvPr/>
          </p:nvSpPr>
          <p:spPr>
            <a:xfrm>
              <a:off x="548640" y="1097280"/>
              <a:ext cx="1645920" cy="219456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0" y="1000"/>
                  </a:moveTo>
                  <a:lnTo>
                    <a:pt x="940" y="1000"/>
                  </a:lnTo>
                  <a:cubicBezTo>
                    <a:pt x="900" y="700"/>
                    <a:pt x="780" y="200"/>
                    <a:pt x="640" y="40"/>
                  </a:cubicBezTo>
                  <a:lnTo>
                    <a:pt x="360" y="40"/>
                  </a:lnTo>
                  <a:cubicBezTo>
                    <a:pt x="220" y="200"/>
                    <a:pt x="100" y="700"/>
                    <a:pt x="6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8BBD0"/>
                </a:gs>
              </a:gsLst>
              <a:lin ang="5400000" scaled="0"/>
            </a:gradFill>
            <a:ln w="28575" cap="rnd">
              <a:solidFill>
                <a:srgbClr val="880E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grpSp>
          <p:nvGrpSpPr>
            <p:cNvPr id="9" name="Retículo endoplasmático"/>
            <p:cNvGrpSpPr/>
            <p:nvPr/>
          </p:nvGrpSpPr>
          <p:grpSpPr>
            <a:xfrm>
              <a:off x="877824" y="2538667"/>
              <a:ext cx="987552" cy="254569"/>
              <a:chOff x="877824" y="2538667"/>
              <a:chExt cx="987552" cy="254569"/>
            </a:xfrm>
          </p:grpSpPr>
          <p:sp>
            <p:nvSpPr>
              <p:cNvPr id="10" name="Forma 9"/>
              <p:cNvSpPr/>
              <p:nvPr/>
            </p:nvSpPr>
            <p:spPr>
              <a:xfrm>
                <a:off x="877824" y="2545690"/>
                <a:ext cx="987552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1" name="Forma 10"/>
              <p:cNvSpPr/>
              <p:nvPr/>
            </p:nvSpPr>
            <p:spPr>
              <a:xfrm>
                <a:off x="877824" y="2538667"/>
                <a:ext cx="987552" cy="7900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2" name="Forma 11"/>
              <p:cNvSpPr/>
              <p:nvPr/>
            </p:nvSpPr>
            <p:spPr>
              <a:xfrm>
                <a:off x="877824" y="2633472"/>
                <a:ext cx="987552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3" name="Forma 12"/>
              <p:cNvSpPr/>
              <p:nvPr/>
            </p:nvSpPr>
            <p:spPr>
              <a:xfrm>
                <a:off x="877824" y="2626449"/>
                <a:ext cx="987552" cy="7900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877824" y="2721254"/>
                <a:ext cx="987552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877824" y="2714232"/>
                <a:ext cx="987552" cy="7900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16" name="Núcleo basal"/>
            <p:cNvGrpSpPr/>
            <p:nvPr/>
          </p:nvGrpSpPr>
          <p:grpSpPr>
            <a:xfrm>
              <a:off x="1141171" y="2809037"/>
              <a:ext cx="460858" cy="414772"/>
              <a:chOff x="1141171" y="2809037"/>
              <a:chExt cx="460858" cy="414772"/>
            </a:xfrm>
          </p:grpSpPr>
          <p:sp>
            <p:nvSpPr>
              <p:cNvPr id="17" name="Forma 16"/>
              <p:cNvSpPr/>
              <p:nvPr/>
            </p:nvSpPr>
            <p:spPr>
              <a:xfrm>
                <a:off x="1141171" y="2809037"/>
                <a:ext cx="460858" cy="414772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1380817" y="2947294"/>
                <a:ext cx="101389" cy="92172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</p:grpSp>
      <p:sp>
        <p:nvSpPr>
          <p:cNvPr id="19" name="!!Zimogeno 1"/>
          <p:cNvSpPr/>
          <p:nvPr/>
        </p:nvSpPr>
        <p:spPr>
          <a:xfrm>
            <a:off x="1548848" y="2234254"/>
            <a:ext cx="213970" cy="213970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0" name="!!Zimogeno 2"/>
          <p:cNvSpPr/>
          <p:nvPr/>
        </p:nvSpPr>
        <p:spPr>
          <a:xfrm>
            <a:off x="1134315" y="1438855"/>
            <a:ext cx="213970" cy="213970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1" name="!!Zimogeno 3"/>
          <p:cNvSpPr/>
          <p:nvPr/>
        </p:nvSpPr>
        <p:spPr>
          <a:xfrm>
            <a:off x="1493299" y="2038982"/>
            <a:ext cx="213970" cy="213970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2" name="!!Zimogeno 4"/>
          <p:cNvSpPr/>
          <p:nvPr/>
        </p:nvSpPr>
        <p:spPr>
          <a:xfrm>
            <a:off x="1416903" y="1644641"/>
            <a:ext cx="213970" cy="213970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3" name="!!Zimogeno 5"/>
          <p:cNvSpPr/>
          <p:nvPr/>
        </p:nvSpPr>
        <p:spPr>
          <a:xfrm>
            <a:off x="1387507" y="1919926"/>
            <a:ext cx="213970" cy="213970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4" name="Conducto pancreático"/>
          <p:cNvSpPr/>
          <p:nvPr/>
        </p:nvSpPr>
        <p:spPr>
          <a:xfrm>
            <a:off x="2194560" y="2651760"/>
            <a:ext cx="2011680" cy="347472"/>
          </a:xfrm>
          <a:prstGeom prst="rect">
            <a:avLst/>
          </a:prstGeom>
          <a:gradFill rotWithShape="1">
            <a:gsLst>
              <a:gs pos="0">
                <a:srgbClr val="FCF3CF"/>
              </a:gs>
              <a:gs pos="100000">
                <a:srgbClr val="F9E79F"/>
              </a:gs>
            </a:gsLst>
            <a:lin ang="5400000" scaled="0"/>
          </a:gradFill>
          <a:ln w="15875" cap="rnd">
            <a:solidFill>
              <a:srgbClr val="B7950B"/>
            </a:solidFill>
            <a:round/>
          </a:ln>
        </p:spPr>
      </p:sp>
      <p:grpSp>
        <p:nvGrpSpPr>
          <p:cNvPr id="25" name="Hormonas"/>
          <p:cNvGrpSpPr/>
          <p:nvPr/>
        </p:nvGrpSpPr>
        <p:grpSpPr>
          <a:xfrm>
            <a:off x="4663440" y="1188720"/>
            <a:ext cx="2286000" cy="384048"/>
            <a:chOff x="4663440" y="1188720"/>
            <a:chExt cx="2286000" cy="384048"/>
          </a:xfrm>
        </p:grpSpPr>
        <p:sp>
          <p:nvSpPr>
            <p:cNvPr id="26" name="Ficha CCK"/>
            <p:cNvSpPr/>
            <p:nvPr/>
          </p:nvSpPr>
          <p:spPr>
            <a:xfrm>
              <a:off x="4663440" y="1188720"/>
              <a:ext cx="9144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B585C9"/>
                </a:gs>
                <a:gs pos="55000">
                  <a:srgbClr val="8E44AD"/>
                </a:gs>
                <a:gs pos="100000">
                  <a:srgbClr val="71368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72256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CCK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7" name="Ficha Secretina"/>
            <p:cNvSpPr/>
            <p:nvPr/>
          </p:nvSpPr>
          <p:spPr>
            <a:xfrm>
              <a:off x="5669280" y="1188720"/>
              <a:ext cx="128016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7B0D6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7436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Secretina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28" name="Bolo alimenticio"/>
          <p:cNvSpPr/>
          <p:nvPr/>
        </p:nvSpPr>
        <p:spPr>
          <a:xfrm>
            <a:off x="6583680" y="4434840"/>
            <a:ext cx="9144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5D4EC"/>
              </a:gs>
              <a:gs pos="55000">
                <a:srgbClr val="D7BDE2"/>
              </a:gs>
              <a:gs pos="100000">
                <a:srgbClr val="AC97B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B5E71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bolo</a:t>
            </a:r>
            <a:endParaRPr lang="es-AR" sz="1300" dirty="0">
              <a:latin typeface="Calibri"/>
            </a:endParaRPr>
          </a:p>
        </p:txBody>
      </p:sp>
      <p:sp>
        <p:nvSpPr>
          <p:cNvPr id="29" name="Tripsinógeno"/>
          <p:cNvSpPr/>
          <p:nvPr/>
        </p:nvSpPr>
        <p:spPr>
          <a:xfrm>
            <a:off x="2651760" y="2606040"/>
            <a:ext cx="155448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7E082"/>
              </a:gs>
              <a:gs pos="55000">
                <a:srgbClr val="F4D03F"/>
              </a:gs>
              <a:gs pos="100000">
                <a:srgbClr val="C3A632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681F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Tripsinógeno</a:t>
            </a:r>
            <a:endParaRPr lang="es-AR" sz="1200" dirty="0">
              <a:latin typeface="Calibri"/>
            </a:endParaRPr>
          </a:p>
        </p:txBody>
      </p:sp>
      <p:sp>
        <p:nvSpPr>
          <p:cNvPr id="30" name="Enteroquinasa"/>
          <p:cNvSpPr/>
          <p:nvPr/>
        </p:nvSpPr>
        <p:spPr>
          <a:xfrm>
            <a:off x="4206240" y="3566160"/>
            <a:ext cx="1188720" cy="822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80" y="500"/>
                </a:moveTo>
                <a:cubicBezTo>
                  <a:pt x="979" y="579"/>
                  <a:pt x="961" y="684"/>
                  <a:pt x="913" y="739"/>
                </a:cubicBezTo>
                <a:cubicBezTo>
                  <a:pt x="864" y="793"/>
                  <a:pt x="756" y="802"/>
                  <a:pt x="688" y="826"/>
                </a:cubicBezTo>
                <a:cubicBezTo>
                  <a:pt x="619" y="849"/>
                  <a:pt x="563" y="880"/>
                  <a:pt x="500" y="881"/>
                </a:cubicBezTo>
                <a:cubicBezTo>
                  <a:pt x="437" y="881"/>
                  <a:pt x="370" y="857"/>
                  <a:pt x="310" y="829"/>
                </a:cubicBezTo>
                <a:cubicBezTo>
                  <a:pt x="249" y="800"/>
                  <a:pt x="186" y="762"/>
                  <a:pt x="139" y="708"/>
                </a:cubicBezTo>
                <a:cubicBezTo>
                  <a:pt x="91" y="653"/>
                  <a:pt x="20" y="567"/>
                  <a:pt x="24" y="500"/>
                </a:cubicBezTo>
                <a:cubicBezTo>
                  <a:pt x="27" y="432"/>
                  <a:pt x="120" y="371"/>
                  <a:pt x="161" y="304"/>
                </a:cubicBezTo>
                <a:cubicBezTo>
                  <a:pt x="201" y="237"/>
                  <a:pt x="210" y="144"/>
                  <a:pt x="267" y="98"/>
                </a:cubicBezTo>
                <a:cubicBezTo>
                  <a:pt x="323" y="51"/>
                  <a:pt x="422" y="25"/>
                  <a:pt x="499" y="27"/>
                </a:cubicBezTo>
                <a:cubicBezTo>
                  <a:pt x="575" y="28"/>
                  <a:pt x="657" y="66"/>
                  <a:pt x="727" y="105"/>
                </a:cubicBezTo>
                <a:cubicBezTo>
                  <a:pt x="796" y="143"/>
                  <a:pt x="871" y="194"/>
                  <a:pt x="914" y="260"/>
                </a:cubicBezTo>
                <a:cubicBezTo>
                  <a:pt x="956" y="325"/>
                  <a:pt x="980" y="420"/>
                  <a:pt x="980" y="500"/>
                </a:cubicBezTo>
                <a:close/>
              </a:path>
            </a:pathLst>
          </a:custGeom>
          <a:gradFill rotWithShape="1">
            <a:gsLst>
              <a:gs pos="0">
                <a:srgbClr val="A3E8C0"/>
              </a:gs>
              <a:gs pos="55000">
                <a:srgbClr val="58D68D"/>
              </a:gs>
              <a:gs pos="100000">
                <a:srgbClr val="42A069"/>
              </a:gs>
            </a:gsLst>
            <a:path path="circle">
              <a:fillToRect l="32000" t="28000" r="68000" b="72000"/>
            </a:path>
          </a:gradFill>
          <a:ln w="22225" cap="rnd">
            <a:solidFill>
              <a:srgbClr val="2C6B46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27432" tIns="27432" rIns="2743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Entero-</a:t>
            </a:r>
            <a:endParaRPr lang="es-AR" sz="11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quinasa</a:t>
            </a:r>
            <a:endParaRPr lang="es-AR" sz="1100" dirty="0">
              <a:latin typeface="Calibri"/>
            </a:endParaRPr>
          </a:p>
        </p:txBody>
      </p:sp>
      <p:sp>
        <p:nvSpPr>
          <p:cNvPr id="31" name="Tripsina"/>
          <p:cNvSpPr/>
          <p:nvPr/>
        </p:nvSpPr>
        <p:spPr>
          <a:xfrm>
            <a:off x="4572000" y="4526280"/>
            <a:ext cx="1280160" cy="4114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F8A80"/>
              </a:gs>
              <a:gs pos="55000">
                <a:srgbClr val="E74C3C"/>
              </a:gs>
              <a:gs pos="100000">
                <a:srgbClr val="B83C30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3261E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Tripsina</a:t>
            </a:r>
            <a:endParaRPr lang="es-AR" sz="1300" dirty="0">
              <a:latin typeface="Calibri"/>
            </a:endParaRPr>
          </a:p>
        </p:txBody>
      </p:sp>
      <p:grpSp>
        <p:nvGrpSpPr>
          <p:cNvPr id="32" name="Cascada"/>
          <p:cNvGrpSpPr/>
          <p:nvPr/>
        </p:nvGrpSpPr>
        <p:grpSpPr>
          <a:xfrm>
            <a:off x="2377440" y="4754880"/>
            <a:ext cx="4297680" cy="502920"/>
            <a:chOff x="2377440" y="4754880"/>
            <a:chExt cx="4297680" cy="502920"/>
          </a:xfrm>
        </p:grpSpPr>
        <p:sp>
          <p:nvSpPr>
            <p:cNvPr id="33" name="Ficha quimotripsina"/>
            <p:cNvSpPr/>
            <p:nvPr/>
          </p:nvSpPr>
          <p:spPr>
            <a:xfrm>
              <a:off x="2377440" y="4892040"/>
              <a:ext cx="137160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5B9B2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84A4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quimotripsina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34" name="Ficha elastasa"/>
            <p:cNvSpPr/>
            <p:nvPr/>
          </p:nvSpPr>
          <p:spPr>
            <a:xfrm>
              <a:off x="3840480" y="4892040"/>
              <a:ext cx="137160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5B9B2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84A4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elastasa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35" name="Ficha fosfolipasa A2"/>
            <p:cNvSpPr/>
            <p:nvPr/>
          </p:nvSpPr>
          <p:spPr>
            <a:xfrm>
              <a:off x="5303520" y="4892040"/>
              <a:ext cx="1371600" cy="36576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5B9B2"/>
                </a:gs>
                <a:gs pos="55000">
                  <a:srgbClr val="F1948A"/>
                </a:gs>
                <a:gs pos="100000">
                  <a:srgbClr val="C0766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84A45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fosfolipasa A</a:t>
              </a:r>
              <a:r>
                <a:rPr lang="es-AR" sz="1100" b="1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36" name="Flecha 35_2"/>
            <p:cNvSpPr/>
            <p:nvPr/>
          </p:nvSpPr>
          <p:spPr>
            <a:xfrm>
              <a:off x="3749040" y="4754880"/>
              <a:ext cx="822960" cy="228600"/>
            </a:xfrm>
            <a:custGeom>
              <a:avLst/>
              <a:gdLst/>
              <a:ahLst/>
              <a:cxnLst/>
              <a:rect l="0" t="0" r="r" b="b"/>
              <a:pathLst>
                <a:path w="900" h="250" fill="none">
                  <a:moveTo>
                    <a:pt x="900" y="0"/>
                  </a:moveTo>
                  <a:lnTo>
                    <a:pt x="0" y="250"/>
                  </a:lnTo>
                </a:path>
              </a:pathLst>
            </a:custGeom>
            <a:noFill/>
            <a:ln w="254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sp>
        <p:nvSpPr>
          <p:cNvPr id="37" name="Gránulos"/>
          <p:cNvSpPr/>
          <p:nvPr/>
        </p:nvSpPr>
        <p:spPr>
          <a:xfrm>
            <a:off x="8549640" y="1097280"/>
            <a:ext cx="3383280" cy="2194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Los zimógenos se almacenan en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gránulos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las células acinares.</a:t>
            </a:r>
            <a:endParaRPr lang="es-AR" sz="1950" dirty="0">
              <a:latin typeface="Calibri"/>
            </a:endParaRPr>
          </a:p>
        </p:txBody>
      </p:sp>
      <p:sp>
        <p:nvSpPr>
          <p:cNvPr id="38" name="Estímulo"/>
          <p:cNvSpPr/>
          <p:nvPr/>
        </p:nvSpPr>
        <p:spPr>
          <a:xfrm>
            <a:off x="8549640" y="3474720"/>
            <a:ext cx="3383280" cy="141732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bolo en el duodeno libera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CCK y secretina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los zimógenos salen por el conducto.</a:t>
            </a:r>
            <a:endParaRPr lang="es-AR" sz="1750" dirty="0">
              <a:latin typeface="Calibri"/>
            </a:endParaRPr>
          </a:p>
        </p:txBody>
      </p:sp>
      <p:sp>
        <p:nvSpPr>
          <p:cNvPr id="39" name="Cascada texto"/>
          <p:cNvSpPr/>
          <p:nvPr/>
        </p:nvSpPr>
        <p:spPr>
          <a:xfrm>
            <a:off x="8549640" y="5074920"/>
            <a:ext cx="3383280" cy="1371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enteroquinasa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activa el tripsinógeno →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tripsina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que activa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cascada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 los demás.</a:t>
            </a:r>
            <a:endParaRPr lang="es-AR" sz="17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ACTIVACIÓN FISIOLÓGICA: LOS ZIMÓGENOS SE ACTIVAN EN EL DUODENO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4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0" presetClass="path" presetSubtype="0" accel="20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50 0.2200 E" pathEditMode="relative" ptsTypes="">
                                      <p:cBhvr>
                                        <p:cTn id="62" dur="1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50" y="11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6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7" grpId="0" animBg="1"/>
      <p:bldP spid="28" grpId="0" animBg="1"/>
      <p:bldP spid="38" grpId="0" animBg="1"/>
      <p:bldP spid="29" grpId="0" animBg="1"/>
      <p:bldP spid="30" grpId="0" animBg="1"/>
      <p:bldP spid="31" grpId="0" animBg="1"/>
      <p:bldP spid="39" grpId="0" animBg="1"/>
    </p:bldLst>
  </p:timing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365760" y="2103120"/>
            <a:ext cx="7589520" cy="3187598"/>
            <a:chOff x="365760" y="2103120"/>
            <a:chExt cx="7589520" cy="3187598"/>
          </a:xfrm>
        </p:grpSpPr>
        <p:sp>
          <p:nvSpPr>
            <p:cNvPr id="6" name="Forma 5"/>
            <p:cNvSpPr/>
            <p:nvPr/>
          </p:nvSpPr>
          <p:spPr>
            <a:xfrm>
              <a:off x="365760" y="2103120"/>
              <a:ext cx="7589520" cy="3187598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365760" y="2103120"/>
              <a:ext cx="7589520" cy="3187598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365760" y="2103120"/>
              <a:ext cx="7589520" cy="3187598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365760" y="2103120"/>
              <a:ext cx="7589520" cy="3187598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10" name="!!Duodeno"/>
          <p:cNvSpPr/>
          <p:nvPr/>
        </p:nvSpPr>
        <p:spPr>
          <a:xfrm>
            <a:off x="0" y="1828800"/>
            <a:ext cx="1463040" cy="36576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900" y="0"/>
                </a:moveTo>
                <a:cubicBezTo>
                  <a:pt x="300" y="200"/>
                  <a:pt x="200" y="800"/>
                  <a:pt x="900" y="1000"/>
                </a:cubicBezTo>
              </a:path>
            </a:pathLst>
          </a:custGeom>
          <a:noFill/>
          <a:ln w="330200" cap="rnd">
            <a:solidFill>
              <a:srgbClr val="922B21"/>
            </a:solidFill>
            <a:round/>
          </a:ln>
        </p:spPr>
      </p:sp>
      <p:grpSp>
        <p:nvGrpSpPr>
          <p:cNvPr id="11" name="Caja PC1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12" name="Forma 11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El páncreas produce las enzimas digestivas del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jugo pancreático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(porción exocrina) y vierte su secreción al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duodeno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8677656" y="1097280"/>
              <a:ext cx="1127769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PÁNCREAS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PÁNCREAS: ÓRGANO EXOCRINO Y ENDOCRINO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1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-5486400" y="-1828800"/>
            <a:ext cx="20116800" cy="8449056"/>
            <a:chOff x="-5486400" y="-1828800"/>
            <a:chExt cx="20116800" cy="8449056"/>
          </a:xfrm>
        </p:grpSpPr>
        <p:sp>
          <p:nvSpPr>
            <p:cNvPr id="6" name="Forma 5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Acino"/>
          <p:cNvGrpSpPr/>
          <p:nvPr/>
        </p:nvGrpSpPr>
        <p:grpSpPr>
          <a:xfrm>
            <a:off x="2724912" y="1993392"/>
            <a:ext cx="1865376" cy="1865376"/>
            <a:chOff x="2724912" y="1993392"/>
            <a:chExt cx="1865376" cy="1865376"/>
          </a:xfrm>
        </p:grpSpPr>
        <p:sp>
          <p:nvSpPr>
            <p:cNvPr id="11" name="Forma 10"/>
            <p:cNvSpPr/>
            <p:nvPr/>
          </p:nvSpPr>
          <p:spPr>
            <a:xfrm>
              <a:off x="3860351" y="2576154"/>
              <a:ext cx="729937" cy="69985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379"/>
                  </a:moveTo>
                  <a:lnTo>
                    <a:pt x="879" y="0"/>
                  </a:lnTo>
                  <a:lnTo>
                    <a:pt x="1000" y="500"/>
                  </a:lnTo>
                  <a:lnTo>
                    <a:pt x="879" y="1000"/>
                  </a:lnTo>
                  <a:lnTo>
                    <a:pt x="0" y="62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4032504" y="2862072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4306824" y="2843784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14" name="Forma 13"/>
            <p:cNvSpPr/>
            <p:nvPr/>
          </p:nvSpPr>
          <p:spPr>
            <a:xfrm>
              <a:off x="3741582" y="3010062"/>
              <a:ext cx="760813" cy="76081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6" y="0"/>
                  </a:moveTo>
                  <a:lnTo>
                    <a:pt x="1000" y="349"/>
                  </a:lnTo>
                  <a:lnTo>
                    <a:pt x="756" y="756"/>
                  </a:lnTo>
                  <a:lnTo>
                    <a:pt x="349" y="1000"/>
                  </a:lnTo>
                  <a:lnTo>
                    <a:pt x="0" y="156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3903950" y="3172430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4092567" y="3361047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17" name="Forma 16"/>
            <p:cNvSpPr/>
            <p:nvPr/>
          </p:nvSpPr>
          <p:spPr>
            <a:xfrm>
              <a:off x="3307674" y="3128831"/>
              <a:ext cx="699851" cy="72993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20" y="0"/>
                  </a:moveTo>
                  <a:lnTo>
                    <a:pt x="1000" y="879"/>
                  </a:lnTo>
                  <a:lnTo>
                    <a:pt x="500" y="1000"/>
                  </a:lnTo>
                  <a:lnTo>
                    <a:pt x="0" y="879"/>
                  </a:lnTo>
                  <a:lnTo>
                    <a:pt x="379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3593592" y="3300984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3575304" y="3575304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0" name="Forma 19"/>
            <p:cNvSpPr/>
            <p:nvPr/>
          </p:nvSpPr>
          <p:spPr>
            <a:xfrm>
              <a:off x="2812805" y="3010062"/>
              <a:ext cx="760813" cy="76081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000" y="156"/>
                  </a:moveTo>
                  <a:lnTo>
                    <a:pt x="650" y="1000"/>
                  </a:lnTo>
                  <a:lnTo>
                    <a:pt x="243" y="756"/>
                  </a:lnTo>
                  <a:lnTo>
                    <a:pt x="0" y="349"/>
                  </a:lnTo>
                  <a:lnTo>
                    <a:pt x="843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3283234" y="3172430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3058041" y="3361047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3" name="Forma 22"/>
            <p:cNvSpPr/>
            <p:nvPr/>
          </p:nvSpPr>
          <p:spPr>
            <a:xfrm>
              <a:off x="2724912" y="2576154"/>
              <a:ext cx="729937" cy="69985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000" y="619"/>
                  </a:moveTo>
                  <a:lnTo>
                    <a:pt x="120" y="1000"/>
                  </a:lnTo>
                  <a:lnTo>
                    <a:pt x="0" y="499"/>
                  </a:lnTo>
                  <a:lnTo>
                    <a:pt x="120" y="0"/>
                  </a:lnTo>
                  <a:lnTo>
                    <a:pt x="1000" y="379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3154680" y="2862072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2843784" y="2843784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6" name="Forma 25"/>
            <p:cNvSpPr/>
            <p:nvPr/>
          </p:nvSpPr>
          <p:spPr>
            <a:xfrm>
              <a:off x="2812805" y="2081285"/>
              <a:ext cx="760813" cy="76081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43" y="1000"/>
                  </a:moveTo>
                  <a:lnTo>
                    <a:pt x="0" y="650"/>
                  </a:lnTo>
                  <a:lnTo>
                    <a:pt x="243" y="243"/>
                  </a:lnTo>
                  <a:lnTo>
                    <a:pt x="650" y="0"/>
                  </a:lnTo>
                  <a:lnTo>
                    <a:pt x="1000" y="843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3283234" y="2551714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3058041" y="2326521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9" name="Forma 28"/>
            <p:cNvSpPr/>
            <p:nvPr/>
          </p:nvSpPr>
          <p:spPr>
            <a:xfrm>
              <a:off x="3307674" y="1993392"/>
              <a:ext cx="699851" cy="72993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80" y="1000"/>
                  </a:moveTo>
                  <a:lnTo>
                    <a:pt x="0" y="120"/>
                  </a:lnTo>
                  <a:lnTo>
                    <a:pt x="500" y="0"/>
                  </a:lnTo>
                  <a:lnTo>
                    <a:pt x="1000" y="120"/>
                  </a:lnTo>
                  <a:lnTo>
                    <a:pt x="620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3593592" y="2423160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3575304" y="2112264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32" name="Forma 31"/>
            <p:cNvSpPr/>
            <p:nvPr/>
          </p:nvSpPr>
          <p:spPr>
            <a:xfrm>
              <a:off x="3741582" y="2081285"/>
              <a:ext cx="760813" cy="76081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843"/>
                  </a:moveTo>
                  <a:lnTo>
                    <a:pt x="349" y="0"/>
                  </a:lnTo>
                  <a:lnTo>
                    <a:pt x="756" y="243"/>
                  </a:lnTo>
                  <a:lnTo>
                    <a:pt x="1000" y="650"/>
                  </a:lnTo>
                  <a:lnTo>
                    <a:pt x="156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33" name="Forma 32"/>
            <p:cNvSpPr/>
            <p:nvPr/>
          </p:nvSpPr>
          <p:spPr>
            <a:xfrm>
              <a:off x="3903950" y="2551714"/>
              <a:ext cx="128016" cy="128016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4092567" y="2326521"/>
              <a:ext cx="164592" cy="164592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35" name="Forma 34"/>
            <p:cNvSpPr/>
            <p:nvPr/>
          </p:nvSpPr>
          <p:spPr>
            <a:xfrm>
              <a:off x="3474720" y="2743200"/>
              <a:ext cx="365760" cy="365760"/>
            </a:xfrm>
            <a:prstGeom prst="ellipse">
              <a:avLst/>
            </a:prstGeom>
            <a:solidFill>
              <a:srgbClr val="FFF8E1"/>
            </a:solidFill>
            <a:ln w="12700" cap="rnd">
              <a:solidFill>
                <a:srgbClr val="880E4F"/>
              </a:solidFill>
              <a:round/>
            </a:ln>
          </p:spPr>
        </p:sp>
      </p:grpSp>
      <p:grpSp>
        <p:nvGrpSpPr>
          <p:cNvPr id="36" name="Caja PC2"/>
          <p:cNvGrpSpPr/>
          <p:nvPr/>
        </p:nvGrpSpPr>
        <p:grpSpPr>
          <a:xfrm>
            <a:off x="8549640" y="1097280"/>
            <a:ext cx="3383280" cy="2377440"/>
            <a:chOff x="8549640" y="1097280"/>
            <a:chExt cx="3383280" cy="2377440"/>
          </a:xfrm>
        </p:grpSpPr>
        <p:sp>
          <p:nvSpPr>
            <p:cNvPr id="37" name="Forma 36"/>
            <p:cNvSpPr/>
            <p:nvPr/>
          </p:nvSpPr>
          <p:spPr>
            <a:xfrm>
              <a:off x="8549640" y="1298448"/>
              <a:ext cx="3383280" cy="217627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Acercamos el tejido: aparecen los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ácinos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unidades secretoras del páncreas exocrino.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8677656" y="1097280"/>
              <a:ext cx="849901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TEJIDO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ACERCAMIENTO AL TEJIDO PANCREÁTICO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-5486400" y="-1828800"/>
            <a:ext cx="20116800" cy="8449056"/>
            <a:chOff x="-5486400" y="-1828800"/>
            <a:chExt cx="20116800" cy="8449056"/>
          </a:xfrm>
        </p:grpSpPr>
        <p:sp>
          <p:nvSpPr>
            <p:cNvPr id="6" name="Forma 5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-5486400" y="-1828800"/>
              <a:ext cx="20116800" cy="844905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Acino"/>
          <p:cNvGrpSpPr/>
          <p:nvPr/>
        </p:nvGrpSpPr>
        <p:grpSpPr>
          <a:xfrm>
            <a:off x="867766" y="1096366"/>
            <a:ext cx="4756709" cy="4756709"/>
            <a:chOff x="867766" y="1096366"/>
            <a:chExt cx="4756709" cy="4756709"/>
          </a:xfrm>
        </p:grpSpPr>
        <p:sp>
          <p:nvSpPr>
            <p:cNvPr id="11" name="Forma 10"/>
            <p:cNvSpPr/>
            <p:nvPr/>
          </p:nvSpPr>
          <p:spPr>
            <a:xfrm>
              <a:off x="3763135" y="2582409"/>
              <a:ext cx="1861340" cy="178462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380"/>
                  </a:moveTo>
                  <a:lnTo>
                    <a:pt x="879" y="0"/>
                  </a:lnTo>
                  <a:lnTo>
                    <a:pt x="1000" y="500"/>
                  </a:lnTo>
                  <a:lnTo>
                    <a:pt x="879" y="1000"/>
                  </a:lnTo>
                  <a:lnTo>
                    <a:pt x="0" y="62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12" name="Forma 11"/>
            <p:cNvSpPr/>
            <p:nvPr/>
          </p:nvSpPr>
          <p:spPr>
            <a:xfrm>
              <a:off x="4202125" y="3311500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13" name="Forma 12"/>
            <p:cNvSpPr/>
            <p:nvPr/>
          </p:nvSpPr>
          <p:spPr>
            <a:xfrm>
              <a:off x="4901641" y="3264865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14" name="Forma 13"/>
            <p:cNvSpPr/>
            <p:nvPr/>
          </p:nvSpPr>
          <p:spPr>
            <a:xfrm>
              <a:off x="3460275" y="3688875"/>
              <a:ext cx="1940074" cy="194007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6" y="0"/>
                  </a:moveTo>
                  <a:lnTo>
                    <a:pt x="1000" y="349"/>
                  </a:lnTo>
                  <a:lnTo>
                    <a:pt x="756" y="756"/>
                  </a:lnTo>
                  <a:lnTo>
                    <a:pt x="349" y="1000"/>
                  </a:lnTo>
                  <a:lnTo>
                    <a:pt x="0" y="156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3874312" y="4102912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4355285" y="4583885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17" name="Forma 16"/>
            <p:cNvSpPr/>
            <p:nvPr/>
          </p:nvSpPr>
          <p:spPr>
            <a:xfrm>
              <a:off x="2353809" y="3991735"/>
              <a:ext cx="1784621" cy="18613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20" y="0"/>
                  </a:moveTo>
                  <a:lnTo>
                    <a:pt x="1000" y="879"/>
                  </a:lnTo>
                  <a:lnTo>
                    <a:pt x="500" y="1000"/>
                  </a:lnTo>
                  <a:lnTo>
                    <a:pt x="0" y="879"/>
                  </a:lnTo>
                  <a:lnTo>
                    <a:pt x="38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3082900" y="4430725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19" name="Forma 18"/>
            <p:cNvSpPr/>
            <p:nvPr/>
          </p:nvSpPr>
          <p:spPr>
            <a:xfrm>
              <a:off x="3036265" y="5130241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0" name="Forma 19"/>
            <p:cNvSpPr/>
            <p:nvPr/>
          </p:nvSpPr>
          <p:spPr>
            <a:xfrm>
              <a:off x="1091892" y="3688875"/>
              <a:ext cx="1940074" cy="194007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000" y="156"/>
                  </a:moveTo>
                  <a:lnTo>
                    <a:pt x="650" y="1000"/>
                  </a:lnTo>
                  <a:lnTo>
                    <a:pt x="243" y="756"/>
                  </a:lnTo>
                  <a:lnTo>
                    <a:pt x="0" y="349"/>
                  </a:lnTo>
                  <a:lnTo>
                    <a:pt x="843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21" name="Forma 20"/>
            <p:cNvSpPr/>
            <p:nvPr/>
          </p:nvSpPr>
          <p:spPr>
            <a:xfrm>
              <a:off x="2291488" y="4102912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22" name="Forma 21"/>
            <p:cNvSpPr/>
            <p:nvPr/>
          </p:nvSpPr>
          <p:spPr>
            <a:xfrm>
              <a:off x="1717245" y="4583885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3" name="Forma 22"/>
            <p:cNvSpPr/>
            <p:nvPr/>
          </p:nvSpPr>
          <p:spPr>
            <a:xfrm>
              <a:off x="867766" y="2582409"/>
              <a:ext cx="1861340" cy="1784621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000" y="619"/>
                  </a:moveTo>
                  <a:lnTo>
                    <a:pt x="120" y="1000"/>
                  </a:lnTo>
                  <a:lnTo>
                    <a:pt x="0" y="500"/>
                  </a:lnTo>
                  <a:lnTo>
                    <a:pt x="120" y="0"/>
                  </a:lnTo>
                  <a:lnTo>
                    <a:pt x="1000" y="379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24" name="Forma 23"/>
            <p:cNvSpPr/>
            <p:nvPr/>
          </p:nvSpPr>
          <p:spPr>
            <a:xfrm>
              <a:off x="1963674" y="3311500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1170889" y="3264865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6" name="Forma 25"/>
            <p:cNvSpPr/>
            <p:nvPr/>
          </p:nvSpPr>
          <p:spPr>
            <a:xfrm>
              <a:off x="1091892" y="1320492"/>
              <a:ext cx="1940074" cy="194007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843" y="1000"/>
                  </a:moveTo>
                  <a:lnTo>
                    <a:pt x="0" y="650"/>
                  </a:lnTo>
                  <a:lnTo>
                    <a:pt x="243" y="243"/>
                  </a:lnTo>
                  <a:lnTo>
                    <a:pt x="650" y="0"/>
                  </a:lnTo>
                  <a:lnTo>
                    <a:pt x="1000" y="843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27" name="Forma 26"/>
            <p:cNvSpPr/>
            <p:nvPr/>
          </p:nvSpPr>
          <p:spPr>
            <a:xfrm>
              <a:off x="2291488" y="2520088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28" name="Forma 27"/>
            <p:cNvSpPr/>
            <p:nvPr/>
          </p:nvSpPr>
          <p:spPr>
            <a:xfrm>
              <a:off x="1717245" y="1945845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29" name="Forma 28"/>
            <p:cNvSpPr/>
            <p:nvPr/>
          </p:nvSpPr>
          <p:spPr>
            <a:xfrm>
              <a:off x="2353809" y="1096366"/>
              <a:ext cx="1784621" cy="186134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80" y="1000"/>
                  </a:moveTo>
                  <a:lnTo>
                    <a:pt x="0" y="120"/>
                  </a:lnTo>
                  <a:lnTo>
                    <a:pt x="500" y="0"/>
                  </a:lnTo>
                  <a:lnTo>
                    <a:pt x="1000" y="120"/>
                  </a:lnTo>
                  <a:lnTo>
                    <a:pt x="620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3082900" y="2192274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31" name="Forma 30"/>
            <p:cNvSpPr/>
            <p:nvPr/>
          </p:nvSpPr>
          <p:spPr>
            <a:xfrm>
              <a:off x="3036265" y="1399489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32" name="Forma 31"/>
            <p:cNvSpPr/>
            <p:nvPr/>
          </p:nvSpPr>
          <p:spPr>
            <a:xfrm>
              <a:off x="3460275" y="1320492"/>
              <a:ext cx="1940074" cy="1940074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843"/>
                  </a:moveTo>
                  <a:lnTo>
                    <a:pt x="349" y="0"/>
                  </a:lnTo>
                  <a:lnTo>
                    <a:pt x="756" y="243"/>
                  </a:lnTo>
                  <a:lnTo>
                    <a:pt x="1000" y="650"/>
                  </a:lnTo>
                  <a:lnTo>
                    <a:pt x="156" y="1000"/>
                  </a:ln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48FB1"/>
                </a:gs>
              </a:gsLst>
              <a:path path="circle">
                <a:fillToRect l="50000" t="50000" r="50000" b="50000"/>
              </a:path>
            </a:gradFill>
            <a:ln w="15875" cap="rnd">
              <a:solidFill>
                <a:srgbClr val="880E4F"/>
              </a:solidFill>
              <a:round/>
            </a:ln>
          </p:spPr>
        </p:sp>
        <p:sp>
          <p:nvSpPr>
            <p:cNvPr id="33" name="Forma 32"/>
            <p:cNvSpPr/>
            <p:nvPr/>
          </p:nvSpPr>
          <p:spPr>
            <a:xfrm>
              <a:off x="3874312" y="2520088"/>
              <a:ext cx="326441" cy="326441"/>
            </a:xfrm>
            <a:prstGeom prst="ellipse">
              <a:avLst/>
            </a:prstGeom>
            <a:solidFill>
              <a:srgbClr val="FBC02D"/>
            </a:solidFill>
            <a:ln w="6350" cap="rnd">
              <a:solidFill>
                <a:srgbClr val="7F6000"/>
              </a:solidFill>
              <a:round/>
            </a:ln>
          </p:spPr>
        </p:sp>
        <p:sp>
          <p:nvSpPr>
            <p:cNvPr id="34" name="Forma 33"/>
            <p:cNvSpPr/>
            <p:nvPr/>
          </p:nvSpPr>
          <p:spPr>
            <a:xfrm>
              <a:off x="4355285" y="1945845"/>
              <a:ext cx="419710" cy="419710"/>
            </a:xfrm>
            <a:prstGeom prst="ellipse">
              <a:avLst/>
            </a:prstGeom>
            <a:solidFill>
              <a:srgbClr val="7D5BA6"/>
            </a:solidFill>
            <a:ln>
              <a:noFill/>
            </a:ln>
          </p:spPr>
        </p:sp>
        <p:sp>
          <p:nvSpPr>
            <p:cNvPr id="35" name="Forma 34"/>
            <p:cNvSpPr/>
            <p:nvPr/>
          </p:nvSpPr>
          <p:spPr>
            <a:xfrm>
              <a:off x="2779776" y="3008376"/>
              <a:ext cx="932688" cy="932688"/>
            </a:xfrm>
            <a:prstGeom prst="ellipse">
              <a:avLst/>
            </a:prstGeom>
            <a:solidFill>
              <a:srgbClr val="FFF8E1"/>
            </a:solidFill>
            <a:ln w="12700" cap="rnd">
              <a:solidFill>
                <a:srgbClr val="880E4F"/>
              </a:solidFill>
              <a:round/>
            </a:ln>
          </p:spPr>
        </p:sp>
      </p:grpSp>
      <p:grpSp>
        <p:nvGrpSpPr>
          <p:cNvPr id="36" name="Caja PC3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37" name="Forma 36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Cada ácino está formado por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células acinares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dispuestas alrededor de una luz que drena al sistema de conductos.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8677656" y="1097280"/>
              <a:ext cx="179779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CÉLULAS ACINARES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CÉLULAS ACINARES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5760720" y="5212080"/>
            <a:ext cx="2194560" cy="921715"/>
            <a:chOff x="5760720" y="5212080"/>
            <a:chExt cx="2194560" cy="921715"/>
          </a:xfrm>
        </p:grpSpPr>
        <p:sp>
          <p:nvSpPr>
            <p:cNvPr id="6" name="Forma 5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CelulaAcinar"/>
          <p:cNvGrpSpPr/>
          <p:nvPr/>
        </p:nvGrpSpPr>
        <p:grpSpPr>
          <a:xfrm>
            <a:off x="1097280" y="1097280"/>
            <a:ext cx="3840480" cy="4572000"/>
            <a:chOff x="1097280" y="1097280"/>
            <a:chExt cx="3840480" cy="4572000"/>
          </a:xfrm>
        </p:grpSpPr>
        <p:sp>
          <p:nvSpPr>
            <p:cNvPr id="11" name="Membrana acinar"/>
            <p:cNvSpPr/>
            <p:nvPr/>
          </p:nvSpPr>
          <p:spPr>
            <a:xfrm>
              <a:off x="1097280" y="1097280"/>
              <a:ext cx="3840480" cy="45720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0" y="1000"/>
                  </a:moveTo>
                  <a:lnTo>
                    <a:pt x="940" y="1000"/>
                  </a:lnTo>
                  <a:cubicBezTo>
                    <a:pt x="900" y="700"/>
                    <a:pt x="780" y="200"/>
                    <a:pt x="640" y="40"/>
                  </a:cubicBezTo>
                  <a:lnTo>
                    <a:pt x="360" y="40"/>
                  </a:lnTo>
                  <a:cubicBezTo>
                    <a:pt x="220" y="200"/>
                    <a:pt x="100" y="700"/>
                    <a:pt x="6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8BBD0"/>
                </a:gs>
              </a:gsLst>
              <a:lin ang="5400000" scaled="0"/>
            </a:gradFill>
            <a:ln w="28575" cap="rnd">
              <a:solidFill>
                <a:srgbClr val="880E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grpSp>
          <p:nvGrpSpPr>
            <p:cNvPr id="12" name="Retículo endoplasmático"/>
            <p:cNvGrpSpPr/>
            <p:nvPr/>
          </p:nvGrpSpPr>
          <p:grpSpPr>
            <a:xfrm>
              <a:off x="1865376" y="4100170"/>
              <a:ext cx="2304288" cy="530352"/>
              <a:chOff x="1865376" y="4100170"/>
              <a:chExt cx="2304288" cy="530352"/>
            </a:xfrm>
          </p:grpSpPr>
          <p:sp>
            <p:nvSpPr>
              <p:cNvPr id="13" name="Forma 12"/>
              <p:cNvSpPr/>
              <p:nvPr/>
            </p:nvSpPr>
            <p:spPr>
              <a:xfrm>
                <a:off x="1865376" y="411480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1865376" y="410017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1865376" y="429768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1865376" y="428305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7" name="Forma 16"/>
              <p:cNvSpPr/>
              <p:nvPr/>
            </p:nvSpPr>
            <p:spPr>
              <a:xfrm>
                <a:off x="1865376" y="448056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1865376" y="446593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19" name="Núcleo basal"/>
            <p:cNvGrpSpPr/>
            <p:nvPr/>
          </p:nvGrpSpPr>
          <p:grpSpPr>
            <a:xfrm>
              <a:off x="2479853" y="4663440"/>
              <a:ext cx="1075334" cy="967801"/>
              <a:chOff x="2479853" y="4663440"/>
              <a:chExt cx="1075334" cy="967801"/>
            </a:xfrm>
          </p:grpSpPr>
          <p:sp>
            <p:nvSpPr>
              <p:cNvPr id="20" name="Forma 19"/>
              <p:cNvSpPr/>
              <p:nvPr/>
            </p:nvSpPr>
            <p:spPr>
              <a:xfrm>
                <a:off x="2479853" y="4663440"/>
                <a:ext cx="1075334" cy="967801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21" name="Forma 20"/>
              <p:cNvSpPr/>
              <p:nvPr/>
            </p:nvSpPr>
            <p:spPr>
              <a:xfrm>
                <a:off x="3039027" y="4986040"/>
                <a:ext cx="236574" cy="215067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</p:grpSp>
      <p:sp>
        <p:nvSpPr>
          <p:cNvPr id="22" name="!!Zimogeno 1"/>
          <p:cNvSpPr/>
          <p:nvPr/>
        </p:nvSpPr>
        <p:spPr>
          <a:xfrm>
            <a:off x="2633472" y="17830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3" name="!!Zimogeno 2"/>
          <p:cNvSpPr/>
          <p:nvPr/>
        </p:nvSpPr>
        <p:spPr>
          <a:xfrm>
            <a:off x="3094330" y="21031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4" name="!!Zimogeno 3"/>
          <p:cNvSpPr/>
          <p:nvPr/>
        </p:nvSpPr>
        <p:spPr>
          <a:xfrm>
            <a:off x="2825496" y="25603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5" name="!!Zimogeno 4"/>
          <p:cNvSpPr/>
          <p:nvPr/>
        </p:nvSpPr>
        <p:spPr>
          <a:xfrm>
            <a:off x="3324758" y="274320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6" name="!!Zimogeno 5"/>
          <p:cNvSpPr/>
          <p:nvPr/>
        </p:nvSpPr>
        <p:spPr>
          <a:xfrm>
            <a:off x="2556662" y="31546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7" name="!!Zimogeno 6"/>
          <p:cNvSpPr/>
          <p:nvPr/>
        </p:nvSpPr>
        <p:spPr>
          <a:xfrm>
            <a:off x="3094330" y="33832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8" name="!!Zimogeno 7"/>
          <p:cNvSpPr/>
          <p:nvPr/>
        </p:nvSpPr>
        <p:spPr>
          <a:xfrm>
            <a:off x="3478378" y="23317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grpSp>
        <p:nvGrpSpPr>
          <p:cNvPr id="29" name="Caja PC4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30" name="Forma 29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el polo apical, los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gránulos de zimógeno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guardan las enzimas </a:t>
              </a:r>
              <a:r>
                <a:rPr lang="es-AR" sz="19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inactivas</a:t>
              </a:r>
              <a:r>
                <a:rPr lang="es-AR" sz="19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(tripsinógeno y demás precursores).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8677656" y="1097280"/>
              <a:ext cx="128681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ZIMÓGENOS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ZIMÓGENOS EN LOS GRÁNULOS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5760720" y="5212080"/>
            <a:ext cx="2194560" cy="921715"/>
            <a:chOff x="5760720" y="5212080"/>
            <a:chExt cx="2194560" cy="921715"/>
          </a:xfrm>
        </p:grpSpPr>
        <p:sp>
          <p:nvSpPr>
            <p:cNvPr id="6" name="Forma 5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CelulaAcinar"/>
          <p:cNvGrpSpPr/>
          <p:nvPr/>
        </p:nvGrpSpPr>
        <p:grpSpPr>
          <a:xfrm>
            <a:off x="1097280" y="1097280"/>
            <a:ext cx="3840480" cy="4572000"/>
            <a:chOff x="1097280" y="1097280"/>
            <a:chExt cx="3840480" cy="4572000"/>
          </a:xfrm>
        </p:grpSpPr>
        <p:sp>
          <p:nvSpPr>
            <p:cNvPr id="11" name="Membrana acinar"/>
            <p:cNvSpPr/>
            <p:nvPr/>
          </p:nvSpPr>
          <p:spPr>
            <a:xfrm>
              <a:off x="1097280" y="1097280"/>
              <a:ext cx="3840480" cy="45720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0" y="1000"/>
                  </a:moveTo>
                  <a:lnTo>
                    <a:pt x="940" y="1000"/>
                  </a:lnTo>
                  <a:cubicBezTo>
                    <a:pt x="900" y="700"/>
                    <a:pt x="780" y="200"/>
                    <a:pt x="640" y="40"/>
                  </a:cubicBezTo>
                  <a:lnTo>
                    <a:pt x="360" y="40"/>
                  </a:lnTo>
                  <a:cubicBezTo>
                    <a:pt x="220" y="200"/>
                    <a:pt x="100" y="700"/>
                    <a:pt x="6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8BBD0"/>
                </a:gs>
              </a:gsLst>
              <a:lin ang="5400000" scaled="0"/>
            </a:gradFill>
            <a:ln w="28575" cap="rnd">
              <a:solidFill>
                <a:srgbClr val="880E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grpSp>
          <p:nvGrpSpPr>
            <p:cNvPr id="12" name="Retículo endoplasmático"/>
            <p:cNvGrpSpPr/>
            <p:nvPr/>
          </p:nvGrpSpPr>
          <p:grpSpPr>
            <a:xfrm>
              <a:off x="1865376" y="4100170"/>
              <a:ext cx="2304288" cy="530352"/>
              <a:chOff x="1865376" y="4100170"/>
              <a:chExt cx="2304288" cy="530352"/>
            </a:xfrm>
          </p:grpSpPr>
          <p:sp>
            <p:nvSpPr>
              <p:cNvPr id="13" name="Forma 12"/>
              <p:cNvSpPr/>
              <p:nvPr/>
            </p:nvSpPr>
            <p:spPr>
              <a:xfrm>
                <a:off x="1865376" y="411480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1865376" y="410017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1865376" y="429768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1865376" y="428305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7" name="Forma 16"/>
              <p:cNvSpPr/>
              <p:nvPr/>
            </p:nvSpPr>
            <p:spPr>
              <a:xfrm>
                <a:off x="1865376" y="448056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1865376" y="446593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19" name="Núcleo basal"/>
            <p:cNvGrpSpPr/>
            <p:nvPr/>
          </p:nvGrpSpPr>
          <p:grpSpPr>
            <a:xfrm>
              <a:off x="2479853" y="4663440"/>
              <a:ext cx="1075334" cy="967801"/>
              <a:chOff x="2479853" y="4663440"/>
              <a:chExt cx="1075334" cy="967801"/>
            </a:xfrm>
          </p:grpSpPr>
          <p:sp>
            <p:nvSpPr>
              <p:cNvPr id="20" name="Forma 19"/>
              <p:cNvSpPr/>
              <p:nvPr/>
            </p:nvSpPr>
            <p:spPr>
              <a:xfrm>
                <a:off x="2479853" y="4663440"/>
                <a:ext cx="1075334" cy="967801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21" name="Forma 20"/>
              <p:cNvSpPr/>
              <p:nvPr/>
            </p:nvSpPr>
            <p:spPr>
              <a:xfrm>
                <a:off x="3039027" y="4986040"/>
                <a:ext cx="236574" cy="215067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</p:grpSp>
      <p:sp>
        <p:nvSpPr>
          <p:cNvPr id="22" name="!!Zimogeno 1"/>
          <p:cNvSpPr/>
          <p:nvPr/>
        </p:nvSpPr>
        <p:spPr>
          <a:xfrm>
            <a:off x="2633472" y="17830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3" name="!!Zimogeno 2"/>
          <p:cNvSpPr/>
          <p:nvPr/>
        </p:nvSpPr>
        <p:spPr>
          <a:xfrm>
            <a:off x="3094330" y="21031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4" name="!!Zimogeno 3"/>
          <p:cNvSpPr/>
          <p:nvPr/>
        </p:nvSpPr>
        <p:spPr>
          <a:xfrm>
            <a:off x="2825496" y="25603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5" name="!!Zimogeno 4"/>
          <p:cNvSpPr/>
          <p:nvPr/>
        </p:nvSpPr>
        <p:spPr>
          <a:xfrm>
            <a:off x="3324758" y="274320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6" name="!!Zimogeno 5"/>
          <p:cNvSpPr/>
          <p:nvPr/>
        </p:nvSpPr>
        <p:spPr>
          <a:xfrm>
            <a:off x="2556662" y="31546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7" name="!!Zimogeno 6"/>
          <p:cNvSpPr/>
          <p:nvPr/>
        </p:nvSpPr>
        <p:spPr>
          <a:xfrm>
            <a:off x="3094330" y="33832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8" name="!!Zimogeno 7"/>
          <p:cNvSpPr/>
          <p:nvPr/>
        </p:nvSpPr>
        <p:spPr>
          <a:xfrm>
            <a:off x="3478378" y="23317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9" name="Rótulo tripsina activa"/>
          <p:cNvSpPr/>
          <p:nvPr/>
        </p:nvSpPr>
        <p:spPr>
          <a:xfrm>
            <a:off x="5212080" y="1737360"/>
            <a:ext cx="1362727" cy="293370"/>
          </a:xfrm>
          <a:prstGeom prst="rect">
            <a:avLst/>
          </a:prstGeom>
          <a:solidFill>
            <a:srgbClr val="C00000"/>
          </a:solidFill>
          <a:ln w="19050" cap="rnd">
            <a:solidFill>
              <a:srgbClr val="1E1E1E"/>
            </a:solidFill>
            <a:round/>
          </a:ln>
        </p:spPr>
        <p:txBody>
          <a:bodyPr wrap="square" lIns="45720" tIns="9144" rIns="45720" bIns="9144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tripsina activa</a:t>
            </a:r>
            <a:endParaRPr lang="es-AR" sz="1400" dirty="0">
              <a:latin typeface="Calibri"/>
            </a:endParaRPr>
          </a:p>
        </p:txBody>
      </p:sp>
      <p:grpSp>
        <p:nvGrpSpPr>
          <p:cNvPr id="30" name="Caja PC5"/>
          <p:cNvGrpSpPr/>
          <p:nvPr/>
        </p:nvGrpSpPr>
        <p:grpSpPr>
          <a:xfrm>
            <a:off x="8549640" y="1097280"/>
            <a:ext cx="3383280" cy="3291840"/>
            <a:chOff x="8549640" y="1097280"/>
            <a:chExt cx="3383280" cy="3291840"/>
          </a:xfrm>
        </p:grpSpPr>
        <p:sp>
          <p:nvSpPr>
            <p:cNvPr id="31" name="Forma 30"/>
            <p:cNvSpPr/>
            <p:nvPr/>
          </p:nvSpPr>
          <p:spPr>
            <a:xfrm>
              <a:off x="8549640" y="1298448"/>
              <a:ext cx="3383280" cy="309067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la pancreatitis los zimógenos se activan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dentro del propio páncreas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, antes de llegar al duodeno. Causa descripta: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obstrucción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del conducto (litiasis, alcohol, tumor).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8677656" y="1097280"/>
              <a:ext cx="2304937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ACTIVACIÓN PREMATURA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ALTERACIÓN DE LA ACTIVACIÓN: TRIPSINA DENTRO DE LA CÉLULA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3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6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" dur="3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30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3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6" grpId="0" animBg="1"/>
      <p:bldP spid="28" grpId="0" animBg="1"/>
      <p:bldP spid="29" grpId="0" animBg="1"/>
    </p:bld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5760720" y="5212080"/>
            <a:ext cx="2194560" cy="921715"/>
            <a:chOff x="5760720" y="5212080"/>
            <a:chExt cx="2194560" cy="921715"/>
          </a:xfrm>
        </p:grpSpPr>
        <p:sp>
          <p:nvSpPr>
            <p:cNvPr id="6" name="Forma 5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CelulaAcinar"/>
          <p:cNvGrpSpPr/>
          <p:nvPr/>
        </p:nvGrpSpPr>
        <p:grpSpPr>
          <a:xfrm>
            <a:off x="1097280" y="1097280"/>
            <a:ext cx="3840480" cy="4572000"/>
            <a:chOff x="1097280" y="1097280"/>
            <a:chExt cx="3840480" cy="4572000"/>
          </a:xfrm>
        </p:grpSpPr>
        <p:sp>
          <p:nvSpPr>
            <p:cNvPr id="11" name="Membrana acinar"/>
            <p:cNvSpPr/>
            <p:nvPr/>
          </p:nvSpPr>
          <p:spPr>
            <a:xfrm>
              <a:off x="1097280" y="1097280"/>
              <a:ext cx="3840480" cy="45720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0" y="1000"/>
                  </a:moveTo>
                  <a:lnTo>
                    <a:pt x="940" y="1000"/>
                  </a:lnTo>
                  <a:cubicBezTo>
                    <a:pt x="900" y="700"/>
                    <a:pt x="780" y="200"/>
                    <a:pt x="640" y="40"/>
                  </a:cubicBezTo>
                  <a:lnTo>
                    <a:pt x="360" y="40"/>
                  </a:lnTo>
                  <a:cubicBezTo>
                    <a:pt x="220" y="200"/>
                    <a:pt x="100" y="700"/>
                    <a:pt x="6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8BBD0"/>
                </a:gs>
              </a:gsLst>
              <a:lin ang="5400000" scaled="0"/>
            </a:gradFill>
            <a:ln w="28575" cap="rnd">
              <a:solidFill>
                <a:srgbClr val="880E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grpSp>
          <p:nvGrpSpPr>
            <p:cNvPr id="12" name="Retículo endoplasmático"/>
            <p:cNvGrpSpPr/>
            <p:nvPr/>
          </p:nvGrpSpPr>
          <p:grpSpPr>
            <a:xfrm>
              <a:off x="1865376" y="4100170"/>
              <a:ext cx="2304288" cy="530352"/>
              <a:chOff x="1865376" y="4100170"/>
              <a:chExt cx="2304288" cy="530352"/>
            </a:xfrm>
          </p:grpSpPr>
          <p:sp>
            <p:nvSpPr>
              <p:cNvPr id="13" name="Forma 12"/>
              <p:cNvSpPr/>
              <p:nvPr/>
            </p:nvSpPr>
            <p:spPr>
              <a:xfrm>
                <a:off x="1865376" y="411480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1865376" y="410017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1865376" y="429768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1865376" y="428305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7" name="Forma 16"/>
              <p:cNvSpPr/>
              <p:nvPr/>
            </p:nvSpPr>
            <p:spPr>
              <a:xfrm>
                <a:off x="1865376" y="448056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1865376" y="446593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19" name="Núcleo basal"/>
            <p:cNvGrpSpPr/>
            <p:nvPr/>
          </p:nvGrpSpPr>
          <p:grpSpPr>
            <a:xfrm>
              <a:off x="2479853" y="4663440"/>
              <a:ext cx="1075334" cy="967801"/>
              <a:chOff x="2479853" y="4663440"/>
              <a:chExt cx="1075334" cy="967801"/>
            </a:xfrm>
          </p:grpSpPr>
          <p:sp>
            <p:nvSpPr>
              <p:cNvPr id="20" name="Forma 19"/>
              <p:cNvSpPr/>
              <p:nvPr/>
            </p:nvSpPr>
            <p:spPr>
              <a:xfrm>
                <a:off x="2479853" y="4663440"/>
                <a:ext cx="1075334" cy="967801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21" name="Forma 20"/>
              <p:cNvSpPr/>
              <p:nvPr/>
            </p:nvSpPr>
            <p:spPr>
              <a:xfrm>
                <a:off x="3039027" y="4986040"/>
                <a:ext cx="236574" cy="215067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</p:grpSp>
      <p:sp>
        <p:nvSpPr>
          <p:cNvPr id="22" name="!!Daño celular"/>
          <p:cNvSpPr/>
          <p:nvPr/>
        </p:nvSpPr>
        <p:spPr>
          <a:xfrm>
            <a:off x="1097280" y="1097280"/>
            <a:ext cx="3840480" cy="4572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0" y="1000"/>
                </a:moveTo>
                <a:lnTo>
                  <a:pt x="940" y="1000"/>
                </a:lnTo>
                <a:cubicBezTo>
                  <a:pt x="900" y="700"/>
                  <a:pt x="780" y="200"/>
                  <a:pt x="640" y="40"/>
                </a:cubicBezTo>
                <a:lnTo>
                  <a:pt x="360" y="40"/>
                </a:lnTo>
                <a:cubicBezTo>
                  <a:pt x="220" y="200"/>
                  <a:pt x="100" y="700"/>
                  <a:pt x="60" y="1000"/>
                </a:cubicBezTo>
                <a:close/>
              </a:path>
            </a:pathLst>
          </a:custGeom>
          <a:solidFill>
            <a:srgbClr val="4A235A">
              <a:alpha val="50000"/>
            </a:srgbClr>
          </a:solidFill>
          <a:ln w="25400" cap="rnd">
            <a:solidFill>
              <a:srgbClr val="1B0E24"/>
            </a:solidFill>
            <a:prstDash val="dash"/>
            <a:round/>
          </a:ln>
        </p:spPr>
      </p:sp>
      <p:sp>
        <p:nvSpPr>
          <p:cNvPr id="23" name="!!Zimogeno 1"/>
          <p:cNvSpPr/>
          <p:nvPr/>
        </p:nvSpPr>
        <p:spPr>
          <a:xfrm>
            <a:off x="2633472" y="17830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4" name="!!Zimogeno 2"/>
          <p:cNvSpPr/>
          <p:nvPr/>
        </p:nvSpPr>
        <p:spPr>
          <a:xfrm>
            <a:off x="3094330" y="21031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5" name="!!Zimogeno 3"/>
          <p:cNvSpPr/>
          <p:nvPr/>
        </p:nvSpPr>
        <p:spPr>
          <a:xfrm>
            <a:off x="2825496" y="25603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6" name="!!Zimogeno 4"/>
          <p:cNvSpPr/>
          <p:nvPr/>
        </p:nvSpPr>
        <p:spPr>
          <a:xfrm>
            <a:off x="3324758" y="274320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7" name="!!Zimogeno 5"/>
          <p:cNvSpPr/>
          <p:nvPr/>
        </p:nvSpPr>
        <p:spPr>
          <a:xfrm>
            <a:off x="2556662" y="31546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8" name="!!Zimogeno 6"/>
          <p:cNvSpPr/>
          <p:nvPr/>
        </p:nvSpPr>
        <p:spPr>
          <a:xfrm>
            <a:off x="3094330" y="33832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9" name="!!Zimogeno 7"/>
          <p:cNvSpPr/>
          <p:nvPr/>
        </p:nvSpPr>
        <p:spPr>
          <a:xfrm>
            <a:off x="3478378" y="23317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grpSp>
        <p:nvGrpSpPr>
          <p:cNvPr id="30" name="Caja PC6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31" name="Forma 30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FDE4E4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enzimas activas digieren el propio tejido: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autodigestión → necrosis pancreática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8677656" y="1097280"/>
              <a:ext cx="1512067" cy="384048"/>
            </a:xfrm>
            <a:prstGeom prst="rect">
              <a:avLst/>
            </a:prstGeom>
            <a:solidFill>
              <a:srgbClr val="C00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DAÑO CELULAR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41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7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AUTODIGESTIÓN Y DAÑO CELULAR</a:t>
            </a:r>
            <a:endParaRPr lang="es-AR" sz="27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249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5760720" y="5212080"/>
            <a:ext cx="2194560" cy="921715"/>
            <a:chOff x="5760720" y="5212080"/>
            <a:chExt cx="2194560" cy="921715"/>
          </a:xfrm>
        </p:grpSpPr>
        <p:sp>
          <p:nvSpPr>
            <p:cNvPr id="6" name="Forma 5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CelulaAcinar"/>
          <p:cNvGrpSpPr/>
          <p:nvPr/>
        </p:nvGrpSpPr>
        <p:grpSpPr>
          <a:xfrm>
            <a:off x="1097280" y="1097280"/>
            <a:ext cx="3840480" cy="4572000"/>
            <a:chOff x="1097280" y="1097280"/>
            <a:chExt cx="3840480" cy="4572000"/>
          </a:xfrm>
        </p:grpSpPr>
        <p:sp>
          <p:nvSpPr>
            <p:cNvPr id="11" name="Membrana acinar"/>
            <p:cNvSpPr/>
            <p:nvPr/>
          </p:nvSpPr>
          <p:spPr>
            <a:xfrm>
              <a:off x="1097280" y="1097280"/>
              <a:ext cx="3840480" cy="45720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0" y="1000"/>
                  </a:moveTo>
                  <a:lnTo>
                    <a:pt x="940" y="1000"/>
                  </a:lnTo>
                  <a:cubicBezTo>
                    <a:pt x="900" y="700"/>
                    <a:pt x="780" y="200"/>
                    <a:pt x="640" y="40"/>
                  </a:cubicBezTo>
                  <a:lnTo>
                    <a:pt x="360" y="40"/>
                  </a:lnTo>
                  <a:cubicBezTo>
                    <a:pt x="220" y="200"/>
                    <a:pt x="100" y="700"/>
                    <a:pt x="6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8BBD0"/>
                </a:gs>
              </a:gsLst>
              <a:lin ang="5400000" scaled="0"/>
            </a:gradFill>
            <a:ln w="28575" cap="rnd">
              <a:solidFill>
                <a:srgbClr val="880E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grpSp>
          <p:nvGrpSpPr>
            <p:cNvPr id="12" name="Retículo endoplasmático"/>
            <p:cNvGrpSpPr/>
            <p:nvPr/>
          </p:nvGrpSpPr>
          <p:grpSpPr>
            <a:xfrm>
              <a:off x="1865376" y="4100170"/>
              <a:ext cx="2304288" cy="530352"/>
              <a:chOff x="1865376" y="4100170"/>
              <a:chExt cx="2304288" cy="530352"/>
            </a:xfrm>
          </p:grpSpPr>
          <p:sp>
            <p:nvSpPr>
              <p:cNvPr id="13" name="Forma 12"/>
              <p:cNvSpPr/>
              <p:nvPr/>
            </p:nvSpPr>
            <p:spPr>
              <a:xfrm>
                <a:off x="1865376" y="411480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1865376" y="410017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1865376" y="429768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1865376" y="428305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7" name="Forma 16"/>
              <p:cNvSpPr/>
              <p:nvPr/>
            </p:nvSpPr>
            <p:spPr>
              <a:xfrm>
                <a:off x="1865376" y="448056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1865376" y="446593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19" name="Núcleo basal"/>
            <p:cNvGrpSpPr/>
            <p:nvPr/>
          </p:nvGrpSpPr>
          <p:grpSpPr>
            <a:xfrm>
              <a:off x="2479853" y="4663440"/>
              <a:ext cx="1075334" cy="967801"/>
              <a:chOff x="2479853" y="4663440"/>
              <a:chExt cx="1075334" cy="967801"/>
            </a:xfrm>
          </p:grpSpPr>
          <p:sp>
            <p:nvSpPr>
              <p:cNvPr id="20" name="Forma 19"/>
              <p:cNvSpPr/>
              <p:nvPr/>
            </p:nvSpPr>
            <p:spPr>
              <a:xfrm>
                <a:off x="2479853" y="4663440"/>
                <a:ext cx="1075334" cy="967801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21" name="Forma 20"/>
              <p:cNvSpPr/>
              <p:nvPr/>
            </p:nvSpPr>
            <p:spPr>
              <a:xfrm>
                <a:off x="3039027" y="4986040"/>
                <a:ext cx="236574" cy="215067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</p:grpSp>
      <p:sp>
        <p:nvSpPr>
          <p:cNvPr id="22" name="!!Daño celular"/>
          <p:cNvSpPr/>
          <p:nvPr/>
        </p:nvSpPr>
        <p:spPr>
          <a:xfrm>
            <a:off x="1097280" y="1097280"/>
            <a:ext cx="3840480" cy="4572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0" y="1000"/>
                </a:moveTo>
                <a:lnTo>
                  <a:pt x="940" y="1000"/>
                </a:lnTo>
                <a:cubicBezTo>
                  <a:pt x="900" y="700"/>
                  <a:pt x="780" y="200"/>
                  <a:pt x="640" y="40"/>
                </a:cubicBezTo>
                <a:lnTo>
                  <a:pt x="360" y="40"/>
                </a:lnTo>
                <a:cubicBezTo>
                  <a:pt x="220" y="200"/>
                  <a:pt x="100" y="700"/>
                  <a:pt x="60" y="1000"/>
                </a:cubicBezTo>
                <a:close/>
              </a:path>
            </a:pathLst>
          </a:custGeom>
          <a:solidFill>
            <a:srgbClr val="4A235A">
              <a:alpha val="50000"/>
            </a:srgbClr>
          </a:solidFill>
          <a:ln w="25400" cap="rnd">
            <a:solidFill>
              <a:srgbClr val="1B0E24"/>
            </a:solidFill>
            <a:prstDash val="dash"/>
            <a:round/>
          </a:ln>
        </p:spPr>
      </p:sp>
      <p:sp>
        <p:nvSpPr>
          <p:cNvPr id="23" name="!!Zimogeno 1"/>
          <p:cNvSpPr/>
          <p:nvPr/>
        </p:nvSpPr>
        <p:spPr>
          <a:xfrm>
            <a:off x="2633472" y="17830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4" name="!!Zimogeno 2"/>
          <p:cNvSpPr/>
          <p:nvPr/>
        </p:nvSpPr>
        <p:spPr>
          <a:xfrm>
            <a:off x="3094330" y="21031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5" name="!!Zimogeno 3"/>
          <p:cNvSpPr/>
          <p:nvPr/>
        </p:nvSpPr>
        <p:spPr>
          <a:xfrm>
            <a:off x="2825496" y="25603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6" name="!!Zimogeno 4"/>
          <p:cNvSpPr/>
          <p:nvPr/>
        </p:nvSpPr>
        <p:spPr>
          <a:xfrm>
            <a:off x="3324758" y="274320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7" name="!!Zimogeno 5"/>
          <p:cNvSpPr/>
          <p:nvPr/>
        </p:nvSpPr>
        <p:spPr>
          <a:xfrm>
            <a:off x="2556662" y="31546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8" name="!!Zimogeno 6"/>
          <p:cNvSpPr/>
          <p:nvPr/>
        </p:nvSpPr>
        <p:spPr>
          <a:xfrm>
            <a:off x="3094330" y="33832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9" name="!!Zimogeno 7"/>
          <p:cNvSpPr/>
          <p:nvPr/>
        </p:nvSpPr>
        <p:spPr>
          <a:xfrm>
            <a:off x="3478378" y="23317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grpSp>
        <p:nvGrpSpPr>
          <p:cNvPr id="30" name="!!Leucocito 1"/>
          <p:cNvGrpSpPr/>
          <p:nvPr/>
        </p:nvGrpSpPr>
        <p:grpSpPr>
          <a:xfrm>
            <a:off x="5120640" y="1280160"/>
            <a:ext cx="731520" cy="731520"/>
            <a:chOff x="5120640" y="1280160"/>
            <a:chExt cx="731520" cy="731520"/>
          </a:xfrm>
        </p:grpSpPr>
        <p:sp>
          <p:nvSpPr>
            <p:cNvPr id="31" name="Forma 30"/>
            <p:cNvSpPr/>
            <p:nvPr/>
          </p:nvSpPr>
          <p:spPr>
            <a:xfrm>
              <a:off x="5120640" y="128016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F9F0F5"/>
                </a:gs>
                <a:gs pos="55000">
                  <a:srgbClr val="F5E6EF"/>
                </a:gs>
                <a:gs pos="100000">
                  <a:srgbClr val="D7CAD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D3C98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32" name="Forma 31"/>
            <p:cNvSpPr/>
            <p:nvPr/>
          </p:nvSpPr>
          <p:spPr>
            <a:xfrm>
              <a:off x="5120640" y="128016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66" y="741"/>
                  </a:moveTo>
                  <a:cubicBezTo>
                    <a:pt x="666" y="753"/>
                    <a:pt x="656" y="763"/>
                    <a:pt x="644" y="763"/>
                  </a:cubicBezTo>
                  <a:cubicBezTo>
                    <a:pt x="631" y="763"/>
                    <a:pt x="622" y="753"/>
                    <a:pt x="622" y="741"/>
                  </a:cubicBezTo>
                  <a:cubicBezTo>
                    <a:pt x="622" y="728"/>
                    <a:pt x="631" y="719"/>
                    <a:pt x="644" y="719"/>
                  </a:cubicBezTo>
                  <a:cubicBezTo>
                    <a:pt x="656" y="719"/>
                    <a:pt x="666" y="728"/>
                    <a:pt x="666" y="741"/>
                  </a:cubicBezTo>
                  <a:close/>
                  <a:moveTo>
                    <a:pt x="390" y="623"/>
                  </a:moveTo>
                  <a:cubicBezTo>
                    <a:pt x="390" y="639"/>
                    <a:pt x="377" y="652"/>
                    <a:pt x="361" y="652"/>
                  </a:cubicBezTo>
                  <a:cubicBezTo>
                    <a:pt x="344" y="652"/>
                    <a:pt x="332" y="639"/>
                    <a:pt x="332" y="623"/>
                  </a:cubicBezTo>
                  <a:cubicBezTo>
                    <a:pt x="332" y="606"/>
                    <a:pt x="344" y="594"/>
                    <a:pt x="361" y="594"/>
                  </a:cubicBezTo>
                  <a:cubicBezTo>
                    <a:pt x="377" y="594"/>
                    <a:pt x="390" y="606"/>
                    <a:pt x="390" y="623"/>
                  </a:cubicBezTo>
                  <a:close/>
                  <a:moveTo>
                    <a:pt x="468" y="819"/>
                  </a:moveTo>
                  <a:cubicBezTo>
                    <a:pt x="468" y="837"/>
                    <a:pt x="452" y="853"/>
                    <a:pt x="434" y="853"/>
                  </a:cubicBezTo>
                  <a:cubicBezTo>
                    <a:pt x="415" y="853"/>
                    <a:pt x="400" y="837"/>
                    <a:pt x="400" y="819"/>
                  </a:cubicBezTo>
                  <a:cubicBezTo>
                    <a:pt x="400" y="800"/>
                    <a:pt x="415" y="785"/>
                    <a:pt x="434" y="785"/>
                  </a:cubicBezTo>
                  <a:cubicBezTo>
                    <a:pt x="452" y="785"/>
                    <a:pt x="468" y="800"/>
                    <a:pt x="468" y="819"/>
                  </a:cubicBezTo>
                  <a:close/>
                  <a:moveTo>
                    <a:pt x="674" y="485"/>
                  </a:moveTo>
                  <a:cubicBezTo>
                    <a:pt x="674" y="497"/>
                    <a:pt x="663" y="508"/>
                    <a:pt x="651" y="508"/>
                  </a:cubicBezTo>
                  <a:cubicBezTo>
                    <a:pt x="638" y="508"/>
                    <a:pt x="628" y="497"/>
                    <a:pt x="628" y="485"/>
                  </a:cubicBezTo>
                  <a:cubicBezTo>
                    <a:pt x="628" y="472"/>
                    <a:pt x="638" y="462"/>
                    <a:pt x="651" y="462"/>
                  </a:cubicBezTo>
                  <a:cubicBezTo>
                    <a:pt x="663" y="462"/>
                    <a:pt x="674" y="472"/>
                    <a:pt x="674" y="485"/>
                  </a:cubicBezTo>
                  <a:close/>
                  <a:moveTo>
                    <a:pt x="427" y="519"/>
                  </a:moveTo>
                  <a:cubicBezTo>
                    <a:pt x="427" y="531"/>
                    <a:pt x="417" y="541"/>
                    <a:pt x="405" y="541"/>
                  </a:cubicBezTo>
                  <a:cubicBezTo>
                    <a:pt x="392" y="541"/>
                    <a:pt x="383" y="531"/>
                    <a:pt x="383" y="519"/>
                  </a:cubicBezTo>
                  <a:cubicBezTo>
                    <a:pt x="383" y="506"/>
                    <a:pt x="392" y="497"/>
                    <a:pt x="405" y="497"/>
                  </a:cubicBezTo>
                  <a:cubicBezTo>
                    <a:pt x="417" y="497"/>
                    <a:pt x="427" y="506"/>
                    <a:pt x="427" y="519"/>
                  </a:cubicBezTo>
                  <a:close/>
                  <a:moveTo>
                    <a:pt x="611" y="292"/>
                  </a:moveTo>
                  <a:cubicBezTo>
                    <a:pt x="611" y="309"/>
                    <a:pt x="597" y="323"/>
                    <a:pt x="580" y="323"/>
                  </a:cubicBezTo>
                  <a:cubicBezTo>
                    <a:pt x="562" y="323"/>
                    <a:pt x="549" y="309"/>
                    <a:pt x="549" y="292"/>
                  </a:cubicBezTo>
                  <a:cubicBezTo>
                    <a:pt x="549" y="274"/>
                    <a:pt x="562" y="261"/>
                    <a:pt x="580" y="261"/>
                  </a:cubicBezTo>
                  <a:cubicBezTo>
                    <a:pt x="597" y="261"/>
                    <a:pt x="611" y="274"/>
                    <a:pt x="611" y="292"/>
                  </a:cubicBezTo>
                  <a:close/>
                  <a:moveTo>
                    <a:pt x="541" y="540"/>
                  </a:moveTo>
                  <a:cubicBezTo>
                    <a:pt x="541" y="555"/>
                    <a:pt x="528" y="568"/>
                    <a:pt x="513" y="568"/>
                  </a:cubicBezTo>
                  <a:cubicBezTo>
                    <a:pt x="497" y="568"/>
                    <a:pt x="485" y="555"/>
                    <a:pt x="485" y="540"/>
                  </a:cubicBezTo>
                  <a:cubicBezTo>
                    <a:pt x="485" y="524"/>
                    <a:pt x="497" y="512"/>
                    <a:pt x="513" y="512"/>
                  </a:cubicBezTo>
                  <a:cubicBezTo>
                    <a:pt x="528" y="512"/>
                    <a:pt x="541" y="524"/>
                    <a:pt x="541" y="540"/>
                  </a:cubicBezTo>
                  <a:close/>
                  <a:moveTo>
                    <a:pt x="466" y="841"/>
                  </a:moveTo>
                  <a:cubicBezTo>
                    <a:pt x="466" y="855"/>
                    <a:pt x="454" y="867"/>
                    <a:pt x="440" y="867"/>
                  </a:cubicBezTo>
                  <a:cubicBezTo>
                    <a:pt x="425" y="867"/>
                    <a:pt x="414" y="855"/>
                    <a:pt x="414" y="841"/>
                  </a:cubicBezTo>
                  <a:cubicBezTo>
                    <a:pt x="414" y="826"/>
                    <a:pt x="425" y="815"/>
                    <a:pt x="440" y="815"/>
                  </a:cubicBezTo>
                  <a:cubicBezTo>
                    <a:pt x="454" y="815"/>
                    <a:pt x="466" y="826"/>
                    <a:pt x="466" y="841"/>
                  </a:cubicBezTo>
                  <a:close/>
                  <a:moveTo>
                    <a:pt x="649" y="328"/>
                  </a:moveTo>
                  <a:cubicBezTo>
                    <a:pt x="649" y="345"/>
                    <a:pt x="634" y="360"/>
                    <a:pt x="617" y="360"/>
                  </a:cubicBezTo>
                  <a:cubicBezTo>
                    <a:pt x="599" y="360"/>
                    <a:pt x="585" y="345"/>
                    <a:pt x="585" y="328"/>
                  </a:cubicBezTo>
                  <a:cubicBezTo>
                    <a:pt x="585" y="310"/>
                    <a:pt x="599" y="296"/>
                    <a:pt x="617" y="296"/>
                  </a:cubicBezTo>
                  <a:cubicBezTo>
                    <a:pt x="634" y="296"/>
                    <a:pt x="649" y="310"/>
                    <a:pt x="649" y="328"/>
                  </a:cubicBezTo>
                  <a:close/>
                  <a:moveTo>
                    <a:pt x="487" y="827"/>
                  </a:moveTo>
                  <a:cubicBezTo>
                    <a:pt x="487" y="841"/>
                    <a:pt x="474" y="854"/>
                    <a:pt x="460" y="854"/>
                  </a:cubicBezTo>
                  <a:cubicBezTo>
                    <a:pt x="445" y="854"/>
                    <a:pt x="433" y="841"/>
                    <a:pt x="433" y="827"/>
                  </a:cubicBezTo>
                  <a:cubicBezTo>
                    <a:pt x="433" y="812"/>
                    <a:pt x="445" y="800"/>
                    <a:pt x="460" y="800"/>
                  </a:cubicBezTo>
                  <a:cubicBezTo>
                    <a:pt x="474" y="800"/>
                    <a:pt x="487" y="812"/>
                    <a:pt x="487" y="827"/>
                  </a:cubicBezTo>
                  <a:close/>
                  <a:moveTo>
                    <a:pt x="320" y="617"/>
                  </a:moveTo>
                  <a:cubicBezTo>
                    <a:pt x="320" y="635"/>
                    <a:pt x="304" y="651"/>
                    <a:pt x="286" y="651"/>
                  </a:cubicBezTo>
                  <a:cubicBezTo>
                    <a:pt x="267" y="651"/>
                    <a:pt x="252" y="635"/>
                    <a:pt x="252" y="617"/>
                  </a:cubicBezTo>
                  <a:cubicBezTo>
                    <a:pt x="252" y="598"/>
                    <a:pt x="267" y="583"/>
                    <a:pt x="286" y="583"/>
                  </a:cubicBezTo>
                  <a:cubicBezTo>
                    <a:pt x="304" y="583"/>
                    <a:pt x="320" y="598"/>
                    <a:pt x="320" y="617"/>
                  </a:cubicBezTo>
                  <a:close/>
                  <a:moveTo>
                    <a:pt x="426" y="600"/>
                  </a:moveTo>
                  <a:cubicBezTo>
                    <a:pt x="426" y="617"/>
                    <a:pt x="412" y="631"/>
                    <a:pt x="395" y="631"/>
                  </a:cubicBezTo>
                  <a:cubicBezTo>
                    <a:pt x="377" y="631"/>
                    <a:pt x="364" y="617"/>
                    <a:pt x="364" y="600"/>
                  </a:cubicBezTo>
                  <a:cubicBezTo>
                    <a:pt x="364" y="582"/>
                    <a:pt x="377" y="569"/>
                    <a:pt x="395" y="569"/>
                  </a:cubicBezTo>
                  <a:cubicBezTo>
                    <a:pt x="412" y="569"/>
                    <a:pt x="426" y="582"/>
                    <a:pt x="426" y="600"/>
                  </a:cubicBezTo>
                  <a:close/>
                  <a:moveTo>
                    <a:pt x="565" y="195"/>
                  </a:moveTo>
                  <a:cubicBezTo>
                    <a:pt x="565" y="212"/>
                    <a:pt x="551" y="226"/>
                    <a:pt x="534" y="226"/>
                  </a:cubicBezTo>
                  <a:cubicBezTo>
                    <a:pt x="516" y="226"/>
                    <a:pt x="503" y="212"/>
                    <a:pt x="503" y="195"/>
                  </a:cubicBezTo>
                  <a:cubicBezTo>
                    <a:pt x="503" y="177"/>
                    <a:pt x="516" y="164"/>
                    <a:pt x="534" y="164"/>
                  </a:cubicBezTo>
                  <a:cubicBezTo>
                    <a:pt x="551" y="164"/>
                    <a:pt x="565" y="177"/>
                    <a:pt x="565" y="195"/>
                  </a:cubicBezTo>
                  <a:close/>
                  <a:moveTo>
                    <a:pt x="379" y="460"/>
                  </a:moveTo>
                  <a:cubicBezTo>
                    <a:pt x="379" y="476"/>
                    <a:pt x="365" y="490"/>
                    <a:pt x="349" y="490"/>
                  </a:cubicBezTo>
                  <a:cubicBezTo>
                    <a:pt x="332" y="490"/>
                    <a:pt x="319" y="476"/>
                    <a:pt x="319" y="460"/>
                  </a:cubicBezTo>
                  <a:cubicBezTo>
                    <a:pt x="319" y="443"/>
                    <a:pt x="332" y="430"/>
                    <a:pt x="349" y="430"/>
                  </a:cubicBezTo>
                  <a:cubicBezTo>
                    <a:pt x="365" y="430"/>
                    <a:pt x="379" y="443"/>
                    <a:pt x="379" y="460"/>
                  </a:cubicBezTo>
                  <a:close/>
                  <a:moveTo>
                    <a:pt x="551" y="395"/>
                  </a:moveTo>
                  <a:cubicBezTo>
                    <a:pt x="551" y="409"/>
                    <a:pt x="538" y="422"/>
                    <a:pt x="524" y="422"/>
                  </a:cubicBezTo>
                  <a:cubicBezTo>
                    <a:pt x="509" y="422"/>
                    <a:pt x="497" y="409"/>
                    <a:pt x="497" y="395"/>
                  </a:cubicBezTo>
                  <a:cubicBezTo>
                    <a:pt x="497" y="380"/>
                    <a:pt x="509" y="368"/>
                    <a:pt x="524" y="368"/>
                  </a:cubicBezTo>
                  <a:cubicBezTo>
                    <a:pt x="538" y="368"/>
                    <a:pt x="551" y="380"/>
                    <a:pt x="551" y="395"/>
                  </a:cubicBezTo>
                  <a:close/>
                  <a:moveTo>
                    <a:pt x="619" y="631"/>
                  </a:moveTo>
                  <a:cubicBezTo>
                    <a:pt x="619" y="643"/>
                    <a:pt x="608" y="654"/>
                    <a:pt x="596" y="654"/>
                  </a:cubicBezTo>
                  <a:cubicBezTo>
                    <a:pt x="583" y="654"/>
                    <a:pt x="573" y="643"/>
                    <a:pt x="573" y="631"/>
                  </a:cubicBezTo>
                  <a:cubicBezTo>
                    <a:pt x="573" y="618"/>
                    <a:pt x="583" y="608"/>
                    <a:pt x="596" y="608"/>
                  </a:cubicBezTo>
                  <a:cubicBezTo>
                    <a:pt x="608" y="608"/>
                    <a:pt x="619" y="618"/>
                    <a:pt x="619" y="631"/>
                  </a:cubicBezTo>
                  <a:close/>
                  <a:moveTo>
                    <a:pt x="688" y="310"/>
                  </a:moveTo>
                  <a:cubicBezTo>
                    <a:pt x="688" y="323"/>
                    <a:pt x="676" y="335"/>
                    <a:pt x="663" y="335"/>
                  </a:cubicBezTo>
                  <a:cubicBezTo>
                    <a:pt x="649" y="335"/>
                    <a:pt x="638" y="323"/>
                    <a:pt x="638" y="310"/>
                  </a:cubicBezTo>
                  <a:cubicBezTo>
                    <a:pt x="638" y="296"/>
                    <a:pt x="649" y="285"/>
                    <a:pt x="663" y="285"/>
                  </a:cubicBezTo>
                  <a:cubicBezTo>
                    <a:pt x="676" y="285"/>
                    <a:pt x="688" y="296"/>
                    <a:pt x="688" y="310"/>
                  </a:cubicBezTo>
                  <a:close/>
                  <a:moveTo>
                    <a:pt x="594" y="394"/>
                  </a:moveTo>
                  <a:cubicBezTo>
                    <a:pt x="594" y="406"/>
                    <a:pt x="584" y="416"/>
                    <a:pt x="572" y="416"/>
                  </a:cubicBezTo>
                  <a:cubicBezTo>
                    <a:pt x="559" y="416"/>
                    <a:pt x="550" y="406"/>
                    <a:pt x="550" y="394"/>
                  </a:cubicBezTo>
                  <a:cubicBezTo>
                    <a:pt x="550" y="381"/>
                    <a:pt x="559" y="372"/>
                    <a:pt x="572" y="372"/>
                  </a:cubicBezTo>
                  <a:cubicBezTo>
                    <a:pt x="584" y="372"/>
                    <a:pt x="594" y="381"/>
                    <a:pt x="594" y="394"/>
                  </a:cubicBezTo>
                  <a:close/>
                  <a:moveTo>
                    <a:pt x="208" y="658"/>
                  </a:moveTo>
                  <a:cubicBezTo>
                    <a:pt x="208" y="672"/>
                    <a:pt x="196" y="684"/>
                    <a:pt x="182" y="684"/>
                  </a:cubicBezTo>
                  <a:cubicBezTo>
                    <a:pt x="167" y="684"/>
                    <a:pt x="156" y="672"/>
                    <a:pt x="156" y="658"/>
                  </a:cubicBezTo>
                  <a:cubicBezTo>
                    <a:pt x="156" y="643"/>
                    <a:pt x="167" y="632"/>
                    <a:pt x="182" y="632"/>
                  </a:cubicBezTo>
                  <a:cubicBezTo>
                    <a:pt x="196" y="632"/>
                    <a:pt x="208" y="643"/>
                    <a:pt x="208" y="658"/>
                  </a:cubicBezTo>
                  <a:close/>
                  <a:moveTo>
                    <a:pt x="720" y="232"/>
                  </a:moveTo>
                  <a:cubicBezTo>
                    <a:pt x="720" y="245"/>
                    <a:pt x="709" y="256"/>
                    <a:pt x="696" y="256"/>
                  </a:cubicBezTo>
                  <a:cubicBezTo>
                    <a:pt x="682" y="256"/>
                    <a:pt x="672" y="245"/>
                    <a:pt x="672" y="232"/>
                  </a:cubicBezTo>
                  <a:cubicBezTo>
                    <a:pt x="672" y="218"/>
                    <a:pt x="682" y="208"/>
                    <a:pt x="696" y="208"/>
                  </a:cubicBezTo>
                  <a:cubicBezTo>
                    <a:pt x="709" y="208"/>
                    <a:pt x="720" y="218"/>
                    <a:pt x="720" y="232"/>
                  </a:cubicBezTo>
                  <a:close/>
                  <a:moveTo>
                    <a:pt x="570" y="730"/>
                  </a:moveTo>
                  <a:cubicBezTo>
                    <a:pt x="570" y="744"/>
                    <a:pt x="557" y="757"/>
                    <a:pt x="543" y="757"/>
                  </a:cubicBezTo>
                  <a:cubicBezTo>
                    <a:pt x="528" y="757"/>
                    <a:pt x="516" y="744"/>
                    <a:pt x="516" y="730"/>
                  </a:cubicBezTo>
                  <a:cubicBezTo>
                    <a:pt x="516" y="715"/>
                    <a:pt x="528" y="703"/>
                    <a:pt x="543" y="703"/>
                  </a:cubicBezTo>
                  <a:cubicBezTo>
                    <a:pt x="557" y="703"/>
                    <a:pt x="570" y="715"/>
                    <a:pt x="570" y="730"/>
                  </a:cubicBezTo>
                  <a:close/>
                  <a:moveTo>
                    <a:pt x="788" y="303"/>
                  </a:moveTo>
                  <a:cubicBezTo>
                    <a:pt x="788" y="315"/>
                    <a:pt x="777" y="326"/>
                    <a:pt x="765" y="326"/>
                  </a:cubicBezTo>
                  <a:cubicBezTo>
                    <a:pt x="752" y="326"/>
                    <a:pt x="742" y="315"/>
                    <a:pt x="742" y="303"/>
                  </a:cubicBezTo>
                  <a:cubicBezTo>
                    <a:pt x="742" y="290"/>
                    <a:pt x="752" y="280"/>
                    <a:pt x="765" y="280"/>
                  </a:cubicBezTo>
                  <a:cubicBezTo>
                    <a:pt x="777" y="280"/>
                    <a:pt x="788" y="290"/>
                    <a:pt x="788" y="303"/>
                  </a:cubicBezTo>
                  <a:close/>
                  <a:moveTo>
                    <a:pt x="272" y="602"/>
                  </a:moveTo>
                  <a:cubicBezTo>
                    <a:pt x="272" y="615"/>
                    <a:pt x="261" y="626"/>
                    <a:pt x="248" y="626"/>
                  </a:cubicBezTo>
                  <a:cubicBezTo>
                    <a:pt x="234" y="626"/>
                    <a:pt x="224" y="615"/>
                    <a:pt x="224" y="602"/>
                  </a:cubicBezTo>
                  <a:cubicBezTo>
                    <a:pt x="224" y="588"/>
                    <a:pt x="234" y="578"/>
                    <a:pt x="248" y="578"/>
                  </a:cubicBezTo>
                  <a:cubicBezTo>
                    <a:pt x="261" y="578"/>
                    <a:pt x="272" y="588"/>
                    <a:pt x="272" y="602"/>
                  </a:cubicBezTo>
                  <a:close/>
                  <a:moveTo>
                    <a:pt x="373" y="507"/>
                  </a:moveTo>
                  <a:cubicBezTo>
                    <a:pt x="373" y="522"/>
                    <a:pt x="360" y="535"/>
                    <a:pt x="345" y="535"/>
                  </a:cubicBezTo>
                  <a:cubicBezTo>
                    <a:pt x="329" y="535"/>
                    <a:pt x="317" y="522"/>
                    <a:pt x="317" y="507"/>
                  </a:cubicBezTo>
                  <a:cubicBezTo>
                    <a:pt x="317" y="491"/>
                    <a:pt x="329" y="479"/>
                    <a:pt x="345" y="479"/>
                  </a:cubicBezTo>
                  <a:cubicBezTo>
                    <a:pt x="360" y="479"/>
                    <a:pt x="373" y="491"/>
                    <a:pt x="373" y="507"/>
                  </a:cubicBezTo>
                  <a:close/>
                  <a:moveTo>
                    <a:pt x="599" y="606"/>
                  </a:moveTo>
                  <a:cubicBezTo>
                    <a:pt x="599" y="619"/>
                    <a:pt x="587" y="631"/>
                    <a:pt x="574" y="631"/>
                  </a:cubicBezTo>
                  <a:cubicBezTo>
                    <a:pt x="560" y="631"/>
                    <a:pt x="549" y="619"/>
                    <a:pt x="549" y="606"/>
                  </a:cubicBezTo>
                  <a:cubicBezTo>
                    <a:pt x="549" y="592"/>
                    <a:pt x="560" y="581"/>
                    <a:pt x="574" y="581"/>
                  </a:cubicBezTo>
                  <a:cubicBezTo>
                    <a:pt x="587" y="581"/>
                    <a:pt x="599" y="592"/>
                    <a:pt x="599" y="606"/>
                  </a:cubicBezTo>
                  <a:close/>
                  <a:moveTo>
                    <a:pt x="871" y="431"/>
                  </a:moveTo>
                  <a:cubicBezTo>
                    <a:pt x="871" y="444"/>
                    <a:pt x="860" y="455"/>
                    <a:pt x="847" y="455"/>
                  </a:cubicBezTo>
                  <a:cubicBezTo>
                    <a:pt x="833" y="455"/>
                    <a:pt x="823" y="444"/>
                    <a:pt x="823" y="431"/>
                  </a:cubicBezTo>
                  <a:cubicBezTo>
                    <a:pt x="823" y="417"/>
                    <a:pt x="833" y="407"/>
                    <a:pt x="847" y="407"/>
                  </a:cubicBezTo>
                  <a:cubicBezTo>
                    <a:pt x="860" y="407"/>
                    <a:pt x="871" y="417"/>
                    <a:pt x="871" y="431"/>
                  </a:cubicBezTo>
                  <a:close/>
                  <a:moveTo>
                    <a:pt x="806" y="684"/>
                  </a:moveTo>
                  <a:cubicBezTo>
                    <a:pt x="806" y="697"/>
                    <a:pt x="795" y="708"/>
                    <a:pt x="782" y="708"/>
                  </a:cubicBezTo>
                  <a:cubicBezTo>
                    <a:pt x="768" y="708"/>
                    <a:pt x="758" y="697"/>
                    <a:pt x="758" y="684"/>
                  </a:cubicBezTo>
                  <a:cubicBezTo>
                    <a:pt x="758" y="670"/>
                    <a:pt x="768" y="660"/>
                    <a:pt x="782" y="660"/>
                  </a:cubicBezTo>
                  <a:cubicBezTo>
                    <a:pt x="795" y="660"/>
                    <a:pt x="806" y="670"/>
                    <a:pt x="806" y="684"/>
                  </a:cubicBezTo>
                  <a:close/>
                  <a:moveTo>
                    <a:pt x="301" y="423"/>
                  </a:moveTo>
                  <a:cubicBezTo>
                    <a:pt x="301" y="439"/>
                    <a:pt x="288" y="452"/>
                    <a:pt x="272" y="452"/>
                  </a:cubicBezTo>
                  <a:cubicBezTo>
                    <a:pt x="255" y="452"/>
                    <a:pt x="243" y="439"/>
                    <a:pt x="243" y="423"/>
                  </a:cubicBezTo>
                  <a:cubicBezTo>
                    <a:pt x="243" y="406"/>
                    <a:pt x="255" y="394"/>
                    <a:pt x="272" y="394"/>
                  </a:cubicBezTo>
                  <a:cubicBezTo>
                    <a:pt x="288" y="394"/>
                    <a:pt x="301" y="406"/>
                    <a:pt x="301" y="423"/>
                  </a:cubicBezTo>
                  <a:close/>
                  <a:moveTo>
                    <a:pt x="491" y="318"/>
                  </a:moveTo>
                  <a:cubicBezTo>
                    <a:pt x="491" y="335"/>
                    <a:pt x="476" y="350"/>
                    <a:pt x="459" y="350"/>
                  </a:cubicBezTo>
                  <a:cubicBezTo>
                    <a:pt x="441" y="350"/>
                    <a:pt x="427" y="335"/>
                    <a:pt x="427" y="318"/>
                  </a:cubicBezTo>
                  <a:cubicBezTo>
                    <a:pt x="427" y="300"/>
                    <a:pt x="441" y="286"/>
                    <a:pt x="459" y="286"/>
                  </a:cubicBezTo>
                  <a:cubicBezTo>
                    <a:pt x="476" y="286"/>
                    <a:pt x="491" y="300"/>
                    <a:pt x="491" y="318"/>
                  </a:cubicBezTo>
                  <a:close/>
                  <a:moveTo>
                    <a:pt x="848" y="328"/>
                  </a:moveTo>
                  <a:cubicBezTo>
                    <a:pt x="848" y="346"/>
                    <a:pt x="832" y="362"/>
                    <a:pt x="814" y="362"/>
                  </a:cubicBezTo>
                  <a:cubicBezTo>
                    <a:pt x="795" y="362"/>
                    <a:pt x="780" y="346"/>
                    <a:pt x="780" y="328"/>
                  </a:cubicBezTo>
                  <a:cubicBezTo>
                    <a:pt x="780" y="309"/>
                    <a:pt x="795" y="294"/>
                    <a:pt x="814" y="294"/>
                  </a:cubicBezTo>
                  <a:cubicBezTo>
                    <a:pt x="832" y="294"/>
                    <a:pt x="848" y="309"/>
                    <a:pt x="848" y="328"/>
                  </a:cubicBezTo>
                  <a:close/>
                  <a:moveTo>
                    <a:pt x="364" y="641"/>
                  </a:moveTo>
                  <a:cubicBezTo>
                    <a:pt x="364" y="659"/>
                    <a:pt x="348" y="675"/>
                    <a:pt x="330" y="675"/>
                  </a:cubicBezTo>
                  <a:cubicBezTo>
                    <a:pt x="311" y="675"/>
                    <a:pt x="296" y="659"/>
                    <a:pt x="296" y="641"/>
                  </a:cubicBezTo>
                  <a:cubicBezTo>
                    <a:pt x="296" y="622"/>
                    <a:pt x="311" y="607"/>
                    <a:pt x="330" y="607"/>
                  </a:cubicBezTo>
                  <a:cubicBezTo>
                    <a:pt x="348" y="607"/>
                    <a:pt x="364" y="622"/>
                    <a:pt x="364" y="641"/>
                  </a:cubicBezTo>
                  <a:close/>
                  <a:moveTo>
                    <a:pt x="533" y="485"/>
                  </a:moveTo>
                  <a:cubicBezTo>
                    <a:pt x="533" y="500"/>
                    <a:pt x="520" y="513"/>
                    <a:pt x="505" y="513"/>
                  </a:cubicBezTo>
                  <a:cubicBezTo>
                    <a:pt x="489" y="513"/>
                    <a:pt x="477" y="500"/>
                    <a:pt x="477" y="485"/>
                  </a:cubicBezTo>
                  <a:cubicBezTo>
                    <a:pt x="477" y="469"/>
                    <a:pt x="489" y="457"/>
                    <a:pt x="505" y="457"/>
                  </a:cubicBezTo>
                  <a:cubicBezTo>
                    <a:pt x="520" y="457"/>
                    <a:pt x="533" y="469"/>
                    <a:pt x="533" y="485"/>
                  </a:cubicBezTo>
                  <a:close/>
                  <a:moveTo>
                    <a:pt x="221" y="489"/>
                  </a:moveTo>
                  <a:cubicBezTo>
                    <a:pt x="221" y="503"/>
                    <a:pt x="208" y="516"/>
                    <a:pt x="194" y="516"/>
                  </a:cubicBezTo>
                  <a:cubicBezTo>
                    <a:pt x="179" y="516"/>
                    <a:pt x="167" y="503"/>
                    <a:pt x="167" y="489"/>
                  </a:cubicBezTo>
                  <a:cubicBezTo>
                    <a:pt x="167" y="474"/>
                    <a:pt x="179" y="462"/>
                    <a:pt x="194" y="462"/>
                  </a:cubicBezTo>
                  <a:cubicBezTo>
                    <a:pt x="208" y="462"/>
                    <a:pt x="221" y="474"/>
                    <a:pt x="221" y="489"/>
                  </a:cubicBezTo>
                  <a:close/>
                </a:path>
              </a:pathLst>
            </a:custGeom>
            <a:solidFill>
              <a:srgbClr val="D7BDE2"/>
            </a:solidFill>
            <a:ln>
              <a:noFill/>
            </a:ln>
          </p:spPr>
        </p:sp>
        <p:sp>
          <p:nvSpPr>
            <p:cNvPr id="33" name="Forma 32"/>
            <p:cNvSpPr/>
            <p:nvPr/>
          </p:nvSpPr>
          <p:spPr>
            <a:xfrm>
              <a:off x="5120640" y="128016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50" y="420"/>
                  </a:moveTo>
                  <a:cubicBezTo>
                    <a:pt x="450" y="486"/>
                    <a:pt x="396" y="540"/>
                    <a:pt x="330" y="540"/>
                  </a:cubicBezTo>
                  <a:cubicBezTo>
                    <a:pt x="263" y="540"/>
                    <a:pt x="210" y="486"/>
                    <a:pt x="210" y="420"/>
                  </a:cubicBezTo>
                  <a:cubicBezTo>
                    <a:pt x="210" y="353"/>
                    <a:pt x="263" y="300"/>
                    <a:pt x="330" y="300"/>
                  </a:cubicBezTo>
                  <a:cubicBezTo>
                    <a:pt x="396" y="300"/>
                    <a:pt x="450" y="353"/>
                    <a:pt x="450" y="420"/>
                  </a:cubicBezTo>
                  <a:close/>
                  <a:moveTo>
                    <a:pt x="620" y="330"/>
                  </a:moveTo>
                  <a:cubicBezTo>
                    <a:pt x="620" y="396"/>
                    <a:pt x="566" y="450"/>
                    <a:pt x="500" y="450"/>
                  </a:cubicBezTo>
                  <a:cubicBezTo>
                    <a:pt x="433" y="450"/>
                    <a:pt x="380" y="396"/>
                    <a:pt x="380" y="330"/>
                  </a:cubicBezTo>
                  <a:cubicBezTo>
                    <a:pt x="380" y="263"/>
                    <a:pt x="433" y="210"/>
                    <a:pt x="500" y="210"/>
                  </a:cubicBezTo>
                  <a:cubicBezTo>
                    <a:pt x="566" y="210"/>
                    <a:pt x="620" y="263"/>
                    <a:pt x="620" y="330"/>
                  </a:cubicBezTo>
                  <a:close/>
                  <a:moveTo>
                    <a:pt x="780" y="450"/>
                  </a:moveTo>
                  <a:cubicBezTo>
                    <a:pt x="780" y="516"/>
                    <a:pt x="726" y="570"/>
                    <a:pt x="660" y="570"/>
                  </a:cubicBezTo>
                  <a:cubicBezTo>
                    <a:pt x="593" y="570"/>
                    <a:pt x="540" y="516"/>
                    <a:pt x="540" y="450"/>
                  </a:cubicBezTo>
                  <a:cubicBezTo>
                    <a:pt x="540" y="383"/>
                    <a:pt x="593" y="330"/>
                    <a:pt x="660" y="330"/>
                  </a:cubicBezTo>
                  <a:cubicBezTo>
                    <a:pt x="726" y="330"/>
                    <a:pt x="780" y="383"/>
                    <a:pt x="780" y="450"/>
                  </a:cubicBezTo>
                  <a:close/>
                  <a:moveTo>
                    <a:pt x="630" y="600"/>
                  </a:moveTo>
                  <a:cubicBezTo>
                    <a:pt x="630" y="660"/>
                    <a:pt x="580" y="710"/>
                    <a:pt x="520" y="710"/>
                  </a:cubicBezTo>
                  <a:cubicBezTo>
                    <a:pt x="459" y="710"/>
                    <a:pt x="410" y="660"/>
                    <a:pt x="410" y="600"/>
                  </a:cubicBezTo>
                  <a:cubicBezTo>
                    <a:pt x="410" y="539"/>
                    <a:pt x="459" y="490"/>
                    <a:pt x="520" y="490"/>
                  </a:cubicBezTo>
                  <a:cubicBezTo>
                    <a:pt x="580" y="490"/>
                    <a:pt x="630" y="539"/>
                    <a:pt x="63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59B6"/>
                </a:gs>
                <a:gs pos="100000">
                  <a:srgbClr val="5B2C6F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4A235A"/>
              </a:solidFill>
              <a:round/>
            </a:ln>
          </p:spPr>
        </p:sp>
      </p:grpSp>
      <p:grpSp>
        <p:nvGrpSpPr>
          <p:cNvPr id="34" name="!!Leucocito 2"/>
          <p:cNvGrpSpPr/>
          <p:nvPr/>
        </p:nvGrpSpPr>
        <p:grpSpPr>
          <a:xfrm>
            <a:off x="6035040" y="2057400"/>
            <a:ext cx="731520" cy="731520"/>
            <a:chOff x="6035040" y="2057400"/>
            <a:chExt cx="731520" cy="731520"/>
          </a:xfrm>
        </p:grpSpPr>
        <p:sp>
          <p:nvSpPr>
            <p:cNvPr id="35" name="Forma 34"/>
            <p:cNvSpPr/>
            <p:nvPr/>
          </p:nvSpPr>
          <p:spPr>
            <a:xfrm>
              <a:off x="6035040" y="205740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F9F0F5"/>
                </a:gs>
                <a:gs pos="55000">
                  <a:srgbClr val="F5E6EF"/>
                </a:gs>
                <a:gs pos="100000">
                  <a:srgbClr val="D7CAD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D3C98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36" name="Forma 35"/>
            <p:cNvSpPr/>
            <p:nvPr/>
          </p:nvSpPr>
          <p:spPr>
            <a:xfrm>
              <a:off x="6035040" y="205740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66" y="741"/>
                  </a:moveTo>
                  <a:cubicBezTo>
                    <a:pt x="666" y="753"/>
                    <a:pt x="656" y="763"/>
                    <a:pt x="644" y="763"/>
                  </a:cubicBezTo>
                  <a:cubicBezTo>
                    <a:pt x="631" y="763"/>
                    <a:pt x="622" y="753"/>
                    <a:pt x="622" y="741"/>
                  </a:cubicBezTo>
                  <a:cubicBezTo>
                    <a:pt x="622" y="728"/>
                    <a:pt x="631" y="719"/>
                    <a:pt x="644" y="719"/>
                  </a:cubicBezTo>
                  <a:cubicBezTo>
                    <a:pt x="656" y="719"/>
                    <a:pt x="666" y="728"/>
                    <a:pt x="666" y="741"/>
                  </a:cubicBezTo>
                  <a:close/>
                  <a:moveTo>
                    <a:pt x="390" y="623"/>
                  </a:moveTo>
                  <a:cubicBezTo>
                    <a:pt x="390" y="639"/>
                    <a:pt x="377" y="652"/>
                    <a:pt x="361" y="652"/>
                  </a:cubicBezTo>
                  <a:cubicBezTo>
                    <a:pt x="344" y="652"/>
                    <a:pt x="332" y="639"/>
                    <a:pt x="332" y="623"/>
                  </a:cubicBezTo>
                  <a:cubicBezTo>
                    <a:pt x="332" y="606"/>
                    <a:pt x="344" y="594"/>
                    <a:pt x="361" y="594"/>
                  </a:cubicBezTo>
                  <a:cubicBezTo>
                    <a:pt x="377" y="594"/>
                    <a:pt x="390" y="606"/>
                    <a:pt x="390" y="623"/>
                  </a:cubicBezTo>
                  <a:close/>
                  <a:moveTo>
                    <a:pt x="468" y="819"/>
                  </a:moveTo>
                  <a:cubicBezTo>
                    <a:pt x="468" y="837"/>
                    <a:pt x="452" y="853"/>
                    <a:pt x="434" y="853"/>
                  </a:cubicBezTo>
                  <a:cubicBezTo>
                    <a:pt x="415" y="853"/>
                    <a:pt x="400" y="837"/>
                    <a:pt x="400" y="819"/>
                  </a:cubicBezTo>
                  <a:cubicBezTo>
                    <a:pt x="400" y="800"/>
                    <a:pt x="415" y="785"/>
                    <a:pt x="434" y="785"/>
                  </a:cubicBezTo>
                  <a:cubicBezTo>
                    <a:pt x="452" y="785"/>
                    <a:pt x="468" y="800"/>
                    <a:pt x="468" y="819"/>
                  </a:cubicBezTo>
                  <a:close/>
                  <a:moveTo>
                    <a:pt x="674" y="485"/>
                  </a:moveTo>
                  <a:cubicBezTo>
                    <a:pt x="674" y="497"/>
                    <a:pt x="663" y="508"/>
                    <a:pt x="651" y="508"/>
                  </a:cubicBezTo>
                  <a:cubicBezTo>
                    <a:pt x="638" y="508"/>
                    <a:pt x="628" y="497"/>
                    <a:pt x="628" y="485"/>
                  </a:cubicBezTo>
                  <a:cubicBezTo>
                    <a:pt x="628" y="472"/>
                    <a:pt x="638" y="462"/>
                    <a:pt x="651" y="462"/>
                  </a:cubicBezTo>
                  <a:cubicBezTo>
                    <a:pt x="663" y="462"/>
                    <a:pt x="674" y="472"/>
                    <a:pt x="674" y="485"/>
                  </a:cubicBezTo>
                  <a:close/>
                  <a:moveTo>
                    <a:pt x="427" y="519"/>
                  </a:moveTo>
                  <a:cubicBezTo>
                    <a:pt x="427" y="531"/>
                    <a:pt x="417" y="541"/>
                    <a:pt x="405" y="541"/>
                  </a:cubicBezTo>
                  <a:cubicBezTo>
                    <a:pt x="392" y="541"/>
                    <a:pt x="383" y="531"/>
                    <a:pt x="383" y="519"/>
                  </a:cubicBezTo>
                  <a:cubicBezTo>
                    <a:pt x="383" y="506"/>
                    <a:pt x="392" y="497"/>
                    <a:pt x="405" y="497"/>
                  </a:cubicBezTo>
                  <a:cubicBezTo>
                    <a:pt x="417" y="497"/>
                    <a:pt x="427" y="506"/>
                    <a:pt x="427" y="519"/>
                  </a:cubicBezTo>
                  <a:close/>
                  <a:moveTo>
                    <a:pt x="611" y="292"/>
                  </a:moveTo>
                  <a:cubicBezTo>
                    <a:pt x="611" y="309"/>
                    <a:pt x="597" y="323"/>
                    <a:pt x="580" y="323"/>
                  </a:cubicBezTo>
                  <a:cubicBezTo>
                    <a:pt x="562" y="323"/>
                    <a:pt x="549" y="309"/>
                    <a:pt x="549" y="292"/>
                  </a:cubicBezTo>
                  <a:cubicBezTo>
                    <a:pt x="549" y="274"/>
                    <a:pt x="562" y="261"/>
                    <a:pt x="580" y="261"/>
                  </a:cubicBezTo>
                  <a:cubicBezTo>
                    <a:pt x="597" y="261"/>
                    <a:pt x="611" y="274"/>
                    <a:pt x="611" y="292"/>
                  </a:cubicBezTo>
                  <a:close/>
                  <a:moveTo>
                    <a:pt x="541" y="540"/>
                  </a:moveTo>
                  <a:cubicBezTo>
                    <a:pt x="541" y="555"/>
                    <a:pt x="528" y="568"/>
                    <a:pt x="513" y="568"/>
                  </a:cubicBezTo>
                  <a:cubicBezTo>
                    <a:pt x="497" y="568"/>
                    <a:pt x="485" y="555"/>
                    <a:pt x="485" y="540"/>
                  </a:cubicBezTo>
                  <a:cubicBezTo>
                    <a:pt x="485" y="524"/>
                    <a:pt x="497" y="512"/>
                    <a:pt x="513" y="512"/>
                  </a:cubicBezTo>
                  <a:cubicBezTo>
                    <a:pt x="528" y="512"/>
                    <a:pt x="541" y="524"/>
                    <a:pt x="541" y="540"/>
                  </a:cubicBezTo>
                  <a:close/>
                  <a:moveTo>
                    <a:pt x="466" y="841"/>
                  </a:moveTo>
                  <a:cubicBezTo>
                    <a:pt x="466" y="855"/>
                    <a:pt x="454" y="867"/>
                    <a:pt x="440" y="867"/>
                  </a:cubicBezTo>
                  <a:cubicBezTo>
                    <a:pt x="425" y="867"/>
                    <a:pt x="414" y="855"/>
                    <a:pt x="414" y="841"/>
                  </a:cubicBezTo>
                  <a:cubicBezTo>
                    <a:pt x="414" y="826"/>
                    <a:pt x="425" y="815"/>
                    <a:pt x="440" y="815"/>
                  </a:cubicBezTo>
                  <a:cubicBezTo>
                    <a:pt x="454" y="815"/>
                    <a:pt x="466" y="826"/>
                    <a:pt x="466" y="841"/>
                  </a:cubicBezTo>
                  <a:close/>
                  <a:moveTo>
                    <a:pt x="649" y="328"/>
                  </a:moveTo>
                  <a:cubicBezTo>
                    <a:pt x="649" y="345"/>
                    <a:pt x="634" y="360"/>
                    <a:pt x="617" y="360"/>
                  </a:cubicBezTo>
                  <a:cubicBezTo>
                    <a:pt x="599" y="360"/>
                    <a:pt x="585" y="345"/>
                    <a:pt x="585" y="328"/>
                  </a:cubicBezTo>
                  <a:cubicBezTo>
                    <a:pt x="585" y="310"/>
                    <a:pt x="599" y="296"/>
                    <a:pt x="617" y="296"/>
                  </a:cubicBezTo>
                  <a:cubicBezTo>
                    <a:pt x="634" y="296"/>
                    <a:pt x="649" y="310"/>
                    <a:pt x="649" y="328"/>
                  </a:cubicBezTo>
                  <a:close/>
                  <a:moveTo>
                    <a:pt x="487" y="827"/>
                  </a:moveTo>
                  <a:cubicBezTo>
                    <a:pt x="487" y="841"/>
                    <a:pt x="474" y="854"/>
                    <a:pt x="460" y="854"/>
                  </a:cubicBezTo>
                  <a:cubicBezTo>
                    <a:pt x="445" y="854"/>
                    <a:pt x="433" y="841"/>
                    <a:pt x="433" y="827"/>
                  </a:cubicBezTo>
                  <a:cubicBezTo>
                    <a:pt x="433" y="812"/>
                    <a:pt x="445" y="800"/>
                    <a:pt x="460" y="800"/>
                  </a:cubicBezTo>
                  <a:cubicBezTo>
                    <a:pt x="474" y="800"/>
                    <a:pt x="487" y="812"/>
                    <a:pt x="487" y="827"/>
                  </a:cubicBezTo>
                  <a:close/>
                  <a:moveTo>
                    <a:pt x="320" y="617"/>
                  </a:moveTo>
                  <a:cubicBezTo>
                    <a:pt x="320" y="635"/>
                    <a:pt x="304" y="651"/>
                    <a:pt x="286" y="651"/>
                  </a:cubicBezTo>
                  <a:cubicBezTo>
                    <a:pt x="267" y="651"/>
                    <a:pt x="252" y="635"/>
                    <a:pt x="252" y="617"/>
                  </a:cubicBezTo>
                  <a:cubicBezTo>
                    <a:pt x="252" y="598"/>
                    <a:pt x="267" y="583"/>
                    <a:pt x="286" y="583"/>
                  </a:cubicBezTo>
                  <a:cubicBezTo>
                    <a:pt x="304" y="583"/>
                    <a:pt x="320" y="598"/>
                    <a:pt x="320" y="617"/>
                  </a:cubicBezTo>
                  <a:close/>
                  <a:moveTo>
                    <a:pt x="426" y="600"/>
                  </a:moveTo>
                  <a:cubicBezTo>
                    <a:pt x="426" y="617"/>
                    <a:pt x="412" y="631"/>
                    <a:pt x="395" y="631"/>
                  </a:cubicBezTo>
                  <a:cubicBezTo>
                    <a:pt x="377" y="631"/>
                    <a:pt x="364" y="617"/>
                    <a:pt x="364" y="600"/>
                  </a:cubicBezTo>
                  <a:cubicBezTo>
                    <a:pt x="364" y="582"/>
                    <a:pt x="377" y="569"/>
                    <a:pt x="395" y="569"/>
                  </a:cubicBezTo>
                  <a:cubicBezTo>
                    <a:pt x="412" y="569"/>
                    <a:pt x="426" y="582"/>
                    <a:pt x="426" y="600"/>
                  </a:cubicBezTo>
                  <a:close/>
                  <a:moveTo>
                    <a:pt x="565" y="195"/>
                  </a:moveTo>
                  <a:cubicBezTo>
                    <a:pt x="565" y="212"/>
                    <a:pt x="551" y="226"/>
                    <a:pt x="534" y="226"/>
                  </a:cubicBezTo>
                  <a:cubicBezTo>
                    <a:pt x="516" y="226"/>
                    <a:pt x="503" y="212"/>
                    <a:pt x="503" y="195"/>
                  </a:cubicBezTo>
                  <a:cubicBezTo>
                    <a:pt x="503" y="177"/>
                    <a:pt x="516" y="164"/>
                    <a:pt x="534" y="164"/>
                  </a:cubicBezTo>
                  <a:cubicBezTo>
                    <a:pt x="551" y="164"/>
                    <a:pt x="565" y="177"/>
                    <a:pt x="565" y="195"/>
                  </a:cubicBezTo>
                  <a:close/>
                  <a:moveTo>
                    <a:pt x="379" y="460"/>
                  </a:moveTo>
                  <a:cubicBezTo>
                    <a:pt x="379" y="476"/>
                    <a:pt x="365" y="490"/>
                    <a:pt x="349" y="490"/>
                  </a:cubicBezTo>
                  <a:cubicBezTo>
                    <a:pt x="332" y="490"/>
                    <a:pt x="319" y="476"/>
                    <a:pt x="319" y="460"/>
                  </a:cubicBezTo>
                  <a:cubicBezTo>
                    <a:pt x="319" y="443"/>
                    <a:pt x="332" y="430"/>
                    <a:pt x="349" y="430"/>
                  </a:cubicBezTo>
                  <a:cubicBezTo>
                    <a:pt x="365" y="430"/>
                    <a:pt x="379" y="443"/>
                    <a:pt x="379" y="460"/>
                  </a:cubicBezTo>
                  <a:close/>
                  <a:moveTo>
                    <a:pt x="551" y="395"/>
                  </a:moveTo>
                  <a:cubicBezTo>
                    <a:pt x="551" y="409"/>
                    <a:pt x="538" y="422"/>
                    <a:pt x="524" y="422"/>
                  </a:cubicBezTo>
                  <a:cubicBezTo>
                    <a:pt x="509" y="422"/>
                    <a:pt x="497" y="409"/>
                    <a:pt x="497" y="395"/>
                  </a:cubicBezTo>
                  <a:cubicBezTo>
                    <a:pt x="497" y="380"/>
                    <a:pt x="509" y="368"/>
                    <a:pt x="524" y="368"/>
                  </a:cubicBezTo>
                  <a:cubicBezTo>
                    <a:pt x="538" y="368"/>
                    <a:pt x="551" y="380"/>
                    <a:pt x="551" y="395"/>
                  </a:cubicBezTo>
                  <a:close/>
                  <a:moveTo>
                    <a:pt x="619" y="631"/>
                  </a:moveTo>
                  <a:cubicBezTo>
                    <a:pt x="619" y="643"/>
                    <a:pt x="608" y="654"/>
                    <a:pt x="596" y="654"/>
                  </a:cubicBezTo>
                  <a:cubicBezTo>
                    <a:pt x="583" y="654"/>
                    <a:pt x="573" y="643"/>
                    <a:pt x="573" y="631"/>
                  </a:cubicBezTo>
                  <a:cubicBezTo>
                    <a:pt x="573" y="618"/>
                    <a:pt x="583" y="608"/>
                    <a:pt x="596" y="608"/>
                  </a:cubicBezTo>
                  <a:cubicBezTo>
                    <a:pt x="608" y="608"/>
                    <a:pt x="619" y="618"/>
                    <a:pt x="619" y="631"/>
                  </a:cubicBezTo>
                  <a:close/>
                  <a:moveTo>
                    <a:pt x="688" y="310"/>
                  </a:moveTo>
                  <a:cubicBezTo>
                    <a:pt x="688" y="323"/>
                    <a:pt x="676" y="335"/>
                    <a:pt x="663" y="335"/>
                  </a:cubicBezTo>
                  <a:cubicBezTo>
                    <a:pt x="649" y="335"/>
                    <a:pt x="638" y="323"/>
                    <a:pt x="638" y="310"/>
                  </a:cubicBezTo>
                  <a:cubicBezTo>
                    <a:pt x="638" y="296"/>
                    <a:pt x="649" y="285"/>
                    <a:pt x="663" y="285"/>
                  </a:cubicBezTo>
                  <a:cubicBezTo>
                    <a:pt x="676" y="285"/>
                    <a:pt x="688" y="296"/>
                    <a:pt x="688" y="310"/>
                  </a:cubicBezTo>
                  <a:close/>
                  <a:moveTo>
                    <a:pt x="594" y="394"/>
                  </a:moveTo>
                  <a:cubicBezTo>
                    <a:pt x="594" y="406"/>
                    <a:pt x="584" y="416"/>
                    <a:pt x="572" y="416"/>
                  </a:cubicBezTo>
                  <a:cubicBezTo>
                    <a:pt x="559" y="416"/>
                    <a:pt x="550" y="406"/>
                    <a:pt x="550" y="394"/>
                  </a:cubicBezTo>
                  <a:cubicBezTo>
                    <a:pt x="550" y="381"/>
                    <a:pt x="559" y="372"/>
                    <a:pt x="572" y="372"/>
                  </a:cubicBezTo>
                  <a:cubicBezTo>
                    <a:pt x="584" y="372"/>
                    <a:pt x="594" y="381"/>
                    <a:pt x="594" y="394"/>
                  </a:cubicBezTo>
                  <a:close/>
                  <a:moveTo>
                    <a:pt x="208" y="658"/>
                  </a:moveTo>
                  <a:cubicBezTo>
                    <a:pt x="208" y="672"/>
                    <a:pt x="196" y="684"/>
                    <a:pt x="182" y="684"/>
                  </a:cubicBezTo>
                  <a:cubicBezTo>
                    <a:pt x="167" y="684"/>
                    <a:pt x="156" y="672"/>
                    <a:pt x="156" y="658"/>
                  </a:cubicBezTo>
                  <a:cubicBezTo>
                    <a:pt x="156" y="643"/>
                    <a:pt x="167" y="632"/>
                    <a:pt x="182" y="632"/>
                  </a:cubicBezTo>
                  <a:cubicBezTo>
                    <a:pt x="196" y="632"/>
                    <a:pt x="208" y="643"/>
                    <a:pt x="208" y="658"/>
                  </a:cubicBezTo>
                  <a:close/>
                  <a:moveTo>
                    <a:pt x="720" y="232"/>
                  </a:moveTo>
                  <a:cubicBezTo>
                    <a:pt x="720" y="245"/>
                    <a:pt x="709" y="256"/>
                    <a:pt x="696" y="256"/>
                  </a:cubicBezTo>
                  <a:cubicBezTo>
                    <a:pt x="682" y="256"/>
                    <a:pt x="672" y="245"/>
                    <a:pt x="672" y="232"/>
                  </a:cubicBezTo>
                  <a:cubicBezTo>
                    <a:pt x="672" y="218"/>
                    <a:pt x="682" y="208"/>
                    <a:pt x="696" y="208"/>
                  </a:cubicBezTo>
                  <a:cubicBezTo>
                    <a:pt x="709" y="208"/>
                    <a:pt x="720" y="218"/>
                    <a:pt x="720" y="232"/>
                  </a:cubicBezTo>
                  <a:close/>
                  <a:moveTo>
                    <a:pt x="570" y="730"/>
                  </a:moveTo>
                  <a:cubicBezTo>
                    <a:pt x="570" y="744"/>
                    <a:pt x="557" y="757"/>
                    <a:pt x="543" y="757"/>
                  </a:cubicBezTo>
                  <a:cubicBezTo>
                    <a:pt x="528" y="757"/>
                    <a:pt x="516" y="744"/>
                    <a:pt x="516" y="730"/>
                  </a:cubicBezTo>
                  <a:cubicBezTo>
                    <a:pt x="516" y="715"/>
                    <a:pt x="528" y="703"/>
                    <a:pt x="543" y="703"/>
                  </a:cubicBezTo>
                  <a:cubicBezTo>
                    <a:pt x="557" y="703"/>
                    <a:pt x="570" y="715"/>
                    <a:pt x="570" y="730"/>
                  </a:cubicBezTo>
                  <a:close/>
                  <a:moveTo>
                    <a:pt x="788" y="303"/>
                  </a:moveTo>
                  <a:cubicBezTo>
                    <a:pt x="788" y="315"/>
                    <a:pt x="777" y="326"/>
                    <a:pt x="765" y="326"/>
                  </a:cubicBezTo>
                  <a:cubicBezTo>
                    <a:pt x="752" y="326"/>
                    <a:pt x="742" y="315"/>
                    <a:pt x="742" y="303"/>
                  </a:cubicBezTo>
                  <a:cubicBezTo>
                    <a:pt x="742" y="290"/>
                    <a:pt x="752" y="280"/>
                    <a:pt x="765" y="280"/>
                  </a:cubicBezTo>
                  <a:cubicBezTo>
                    <a:pt x="777" y="280"/>
                    <a:pt x="788" y="290"/>
                    <a:pt x="788" y="303"/>
                  </a:cubicBezTo>
                  <a:close/>
                  <a:moveTo>
                    <a:pt x="272" y="602"/>
                  </a:moveTo>
                  <a:cubicBezTo>
                    <a:pt x="272" y="615"/>
                    <a:pt x="261" y="626"/>
                    <a:pt x="248" y="626"/>
                  </a:cubicBezTo>
                  <a:cubicBezTo>
                    <a:pt x="234" y="626"/>
                    <a:pt x="224" y="615"/>
                    <a:pt x="224" y="602"/>
                  </a:cubicBezTo>
                  <a:cubicBezTo>
                    <a:pt x="224" y="588"/>
                    <a:pt x="234" y="578"/>
                    <a:pt x="248" y="578"/>
                  </a:cubicBezTo>
                  <a:cubicBezTo>
                    <a:pt x="261" y="578"/>
                    <a:pt x="272" y="588"/>
                    <a:pt x="272" y="602"/>
                  </a:cubicBezTo>
                  <a:close/>
                  <a:moveTo>
                    <a:pt x="373" y="507"/>
                  </a:moveTo>
                  <a:cubicBezTo>
                    <a:pt x="373" y="522"/>
                    <a:pt x="360" y="535"/>
                    <a:pt x="345" y="535"/>
                  </a:cubicBezTo>
                  <a:cubicBezTo>
                    <a:pt x="329" y="535"/>
                    <a:pt x="317" y="522"/>
                    <a:pt x="317" y="507"/>
                  </a:cubicBezTo>
                  <a:cubicBezTo>
                    <a:pt x="317" y="491"/>
                    <a:pt x="329" y="479"/>
                    <a:pt x="345" y="479"/>
                  </a:cubicBezTo>
                  <a:cubicBezTo>
                    <a:pt x="360" y="479"/>
                    <a:pt x="373" y="491"/>
                    <a:pt x="373" y="507"/>
                  </a:cubicBezTo>
                  <a:close/>
                  <a:moveTo>
                    <a:pt x="599" y="606"/>
                  </a:moveTo>
                  <a:cubicBezTo>
                    <a:pt x="599" y="619"/>
                    <a:pt x="587" y="631"/>
                    <a:pt x="574" y="631"/>
                  </a:cubicBezTo>
                  <a:cubicBezTo>
                    <a:pt x="560" y="631"/>
                    <a:pt x="549" y="619"/>
                    <a:pt x="549" y="606"/>
                  </a:cubicBezTo>
                  <a:cubicBezTo>
                    <a:pt x="549" y="592"/>
                    <a:pt x="560" y="581"/>
                    <a:pt x="574" y="581"/>
                  </a:cubicBezTo>
                  <a:cubicBezTo>
                    <a:pt x="587" y="581"/>
                    <a:pt x="599" y="592"/>
                    <a:pt x="599" y="606"/>
                  </a:cubicBezTo>
                  <a:close/>
                  <a:moveTo>
                    <a:pt x="871" y="431"/>
                  </a:moveTo>
                  <a:cubicBezTo>
                    <a:pt x="871" y="444"/>
                    <a:pt x="860" y="455"/>
                    <a:pt x="847" y="455"/>
                  </a:cubicBezTo>
                  <a:cubicBezTo>
                    <a:pt x="833" y="455"/>
                    <a:pt x="823" y="444"/>
                    <a:pt x="823" y="431"/>
                  </a:cubicBezTo>
                  <a:cubicBezTo>
                    <a:pt x="823" y="417"/>
                    <a:pt x="833" y="407"/>
                    <a:pt x="847" y="407"/>
                  </a:cubicBezTo>
                  <a:cubicBezTo>
                    <a:pt x="860" y="407"/>
                    <a:pt x="871" y="417"/>
                    <a:pt x="871" y="431"/>
                  </a:cubicBezTo>
                  <a:close/>
                  <a:moveTo>
                    <a:pt x="806" y="684"/>
                  </a:moveTo>
                  <a:cubicBezTo>
                    <a:pt x="806" y="697"/>
                    <a:pt x="795" y="708"/>
                    <a:pt x="782" y="708"/>
                  </a:cubicBezTo>
                  <a:cubicBezTo>
                    <a:pt x="768" y="708"/>
                    <a:pt x="758" y="697"/>
                    <a:pt x="758" y="684"/>
                  </a:cubicBezTo>
                  <a:cubicBezTo>
                    <a:pt x="758" y="670"/>
                    <a:pt x="768" y="660"/>
                    <a:pt x="782" y="660"/>
                  </a:cubicBezTo>
                  <a:cubicBezTo>
                    <a:pt x="795" y="660"/>
                    <a:pt x="806" y="670"/>
                    <a:pt x="806" y="684"/>
                  </a:cubicBezTo>
                  <a:close/>
                  <a:moveTo>
                    <a:pt x="301" y="423"/>
                  </a:moveTo>
                  <a:cubicBezTo>
                    <a:pt x="301" y="439"/>
                    <a:pt x="288" y="452"/>
                    <a:pt x="272" y="452"/>
                  </a:cubicBezTo>
                  <a:cubicBezTo>
                    <a:pt x="255" y="452"/>
                    <a:pt x="243" y="439"/>
                    <a:pt x="243" y="423"/>
                  </a:cubicBezTo>
                  <a:cubicBezTo>
                    <a:pt x="243" y="406"/>
                    <a:pt x="255" y="394"/>
                    <a:pt x="272" y="394"/>
                  </a:cubicBezTo>
                  <a:cubicBezTo>
                    <a:pt x="288" y="394"/>
                    <a:pt x="301" y="406"/>
                    <a:pt x="301" y="423"/>
                  </a:cubicBezTo>
                  <a:close/>
                  <a:moveTo>
                    <a:pt x="491" y="318"/>
                  </a:moveTo>
                  <a:cubicBezTo>
                    <a:pt x="491" y="335"/>
                    <a:pt x="476" y="350"/>
                    <a:pt x="459" y="350"/>
                  </a:cubicBezTo>
                  <a:cubicBezTo>
                    <a:pt x="441" y="350"/>
                    <a:pt x="427" y="335"/>
                    <a:pt x="427" y="318"/>
                  </a:cubicBezTo>
                  <a:cubicBezTo>
                    <a:pt x="427" y="300"/>
                    <a:pt x="441" y="286"/>
                    <a:pt x="459" y="286"/>
                  </a:cubicBezTo>
                  <a:cubicBezTo>
                    <a:pt x="476" y="286"/>
                    <a:pt x="491" y="300"/>
                    <a:pt x="491" y="318"/>
                  </a:cubicBezTo>
                  <a:close/>
                  <a:moveTo>
                    <a:pt x="848" y="328"/>
                  </a:moveTo>
                  <a:cubicBezTo>
                    <a:pt x="848" y="346"/>
                    <a:pt x="832" y="362"/>
                    <a:pt x="814" y="362"/>
                  </a:cubicBezTo>
                  <a:cubicBezTo>
                    <a:pt x="795" y="362"/>
                    <a:pt x="780" y="346"/>
                    <a:pt x="780" y="328"/>
                  </a:cubicBezTo>
                  <a:cubicBezTo>
                    <a:pt x="780" y="309"/>
                    <a:pt x="795" y="294"/>
                    <a:pt x="814" y="294"/>
                  </a:cubicBezTo>
                  <a:cubicBezTo>
                    <a:pt x="832" y="294"/>
                    <a:pt x="848" y="309"/>
                    <a:pt x="848" y="328"/>
                  </a:cubicBezTo>
                  <a:close/>
                  <a:moveTo>
                    <a:pt x="364" y="641"/>
                  </a:moveTo>
                  <a:cubicBezTo>
                    <a:pt x="364" y="659"/>
                    <a:pt x="348" y="675"/>
                    <a:pt x="330" y="675"/>
                  </a:cubicBezTo>
                  <a:cubicBezTo>
                    <a:pt x="311" y="675"/>
                    <a:pt x="296" y="659"/>
                    <a:pt x="296" y="641"/>
                  </a:cubicBezTo>
                  <a:cubicBezTo>
                    <a:pt x="296" y="622"/>
                    <a:pt x="311" y="607"/>
                    <a:pt x="330" y="607"/>
                  </a:cubicBezTo>
                  <a:cubicBezTo>
                    <a:pt x="348" y="607"/>
                    <a:pt x="364" y="622"/>
                    <a:pt x="364" y="641"/>
                  </a:cubicBezTo>
                  <a:close/>
                  <a:moveTo>
                    <a:pt x="533" y="485"/>
                  </a:moveTo>
                  <a:cubicBezTo>
                    <a:pt x="533" y="500"/>
                    <a:pt x="520" y="513"/>
                    <a:pt x="505" y="513"/>
                  </a:cubicBezTo>
                  <a:cubicBezTo>
                    <a:pt x="489" y="513"/>
                    <a:pt x="477" y="500"/>
                    <a:pt x="477" y="485"/>
                  </a:cubicBezTo>
                  <a:cubicBezTo>
                    <a:pt x="477" y="469"/>
                    <a:pt x="489" y="457"/>
                    <a:pt x="505" y="457"/>
                  </a:cubicBezTo>
                  <a:cubicBezTo>
                    <a:pt x="520" y="457"/>
                    <a:pt x="533" y="469"/>
                    <a:pt x="533" y="485"/>
                  </a:cubicBezTo>
                  <a:close/>
                  <a:moveTo>
                    <a:pt x="221" y="489"/>
                  </a:moveTo>
                  <a:cubicBezTo>
                    <a:pt x="221" y="503"/>
                    <a:pt x="208" y="516"/>
                    <a:pt x="194" y="516"/>
                  </a:cubicBezTo>
                  <a:cubicBezTo>
                    <a:pt x="179" y="516"/>
                    <a:pt x="167" y="503"/>
                    <a:pt x="167" y="489"/>
                  </a:cubicBezTo>
                  <a:cubicBezTo>
                    <a:pt x="167" y="474"/>
                    <a:pt x="179" y="462"/>
                    <a:pt x="194" y="462"/>
                  </a:cubicBezTo>
                  <a:cubicBezTo>
                    <a:pt x="208" y="462"/>
                    <a:pt x="221" y="474"/>
                    <a:pt x="221" y="489"/>
                  </a:cubicBezTo>
                  <a:close/>
                </a:path>
              </a:pathLst>
            </a:custGeom>
            <a:solidFill>
              <a:srgbClr val="D7BDE2"/>
            </a:solidFill>
            <a:ln>
              <a:noFill/>
            </a:ln>
          </p:spPr>
        </p:sp>
        <p:sp>
          <p:nvSpPr>
            <p:cNvPr id="37" name="Forma 36"/>
            <p:cNvSpPr/>
            <p:nvPr/>
          </p:nvSpPr>
          <p:spPr>
            <a:xfrm>
              <a:off x="6035040" y="205740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50" y="420"/>
                  </a:moveTo>
                  <a:cubicBezTo>
                    <a:pt x="450" y="486"/>
                    <a:pt x="396" y="540"/>
                    <a:pt x="330" y="540"/>
                  </a:cubicBezTo>
                  <a:cubicBezTo>
                    <a:pt x="263" y="540"/>
                    <a:pt x="210" y="486"/>
                    <a:pt x="210" y="420"/>
                  </a:cubicBezTo>
                  <a:cubicBezTo>
                    <a:pt x="210" y="353"/>
                    <a:pt x="263" y="300"/>
                    <a:pt x="330" y="300"/>
                  </a:cubicBezTo>
                  <a:cubicBezTo>
                    <a:pt x="396" y="300"/>
                    <a:pt x="450" y="353"/>
                    <a:pt x="450" y="420"/>
                  </a:cubicBezTo>
                  <a:close/>
                  <a:moveTo>
                    <a:pt x="620" y="330"/>
                  </a:moveTo>
                  <a:cubicBezTo>
                    <a:pt x="620" y="396"/>
                    <a:pt x="566" y="450"/>
                    <a:pt x="500" y="450"/>
                  </a:cubicBezTo>
                  <a:cubicBezTo>
                    <a:pt x="433" y="450"/>
                    <a:pt x="380" y="396"/>
                    <a:pt x="380" y="330"/>
                  </a:cubicBezTo>
                  <a:cubicBezTo>
                    <a:pt x="380" y="263"/>
                    <a:pt x="433" y="210"/>
                    <a:pt x="500" y="210"/>
                  </a:cubicBezTo>
                  <a:cubicBezTo>
                    <a:pt x="566" y="210"/>
                    <a:pt x="620" y="263"/>
                    <a:pt x="620" y="330"/>
                  </a:cubicBezTo>
                  <a:close/>
                  <a:moveTo>
                    <a:pt x="780" y="450"/>
                  </a:moveTo>
                  <a:cubicBezTo>
                    <a:pt x="780" y="516"/>
                    <a:pt x="726" y="570"/>
                    <a:pt x="660" y="570"/>
                  </a:cubicBezTo>
                  <a:cubicBezTo>
                    <a:pt x="593" y="570"/>
                    <a:pt x="540" y="516"/>
                    <a:pt x="540" y="450"/>
                  </a:cubicBezTo>
                  <a:cubicBezTo>
                    <a:pt x="540" y="383"/>
                    <a:pt x="593" y="330"/>
                    <a:pt x="660" y="330"/>
                  </a:cubicBezTo>
                  <a:cubicBezTo>
                    <a:pt x="726" y="330"/>
                    <a:pt x="780" y="383"/>
                    <a:pt x="780" y="450"/>
                  </a:cubicBezTo>
                  <a:close/>
                  <a:moveTo>
                    <a:pt x="630" y="600"/>
                  </a:moveTo>
                  <a:cubicBezTo>
                    <a:pt x="630" y="660"/>
                    <a:pt x="580" y="710"/>
                    <a:pt x="520" y="710"/>
                  </a:cubicBezTo>
                  <a:cubicBezTo>
                    <a:pt x="459" y="710"/>
                    <a:pt x="410" y="660"/>
                    <a:pt x="410" y="600"/>
                  </a:cubicBezTo>
                  <a:cubicBezTo>
                    <a:pt x="410" y="539"/>
                    <a:pt x="459" y="490"/>
                    <a:pt x="520" y="490"/>
                  </a:cubicBezTo>
                  <a:cubicBezTo>
                    <a:pt x="580" y="490"/>
                    <a:pt x="630" y="539"/>
                    <a:pt x="63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59B6"/>
                </a:gs>
                <a:gs pos="100000">
                  <a:srgbClr val="5B2C6F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4A235A"/>
              </a:solidFill>
              <a:round/>
            </a:ln>
          </p:spPr>
        </p:sp>
      </p:grpSp>
      <p:grpSp>
        <p:nvGrpSpPr>
          <p:cNvPr id="38" name="!!Leucocito 3"/>
          <p:cNvGrpSpPr/>
          <p:nvPr/>
        </p:nvGrpSpPr>
        <p:grpSpPr>
          <a:xfrm>
            <a:off x="5120640" y="2834640"/>
            <a:ext cx="731520" cy="731520"/>
            <a:chOff x="5120640" y="2834640"/>
            <a:chExt cx="731520" cy="731520"/>
          </a:xfrm>
        </p:grpSpPr>
        <p:sp>
          <p:nvSpPr>
            <p:cNvPr id="39" name="Forma 38"/>
            <p:cNvSpPr/>
            <p:nvPr/>
          </p:nvSpPr>
          <p:spPr>
            <a:xfrm>
              <a:off x="5120640" y="283464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F9F0F5"/>
                </a:gs>
                <a:gs pos="55000">
                  <a:srgbClr val="F5E6EF"/>
                </a:gs>
                <a:gs pos="100000">
                  <a:srgbClr val="D7CAD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D3C98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40" name="Forma 39"/>
            <p:cNvSpPr/>
            <p:nvPr/>
          </p:nvSpPr>
          <p:spPr>
            <a:xfrm>
              <a:off x="5120640" y="283464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66" y="741"/>
                  </a:moveTo>
                  <a:cubicBezTo>
                    <a:pt x="666" y="753"/>
                    <a:pt x="656" y="763"/>
                    <a:pt x="644" y="763"/>
                  </a:cubicBezTo>
                  <a:cubicBezTo>
                    <a:pt x="631" y="763"/>
                    <a:pt x="622" y="753"/>
                    <a:pt x="622" y="741"/>
                  </a:cubicBezTo>
                  <a:cubicBezTo>
                    <a:pt x="622" y="728"/>
                    <a:pt x="631" y="719"/>
                    <a:pt x="644" y="719"/>
                  </a:cubicBezTo>
                  <a:cubicBezTo>
                    <a:pt x="656" y="719"/>
                    <a:pt x="666" y="728"/>
                    <a:pt x="666" y="741"/>
                  </a:cubicBezTo>
                  <a:close/>
                  <a:moveTo>
                    <a:pt x="390" y="623"/>
                  </a:moveTo>
                  <a:cubicBezTo>
                    <a:pt x="390" y="639"/>
                    <a:pt x="377" y="652"/>
                    <a:pt x="361" y="652"/>
                  </a:cubicBezTo>
                  <a:cubicBezTo>
                    <a:pt x="344" y="652"/>
                    <a:pt x="332" y="639"/>
                    <a:pt x="332" y="623"/>
                  </a:cubicBezTo>
                  <a:cubicBezTo>
                    <a:pt x="332" y="606"/>
                    <a:pt x="344" y="594"/>
                    <a:pt x="361" y="594"/>
                  </a:cubicBezTo>
                  <a:cubicBezTo>
                    <a:pt x="377" y="594"/>
                    <a:pt x="390" y="606"/>
                    <a:pt x="390" y="623"/>
                  </a:cubicBezTo>
                  <a:close/>
                  <a:moveTo>
                    <a:pt x="468" y="819"/>
                  </a:moveTo>
                  <a:cubicBezTo>
                    <a:pt x="468" y="837"/>
                    <a:pt x="452" y="853"/>
                    <a:pt x="434" y="853"/>
                  </a:cubicBezTo>
                  <a:cubicBezTo>
                    <a:pt x="415" y="853"/>
                    <a:pt x="400" y="837"/>
                    <a:pt x="400" y="819"/>
                  </a:cubicBezTo>
                  <a:cubicBezTo>
                    <a:pt x="400" y="800"/>
                    <a:pt x="415" y="785"/>
                    <a:pt x="434" y="785"/>
                  </a:cubicBezTo>
                  <a:cubicBezTo>
                    <a:pt x="452" y="785"/>
                    <a:pt x="468" y="800"/>
                    <a:pt x="468" y="819"/>
                  </a:cubicBezTo>
                  <a:close/>
                  <a:moveTo>
                    <a:pt x="674" y="485"/>
                  </a:moveTo>
                  <a:cubicBezTo>
                    <a:pt x="674" y="497"/>
                    <a:pt x="663" y="508"/>
                    <a:pt x="651" y="508"/>
                  </a:cubicBezTo>
                  <a:cubicBezTo>
                    <a:pt x="638" y="508"/>
                    <a:pt x="628" y="497"/>
                    <a:pt x="628" y="485"/>
                  </a:cubicBezTo>
                  <a:cubicBezTo>
                    <a:pt x="628" y="472"/>
                    <a:pt x="638" y="462"/>
                    <a:pt x="651" y="462"/>
                  </a:cubicBezTo>
                  <a:cubicBezTo>
                    <a:pt x="663" y="462"/>
                    <a:pt x="674" y="472"/>
                    <a:pt x="674" y="485"/>
                  </a:cubicBezTo>
                  <a:close/>
                  <a:moveTo>
                    <a:pt x="427" y="519"/>
                  </a:moveTo>
                  <a:cubicBezTo>
                    <a:pt x="427" y="531"/>
                    <a:pt x="417" y="541"/>
                    <a:pt x="405" y="541"/>
                  </a:cubicBezTo>
                  <a:cubicBezTo>
                    <a:pt x="392" y="541"/>
                    <a:pt x="383" y="531"/>
                    <a:pt x="383" y="519"/>
                  </a:cubicBezTo>
                  <a:cubicBezTo>
                    <a:pt x="383" y="506"/>
                    <a:pt x="392" y="497"/>
                    <a:pt x="405" y="497"/>
                  </a:cubicBezTo>
                  <a:cubicBezTo>
                    <a:pt x="417" y="497"/>
                    <a:pt x="427" y="506"/>
                    <a:pt x="427" y="519"/>
                  </a:cubicBezTo>
                  <a:close/>
                  <a:moveTo>
                    <a:pt x="611" y="292"/>
                  </a:moveTo>
                  <a:cubicBezTo>
                    <a:pt x="611" y="309"/>
                    <a:pt x="597" y="323"/>
                    <a:pt x="580" y="323"/>
                  </a:cubicBezTo>
                  <a:cubicBezTo>
                    <a:pt x="562" y="323"/>
                    <a:pt x="549" y="309"/>
                    <a:pt x="549" y="292"/>
                  </a:cubicBezTo>
                  <a:cubicBezTo>
                    <a:pt x="549" y="274"/>
                    <a:pt x="562" y="261"/>
                    <a:pt x="580" y="261"/>
                  </a:cubicBezTo>
                  <a:cubicBezTo>
                    <a:pt x="597" y="261"/>
                    <a:pt x="611" y="274"/>
                    <a:pt x="611" y="292"/>
                  </a:cubicBezTo>
                  <a:close/>
                  <a:moveTo>
                    <a:pt x="541" y="540"/>
                  </a:moveTo>
                  <a:cubicBezTo>
                    <a:pt x="541" y="555"/>
                    <a:pt x="528" y="568"/>
                    <a:pt x="513" y="568"/>
                  </a:cubicBezTo>
                  <a:cubicBezTo>
                    <a:pt x="497" y="568"/>
                    <a:pt x="485" y="555"/>
                    <a:pt x="485" y="540"/>
                  </a:cubicBezTo>
                  <a:cubicBezTo>
                    <a:pt x="485" y="524"/>
                    <a:pt x="497" y="512"/>
                    <a:pt x="513" y="512"/>
                  </a:cubicBezTo>
                  <a:cubicBezTo>
                    <a:pt x="528" y="512"/>
                    <a:pt x="541" y="524"/>
                    <a:pt x="541" y="540"/>
                  </a:cubicBezTo>
                  <a:close/>
                  <a:moveTo>
                    <a:pt x="466" y="841"/>
                  </a:moveTo>
                  <a:cubicBezTo>
                    <a:pt x="466" y="855"/>
                    <a:pt x="454" y="867"/>
                    <a:pt x="440" y="867"/>
                  </a:cubicBezTo>
                  <a:cubicBezTo>
                    <a:pt x="425" y="867"/>
                    <a:pt x="414" y="855"/>
                    <a:pt x="414" y="841"/>
                  </a:cubicBezTo>
                  <a:cubicBezTo>
                    <a:pt x="414" y="826"/>
                    <a:pt x="425" y="815"/>
                    <a:pt x="440" y="815"/>
                  </a:cubicBezTo>
                  <a:cubicBezTo>
                    <a:pt x="454" y="815"/>
                    <a:pt x="466" y="826"/>
                    <a:pt x="466" y="841"/>
                  </a:cubicBezTo>
                  <a:close/>
                  <a:moveTo>
                    <a:pt x="649" y="328"/>
                  </a:moveTo>
                  <a:cubicBezTo>
                    <a:pt x="649" y="345"/>
                    <a:pt x="634" y="360"/>
                    <a:pt x="617" y="360"/>
                  </a:cubicBezTo>
                  <a:cubicBezTo>
                    <a:pt x="599" y="360"/>
                    <a:pt x="585" y="345"/>
                    <a:pt x="585" y="328"/>
                  </a:cubicBezTo>
                  <a:cubicBezTo>
                    <a:pt x="585" y="310"/>
                    <a:pt x="599" y="296"/>
                    <a:pt x="617" y="296"/>
                  </a:cubicBezTo>
                  <a:cubicBezTo>
                    <a:pt x="634" y="296"/>
                    <a:pt x="649" y="310"/>
                    <a:pt x="649" y="328"/>
                  </a:cubicBezTo>
                  <a:close/>
                  <a:moveTo>
                    <a:pt x="487" y="827"/>
                  </a:moveTo>
                  <a:cubicBezTo>
                    <a:pt x="487" y="841"/>
                    <a:pt x="474" y="854"/>
                    <a:pt x="460" y="854"/>
                  </a:cubicBezTo>
                  <a:cubicBezTo>
                    <a:pt x="445" y="854"/>
                    <a:pt x="433" y="841"/>
                    <a:pt x="433" y="827"/>
                  </a:cubicBezTo>
                  <a:cubicBezTo>
                    <a:pt x="433" y="812"/>
                    <a:pt x="445" y="800"/>
                    <a:pt x="460" y="800"/>
                  </a:cubicBezTo>
                  <a:cubicBezTo>
                    <a:pt x="474" y="800"/>
                    <a:pt x="487" y="812"/>
                    <a:pt x="487" y="827"/>
                  </a:cubicBezTo>
                  <a:close/>
                  <a:moveTo>
                    <a:pt x="320" y="617"/>
                  </a:moveTo>
                  <a:cubicBezTo>
                    <a:pt x="320" y="635"/>
                    <a:pt x="304" y="651"/>
                    <a:pt x="286" y="651"/>
                  </a:cubicBezTo>
                  <a:cubicBezTo>
                    <a:pt x="267" y="651"/>
                    <a:pt x="252" y="635"/>
                    <a:pt x="252" y="617"/>
                  </a:cubicBezTo>
                  <a:cubicBezTo>
                    <a:pt x="252" y="598"/>
                    <a:pt x="267" y="583"/>
                    <a:pt x="286" y="583"/>
                  </a:cubicBezTo>
                  <a:cubicBezTo>
                    <a:pt x="304" y="583"/>
                    <a:pt x="320" y="598"/>
                    <a:pt x="320" y="617"/>
                  </a:cubicBezTo>
                  <a:close/>
                  <a:moveTo>
                    <a:pt x="426" y="600"/>
                  </a:moveTo>
                  <a:cubicBezTo>
                    <a:pt x="426" y="617"/>
                    <a:pt x="412" y="631"/>
                    <a:pt x="395" y="631"/>
                  </a:cubicBezTo>
                  <a:cubicBezTo>
                    <a:pt x="377" y="631"/>
                    <a:pt x="364" y="617"/>
                    <a:pt x="364" y="600"/>
                  </a:cubicBezTo>
                  <a:cubicBezTo>
                    <a:pt x="364" y="582"/>
                    <a:pt x="377" y="569"/>
                    <a:pt x="395" y="569"/>
                  </a:cubicBezTo>
                  <a:cubicBezTo>
                    <a:pt x="412" y="569"/>
                    <a:pt x="426" y="582"/>
                    <a:pt x="426" y="600"/>
                  </a:cubicBezTo>
                  <a:close/>
                  <a:moveTo>
                    <a:pt x="565" y="195"/>
                  </a:moveTo>
                  <a:cubicBezTo>
                    <a:pt x="565" y="212"/>
                    <a:pt x="551" y="226"/>
                    <a:pt x="534" y="226"/>
                  </a:cubicBezTo>
                  <a:cubicBezTo>
                    <a:pt x="516" y="226"/>
                    <a:pt x="503" y="212"/>
                    <a:pt x="503" y="195"/>
                  </a:cubicBezTo>
                  <a:cubicBezTo>
                    <a:pt x="503" y="177"/>
                    <a:pt x="516" y="164"/>
                    <a:pt x="534" y="164"/>
                  </a:cubicBezTo>
                  <a:cubicBezTo>
                    <a:pt x="551" y="164"/>
                    <a:pt x="565" y="177"/>
                    <a:pt x="565" y="195"/>
                  </a:cubicBezTo>
                  <a:close/>
                  <a:moveTo>
                    <a:pt x="379" y="460"/>
                  </a:moveTo>
                  <a:cubicBezTo>
                    <a:pt x="379" y="476"/>
                    <a:pt x="365" y="490"/>
                    <a:pt x="349" y="490"/>
                  </a:cubicBezTo>
                  <a:cubicBezTo>
                    <a:pt x="332" y="490"/>
                    <a:pt x="319" y="476"/>
                    <a:pt x="319" y="460"/>
                  </a:cubicBezTo>
                  <a:cubicBezTo>
                    <a:pt x="319" y="443"/>
                    <a:pt x="332" y="430"/>
                    <a:pt x="349" y="430"/>
                  </a:cubicBezTo>
                  <a:cubicBezTo>
                    <a:pt x="365" y="430"/>
                    <a:pt x="379" y="443"/>
                    <a:pt x="379" y="460"/>
                  </a:cubicBezTo>
                  <a:close/>
                  <a:moveTo>
                    <a:pt x="551" y="395"/>
                  </a:moveTo>
                  <a:cubicBezTo>
                    <a:pt x="551" y="409"/>
                    <a:pt x="538" y="422"/>
                    <a:pt x="524" y="422"/>
                  </a:cubicBezTo>
                  <a:cubicBezTo>
                    <a:pt x="509" y="422"/>
                    <a:pt x="497" y="409"/>
                    <a:pt x="497" y="395"/>
                  </a:cubicBezTo>
                  <a:cubicBezTo>
                    <a:pt x="497" y="380"/>
                    <a:pt x="509" y="368"/>
                    <a:pt x="524" y="368"/>
                  </a:cubicBezTo>
                  <a:cubicBezTo>
                    <a:pt x="538" y="368"/>
                    <a:pt x="551" y="380"/>
                    <a:pt x="551" y="395"/>
                  </a:cubicBezTo>
                  <a:close/>
                  <a:moveTo>
                    <a:pt x="619" y="631"/>
                  </a:moveTo>
                  <a:cubicBezTo>
                    <a:pt x="619" y="643"/>
                    <a:pt x="608" y="654"/>
                    <a:pt x="596" y="654"/>
                  </a:cubicBezTo>
                  <a:cubicBezTo>
                    <a:pt x="583" y="654"/>
                    <a:pt x="573" y="643"/>
                    <a:pt x="573" y="631"/>
                  </a:cubicBezTo>
                  <a:cubicBezTo>
                    <a:pt x="573" y="618"/>
                    <a:pt x="583" y="608"/>
                    <a:pt x="596" y="608"/>
                  </a:cubicBezTo>
                  <a:cubicBezTo>
                    <a:pt x="608" y="608"/>
                    <a:pt x="619" y="618"/>
                    <a:pt x="619" y="631"/>
                  </a:cubicBezTo>
                  <a:close/>
                  <a:moveTo>
                    <a:pt x="688" y="310"/>
                  </a:moveTo>
                  <a:cubicBezTo>
                    <a:pt x="688" y="323"/>
                    <a:pt x="676" y="335"/>
                    <a:pt x="663" y="335"/>
                  </a:cubicBezTo>
                  <a:cubicBezTo>
                    <a:pt x="649" y="335"/>
                    <a:pt x="638" y="323"/>
                    <a:pt x="638" y="310"/>
                  </a:cubicBezTo>
                  <a:cubicBezTo>
                    <a:pt x="638" y="296"/>
                    <a:pt x="649" y="285"/>
                    <a:pt x="663" y="285"/>
                  </a:cubicBezTo>
                  <a:cubicBezTo>
                    <a:pt x="676" y="285"/>
                    <a:pt x="688" y="296"/>
                    <a:pt x="688" y="310"/>
                  </a:cubicBezTo>
                  <a:close/>
                  <a:moveTo>
                    <a:pt x="594" y="394"/>
                  </a:moveTo>
                  <a:cubicBezTo>
                    <a:pt x="594" y="406"/>
                    <a:pt x="584" y="416"/>
                    <a:pt x="572" y="416"/>
                  </a:cubicBezTo>
                  <a:cubicBezTo>
                    <a:pt x="559" y="416"/>
                    <a:pt x="550" y="406"/>
                    <a:pt x="550" y="394"/>
                  </a:cubicBezTo>
                  <a:cubicBezTo>
                    <a:pt x="550" y="381"/>
                    <a:pt x="559" y="372"/>
                    <a:pt x="572" y="372"/>
                  </a:cubicBezTo>
                  <a:cubicBezTo>
                    <a:pt x="584" y="372"/>
                    <a:pt x="594" y="381"/>
                    <a:pt x="594" y="394"/>
                  </a:cubicBezTo>
                  <a:close/>
                  <a:moveTo>
                    <a:pt x="208" y="658"/>
                  </a:moveTo>
                  <a:cubicBezTo>
                    <a:pt x="208" y="672"/>
                    <a:pt x="196" y="684"/>
                    <a:pt x="182" y="684"/>
                  </a:cubicBezTo>
                  <a:cubicBezTo>
                    <a:pt x="167" y="684"/>
                    <a:pt x="156" y="672"/>
                    <a:pt x="156" y="658"/>
                  </a:cubicBezTo>
                  <a:cubicBezTo>
                    <a:pt x="156" y="643"/>
                    <a:pt x="167" y="632"/>
                    <a:pt x="182" y="632"/>
                  </a:cubicBezTo>
                  <a:cubicBezTo>
                    <a:pt x="196" y="632"/>
                    <a:pt x="208" y="643"/>
                    <a:pt x="208" y="658"/>
                  </a:cubicBezTo>
                  <a:close/>
                  <a:moveTo>
                    <a:pt x="720" y="232"/>
                  </a:moveTo>
                  <a:cubicBezTo>
                    <a:pt x="720" y="245"/>
                    <a:pt x="709" y="256"/>
                    <a:pt x="696" y="256"/>
                  </a:cubicBezTo>
                  <a:cubicBezTo>
                    <a:pt x="682" y="256"/>
                    <a:pt x="672" y="245"/>
                    <a:pt x="672" y="232"/>
                  </a:cubicBezTo>
                  <a:cubicBezTo>
                    <a:pt x="672" y="218"/>
                    <a:pt x="682" y="208"/>
                    <a:pt x="696" y="208"/>
                  </a:cubicBezTo>
                  <a:cubicBezTo>
                    <a:pt x="709" y="208"/>
                    <a:pt x="720" y="218"/>
                    <a:pt x="720" y="232"/>
                  </a:cubicBezTo>
                  <a:close/>
                  <a:moveTo>
                    <a:pt x="570" y="730"/>
                  </a:moveTo>
                  <a:cubicBezTo>
                    <a:pt x="570" y="744"/>
                    <a:pt x="557" y="757"/>
                    <a:pt x="543" y="757"/>
                  </a:cubicBezTo>
                  <a:cubicBezTo>
                    <a:pt x="528" y="757"/>
                    <a:pt x="516" y="744"/>
                    <a:pt x="516" y="730"/>
                  </a:cubicBezTo>
                  <a:cubicBezTo>
                    <a:pt x="516" y="715"/>
                    <a:pt x="528" y="703"/>
                    <a:pt x="543" y="703"/>
                  </a:cubicBezTo>
                  <a:cubicBezTo>
                    <a:pt x="557" y="703"/>
                    <a:pt x="570" y="715"/>
                    <a:pt x="570" y="730"/>
                  </a:cubicBezTo>
                  <a:close/>
                  <a:moveTo>
                    <a:pt x="788" y="303"/>
                  </a:moveTo>
                  <a:cubicBezTo>
                    <a:pt x="788" y="315"/>
                    <a:pt x="777" y="326"/>
                    <a:pt x="765" y="326"/>
                  </a:cubicBezTo>
                  <a:cubicBezTo>
                    <a:pt x="752" y="326"/>
                    <a:pt x="742" y="315"/>
                    <a:pt x="742" y="303"/>
                  </a:cubicBezTo>
                  <a:cubicBezTo>
                    <a:pt x="742" y="290"/>
                    <a:pt x="752" y="280"/>
                    <a:pt x="765" y="280"/>
                  </a:cubicBezTo>
                  <a:cubicBezTo>
                    <a:pt x="777" y="280"/>
                    <a:pt x="788" y="290"/>
                    <a:pt x="788" y="303"/>
                  </a:cubicBezTo>
                  <a:close/>
                  <a:moveTo>
                    <a:pt x="272" y="602"/>
                  </a:moveTo>
                  <a:cubicBezTo>
                    <a:pt x="272" y="615"/>
                    <a:pt x="261" y="626"/>
                    <a:pt x="248" y="626"/>
                  </a:cubicBezTo>
                  <a:cubicBezTo>
                    <a:pt x="234" y="626"/>
                    <a:pt x="224" y="615"/>
                    <a:pt x="224" y="602"/>
                  </a:cubicBezTo>
                  <a:cubicBezTo>
                    <a:pt x="224" y="588"/>
                    <a:pt x="234" y="578"/>
                    <a:pt x="248" y="578"/>
                  </a:cubicBezTo>
                  <a:cubicBezTo>
                    <a:pt x="261" y="578"/>
                    <a:pt x="272" y="588"/>
                    <a:pt x="272" y="602"/>
                  </a:cubicBezTo>
                  <a:close/>
                  <a:moveTo>
                    <a:pt x="373" y="507"/>
                  </a:moveTo>
                  <a:cubicBezTo>
                    <a:pt x="373" y="522"/>
                    <a:pt x="360" y="535"/>
                    <a:pt x="345" y="535"/>
                  </a:cubicBezTo>
                  <a:cubicBezTo>
                    <a:pt x="329" y="535"/>
                    <a:pt x="317" y="522"/>
                    <a:pt x="317" y="507"/>
                  </a:cubicBezTo>
                  <a:cubicBezTo>
                    <a:pt x="317" y="491"/>
                    <a:pt x="329" y="479"/>
                    <a:pt x="345" y="479"/>
                  </a:cubicBezTo>
                  <a:cubicBezTo>
                    <a:pt x="360" y="479"/>
                    <a:pt x="373" y="491"/>
                    <a:pt x="373" y="507"/>
                  </a:cubicBezTo>
                  <a:close/>
                  <a:moveTo>
                    <a:pt x="599" y="606"/>
                  </a:moveTo>
                  <a:cubicBezTo>
                    <a:pt x="599" y="619"/>
                    <a:pt x="587" y="631"/>
                    <a:pt x="574" y="631"/>
                  </a:cubicBezTo>
                  <a:cubicBezTo>
                    <a:pt x="560" y="631"/>
                    <a:pt x="549" y="619"/>
                    <a:pt x="549" y="606"/>
                  </a:cubicBezTo>
                  <a:cubicBezTo>
                    <a:pt x="549" y="592"/>
                    <a:pt x="560" y="581"/>
                    <a:pt x="574" y="581"/>
                  </a:cubicBezTo>
                  <a:cubicBezTo>
                    <a:pt x="587" y="581"/>
                    <a:pt x="599" y="592"/>
                    <a:pt x="599" y="606"/>
                  </a:cubicBezTo>
                  <a:close/>
                  <a:moveTo>
                    <a:pt x="871" y="431"/>
                  </a:moveTo>
                  <a:cubicBezTo>
                    <a:pt x="871" y="444"/>
                    <a:pt x="860" y="455"/>
                    <a:pt x="847" y="455"/>
                  </a:cubicBezTo>
                  <a:cubicBezTo>
                    <a:pt x="833" y="455"/>
                    <a:pt x="823" y="444"/>
                    <a:pt x="823" y="431"/>
                  </a:cubicBezTo>
                  <a:cubicBezTo>
                    <a:pt x="823" y="417"/>
                    <a:pt x="833" y="407"/>
                    <a:pt x="847" y="407"/>
                  </a:cubicBezTo>
                  <a:cubicBezTo>
                    <a:pt x="860" y="407"/>
                    <a:pt x="871" y="417"/>
                    <a:pt x="871" y="431"/>
                  </a:cubicBezTo>
                  <a:close/>
                  <a:moveTo>
                    <a:pt x="806" y="684"/>
                  </a:moveTo>
                  <a:cubicBezTo>
                    <a:pt x="806" y="697"/>
                    <a:pt x="795" y="708"/>
                    <a:pt x="782" y="708"/>
                  </a:cubicBezTo>
                  <a:cubicBezTo>
                    <a:pt x="768" y="708"/>
                    <a:pt x="758" y="697"/>
                    <a:pt x="758" y="684"/>
                  </a:cubicBezTo>
                  <a:cubicBezTo>
                    <a:pt x="758" y="670"/>
                    <a:pt x="768" y="660"/>
                    <a:pt x="782" y="660"/>
                  </a:cubicBezTo>
                  <a:cubicBezTo>
                    <a:pt x="795" y="660"/>
                    <a:pt x="806" y="670"/>
                    <a:pt x="806" y="684"/>
                  </a:cubicBezTo>
                  <a:close/>
                  <a:moveTo>
                    <a:pt x="301" y="423"/>
                  </a:moveTo>
                  <a:cubicBezTo>
                    <a:pt x="301" y="439"/>
                    <a:pt x="288" y="452"/>
                    <a:pt x="272" y="452"/>
                  </a:cubicBezTo>
                  <a:cubicBezTo>
                    <a:pt x="255" y="452"/>
                    <a:pt x="243" y="439"/>
                    <a:pt x="243" y="423"/>
                  </a:cubicBezTo>
                  <a:cubicBezTo>
                    <a:pt x="243" y="406"/>
                    <a:pt x="255" y="394"/>
                    <a:pt x="272" y="394"/>
                  </a:cubicBezTo>
                  <a:cubicBezTo>
                    <a:pt x="288" y="394"/>
                    <a:pt x="301" y="406"/>
                    <a:pt x="301" y="423"/>
                  </a:cubicBezTo>
                  <a:close/>
                  <a:moveTo>
                    <a:pt x="491" y="318"/>
                  </a:moveTo>
                  <a:cubicBezTo>
                    <a:pt x="491" y="335"/>
                    <a:pt x="476" y="350"/>
                    <a:pt x="459" y="350"/>
                  </a:cubicBezTo>
                  <a:cubicBezTo>
                    <a:pt x="441" y="350"/>
                    <a:pt x="427" y="335"/>
                    <a:pt x="427" y="318"/>
                  </a:cubicBezTo>
                  <a:cubicBezTo>
                    <a:pt x="427" y="300"/>
                    <a:pt x="441" y="286"/>
                    <a:pt x="459" y="286"/>
                  </a:cubicBezTo>
                  <a:cubicBezTo>
                    <a:pt x="476" y="286"/>
                    <a:pt x="491" y="300"/>
                    <a:pt x="491" y="318"/>
                  </a:cubicBezTo>
                  <a:close/>
                  <a:moveTo>
                    <a:pt x="848" y="328"/>
                  </a:moveTo>
                  <a:cubicBezTo>
                    <a:pt x="848" y="346"/>
                    <a:pt x="832" y="362"/>
                    <a:pt x="814" y="362"/>
                  </a:cubicBezTo>
                  <a:cubicBezTo>
                    <a:pt x="795" y="362"/>
                    <a:pt x="780" y="346"/>
                    <a:pt x="780" y="328"/>
                  </a:cubicBezTo>
                  <a:cubicBezTo>
                    <a:pt x="780" y="309"/>
                    <a:pt x="795" y="294"/>
                    <a:pt x="814" y="294"/>
                  </a:cubicBezTo>
                  <a:cubicBezTo>
                    <a:pt x="832" y="294"/>
                    <a:pt x="848" y="309"/>
                    <a:pt x="848" y="328"/>
                  </a:cubicBezTo>
                  <a:close/>
                  <a:moveTo>
                    <a:pt x="364" y="641"/>
                  </a:moveTo>
                  <a:cubicBezTo>
                    <a:pt x="364" y="659"/>
                    <a:pt x="348" y="675"/>
                    <a:pt x="330" y="675"/>
                  </a:cubicBezTo>
                  <a:cubicBezTo>
                    <a:pt x="311" y="675"/>
                    <a:pt x="296" y="659"/>
                    <a:pt x="296" y="641"/>
                  </a:cubicBezTo>
                  <a:cubicBezTo>
                    <a:pt x="296" y="622"/>
                    <a:pt x="311" y="607"/>
                    <a:pt x="330" y="607"/>
                  </a:cubicBezTo>
                  <a:cubicBezTo>
                    <a:pt x="348" y="607"/>
                    <a:pt x="364" y="622"/>
                    <a:pt x="364" y="641"/>
                  </a:cubicBezTo>
                  <a:close/>
                  <a:moveTo>
                    <a:pt x="533" y="485"/>
                  </a:moveTo>
                  <a:cubicBezTo>
                    <a:pt x="533" y="500"/>
                    <a:pt x="520" y="513"/>
                    <a:pt x="505" y="513"/>
                  </a:cubicBezTo>
                  <a:cubicBezTo>
                    <a:pt x="489" y="513"/>
                    <a:pt x="477" y="500"/>
                    <a:pt x="477" y="485"/>
                  </a:cubicBezTo>
                  <a:cubicBezTo>
                    <a:pt x="477" y="469"/>
                    <a:pt x="489" y="457"/>
                    <a:pt x="505" y="457"/>
                  </a:cubicBezTo>
                  <a:cubicBezTo>
                    <a:pt x="520" y="457"/>
                    <a:pt x="533" y="469"/>
                    <a:pt x="533" y="485"/>
                  </a:cubicBezTo>
                  <a:close/>
                  <a:moveTo>
                    <a:pt x="221" y="489"/>
                  </a:moveTo>
                  <a:cubicBezTo>
                    <a:pt x="221" y="503"/>
                    <a:pt x="208" y="516"/>
                    <a:pt x="194" y="516"/>
                  </a:cubicBezTo>
                  <a:cubicBezTo>
                    <a:pt x="179" y="516"/>
                    <a:pt x="167" y="503"/>
                    <a:pt x="167" y="489"/>
                  </a:cubicBezTo>
                  <a:cubicBezTo>
                    <a:pt x="167" y="474"/>
                    <a:pt x="179" y="462"/>
                    <a:pt x="194" y="462"/>
                  </a:cubicBezTo>
                  <a:cubicBezTo>
                    <a:pt x="208" y="462"/>
                    <a:pt x="221" y="474"/>
                    <a:pt x="221" y="489"/>
                  </a:cubicBezTo>
                  <a:close/>
                </a:path>
              </a:pathLst>
            </a:custGeom>
            <a:solidFill>
              <a:srgbClr val="D7BDE2"/>
            </a:solidFill>
            <a:ln>
              <a:noFill/>
            </a:ln>
          </p:spPr>
        </p:sp>
        <p:sp>
          <p:nvSpPr>
            <p:cNvPr id="41" name="Forma 40"/>
            <p:cNvSpPr/>
            <p:nvPr/>
          </p:nvSpPr>
          <p:spPr>
            <a:xfrm>
              <a:off x="5120640" y="283464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50" y="420"/>
                  </a:moveTo>
                  <a:cubicBezTo>
                    <a:pt x="450" y="486"/>
                    <a:pt x="396" y="540"/>
                    <a:pt x="330" y="540"/>
                  </a:cubicBezTo>
                  <a:cubicBezTo>
                    <a:pt x="263" y="540"/>
                    <a:pt x="210" y="486"/>
                    <a:pt x="210" y="420"/>
                  </a:cubicBezTo>
                  <a:cubicBezTo>
                    <a:pt x="210" y="353"/>
                    <a:pt x="263" y="300"/>
                    <a:pt x="330" y="300"/>
                  </a:cubicBezTo>
                  <a:cubicBezTo>
                    <a:pt x="396" y="300"/>
                    <a:pt x="450" y="353"/>
                    <a:pt x="450" y="420"/>
                  </a:cubicBezTo>
                  <a:close/>
                  <a:moveTo>
                    <a:pt x="620" y="330"/>
                  </a:moveTo>
                  <a:cubicBezTo>
                    <a:pt x="620" y="396"/>
                    <a:pt x="566" y="450"/>
                    <a:pt x="500" y="450"/>
                  </a:cubicBezTo>
                  <a:cubicBezTo>
                    <a:pt x="433" y="450"/>
                    <a:pt x="380" y="396"/>
                    <a:pt x="380" y="330"/>
                  </a:cubicBezTo>
                  <a:cubicBezTo>
                    <a:pt x="380" y="263"/>
                    <a:pt x="433" y="210"/>
                    <a:pt x="500" y="210"/>
                  </a:cubicBezTo>
                  <a:cubicBezTo>
                    <a:pt x="566" y="210"/>
                    <a:pt x="620" y="263"/>
                    <a:pt x="620" y="330"/>
                  </a:cubicBezTo>
                  <a:close/>
                  <a:moveTo>
                    <a:pt x="780" y="450"/>
                  </a:moveTo>
                  <a:cubicBezTo>
                    <a:pt x="780" y="516"/>
                    <a:pt x="726" y="570"/>
                    <a:pt x="660" y="570"/>
                  </a:cubicBezTo>
                  <a:cubicBezTo>
                    <a:pt x="593" y="570"/>
                    <a:pt x="540" y="516"/>
                    <a:pt x="540" y="450"/>
                  </a:cubicBezTo>
                  <a:cubicBezTo>
                    <a:pt x="540" y="383"/>
                    <a:pt x="593" y="330"/>
                    <a:pt x="660" y="330"/>
                  </a:cubicBezTo>
                  <a:cubicBezTo>
                    <a:pt x="726" y="330"/>
                    <a:pt x="780" y="383"/>
                    <a:pt x="780" y="450"/>
                  </a:cubicBezTo>
                  <a:close/>
                  <a:moveTo>
                    <a:pt x="630" y="600"/>
                  </a:moveTo>
                  <a:cubicBezTo>
                    <a:pt x="630" y="660"/>
                    <a:pt x="580" y="710"/>
                    <a:pt x="520" y="710"/>
                  </a:cubicBezTo>
                  <a:cubicBezTo>
                    <a:pt x="459" y="710"/>
                    <a:pt x="410" y="660"/>
                    <a:pt x="410" y="600"/>
                  </a:cubicBezTo>
                  <a:cubicBezTo>
                    <a:pt x="410" y="539"/>
                    <a:pt x="459" y="490"/>
                    <a:pt x="520" y="490"/>
                  </a:cubicBezTo>
                  <a:cubicBezTo>
                    <a:pt x="580" y="490"/>
                    <a:pt x="630" y="539"/>
                    <a:pt x="63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59B6"/>
                </a:gs>
                <a:gs pos="100000">
                  <a:srgbClr val="5B2C6F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4A235A"/>
              </a:solidFill>
              <a:round/>
            </a:ln>
          </p:spPr>
        </p:sp>
      </p:grpSp>
      <p:sp>
        <p:nvSpPr>
          <p:cNvPr id="42" name="!!Edema"/>
          <p:cNvSpPr/>
          <p:nvPr/>
        </p:nvSpPr>
        <p:spPr>
          <a:xfrm>
            <a:off x="822960" y="868680"/>
            <a:ext cx="4480560" cy="5074920"/>
          </a:xfrm>
          <a:prstGeom prst="ellipse">
            <a:avLst/>
          </a:prstGeom>
          <a:noFill/>
          <a:ln w="38100" cap="rnd">
            <a:solidFill>
              <a:srgbClr val="5DADE2"/>
            </a:solidFill>
            <a:prstDash val="dash"/>
            <a:round/>
          </a:ln>
        </p:spPr>
      </p:sp>
      <p:grpSp>
        <p:nvGrpSpPr>
          <p:cNvPr id="43" name="Caja PC7"/>
          <p:cNvGrpSpPr/>
          <p:nvPr/>
        </p:nvGrpSpPr>
        <p:grpSpPr>
          <a:xfrm>
            <a:off x="8549640" y="1097280"/>
            <a:ext cx="3383280" cy="3291840"/>
            <a:chOff x="8549640" y="1097280"/>
            <a:chExt cx="3383280" cy="3291840"/>
          </a:xfrm>
        </p:grpSpPr>
        <p:sp>
          <p:nvSpPr>
            <p:cNvPr id="44" name="Forma 43"/>
            <p:cNvSpPr/>
            <p:nvPr/>
          </p:nvSpPr>
          <p:spPr>
            <a:xfrm>
              <a:off x="8549640" y="1298448"/>
              <a:ext cx="3383280" cy="30906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Inflamación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local: fiebre (no necesariamente infección),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edema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paso de líquido al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tercer espacio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(taquicardia, hipotensión).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45" name="Forma 44"/>
            <p:cNvSpPr/>
            <p:nvPr/>
          </p:nvSpPr>
          <p:spPr>
            <a:xfrm>
              <a:off x="8677656" y="1097280"/>
              <a:ext cx="1716322" cy="384048"/>
            </a:xfrm>
            <a:prstGeom prst="rect">
              <a:avLst/>
            </a:prstGeom>
            <a:solidFill>
              <a:srgbClr val="0070C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RESPUESTA LOCAL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641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7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RESPUESTA LOCAL: INFLAMACIÓN</a:t>
            </a:r>
            <a:endParaRPr lang="es-AR" sz="27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46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5760720" y="5212080"/>
            <a:ext cx="2194560" cy="921715"/>
            <a:chOff x="5760720" y="5212080"/>
            <a:chExt cx="2194560" cy="921715"/>
          </a:xfrm>
        </p:grpSpPr>
        <p:sp>
          <p:nvSpPr>
            <p:cNvPr id="6" name="Forma 5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5760720" y="5212080"/>
              <a:ext cx="2194560" cy="921715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CelulaAcinar"/>
          <p:cNvGrpSpPr/>
          <p:nvPr/>
        </p:nvGrpSpPr>
        <p:grpSpPr>
          <a:xfrm>
            <a:off x="1097280" y="1097280"/>
            <a:ext cx="3840480" cy="4572000"/>
            <a:chOff x="1097280" y="1097280"/>
            <a:chExt cx="3840480" cy="4572000"/>
          </a:xfrm>
        </p:grpSpPr>
        <p:sp>
          <p:nvSpPr>
            <p:cNvPr id="11" name="Membrana acinar"/>
            <p:cNvSpPr/>
            <p:nvPr/>
          </p:nvSpPr>
          <p:spPr>
            <a:xfrm>
              <a:off x="1097280" y="1097280"/>
              <a:ext cx="3840480" cy="457200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0" y="1000"/>
                  </a:moveTo>
                  <a:lnTo>
                    <a:pt x="940" y="1000"/>
                  </a:lnTo>
                  <a:cubicBezTo>
                    <a:pt x="900" y="700"/>
                    <a:pt x="780" y="200"/>
                    <a:pt x="640" y="40"/>
                  </a:cubicBezTo>
                  <a:lnTo>
                    <a:pt x="360" y="40"/>
                  </a:lnTo>
                  <a:cubicBezTo>
                    <a:pt x="220" y="200"/>
                    <a:pt x="100" y="700"/>
                    <a:pt x="6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4EC"/>
                </a:gs>
                <a:gs pos="100000">
                  <a:srgbClr val="F8BBD0"/>
                </a:gs>
              </a:gsLst>
              <a:lin ang="5400000" scaled="0"/>
            </a:gradFill>
            <a:ln w="28575" cap="rnd">
              <a:solidFill>
                <a:srgbClr val="880E4F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grpSp>
          <p:nvGrpSpPr>
            <p:cNvPr id="12" name="Retículo endoplasmático"/>
            <p:cNvGrpSpPr/>
            <p:nvPr/>
          </p:nvGrpSpPr>
          <p:grpSpPr>
            <a:xfrm>
              <a:off x="1865376" y="4100170"/>
              <a:ext cx="2304288" cy="530352"/>
              <a:chOff x="1865376" y="4100170"/>
              <a:chExt cx="2304288" cy="530352"/>
            </a:xfrm>
          </p:grpSpPr>
          <p:sp>
            <p:nvSpPr>
              <p:cNvPr id="13" name="Forma 12"/>
              <p:cNvSpPr/>
              <p:nvPr/>
            </p:nvSpPr>
            <p:spPr>
              <a:xfrm>
                <a:off x="1865376" y="411480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4" name="Forma 13"/>
              <p:cNvSpPr/>
              <p:nvPr/>
            </p:nvSpPr>
            <p:spPr>
              <a:xfrm>
                <a:off x="1865376" y="410017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5" name="Forma 14"/>
              <p:cNvSpPr/>
              <p:nvPr/>
            </p:nvSpPr>
            <p:spPr>
              <a:xfrm>
                <a:off x="1865376" y="429768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6" name="Forma 15"/>
              <p:cNvSpPr/>
              <p:nvPr/>
            </p:nvSpPr>
            <p:spPr>
              <a:xfrm>
                <a:off x="1865376" y="428305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17" name="Forma 16"/>
              <p:cNvSpPr/>
              <p:nvPr/>
            </p:nvSpPr>
            <p:spPr>
              <a:xfrm>
                <a:off x="1865376" y="4480560"/>
                <a:ext cx="230428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FB8E5"/>
              </a:solidFill>
              <a:ln w="9525" cap="rnd">
                <a:solidFill>
                  <a:srgbClr val="855F8C"/>
                </a:solidFill>
                <a:round/>
              </a:ln>
            </p:spPr>
          </p:sp>
          <p:sp>
            <p:nvSpPr>
              <p:cNvPr id="18" name="Forma 17"/>
              <p:cNvSpPr/>
              <p:nvPr/>
            </p:nvSpPr>
            <p:spPr>
              <a:xfrm>
                <a:off x="1865376" y="4465930"/>
                <a:ext cx="2304288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19" name="Núcleo basal"/>
            <p:cNvGrpSpPr/>
            <p:nvPr/>
          </p:nvGrpSpPr>
          <p:grpSpPr>
            <a:xfrm>
              <a:off x="2479853" y="4663440"/>
              <a:ext cx="1075334" cy="967801"/>
              <a:chOff x="2479853" y="4663440"/>
              <a:chExt cx="1075334" cy="967801"/>
            </a:xfrm>
          </p:grpSpPr>
          <p:sp>
            <p:nvSpPr>
              <p:cNvPr id="20" name="Forma 19"/>
              <p:cNvSpPr/>
              <p:nvPr/>
            </p:nvSpPr>
            <p:spPr>
              <a:xfrm>
                <a:off x="2479853" y="4663440"/>
                <a:ext cx="1075334" cy="967801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21" name="Forma 20"/>
              <p:cNvSpPr/>
              <p:nvPr/>
            </p:nvSpPr>
            <p:spPr>
              <a:xfrm>
                <a:off x="3039027" y="4986040"/>
                <a:ext cx="236574" cy="215067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</p:grpSp>
      <p:sp>
        <p:nvSpPr>
          <p:cNvPr id="22" name="!!Daño celular"/>
          <p:cNvSpPr/>
          <p:nvPr/>
        </p:nvSpPr>
        <p:spPr>
          <a:xfrm>
            <a:off x="1097280" y="1097280"/>
            <a:ext cx="3840480" cy="4572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60" y="1000"/>
                </a:moveTo>
                <a:lnTo>
                  <a:pt x="940" y="1000"/>
                </a:lnTo>
                <a:cubicBezTo>
                  <a:pt x="900" y="700"/>
                  <a:pt x="780" y="200"/>
                  <a:pt x="640" y="40"/>
                </a:cubicBezTo>
                <a:lnTo>
                  <a:pt x="360" y="40"/>
                </a:lnTo>
                <a:cubicBezTo>
                  <a:pt x="220" y="200"/>
                  <a:pt x="100" y="700"/>
                  <a:pt x="60" y="1000"/>
                </a:cubicBezTo>
                <a:close/>
              </a:path>
            </a:pathLst>
          </a:custGeom>
          <a:solidFill>
            <a:srgbClr val="4A235A">
              <a:alpha val="50000"/>
            </a:srgbClr>
          </a:solidFill>
          <a:ln w="25400" cap="rnd">
            <a:solidFill>
              <a:srgbClr val="1B0E24"/>
            </a:solidFill>
            <a:prstDash val="dash"/>
            <a:round/>
          </a:ln>
        </p:spPr>
      </p:sp>
      <p:sp>
        <p:nvSpPr>
          <p:cNvPr id="23" name="!!Zimogeno 1"/>
          <p:cNvSpPr/>
          <p:nvPr/>
        </p:nvSpPr>
        <p:spPr>
          <a:xfrm>
            <a:off x="2633472" y="17830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4" name="!!Zimogeno 2"/>
          <p:cNvSpPr/>
          <p:nvPr/>
        </p:nvSpPr>
        <p:spPr>
          <a:xfrm>
            <a:off x="3094330" y="21031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5" name="!!Zimogeno 3"/>
          <p:cNvSpPr/>
          <p:nvPr/>
        </p:nvSpPr>
        <p:spPr>
          <a:xfrm>
            <a:off x="2825496" y="25603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6" name="!!Zimogeno 4"/>
          <p:cNvSpPr/>
          <p:nvPr/>
        </p:nvSpPr>
        <p:spPr>
          <a:xfrm>
            <a:off x="3324758" y="274320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7" name="!!Zimogeno 5"/>
          <p:cNvSpPr/>
          <p:nvPr/>
        </p:nvSpPr>
        <p:spPr>
          <a:xfrm>
            <a:off x="2556662" y="31546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sp>
        <p:nvSpPr>
          <p:cNvPr id="28" name="!!Zimogeno 6"/>
          <p:cNvSpPr/>
          <p:nvPr/>
        </p:nvSpPr>
        <p:spPr>
          <a:xfrm>
            <a:off x="3094330" y="3383280"/>
            <a:ext cx="499262" cy="499262"/>
          </a:xfrm>
          <a:prstGeom prst="ellipse">
            <a:avLst/>
          </a:prstGeom>
          <a:gradFill rotWithShape="1">
            <a:gsLst>
              <a:gs pos="0">
                <a:srgbClr val="FFF9C4"/>
              </a:gs>
              <a:gs pos="60000">
                <a:srgbClr val="FBC02D"/>
              </a:gs>
              <a:gs pos="100000">
                <a:srgbClr val="C49000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7F6000"/>
            </a:solidFill>
            <a:round/>
          </a:ln>
        </p:spPr>
      </p:sp>
      <p:sp>
        <p:nvSpPr>
          <p:cNvPr id="29" name="!!Zimogeno 7"/>
          <p:cNvSpPr/>
          <p:nvPr/>
        </p:nvSpPr>
        <p:spPr>
          <a:xfrm>
            <a:off x="3478378" y="2331720"/>
            <a:ext cx="499262" cy="499262"/>
          </a:xfrm>
          <a:prstGeom prst="ellipse">
            <a:avLst/>
          </a:prstGeom>
          <a:gradFill rotWithShape="1">
            <a:gsLst>
              <a:gs pos="0">
                <a:srgbClr val="FADBD8"/>
              </a:gs>
              <a:gs pos="60000">
                <a:srgbClr val="E74C3C"/>
              </a:gs>
              <a:gs pos="100000">
                <a:srgbClr val="922B21"/>
              </a:gs>
            </a:gsLst>
            <a:path path="circle">
              <a:fillToRect l="35000" t="30000" r="65000" b="70000"/>
            </a:path>
          </a:gradFill>
          <a:ln w="12700" cap="rnd">
            <a:solidFill>
              <a:srgbClr val="641E16"/>
            </a:solidFill>
            <a:round/>
          </a:ln>
        </p:spPr>
      </p:sp>
      <p:grpSp>
        <p:nvGrpSpPr>
          <p:cNvPr id="30" name="!!Leucocito 1"/>
          <p:cNvGrpSpPr/>
          <p:nvPr/>
        </p:nvGrpSpPr>
        <p:grpSpPr>
          <a:xfrm>
            <a:off x="5120640" y="1280160"/>
            <a:ext cx="731520" cy="731520"/>
            <a:chOff x="5120640" y="1280160"/>
            <a:chExt cx="731520" cy="731520"/>
          </a:xfrm>
        </p:grpSpPr>
        <p:sp>
          <p:nvSpPr>
            <p:cNvPr id="31" name="Forma 30"/>
            <p:cNvSpPr/>
            <p:nvPr/>
          </p:nvSpPr>
          <p:spPr>
            <a:xfrm>
              <a:off x="5120640" y="128016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F9F0F5"/>
                </a:gs>
                <a:gs pos="55000">
                  <a:srgbClr val="F5E6EF"/>
                </a:gs>
                <a:gs pos="100000">
                  <a:srgbClr val="D7CAD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D3C98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32" name="Forma 31"/>
            <p:cNvSpPr/>
            <p:nvPr/>
          </p:nvSpPr>
          <p:spPr>
            <a:xfrm>
              <a:off x="5120640" y="128016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66" y="741"/>
                  </a:moveTo>
                  <a:cubicBezTo>
                    <a:pt x="666" y="753"/>
                    <a:pt x="656" y="763"/>
                    <a:pt x="644" y="763"/>
                  </a:cubicBezTo>
                  <a:cubicBezTo>
                    <a:pt x="631" y="763"/>
                    <a:pt x="622" y="753"/>
                    <a:pt x="622" y="741"/>
                  </a:cubicBezTo>
                  <a:cubicBezTo>
                    <a:pt x="622" y="728"/>
                    <a:pt x="631" y="719"/>
                    <a:pt x="644" y="719"/>
                  </a:cubicBezTo>
                  <a:cubicBezTo>
                    <a:pt x="656" y="719"/>
                    <a:pt x="666" y="728"/>
                    <a:pt x="666" y="741"/>
                  </a:cubicBezTo>
                  <a:close/>
                  <a:moveTo>
                    <a:pt x="390" y="623"/>
                  </a:moveTo>
                  <a:cubicBezTo>
                    <a:pt x="390" y="639"/>
                    <a:pt x="377" y="652"/>
                    <a:pt x="361" y="652"/>
                  </a:cubicBezTo>
                  <a:cubicBezTo>
                    <a:pt x="344" y="652"/>
                    <a:pt x="332" y="639"/>
                    <a:pt x="332" y="623"/>
                  </a:cubicBezTo>
                  <a:cubicBezTo>
                    <a:pt x="332" y="606"/>
                    <a:pt x="344" y="594"/>
                    <a:pt x="361" y="594"/>
                  </a:cubicBezTo>
                  <a:cubicBezTo>
                    <a:pt x="377" y="594"/>
                    <a:pt x="390" y="606"/>
                    <a:pt x="390" y="623"/>
                  </a:cubicBezTo>
                  <a:close/>
                  <a:moveTo>
                    <a:pt x="468" y="819"/>
                  </a:moveTo>
                  <a:cubicBezTo>
                    <a:pt x="468" y="837"/>
                    <a:pt x="452" y="853"/>
                    <a:pt x="434" y="853"/>
                  </a:cubicBezTo>
                  <a:cubicBezTo>
                    <a:pt x="415" y="853"/>
                    <a:pt x="400" y="837"/>
                    <a:pt x="400" y="819"/>
                  </a:cubicBezTo>
                  <a:cubicBezTo>
                    <a:pt x="400" y="800"/>
                    <a:pt x="415" y="785"/>
                    <a:pt x="434" y="785"/>
                  </a:cubicBezTo>
                  <a:cubicBezTo>
                    <a:pt x="452" y="785"/>
                    <a:pt x="468" y="800"/>
                    <a:pt x="468" y="819"/>
                  </a:cubicBezTo>
                  <a:close/>
                  <a:moveTo>
                    <a:pt x="674" y="485"/>
                  </a:moveTo>
                  <a:cubicBezTo>
                    <a:pt x="674" y="497"/>
                    <a:pt x="663" y="508"/>
                    <a:pt x="651" y="508"/>
                  </a:cubicBezTo>
                  <a:cubicBezTo>
                    <a:pt x="638" y="508"/>
                    <a:pt x="628" y="497"/>
                    <a:pt x="628" y="485"/>
                  </a:cubicBezTo>
                  <a:cubicBezTo>
                    <a:pt x="628" y="472"/>
                    <a:pt x="638" y="462"/>
                    <a:pt x="651" y="462"/>
                  </a:cubicBezTo>
                  <a:cubicBezTo>
                    <a:pt x="663" y="462"/>
                    <a:pt x="674" y="472"/>
                    <a:pt x="674" y="485"/>
                  </a:cubicBezTo>
                  <a:close/>
                  <a:moveTo>
                    <a:pt x="427" y="519"/>
                  </a:moveTo>
                  <a:cubicBezTo>
                    <a:pt x="427" y="531"/>
                    <a:pt x="417" y="541"/>
                    <a:pt x="405" y="541"/>
                  </a:cubicBezTo>
                  <a:cubicBezTo>
                    <a:pt x="392" y="541"/>
                    <a:pt x="383" y="531"/>
                    <a:pt x="383" y="519"/>
                  </a:cubicBezTo>
                  <a:cubicBezTo>
                    <a:pt x="383" y="506"/>
                    <a:pt x="392" y="497"/>
                    <a:pt x="405" y="497"/>
                  </a:cubicBezTo>
                  <a:cubicBezTo>
                    <a:pt x="417" y="497"/>
                    <a:pt x="427" y="506"/>
                    <a:pt x="427" y="519"/>
                  </a:cubicBezTo>
                  <a:close/>
                  <a:moveTo>
                    <a:pt x="611" y="292"/>
                  </a:moveTo>
                  <a:cubicBezTo>
                    <a:pt x="611" y="309"/>
                    <a:pt x="597" y="323"/>
                    <a:pt x="580" y="323"/>
                  </a:cubicBezTo>
                  <a:cubicBezTo>
                    <a:pt x="562" y="323"/>
                    <a:pt x="549" y="309"/>
                    <a:pt x="549" y="292"/>
                  </a:cubicBezTo>
                  <a:cubicBezTo>
                    <a:pt x="549" y="274"/>
                    <a:pt x="562" y="261"/>
                    <a:pt x="580" y="261"/>
                  </a:cubicBezTo>
                  <a:cubicBezTo>
                    <a:pt x="597" y="261"/>
                    <a:pt x="611" y="274"/>
                    <a:pt x="611" y="292"/>
                  </a:cubicBezTo>
                  <a:close/>
                  <a:moveTo>
                    <a:pt x="541" y="540"/>
                  </a:moveTo>
                  <a:cubicBezTo>
                    <a:pt x="541" y="555"/>
                    <a:pt x="528" y="568"/>
                    <a:pt x="513" y="568"/>
                  </a:cubicBezTo>
                  <a:cubicBezTo>
                    <a:pt x="497" y="568"/>
                    <a:pt x="485" y="555"/>
                    <a:pt x="485" y="540"/>
                  </a:cubicBezTo>
                  <a:cubicBezTo>
                    <a:pt x="485" y="524"/>
                    <a:pt x="497" y="512"/>
                    <a:pt x="513" y="512"/>
                  </a:cubicBezTo>
                  <a:cubicBezTo>
                    <a:pt x="528" y="512"/>
                    <a:pt x="541" y="524"/>
                    <a:pt x="541" y="540"/>
                  </a:cubicBezTo>
                  <a:close/>
                  <a:moveTo>
                    <a:pt x="466" y="841"/>
                  </a:moveTo>
                  <a:cubicBezTo>
                    <a:pt x="466" y="855"/>
                    <a:pt x="454" y="867"/>
                    <a:pt x="440" y="867"/>
                  </a:cubicBezTo>
                  <a:cubicBezTo>
                    <a:pt x="425" y="867"/>
                    <a:pt x="414" y="855"/>
                    <a:pt x="414" y="841"/>
                  </a:cubicBezTo>
                  <a:cubicBezTo>
                    <a:pt x="414" y="826"/>
                    <a:pt x="425" y="815"/>
                    <a:pt x="440" y="815"/>
                  </a:cubicBezTo>
                  <a:cubicBezTo>
                    <a:pt x="454" y="815"/>
                    <a:pt x="466" y="826"/>
                    <a:pt x="466" y="841"/>
                  </a:cubicBezTo>
                  <a:close/>
                  <a:moveTo>
                    <a:pt x="649" y="328"/>
                  </a:moveTo>
                  <a:cubicBezTo>
                    <a:pt x="649" y="345"/>
                    <a:pt x="634" y="360"/>
                    <a:pt x="617" y="360"/>
                  </a:cubicBezTo>
                  <a:cubicBezTo>
                    <a:pt x="599" y="360"/>
                    <a:pt x="585" y="345"/>
                    <a:pt x="585" y="328"/>
                  </a:cubicBezTo>
                  <a:cubicBezTo>
                    <a:pt x="585" y="310"/>
                    <a:pt x="599" y="296"/>
                    <a:pt x="617" y="296"/>
                  </a:cubicBezTo>
                  <a:cubicBezTo>
                    <a:pt x="634" y="296"/>
                    <a:pt x="649" y="310"/>
                    <a:pt x="649" y="328"/>
                  </a:cubicBezTo>
                  <a:close/>
                  <a:moveTo>
                    <a:pt x="487" y="827"/>
                  </a:moveTo>
                  <a:cubicBezTo>
                    <a:pt x="487" y="841"/>
                    <a:pt x="474" y="854"/>
                    <a:pt x="460" y="854"/>
                  </a:cubicBezTo>
                  <a:cubicBezTo>
                    <a:pt x="445" y="854"/>
                    <a:pt x="433" y="841"/>
                    <a:pt x="433" y="827"/>
                  </a:cubicBezTo>
                  <a:cubicBezTo>
                    <a:pt x="433" y="812"/>
                    <a:pt x="445" y="800"/>
                    <a:pt x="460" y="800"/>
                  </a:cubicBezTo>
                  <a:cubicBezTo>
                    <a:pt x="474" y="800"/>
                    <a:pt x="487" y="812"/>
                    <a:pt x="487" y="827"/>
                  </a:cubicBezTo>
                  <a:close/>
                  <a:moveTo>
                    <a:pt x="320" y="617"/>
                  </a:moveTo>
                  <a:cubicBezTo>
                    <a:pt x="320" y="635"/>
                    <a:pt x="304" y="651"/>
                    <a:pt x="286" y="651"/>
                  </a:cubicBezTo>
                  <a:cubicBezTo>
                    <a:pt x="267" y="651"/>
                    <a:pt x="252" y="635"/>
                    <a:pt x="252" y="617"/>
                  </a:cubicBezTo>
                  <a:cubicBezTo>
                    <a:pt x="252" y="598"/>
                    <a:pt x="267" y="583"/>
                    <a:pt x="286" y="583"/>
                  </a:cubicBezTo>
                  <a:cubicBezTo>
                    <a:pt x="304" y="583"/>
                    <a:pt x="320" y="598"/>
                    <a:pt x="320" y="617"/>
                  </a:cubicBezTo>
                  <a:close/>
                  <a:moveTo>
                    <a:pt x="426" y="600"/>
                  </a:moveTo>
                  <a:cubicBezTo>
                    <a:pt x="426" y="617"/>
                    <a:pt x="412" y="631"/>
                    <a:pt x="395" y="631"/>
                  </a:cubicBezTo>
                  <a:cubicBezTo>
                    <a:pt x="377" y="631"/>
                    <a:pt x="364" y="617"/>
                    <a:pt x="364" y="600"/>
                  </a:cubicBezTo>
                  <a:cubicBezTo>
                    <a:pt x="364" y="582"/>
                    <a:pt x="377" y="569"/>
                    <a:pt x="395" y="569"/>
                  </a:cubicBezTo>
                  <a:cubicBezTo>
                    <a:pt x="412" y="569"/>
                    <a:pt x="426" y="582"/>
                    <a:pt x="426" y="600"/>
                  </a:cubicBezTo>
                  <a:close/>
                  <a:moveTo>
                    <a:pt x="565" y="195"/>
                  </a:moveTo>
                  <a:cubicBezTo>
                    <a:pt x="565" y="212"/>
                    <a:pt x="551" y="226"/>
                    <a:pt x="534" y="226"/>
                  </a:cubicBezTo>
                  <a:cubicBezTo>
                    <a:pt x="516" y="226"/>
                    <a:pt x="503" y="212"/>
                    <a:pt x="503" y="195"/>
                  </a:cubicBezTo>
                  <a:cubicBezTo>
                    <a:pt x="503" y="177"/>
                    <a:pt x="516" y="164"/>
                    <a:pt x="534" y="164"/>
                  </a:cubicBezTo>
                  <a:cubicBezTo>
                    <a:pt x="551" y="164"/>
                    <a:pt x="565" y="177"/>
                    <a:pt x="565" y="195"/>
                  </a:cubicBezTo>
                  <a:close/>
                  <a:moveTo>
                    <a:pt x="379" y="460"/>
                  </a:moveTo>
                  <a:cubicBezTo>
                    <a:pt x="379" y="476"/>
                    <a:pt x="365" y="490"/>
                    <a:pt x="349" y="490"/>
                  </a:cubicBezTo>
                  <a:cubicBezTo>
                    <a:pt x="332" y="490"/>
                    <a:pt x="319" y="476"/>
                    <a:pt x="319" y="460"/>
                  </a:cubicBezTo>
                  <a:cubicBezTo>
                    <a:pt x="319" y="443"/>
                    <a:pt x="332" y="430"/>
                    <a:pt x="349" y="430"/>
                  </a:cubicBezTo>
                  <a:cubicBezTo>
                    <a:pt x="365" y="430"/>
                    <a:pt x="379" y="443"/>
                    <a:pt x="379" y="460"/>
                  </a:cubicBezTo>
                  <a:close/>
                  <a:moveTo>
                    <a:pt x="551" y="395"/>
                  </a:moveTo>
                  <a:cubicBezTo>
                    <a:pt x="551" y="409"/>
                    <a:pt x="538" y="422"/>
                    <a:pt x="524" y="422"/>
                  </a:cubicBezTo>
                  <a:cubicBezTo>
                    <a:pt x="509" y="422"/>
                    <a:pt x="497" y="409"/>
                    <a:pt x="497" y="395"/>
                  </a:cubicBezTo>
                  <a:cubicBezTo>
                    <a:pt x="497" y="380"/>
                    <a:pt x="509" y="368"/>
                    <a:pt x="524" y="368"/>
                  </a:cubicBezTo>
                  <a:cubicBezTo>
                    <a:pt x="538" y="368"/>
                    <a:pt x="551" y="380"/>
                    <a:pt x="551" y="395"/>
                  </a:cubicBezTo>
                  <a:close/>
                  <a:moveTo>
                    <a:pt x="619" y="631"/>
                  </a:moveTo>
                  <a:cubicBezTo>
                    <a:pt x="619" y="643"/>
                    <a:pt x="608" y="654"/>
                    <a:pt x="596" y="654"/>
                  </a:cubicBezTo>
                  <a:cubicBezTo>
                    <a:pt x="583" y="654"/>
                    <a:pt x="573" y="643"/>
                    <a:pt x="573" y="631"/>
                  </a:cubicBezTo>
                  <a:cubicBezTo>
                    <a:pt x="573" y="618"/>
                    <a:pt x="583" y="608"/>
                    <a:pt x="596" y="608"/>
                  </a:cubicBezTo>
                  <a:cubicBezTo>
                    <a:pt x="608" y="608"/>
                    <a:pt x="619" y="618"/>
                    <a:pt x="619" y="631"/>
                  </a:cubicBezTo>
                  <a:close/>
                  <a:moveTo>
                    <a:pt x="688" y="310"/>
                  </a:moveTo>
                  <a:cubicBezTo>
                    <a:pt x="688" y="323"/>
                    <a:pt x="676" y="335"/>
                    <a:pt x="663" y="335"/>
                  </a:cubicBezTo>
                  <a:cubicBezTo>
                    <a:pt x="649" y="335"/>
                    <a:pt x="638" y="323"/>
                    <a:pt x="638" y="310"/>
                  </a:cubicBezTo>
                  <a:cubicBezTo>
                    <a:pt x="638" y="296"/>
                    <a:pt x="649" y="285"/>
                    <a:pt x="663" y="285"/>
                  </a:cubicBezTo>
                  <a:cubicBezTo>
                    <a:pt x="676" y="285"/>
                    <a:pt x="688" y="296"/>
                    <a:pt x="688" y="310"/>
                  </a:cubicBezTo>
                  <a:close/>
                  <a:moveTo>
                    <a:pt x="594" y="394"/>
                  </a:moveTo>
                  <a:cubicBezTo>
                    <a:pt x="594" y="406"/>
                    <a:pt x="584" y="416"/>
                    <a:pt x="572" y="416"/>
                  </a:cubicBezTo>
                  <a:cubicBezTo>
                    <a:pt x="559" y="416"/>
                    <a:pt x="550" y="406"/>
                    <a:pt x="550" y="394"/>
                  </a:cubicBezTo>
                  <a:cubicBezTo>
                    <a:pt x="550" y="381"/>
                    <a:pt x="559" y="372"/>
                    <a:pt x="572" y="372"/>
                  </a:cubicBezTo>
                  <a:cubicBezTo>
                    <a:pt x="584" y="372"/>
                    <a:pt x="594" y="381"/>
                    <a:pt x="594" y="394"/>
                  </a:cubicBezTo>
                  <a:close/>
                  <a:moveTo>
                    <a:pt x="208" y="658"/>
                  </a:moveTo>
                  <a:cubicBezTo>
                    <a:pt x="208" y="672"/>
                    <a:pt x="196" y="684"/>
                    <a:pt x="182" y="684"/>
                  </a:cubicBezTo>
                  <a:cubicBezTo>
                    <a:pt x="167" y="684"/>
                    <a:pt x="156" y="672"/>
                    <a:pt x="156" y="658"/>
                  </a:cubicBezTo>
                  <a:cubicBezTo>
                    <a:pt x="156" y="643"/>
                    <a:pt x="167" y="632"/>
                    <a:pt x="182" y="632"/>
                  </a:cubicBezTo>
                  <a:cubicBezTo>
                    <a:pt x="196" y="632"/>
                    <a:pt x="208" y="643"/>
                    <a:pt x="208" y="658"/>
                  </a:cubicBezTo>
                  <a:close/>
                  <a:moveTo>
                    <a:pt x="720" y="232"/>
                  </a:moveTo>
                  <a:cubicBezTo>
                    <a:pt x="720" y="245"/>
                    <a:pt x="709" y="256"/>
                    <a:pt x="696" y="256"/>
                  </a:cubicBezTo>
                  <a:cubicBezTo>
                    <a:pt x="682" y="256"/>
                    <a:pt x="672" y="245"/>
                    <a:pt x="672" y="232"/>
                  </a:cubicBezTo>
                  <a:cubicBezTo>
                    <a:pt x="672" y="218"/>
                    <a:pt x="682" y="208"/>
                    <a:pt x="696" y="208"/>
                  </a:cubicBezTo>
                  <a:cubicBezTo>
                    <a:pt x="709" y="208"/>
                    <a:pt x="720" y="218"/>
                    <a:pt x="720" y="232"/>
                  </a:cubicBezTo>
                  <a:close/>
                  <a:moveTo>
                    <a:pt x="570" y="730"/>
                  </a:moveTo>
                  <a:cubicBezTo>
                    <a:pt x="570" y="744"/>
                    <a:pt x="557" y="757"/>
                    <a:pt x="543" y="757"/>
                  </a:cubicBezTo>
                  <a:cubicBezTo>
                    <a:pt x="528" y="757"/>
                    <a:pt x="516" y="744"/>
                    <a:pt x="516" y="730"/>
                  </a:cubicBezTo>
                  <a:cubicBezTo>
                    <a:pt x="516" y="715"/>
                    <a:pt x="528" y="703"/>
                    <a:pt x="543" y="703"/>
                  </a:cubicBezTo>
                  <a:cubicBezTo>
                    <a:pt x="557" y="703"/>
                    <a:pt x="570" y="715"/>
                    <a:pt x="570" y="730"/>
                  </a:cubicBezTo>
                  <a:close/>
                  <a:moveTo>
                    <a:pt x="788" y="303"/>
                  </a:moveTo>
                  <a:cubicBezTo>
                    <a:pt x="788" y="315"/>
                    <a:pt x="777" y="326"/>
                    <a:pt x="765" y="326"/>
                  </a:cubicBezTo>
                  <a:cubicBezTo>
                    <a:pt x="752" y="326"/>
                    <a:pt x="742" y="315"/>
                    <a:pt x="742" y="303"/>
                  </a:cubicBezTo>
                  <a:cubicBezTo>
                    <a:pt x="742" y="290"/>
                    <a:pt x="752" y="280"/>
                    <a:pt x="765" y="280"/>
                  </a:cubicBezTo>
                  <a:cubicBezTo>
                    <a:pt x="777" y="280"/>
                    <a:pt x="788" y="290"/>
                    <a:pt x="788" y="303"/>
                  </a:cubicBezTo>
                  <a:close/>
                  <a:moveTo>
                    <a:pt x="272" y="602"/>
                  </a:moveTo>
                  <a:cubicBezTo>
                    <a:pt x="272" y="615"/>
                    <a:pt x="261" y="626"/>
                    <a:pt x="248" y="626"/>
                  </a:cubicBezTo>
                  <a:cubicBezTo>
                    <a:pt x="234" y="626"/>
                    <a:pt x="224" y="615"/>
                    <a:pt x="224" y="602"/>
                  </a:cubicBezTo>
                  <a:cubicBezTo>
                    <a:pt x="224" y="588"/>
                    <a:pt x="234" y="578"/>
                    <a:pt x="248" y="578"/>
                  </a:cubicBezTo>
                  <a:cubicBezTo>
                    <a:pt x="261" y="578"/>
                    <a:pt x="272" y="588"/>
                    <a:pt x="272" y="602"/>
                  </a:cubicBezTo>
                  <a:close/>
                  <a:moveTo>
                    <a:pt x="373" y="507"/>
                  </a:moveTo>
                  <a:cubicBezTo>
                    <a:pt x="373" y="522"/>
                    <a:pt x="360" y="535"/>
                    <a:pt x="345" y="535"/>
                  </a:cubicBezTo>
                  <a:cubicBezTo>
                    <a:pt x="329" y="535"/>
                    <a:pt x="317" y="522"/>
                    <a:pt x="317" y="507"/>
                  </a:cubicBezTo>
                  <a:cubicBezTo>
                    <a:pt x="317" y="491"/>
                    <a:pt x="329" y="479"/>
                    <a:pt x="345" y="479"/>
                  </a:cubicBezTo>
                  <a:cubicBezTo>
                    <a:pt x="360" y="479"/>
                    <a:pt x="373" y="491"/>
                    <a:pt x="373" y="507"/>
                  </a:cubicBezTo>
                  <a:close/>
                  <a:moveTo>
                    <a:pt x="599" y="606"/>
                  </a:moveTo>
                  <a:cubicBezTo>
                    <a:pt x="599" y="619"/>
                    <a:pt x="587" y="631"/>
                    <a:pt x="574" y="631"/>
                  </a:cubicBezTo>
                  <a:cubicBezTo>
                    <a:pt x="560" y="631"/>
                    <a:pt x="549" y="619"/>
                    <a:pt x="549" y="606"/>
                  </a:cubicBezTo>
                  <a:cubicBezTo>
                    <a:pt x="549" y="592"/>
                    <a:pt x="560" y="581"/>
                    <a:pt x="574" y="581"/>
                  </a:cubicBezTo>
                  <a:cubicBezTo>
                    <a:pt x="587" y="581"/>
                    <a:pt x="599" y="592"/>
                    <a:pt x="599" y="606"/>
                  </a:cubicBezTo>
                  <a:close/>
                  <a:moveTo>
                    <a:pt x="871" y="431"/>
                  </a:moveTo>
                  <a:cubicBezTo>
                    <a:pt x="871" y="444"/>
                    <a:pt x="860" y="455"/>
                    <a:pt x="847" y="455"/>
                  </a:cubicBezTo>
                  <a:cubicBezTo>
                    <a:pt x="833" y="455"/>
                    <a:pt x="823" y="444"/>
                    <a:pt x="823" y="431"/>
                  </a:cubicBezTo>
                  <a:cubicBezTo>
                    <a:pt x="823" y="417"/>
                    <a:pt x="833" y="407"/>
                    <a:pt x="847" y="407"/>
                  </a:cubicBezTo>
                  <a:cubicBezTo>
                    <a:pt x="860" y="407"/>
                    <a:pt x="871" y="417"/>
                    <a:pt x="871" y="431"/>
                  </a:cubicBezTo>
                  <a:close/>
                  <a:moveTo>
                    <a:pt x="806" y="684"/>
                  </a:moveTo>
                  <a:cubicBezTo>
                    <a:pt x="806" y="697"/>
                    <a:pt x="795" y="708"/>
                    <a:pt x="782" y="708"/>
                  </a:cubicBezTo>
                  <a:cubicBezTo>
                    <a:pt x="768" y="708"/>
                    <a:pt x="758" y="697"/>
                    <a:pt x="758" y="684"/>
                  </a:cubicBezTo>
                  <a:cubicBezTo>
                    <a:pt x="758" y="670"/>
                    <a:pt x="768" y="660"/>
                    <a:pt x="782" y="660"/>
                  </a:cubicBezTo>
                  <a:cubicBezTo>
                    <a:pt x="795" y="660"/>
                    <a:pt x="806" y="670"/>
                    <a:pt x="806" y="684"/>
                  </a:cubicBezTo>
                  <a:close/>
                  <a:moveTo>
                    <a:pt x="301" y="423"/>
                  </a:moveTo>
                  <a:cubicBezTo>
                    <a:pt x="301" y="439"/>
                    <a:pt x="288" y="452"/>
                    <a:pt x="272" y="452"/>
                  </a:cubicBezTo>
                  <a:cubicBezTo>
                    <a:pt x="255" y="452"/>
                    <a:pt x="243" y="439"/>
                    <a:pt x="243" y="423"/>
                  </a:cubicBezTo>
                  <a:cubicBezTo>
                    <a:pt x="243" y="406"/>
                    <a:pt x="255" y="394"/>
                    <a:pt x="272" y="394"/>
                  </a:cubicBezTo>
                  <a:cubicBezTo>
                    <a:pt x="288" y="394"/>
                    <a:pt x="301" y="406"/>
                    <a:pt x="301" y="423"/>
                  </a:cubicBezTo>
                  <a:close/>
                  <a:moveTo>
                    <a:pt x="491" y="318"/>
                  </a:moveTo>
                  <a:cubicBezTo>
                    <a:pt x="491" y="335"/>
                    <a:pt x="476" y="350"/>
                    <a:pt x="459" y="350"/>
                  </a:cubicBezTo>
                  <a:cubicBezTo>
                    <a:pt x="441" y="350"/>
                    <a:pt x="427" y="335"/>
                    <a:pt x="427" y="318"/>
                  </a:cubicBezTo>
                  <a:cubicBezTo>
                    <a:pt x="427" y="300"/>
                    <a:pt x="441" y="286"/>
                    <a:pt x="459" y="286"/>
                  </a:cubicBezTo>
                  <a:cubicBezTo>
                    <a:pt x="476" y="286"/>
                    <a:pt x="491" y="300"/>
                    <a:pt x="491" y="318"/>
                  </a:cubicBezTo>
                  <a:close/>
                  <a:moveTo>
                    <a:pt x="848" y="328"/>
                  </a:moveTo>
                  <a:cubicBezTo>
                    <a:pt x="848" y="346"/>
                    <a:pt x="832" y="362"/>
                    <a:pt x="814" y="362"/>
                  </a:cubicBezTo>
                  <a:cubicBezTo>
                    <a:pt x="795" y="362"/>
                    <a:pt x="780" y="346"/>
                    <a:pt x="780" y="328"/>
                  </a:cubicBezTo>
                  <a:cubicBezTo>
                    <a:pt x="780" y="309"/>
                    <a:pt x="795" y="294"/>
                    <a:pt x="814" y="294"/>
                  </a:cubicBezTo>
                  <a:cubicBezTo>
                    <a:pt x="832" y="294"/>
                    <a:pt x="848" y="309"/>
                    <a:pt x="848" y="328"/>
                  </a:cubicBezTo>
                  <a:close/>
                  <a:moveTo>
                    <a:pt x="364" y="641"/>
                  </a:moveTo>
                  <a:cubicBezTo>
                    <a:pt x="364" y="659"/>
                    <a:pt x="348" y="675"/>
                    <a:pt x="330" y="675"/>
                  </a:cubicBezTo>
                  <a:cubicBezTo>
                    <a:pt x="311" y="675"/>
                    <a:pt x="296" y="659"/>
                    <a:pt x="296" y="641"/>
                  </a:cubicBezTo>
                  <a:cubicBezTo>
                    <a:pt x="296" y="622"/>
                    <a:pt x="311" y="607"/>
                    <a:pt x="330" y="607"/>
                  </a:cubicBezTo>
                  <a:cubicBezTo>
                    <a:pt x="348" y="607"/>
                    <a:pt x="364" y="622"/>
                    <a:pt x="364" y="641"/>
                  </a:cubicBezTo>
                  <a:close/>
                  <a:moveTo>
                    <a:pt x="533" y="485"/>
                  </a:moveTo>
                  <a:cubicBezTo>
                    <a:pt x="533" y="500"/>
                    <a:pt x="520" y="513"/>
                    <a:pt x="505" y="513"/>
                  </a:cubicBezTo>
                  <a:cubicBezTo>
                    <a:pt x="489" y="513"/>
                    <a:pt x="477" y="500"/>
                    <a:pt x="477" y="485"/>
                  </a:cubicBezTo>
                  <a:cubicBezTo>
                    <a:pt x="477" y="469"/>
                    <a:pt x="489" y="457"/>
                    <a:pt x="505" y="457"/>
                  </a:cubicBezTo>
                  <a:cubicBezTo>
                    <a:pt x="520" y="457"/>
                    <a:pt x="533" y="469"/>
                    <a:pt x="533" y="485"/>
                  </a:cubicBezTo>
                  <a:close/>
                  <a:moveTo>
                    <a:pt x="221" y="489"/>
                  </a:moveTo>
                  <a:cubicBezTo>
                    <a:pt x="221" y="503"/>
                    <a:pt x="208" y="516"/>
                    <a:pt x="194" y="516"/>
                  </a:cubicBezTo>
                  <a:cubicBezTo>
                    <a:pt x="179" y="516"/>
                    <a:pt x="167" y="503"/>
                    <a:pt x="167" y="489"/>
                  </a:cubicBezTo>
                  <a:cubicBezTo>
                    <a:pt x="167" y="474"/>
                    <a:pt x="179" y="462"/>
                    <a:pt x="194" y="462"/>
                  </a:cubicBezTo>
                  <a:cubicBezTo>
                    <a:pt x="208" y="462"/>
                    <a:pt x="221" y="474"/>
                    <a:pt x="221" y="489"/>
                  </a:cubicBezTo>
                  <a:close/>
                </a:path>
              </a:pathLst>
            </a:custGeom>
            <a:solidFill>
              <a:srgbClr val="D7BDE2"/>
            </a:solidFill>
            <a:ln>
              <a:noFill/>
            </a:ln>
          </p:spPr>
        </p:sp>
        <p:sp>
          <p:nvSpPr>
            <p:cNvPr id="33" name="Forma 32"/>
            <p:cNvSpPr/>
            <p:nvPr/>
          </p:nvSpPr>
          <p:spPr>
            <a:xfrm>
              <a:off x="5120640" y="128016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50" y="420"/>
                  </a:moveTo>
                  <a:cubicBezTo>
                    <a:pt x="450" y="486"/>
                    <a:pt x="396" y="540"/>
                    <a:pt x="330" y="540"/>
                  </a:cubicBezTo>
                  <a:cubicBezTo>
                    <a:pt x="263" y="540"/>
                    <a:pt x="210" y="486"/>
                    <a:pt x="210" y="420"/>
                  </a:cubicBezTo>
                  <a:cubicBezTo>
                    <a:pt x="210" y="353"/>
                    <a:pt x="263" y="300"/>
                    <a:pt x="330" y="300"/>
                  </a:cubicBezTo>
                  <a:cubicBezTo>
                    <a:pt x="396" y="300"/>
                    <a:pt x="450" y="353"/>
                    <a:pt x="450" y="420"/>
                  </a:cubicBezTo>
                  <a:close/>
                  <a:moveTo>
                    <a:pt x="620" y="330"/>
                  </a:moveTo>
                  <a:cubicBezTo>
                    <a:pt x="620" y="396"/>
                    <a:pt x="566" y="450"/>
                    <a:pt x="500" y="450"/>
                  </a:cubicBezTo>
                  <a:cubicBezTo>
                    <a:pt x="433" y="450"/>
                    <a:pt x="380" y="396"/>
                    <a:pt x="380" y="330"/>
                  </a:cubicBezTo>
                  <a:cubicBezTo>
                    <a:pt x="380" y="263"/>
                    <a:pt x="433" y="210"/>
                    <a:pt x="500" y="210"/>
                  </a:cubicBezTo>
                  <a:cubicBezTo>
                    <a:pt x="566" y="210"/>
                    <a:pt x="620" y="263"/>
                    <a:pt x="620" y="330"/>
                  </a:cubicBezTo>
                  <a:close/>
                  <a:moveTo>
                    <a:pt x="780" y="450"/>
                  </a:moveTo>
                  <a:cubicBezTo>
                    <a:pt x="780" y="516"/>
                    <a:pt x="726" y="570"/>
                    <a:pt x="660" y="570"/>
                  </a:cubicBezTo>
                  <a:cubicBezTo>
                    <a:pt x="593" y="570"/>
                    <a:pt x="540" y="516"/>
                    <a:pt x="540" y="450"/>
                  </a:cubicBezTo>
                  <a:cubicBezTo>
                    <a:pt x="540" y="383"/>
                    <a:pt x="593" y="330"/>
                    <a:pt x="660" y="330"/>
                  </a:cubicBezTo>
                  <a:cubicBezTo>
                    <a:pt x="726" y="330"/>
                    <a:pt x="780" y="383"/>
                    <a:pt x="780" y="450"/>
                  </a:cubicBezTo>
                  <a:close/>
                  <a:moveTo>
                    <a:pt x="630" y="600"/>
                  </a:moveTo>
                  <a:cubicBezTo>
                    <a:pt x="630" y="660"/>
                    <a:pt x="580" y="710"/>
                    <a:pt x="520" y="710"/>
                  </a:cubicBezTo>
                  <a:cubicBezTo>
                    <a:pt x="459" y="710"/>
                    <a:pt x="410" y="660"/>
                    <a:pt x="410" y="600"/>
                  </a:cubicBezTo>
                  <a:cubicBezTo>
                    <a:pt x="410" y="539"/>
                    <a:pt x="459" y="490"/>
                    <a:pt x="520" y="490"/>
                  </a:cubicBezTo>
                  <a:cubicBezTo>
                    <a:pt x="580" y="490"/>
                    <a:pt x="630" y="539"/>
                    <a:pt x="63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59B6"/>
                </a:gs>
                <a:gs pos="100000">
                  <a:srgbClr val="5B2C6F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4A235A"/>
              </a:solidFill>
              <a:round/>
            </a:ln>
          </p:spPr>
        </p:sp>
      </p:grpSp>
      <p:grpSp>
        <p:nvGrpSpPr>
          <p:cNvPr id="34" name="!!Leucocito 2"/>
          <p:cNvGrpSpPr/>
          <p:nvPr/>
        </p:nvGrpSpPr>
        <p:grpSpPr>
          <a:xfrm>
            <a:off x="6035040" y="2057400"/>
            <a:ext cx="731520" cy="731520"/>
            <a:chOff x="6035040" y="2057400"/>
            <a:chExt cx="731520" cy="731520"/>
          </a:xfrm>
        </p:grpSpPr>
        <p:sp>
          <p:nvSpPr>
            <p:cNvPr id="35" name="Forma 34"/>
            <p:cNvSpPr/>
            <p:nvPr/>
          </p:nvSpPr>
          <p:spPr>
            <a:xfrm>
              <a:off x="6035040" y="205740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F9F0F5"/>
                </a:gs>
                <a:gs pos="55000">
                  <a:srgbClr val="F5E6EF"/>
                </a:gs>
                <a:gs pos="100000">
                  <a:srgbClr val="D7CAD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D3C98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36" name="Forma 35"/>
            <p:cNvSpPr/>
            <p:nvPr/>
          </p:nvSpPr>
          <p:spPr>
            <a:xfrm>
              <a:off x="6035040" y="205740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66" y="741"/>
                  </a:moveTo>
                  <a:cubicBezTo>
                    <a:pt x="666" y="753"/>
                    <a:pt x="656" y="763"/>
                    <a:pt x="644" y="763"/>
                  </a:cubicBezTo>
                  <a:cubicBezTo>
                    <a:pt x="631" y="763"/>
                    <a:pt x="622" y="753"/>
                    <a:pt x="622" y="741"/>
                  </a:cubicBezTo>
                  <a:cubicBezTo>
                    <a:pt x="622" y="728"/>
                    <a:pt x="631" y="719"/>
                    <a:pt x="644" y="719"/>
                  </a:cubicBezTo>
                  <a:cubicBezTo>
                    <a:pt x="656" y="719"/>
                    <a:pt x="666" y="728"/>
                    <a:pt x="666" y="741"/>
                  </a:cubicBezTo>
                  <a:close/>
                  <a:moveTo>
                    <a:pt x="390" y="623"/>
                  </a:moveTo>
                  <a:cubicBezTo>
                    <a:pt x="390" y="639"/>
                    <a:pt x="377" y="652"/>
                    <a:pt x="361" y="652"/>
                  </a:cubicBezTo>
                  <a:cubicBezTo>
                    <a:pt x="344" y="652"/>
                    <a:pt x="332" y="639"/>
                    <a:pt x="332" y="623"/>
                  </a:cubicBezTo>
                  <a:cubicBezTo>
                    <a:pt x="332" y="606"/>
                    <a:pt x="344" y="594"/>
                    <a:pt x="361" y="594"/>
                  </a:cubicBezTo>
                  <a:cubicBezTo>
                    <a:pt x="377" y="594"/>
                    <a:pt x="390" y="606"/>
                    <a:pt x="390" y="623"/>
                  </a:cubicBezTo>
                  <a:close/>
                  <a:moveTo>
                    <a:pt x="468" y="819"/>
                  </a:moveTo>
                  <a:cubicBezTo>
                    <a:pt x="468" y="837"/>
                    <a:pt x="452" y="853"/>
                    <a:pt x="434" y="853"/>
                  </a:cubicBezTo>
                  <a:cubicBezTo>
                    <a:pt x="415" y="853"/>
                    <a:pt x="400" y="837"/>
                    <a:pt x="400" y="819"/>
                  </a:cubicBezTo>
                  <a:cubicBezTo>
                    <a:pt x="400" y="800"/>
                    <a:pt x="415" y="785"/>
                    <a:pt x="434" y="785"/>
                  </a:cubicBezTo>
                  <a:cubicBezTo>
                    <a:pt x="452" y="785"/>
                    <a:pt x="468" y="800"/>
                    <a:pt x="468" y="819"/>
                  </a:cubicBezTo>
                  <a:close/>
                  <a:moveTo>
                    <a:pt x="674" y="485"/>
                  </a:moveTo>
                  <a:cubicBezTo>
                    <a:pt x="674" y="497"/>
                    <a:pt x="663" y="508"/>
                    <a:pt x="651" y="508"/>
                  </a:cubicBezTo>
                  <a:cubicBezTo>
                    <a:pt x="638" y="508"/>
                    <a:pt x="628" y="497"/>
                    <a:pt x="628" y="485"/>
                  </a:cubicBezTo>
                  <a:cubicBezTo>
                    <a:pt x="628" y="472"/>
                    <a:pt x="638" y="462"/>
                    <a:pt x="651" y="462"/>
                  </a:cubicBezTo>
                  <a:cubicBezTo>
                    <a:pt x="663" y="462"/>
                    <a:pt x="674" y="472"/>
                    <a:pt x="674" y="485"/>
                  </a:cubicBezTo>
                  <a:close/>
                  <a:moveTo>
                    <a:pt x="427" y="519"/>
                  </a:moveTo>
                  <a:cubicBezTo>
                    <a:pt x="427" y="531"/>
                    <a:pt x="417" y="541"/>
                    <a:pt x="405" y="541"/>
                  </a:cubicBezTo>
                  <a:cubicBezTo>
                    <a:pt x="392" y="541"/>
                    <a:pt x="383" y="531"/>
                    <a:pt x="383" y="519"/>
                  </a:cubicBezTo>
                  <a:cubicBezTo>
                    <a:pt x="383" y="506"/>
                    <a:pt x="392" y="497"/>
                    <a:pt x="405" y="497"/>
                  </a:cubicBezTo>
                  <a:cubicBezTo>
                    <a:pt x="417" y="497"/>
                    <a:pt x="427" y="506"/>
                    <a:pt x="427" y="519"/>
                  </a:cubicBezTo>
                  <a:close/>
                  <a:moveTo>
                    <a:pt x="611" y="292"/>
                  </a:moveTo>
                  <a:cubicBezTo>
                    <a:pt x="611" y="309"/>
                    <a:pt x="597" y="323"/>
                    <a:pt x="580" y="323"/>
                  </a:cubicBezTo>
                  <a:cubicBezTo>
                    <a:pt x="562" y="323"/>
                    <a:pt x="549" y="309"/>
                    <a:pt x="549" y="292"/>
                  </a:cubicBezTo>
                  <a:cubicBezTo>
                    <a:pt x="549" y="274"/>
                    <a:pt x="562" y="261"/>
                    <a:pt x="580" y="261"/>
                  </a:cubicBezTo>
                  <a:cubicBezTo>
                    <a:pt x="597" y="261"/>
                    <a:pt x="611" y="274"/>
                    <a:pt x="611" y="292"/>
                  </a:cubicBezTo>
                  <a:close/>
                  <a:moveTo>
                    <a:pt x="541" y="540"/>
                  </a:moveTo>
                  <a:cubicBezTo>
                    <a:pt x="541" y="555"/>
                    <a:pt x="528" y="568"/>
                    <a:pt x="513" y="568"/>
                  </a:cubicBezTo>
                  <a:cubicBezTo>
                    <a:pt x="497" y="568"/>
                    <a:pt x="485" y="555"/>
                    <a:pt x="485" y="540"/>
                  </a:cubicBezTo>
                  <a:cubicBezTo>
                    <a:pt x="485" y="524"/>
                    <a:pt x="497" y="512"/>
                    <a:pt x="513" y="512"/>
                  </a:cubicBezTo>
                  <a:cubicBezTo>
                    <a:pt x="528" y="512"/>
                    <a:pt x="541" y="524"/>
                    <a:pt x="541" y="540"/>
                  </a:cubicBezTo>
                  <a:close/>
                  <a:moveTo>
                    <a:pt x="466" y="841"/>
                  </a:moveTo>
                  <a:cubicBezTo>
                    <a:pt x="466" y="855"/>
                    <a:pt x="454" y="867"/>
                    <a:pt x="440" y="867"/>
                  </a:cubicBezTo>
                  <a:cubicBezTo>
                    <a:pt x="425" y="867"/>
                    <a:pt x="414" y="855"/>
                    <a:pt x="414" y="841"/>
                  </a:cubicBezTo>
                  <a:cubicBezTo>
                    <a:pt x="414" y="826"/>
                    <a:pt x="425" y="815"/>
                    <a:pt x="440" y="815"/>
                  </a:cubicBezTo>
                  <a:cubicBezTo>
                    <a:pt x="454" y="815"/>
                    <a:pt x="466" y="826"/>
                    <a:pt x="466" y="841"/>
                  </a:cubicBezTo>
                  <a:close/>
                  <a:moveTo>
                    <a:pt x="649" y="328"/>
                  </a:moveTo>
                  <a:cubicBezTo>
                    <a:pt x="649" y="345"/>
                    <a:pt x="634" y="360"/>
                    <a:pt x="617" y="360"/>
                  </a:cubicBezTo>
                  <a:cubicBezTo>
                    <a:pt x="599" y="360"/>
                    <a:pt x="585" y="345"/>
                    <a:pt x="585" y="328"/>
                  </a:cubicBezTo>
                  <a:cubicBezTo>
                    <a:pt x="585" y="310"/>
                    <a:pt x="599" y="296"/>
                    <a:pt x="617" y="296"/>
                  </a:cubicBezTo>
                  <a:cubicBezTo>
                    <a:pt x="634" y="296"/>
                    <a:pt x="649" y="310"/>
                    <a:pt x="649" y="328"/>
                  </a:cubicBezTo>
                  <a:close/>
                  <a:moveTo>
                    <a:pt x="487" y="827"/>
                  </a:moveTo>
                  <a:cubicBezTo>
                    <a:pt x="487" y="841"/>
                    <a:pt x="474" y="854"/>
                    <a:pt x="460" y="854"/>
                  </a:cubicBezTo>
                  <a:cubicBezTo>
                    <a:pt x="445" y="854"/>
                    <a:pt x="433" y="841"/>
                    <a:pt x="433" y="827"/>
                  </a:cubicBezTo>
                  <a:cubicBezTo>
                    <a:pt x="433" y="812"/>
                    <a:pt x="445" y="800"/>
                    <a:pt x="460" y="800"/>
                  </a:cubicBezTo>
                  <a:cubicBezTo>
                    <a:pt x="474" y="800"/>
                    <a:pt x="487" y="812"/>
                    <a:pt x="487" y="827"/>
                  </a:cubicBezTo>
                  <a:close/>
                  <a:moveTo>
                    <a:pt x="320" y="617"/>
                  </a:moveTo>
                  <a:cubicBezTo>
                    <a:pt x="320" y="635"/>
                    <a:pt x="304" y="651"/>
                    <a:pt x="286" y="651"/>
                  </a:cubicBezTo>
                  <a:cubicBezTo>
                    <a:pt x="267" y="651"/>
                    <a:pt x="252" y="635"/>
                    <a:pt x="252" y="617"/>
                  </a:cubicBezTo>
                  <a:cubicBezTo>
                    <a:pt x="252" y="598"/>
                    <a:pt x="267" y="583"/>
                    <a:pt x="286" y="583"/>
                  </a:cubicBezTo>
                  <a:cubicBezTo>
                    <a:pt x="304" y="583"/>
                    <a:pt x="320" y="598"/>
                    <a:pt x="320" y="617"/>
                  </a:cubicBezTo>
                  <a:close/>
                  <a:moveTo>
                    <a:pt x="426" y="600"/>
                  </a:moveTo>
                  <a:cubicBezTo>
                    <a:pt x="426" y="617"/>
                    <a:pt x="412" y="631"/>
                    <a:pt x="395" y="631"/>
                  </a:cubicBezTo>
                  <a:cubicBezTo>
                    <a:pt x="377" y="631"/>
                    <a:pt x="364" y="617"/>
                    <a:pt x="364" y="600"/>
                  </a:cubicBezTo>
                  <a:cubicBezTo>
                    <a:pt x="364" y="582"/>
                    <a:pt x="377" y="569"/>
                    <a:pt x="395" y="569"/>
                  </a:cubicBezTo>
                  <a:cubicBezTo>
                    <a:pt x="412" y="569"/>
                    <a:pt x="426" y="582"/>
                    <a:pt x="426" y="600"/>
                  </a:cubicBezTo>
                  <a:close/>
                  <a:moveTo>
                    <a:pt x="565" y="195"/>
                  </a:moveTo>
                  <a:cubicBezTo>
                    <a:pt x="565" y="212"/>
                    <a:pt x="551" y="226"/>
                    <a:pt x="534" y="226"/>
                  </a:cubicBezTo>
                  <a:cubicBezTo>
                    <a:pt x="516" y="226"/>
                    <a:pt x="503" y="212"/>
                    <a:pt x="503" y="195"/>
                  </a:cubicBezTo>
                  <a:cubicBezTo>
                    <a:pt x="503" y="177"/>
                    <a:pt x="516" y="164"/>
                    <a:pt x="534" y="164"/>
                  </a:cubicBezTo>
                  <a:cubicBezTo>
                    <a:pt x="551" y="164"/>
                    <a:pt x="565" y="177"/>
                    <a:pt x="565" y="195"/>
                  </a:cubicBezTo>
                  <a:close/>
                  <a:moveTo>
                    <a:pt x="379" y="460"/>
                  </a:moveTo>
                  <a:cubicBezTo>
                    <a:pt x="379" y="476"/>
                    <a:pt x="365" y="490"/>
                    <a:pt x="349" y="490"/>
                  </a:cubicBezTo>
                  <a:cubicBezTo>
                    <a:pt x="332" y="490"/>
                    <a:pt x="319" y="476"/>
                    <a:pt x="319" y="460"/>
                  </a:cubicBezTo>
                  <a:cubicBezTo>
                    <a:pt x="319" y="443"/>
                    <a:pt x="332" y="430"/>
                    <a:pt x="349" y="430"/>
                  </a:cubicBezTo>
                  <a:cubicBezTo>
                    <a:pt x="365" y="430"/>
                    <a:pt x="379" y="443"/>
                    <a:pt x="379" y="460"/>
                  </a:cubicBezTo>
                  <a:close/>
                  <a:moveTo>
                    <a:pt x="551" y="395"/>
                  </a:moveTo>
                  <a:cubicBezTo>
                    <a:pt x="551" y="409"/>
                    <a:pt x="538" y="422"/>
                    <a:pt x="524" y="422"/>
                  </a:cubicBezTo>
                  <a:cubicBezTo>
                    <a:pt x="509" y="422"/>
                    <a:pt x="497" y="409"/>
                    <a:pt x="497" y="395"/>
                  </a:cubicBezTo>
                  <a:cubicBezTo>
                    <a:pt x="497" y="380"/>
                    <a:pt x="509" y="368"/>
                    <a:pt x="524" y="368"/>
                  </a:cubicBezTo>
                  <a:cubicBezTo>
                    <a:pt x="538" y="368"/>
                    <a:pt x="551" y="380"/>
                    <a:pt x="551" y="395"/>
                  </a:cubicBezTo>
                  <a:close/>
                  <a:moveTo>
                    <a:pt x="619" y="631"/>
                  </a:moveTo>
                  <a:cubicBezTo>
                    <a:pt x="619" y="643"/>
                    <a:pt x="608" y="654"/>
                    <a:pt x="596" y="654"/>
                  </a:cubicBezTo>
                  <a:cubicBezTo>
                    <a:pt x="583" y="654"/>
                    <a:pt x="573" y="643"/>
                    <a:pt x="573" y="631"/>
                  </a:cubicBezTo>
                  <a:cubicBezTo>
                    <a:pt x="573" y="618"/>
                    <a:pt x="583" y="608"/>
                    <a:pt x="596" y="608"/>
                  </a:cubicBezTo>
                  <a:cubicBezTo>
                    <a:pt x="608" y="608"/>
                    <a:pt x="619" y="618"/>
                    <a:pt x="619" y="631"/>
                  </a:cubicBezTo>
                  <a:close/>
                  <a:moveTo>
                    <a:pt x="688" y="310"/>
                  </a:moveTo>
                  <a:cubicBezTo>
                    <a:pt x="688" y="323"/>
                    <a:pt x="676" y="335"/>
                    <a:pt x="663" y="335"/>
                  </a:cubicBezTo>
                  <a:cubicBezTo>
                    <a:pt x="649" y="335"/>
                    <a:pt x="638" y="323"/>
                    <a:pt x="638" y="310"/>
                  </a:cubicBezTo>
                  <a:cubicBezTo>
                    <a:pt x="638" y="296"/>
                    <a:pt x="649" y="285"/>
                    <a:pt x="663" y="285"/>
                  </a:cubicBezTo>
                  <a:cubicBezTo>
                    <a:pt x="676" y="285"/>
                    <a:pt x="688" y="296"/>
                    <a:pt x="688" y="310"/>
                  </a:cubicBezTo>
                  <a:close/>
                  <a:moveTo>
                    <a:pt x="594" y="394"/>
                  </a:moveTo>
                  <a:cubicBezTo>
                    <a:pt x="594" y="406"/>
                    <a:pt x="584" y="416"/>
                    <a:pt x="572" y="416"/>
                  </a:cubicBezTo>
                  <a:cubicBezTo>
                    <a:pt x="559" y="416"/>
                    <a:pt x="550" y="406"/>
                    <a:pt x="550" y="394"/>
                  </a:cubicBezTo>
                  <a:cubicBezTo>
                    <a:pt x="550" y="381"/>
                    <a:pt x="559" y="372"/>
                    <a:pt x="572" y="372"/>
                  </a:cubicBezTo>
                  <a:cubicBezTo>
                    <a:pt x="584" y="372"/>
                    <a:pt x="594" y="381"/>
                    <a:pt x="594" y="394"/>
                  </a:cubicBezTo>
                  <a:close/>
                  <a:moveTo>
                    <a:pt x="208" y="658"/>
                  </a:moveTo>
                  <a:cubicBezTo>
                    <a:pt x="208" y="672"/>
                    <a:pt x="196" y="684"/>
                    <a:pt x="182" y="684"/>
                  </a:cubicBezTo>
                  <a:cubicBezTo>
                    <a:pt x="167" y="684"/>
                    <a:pt x="156" y="672"/>
                    <a:pt x="156" y="658"/>
                  </a:cubicBezTo>
                  <a:cubicBezTo>
                    <a:pt x="156" y="643"/>
                    <a:pt x="167" y="632"/>
                    <a:pt x="182" y="632"/>
                  </a:cubicBezTo>
                  <a:cubicBezTo>
                    <a:pt x="196" y="632"/>
                    <a:pt x="208" y="643"/>
                    <a:pt x="208" y="658"/>
                  </a:cubicBezTo>
                  <a:close/>
                  <a:moveTo>
                    <a:pt x="720" y="232"/>
                  </a:moveTo>
                  <a:cubicBezTo>
                    <a:pt x="720" y="245"/>
                    <a:pt x="709" y="256"/>
                    <a:pt x="696" y="256"/>
                  </a:cubicBezTo>
                  <a:cubicBezTo>
                    <a:pt x="682" y="256"/>
                    <a:pt x="672" y="245"/>
                    <a:pt x="672" y="232"/>
                  </a:cubicBezTo>
                  <a:cubicBezTo>
                    <a:pt x="672" y="218"/>
                    <a:pt x="682" y="208"/>
                    <a:pt x="696" y="208"/>
                  </a:cubicBezTo>
                  <a:cubicBezTo>
                    <a:pt x="709" y="208"/>
                    <a:pt x="720" y="218"/>
                    <a:pt x="720" y="232"/>
                  </a:cubicBezTo>
                  <a:close/>
                  <a:moveTo>
                    <a:pt x="570" y="730"/>
                  </a:moveTo>
                  <a:cubicBezTo>
                    <a:pt x="570" y="744"/>
                    <a:pt x="557" y="757"/>
                    <a:pt x="543" y="757"/>
                  </a:cubicBezTo>
                  <a:cubicBezTo>
                    <a:pt x="528" y="757"/>
                    <a:pt x="516" y="744"/>
                    <a:pt x="516" y="730"/>
                  </a:cubicBezTo>
                  <a:cubicBezTo>
                    <a:pt x="516" y="715"/>
                    <a:pt x="528" y="703"/>
                    <a:pt x="543" y="703"/>
                  </a:cubicBezTo>
                  <a:cubicBezTo>
                    <a:pt x="557" y="703"/>
                    <a:pt x="570" y="715"/>
                    <a:pt x="570" y="730"/>
                  </a:cubicBezTo>
                  <a:close/>
                  <a:moveTo>
                    <a:pt x="788" y="303"/>
                  </a:moveTo>
                  <a:cubicBezTo>
                    <a:pt x="788" y="315"/>
                    <a:pt x="777" y="326"/>
                    <a:pt x="765" y="326"/>
                  </a:cubicBezTo>
                  <a:cubicBezTo>
                    <a:pt x="752" y="326"/>
                    <a:pt x="742" y="315"/>
                    <a:pt x="742" y="303"/>
                  </a:cubicBezTo>
                  <a:cubicBezTo>
                    <a:pt x="742" y="290"/>
                    <a:pt x="752" y="280"/>
                    <a:pt x="765" y="280"/>
                  </a:cubicBezTo>
                  <a:cubicBezTo>
                    <a:pt x="777" y="280"/>
                    <a:pt x="788" y="290"/>
                    <a:pt x="788" y="303"/>
                  </a:cubicBezTo>
                  <a:close/>
                  <a:moveTo>
                    <a:pt x="272" y="602"/>
                  </a:moveTo>
                  <a:cubicBezTo>
                    <a:pt x="272" y="615"/>
                    <a:pt x="261" y="626"/>
                    <a:pt x="248" y="626"/>
                  </a:cubicBezTo>
                  <a:cubicBezTo>
                    <a:pt x="234" y="626"/>
                    <a:pt x="224" y="615"/>
                    <a:pt x="224" y="602"/>
                  </a:cubicBezTo>
                  <a:cubicBezTo>
                    <a:pt x="224" y="588"/>
                    <a:pt x="234" y="578"/>
                    <a:pt x="248" y="578"/>
                  </a:cubicBezTo>
                  <a:cubicBezTo>
                    <a:pt x="261" y="578"/>
                    <a:pt x="272" y="588"/>
                    <a:pt x="272" y="602"/>
                  </a:cubicBezTo>
                  <a:close/>
                  <a:moveTo>
                    <a:pt x="373" y="507"/>
                  </a:moveTo>
                  <a:cubicBezTo>
                    <a:pt x="373" y="522"/>
                    <a:pt x="360" y="535"/>
                    <a:pt x="345" y="535"/>
                  </a:cubicBezTo>
                  <a:cubicBezTo>
                    <a:pt x="329" y="535"/>
                    <a:pt x="317" y="522"/>
                    <a:pt x="317" y="507"/>
                  </a:cubicBezTo>
                  <a:cubicBezTo>
                    <a:pt x="317" y="491"/>
                    <a:pt x="329" y="479"/>
                    <a:pt x="345" y="479"/>
                  </a:cubicBezTo>
                  <a:cubicBezTo>
                    <a:pt x="360" y="479"/>
                    <a:pt x="373" y="491"/>
                    <a:pt x="373" y="507"/>
                  </a:cubicBezTo>
                  <a:close/>
                  <a:moveTo>
                    <a:pt x="599" y="606"/>
                  </a:moveTo>
                  <a:cubicBezTo>
                    <a:pt x="599" y="619"/>
                    <a:pt x="587" y="631"/>
                    <a:pt x="574" y="631"/>
                  </a:cubicBezTo>
                  <a:cubicBezTo>
                    <a:pt x="560" y="631"/>
                    <a:pt x="549" y="619"/>
                    <a:pt x="549" y="606"/>
                  </a:cubicBezTo>
                  <a:cubicBezTo>
                    <a:pt x="549" y="592"/>
                    <a:pt x="560" y="581"/>
                    <a:pt x="574" y="581"/>
                  </a:cubicBezTo>
                  <a:cubicBezTo>
                    <a:pt x="587" y="581"/>
                    <a:pt x="599" y="592"/>
                    <a:pt x="599" y="606"/>
                  </a:cubicBezTo>
                  <a:close/>
                  <a:moveTo>
                    <a:pt x="871" y="431"/>
                  </a:moveTo>
                  <a:cubicBezTo>
                    <a:pt x="871" y="444"/>
                    <a:pt x="860" y="455"/>
                    <a:pt x="847" y="455"/>
                  </a:cubicBezTo>
                  <a:cubicBezTo>
                    <a:pt x="833" y="455"/>
                    <a:pt x="823" y="444"/>
                    <a:pt x="823" y="431"/>
                  </a:cubicBezTo>
                  <a:cubicBezTo>
                    <a:pt x="823" y="417"/>
                    <a:pt x="833" y="407"/>
                    <a:pt x="847" y="407"/>
                  </a:cubicBezTo>
                  <a:cubicBezTo>
                    <a:pt x="860" y="407"/>
                    <a:pt x="871" y="417"/>
                    <a:pt x="871" y="431"/>
                  </a:cubicBezTo>
                  <a:close/>
                  <a:moveTo>
                    <a:pt x="806" y="684"/>
                  </a:moveTo>
                  <a:cubicBezTo>
                    <a:pt x="806" y="697"/>
                    <a:pt x="795" y="708"/>
                    <a:pt x="782" y="708"/>
                  </a:cubicBezTo>
                  <a:cubicBezTo>
                    <a:pt x="768" y="708"/>
                    <a:pt x="758" y="697"/>
                    <a:pt x="758" y="684"/>
                  </a:cubicBezTo>
                  <a:cubicBezTo>
                    <a:pt x="758" y="670"/>
                    <a:pt x="768" y="660"/>
                    <a:pt x="782" y="660"/>
                  </a:cubicBezTo>
                  <a:cubicBezTo>
                    <a:pt x="795" y="660"/>
                    <a:pt x="806" y="670"/>
                    <a:pt x="806" y="684"/>
                  </a:cubicBezTo>
                  <a:close/>
                  <a:moveTo>
                    <a:pt x="301" y="423"/>
                  </a:moveTo>
                  <a:cubicBezTo>
                    <a:pt x="301" y="439"/>
                    <a:pt x="288" y="452"/>
                    <a:pt x="272" y="452"/>
                  </a:cubicBezTo>
                  <a:cubicBezTo>
                    <a:pt x="255" y="452"/>
                    <a:pt x="243" y="439"/>
                    <a:pt x="243" y="423"/>
                  </a:cubicBezTo>
                  <a:cubicBezTo>
                    <a:pt x="243" y="406"/>
                    <a:pt x="255" y="394"/>
                    <a:pt x="272" y="394"/>
                  </a:cubicBezTo>
                  <a:cubicBezTo>
                    <a:pt x="288" y="394"/>
                    <a:pt x="301" y="406"/>
                    <a:pt x="301" y="423"/>
                  </a:cubicBezTo>
                  <a:close/>
                  <a:moveTo>
                    <a:pt x="491" y="318"/>
                  </a:moveTo>
                  <a:cubicBezTo>
                    <a:pt x="491" y="335"/>
                    <a:pt x="476" y="350"/>
                    <a:pt x="459" y="350"/>
                  </a:cubicBezTo>
                  <a:cubicBezTo>
                    <a:pt x="441" y="350"/>
                    <a:pt x="427" y="335"/>
                    <a:pt x="427" y="318"/>
                  </a:cubicBezTo>
                  <a:cubicBezTo>
                    <a:pt x="427" y="300"/>
                    <a:pt x="441" y="286"/>
                    <a:pt x="459" y="286"/>
                  </a:cubicBezTo>
                  <a:cubicBezTo>
                    <a:pt x="476" y="286"/>
                    <a:pt x="491" y="300"/>
                    <a:pt x="491" y="318"/>
                  </a:cubicBezTo>
                  <a:close/>
                  <a:moveTo>
                    <a:pt x="848" y="328"/>
                  </a:moveTo>
                  <a:cubicBezTo>
                    <a:pt x="848" y="346"/>
                    <a:pt x="832" y="362"/>
                    <a:pt x="814" y="362"/>
                  </a:cubicBezTo>
                  <a:cubicBezTo>
                    <a:pt x="795" y="362"/>
                    <a:pt x="780" y="346"/>
                    <a:pt x="780" y="328"/>
                  </a:cubicBezTo>
                  <a:cubicBezTo>
                    <a:pt x="780" y="309"/>
                    <a:pt x="795" y="294"/>
                    <a:pt x="814" y="294"/>
                  </a:cubicBezTo>
                  <a:cubicBezTo>
                    <a:pt x="832" y="294"/>
                    <a:pt x="848" y="309"/>
                    <a:pt x="848" y="328"/>
                  </a:cubicBezTo>
                  <a:close/>
                  <a:moveTo>
                    <a:pt x="364" y="641"/>
                  </a:moveTo>
                  <a:cubicBezTo>
                    <a:pt x="364" y="659"/>
                    <a:pt x="348" y="675"/>
                    <a:pt x="330" y="675"/>
                  </a:cubicBezTo>
                  <a:cubicBezTo>
                    <a:pt x="311" y="675"/>
                    <a:pt x="296" y="659"/>
                    <a:pt x="296" y="641"/>
                  </a:cubicBezTo>
                  <a:cubicBezTo>
                    <a:pt x="296" y="622"/>
                    <a:pt x="311" y="607"/>
                    <a:pt x="330" y="607"/>
                  </a:cubicBezTo>
                  <a:cubicBezTo>
                    <a:pt x="348" y="607"/>
                    <a:pt x="364" y="622"/>
                    <a:pt x="364" y="641"/>
                  </a:cubicBezTo>
                  <a:close/>
                  <a:moveTo>
                    <a:pt x="533" y="485"/>
                  </a:moveTo>
                  <a:cubicBezTo>
                    <a:pt x="533" y="500"/>
                    <a:pt x="520" y="513"/>
                    <a:pt x="505" y="513"/>
                  </a:cubicBezTo>
                  <a:cubicBezTo>
                    <a:pt x="489" y="513"/>
                    <a:pt x="477" y="500"/>
                    <a:pt x="477" y="485"/>
                  </a:cubicBezTo>
                  <a:cubicBezTo>
                    <a:pt x="477" y="469"/>
                    <a:pt x="489" y="457"/>
                    <a:pt x="505" y="457"/>
                  </a:cubicBezTo>
                  <a:cubicBezTo>
                    <a:pt x="520" y="457"/>
                    <a:pt x="533" y="469"/>
                    <a:pt x="533" y="485"/>
                  </a:cubicBezTo>
                  <a:close/>
                  <a:moveTo>
                    <a:pt x="221" y="489"/>
                  </a:moveTo>
                  <a:cubicBezTo>
                    <a:pt x="221" y="503"/>
                    <a:pt x="208" y="516"/>
                    <a:pt x="194" y="516"/>
                  </a:cubicBezTo>
                  <a:cubicBezTo>
                    <a:pt x="179" y="516"/>
                    <a:pt x="167" y="503"/>
                    <a:pt x="167" y="489"/>
                  </a:cubicBezTo>
                  <a:cubicBezTo>
                    <a:pt x="167" y="474"/>
                    <a:pt x="179" y="462"/>
                    <a:pt x="194" y="462"/>
                  </a:cubicBezTo>
                  <a:cubicBezTo>
                    <a:pt x="208" y="462"/>
                    <a:pt x="221" y="474"/>
                    <a:pt x="221" y="489"/>
                  </a:cubicBezTo>
                  <a:close/>
                </a:path>
              </a:pathLst>
            </a:custGeom>
            <a:solidFill>
              <a:srgbClr val="D7BDE2"/>
            </a:solidFill>
            <a:ln>
              <a:noFill/>
            </a:ln>
          </p:spPr>
        </p:sp>
        <p:sp>
          <p:nvSpPr>
            <p:cNvPr id="37" name="Forma 36"/>
            <p:cNvSpPr/>
            <p:nvPr/>
          </p:nvSpPr>
          <p:spPr>
            <a:xfrm>
              <a:off x="6035040" y="205740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50" y="420"/>
                  </a:moveTo>
                  <a:cubicBezTo>
                    <a:pt x="450" y="486"/>
                    <a:pt x="396" y="540"/>
                    <a:pt x="330" y="540"/>
                  </a:cubicBezTo>
                  <a:cubicBezTo>
                    <a:pt x="263" y="540"/>
                    <a:pt x="210" y="486"/>
                    <a:pt x="210" y="420"/>
                  </a:cubicBezTo>
                  <a:cubicBezTo>
                    <a:pt x="210" y="353"/>
                    <a:pt x="263" y="300"/>
                    <a:pt x="330" y="300"/>
                  </a:cubicBezTo>
                  <a:cubicBezTo>
                    <a:pt x="396" y="300"/>
                    <a:pt x="450" y="353"/>
                    <a:pt x="450" y="420"/>
                  </a:cubicBezTo>
                  <a:close/>
                  <a:moveTo>
                    <a:pt x="620" y="330"/>
                  </a:moveTo>
                  <a:cubicBezTo>
                    <a:pt x="620" y="396"/>
                    <a:pt x="566" y="450"/>
                    <a:pt x="500" y="450"/>
                  </a:cubicBezTo>
                  <a:cubicBezTo>
                    <a:pt x="433" y="450"/>
                    <a:pt x="380" y="396"/>
                    <a:pt x="380" y="330"/>
                  </a:cubicBezTo>
                  <a:cubicBezTo>
                    <a:pt x="380" y="263"/>
                    <a:pt x="433" y="210"/>
                    <a:pt x="500" y="210"/>
                  </a:cubicBezTo>
                  <a:cubicBezTo>
                    <a:pt x="566" y="210"/>
                    <a:pt x="620" y="263"/>
                    <a:pt x="620" y="330"/>
                  </a:cubicBezTo>
                  <a:close/>
                  <a:moveTo>
                    <a:pt x="780" y="450"/>
                  </a:moveTo>
                  <a:cubicBezTo>
                    <a:pt x="780" y="516"/>
                    <a:pt x="726" y="570"/>
                    <a:pt x="660" y="570"/>
                  </a:cubicBezTo>
                  <a:cubicBezTo>
                    <a:pt x="593" y="570"/>
                    <a:pt x="540" y="516"/>
                    <a:pt x="540" y="450"/>
                  </a:cubicBezTo>
                  <a:cubicBezTo>
                    <a:pt x="540" y="383"/>
                    <a:pt x="593" y="330"/>
                    <a:pt x="660" y="330"/>
                  </a:cubicBezTo>
                  <a:cubicBezTo>
                    <a:pt x="726" y="330"/>
                    <a:pt x="780" y="383"/>
                    <a:pt x="780" y="450"/>
                  </a:cubicBezTo>
                  <a:close/>
                  <a:moveTo>
                    <a:pt x="630" y="600"/>
                  </a:moveTo>
                  <a:cubicBezTo>
                    <a:pt x="630" y="660"/>
                    <a:pt x="580" y="710"/>
                    <a:pt x="520" y="710"/>
                  </a:cubicBezTo>
                  <a:cubicBezTo>
                    <a:pt x="459" y="710"/>
                    <a:pt x="410" y="660"/>
                    <a:pt x="410" y="600"/>
                  </a:cubicBezTo>
                  <a:cubicBezTo>
                    <a:pt x="410" y="539"/>
                    <a:pt x="459" y="490"/>
                    <a:pt x="520" y="490"/>
                  </a:cubicBezTo>
                  <a:cubicBezTo>
                    <a:pt x="580" y="490"/>
                    <a:pt x="630" y="539"/>
                    <a:pt x="63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59B6"/>
                </a:gs>
                <a:gs pos="100000">
                  <a:srgbClr val="5B2C6F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4A235A"/>
              </a:solidFill>
              <a:round/>
            </a:ln>
          </p:spPr>
        </p:sp>
      </p:grpSp>
      <p:grpSp>
        <p:nvGrpSpPr>
          <p:cNvPr id="38" name="!!Leucocito 3"/>
          <p:cNvGrpSpPr/>
          <p:nvPr/>
        </p:nvGrpSpPr>
        <p:grpSpPr>
          <a:xfrm>
            <a:off x="5120640" y="2834640"/>
            <a:ext cx="731520" cy="731520"/>
            <a:chOff x="5120640" y="2834640"/>
            <a:chExt cx="731520" cy="731520"/>
          </a:xfrm>
        </p:grpSpPr>
        <p:sp>
          <p:nvSpPr>
            <p:cNvPr id="39" name="Forma 38"/>
            <p:cNvSpPr/>
            <p:nvPr/>
          </p:nvSpPr>
          <p:spPr>
            <a:xfrm>
              <a:off x="5120640" y="2834640"/>
              <a:ext cx="731520" cy="731520"/>
            </a:xfrm>
            <a:prstGeom prst="ellipse">
              <a:avLst/>
            </a:prstGeom>
            <a:gradFill rotWithShape="1">
              <a:gsLst>
                <a:gs pos="0">
                  <a:srgbClr val="F9F0F5"/>
                </a:gs>
                <a:gs pos="55000">
                  <a:srgbClr val="F5E6EF"/>
                </a:gs>
                <a:gs pos="100000">
                  <a:srgbClr val="D7CAD2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D3C98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40" name="Forma 39"/>
            <p:cNvSpPr/>
            <p:nvPr/>
          </p:nvSpPr>
          <p:spPr>
            <a:xfrm>
              <a:off x="5120640" y="283464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666" y="741"/>
                  </a:moveTo>
                  <a:cubicBezTo>
                    <a:pt x="666" y="753"/>
                    <a:pt x="656" y="763"/>
                    <a:pt x="644" y="763"/>
                  </a:cubicBezTo>
                  <a:cubicBezTo>
                    <a:pt x="631" y="763"/>
                    <a:pt x="622" y="753"/>
                    <a:pt x="622" y="741"/>
                  </a:cubicBezTo>
                  <a:cubicBezTo>
                    <a:pt x="622" y="728"/>
                    <a:pt x="631" y="719"/>
                    <a:pt x="644" y="719"/>
                  </a:cubicBezTo>
                  <a:cubicBezTo>
                    <a:pt x="656" y="719"/>
                    <a:pt x="666" y="728"/>
                    <a:pt x="666" y="741"/>
                  </a:cubicBezTo>
                  <a:close/>
                  <a:moveTo>
                    <a:pt x="390" y="623"/>
                  </a:moveTo>
                  <a:cubicBezTo>
                    <a:pt x="390" y="639"/>
                    <a:pt x="377" y="652"/>
                    <a:pt x="361" y="652"/>
                  </a:cubicBezTo>
                  <a:cubicBezTo>
                    <a:pt x="344" y="652"/>
                    <a:pt x="332" y="639"/>
                    <a:pt x="332" y="623"/>
                  </a:cubicBezTo>
                  <a:cubicBezTo>
                    <a:pt x="332" y="606"/>
                    <a:pt x="344" y="594"/>
                    <a:pt x="361" y="594"/>
                  </a:cubicBezTo>
                  <a:cubicBezTo>
                    <a:pt x="377" y="594"/>
                    <a:pt x="390" y="606"/>
                    <a:pt x="390" y="623"/>
                  </a:cubicBezTo>
                  <a:close/>
                  <a:moveTo>
                    <a:pt x="468" y="819"/>
                  </a:moveTo>
                  <a:cubicBezTo>
                    <a:pt x="468" y="837"/>
                    <a:pt x="452" y="853"/>
                    <a:pt x="434" y="853"/>
                  </a:cubicBezTo>
                  <a:cubicBezTo>
                    <a:pt x="415" y="853"/>
                    <a:pt x="400" y="837"/>
                    <a:pt x="400" y="819"/>
                  </a:cubicBezTo>
                  <a:cubicBezTo>
                    <a:pt x="400" y="800"/>
                    <a:pt x="415" y="785"/>
                    <a:pt x="434" y="785"/>
                  </a:cubicBezTo>
                  <a:cubicBezTo>
                    <a:pt x="452" y="785"/>
                    <a:pt x="468" y="800"/>
                    <a:pt x="468" y="819"/>
                  </a:cubicBezTo>
                  <a:close/>
                  <a:moveTo>
                    <a:pt x="674" y="485"/>
                  </a:moveTo>
                  <a:cubicBezTo>
                    <a:pt x="674" y="497"/>
                    <a:pt x="663" y="508"/>
                    <a:pt x="651" y="508"/>
                  </a:cubicBezTo>
                  <a:cubicBezTo>
                    <a:pt x="638" y="508"/>
                    <a:pt x="628" y="497"/>
                    <a:pt x="628" y="485"/>
                  </a:cubicBezTo>
                  <a:cubicBezTo>
                    <a:pt x="628" y="472"/>
                    <a:pt x="638" y="462"/>
                    <a:pt x="651" y="462"/>
                  </a:cubicBezTo>
                  <a:cubicBezTo>
                    <a:pt x="663" y="462"/>
                    <a:pt x="674" y="472"/>
                    <a:pt x="674" y="485"/>
                  </a:cubicBezTo>
                  <a:close/>
                  <a:moveTo>
                    <a:pt x="427" y="519"/>
                  </a:moveTo>
                  <a:cubicBezTo>
                    <a:pt x="427" y="531"/>
                    <a:pt x="417" y="541"/>
                    <a:pt x="405" y="541"/>
                  </a:cubicBezTo>
                  <a:cubicBezTo>
                    <a:pt x="392" y="541"/>
                    <a:pt x="383" y="531"/>
                    <a:pt x="383" y="519"/>
                  </a:cubicBezTo>
                  <a:cubicBezTo>
                    <a:pt x="383" y="506"/>
                    <a:pt x="392" y="497"/>
                    <a:pt x="405" y="497"/>
                  </a:cubicBezTo>
                  <a:cubicBezTo>
                    <a:pt x="417" y="497"/>
                    <a:pt x="427" y="506"/>
                    <a:pt x="427" y="519"/>
                  </a:cubicBezTo>
                  <a:close/>
                  <a:moveTo>
                    <a:pt x="611" y="292"/>
                  </a:moveTo>
                  <a:cubicBezTo>
                    <a:pt x="611" y="309"/>
                    <a:pt x="597" y="323"/>
                    <a:pt x="580" y="323"/>
                  </a:cubicBezTo>
                  <a:cubicBezTo>
                    <a:pt x="562" y="323"/>
                    <a:pt x="549" y="309"/>
                    <a:pt x="549" y="292"/>
                  </a:cubicBezTo>
                  <a:cubicBezTo>
                    <a:pt x="549" y="274"/>
                    <a:pt x="562" y="261"/>
                    <a:pt x="580" y="261"/>
                  </a:cubicBezTo>
                  <a:cubicBezTo>
                    <a:pt x="597" y="261"/>
                    <a:pt x="611" y="274"/>
                    <a:pt x="611" y="292"/>
                  </a:cubicBezTo>
                  <a:close/>
                  <a:moveTo>
                    <a:pt x="541" y="540"/>
                  </a:moveTo>
                  <a:cubicBezTo>
                    <a:pt x="541" y="555"/>
                    <a:pt x="528" y="568"/>
                    <a:pt x="513" y="568"/>
                  </a:cubicBezTo>
                  <a:cubicBezTo>
                    <a:pt x="497" y="568"/>
                    <a:pt x="485" y="555"/>
                    <a:pt x="485" y="540"/>
                  </a:cubicBezTo>
                  <a:cubicBezTo>
                    <a:pt x="485" y="524"/>
                    <a:pt x="497" y="512"/>
                    <a:pt x="513" y="512"/>
                  </a:cubicBezTo>
                  <a:cubicBezTo>
                    <a:pt x="528" y="512"/>
                    <a:pt x="541" y="524"/>
                    <a:pt x="541" y="540"/>
                  </a:cubicBezTo>
                  <a:close/>
                  <a:moveTo>
                    <a:pt x="466" y="841"/>
                  </a:moveTo>
                  <a:cubicBezTo>
                    <a:pt x="466" y="855"/>
                    <a:pt x="454" y="867"/>
                    <a:pt x="440" y="867"/>
                  </a:cubicBezTo>
                  <a:cubicBezTo>
                    <a:pt x="425" y="867"/>
                    <a:pt x="414" y="855"/>
                    <a:pt x="414" y="841"/>
                  </a:cubicBezTo>
                  <a:cubicBezTo>
                    <a:pt x="414" y="826"/>
                    <a:pt x="425" y="815"/>
                    <a:pt x="440" y="815"/>
                  </a:cubicBezTo>
                  <a:cubicBezTo>
                    <a:pt x="454" y="815"/>
                    <a:pt x="466" y="826"/>
                    <a:pt x="466" y="841"/>
                  </a:cubicBezTo>
                  <a:close/>
                  <a:moveTo>
                    <a:pt x="649" y="328"/>
                  </a:moveTo>
                  <a:cubicBezTo>
                    <a:pt x="649" y="345"/>
                    <a:pt x="634" y="360"/>
                    <a:pt x="617" y="360"/>
                  </a:cubicBezTo>
                  <a:cubicBezTo>
                    <a:pt x="599" y="360"/>
                    <a:pt x="585" y="345"/>
                    <a:pt x="585" y="328"/>
                  </a:cubicBezTo>
                  <a:cubicBezTo>
                    <a:pt x="585" y="310"/>
                    <a:pt x="599" y="296"/>
                    <a:pt x="617" y="296"/>
                  </a:cubicBezTo>
                  <a:cubicBezTo>
                    <a:pt x="634" y="296"/>
                    <a:pt x="649" y="310"/>
                    <a:pt x="649" y="328"/>
                  </a:cubicBezTo>
                  <a:close/>
                  <a:moveTo>
                    <a:pt x="487" y="827"/>
                  </a:moveTo>
                  <a:cubicBezTo>
                    <a:pt x="487" y="841"/>
                    <a:pt x="474" y="854"/>
                    <a:pt x="460" y="854"/>
                  </a:cubicBezTo>
                  <a:cubicBezTo>
                    <a:pt x="445" y="854"/>
                    <a:pt x="433" y="841"/>
                    <a:pt x="433" y="827"/>
                  </a:cubicBezTo>
                  <a:cubicBezTo>
                    <a:pt x="433" y="812"/>
                    <a:pt x="445" y="800"/>
                    <a:pt x="460" y="800"/>
                  </a:cubicBezTo>
                  <a:cubicBezTo>
                    <a:pt x="474" y="800"/>
                    <a:pt x="487" y="812"/>
                    <a:pt x="487" y="827"/>
                  </a:cubicBezTo>
                  <a:close/>
                  <a:moveTo>
                    <a:pt x="320" y="617"/>
                  </a:moveTo>
                  <a:cubicBezTo>
                    <a:pt x="320" y="635"/>
                    <a:pt x="304" y="651"/>
                    <a:pt x="286" y="651"/>
                  </a:cubicBezTo>
                  <a:cubicBezTo>
                    <a:pt x="267" y="651"/>
                    <a:pt x="252" y="635"/>
                    <a:pt x="252" y="617"/>
                  </a:cubicBezTo>
                  <a:cubicBezTo>
                    <a:pt x="252" y="598"/>
                    <a:pt x="267" y="583"/>
                    <a:pt x="286" y="583"/>
                  </a:cubicBezTo>
                  <a:cubicBezTo>
                    <a:pt x="304" y="583"/>
                    <a:pt x="320" y="598"/>
                    <a:pt x="320" y="617"/>
                  </a:cubicBezTo>
                  <a:close/>
                  <a:moveTo>
                    <a:pt x="426" y="600"/>
                  </a:moveTo>
                  <a:cubicBezTo>
                    <a:pt x="426" y="617"/>
                    <a:pt x="412" y="631"/>
                    <a:pt x="395" y="631"/>
                  </a:cubicBezTo>
                  <a:cubicBezTo>
                    <a:pt x="377" y="631"/>
                    <a:pt x="364" y="617"/>
                    <a:pt x="364" y="600"/>
                  </a:cubicBezTo>
                  <a:cubicBezTo>
                    <a:pt x="364" y="582"/>
                    <a:pt x="377" y="569"/>
                    <a:pt x="395" y="569"/>
                  </a:cubicBezTo>
                  <a:cubicBezTo>
                    <a:pt x="412" y="569"/>
                    <a:pt x="426" y="582"/>
                    <a:pt x="426" y="600"/>
                  </a:cubicBezTo>
                  <a:close/>
                  <a:moveTo>
                    <a:pt x="565" y="195"/>
                  </a:moveTo>
                  <a:cubicBezTo>
                    <a:pt x="565" y="212"/>
                    <a:pt x="551" y="226"/>
                    <a:pt x="534" y="226"/>
                  </a:cubicBezTo>
                  <a:cubicBezTo>
                    <a:pt x="516" y="226"/>
                    <a:pt x="503" y="212"/>
                    <a:pt x="503" y="195"/>
                  </a:cubicBezTo>
                  <a:cubicBezTo>
                    <a:pt x="503" y="177"/>
                    <a:pt x="516" y="164"/>
                    <a:pt x="534" y="164"/>
                  </a:cubicBezTo>
                  <a:cubicBezTo>
                    <a:pt x="551" y="164"/>
                    <a:pt x="565" y="177"/>
                    <a:pt x="565" y="195"/>
                  </a:cubicBezTo>
                  <a:close/>
                  <a:moveTo>
                    <a:pt x="379" y="460"/>
                  </a:moveTo>
                  <a:cubicBezTo>
                    <a:pt x="379" y="476"/>
                    <a:pt x="365" y="490"/>
                    <a:pt x="349" y="490"/>
                  </a:cubicBezTo>
                  <a:cubicBezTo>
                    <a:pt x="332" y="490"/>
                    <a:pt x="319" y="476"/>
                    <a:pt x="319" y="460"/>
                  </a:cubicBezTo>
                  <a:cubicBezTo>
                    <a:pt x="319" y="443"/>
                    <a:pt x="332" y="430"/>
                    <a:pt x="349" y="430"/>
                  </a:cubicBezTo>
                  <a:cubicBezTo>
                    <a:pt x="365" y="430"/>
                    <a:pt x="379" y="443"/>
                    <a:pt x="379" y="460"/>
                  </a:cubicBezTo>
                  <a:close/>
                  <a:moveTo>
                    <a:pt x="551" y="395"/>
                  </a:moveTo>
                  <a:cubicBezTo>
                    <a:pt x="551" y="409"/>
                    <a:pt x="538" y="422"/>
                    <a:pt x="524" y="422"/>
                  </a:cubicBezTo>
                  <a:cubicBezTo>
                    <a:pt x="509" y="422"/>
                    <a:pt x="497" y="409"/>
                    <a:pt x="497" y="395"/>
                  </a:cubicBezTo>
                  <a:cubicBezTo>
                    <a:pt x="497" y="380"/>
                    <a:pt x="509" y="368"/>
                    <a:pt x="524" y="368"/>
                  </a:cubicBezTo>
                  <a:cubicBezTo>
                    <a:pt x="538" y="368"/>
                    <a:pt x="551" y="380"/>
                    <a:pt x="551" y="395"/>
                  </a:cubicBezTo>
                  <a:close/>
                  <a:moveTo>
                    <a:pt x="619" y="631"/>
                  </a:moveTo>
                  <a:cubicBezTo>
                    <a:pt x="619" y="643"/>
                    <a:pt x="608" y="654"/>
                    <a:pt x="596" y="654"/>
                  </a:cubicBezTo>
                  <a:cubicBezTo>
                    <a:pt x="583" y="654"/>
                    <a:pt x="573" y="643"/>
                    <a:pt x="573" y="631"/>
                  </a:cubicBezTo>
                  <a:cubicBezTo>
                    <a:pt x="573" y="618"/>
                    <a:pt x="583" y="608"/>
                    <a:pt x="596" y="608"/>
                  </a:cubicBezTo>
                  <a:cubicBezTo>
                    <a:pt x="608" y="608"/>
                    <a:pt x="619" y="618"/>
                    <a:pt x="619" y="631"/>
                  </a:cubicBezTo>
                  <a:close/>
                  <a:moveTo>
                    <a:pt x="688" y="310"/>
                  </a:moveTo>
                  <a:cubicBezTo>
                    <a:pt x="688" y="323"/>
                    <a:pt x="676" y="335"/>
                    <a:pt x="663" y="335"/>
                  </a:cubicBezTo>
                  <a:cubicBezTo>
                    <a:pt x="649" y="335"/>
                    <a:pt x="638" y="323"/>
                    <a:pt x="638" y="310"/>
                  </a:cubicBezTo>
                  <a:cubicBezTo>
                    <a:pt x="638" y="296"/>
                    <a:pt x="649" y="285"/>
                    <a:pt x="663" y="285"/>
                  </a:cubicBezTo>
                  <a:cubicBezTo>
                    <a:pt x="676" y="285"/>
                    <a:pt x="688" y="296"/>
                    <a:pt x="688" y="310"/>
                  </a:cubicBezTo>
                  <a:close/>
                  <a:moveTo>
                    <a:pt x="594" y="394"/>
                  </a:moveTo>
                  <a:cubicBezTo>
                    <a:pt x="594" y="406"/>
                    <a:pt x="584" y="416"/>
                    <a:pt x="572" y="416"/>
                  </a:cubicBezTo>
                  <a:cubicBezTo>
                    <a:pt x="559" y="416"/>
                    <a:pt x="550" y="406"/>
                    <a:pt x="550" y="394"/>
                  </a:cubicBezTo>
                  <a:cubicBezTo>
                    <a:pt x="550" y="381"/>
                    <a:pt x="559" y="372"/>
                    <a:pt x="572" y="372"/>
                  </a:cubicBezTo>
                  <a:cubicBezTo>
                    <a:pt x="584" y="372"/>
                    <a:pt x="594" y="381"/>
                    <a:pt x="594" y="394"/>
                  </a:cubicBezTo>
                  <a:close/>
                  <a:moveTo>
                    <a:pt x="208" y="658"/>
                  </a:moveTo>
                  <a:cubicBezTo>
                    <a:pt x="208" y="672"/>
                    <a:pt x="196" y="684"/>
                    <a:pt x="182" y="684"/>
                  </a:cubicBezTo>
                  <a:cubicBezTo>
                    <a:pt x="167" y="684"/>
                    <a:pt x="156" y="672"/>
                    <a:pt x="156" y="658"/>
                  </a:cubicBezTo>
                  <a:cubicBezTo>
                    <a:pt x="156" y="643"/>
                    <a:pt x="167" y="632"/>
                    <a:pt x="182" y="632"/>
                  </a:cubicBezTo>
                  <a:cubicBezTo>
                    <a:pt x="196" y="632"/>
                    <a:pt x="208" y="643"/>
                    <a:pt x="208" y="658"/>
                  </a:cubicBezTo>
                  <a:close/>
                  <a:moveTo>
                    <a:pt x="720" y="232"/>
                  </a:moveTo>
                  <a:cubicBezTo>
                    <a:pt x="720" y="245"/>
                    <a:pt x="709" y="256"/>
                    <a:pt x="696" y="256"/>
                  </a:cubicBezTo>
                  <a:cubicBezTo>
                    <a:pt x="682" y="256"/>
                    <a:pt x="672" y="245"/>
                    <a:pt x="672" y="232"/>
                  </a:cubicBezTo>
                  <a:cubicBezTo>
                    <a:pt x="672" y="218"/>
                    <a:pt x="682" y="208"/>
                    <a:pt x="696" y="208"/>
                  </a:cubicBezTo>
                  <a:cubicBezTo>
                    <a:pt x="709" y="208"/>
                    <a:pt x="720" y="218"/>
                    <a:pt x="720" y="232"/>
                  </a:cubicBezTo>
                  <a:close/>
                  <a:moveTo>
                    <a:pt x="570" y="730"/>
                  </a:moveTo>
                  <a:cubicBezTo>
                    <a:pt x="570" y="744"/>
                    <a:pt x="557" y="757"/>
                    <a:pt x="543" y="757"/>
                  </a:cubicBezTo>
                  <a:cubicBezTo>
                    <a:pt x="528" y="757"/>
                    <a:pt x="516" y="744"/>
                    <a:pt x="516" y="730"/>
                  </a:cubicBezTo>
                  <a:cubicBezTo>
                    <a:pt x="516" y="715"/>
                    <a:pt x="528" y="703"/>
                    <a:pt x="543" y="703"/>
                  </a:cubicBezTo>
                  <a:cubicBezTo>
                    <a:pt x="557" y="703"/>
                    <a:pt x="570" y="715"/>
                    <a:pt x="570" y="730"/>
                  </a:cubicBezTo>
                  <a:close/>
                  <a:moveTo>
                    <a:pt x="788" y="303"/>
                  </a:moveTo>
                  <a:cubicBezTo>
                    <a:pt x="788" y="315"/>
                    <a:pt x="777" y="326"/>
                    <a:pt x="765" y="326"/>
                  </a:cubicBezTo>
                  <a:cubicBezTo>
                    <a:pt x="752" y="326"/>
                    <a:pt x="742" y="315"/>
                    <a:pt x="742" y="303"/>
                  </a:cubicBezTo>
                  <a:cubicBezTo>
                    <a:pt x="742" y="290"/>
                    <a:pt x="752" y="280"/>
                    <a:pt x="765" y="280"/>
                  </a:cubicBezTo>
                  <a:cubicBezTo>
                    <a:pt x="777" y="280"/>
                    <a:pt x="788" y="290"/>
                    <a:pt x="788" y="303"/>
                  </a:cubicBezTo>
                  <a:close/>
                  <a:moveTo>
                    <a:pt x="272" y="602"/>
                  </a:moveTo>
                  <a:cubicBezTo>
                    <a:pt x="272" y="615"/>
                    <a:pt x="261" y="626"/>
                    <a:pt x="248" y="626"/>
                  </a:cubicBezTo>
                  <a:cubicBezTo>
                    <a:pt x="234" y="626"/>
                    <a:pt x="224" y="615"/>
                    <a:pt x="224" y="602"/>
                  </a:cubicBezTo>
                  <a:cubicBezTo>
                    <a:pt x="224" y="588"/>
                    <a:pt x="234" y="578"/>
                    <a:pt x="248" y="578"/>
                  </a:cubicBezTo>
                  <a:cubicBezTo>
                    <a:pt x="261" y="578"/>
                    <a:pt x="272" y="588"/>
                    <a:pt x="272" y="602"/>
                  </a:cubicBezTo>
                  <a:close/>
                  <a:moveTo>
                    <a:pt x="373" y="507"/>
                  </a:moveTo>
                  <a:cubicBezTo>
                    <a:pt x="373" y="522"/>
                    <a:pt x="360" y="535"/>
                    <a:pt x="345" y="535"/>
                  </a:cubicBezTo>
                  <a:cubicBezTo>
                    <a:pt x="329" y="535"/>
                    <a:pt x="317" y="522"/>
                    <a:pt x="317" y="507"/>
                  </a:cubicBezTo>
                  <a:cubicBezTo>
                    <a:pt x="317" y="491"/>
                    <a:pt x="329" y="479"/>
                    <a:pt x="345" y="479"/>
                  </a:cubicBezTo>
                  <a:cubicBezTo>
                    <a:pt x="360" y="479"/>
                    <a:pt x="373" y="491"/>
                    <a:pt x="373" y="507"/>
                  </a:cubicBezTo>
                  <a:close/>
                  <a:moveTo>
                    <a:pt x="599" y="606"/>
                  </a:moveTo>
                  <a:cubicBezTo>
                    <a:pt x="599" y="619"/>
                    <a:pt x="587" y="631"/>
                    <a:pt x="574" y="631"/>
                  </a:cubicBezTo>
                  <a:cubicBezTo>
                    <a:pt x="560" y="631"/>
                    <a:pt x="549" y="619"/>
                    <a:pt x="549" y="606"/>
                  </a:cubicBezTo>
                  <a:cubicBezTo>
                    <a:pt x="549" y="592"/>
                    <a:pt x="560" y="581"/>
                    <a:pt x="574" y="581"/>
                  </a:cubicBezTo>
                  <a:cubicBezTo>
                    <a:pt x="587" y="581"/>
                    <a:pt x="599" y="592"/>
                    <a:pt x="599" y="606"/>
                  </a:cubicBezTo>
                  <a:close/>
                  <a:moveTo>
                    <a:pt x="871" y="431"/>
                  </a:moveTo>
                  <a:cubicBezTo>
                    <a:pt x="871" y="444"/>
                    <a:pt x="860" y="455"/>
                    <a:pt x="847" y="455"/>
                  </a:cubicBezTo>
                  <a:cubicBezTo>
                    <a:pt x="833" y="455"/>
                    <a:pt x="823" y="444"/>
                    <a:pt x="823" y="431"/>
                  </a:cubicBezTo>
                  <a:cubicBezTo>
                    <a:pt x="823" y="417"/>
                    <a:pt x="833" y="407"/>
                    <a:pt x="847" y="407"/>
                  </a:cubicBezTo>
                  <a:cubicBezTo>
                    <a:pt x="860" y="407"/>
                    <a:pt x="871" y="417"/>
                    <a:pt x="871" y="431"/>
                  </a:cubicBezTo>
                  <a:close/>
                  <a:moveTo>
                    <a:pt x="806" y="684"/>
                  </a:moveTo>
                  <a:cubicBezTo>
                    <a:pt x="806" y="697"/>
                    <a:pt x="795" y="708"/>
                    <a:pt x="782" y="708"/>
                  </a:cubicBezTo>
                  <a:cubicBezTo>
                    <a:pt x="768" y="708"/>
                    <a:pt x="758" y="697"/>
                    <a:pt x="758" y="684"/>
                  </a:cubicBezTo>
                  <a:cubicBezTo>
                    <a:pt x="758" y="670"/>
                    <a:pt x="768" y="660"/>
                    <a:pt x="782" y="660"/>
                  </a:cubicBezTo>
                  <a:cubicBezTo>
                    <a:pt x="795" y="660"/>
                    <a:pt x="806" y="670"/>
                    <a:pt x="806" y="684"/>
                  </a:cubicBezTo>
                  <a:close/>
                  <a:moveTo>
                    <a:pt x="301" y="423"/>
                  </a:moveTo>
                  <a:cubicBezTo>
                    <a:pt x="301" y="439"/>
                    <a:pt x="288" y="452"/>
                    <a:pt x="272" y="452"/>
                  </a:cubicBezTo>
                  <a:cubicBezTo>
                    <a:pt x="255" y="452"/>
                    <a:pt x="243" y="439"/>
                    <a:pt x="243" y="423"/>
                  </a:cubicBezTo>
                  <a:cubicBezTo>
                    <a:pt x="243" y="406"/>
                    <a:pt x="255" y="394"/>
                    <a:pt x="272" y="394"/>
                  </a:cubicBezTo>
                  <a:cubicBezTo>
                    <a:pt x="288" y="394"/>
                    <a:pt x="301" y="406"/>
                    <a:pt x="301" y="423"/>
                  </a:cubicBezTo>
                  <a:close/>
                  <a:moveTo>
                    <a:pt x="491" y="318"/>
                  </a:moveTo>
                  <a:cubicBezTo>
                    <a:pt x="491" y="335"/>
                    <a:pt x="476" y="350"/>
                    <a:pt x="459" y="350"/>
                  </a:cubicBezTo>
                  <a:cubicBezTo>
                    <a:pt x="441" y="350"/>
                    <a:pt x="427" y="335"/>
                    <a:pt x="427" y="318"/>
                  </a:cubicBezTo>
                  <a:cubicBezTo>
                    <a:pt x="427" y="300"/>
                    <a:pt x="441" y="286"/>
                    <a:pt x="459" y="286"/>
                  </a:cubicBezTo>
                  <a:cubicBezTo>
                    <a:pt x="476" y="286"/>
                    <a:pt x="491" y="300"/>
                    <a:pt x="491" y="318"/>
                  </a:cubicBezTo>
                  <a:close/>
                  <a:moveTo>
                    <a:pt x="848" y="328"/>
                  </a:moveTo>
                  <a:cubicBezTo>
                    <a:pt x="848" y="346"/>
                    <a:pt x="832" y="362"/>
                    <a:pt x="814" y="362"/>
                  </a:cubicBezTo>
                  <a:cubicBezTo>
                    <a:pt x="795" y="362"/>
                    <a:pt x="780" y="346"/>
                    <a:pt x="780" y="328"/>
                  </a:cubicBezTo>
                  <a:cubicBezTo>
                    <a:pt x="780" y="309"/>
                    <a:pt x="795" y="294"/>
                    <a:pt x="814" y="294"/>
                  </a:cubicBezTo>
                  <a:cubicBezTo>
                    <a:pt x="832" y="294"/>
                    <a:pt x="848" y="309"/>
                    <a:pt x="848" y="328"/>
                  </a:cubicBezTo>
                  <a:close/>
                  <a:moveTo>
                    <a:pt x="364" y="641"/>
                  </a:moveTo>
                  <a:cubicBezTo>
                    <a:pt x="364" y="659"/>
                    <a:pt x="348" y="675"/>
                    <a:pt x="330" y="675"/>
                  </a:cubicBezTo>
                  <a:cubicBezTo>
                    <a:pt x="311" y="675"/>
                    <a:pt x="296" y="659"/>
                    <a:pt x="296" y="641"/>
                  </a:cubicBezTo>
                  <a:cubicBezTo>
                    <a:pt x="296" y="622"/>
                    <a:pt x="311" y="607"/>
                    <a:pt x="330" y="607"/>
                  </a:cubicBezTo>
                  <a:cubicBezTo>
                    <a:pt x="348" y="607"/>
                    <a:pt x="364" y="622"/>
                    <a:pt x="364" y="641"/>
                  </a:cubicBezTo>
                  <a:close/>
                  <a:moveTo>
                    <a:pt x="533" y="485"/>
                  </a:moveTo>
                  <a:cubicBezTo>
                    <a:pt x="533" y="500"/>
                    <a:pt x="520" y="513"/>
                    <a:pt x="505" y="513"/>
                  </a:cubicBezTo>
                  <a:cubicBezTo>
                    <a:pt x="489" y="513"/>
                    <a:pt x="477" y="500"/>
                    <a:pt x="477" y="485"/>
                  </a:cubicBezTo>
                  <a:cubicBezTo>
                    <a:pt x="477" y="469"/>
                    <a:pt x="489" y="457"/>
                    <a:pt x="505" y="457"/>
                  </a:cubicBezTo>
                  <a:cubicBezTo>
                    <a:pt x="520" y="457"/>
                    <a:pt x="533" y="469"/>
                    <a:pt x="533" y="485"/>
                  </a:cubicBezTo>
                  <a:close/>
                  <a:moveTo>
                    <a:pt x="221" y="489"/>
                  </a:moveTo>
                  <a:cubicBezTo>
                    <a:pt x="221" y="503"/>
                    <a:pt x="208" y="516"/>
                    <a:pt x="194" y="516"/>
                  </a:cubicBezTo>
                  <a:cubicBezTo>
                    <a:pt x="179" y="516"/>
                    <a:pt x="167" y="503"/>
                    <a:pt x="167" y="489"/>
                  </a:cubicBezTo>
                  <a:cubicBezTo>
                    <a:pt x="167" y="474"/>
                    <a:pt x="179" y="462"/>
                    <a:pt x="194" y="462"/>
                  </a:cubicBezTo>
                  <a:cubicBezTo>
                    <a:pt x="208" y="462"/>
                    <a:pt x="221" y="474"/>
                    <a:pt x="221" y="489"/>
                  </a:cubicBezTo>
                  <a:close/>
                </a:path>
              </a:pathLst>
            </a:custGeom>
            <a:solidFill>
              <a:srgbClr val="D7BDE2"/>
            </a:solidFill>
            <a:ln>
              <a:noFill/>
            </a:ln>
          </p:spPr>
        </p:sp>
        <p:sp>
          <p:nvSpPr>
            <p:cNvPr id="41" name="Forma 40"/>
            <p:cNvSpPr/>
            <p:nvPr/>
          </p:nvSpPr>
          <p:spPr>
            <a:xfrm>
              <a:off x="5120640" y="2834640"/>
              <a:ext cx="731520" cy="7315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50" y="420"/>
                  </a:moveTo>
                  <a:cubicBezTo>
                    <a:pt x="450" y="486"/>
                    <a:pt x="396" y="540"/>
                    <a:pt x="330" y="540"/>
                  </a:cubicBezTo>
                  <a:cubicBezTo>
                    <a:pt x="263" y="540"/>
                    <a:pt x="210" y="486"/>
                    <a:pt x="210" y="420"/>
                  </a:cubicBezTo>
                  <a:cubicBezTo>
                    <a:pt x="210" y="353"/>
                    <a:pt x="263" y="300"/>
                    <a:pt x="330" y="300"/>
                  </a:cubicBezTo>
                  <a:cubicBezTo>
                    <a:pt x="396" y="300"/>
                    <a:pt x="450" y="353"/>
                    <a:pt x="450" y="420"/>
                  </a:cubicBezTo>
                  <a:close/>
                  <a:moveTo>
                    <a:pt x="620" y="330"/>
                  </a:moveTo>
                  <a:cubicBezTo>
                    <a:pt x="620" y="396"/>
                    <a:pt x="566" y="450"/>
                    <a:pt x="500" y="450"/>
                  </a:cubicBezTo>
                  <a:cubicBezTo>
                    <a:pt x="433" y="450"/>
                    <a:pt x="380" y="396"/>
                    <a:pt x="380" y="330"/>
                  </a:cubicBezTo>
                  <a:cubicBezTo>
                    <a:pt x="380" y="263"/>
                    <a:pt x="433" y="210"/>
                    <a:pt x="500" y="210"/>
                  </a:cubicBezTo>
                  <a:cubicBezTo>
                    <a:pt x="566" y="210"/>
                    <a:pt x="620" y="263"/>
                    <a:pt x="620" y="330"/>
                  </a:cubicBezTo>
                  <a:close/>
                  <a:moveTo>
                    <a:pt x="780" y="450"/>
                  </a:moveTo>
                  <a:cubicBezTo>
                    <a:pt x="780" y="516"/>
                    <a:pt x="726" y="570"/>
                    <a:pt x="660" y="570"/>
                  </a:cubicBezTo>
                  <a:cubicBezTo>
                    <a:pt x="593" y="570"/>
                    <a:pt x="540" y="516"/>
                    <a:pt x="540" y="450"/>
                  </a:cubicBezTo>
                  <a:cubicBezTo>
                    <a:pt x="540" y="383"/>
                    <a:pt x="593" y="330"/>
                    <a:pt x="660" y="330"/>
                  </a:cubicBezTo>
                  <a:cubicBezTo>
                    <a:pt x="726" y="330"/>
                    <a:pt x="780" y="383"/>
                    <a:pt x="780" y="450"/>
                  </a:cubicBezTo>
                  <a:close/>
                  <a:moveTo>
                    <a:pt x="630" y="600"/>
                  </a:moveTo>
                  <a:cubicBezTo>
                    <a:pt x="630" y="660"/>
                    <a:pt x="580" y="710"/>
                    <a:pt x="520" y="710"/>
                  </a:cubicBezTo>
                  <a:cubicBezTo>
                    <a:pt x="459" y="710"/>
                    <a:pt x="410" y="660"/>
                    <a:pt x="410" y="600"/>
                  </a:cubicBezTo>
                  <a:cubicBezTo>
                    <a:pt x="410" y="539"/>
                    <a:pt x="459" y="490"/>
                    <a:pt x="520" y="490"/>
                  </a:cubicBezTo>
                  <a:cubicBezTo>
                    <a:pt x="580" y="490"/>
                    <a:pt x="630" y="539"/>
                    <a:pt x="63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B59B6"/>
                </a:gs>
                <a:gs pos="100000">
                  <a:srgbClr val="5B2C6F"/>
                </a:gs>
              </a:gsLst>
              <a:path path="circle">
                <a:fillToRect l="40000" t="35000" r="60000" b="65000"/>
              </a:path>
            </a:gradFill>
            <a:ln w="12700" cap="rnd">
              <a:solidFill>
                <a:srgbClr val="4A235A"/>
              </a:solidFill>
              <a:round/>
            </a:ln>
          </p:spPr>
        </p:sp>
      </p:grpSp>
      <p:sp>
        <p:nvSpPr>
          <p:cNvPr id="42" name="!!Edema"/>
          <p:cNvSpPr/>
          <p:nvPr/>
        </p:nvSpPr>
        <p:spPr>
          <a:xfrm>
            <a:off x="822960" y="868680"/>
            <a:ext cx="4480560" cy="5074920"/>
          </a:xfrm>
          <a:prstGeom prst="ellipse">
            <a:avLst/>
          </a:prstGeom>
          <a:noFill/>
          <a:ln w="38100" cap="rnd">
            <a:solidFill>
              <a:srgbClr val="5DADE2"/>
            </a:solidFill>
            <a:prstDash val="dash"/>
            <a:round/>
          </a:ln>
        </p:spPr>
      </p:sp>
      <p:grpSp>
        <p:nvGrpSpPr>
          <p:cNvPr id="43" name="!!Capilar"/>
          <p:cNvGrpSpPr/>
          <p:nvPr/>
        </p:nvGrpSpPr>
        <p:grpSpPr>
          <a:xfrm>
            <a:off x="5120640" y="5806440"/>
            <a:ext cx="2926080" cy="640080"/>
            <a:chOff x="5120640" y="5806440"/>
            <a:chExt cx="2926080" cy="640080"/>
          </a:xfrm>
        </p:grpSpPr>
        <p:sp>
          <p:nvSpPr>
            <p:cNvPr id="44" name="Forma 43"/>
            <p:cNvSpPr/>
            <p:nvPr/>
          </p:nvSpPr>
          <p:spPr>
            <a:xfrm>
              <a:off x="5120640" y="5806440"/>
              <a:ext cx="2926080" cy="6400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45" name="Forma 44"/>
            <p:cNvSpPr/>
            <p:nvPr/>
          </p:nvSpPr>
          <p:spPr>
            <a:xfrm>
              <a:off x="5216652" y="5921654"/>
              <a:ext cx="2734056" cy="40965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sp>
        <p:nvSpPr>
          <p:cNvPr id="46" name="!!Amilasa 0"/>
          <p:cNvSpPr/>
          <p:nvPr/>
        </p:nvSpPr>
        <p:spPr>
          <a:xfrm>
            <a:off x="5303520" y="4114800"/>
            <a:ext cx="91440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CB83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582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</a:t>
            </a:r>
            <a:endParaRPr lang="es-AR" sz="1100" dirty="0">
              <a:latin typeface="Calibri"/>
            </a:endParaRPr>
          </a:p>
        </p:txBody>
      </p:sp>
      <p:sp>
        <p:nvSpPr>
          <p:cNvPr id="47" name="!!Lipasa 1"/>
          <p:cNvSpPr/>
          <p:nvPr/>
        </p:nvSpPr>
        <p:spPr>
          <a:xfrm>
            <a:off x="6309360" y="4114800"/>
            <a:ext cx="91440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9162"/>
              </a:gs>
              <a:gs pos="55000">
                <a:srgbClr val="C0560E"/>
              </a:gs>
              <a:gs pos="100000">
                <a:srgbClr val="99440B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2B07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Lipasa</a:t>
            </a:r>
            <a:endParaRPr lang="es-AR" sz="1100" dirty="0">
              <a:latin typeface="Calibri"/>
            </a:endParaRPr>
          </a:p>
        </p:txBody>
      </p:sp>
      <p:sp>
        <p:nvSpPr>
          <p:cNvPr id="48" name="!!Amilasa 2"/>
          <p:cNvSpPr/>
          <p:nvPr/>
        </p:nvSpPr>
        <p:spPr>
          <a:xfrm>
            <a:off x="5303520" y="4617720"/>
            <a:ext cx="91440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CB83"/>
              </a:gs>
              <a:gs pos="55000">
                <a:srgbClr val="F5B041"/>
              </a:gs>
              <a:gs pos="100000">
                <a:srgbClr val="C48C34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7A5820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</a:t>
            </a:r>
            <a:endParaRPr lang="es-AR" sz="1100" dirty="0">
              <a:latin typeface="Calibri"/>
            </a:endParaRPr>
          </a:p>
        </p:txBody>
      </p:sp>
      <p:sp>
        <p:nvSpPr>
          <p:cNvPr id="49" name="!!Lipasa 3"/>
          <p:cNvSpPr/>
          <p:nvPr/>
        </p:nvSpPr>
        <p:spPr>
          <a:xfrm>
            <a:off x="6309360" y="4617720"/>
            <a:ext cx="914400" cy="3657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9162"/>
              </a:gs>
              <a:gs pos="55000">
                <a:srgbClr val="C0560E"/>
              </a:gs>
              <a:gs pos="100000">
                <a:srgbClr val="99440B"/>
              </a:gs>
            </a:gsLst>
            <a:path path="circle">
              <a:fillToRect l="32000" t="28000" r="68000" b="72000"/>
            </a:path>
          </a:gradFill>
          <a:ln w="15875" cap="rnd">
            <a:solidFill>
              <a:srgbClr val="602B07"/>
            </a:solidFill>
            <a:round/>
          </a:ln>
        </p:spPr>
        <p:txBody>
          <a:bodyPr wrap="square" lIns="27432" tIns="0" rIns="27432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Lipasa</a:t>
            </a:r>
            <a:endParaRPr lang="es-AR" sz="1100" dirty="0">
              <a:latin typeface="Calibri"/>
            </a:endParaRPr>
          </a:p>
        </p:txBody>
      </p:sp>
      <p:grpSp>
        <p:nvGrpSpPr>
          <p:cNvPr id="50" name="Caja PC8"/>
          <p:cNvGrpSpPr/>
          <p:nvPr/>
        </p:nvGrpSpPr>
        <p:grpSpPr>
          <a:xfrm>
            <a:off x="8549640" y="1097280"/>
            <a:ext cx="3383280" cy="2743200"/>
            <a:chOff x="8549640" y="1097280"/>
            <a:chExt cx="3383280" cy="2743200"/>
          </a:xfrm>
        </p:grpSpPr>
        <p:sp>
          <p:nvSpPr>
            <p:cNvPr id="51" name="Forma 50"/>
            <p:cNvSpPr/>
            <p:nvPr/>
          </p:nvSpPr>
          <p:spPr>
            <a:xfrm>
              <a:off x="8549640" y="1298448"/>
              <a:ext cx="3383280" cy="254203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la necrosis,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y lipasa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pasan a la </a:t>
              </a:r>
              <a:r>
                <a:rPr lang="es-AR" sz="20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sangre</a:t>
              </a:r>
              <a:r>
                <a:rPr lang="es-AR" sz="20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2050" dirty="0">
                <a:latin typeface="Calibri"/>
              </a:endParaRPr>
            </a:p>
          </p:txBody>
        </p:sp>
        <p:sp>
          <p:nvSpPr>
            <p:cNvPr id="52" name="Forma 51"/>
            <p:cNvSpPr/>
            <p:nvPr/>
          </p:nvSpPr>
          <p:spPr>
            <a:xfrm>
              <a:off x="8677656" y="1097280"/>
              <a:ext cx="1710050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BIOMARCADORES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LIBERACIÓN DE AMILASA Y LIPASA A LA SANGRE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5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49" grpId="0" animBg="1"/>
    </p:bld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6035040" y="1143000"/>
            <a:ext cx="2011680" cy="844906"/>
            <a:chOff x="6035040" y="1143000"/>
            <a:chExt cx="2011680" cy="844906"/>
          </a:xfrm>
        </p:grpSpPr>
        <p:sp>
          <p:nvSpPr>
            <p:cNvPr id="6" name="Forma 5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Capilar"/>
          <p:cNvGrpSpPr/>
          <p:nvPr/>
        </p:nvGrpSpPr>
        <p:grpSpPr>
          <a:xfrm>
            <a:off x="274320" y="5715000"/>
            <a:ext cx="7772400" cy="640080"/>
            <a:chOff x="274320" y="5715000"/>
            <a:chExt cx="7772400" cy="640080"/>
          </a:xfrm>
        </p:grpSpPr>
        <p:sp>
          <p:nvSpPr>
            <p:cNvPr id="11" name="Forma 10"/>
            <p:cNvSpPr/>
            <p:nvPr/>
          </p:nvSpPr>
          <p:spPr>
            <a:xfrm>
              <a:off x="274320" y="5715000"/>
              <a:ext cx="7772400" cy="6400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" name="Forma 11"/>
            <p:cNvSpPr/>
            <p:nvPr/>
          </p:nvSpPr>
          <p:spPr>
            <a:xfrm>
              <a:off x="370332" y="5830214"/>
              <a:ext cx="7580376" cy="40965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sp>
        <p:nvSpPr>
          <p:cNvPr id="13" name="!!Base barras"/>
          <p:cNvSpPr/>
          <p:nvPr/>
        </p:nvSpPr>
        <p:spPr>
          <a:xfrm>
            <a:off x="548640" y="5029200"/>
            <a:ext cx="7315200" cy="9144"/>
          </a:xfrm>
          <a:custGeom>
            <a:avLst/>
            <a:gdLst/>
            <a:ahLst/>
            <a:cxnLst/>
            <a:rect l="0" t="0" r="r" b="b"/>
            <a:pathLst>
              <a:path w="8000" h="10" fill="none">
                <a:moveTo>
                  <a:pt x="0" y="0"/>
                </a:moveTo>
                <a:lnTo>
                  <a:pt x="8000" y="0"/>
                </a:lnTo>
              </a:path>
            </a:pathLst>
          </a:custGeom>
          <a:noFill/>
          <a:ln w="28575" cap="rnd">
            <a:solidFill>
              <a:srgbClr val="1E1E1E"/>
            </a:solidFill>
            <a:round/>
          </a:ln>
        </p:spPr>
      </p:sp>
      <p:sp>
        <p:nvSpPr>
          <p:cNvPr id="14" name="!!Línea VN"/>
          <p:cNvSpPr/>
          <p:nvPr/>
        </p:nvSpPr>
        <p:spPr>
          <a:xfrm>
            <a:off x="548640" y="4480560"/>
            <a:ext cx="7315200" cy="9144"/>
          </a:xfrm>
          <a:custGeom>
            <a:avLst/>
            <a:gdLst/>
            <a:ahLst/>
            <a:cxnLst/>
            <a:rect l="0" t="0" r="r" b="b"/>
            <a:pathLst>
              <a:path w="8000" h="10" fill="none">
                <a:moveTo>
                  <a:pt x="0" y="0"/>
                </a:moveTo>
                <a:lnTo>
                  <a:pt x="8000" y="0"/>
                </a:lnTo>
              </a:path>
            </a:pathLst>
          </a:custGeom>
          <a:noFill/>
          <a:ln w="25400" cap="rnd">
            <a:solidFill>
              <a:srgbClr val="4E7A30"/>
            </a:solidFill>
            <a:prstDash val="dash"/>
            <a:round/>
          </a:ln>
        </p:spPr>
      </p:sp>
      <p:sp>
        <p:nvSpPr>
          <p:cNvPr id="15" name="!!Línea 3VN"/>
          <p:cNvSpPr/>
          <p:nvPr/>
        </p:nvSpPr>
        <p:spPr>
          <a:xfrm>
            <a:off x="548640" y="3383280"/>
            <a:ext cx="7315200" cy="9144"/>
          </a:xfrm>
          <a:custGeom>
            <a:avLst/>
            <a:gdLst/>
            <a:ahLst/>
            <a:cxnLst/>
            <a:rect l="0" t="0" r="r" b="b"/>
            <a:pathLst>
              <a:path w="8000" h="10" fill="none">
                <a:moveTo>
                  <a:pt x="0" y="0"/>
                </a:moveTo>
                <a:lnTo>
                  <a:pt x="8000" y="0"/>
                </a:lnTo>
              </a:path>
            </a:pathLst>
          </a:custGeom>
          <a:noFill/>
          <a:ln w="25400" cap="rnd">
            <a:solidFill>
              <a:srgbClr val="C00000"/>
            </a:solidFill>
            <a:prstDash val="dash"/>
            <a:round/>
          </a:ln>
        </p:spPr>
      </p:sp>
      <p:sp>
        <p:nvSpPr>
          <p:cNvPr id="16" name="!!Rótulo 3VN"/>
          <p:cNvSpPr txBox="1"/>
          <p:nvPr/>
        </p:nvSpPr>
        <p:spPr>
          <a:xfrm>
            <a:off x="603504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 × VN</a:t>
            </a:r>
            <a:endParaRPr lang="es-AR" sz="1300" dirty="0">
              <a:latin typeface="Calibri"/>
            </a:endParaRPr>
          </a:p>
        </p:txBody>
      </p:sp>
      <p:sp>
        <p:nvSpPr>
          <p:cNvPr id="17" name="!!Barra Amilasa"/>
          <p:cNvSpPr/>
          <p:nvPr/>
        </p:nvSpPr>
        <p:spPr>
          <a:xfrm>
            <a:off x="1463040" y="1920240"/>
            <a:ext cx="1371600" cy="3108960"/>
          </a:xfrm>
          <a:prstGeom prst="rect">
            <a:avLst/>
          </a:prstGeom>
          <a:gradFill rotWithShape="1">
            <a:gsLst>
              <a:gs pos="0">
                <a:srgbClr val="F8CB83"/>
              </a:gs>
              <a:gs pos="100000">
                <a:srgbClr val="F5B041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8" name="!!Nombre Amilasa"/>
          <p:cNvSpPr txBox="1"/>
          <p:nvPr/>
        </p:nvSpPr>
        <p:spPr>
          <a:xfrm>
            <a:off x="1234440" y="5102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</a:t>
            </a:r>
            <a:endParaRPr lang="es-AR" sz="1500" dirty="0">
              <a:latin typeface="Calibri"/>
            </a:endParaRPr>
          </a:p>
        </p:txBody>
      </p:sp>
      <p:sp>
        <p:nvSpPr>
          <p:cNvPr id="19" name="!!Barra Lipasa"/>
          <p:cNvSpPr/>
          <p:nvPr/>
        </p:nvSpPr>
        <p:spPr>
          <a:xfrm>
            <a:off x="3840480" y="1463040"/>
            <a:ext cx="1371600" cy="3566160"/>
          </a:xfrm>
          <a:prstGeom prst="rect">
            <a:avLst/>
          </a:prstGeom>
          <a:gradFill rotWithShape="1">
            <a:gsLst>
              <a:gs pos="0">
                <a:srgbClr val="D69162"/>
              </a:gs>
              <a:gs pos="100000">
                <a:srgbClr val="C0560E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20" name="!!Nombre Lipasa"/>
          <p:cNvSpPr txBox="1"/>
          <p:nvPr/>
        </p:nvSpPr>
        <p:spPr>
          <a:xfrm>
            <a:off x="3611880" y="5102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Lipasa</a:t>
            </a:r>
            <a:endParaRPr lang="es-AR" sz="1500" dirty="0">
              <a:latin typeface="Calibri"/>
            </a:endParaRPr>
          </a:p>
        </p:txBody>
      </p:sp>
      <p:grpSp>
        <p:nvGrpSpPr>
          <p:cNvPr id="21" name="Caja PC9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22" name="Forma 21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&gt; 3 × VN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(6–12 h; normaliza en 48–72 h) y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 &gt; 3 × VN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(se mantiene 3–5 días). Esquema de alturas ilustrativo.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1097280"/>
              <a:ext cx="841608" cy="384048"/>
            </a:xfrm>
            <a:prstGeom prst="rect">
              <a:avLst/>
            </a:prstGeom>
            <a:solidFill>
              <a:srgbClr val="1F3864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SUERO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CAMBIOS SÉRICOS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4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ncreas"/>
          <p:cNvGrpSpPr/>
          <p:nvPr/>
        </p:nvGrpSpPr>
        <p:grpSpPr>
          <a:xfrm>
            <a:off x="6035040" y="1143000"/>
            <a:ext cx="2011680" cy="844906"/>
            <a:chOff x="6035040" y="1143000"/>
            <a:chExt cx="2011680" cy="844906"/>
          </a:xfrm>
        </p:grpSpPr>
        <p:sp>
          <p:nvSpPr>
            <p:cNvPr id="6" name="Forma 5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7" name="Forma 6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8" name="Islotes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6035040" y="1143000"/>
              <a:ext cx="2011680" cy="844906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0" name="!!Capilar"/>
          <p:cNvGrpSpPr/>
          <p:nvPr/>
        </p:nvGrpSpPr>
        <p:grpSpPr>
          <a:xfrm>
            <a:off x="274320" y="5715000"/>
            <a:ext cx="7772400" cy="640080"/>
            <a:chOff x="274320" y="5715000"/>
            <a:chExt cx="7772400" cy="640080"/>
          </a:xfrm>
        </p:grpSpPr>
        <p:sp>
          <p:nvSpPr>
            <p:cNvPr id="11" name="Forma 10"/>
            <p:cNvSpPr/>
            <p:nvPr/>
          </p:nvSpPr>
          <p:spPr>
            <a:xfrm>
              <a:off x="274320" y="5715000"/>
              <a:ext cx="7772400" cy="6400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C251B"/>
                </a:gs>
                <a:gs pos="30000">
                  <a:srgbClr val="D2746A"/>
                </a:gs>
                <a:gs pos="55000">
                  <a:srgbClr val="C0392B"/>
                </a:gs>
                <a:gs pos="100000">
                  <a:srgbClr val="7C251B"/>
                </a:gs>
              </a:gsLst>
              <a:lin ang="5400000" scaled="0"/>
            </a:gradFill>
            <a:ln w="15875" cap="rnd">
              <a:solidFill>
                <a:srgbClr val="6E1A12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" name="Forma 11"/>
            <p:cNvSpPr/>
            <p:nvPr/>
          </p:nvSpPr>
          <p:spPr>
            <a:xfrm>
              <a:off x="370332" y="5830214"/>
              <a:ext cx="7580376" cy="40965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2B8B0"/>
                </a:gs>
                <a:gs pos="50000">
                  <a:srgbClr val="F8D3CD"/>
                </a:gs>
                <a:gs pos="100000">
                  <a:srgbClr val="EBA59C"/>
                </a:gs>
              </a:gsLst>
              <a:lin ang="5400000" scaled="0"/>
            </a:gradFill>
            <a:ln w="9525" cap="rnd">
              <a:solidFill>
                <a:srgbClr val="A93226"/>
              </a:solidFill>
              <a:round/>
            </a:ln>
          </p:spPr>
        </p:sp>
      </p:grpSp>
      <p:sp>
        <p:nvSpPr>
          <p:cNvPr id="13" name="!!Base barras"/>
          <p:cNvSpPr/>
          <p:nvPr/>
        </p:nvSpPr>
        <p:spPr>
          <a:xfrm>
            <a:off x="548640" y="5029200"/>
            <a:ext cx="7315200" cy="9144"/>
          </a:xfrm>
          <a:custGeom>
            <a:avLst/>
            <a:gdLst/>
            <a:ahLst/>
            <a:cxnLst/>
            <a:rect l="0" t="0" r="r" b="b"/>
            <a:pathLst>
              <a:path w="8000" h="10" fill="none">
                <a:moveTo>
                  <a:pt x="0" y="0"/>
                </a:moveTo>
                <a:lnTo>
                  <a:pt x="8000" y="0"/>
                </a:lnTo>
              </a:path>
            </a:pathLst>
          </a:custGeom>
          <a:noFill/>
          <a:ln w="28575" cap="rnd">
            <a:solidFill>
              <a:srgbClr val="1E1E1E"/>
            </a:solidFill>
            <a:round/>
          </a:ln>
        </p:spPr>
      </p:sp>
      <p:sp>
        <p:nvSpPr>
          <p:cNvPr id="14" name="!!Línea VN"/>
          <p:cNvSpPr/>
          <p:nvPr/>
        </p:nvSpPr>
        <p:spPr>
          <a:xfrm>
            <a:off x="548640" y="4480560"/>
            <a:ext cx="7315200" cy="9144"/>
          </a:xfrm>
          <a:custGeom>
            <a:avLst/>
            <a:gdLst/>
            <a:ahLst/>
            <a:cxnLst/>
            <a:rect l="0" t="0" r="r" b="b"/>
            <a:pathLst>
              <a:path w="8000" h="10" fill="none">
                <a:moveTo>
                  <a:pt x="0" y="0"/>
                </a:moveTo>
                <a:lnTo>
                  <a:pt x="8000" y="0"/>
                </a:lnTo>
              </a:path>
            </a:pathLst>
          </a:custGeom>
          <a:noFill/>
          <a:ln w="25400" cap="rnd">
            <a:solidFill>
              <a:srgbClr val="4E7A30"/>
            </a:solidFill>
            <a:prstDash val="dash"/>
            <a:round/>
          </a:ln>
        </p:spPr>
      </p:sp>
      <p:sp>
        <p:nvSpPr>
          <p:cNvPr id="15" name="!!Línea 3VN"/>
          <p:cNvSpPr/>
          <p:nvPr/>
        </p:nvSpPr>
        <p:spPr>
          <a:xfrm>
            <a:off x="548640" y="3383280"/>
            <a:ext cx="7315200" cy="9144"/>
          </a:xfrm>
          <a:custGeom>
            <a:avLst/>
            <a:gdLst/>
            <a:ahLst/>
            <a:cxnLst/>
            <a:rect l="0" t="0" r="r" b="b"/>
            <a:pathLst>
              <a:path w="8000" h="10" fill="none">
                <a:moveTo>
                  <a:pt x="0" y="0"/>
                </a:moveTo>
                <a:lnTo>
                  <a:pt x="8000" y="0"/>
                </a:lnTo>
              </a:path>
            </a:pathLst>
          </a:custGeom>
          <a:noFill/>
          <a:ln w="25400" cap="rnd">
            <a:solidFill>
              <a:srgbClr val="C00000"/>
            </a:solidFill>
            <a:prstDash val="dash"/>
            <a:round/>
          </a:ln>
        </p:spPr>
      </p:sp>
      <p:sp>
        <p:nvSpPr>
          <p:cNvPr id="16" name="!!Rótulo 3VN"/>
          <p:cNvSpPr txBox="1"/>
          <p:nvPr/>
        </p:nvSpPr>
        <p:spPr>
          <a:xfrm>
            <a:off x="603504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spcAft>
                <a:spcPts val="300"/>
              </a:spcAft>
              <a:buNone/>
            </a:pPr>
            <a:r>
              <a:rPr lang="es-AR" sz="1300"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 × VN</a:t>
            </a:r>
            <a:endParaRPr lang="es-AR" sz="1300" dirty="0">
              <a:latin typeface="Calibri"/>
            </a:endParaRPr>
          </a:p>
        </p:txBody>
      </p:sp>
      <p:sp>
        <p:nvSpPr>
          <p:cNvPr id="17" name="!!Barra Amilasa"/>
          <p:cNvSpPr/>
          <p:nvPr/>
        </p:nvSpPr>
        <p:spPr>
          <a:xfrm>
            <a:off x="1463040" y="1920240"/>
            <a:ext cx="1371600" cy="3108960"/>
          </a:xfrm>
          <a:prstGeom prst="rect">
            <a:avLst/>
          </a:prstGeom>
          <a:gradFill rotWithShape="1">
            <a:gsLst>
              <a:gs pos="0">
                <a:srgbClr val="F8CB83"/>
              </a:gs>
              <a:gs pos="100000">
                <a:srgbClr val="F5B041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18" name="!!Nombre Amilasa"/>
          <p:cNvSpPr txBox="1"/>
          <p:nvPr/>
        </p:nvSpPr>
        <p:spPr>
          <a:xfrm>
            <a:off x="1234440" y="5102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</a:t>
            </a:r>
            <a:endParaRPr lang="es-AR" sz="1500" dirty="0">
              <a:latin typeface="Calibri"/>
            </a:endParaRPr>
          </a:p>
        </p:txBody>
      </p:sp>
      <p:sp>
        <p:nvSpPr>
          <p:cNvPr id="19" name="!!Barra Lipasa"/>
          <p:cNvSpPr/>
          <p:nvPr/>
        </p:nvSpPr>
        <p:spPr>
          <a:xfrm>
            <a:off x="3840480" y="1463040"/>
            <a:ext cx="1371600" cy="3566160"/>
          </a:xfrm>
          <a:prstGeom prst="rect">
            <a:avLst/>
          </a:prstGeom>
          <a:gradFill rotWithShape="1">
            <a:gsLst>
              <a:gs pos="0">
                <a:srgbClr val="D69162"/>
              </a:gs>
              <a:gs pos="100000">
                <a:srgbClr val="C0560E"/>
              </a:gs>
            </a:gsLst>
            <a:lin ang="5400000" scaled="0"/>
          </a:gradFill>
          <a:ln w="15875" cap="rnd">
            <a:solidFill>
              <a:srgbClr val="1E1E1E"/>
            </a:solidFill>
            <a:round/>
          </a:ln>
        </p:spPr>
      </p:sp>
      <p:sp>
        <p:nvSpPr>
          <p:cNvPr id="20" name="!!Nombre Lipasa"/>
          <p:cNvSpPr txBox="1"/>
          <p:nvPr/>
        </p:nvSpPr>
        <p:spPr>
          <a:xfrm>
            <a:off x="3611880" y="5102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Lipasa</a:t>
            </a:r>
            <a:endParaRPr lang="es-AR" sz="1500" dirty="0">
              <a:latin typeface="Calibri"/>
            </a:endParaRPr>
          </a:p>
        </p:txBody>
      </p:sp>
      <p:grpSp>
        <p:nvGrpSpPr>
          <p:cNvPr id="21" name="Caja PC10"/>
          <p:cNvGrpSpPr/>
          <p:nvPr/>
        </p:nvGrpSpPr>
        <p:grpSpPr>
          <a:xfrm>
            <a:off x="8549640" y="1097280"/>
            <a:ext cx="3383280" cy="2651760"/>
            <a:chOff x="8549640" y="1097280"/>
            <a:chExt cx="3383280" cy="2651760"/>
          </a:xfrm>
        </p:grpSpPr>
        <p:sp>
          <p:nvSpPr>
            <p:cNvPr id="22" name="Forma 21"/>
            <p:cNvSpPr/>
            <p:nvPr/>
          </p:nvSpPr>
          <p:spPr>
            <a:xfrm>
              <a:off x="8549640" y="1298448"/>
              <a:ext cx="3383280" cy="2450592"/>
            </a:xfrm>
            <a:prstGeom prst="roundRect">
              <a:avLst>
                <a:gd name="adj" fmla="val 9000"/>
              </a:avLst>
            </a:prstGeom>
            <a:solidFill>
              <a:srgbClr val="EAF5E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epigástrico «en cinturón» +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y lipasa &gt; 3 × VN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pancreatitis aguda. La </a:t>
              </a:r>
              <a:r>
                <a:rPr lang="es-AR" sz="18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r>
                <a:rPr lang="es-AR" sz="18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es la más específica y la más duradera.</a:t>
              </a:r>
              <a:endParaRPr lang="es-AR" sz="18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8677656" y="1097280"/>
              <a:ext cx="1654293" cy="384048"/>
            </a:xfrm>
            <a:prstGeom prst="rect">
              <a:avLst/>
            </a:prstGeom>
            <a:solidFill>
              <a:srgbClr val="4E7A3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24" name="Rigor Atlanta"/>
          <p:cNvGrpSpPr/>
          <p:nvPr/>
        </p:nvGrpSpPr>
        <p:grpSpPr>
          <a:xfrm>
            <a:off x="8549640" y="3977640"/>
            <a:ext cx="3383280" cy="2468880"/>
            <a:chOff x="8549640" y="3977640"/>
            <a:chExt cx="3383280" cy="2468880"/>
          </a:xfrm>
        </p:grpSpPr>
        <p:sp>
          <p:nvSpPr>
            <p:cNvPr id="25" name="Forma 24"/>
            <p:cNvSpPr/>
            <p:nvPr/>
          </p:nvSpPr>
          <p:spPr>
            <a:xfrm>
              <a:off x="8549640" y="4178808"/>
              <a:ext cx="3383280" cy="226771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Criterios de Atlanta revisados: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 de 3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— dolor típico, lipasa o amilasa ≥ 3 × LSN, imagen compatible.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8677656" y="397764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795528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INTERPRETACIÓN CLÍNICA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Tabla etiología fila 0"/>
          <p:cNvGrpSpPr/>
          <p:nvPr/>
        </p:nvGrpSpPr>
        <p:grpSpPr>
          <a:xfrm>
            <a:off x="365760" y="1097280"/>
            <a:ext cx="11567160" cy="566928"/>
            <a:chOff x="365760" y="1097280"/>
            <a:chExt cx="11567160" cy="566928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31089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Causa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474720" y="1097280"/>
              <a:ext cx="845820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Mecanismo / observaciones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8" name="Tabla etiología fila 1"/>
          <p:cNvGrpSpPr/>
          <p:nvPr/>
        </p:nvGrpSpPr>
        <p:grpSpPr>
          <a:xfrm>
            <a:off x="365760" y="1664208"/>
            <a:ext cx="11567160" cy="566928"/>
            <a:chOff x="365760" y="1664208"/>
            <a:chExt cx="11567160" cy="566928"/>
          </a:xfrm>
        </p:grpSpPr>
        <p:sp>
          <p:nvSpPr>
            <p:cNvPr id="9" name="Forma 8"/>
            <p:cNvSpPr/>
            <p:nvPr/>
          </p:nvSpPr>
          <p:spPr>
            <a:xfrm>
              <a:off x="365760" y="1664208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Litiasis biliar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3474720" y="1664208"/>
              <a:ext cx="8458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Causa más frecuente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el cálculo obstruye el conducto biliopancreático → reflujo → activación de zimógenos. Más en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mujeres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1" name="Tabla etiología fila 2"/>
          <p:cNvGrpSpPr/>
          <p:nvPr/>
        </p:nvGrpSpPr>
        <p:grpSpPr>
          <a:xfrm>
            <a:off x="365760" y="2231136"/>
            <a:ext cx="11567160" cy="566928"/>
            <a:chOff x="365760" y="2231136"/>
            <a:chExt cx="11567160" cy="566928"/>
          </a:xfrm>
        </p:grpSpPr>
        <p:sp>
          <p:nvSpPr>
            <p:cNvPr id="12" name="Forma 11"/>
            <p:cNvSpPr/>
            <p:nvPr/>
          </p:nvSpPr>
          <p:spPr>
            <a:xfrm>
              <a:off x="365760" y="2231136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Alcoholismo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474720" y="2231136"/>
              <a:ext cx="8458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Toxicidad directa + espasmo del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esfínter de Oddi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→ obstrucción funcional. Más en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varones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4" name="Tabla etiología fila 3"/>
          <p:cNvGrpSpPr/>
          <p:nvPr/>
        </p:nvGrpSpPr>
        <p:grpSpPr>
          <a:xfrm>
            <a:off x="365760" y="2798064"/>
            <a:ext cx="11567160" cy="566928"/>
            <a:chOff x="365760" y="2798064"/>
            <a:chExt cx="11567160" cy="566928"/>
          </a:xfrm>
        </p:grpSpPr>
        <p:sp>
          <p:nvSpPr>
            <p:cNvPr id="15" name="Forma 14"/>
            <p:cNvSpPr/>
            <p:nvPr/>
          </p:nvSpPr>
          <p:spPr>
            <a:xfrm>
              <a:off x="365760" y="2798064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Hipertrigliceridemia severa (&gt; 1000 mg/dL)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3474720" y="2798064"/>
              <a:ext cx="8458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Los ácidos grasos libres dañan el endotelio pancreático.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7" name="Tabla etiología fila 4"/>
          <p:cNvGrpSpPr/>
          <p:nvPr/>
        </p:nvGrpSpPr>
        <p:grpSpPr>
          <a:xfrm>
            <a:off x="365760" y="3364992"/>
            <a:ext cx="11567160" cy="566928"/>
            <a:chOff x="365760" y="3364992"/>
            <a:chExt cx="11567160" cy="566928"/>
          </a:xfrm>
        </p:grpSpPr>
        <p:sp>
          <p:nvSpPr>
            <p:cNvPr id="18" name="Forma 17"/>
            <p:cNvSpPr/>
            <p:nvPr/>
          </p:nvSpPr>
          <p:spPr>
            <a:xfrm>
              <a:off x="365760" y="3364992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Traumatismo abdominal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3474720" y="3364992"/>
              <a:ext cx="8458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Causa más frecuente en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niños</a:t>
              </a: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0" name="Tabla etiología fila 5"/>
          <p:cNvGrpSpPr/>
          <p:nvPr/>
        </p:nvGrpSpPr>
        <p:grpSpPr>
          <a:xfrm>
            <a:off x="365760" y="3931920"/>
            <a:ext cx="11567160" cy="566928"/>
            <a:chOff x="365760" y="3931920"/>
            <a:chExt cx="11567160" cy="566928"/>
          </a:xfrm>
        </p:grpSpPr>
        <p:sp>
          <p:nvSpPr>
            <p:cNvPr id="21" name="Forma 20"/>
            <p:cNvSpPr/>
            <p:nvPr/>
          </p:nvSpPr>
          <p:spPr>
            <a:xfrm>
              <a:off x="365760" y="3931920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Fármacos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3474720" y="3931920"/>
              <a:ext cx="8458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Estrógenos, furosemida, sulfamidas, tetraciclinas, corticoides, algunos antibióticos.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3" name="Tabla etiología fila 6"/>
          <p:cNvGrpSpPr/>
          <p:nvPr/>
        </p:nvGrpSpPr>
        <p:grpSpPr>
          <a:xfrm>
            <a:off x="365760" y="4498848"/>
            <a:ext cx="11567160" cy="566928"/>
            <a:chOff x="365760" y="4498848"/>
            <a:chExt cx="11567160" cy="566928"/>
          </a:xfrm>
        </p:grpSpPr>
        <p:sp>
          <p:nvSpPr>
            <p:cNvPr id="24" name="Forma 23"/>
            <p:cNvSpPr/>
            <p:nvPr/>
          </p:nvSpPr>
          <p:spPr>
            <a:xfrm>
              <a:off x="365760" y="4498848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Tumores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3474720" y="4498848"/>
              <a:ext cx="8458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Obstrucción mecánica del conducto.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6" name="Tabla etiología fila 7"/>
          <p:cNvGrpSpPr/>
          <p:nvPr/>
        </p:nvGrpSpPr>
        <p:grpSpPr>
          <a:xfrm>
            <a:off x="365760" y="5065776"/>
            <a:ext cx="11567160" cy="566928"/>
            <a:chOff x="365760" y="5065776"/>
            <a:chExt cx="11567160" cy="566928"/>
          </a:xfrm>
        </p:grpSpPr>
        <p:sp>
          <p:nvSpPr>
            <p:cNvPr id="27" name="Forma 26"/>
            <p:cNvSpPr/>
            <p:nvPr/>
          </p:nvSpPr>
          <p:spPr>
            <a:xfrm>
              <a:off x="365760" y="5065776"/>
              <a:ext cx="31089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Infecciones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3474720" y="5065776"/>
              <a:ext cx="8458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Hepatitis viral, parotitis, rubéola, CMV, Candida, Ascaris (asciende por la vía biliopancreática).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9" name="Tabla etiología fila 8"/>
          <p:cNvGrpSpPr/>
          <p:nvPr/>
        </p:nvGrpSpPr>
        <p:grpSpPr>
          <a:xfrm>
            <a:off x="365760" y="5632704"/>
            <a:ext cx="11567160" cy="566928"/>
            <a:chOff x="365760" y="5632704"/>
            <a:chExt cx="11567160" cy="566928"/>
          </a:xfrm>
        </p:grpSpPr>
        <p:sp>
          <p:nvSpPr>
            <p:cNvPr id="30" name="Forma 29"/>
            <p:cNvSpPr/>
            <p:nvPr/>
          </p:nvSpPr>
          <p:spPr>
            <a:xfrm>
              <a:off x="365760" y="5632704"/>
              <a:ext cx="31089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Idiopática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3474720" y="5632704"/>
              <a:ext cx="8458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~20–30 % sin causa identificable.</a:t>
              </a:r>
              <a:endParaRPr lang="es-AR" sz="135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70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4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ETIOLOGÍA DE LA PANCREATITIS AGUDA</a:t>
            </a:r>
            <a:endParaRPr lang="es-AR" sz="24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6" name="!!Paciente"/>
          <p:cNvGrpSpPr/>
          <p:nvPr/>
        </p:nvGrpSpPr>
        <p:grpSpPr>
          <a:xfrm>
            <a:off x="4480560" y="1005840"/>
            <a:ext cx="2697480" cy="5394960"/>
            <a:chOff x="4480560" y="1005840"/>
            <a:chExt cx="2697480" cy="5394960"/>
          </a:xfrm>
        </p:grpSpPr>
        <p:sp>
          <p:nvSpPr>
            <p:cNvPr id="7" name="Forma 6"/>
            <p:cNvSpPr/>
            <p:nvPr/>
          </p:nvSpPr>
          <p:spPr>
            <a:xfrm>
              <a:off x="44805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8" name="Forma 7"/>
            <p:cNvSpPr/>
            <p:nvPr/>
          </p:nvSpPr>
          <p:spPr>
            <a:xfrm>
              <a:off x="448056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8D5C2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9" name="Dolor en cinturón"/>
          <p:cNvSpPr/>
          <p:nvPr/>
        </p:nvSpPr>
        <p:spPr>
          <a:xfrm>
            <a:off x="5029200" y="2743200"/>
            <a:ext cx="1645920" cy="502920"/>
          </a:xfrm>
          <a:prstGeom prst="ellipse">
            <a:avLst/>
          </a:prstGeom>
          <a:solidFill>
            <a:srgbClr val="C00000">
              <a:alpha val="45000"/>
            </a:srgbClr>
          </a:solidFill>
          <a:ln w="31750" cap="rnd">
            <a:solidFill>
              <a:srgbClr val="C00000"/>
            </a:solidFill>
            <a:prstDash val="dash"/>
            <a:round/>
          </a:ln>
        </p:spPr>
      </p:sp>
      <p:sp>
        <p:nvSpPr>
          <p:cNvPr id="10" name="Signo Grey-Turner"/>
          <p:cNvSpPr/>
          <p:nvPr/>
        </p:nvSpPr>
        <p:spPr>
          <a:xfrm>
            <a:off x="6080760" y="3246120"/>
            <a:ext cx="411480" cy="548640"/>
          </a:xfrm>
          <a:prstGeom prst="ellipse">
            <a:avLst/>
          </a:prstGeom>
          <a:solidFill>
            <a:srgbClr val="6C3483">
              <a:alpha val="55000"/>
            </a:srgbClr>
          </a:solidFill>
          <a:ln>
            <a:noFill/>
          </a:ln>
        </p:spPr>
      </p:sp>
      <p:sp>
        <p:nvSpPr>
          <p:cNvPr id="11" name="Signo de Cullen"/>
          <p:cNvSpPr/>
          <p:nvPr/>
        </p:nvSpPr>
        <p:spPr>
          <a:xfrm>
            <a:off x="5715000" y="3429000"/>
            <a:ext cx="274320" cy="274320"/>
          </a:xfrm>
          <a:prstGeom prst="ellipse">
            <a:avLst/>
          </a:prstGeom>
          <a:solidFill>
            <a:srgbClr val="6C3483">
              <a:alpha val="65000"/>
            </a:srgbClr>
          </a:solidFill>
          <a:ln>
            <a:noFill/>
          </a:ln>
        </p:spPr>
      </p:sp>
      <p:sp>
        <p:nvSpPr>
          <p:cNvPr id="12" name="Clínica izq 0"/>
          <p:cNvSpPr/>
          <p:nvPr/>
        </p:nvSpPr>
        <p:spPr>
          <a:xfrm>
            <a:off x="320040" y="1097280"/>
            <a:ext cx="393192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Dolor abdominal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Epigástrico, intenso, brusco; irradiación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 cinturón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hacia la espalda; empeora con alimentos o alcohol.</a:t>
            </a:r>
            <a:endParaRPr lang="es-AR" sz="1800" dirty="0">
              <a:latin typeface="Calibri"/>
            </a:endParaRPr>
          </a:p>
        </p:txBody>
      </p:sp>
      <p:sp>
        <p:nvSpPr>
          <p:cNvPr id="13" name="Clínica izq 1"/>
          <p:cNvSpPr/>
          <p:nvPr/>
        </p:nvSpPr>
        <p:spPr>
          <a:xfrm>
            <a:off x="320040" y="2880360"/>
            <a:ext cx="393192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Náuseas y vómitos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~90 % de los casos;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 alivian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el dolor.</a:t>
            </a:r>
            <a:endParaRPr lang="es-AR" sz="1800" dirty="0">
              <a:latin typeface="Calibri"/>
            </a:endParaRPr>
          </a:p>
        </p:txBody>
      </p:sp>
      <p:sp>
        <p:nvSpPr>
          <p:cNvPr id="14" name="Clínica izq 2"/>
          <p:cNvSpPr/>
          <p:nvPr/>
        </p:nvSpPr>
        <p:spPr>
          <a:xfrm>
            <a:off x="320040" y="4663440"/>
            <a:ext cx="393192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Fiebre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Por inflamación, no necesariamente infección.</a:t>
            </a:r>
            <a:endParaRPr lang="es-AR" sz="1800" dirty="0">
              <a:latin typeface="Calibri"/>
            </a:endParaRPr>
          </a:p>
        </p:txBody>
      </p:sp>
      <p:sp>
        <p:nvSpPr>
          <p:cNvPr id="15" name="Clínica der 0"/>
          <p:cNvSpPr/>
          <p:nvPr/>
        </p:nvSpPr>
        <p:spPr>
          <a:xfrm>
            <a:off x="7818120" y="1097280"/>
            <a:ext cx="406908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Taquicardia + hipotensión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Dolor e </a:t>
            </a: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hipovolemia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(líquido al tercer espacio).</a:t>
            </a:r>
            <a:endParaRPr lang="es-AR" sz="1650" dirty="0">
              <a:latin typeface="Calibri"/>
            </a:endParaRPr>
          </a:p>
        </p:txBody>
      </p:sp>
      <p:sp>
        <p:nvSpPr>
          <p:cNvPr id="16" name="Clínica der 1"/>
          <p:cNvSpPr/>
          <p:nvPr/>
        </p:nvSpPr>
        <p:spPr>
          <a:xfrm>
            <a:off x="7818120" y="2441448"/>
            <a:ext cx="406908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Íleo paralítico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Catarsis ausente, ruidos hidroaéreos disminuidos.</a:t>
            </a:r>
            <a:endParaRPr lang="es-AR" sz="1650" dirty="0">
              <a:latin typeface="Calibri"/>
            </a:endParaRPr>
          </a:p>
        </p:txBody>
      </p:sp>
      <p:sp>
        <p:nvSpPr>
          <p:cNvPr id="17" name="Clínica der 2"/>
          <p:cNvSpPr/>
          <p:nvPr/>
        </p:nvSpPr>
        <p:spPr>
          <a:xfrm>
            <a:off x="7818120" y="3785616"/>
            <a:ext cx="406908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Grey-Turner / Cullen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Equimosis en flancos (pancreatitis hemorrágica grave) / periumbilical (hematoma retroperitoneal).</a:t>
            </a:r>
            <a:endParaRPr lang="es-AR" sz="1650" dirty="0">
              <a:latin typeface="Calibri"/>
            </a:endParaRPr>
          </a:p>
        </p:txBody>
      </p:sp>
      <p:sp>
        <p:nvSpPr>
          <p:cNvPr id="18" name="Clínica der 3"/>
          <p:cNvSpPr/>
          <p:nvPr/>
        </p:nvSpPr>
        <p:spPr>
          <a:xfrm>
            <a:off x="7818120" y="5129784"/>
            <a:ext cx="4069080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6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Ictericia (variable)</a:t>
            </a:r>
            <a:r>
              <a:rPr lang="es-AR" sz="16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Solo si se obstruye el colédoco.</a:t>
            </a:r>
            <a:endParaRPr lang="es-AR" sz="16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6181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6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CLÍNICA DE LA PANCREATITIS AGUDA</a:t>
            </a:r>
            <a:endParaRPr lang="es-AR" sz="26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1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0" grpId="0" animBg="1"/>
      <p:bldP spid="11" grpId="0" animBg="1"/>
      <p:bldP spid="17" grpId="0" animBg="1"/>
      <p:bldP spid="18" grpId="0" animBg="1"/>
    </p:bld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Tabla lab pancreatitis fila 0"/>
          <p:cNvGrpSpPr/>
          <p:nvPr/>
        </p:nvGrpSpPr>
        <p:grpSpPr>
          <a:xfrm>
            <a:off x="365760" y="1097280"/>
            <a:ext cx="7680960" cy="566928"/>
            <a:chOff x="365760" y="1097280"/>
            <a:chExt cx="7680960" cy="566928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23774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Parámetro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743200" y="1097280"/>
              <a:ext cx="530352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Hallazgo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8" name="Tabla lab pancreatitis fila 1"/>
          <p:cNvGrpSpPr/>
          <p:nvPr/>
        </p:nvGrpSpPr>
        <p:grpSpPr>
          <a:xfrm>
            <a:off x="365760" y="1664208"/>
            <a:ext cx="7680960" cy="566928"/>
            <a:chOff x="365760" y="1664208"/>
            <a:chExt cx="7680960" cy="566928"/>
          </a:xfrm>
        </p:grpSpPr>
        <p:sp>
          <p:nvSpPr>
            <p:cNvPr id="9" name="Forma 8"/>
            <p:cNvSpPr/>
            <p:nvPr/>
          </p:nvSpPr>
          <p:spPr>
            <a:xfrm>
              <a:off x="365760" y="1664208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2743200" y="1664208"/>
              <a:ext cx="530352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↑↑↑ &gt; 3 × VN (6–12 h; normaliza en 48–72 h)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1" name="Tabla lab pancreatitis fila 2"/>
          <p:cNvGrpSpPr/>
          <p:nvPr/>
        </p:nvGrpSpPr>
        <p:grpSpPr>
          <a:xfrm>
            <a:off x="365760" y="2231136"/>
            <a:ext cx="7680960" cy="566928"/>
            <a:chOff x="365760" y="2231136"/>
            <a:chExt cx="7680960" cy="566928"/>
          </a:xfrm>
        </p:grpSpPr>
        <p:sp>
          <p:nvSpPr>
            <p:cNvPr id="12" name="Forma 11"/>
            <p:cNvSpPr/>
            <p:nvPr/>
          </p:nvSpPr>
          <p:spPr>
            <a:xfrm>
              <a:off x="365760" y="2231136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2743200" y="2231136"/>
              <a:ext cx="530352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↑↑↑ &gt; 3 × VN, más específica y duradera (3–5 días)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4" name="Tabla lab pancreatitis fila 3"/>
          <p:cNvGrpSpPr/>
          <p:nvPr/>
        </p:nvGrpSpPr>
        <p:grpSpPr>
          <a:xfrm>
            <a:off x="365760" y="2798064"/>
            <a:ext cx="7680960" cy="566928"/>
            <a:chOff x="365760" y="2798064"/>
            <a:chExt cx="7680960" cy="566928"/>
          </a:xfrm>
        </p:grpSpPr>
        <p:sp>
          <p:nvSpPr>
            <p:cNvPr id="15" name="Forma 14"/>
            <p:cNvSpPr/>
            <p:nvPr/>
          </p:nvSpPr>
          <p:spPr>
            <a:xfrm>
              <a:off x="365760" y="2798064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Leucocitos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2743200" y="2798064"/>
              <a:ext cx="530352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 muy elevados (inflamación severa)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7" name="Tabla lab pancreatitis fila 4"/>
          <p:cNvGrpSpPr/>
          <p:nvPr/>
        </p:nvGrpSpPr>
        <p:grpSpPr>
          <a:xfrm>
            <a:off x="365760" y="3364992"/>
            <a:ext cx="7680960" cy="566928"/>
            <a:chOff x="365760" y="3364992"/>
            <a:chExt cx="7680960" cy="566928"/>
          </a:xfrm>
        </p:grpSpPr>
        <p:sp>
          <p:nvSpPr>
            <p:cNvPr id="18" name="Forma 17"/>
            <p:cNvSpPr/>
            <p:nvPr/>
          </p:nvSpPr>
          <p:spPr>
            <a:xfrm>
              <a:off x="365760" y="3364992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Hematocrito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2743200" y="3364992"/>
              <a:ext cx="530352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 inicial (hemoconcentración) → ↓ si hay hemorragia pancreática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0" name="Tabla lab pancreatitis fila 5"/>
          <p:cNvGrpSpPr/>
          <p:nvPr/>
        </p:nvGrpSpPr>
        <p:grpSpPr>
          <a:xfrm>
            <a:off x="365760" y="3931920"/>
            <a:ext cx="7680960" cy="566928"/>
            <a:chOff x="365760" y="3931920"/>
            <a:chExt cx="7680960" cy="566928"/>
          </a:xfrm>
        </p:grpSpPr>
        <p:sp>
          <p:nvSpPr>
            <p:cNvPr id="21" name="Forma 20"/>
            <p:cNvSpPr/>
            <p:nvPr/>
          </p:nvSpPr>
          <p:spPr>
            <a:xfrm>
              <a:off x="365760" y="3931920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Glucemia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2743200" y="3931920"/>
              <a:ext cx="530352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 por daño del páncreas endocrino (menos insulina)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3" name="Tabla lab pancreatitis fila 6"/>
          <p:cNvGrpSpPr/>
          <p:nvPr/>
        </p:nvGrpSpPr>
        <p:grpSpPr>
          <a:xfrm>
            <a:off x="365760" y="4498848"/>
            <a:ext cx="7680960" cy="566928"/>
            <a:chOff x="365760" y="4498848"/>
            <a:chExt cx="7680960" cy="566928"/>
          </a:xfrm>
        </p:grpSpPr>
        <p:sp>
          <p:nvSpPr>
            <p:cNvPr id="24" name="Forma 23"/>
            <p:cNvSpPr/>
            <p:nvPr/>
          </p:nvSpPr>
          <p:spPr>
            <a:xfrm>
              <a:off x="365760" y="4498848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Urea / BUN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2743200" y="4498848"/>
              <a:ext cx="530352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 por catabolismo aumentado y deshidratación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6" name="Tabla lab pancreatitis fila 7"/>
          <p:cNvGrpSpPr/>
          <p:nvPr/>
        </p:nvGrpSpPr>
        <p:grpSpPr>
          <a:xfrm>
            <a:off x="365760" y="5065776"/>
            <a:ext cx="7680960" cy="566928"/>
            <a:chOff x="365760" y="5065776"/>
            <a:chExt cx="7680960" cy="566928"/>
          </a:xfrm>
        </p:grpSpPr>
        <p:sp>
          <p:nvSpPr>
            <p:cNvPr id="27" name="Forma 26"/>
            <p:cNvSpPr/>
            <p:nvPr/>
          </p:nvSpPr>
          <p:spPr>
            <a:xfrm>
              <a:off x="365760" y="5065776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PCR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2743200" y="5065776"/>
              <a:ext cx="530352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&gt; 150 mg/L a las 48 h: pancreatitis </a:t>
              </a: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severa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9" name="Tabla lab pancreatitis fila 8"/>
          <p:cNvGrpSpPr/>
          <p:nvPr/>
        </p:nvGrpSpPr>
        <p:grpSpPr>
          <a:xfrm>
            <a:off x="365760" y="5632704"/>
            <a:ext cx="7680960" cy="566928"/>
            <a:chOff x="365760" y="5632704"/>
            <a:chExt cx="7680960" cy="566928"/>
          </a:xfrm>
        </p:grpSpPr>
        <p:sp>
          <p:nvSpPr>
            <p:cNvPr id="30" name="Forma 29"/>
            <p:cNvSpPr/>
            <p:nvPr/>
          </p:nvSpPr>
          <p:spPr>
            <a:xfrm>
              <a:off x="365760" y="5632704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GOT/GPT, FAL, GGT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2743200" y="5632704"/>
              <a:ext cx="530352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Pueden elevarse si se compromete el colédoco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2" name="Rigor lab PA"/>
          <p:cNvGrpSpPr/>
          <p:nvPr/>
        </p:nvGrpSpPr>
        <p:grpSpPr>
          <a:xfrm>
            <a:off x="8549640" y="1097280"/>
            <a:ext cx="3383280" cy="5349240"/>
            <a:chOff x="8549640" y="1097280"/>
            <a:chExt cx="3383280" cy="5349240"/>
          </a:xfrm>
        </p:grpSpPr>
        <p:sp>
          <p:nvSpPr>
            <p:cNvPr id="33" name="Forma 32"/>
            <p:cNvSpPr/>
            <p:nvPr/>
          </p:nvSpPr>
          <p:spPr>
            <a:xfrm>
              <a:off x="8549640" y="1298448"/>
              <a:ext cx="3383280" cy="514807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 marL="157162" indent="-157162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PCR &gt; 150 mg/L a las 48 h es un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marcador de gravedad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ampliamente usado, pero la clasificación de Atlanta revisada (2012) define la gravedad por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falla orgánica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y complicaciones.</a:t>
              </a:r>
              <a:endParaRPr lang="es-AR" sz="1650" dirty="0">
                <a:latin typeface="Calibri"/>
              </a:endParaRPr>
            </a:p>
            <a:p>
              <a:pPr algn="l" marL="157162" indent="-157162">
                <a:spcAft>
                  <a:spcPts val="400"/>
                </a:spcAft>
                <a:buClr>
                  <a:srgbClr val="1E1E1E"/>
                </a:buClr>
                <a:buFont typeface="Arial"/>
                <a:buChar char="•"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hiperglucemia también responde a las </a:t>
              </a: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hormonas de estrés</a:t>
              </a: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2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LABORATORIO EN LA PANCREATITIS AGUDA</a:t>
            </a:r>
            <a:endParaRPr lang="es-AR" sz="22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Paciente"/>
          <p:cNvGrpSpPr/>
          <p:nvPr/>
        </p:nvGrpSpPr>
        <p:grpSpPr>
          <a:xfrm>
            <a:off x="365760" y="1097280"/>
            <a:ext cx="7680960" cy="1417320"/>
            <a:chOff x="365760" y="1097280"/>
            <a:chExt cx="7680960" cy="141732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7680960" cy="14173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grpSp>
          <p:nvGrpSpPr>
            <p:cNvPr id="7" name="Silueta"/>
            <p:cNvGrpSpPr/>
            <p:nvPr/>
          </p:nvGrpSpPr>
          <p:grpSpPr>
            <a:xfrm>
              <a:off x="502920" y="1207008"/>
              <a:ext cx="950976" cy="1188720"/>
              <a:chOff x="502920" y="1207008"/>
              <a:chExt cx="950976" cy="118872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788213" y="1207008"/>
                <a:ext cx="380390" cy="380390"/>
              </a:xfrm>
              <a:prstGeom prst="ellipse">
                <a:avLst/>
              </a:pr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  <p:sp>
            <p:nvSpPr>
              <p:cNvPr id="9" name="Forma 8"/>
              <p:cNvSpPr/>
              <p:nvPr/>
            </p:nvSpPr>
            <p:spPr>
              <a:xfrm>
                <a:off x="502920" y="1606418"/>
                <a:ext cx="950976" cy="78931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0" y="1000"/>
                    </a:moveTo>
                    <a:cubicBezTo>
                      <a:pt x="60" y="908"/>
                      <a:pt x="36" y="596"/>
                      <a:pt x="60" y="450"/>
                    </a:cubicBezTo>
                    <a:cubicBezTo>
                      <a:pt x="83" y="303"/>
                      <a:pt x="126" y="188"/>
                      <a:pt x="200" y="120"/>
                    </a:cubicBezTo>
                    <a:cubicBezTo>
                      <a:pt x="273" y="51"/>
                      <a:pt x="400" y="40"/>
                      <a:pt x="500" y="40"/>
                    </a:cubicBezTo>
                    <a:cubicBezTo>
                      <a:pt x="600" y="40"/>
                      <a:pt x="726" y="51"/>
                      <a:pt x="800" y="120"/>
                    </a:cubicBezTo>
                    <a:cubicBezTo>
                      <a:pt x="873" y="188"/>
                      <a:pt x="916" y="303"/>
                      <a:pt x="940" y="450"/>
                    </a:cubicBezTo>
                    <a:cubicBezTo>
                      <a:pt x="963" y="596"/>
                      <a:pt x="940" y="908"/>
                      <a:pt x="940" y="1000"/>
                    </a:cubicBezTo>
                  </a:path>
                </a:pathLst>
              </a:cu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</p:grpSp>
        <p:sp>
          <p:nvSpPr>
            <p:cNvPr id="10" name="Edad y sexo"/>
            <p:cNvSpPr txBox="1"/>
            <p:nvPr/>
          </p:nvSpPr>
          <p:spPr>
            <a:xfrm>
              <a:off x="1600200" y="123444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Mujer de 22 años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1" name="Motivo"/>
            <p:cNvSpPr txBox="1"/>
            <p:nvPr/>
          </p:nvSpPr>
          <p:spPr>
            <a:xfrm>
              <a:off x="1600200" y="1691640"/>
              <a:ext cx="63093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abdominal epigástrico 10/10 «en cinturón» (irradia a ambos costados), de aparición repentina hace 3 días.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12" name="Síntomas C3"/>
          <p:cNvSpPr/>
          <p:nvPr/>
        </p:nvSpPr>
        <p:spPr>
          <a:xfrm>
            <a:off x="365760" y="2697480"/>
            <a:ext cx="37490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Náuseas, vómitos y fiebre (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37,9 °C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lang="es-AR" sz="2050" dirty="0">
              <a:latin typeface="Calibri"/>
            </a:endParaRPr>
          </a:p>
        </p:txBody>
      </p:sp>
      <p:sp>
        <p:nvSpPr>
          <p:cNvPr id="13" name="Catarsis C3"/>
          <p:cNvSpPr/>
          <p:nvPr/>
        </p:nvSpPr>
        <p:spPr>
          <a:xfrm>
            <a:off x="4297680" y="2697480"/>
            <a:ext cx="3749040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Catarsis ausente 48 h;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sin ictericia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14" name="Pregunta C3"/>
          <p:cNvSpPr/>
          <p:nvPr/>
        </p:nvSpPr>
        <p:spPr>
          <a:xfrm>
            <a:off x="365760" y="4389120"/>
            <a:ext cx="7680960" cy="20574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¿Hígado o páncreas? Antes de mirar el laboratorio, ¿qué perfil enzimático esperaríamos en cada caso?</a:t>
            </a:r>
            <a:endParaRPr lang="es-AR" sz="2200" dirty="0">
              <a:latin typeface="Calibri"/>
            </a:endParaRPr>
          </a:p>
        </p:txBody>
      </p:sp>
      <p:grpSp>
        <p:nvGrpSpPr>
          <p:cNvPr id="15" name="Silueta C3"/>
          <p:cNvGrpSpPr/>
          <p:nvPr/>
        </p:nvGrpSpPr>
        <p:grpSpPr>
          <a:xfrm>
            <a:off x="9235440" y="1005840"/>
            <a:ext cx="2697480" cy="5394960"/>
            <a:chOff x="9235440" y="1005840"/>
            <a:chExt cx="2697480" cy="5394960"/>
          </a:xfrm>
        </p:grpSpPr>
        <p:sp>
          <p:nvSpPr>
            <p:cNvPr id="16" name="Forma 15"/>
            <p:cNvSpPr/>
            <p:nvPr/>
          </p:nvSpPr>
          <p:spPr>
            <a:xfrm>
              <a:off x="92354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AD7A0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17" name="Forma 16"/>
            <p:cNvSpPr/>
            <p:nvPr/>
          </p:nvSpPr>
          <p:spPr>
            <a:xfrm>
              <a:off x="92354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AD7A0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3: PRESENTACIÓN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1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Signos vitales TA"/>
          <p:cNvGrpSpPr/>
          <p:nvPr/>
        </p:nvGrpSpPr>
        <p:grpSpPr>
          <a:xfrm>
            <a:off x="365760" y="1188720"/>
            <a:ext cx="2148840" cy="1005840"/>
            <a:chOff x="365760" y="1188720"/>
            <a:chExt cx="2148840" cy="1005840"/>
          </a:xfrm>
        </p:grpSpPr>
        <p:sp>
          <p:nvSpPr>
            <p:cNvPr id="6" name="Forma 5"/>
            <p:cNvSpPr/>
            <p:nvPr/>
          </p:nvSpPr>
          <p:spPr>
            <a:xfrm>
              <a:off x="365760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7" name="Forma 6"/>
            <p:cNvSpPr txBox="1"/>
            <p:nvPr/>
          </p:nvSpPr>
          <p:spPr>
            <a:xfrm>
              <a:off x="365760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TA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 txBox="1"/>
            <p:nvPr/>
          </p:nvSpPr>
          <p:spPr>
            <a:xfrm>
              <a:off x="365760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90/50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9" name="Signos vitales FC"/>
          <p:cNvGrpSpPr/>
          <p:nvPr/>
        </p:nvGrpSpPr>
        <p:grpSpPr>
          <a:xfrm>
            <a:off x="2670048" y="1188720"/>
            <a:ext cx="2148840" cy="1005840"/>
            <a:chOff x="2670048" y="1188720"/>
            <a:chExt cx="2148840" cy="1005840"/>
          </a:xfrm>
        </p:grpSpPr>
        <p:sp>
          <p:nvSpPr>
            <p:cNvPr id="10" name="Forma 9"/>
            <p:cNvSpPr/>
            <p:nvPr/>
          </p:nvSpPr>
          <p:spPr>
            <a:xfrm>
              <a:off x="2670048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11" name="Forma 10"/>
            <p:cNvSpPr txBox="1"/>
            <p:nvPr/>
          </p:nvSpPr>
          <p:spPr>
            <a:xfrm>
              <a:off x="2670048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FC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2" name="Forma 11"/>
            <p:cNvSpPr txBox="1"/>
            <p:nvPr/>
          </p:nvSpPr>
          <p:spPr>
            <a:xfrm>
              <a:off x="2670048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120 lpm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3" name="Signos vitales FR"/>
          <p:cNvGrpSpPr/>
          <p:nvPr/>
        </p:nvGrpSpPr>
        <p:grpSpPr>
          <a:xfrm>
            <a:off x="4974336" y="1188720"/>
            <a:ext cx="2148840" cy="1005840"/>
            <a:chOff x="4974336" y="1188720"/>
            <a:chExt cx="2148840" cy="1005840"/>
          </a:xfrm>
        </p:grpSpPr>
        <p:sp>
          <p:nvSpPr>
            <p:cNvPr id="14" name="Forma 13"/>
            <p:cNvSpPr/>
            <p:nvPr/>
          </p:nvSpPr>
          <p:spPr>
            <a:xfrm>
              <a:off x="4974336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15" name="Forma 14"/>
            <p:cNvSpPr txBox="1"/>
            <p:nvPr/>
          </p:nvSpPr>
          <p:spPr>
            <a:xfrm>
              <a:off x="4974336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FR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6" name="Forma 15"/>
            <p:cNvSpPr txBox="1"/>
            <p:nvPr/>
          </p:nvSpPr>
          <p:spPr>
            <a:xfrm>
              <a:off x="4974336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26 rpm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17" name="Signos vitales SatO2"/>
          <p:cNvGrpSpPr/>
          <p:nvPr/>
        </p:nvGrpSpPr>
        <p:grpSpPr>
          <a:xfrm>
            <a:off x="7278624" y="1188720"/>
            <a:ext cx="2148840" cy="1005840"/>
            <a:chOff x="7278624" y="1188720"/>
            <a:chExt cx="2148840" cy="1005840"/>
          </a:xfrm>
        </p:grpSpPr>
        <p:sp>
          <p:nvSpPr>
            <p:cNvPr id="18" name="Forma 17"/>
            <p:cNvSpPr/>
            <p:nvPr/>
          </p:nvSpPr>
          <p:spPr>
            <a:xfrm>
              <a:off x="7278624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EAF5EA"/>
            </a:solidFill>
            <a:ln w="22225" cap="rnd">
              <a:solidFill>
                <a:srgbClr val="4E7A30"/>
              </a:solidFill>
              <a:round/>
            </a:ln>
          </p:spPr>
        </p:sp>
        <p:sp>
          <p:nvSpPr>
            <p:cNvPr id="19" name="Forma 18"/>
            <p:cNvSpPr txBox="1"/>
            <p:nvPr/>
          </p:nvSpPr>
          <p:spPr>
            <a:xfrm>
              <a:off x="7278624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SatO</a:t>
              </a:r>
              <a:r>
                <a:rPr lang="es-AR" sz="1200" b="1" baseline="-25000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0" name="Forma 19"/>
            <p:cNvSpPr txBox="1"/>
            <p:nvPr/>
          </p:nvSpPr>
          <p:spPr>
            <a:xfrm>
              <a:off x="7278624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4E7A30"/>
                  </a:solidFill>
                  <a:latin typeface="Calibri"/>
                  <a:ea typeface="Calibri"/>
                  <a:cs typeface="Calibri"/>
                  <a:sym typeface="Calibri"/>
                </a:rPr>
                <a:t>97 %</a:t>
              </a:r>
              <a:endParaRPr lang="es-AR" sz="1800" dirty="0">
                <a:latin typeface="Calibri"/>
              </a:endParaRPr>
            </a:p>
          </p:txBody>
        </p:sp>
      </p:grpSp>
      <p:grpSp>
        <p:nvGrpSpPr>
          <p:cNvPr id="21" name="Signos vitales Temp."/>
          <p:cNvGrpSpPr/>
          <p:nvPr/>
        </p:nvGrpSpPr>
        <p:grpSpPr>
          <a:xfrm>
            <a:off x="9582912" y="1188720"/>
            <a:ext cx="2148840" cy="1005840"/>
            <a:chOff x="9582912" y="1188720"/>
            <a:chExt cx="2148840" cy="1005840"/>
          </a:xfrm>
        </p:grpSpPr>
        <p:sp>
          <p:nvSpPr>
            <p:cNvPr id="22" name="Forma 21"/>
            <p:cNvSpPr/>
            <p:nvPr/>
          </p:nvSpPr>
          <p:spPr>
            <a:xfrm>
              <a:off x="9582912" y="1188720"/>
              <a:ext cx="2148840" cy="1005840"/>
            </a:xfrm>
            <a:prstGeom prst="roundRect">
              <a:avLst>
                <a:gd name="adj" fmla="val 14000"/>
              </a:avLst>
            </a:prstGeom>
            <a:solidFill>
              <a:srgbClr val="FDE4E4"/>
            </a:solidFill>
            <a:ln w="22225" cap="rnd">
              <a:solidFill>
                <a:srgbClr val="C00000"/>
              </a:solidFill>
              <a:round/>
            </a:ln>
          </p:spPr>
        </p:sp>
        <p:sp>
          <p:nvSpPr>
            <p:cNvPr id="23" name="Forma 22"/>
            <p:cNvSpPr txBox="1"/>
            <p:nvPr/>
          </p:nvSpPr>
          <p:spPr>
            <a:xfrm>
              <a:off x="9582912" y="1243584"/>
              <a:ext cx="214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5D6D7E"/>
                  </a:solidFill>
                  <a:latin typeface="Calibri"/>
                  <a:ea typeface="Calibri"/>
                  <a:cs typeface="Calibri"/>
                  <a:sym typeface="Calibri"/>
                </a:rPr>
                <a:t>Temp.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4" name="Forma 23"/>
            <p:cNvSpPr txBox="1"/>
            <p:nvPr/>
          </p:nvSpPr>
          <p:spPr>
            <a:xfrm>
              <a:off x="9582912" y="1517904"/>
              <a:ext cx="2148840" cy="4754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800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37,9 °C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25" name="Alcohol C3"/>
          <p:cNvSpPr/>
          <p:nvPr/>
        </p:nvSpPr>
        <p:spPr>
          <a:xfrm>
            <a:off x="365760" y="2514600"/>
            <a:ext cx="5577840" cy="14630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Alcoholismo severo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con consumo aumentado en las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 semanas previas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200" dirty="0">
              <a:latin typeface="Calibri"/>
            </a:endParaRPr>
          </a:p>
        </p:txBody>
      </p:sp>
      <p:sp>
        <p:nvSpPr>
          <p:cNvPr id="26" name="Pareja C3"/>
          <p:cNvSpPr/>
          <p:nvPr/>
        </p:nvSpPr>
        <p:spPr>
          <a:xfrm>
            <a:off x="6172200" y="2514600"/>
            <a:ext cx="5760720" cy="14630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Pareja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hospitalizada por hepatitis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diagnóstico presuntivo inicial: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hepatitis infecciosa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27" name="Síntesis C3"/>
          <p:cNvSpPr/>
          <p:nvPr/>
        </p:nvSpPr>
        <p:spPr>
          <a:xfrm>
            <a:off x="365760" y="4206240"/>
            <a:ext cx="11567160" cy="22402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Hipotensión y taquicardia: dolor e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hipovolemia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 El antecedente de la pareja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sesga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hacia hepatitis: el laboratorio debe decidir.</a:t>
            </a:r>
            <a:endParaRPr lang="es-AR" sz="22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3: SIGNOS VITALES Y ANTECEDENTES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</p:bld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Lab C3 fila 0"/>
          <p:cNvGrpSpPr/>
          <p:nvPr/>
        </p:nvGrpSpPr>
        <p:grpSpPr>
          <a:xfrm>
            <a:off x="365760" y="1097280"/>
            <a:ext cx="7726680" cy="566928"/>
            <a:chOff x="365760" y="1097280"/>
            <a:chExt cx="7726680" cy="566928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19202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286000" y="1097280"/>
              <a:ext cx="21488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Paciente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4434840" y="1097280"/>
              <a:ext cx="160020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Referencia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6035040" y="1097280"/>
              <a:ext cx="205740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Lectura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0" name="Lab C3 fila 1"/>
          <p:cNvGrpSpPr/>
          <p:nvPr/>
        </p:nvGrpSpPr>
        <p:grpSpPr>
          <a:xfrm>
            <a:off x="365760" y="1664208"/>
            <a:ext cx="7726680" cy="566928"/>
            <a:chOff x="365760" y="1664208"/>
            <a:chExt cx="7726680" cy="566928"/>
          </a:xfrm>
        </p:grpSpPr>
        <p:sp>
          <p:nvSpPr>
            <p:cNvPr id="11" name="Forma 10"/>
            <p:cNvSpPr/>
            <p:nvPr/>
          </p:nvSpPr>
          <p:spPr>
            <a:xfrm>
              <a:off x="365760" y="1664208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total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2286000" y="1664208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0,8 mg/dL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4434840" y="1664208"/>
              <a:ext cx="1600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0,2–1,2 mg/dL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6035040" y="1664208"/>
              <a:ext cx="20574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15" name="Lab C3 fila 2"/>
          <p:cNvGrpSpPr/>
          <p:nvPr/>
        </p:nvGrpSpPr>
        <p:grpSpPr>
          <a:xfrm>
            <a:off x="365760" y="2231136"/>
            <a:ext cx="7726680" cy="566928"/>
            <a:chOff x="365760" y="2231136"/>
            <a:chExt cx="7726680" cy="566928"/>
          </a:xfrm>
        </p:grpSpPr>
        <p:sp>
          <p:nvSpPr>
            <p:cNvPr id="16" name="Forma 15"/>
            <p:cNvSpPr/>
            <p:nvPr/>
          </p:nvSpPr>
          <p:spPr>
            <a:xfrm>
              <a:off x="365760" y="2231136"/>
              <a:ext cx="19202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directa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2286000" y="2231136"/>
              <a:ext cx="2148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0,1 mg/dL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8" name="Forma 17"/>
            <p:cNvSpPr/>
            <p:nvPr/>
          </p:nvSpPr>
          <p:spPr>
            <a:xfrm>
              <a:off x="4434840" y="2231136"/>
              <a:ext cx="1600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0,3 mg/dL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6035040" y="2231136"/>
              <a:ext cx="20574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(BI = 0,7)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0" name="Lab C3 fila 3"/>
          <p:cNvGrpSpPr/>
          <p:nvPr/>
        </p:nvGrpSpPr>
        <p:grpSpPr>
          <a:xfrm>
            <a:off x="365760" y="2798064"/>
            <a:ext cx="7726680" cy="566928"/>
            <a:chOff x="365760" y="2798064"/>
            <a:chExt cx="7726680" cy="566928"/>
          </a:xfrm>
        </p:grpSpPr>
        <p:sp>
          <p:nvSpPr>
            <p:cNvPr id="21" name="Forma 20"/>
            <p:cNvSpPr/>
            <p:nvPr/>
          </p:nvSpPr>
          <p:spPr>
            <a:xfrm>
              <a:off x="365760" y="2798064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GOT / AST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2286000" y="2798064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~40 UI/L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4434840" y="2798064"/>
              <a:ext cx="1600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37–40 UI/L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6035040" y="2798064"/>
              <a:ext cx="20574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Límite: sin daño activo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25" name="Lab C3 fila 4"/>
          <p:cNvGrpSpPr/>
          <p:nvPr/>
        </p:nvGrpSpPr>
        <p:grpSpPr>
          <a:xfrm>
            <a:off x="365760" y="3364992"/>
            <a:ext cx="7726680" cy="566928"/>
            <a:chOff x="365760" y="3364992"/>
            <a:chExt cx="7726680" cy="566928"/>
          </a:xfrm>
        </p:grpSpPr>
        <p:sp>
          <p:nvSpPr>
            <p:cNvPr id="26" name="Forma 25"/>
            <p:cNvSpPr/>
            <p:nvPr/>
          </p:nvSpPr>
          <p:spPr>
            <a:xfrm>
              <a:off x="365760" y="3364992"/>
              <a:ext cx="19202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GPT / ALT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2286000" y="3364992"/>
              <a:ext cx="2148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~35 UI/L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4434840" y="3364992"/>
              <a:ext cx="1600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31–40 UI/L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6035040" y="3364992"/>
              <a:ext cx="20574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Normal: no apoya hepatitis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0" name="Lab C3 fila 5"/>
          <p:cNvGrpSpPr/>
          <p:nvPr/>
        </p:nvGrpSpPr>
        <p:grpSpPr>
          <a:xfrm>
            <a:off x="365760" y="3931920"/>
            <a:ext cx="7726680" cy="566928"/>
            <a:chOff x="365760" y="3931920"/>
            <a:chExt cx="7726680" cy="566928"/>
          </a:xfrm>
        </p:grpSpPr>
        <p:sp>
          <p:nvSpPr>
            <p:cNvPr id="31" name="Forma 30"/>
            <p:cNvSpPr/>
            <p:nvPr/>
          </p:nvSpPr>
          <p:spPr>
            <a:xfrm>
              <a:off x="365760" y="3931920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2286000" y="3931920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Dentro del VN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4434840" y="3931920"/>
              <a:ext cx="1600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240 UI/L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6035040" y="3931920"/>
              <a:ext cx="20574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35" name="Lab C3 fila 6"/>
          <p:cNvGrpSpPr/>
          <p:nvPr/>
        </p:nvGrpSpPr>
        <p:grpSpPr>
          <a:xfrm>
            <a:off x="365760" y="4498848"/>
            <a:ext cx="7726680" cy="566928"/>
            <a:chOff x="365760" y="4498848"/>
            <a:chExt cx="7726680" cy="566928"/>
          </a:xfrm>
        </p:grpSpPr>
        <p:sp>
          <p:nvSpPr>
            <p:cNvPr id="36" name="Forma 35"/>
            <p:cNvSpPr/>
            <p:nvPr/>
          </p:nvSpPr>
          <p:spPr>
            <a:xfrm>
              <a:off x="365760" y="4498848"/>
              <a:ext cx="19202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2286000" y="4498848"/>
              <a:ext cx="21488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ELEVADA (&gt; 3 × VN)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4434840" y="4498848"/>
              <a:ext cx="16002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20–110 UI/L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6035040" y="4498848"/>
              <a:ext cx="20574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Diagnóstica</a:t>
              </a:r>
              <a:endParaRPr lang="es-AR" sz="1350" dirty="0">
                <a:latin typeface="Calibri"/>
              </a:endParaRPr>
            </a:p>
          </p:txBody>
        </p:sp>
      </p:grpSp>
      <p:grpSp>
        <p:nvGrpSpPr>
          <p:cNvPr id="40" name="Lab C3 fila 7"/>
          <p:cNvGrpSpPr/>
          <p:nvPr/>
        </p:nvGrpSpPr>
        <p:grpSpPr>
          <a:xfrm>
            <a:off x="365760" y="5065776"/>
            <a:ext cx="7726680" cy="566928"/>
            <a:chOff x="365760" y="5065776"/>
            <a:chExt cx="7726680" cy="566928"/>
          </a:xfrm>
        </p:grpSpPr>
        <p:sp>
          <p:nvSpPr>
            <p:cNvPr id="41" name="Forma 40"/>
            <p:cNvSpPr/>
            <p:nvPr/>
          </p:nvSpPr>
          <p:spPr>
            <a:xfrm>
              <a:off x="365760" y="5065776"/>
              <a:ext cx="19202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42" name="Forma 41"/>
            <p:cNvSpPr/>
            <p:nvPr/>
          </p:nvSpPr>
          <p:spPr>
            <a:xfrm>
              <a:off x="2286000" y="5065776"/>
              <a:ext cx="21488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MUY ELEVADA (&gt; 3 × VN)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4434840" y="5065776"/>
              <a:ext cx="16002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&lt; 60 UI/L</a:t>
              </a:r>
              <a:endParaRPr lang="es-AR" sz="135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6035040" y="5065776"/>
              <a:ext cx="20574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Diagnóstica y más específica</a:t>
              </a:r>
              <a:endParaRPr lang="es-AR" sz="1350" dirty="0">
                <a:latin typeface="Calibri"/>
              </a:endParaRPr>
            </a:p>
          </p:txBody>
        </p:sp>
      </p:grpSp>
      <p:sp>
        <p:nvSpPr>
          <p:cNvPr id="45" name="Lectura C3"/>
          <p:cNvSpPr/>
          <p:nvPr/>
        </p:nvSpPr>
        <p:spPr>
          <a:xfrm>
            <a:off x="8549640" y="1097280"/>
            <a:ext cx="3383280" cy="27432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Perfil hepático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prácticamente normal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; lo elevado es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 y lipasa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grpSp>
        <p:nvGrpSpPr>
          <p:cNvPr id="46" name="Páncreas C3"/>
          <p:cNvGrpSpPr/>
          <p:nvPr/>
        </p:nvGrpSpPr>
        <p:grpSpPr>
          <a:xfrm>
            <a:off x="8686800" y="4206240"/>
            <a:ext cx="3108960" cy="1305763"/>
            <a:chOff x="8686800" y="4206240"/>
            <a:chExt cx="3108960" cy="1305763"/>
          </a:xfrm>
        </p:grpSpPr>
        <p:sp>
          <p:nvSpPr>
            <p:cNvPr id="47" name="Forma 46"/>
            <p:cNvSpPr/>
            <p:nvPr/>
          </p:nvSpPr>
          <p:spPr>
            <a:xfrm>
              <a:off x="8686800" y="420624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48" name="Forma 47"/>
            <p:cNvSpPr/>
            <p:nvPr/>
          </p:nvSpPr>
          <p:spPr>
            <a:xfrm>
              <a:off x="8686800" y="420624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49" name="Islotes"/>
            <p:cNvSpPr/>
            <p:nvPr/>
          </p:nvSpPr>
          <p:spPr>
            <a:xfrm>
              <a:off x="8686800" y="420624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50" name="Forma 49"/>
            <p:cNvSpPr/>
            <p:nvPr/>
          </p:nvSpPr>
          <p:spPr>
            <a:xfrm>
              <a:off x="8686800" y="420624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1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3: LABORATORIO DE INGRESO</a:t>
            </a:r>
            <a:endParaRPr lang="es-AR" sz="21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5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259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F2CC"/>
          </a:solidFill>
          <a:ln>
            <a:noFill/>
          </a:ln>
        </p:spPr>
      </p:sp>
      <p:grpSp>
        <p:nvGrpSpPr>
          <p:cNvPr id="6" name="Comparación C3 fila 0"/>
          <p:cNvGrpSpPr/>
          <p:nvPr/>
        </p:nvGrpSpPr>
        <p:grpSpPr>
          <a:xfrm>
            <a:off x="3246120" y="1097280"/>
            <a:ext cx="5943600" cy="777240"/>
            <a:chOff x="3246120" y="1097280"/>
            <a:chExt cx="5943600" cy="777240"/>
          </a:xfrm>
        </p:grpSpPr>
        <p:sp>
          <p:nvSpPr>
            <p:cNvPr id="7" name="Forma 6"/>
            <p:cNvSpPr/>
            <p:nvPr/>
          </p:nvSpPr>
          <p:spPr>
            <a:xfrm>
              <a:off x="3246120" y="1097280"/>
              <a:ext cx="3291840" cy="7772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 una hepatitis viral aguda esperaríamos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6537960" y="1097280"/>
              <a:ext cx="2651760" cy="777240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En la paciente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9" name="Comparación C3 fila 1"/>
          <p:cNvGrpSpPr/>
          <p:nvPr/>
        </p:nvGrpSpPr>
        <p:grpSpPr>
          <a:xfrm>
            <a:off x="3246120" y="1874520"/>
            <a:ext cx="5943600" cy="777240"/>
            <a:chOff x="3246120" y="1874520"/>
            <a:chExt cx="5943600" cy="777240"/>
          </a:xfrm>
        </p:grpSpPr>
        <p:sp>
          <p:nvSpPr>
            <p:cNvPr id="10" name="Forma 9"/>
            <p:cNvSpPr/>
            <p:nvPr/>
          </p:nvSpPr>
          <p:spPr>
            <a:xfrm>
              <a:off x="3246120" y="1874520"/>
              <a:ext cx="329184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GPT/ALT &gt; 400–500 UI/L (≥ 10 × VN)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6537960" y="1874520"/>
              <a:ext cx="265176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Ausente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(~35 UI/L)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2" name="Comparación C3 fila 2"/>
          <p:cNvGrpSpPr/>
          <p:nvPr/>
        </p:nvGrpSpPr>
        <p:grpSpPr>
          <a:xfrm>
            <a:off x="3246120" y="2651760"/>
            <a:ext cx="5943600" cy="777240"/>
            <a:chOff x="3246120" y="2651760"/>
            <a:chExt cx="5943600" cy="777240"/>
          </a:xfrm>
        </p:grpSpPr>
        <p:sp>
          <p:nvSpPr>
            <p:cNvPr id="13" name="Forma 12"/>
            <p:cNvSpPr/>
            <p:nvPr/>
          </p:nvSpPr>
          <p:spPr>
            <a:xfrm>
              <a:off x="3246120" y="2651760"/>
              <a:ext cx="329184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GOT/AST elevada (menos que GPT)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6537960" y="2651760"/>
              <a:ext cx="265176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Ausente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(~40 UI/L)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5" name="Comparación C3 fila 3"/>
          <p:cNvGrpSpPr/>
          <p:nvPr/>
        </p:nvGrpSpPr>
        <p:grpSpPr>
          <a:xfrm>
            <a:off x="3246120" y="3429000"/>
            <a:ext cx="5943600" cy="777240"/>
            <a:chOff x="3246120" y="3429000"/>
            <a:chExt cx="5943600" cy="777240"/>
          </a:xfrm>
        </p:grpSpPr>
        <p:sp>
          <p:nvSpPr>
            <p:cNvPr id="16" name="Forma 15"/>
            <p:cNvSpPr/>
            <p:nvPr/>
          </p:nvSpPr>
          <p:spPr>
            <a:xfrm>
              <a:off x="3246120" y="3429000"/>
              <a:ext cx="329184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total aumentada (≈ 70 % de las hepatitis A)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17" name="Forma 16"/>
            <p:cNvSpPr/>
            <p:nvPr/>
          </p:nvSpPr>
          <p:spPr>
            <a:xfrm>
              <a:off x="6537960" y="3429000"/>
              <a:ext cx="2651760" cy="777240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(0,8 mg/dL)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18" name="Comparación C3 fila 4"/>
          <p:cNvGrpSpPr/>
          <p:nvPr/>
        </p:nvGrpSpPr>
        <p:grpSpPr>
          <a:xfrm>
            <a:off x="3246120" y="4206240"/>
            <a:ext cx="5943600" cy="777240"/>
            <a:chOff x="3246120" y="4206240"/>
            <a:chExt cx="5943600" cy="777240"/>
          </a:xfrm>
        </p:grpSpPr>
        <p:sp>
          <p:nvSpPr>
            <p:cNvPr id="19" name="Forma 18"/>
            <p:cNvSpPr/>
            <p:nvPr/>
          </p:nvSpPr>
          <p:spPr>
            <a:xfrm>
              <a:off x="3246120" y="4206240"/>
              <a:ext cx="329184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Ictericia</a:t>
              </a:r>
              <a:endParaRPr lang="es-AR" sz="15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6537960" y="4206240"/>
              <a:ext cx="2651760" cy="777240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5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Ausente</a:t>
              </a:r>
              <a:endParaRPr lang="es-AR" sz="1500" dirty="0">
                <a:latin typeface="Calibri"/>
              </a:endParaRPr>
            </a:p>
          </p:txBody>
        </p:sp>
      </p:grpSp>
      <p:grpSp>
        <p:nvGrpSpPr>
          <p:cNvPr id="21" name="Hígado C3"/>
          <p:cNvGrpSpPr/>
          <p:nvPr/>
        </p:nvGrpSpPr>
        <p:grpSpPr>
          <a:xfrm>
            <a:off x="365760" y="1463040"/>
            <a:ext cx="2560320" cy="1809634"/>
            <a:chOff x="365760" y="1463040"/>
            <a:chExt cx="2560320" cy="1809634"/>
          </a:xfrm>
        </p:grpSpPr>
        <p:sp>
          <p:nvSpPr>
            <p:cNvPr id="22" name="Vesícula biliar"/>
            <p:cNvSpPr/>
            <p:nvPr/>
          </p:nvSpPr>
          <p:spPr>
            <a:xfrm>
              <a:off x="1057046" y="2701211"/>
              <a:ext cx="332842" cy="571463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23" name="Forma 22"/>
            <p:cNvSpPr/>
            <p:nvPr/>
          </p:nvSpPr>
          <p:spPr>
            <a:xfrm>
              <a:off x="365760" y="1463040"/>
              <a:ext cx="2560320" cy="1587398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24" name="Forma 23"/>
            <p:cNvSpPr/>
            <p:nvPr/>
          </p:nvSpPr>
          <p:spPr>
            <a:xfrm>
              <a:off x="365760" y="1463040"/>
              <a:ext cx="2560320" cy="1587398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25" name="Forma 24"/>
            <p:cNvSpPr/>
            <p:nvPr/>
          </p:nvSpPr>
          <p:spPr>
            <a:xfrm>
              <a:off x="365760" y="1463040"/>
              <a:ext cx="2560320" cy="1587398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grpSp>
        <p:nvGrpSpPr>
          <p:cNvPr id="26" name="Páncreas C3b"/>
          <p:cNvGrpSpPr/>
          <p:nvPr/>
        </p:nvGrpSpPr>
        <p:grpSpPr>
          <a:xfrm>
            <a:off x="9509760" y="1737360"/>
            <a:ext cx="2468880" cy="1036930"/>
            <a:chOff x="9509760" y="1737360"/>
            <a:chExt cx="2468880" cy="1036930"/>
          </a:xfrm>
        </p:grpSpPr>
        <p:sp>
          <p:nvSpPr>
            <p:cNvPr id="27" name="Forma 26"/>
            <p:cNvSpPr/>
            <p:nvPr/>
          </p:nvSpPr>
          <p:spPr>
            <a:xfrm>
              <a:off x="9509760" y="1737360"/>
              <a:ext cx="2468880" cy="1036930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28" name="Forma 27"/>
            <p:cNvSpPr/>
            <p:nvPr/>
          </p:nvSpPr>
          <p:spPr>
            <a:xfrm>
              <a:off x="9509760" y="1737360"/>
              <a:ext cx="2468880" cy="1036930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29" name="Islotes"/>
            <p:cNvSpPr/>
            <p:nvPr/>
          </p:nvSpPr>
          <p:spPr>
            <a:xfrm>
              <a:off x="9509760" y="1737360"/>
              <a:ext cx="2468880" cy="1036930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30" name="Forma 29"/>
            <p:cNvSpPr/>
            <p:nvPr/>
          </p:nvSpPr>
          <p:spPr>
            <a:xfrm>
              <a:off x="9509760" y="1737360"/>
              <a:ext cx="2468880" cy="1036930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31" name="Conclusión parcial C3"/>
          <p:cNvSpPr/>
          <p:nvPr/>
        </p:nvSpPr>
        <p:spPr>
          <a:xfrm>
            <a:off x="3246120" y="5212080"/>
            <a:ext cx="5943600" cy="11430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problema es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pancreático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, no hepático: el perfil enzimático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contradice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el diagnóstico presuntivo.</a:t>
            </a:r>
            <a:endParaRPr lang="es-AR" sz="20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3: ¿POR QUÉ NO ES UNA HEPATITIS?</a:t>
            </a:r>
            <a:endParaRPr lang="es-AR" sz="19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2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4E7A30"/>
          </a:solidFill>
          <a:ln>
            <a:noFill/>
          </a:ln>
        </p:spPr>
      </p:sp>
      <p:sp>
        <p:nvSpPr>
          <p:cNvPr id="5" name="Forma 4"/>
          <p:cNvSpPr/>
          <p:nvPr/>
        </p:nvSpPr>
        <p:spPr>
          <a:xfrm>
            <a:off x="365760" y="1188720"/>
            <a:ext cx="7680960" cy="822960"/>
          </a:xfrm>
          <a:prstGeom prst="rect">
            <a:avLst/>
          </a:prstGeom>
          <a:solidFill>
            <a:srgbClr val="FDE4E4"/>
          </a:solidFill>
          <a:ln w="15875" cap="rnd">
            <a:solidFill>
              <a:srgbClr val="1E1E1E"/>
            </a:solidFill>
            <a:round/>
          </a:ln>
          <a:effectLst>
            <a:outerShdw blurRad="63500" dist="38100" dir="2700000" algn="tl" rotWithShape="0">
              <a:srgbClr val="000000">
                <a:alpha val="32000"/>
              </a:srgbClr>
            </a:outerShdw>
          </a:effectLst>
        </p:spPr>
        <p:txBody>
          <a:bodyPr wrap="square" lIns="73152" tIns="27432" rIns="7315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Alcohol: toxicidad + espasmo del esfínter de Oddi</a:t>
            </a:r>
            <a:endParaRPr lang="es-AR" sz="1600" dirty="0">
              <a:latin typeface="Calibri"/>
            </a:endParaRPr>
          </a:p>
        </p:txBody>
      </p:sp>
      <p:sp>
        <p:nvSpPr>
          <p:cNvPr id="6" name="Flecha 5_2"/>
          <p:cNvSpPr/>
          <p:nvPr/>
        </p:nvSpPr>
        <p:spPr>
          <a:xfrm>
            <a:off x="4206240" y="2039112"/>
            <a:ext cx="9144" cy="219456"/>
          </a:xfrm>
          <a:custGeom>
            <a:avLst/>
            <a:gdLst/>
            <a:ahLst/>
            <a:cxnLst/>
            <a:rect l="0" t="0" r="r" b="b"/>
            <a:pathLst>
              <a:path w="10" h="240" fill="none">
                <a:moveTo>
                  <a:pt x="0" y="0"/>
                </a:moveTo>
                <a:lnTo>
                  <a:pt x="0" y="240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  <a:tailEnd type="triangle" w="med" len="med"/>
          </a:ln>
        </p:spPr>
      </p:sp>
      <p:sp>
        <p:nvSpPr>
          <p:cNvPr id="7" name="Forma 7"/>
          <p:cNvSpPr/>
          <p:nvPr/>
        </p:nvSpPr>
        <p:spPr>
          <a:xfrm>
            <a:off x="365760" y="2286000"/>
            <a:ext cx="7680960" cy="822960"/>
          </a:xfrm>
          <a:prstGeom prst="rect">
            <a:avLst/>
          </a:prstGeom>
          <a:solidFill>
            <a:srgbClr val="FFF2CC"/>
          </a:solidFill>
          <a:ln w="15875" cap="rnd">
            <a:solidFill>
              <a:srgbClr val="1E1E1E"/>
            </a:solidFill>
            <a:round/>
          </a:ln>
          <a:effectLst>
            <a:outerShdw blurRad="63500" dist="38100" dir="2700000" algn="tl" rotWithShape="0">
              <a:srgbClr val="000000">
                <a:alpha val="32000"/>
              </a:srgbClr>
            </a:outerShdw>
          </a:effectLst>
        </p:spPr>
        <p:txBody>
          <a:bodyPr wrap="square" lIns="73152" tIns="27432" rIns="7315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Obstrucción funcional</a:t>
            </a:r>
            <a:endParaRPr lang="es-AR" sz="1600" dirty="0">
              <a:latin typeface="Calibri"/>
            </a:endParaRPr>
          </a:p>
        </p:txBody>
      </p:sp>
      <p:sp>
        <p:nvSpPr>
          <p:cNvPr id="8" name="Flecha 8_2"/>
          <p:cNvSpPr/>
          <p:nvPr/>
        </p:nvSpPr>
        <p:spPr>
          <a:xfrm>
            <a:off x="4206240" y="3136392"/>
            <a:ext cx="9144" cy="219456"/>
          </a:xfrm>
          <a:custGeom>
            <a:avLst/>
            <a:gdLst/>
            <a:ahLst/>
            <a:cxnLst/>
            <a:rect l="0" t="0" r="r" b="b"/>
            <a:pathLst>
              <a:path w="10" h="240" fill="none">
                <a:moveTo>
                  <a:pt x="0" y="0"/>
                </a:moveTo>
                <a:lnTo>
                  <a:pt x="0" y="240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  <a:tailEnd type="triangle" w="med" len="med"/>
          </a:ln>
        </p:spPr>
      </p:sp>
      <p:sp>
        <p:nvSpPr>
          <p:cNvPr id="9" name="Forma 10"/>
          <p:cNvSpPr/>
          <p:nvPr/>
        </p:nvSpPr>
        <p:spPr>
          <a:xfrm>
            <a:off x="365760" y="3383280"/>
            <a:ext cx="7680960" cy="822960"/>
          </a:xfrm>
          <a:prstGeom prst="rect">
            <a:avLst/>
          </a:prstGeom>
          <a:solidFill>
            <a:srgbClr val="FFCC4A"/>
          </a:solidFill>
          <a:ln w="15875" cap="rnd">
            <a:solidFill>
              <a:srgbClr val="1E1E1E"/>
            </a:solidFill>
            <a:round/>
          </a:ln>
          <a:effectLst>
            <a:outerShdw blurRad="63500" dist="38100" dir="2700000" algn="tl" rotWithShape="0">
              <a:srgbClr val="000000">
                <a:alpha val="32000"/>
              </a:srgbClr>
            </a:outerShdw>
          </a:effectLst>
        </p:spPr>
        <p:txBody>
          <a:bodyPr wrap="square" lIns="73152" tIns="27432" rIns="7315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Activación prematura de zimógenos</a:t>
            </a:r>
            <a:endParaRPr lang="es-AR" sz="1600" dirty="0">
              <a:latin typeface="Calibri"/>
            </a:endParaRPr>
          </a:p>
        </p:txBody>
      </p:sp>
      <p:sp>
        <p:nvSpPr>
          <p:cNvPr id="10" name="Flecha 11_2"/>
          <p:cNvSpPr/>
          <p:nvPr/>
        </p:nvSpPr>
        <p:spPr>
          <a:xfrm>
            <a:off x="4206240" y="4233672"/>
            <a:ext cx="9144" cy="219456"/>
          </a:xfrm>
          <a:custGeom>
            <a:avLst/>
            <a:gdLst/>
            <a:ahLst/>
            <a:cxnLst/>
            <a:rect l="0" t="0" r="r" b="b"/>
            <a:pathLst>
              <a:path w="10" h="239" fill="none">
                <a:moveTo>
                  <a:pt x="0" y="0"/>
                </a:moveTo>
                <a:lnTo>
                  <a:pt x="0" y="239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  <a:tailEnd type="triangle" w="med" len="med"/>
          </a:ln>
        </p:spPr>
      </p:sp>
      <p:sp>
        <p:nvSpPr>
          <p:cNvPr id="11" name="Forma 13"/>
          <p:cNvSpPr/>
          <p:nvPr/>
        </p:nvSpPr>
        <p:spPr>
          <a:xfrm>
            <a:off x="365760" y="4480560"/>
            <a:ext cx="7680960" cy="822960"/>
          </a:xfrm>
          <a:prstGeom prst="rect">
            <a:avLst/>
          </a:prstGeom>
          <a:solidFill>
            <a:srgbClr val="FDE4E4"/>
          </a:solidFill>
          <a:ln w="15875" cap="rnd">
            <a:solidFill>
              <a:srgbClr val="1E1E1E"/>
            </a:solidFill>
            <a:round/>
          </a:ln>
          <a:effectLst>
            <a:outerShdw blurRad="63500" dist="38100" dir="2700000" algn="tl" rotWithShape="0">
              <a:srgbClr val="000000">
                <a:alpha val="32000"/>
              </a:srgbClr>
            </a:outerShdw>
          </a:effectLst>
        </p:spPr>
        <p:txBody>
          <a:bodyPr wrap="square" lIns="73152" tIns="27432" rIns="7315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Autodigestión → necrosis</a:t>
            </a:r>
            <a:endParaRPr lang="es-AR" sz="1600" dirty="0">
              <a:latin typeface="Calibri"/>
            </a:endParaRPr>
          </a:p>
        </p:txBody>
      </p:sp>
      <p:sp>
        <p:nvSpPr>
          <p:cNvPr id="12" name="Flecha 14_2"/>
          <p:cNvSpPr/>
          <p:nvPr/>
        </p:nvSpPr>
        <p:spPr>
          <a:xfrm>
            <a:off x="4206240" y="5330952"/>
            <a:ext cx="9144" cy="219456"/>
          </a:xfrm>
          <a:custGeom>
            <a:avLst/>
            <a:gdLst/>
            <a:ahLst/>
            <a:cxnLst/>
            <a:rect l="0" t="0" r="r" b="b"/>
            <a:pathLst>
              <a:path w="10" h="239" fill="none">
                <a:moveTo>
                  <a:pt x="0" y="0"/>
                </a:moveTo>
                <a:lnTo>
                  <a:pt x="0" y="239"/>
                </a:lnTo>
              </a:path>
            </a:pathLst>
          </a:custGeom>
          <a:noFill/>
          <a:ln w="31750" cap="rnd">
            <a:solidFill>
              <a:srgbClr val="1E1E1E"/>
            </a:solidFill>
            <a:round/>
            <a:tailEnd type="triangle" w="med" len="med"/>
          </a:ln>
        </p:spPr>
      </p:sp>
      <p:sp>
        <p:nvSpPr>
          <p:cNvPr id="13" name="Forma 16"/>
          <p:cNvSpPr/>
          <p:nvPr/>
        </p:nvSpPr>
        <p:spPr>
          <a:xfrm>
            <a:off x="365760" y="5577840"/>
            <a:ext cx="7680960" cy="822960"/>
          </a:xfrm>
          <a:prstGeom prst="rect">
            <a:avLst/>
          </a:prstGeom>
          <a:solidFill>
            <a:srgbClr val="EAF5EA"/>
          </a:solidFill>
          <a:ln w="15875" cap="rnd">
            <a:solidFill>
              <a:srgbClr val="1E1E1E"/>
            </a:solidFill>
            <a:round/>
          </a:ln>
          <a:effectLst>
            <a:outerShdw blurRad="63500" dist="38100" dir="2700000" algn="tl" rotWithShape="0">
              <a:srgbClr val="000000">
                <a:alpha val="32000"/>
              </a:srgbClr>
            </a:outerShdw>
          </a:effectLst>
        </p:spPr>
        <p:txBody>
          <a:bodyPr wrap="square" lIns="73152" tIns="27432" rIns="73152" bIns="27432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 y lipasa en sangre</a:t>
            </a:r>
            <a:endParaRPr lang="es-AR" sz="1600" dirty="0">
              <a:latin typeface="Calibri"/>
            </a:endParaRPr>
          </a:p>
        </p:txBody>
      </p:sp>
      <p:grpSp>
        <p:nvGrpSpPr>
          <p:cNvPr id="14" name="Conclusión"/>
          <p:cNvGrpSpPr/>
          <p:nvPr/>
        </p:nvGrpSpPr>
        <p:grpSpPr>
          <a:xfrm>
            <a:off x="8549640" y="1097280"/>
            <a:ext cx="3383280" cy="2926080"/>
            <a:chOff x="8549640" y="1097280"/>
            <a:chExt cx="3383280" cy="2926080"/>
          </a:xfrm>
        </p:grpSpPr>
        <p:sp>
          <p:nvSpPr>
            <p:cNvPr id="15" name="Forma 18"/>
            <p:cNvSpPr/>
            <p:nvPr/>
          </p:nvSpPr>
          <p:spPr>
            <a:xfrm>
              <a:off x="8549640" y="1298448"/>
              <a:ext cx="3383280" cy="2724912"/>
            </a:xfrm>
            <a:prstGeom prst="roundRect">
              <a:avLst>
                <a:gd name="adj" fmla="val 9000"/>
              </a:avLst>
            </a:prstGeom>
            <a:solidFill>
              <a:srgbClr val="4E7A30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9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PANCREATITIS AGUDA de origen alcohólico</a:t>
              </a:r>
              <a:r>
                <a:rPr lang="es-AR" sz="195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: amilasa y lipasa &gt; 3 × VN con perfil hepático normal.</a:t>
              </a:r>
              <a:endParaRPr lang="es-AR" sz="1950" dirty="0">
                <a:latin typeface="Calibri"/>
              </a:endParaRPr>
            </a:p>
          </p:txBody>
        </p:sp>
        <p:sp>
          <p:nvSpPr>
            <p:cNvPr id="16" name="Forma 19"/>
            <p:cNvSpPr/>
            <p:nvPr/>
          </p:nvSpPr>
          <p:spPr>
            <a:xfrm>
              <a:off x="8677656" y="1097280"/>
              <a:ext cx="1409700" cy="384048"/>
            </a:xfrm>
            <a:prstGeom prst="rect">
              <a:avLst/>
            </a:prstGeom>
            <a:solidFill>
              <a:srgbClr val="FFC000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DIAGNÓSTICO</a:t>
              </a:r>
              <a:endParaRPr lang="es-AR" sz="1400" dirty="0">
                <a:latin typeface="Calibri"/>
              </a:endParaRPr>
            </a:p>
          </p:txBody>
        </p:sp>
      </p:grpSp>
      <p:grpSp>
        <p:nvGrpSpPr>
          <p:cNvPr id="17" name="Rigor C3"/>
          <p:cNvGrpSpPr/>
          <p:nvPr/>
        </p:nvGrpSpPr>
        <p:grpSpPr>
          <a:xfrm>
            <a:off x="8549640" y="4251960"/>
            <a:ext cx="3383280" cy="2194560"/>
            <a:chOff x="8549640" y="4251960"/>
            <a:chExt cx="3383280" cy="2194560"/>
          </a:xfrm>
        </p:grpSpPr>
        <p:sp>
          <p:nvSpPr>
            <p:cNvPr id="18" name="Forma 21"/>
            <p:cNvSpPr/>
            <p:nvPr/>
          </p:nvSpPr>
          <p:spPr>
            <a:xfrm>
              <a:off x="8549640" y="4453128"/>
              <a:ext cx="3383280" cy="199339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Con dolor típico y lipasa &gt; 3 × VN ya se cumplen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2 de 3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criterios de Atlanta; la imagen se reserva para dudas o complicaciones.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19" name="Forma 22"/>
            <p:cNvSpPr/>
            <p:nvPr/>
          </p:nvSpPr>
          <p:spPr>
            <a:xfrm>
              <a:off x="8677656" y="425196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3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3: CONCLUSIÓN</a:t>
            </a:r>
            <a:endParaRPr lang="es-AR" sz="3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2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261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!!Paciente"/>
          <p:cNvGrpSpPr/>
          <p:nvPr/>
        </p:nvGrpSpPr>
        <p:grpSpPr>
          <a:xfrm>
            <a:off x="365760" y="1097280"/>
            <a:ext cx="7680960" cy="1417320"/>
            <a:chOff x="365760" y="1097280"/>
            <a:chExt cx="7680960" cy="1417320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7680960" cy="141732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5400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endParaRPr lang="es-AR" sz="1400" dirty="0">
                <a:latin typeface="Calibri"/>
              </a:endParaRPr>
            </a:p>
          </p:txBody>
        </p:sp>
        <p:grpSp>
          <p:nvGrpSpPr>
            <p:cNvPr id="7" name="Silueta"/>
            <p:cNvGrpSpPr/>
            <p:nvPr/>
          </p:nvGrpSpPr>
          <p:grpSpPr>
            <a:xfrm>
              <a:off x="502920" y="1207008"/>
              <a:ext cx="950976" cy="1188720"/>
              <a:chOff x="502920" y="1207008"/>
              <a:chExt cx="950976" cy="1188720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788213" y="1207008"/>
                <a:ext cx="380390" cy="380390"/>
              </a:xfrm>
              <a:prstGeom prst="ellipse">
                <a:avLst/>
              </a:pr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  <p:sp>
            <p:nvSpPr>
              <p:cNvPr id="9" name="Forma 8"/>
              <p:cNvSpPr/>
              <p:nvPr/>
            </p:nvSpPr>
            <p:spPr>
              <a:xfrm>
                <a:off x="502920" y="1606418"/>
                <a:ext cx="950976" cy="78931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60" y="1000"/>
                    </a:moveTo>
                    <a:cubicBezTo>
                      <a:pt x="60" y="908"/>
                      <a:pt x="36" y="596"/>
                      <a:pt x="60" y="450"/>
                    </a:cubicBezTo>
                    <a:cubicBezTo>
                      <a:pt x="83" y="303"/>
                      <a:pt x="126" y="188"/>
                      <a:pt x="200" y="120"/>
                    </a:cubicBezTo>
                    <a:cubicBezTo>
                      <a:pt x="273" y="51"/>
                      <a:pt x="400" y="40"/>
                      <a:pt x="500" y="40"/>
                    </a:cubicBezTo>
                    <a:cubicBezTo>
                      <a:pt x="600" y="40"/>
                      <a:pt x="726" y="51"/>
                      <a:pt x="800" y="120"/>
                    </a:cubicBezTo>
                    <a:cubicBezTo>
                      <a:pt x="873" y="188"/>
                      <a:pt x="916" y="303"/>
                      <a:pt x="940" y="450"/>
                    </a:cubicBezTo>
                    <a:cubicBezTo>
                      <a:pt x="963" y="596"/>
                      <a:pt x="940" y="908"/>
                      <a:pt x="940" y="1000"/>
                    </a:cubicBezTo>
                  </a:path>
                </a:pathLst>
              </a:custGeom>
              <a:gradFill rotWithShape="1">
                <a:gsLst>
                  <a:gs pos="0">
                    <a:srgbClr val="CED3D8"/>
                  </a:gs>
                  <a:gs pos="55000">
                    <a:srgbClr val="AEB6BF"/>
                  </a:gs>
                  <a:gs pos="100000">
                    <a:srgbClr val="8B9198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5D6D7E"/>
                </a:solidFill>
                <a:round/>
              </a:ln>
            </p:spPr>
          </p:sp>
        </p:grpSp>
        <p:sp>
          <p:nvSpPr>
            <p:cNvPr id="10" name="Edad y sexo"/>
            <p:cNvSpPr txBox="1"/>
            <p:nvPr/>
          </p:nvSpPr>
          <p:spPr>
            <a:xfrm>
              <a:off x="1600200" y="1234440"/>
              <a:ext cx="63093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2000" b="1" dirty="0">
                  <a:solidFill>
                    <a:srgbClr val="C0560E"/>
                  </a:solidFill>
                  <a:latin typeface="Calibri"/>
                  <a:ea typeface="Calibri"/>
                  <a:cs typeface="Calibri"/>
                  <a:sym typeface="Calibri"/>
                </a:rPr>
                <a:t>Hombre de 31 años</a:t>
              </a:r>
              <a:endParaRPr lang="es-AR" sz="2000" dirty="0">
                <a:latin typeface="Calibri"/>
              </a:endParaRPr>
            </a:p>
          </p:txBody>
        </p:sp>
        <p:sp>
          <p:nvSpPr>
            <p:cNvPr id="11" name="Motivo"/>
            <p:cNvSpPr txBox="1"/>
            <p:nvPr/>
          </p:nvSpPr>
          <p:spPr>
            <a:xfrm>
              <a:off x="1600200" y="1691640"/>
              <a:ext cx="63093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5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abdominal agudo inmovilizante, vómitos y diarrea con heces claras.</a:t>
              </a:r>
              <a:endParaRPr lang="es-AR" sz="1500" dirty="0">
                <a:latin typeface="Calibri"/>
              </a:endParaRPr>
            </a:p>
          </p:txBody>
        </p:sp>
      </p:grpSp>
      <p:sp>
        <p:nvSpPr>
          <p:cNvPr id="12" name="Acolia C4"/>
          <p:cNvSpPr/>
          <p:nvPr/>
        </p:nvSpPr>
        <p:spPr>
          <a:xfrm>
            <a:off x="365760" y="2697480"/>
            <a:ext cx="2468880" cy="173736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Acolia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heces claras</a:t>
            </a:r>
            <a:endParaRPr lang="es-AR" sz="2050" dirty="0">
              <a:latin typeface="Calibri"/>
            </a:endParaRPr>
          </a:p>
        </p:txBody>
      </p:sp>
      <p:sp>
        <p:nvSpPr>
          <p:cNvPr id="13" name="Ictericia C4"/>
          <p:cNvSpPr/>
          <p:nvPr/>
        </p:nvSpPr>
        <p:spPr>
          <a:xfrm>
            <a:off x="2971800" y="2697480"/>
            <a:ext cx="2468880" cy="173736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Ictericia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mucosas amarillas</a:t>
            </a:r>
            <a:endParaRPr lang="es-AR" sz="2050" dirty="0">
              <a:latin typeface="Calibri"/>
            </a:endParaRPr>
          </a:p>
        </p:txBody>
      </p:sp>
      <p:sp>
        <p:nvSpPr>
          <p:cNvPr id="14" name="Hepatomegalia C4"/>
          <p:cNvSpPr/>
          <p:nvPr/>
        </p:nvSpPr>
        <p:spPr>
          <a:xfrm>
            <a:off x="5577840" y="2697480"/>
            <a:ext cx="2468880" cy="173736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Abdomen prominente: </a:t>
            </a:r>
            <a:r>
              <a:rPr lang="es-AR" sz="19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hepatomegalia</a:t>
            </a:r>
            <a:r>
              <a:rPr lang="es-AR" sz="19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posible</a:t>
            </a:r>
            <a:endParaRPr lang="es-AR" sz="1950" dirty="0">
              <a:latin typeface="Calibri"/>
            </a:endParaRPr>
          </a:p>
        </p:txBody>
      </p:sp>
      <p:sp>
        <p:nvSpPr>
          <p:cNvPr id="15" name="Presuntivo C4"/>
          <p:cNvSpPr/>
          <p:nvPr/>
        </p:nvSpPr>
        <p:spPr>
          <a:xfrm>
            <a:off x="365760" y="4663440"/>
            <a:ext cx="7680960" cy="178308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Diagnóstico presuntivo: </a:t>
            </a:r>
            <a:r>
              <a:rPr lang="es-AR" sz="22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hepatitis aguda</a:t>
            </a:r>
            <a:r>
              <a:rPr lang="es-AR" sz="22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(ictericia + acolia + dolor abdominal).</a:t>
            </a:r>
            <a:endParaRPr lang="es-AR" sz="2200" dirty="0">
              <a:latin typeface="Calibri"/>
            </a:endParaRPr>
          </a:p>
        </p:txBody>
      </p:sp>
      <p:grpSp>
        <p:nvGrpSpPr>
          <p:cNvPr id="16" name="Silueta C4"/>
          <p:cNvGrpSpPr/>
          <p:nvPr/>
        </p:nvGrpSpPr>
        <p:grpSpPr>
          <a:xfrm>
            <a:off x="8778240" y="1005840"/>
            <a:ext cx="2697480" cy="5394960"/>
            <a:chOff x="8778240" y="1005840"/>
            <a:chExt cx="2697480" cy="5394960"/>
          </a:xfrm>
        </p:grpSpPr>
        <p:sp>
          <p:nvSpPr>
            <p:cNvPr id="17" name="Forma 16"/>
            <p:cNvSpPr/>
            <p:nvPr/>
          </p:nvSpPr>
          <p:spPr>
            <a:xfrm>
              <a:off x="87782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225" y="150"/>
                  </a:moveTo>
                  <a:cubicBezTo>
                    <a:pt x="229" y="148"/>
                    <a:pt x="270" y="148"/>
                    <a:pt x="275" y="150"/>
                  </a:cubicBezTo>
                  <a:cubicBezTo>
                    <a:pt x="279" y="151"/>
                    <a:pt x="282" y="167"/>
                    <a:pt x="290" y="170"/>
                  </a:cubicBezTo>
                  <a:cubicBezTo>
                    <a:pt x="297" y="173"/>
                    <a:pt x="361" y="185"/>
                    <a:pt x="370" y="190"/>
                  </a:cubicBezTo>
                  <a:cubicBezTo>
                    <a:pt x="378" y="194"/>
                    <a:pt x="401" y="219"/>
                    <a:pt x="405" y="230"/>
                  </a:cubicBezTo>
                  <a:cubicBezTo>
                    <a:pt x="408" y="240"/>
                    <a:pt x="417" y="313"/>
                    <a:pt x="420" y="330"/>
                  </a:cubicBezTo>
                  <a:cubicBezTo>
                    <a:pt x="422" y="346"/>
                    <a:pt x="430" y="434"/>
                    <a:pt x="432" y="450"/>
                  </a:cubicBezTo>
                  <a:cubicBezTo>
                    <a:pt x="433" y="465"/>
                    <a:pt x="441" y="532"/>
                    <a:pt x="440" y="540"/>
                  </a:cubicBezTo>
                  <a:cubicBezTo>
                    <a:pt x="438" y="547"/>
                    <a:pt x="415" y="554"/>
                    <a:pt x="412" y="548"/>
                  </a:cubicBezTo>
                  <a:cubicBezTo>
                    <a:pt x="408" y="541"/>
                    <a:pt x="397" y="470"/>
                    <a:pt x="395" y="455"/>
                  </a:cubicBezTo>
                  <a:cubicBezTo>
                    <a:pt x="392" y="439"/>
                    <a:pt x="380" y="349"/>
                    <a:pt x="378" y="340"/>
                  </a:cubicBezTo>
                  <a:cubicBezTo>
                    <a:pt x="375" y="330"/>
                    <a:pt x="366" y="320"/>
                    <a:pt x="365" y="330"/>
                  </a:cubicBezTo>
                  <a:cubicBezTo>
                    <a:pt x="363" y="339"/>
                    <a:pt x="361" y="453"/>
                    <a:pt x="360" y="470"/>
                  </a:cubicBezTo>
                  <a:cubicBezTo>
                    <a:pt x="358" y="486"/>
                    <a:pt x="350" y="527"/>
                    <a:pt x="350" y="545"/>
                  </a:cubicBezTo>
                  <a:cubicBezTo>
                    <a:pt x="349" y="562"/>
                    <a:pt x="355" y="676"/>
                    <a:pt x="355" y="700"/>
                  </a:cubicBezTo>
                  <a:cubicBezTo>
                    <a:pt x="354" y="723"/>
                    <a:pt x="343" y="840"/>
                    <a:pt x="342" y="860"/>
                  </a:cubicBezTo>
                  <a:cubicBezTo>
                    <a:pt x="340" y="879"/>
                    <a:pt x="343" y="951"/>
                    <a:pt x="340" y="960"/>
                  </a:cubicBezTo>
                  <a:cubicBezTo>
                    <a:pt x="336" y="968"/>
                    <a:pt x="296" y="979"/>
                    <a:pt x="292" y="972"/>
                  </a:cubicBezTo>
                  <a:cubicBezTo>
                    <a:pt x="287" y="964"/>
                    <a:pt x="283" y="881"/>
                    <a:pt x="282" y="860"/>
                  </a:cubicBezTo>
                  <a:cubicBezTo>
                    <a:pt x="280" y="838"/>
                    <a:pt x="272" y="709"/>
                    <a:pt x="270" y="690"/>
                  </a:cubicBezTo>
                  <a:cubicBezTo>
                    <a:pt x="267" y="670"/>
                    <a:pt x="253" y="600"/>
                    <a:pt x="250" y="600"/>
                  </a:cubicBezTo>
                  <a:cubicBezTo>
                    <a:pt x="247" y="600"/>
                    <a:pt x="232" y="670"/>
                    <a:pt x="230" y="690"/>
                  </a:cubicBezTo>
                  <a:cubicBezTo>
                    <a:pt x="227" y="709"/>
                    <a:pt x="219" y="838"/>
                    <a:pt x="218" y="860"/>
                  </a:cubicBezTo>
                  <a:cubicBezTo>
                    <a:pt x="216" y="881"/>
                    <a:pt x="212" y="964"/>
                    <a:pt x="208" y="972"/>
                  </a:cubicBezTo>
                  <a:cubicBezTo>
                    <a:pt x="203" y="979"/>
                    <a:pt x="163" y="968"/>
                    <a:pt x="160" y="960"/>
                  </a:cubicBezTo>
                  <a:cubicBezTo>
                    <a:pt x="156" y="951"/>
                    <a:pt x="159" y="879"/>
                    <a:pt x="158" y="860"/>
                  </a:cubicBezTo>
                  <a:cubicBezTo>
                    <a:pt x="156" y="840"/>
                    <a:pt x="145" y="723"/>
                    <a:pt x="145" y="700"/>
                  </a:cubicBezTo>
                  <a:cubicBezTo>
                    <a:pt x="144" y="676"/>
                    <a:pt x="150" y="562"/>
                    <a:pt x="150" y="545"/>
                  </a:cubicBezTo>
                  <a:cubicBezTo>
                    <a:pt x="149" y="527"/>
                    <a:pt x="141" y="486"/>
                    <a:pt x="140" y="470"/>
                  </a:cubicBezTo>
                  <a:cubicBezTo>
                    <a:pt x="138" y="453"/>
                    <a:pt x="136" y="339"/>
                    <a:pt x="135" y="330"/>
                  </a:cubicBezTo>
                  <a:cubicBezTo>
                    <a:pt x="133" y="320"/>
                    <a:pt x="124" y="330"/>
                    <a:pt x="122" y="340"/>
                  </a:cubicBezTo>
                  <a:cubicBezTo>
                    <a:pt x="119" y="349"/>
                    <a:pt x="107" y="439"/>
                    <a:pt x="105" y="455"/>
                  </a:cubicBezTo>
                  <a:cubicBezTo>
                    <a:pt x="102" y="470"/>
                    <a:pt x="91" y="541"/>
                    <a:pt x="88" y="548"/>
                  </a:cubicBezTo>
                  <a:cubicBezTo>
                    <a:pt x="84" y="554"/>
                    <a:pt x="61" y="547"/>
                    <a:pt x="60" y="540"/>
                  </a:cubicBezTo>
                  <a:cubicBezTo>
                    <a:pt x="58" y="532"/>
                    <a:pt x="66" y="465"/>
                    <a:pt x="68" y="450"/>
                  </a:cubicBezTo>
                  <a:cubicBezTo>
                    <a:pt x="69" y="434"/>
                    <a:pt x="77" y="346"/>
                    <a:pt x="80" y="330"/>
                  </a:cubicBezTo>
                  <a:cubicBezTo>
                    <a:pt x="82" y="313"/>
                    <a:pt x="91" y="240"/>
                    <a:pt x="95" y="230"/>
                  </a:cubicBezTo>
                  <a:cubicBezTo>
                    <a:pt x="98" y="219"/>
                    <a:pt x="121" y="194"/>
                    <a:pt x="130" y="190"/>
                  </a:cubicBezTo>
                  <a:cubicBezTo>
                    <a:pt x="138" y="185"/>
                    <a:pt x="202" y="173"/>
                    <a:pt x="210" y="170"/>
                  </a:cubicBezTo>
                  <a:cubicBezTo>
                    <a:pt x="217" y="167"/>
                    <a:pt x="220" y="151"/>
                    <a:pt x="225" y="150"/>
                  </a:cubicBezTo>
                  <a:close/>
                </a:path>
              </a:pathLst>
            </a:custGeom>
            <a:solidFill>
              <a:srgbClr val="F7DC6F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  <p:sp>
          <p:nvSpPr>
            <p:cNvPr id="18" name="Forma 17"/>
            <p:cNvSpPr/>
            <p:nvPr/>
          </p:nvSpPr>
          <p:spPr>
            <a:xfrm>
              <a:off x="8778240" y="1005840"/>
              <a:ext cx="2697480" cy="5394960"/>
            </a:xfrm>
            <a:custGeom>
              <a:avLst/>
              <a:gdLst/>
              <a:ahLst/>
              <a:cxnLst/>
              <a:rect l="0" t="0" r="r" b="b"/>
              <a:pathLst>
                <a:path w="500" h="1000">
                  <a:moveTo>
                    <a:pt x="312" y="85"/>
                  </a:moveTo>
                  <a:cubicBezTo>
                    <a:pt x="312" y="123"/>
                    <a:pt x="284" y="155"/>
                    <a:pt x="250" y="155"/>
                  </a:cubicBezTo>
                  <a:cubicBezTo>
                    <a:pt x="215" y="155"/>
                    <a:pt x="188" y="123"/>
                    <a:pt x="188" y="85"/>
                  </a:cubicBezTo>
                  <a:cubicBezTo>
                    <a:pt x="188" y="46"/>
                    <a:pt x="215" y="15"/>
                    <a:pt x="250" y="15"/>
                  </a:cubicBezTo>
                  <a:cubicBezTo>
                    <a:pt x="284" y="15"/>
                    <a:pt x="312" y="46"/>
                    <a:pt x="312" y="85"/>
                  </a:cubicBezTo>
                  <a:close/>
                </a:path>
              </a:pathLst>
            </a:custGeom>
            <a:solidFill>
              <a:srgbClr val="F7DC6F">
                <a:alpha val="70000"/>
              </a:srgbClr>
            </a:solidFill>
            <a:ln w="22225" cap="rnd">
              <a:solidFill>
                <a:srgbClr val="A0522D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4: PRESENTACIÓN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1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262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Lab esperado C4 fila 0"/>
          <p:cNvGrpSpPr/>
          <p:nvPr/>
        </p:nvGrpSpPr>
        <p:grpSpPr>
          <a:xfrm>
            <a:off x="365760" y="1097280"/>
            <a:ext cx="7680960" cy="658368"/>
            <a:chOff x="365760" y="1097280"/>
            <a:chExt cx="7680960" cy="658368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2743200" cy="65836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108960" y="1097280"/>
              <a:ext cx="4937760" cy="65836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¿Qué esperamos?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8" name="Lab esperado C4 fila 1"/>
          <p:cNvGrpSpPr/>
          <p:nvPr/>
        </p:nvGrpSpPr>
        <p:grpSpPr>
          <a:xfrm>
            <a:off x="365760" y="1755648"/>
            <a:ext cx="7680960" cy="658368"/>
            <a:chOff x="365760" y="1755648"/>
            <a:chExt cx="7680960" cy="658368"/>
          </a:xfrm>
        </p:grpSpPr>
        <p:sp>
          <p:nvSpPr>
            <p:cNvPr id="9" name="Forma 8"/>
            <p:cNvSpPr/>
            <p:nvPr/>
          </p:nvSpPr>
          <p:spPr>
            <a:xfrm>
              <a:off x="365760" y="1755648"/>
              <a:ext cx="274320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Leucocitos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3108960" y="1755648"/>
              <a:ext cx="493776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 (proceso inflamatorio)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1" name="Lab esperado C4 fila 2"/>
          <p:cNvGrpSpPr/>
          <p:nvPr/>
        </p:nvGrpSpPr>
        <p:grpSpPr>
          <a:xfrm>
            <a:off x="365760" y="2414016"/>
            <a:ext cx="7680960" cy="658368"/>
            <a:chOff x="365760" y="2414016"/>
            <a:chExt cx="7680960" cy="658368"/>
          </a:xfrm>
        </p:grpSpPr>
        <p:sp>
          <p:nvSpPr>
            <p:cNvPr id="12" name="Forma 11"/>
            <p:cNvSpPr/>
            <p:nvPr/>
          </p:nvSpPr>
          <p:spPr>
            <a:xfrm>
              <a:off x="365760" y="2414016"/>
              <a:ext cx="2743200" cy="65836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total y DIRECTA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108960" y="2414016"/>
              <a:ext cx="4937760" cy="65836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 muy elevadas: el hígado conjuga pero no excreta → reflujo a la sangre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4" name="Lab esperado C4 fila 3"/>
          <p:cNvGrpSpPr/>
          <p:nvPr/>
        </p:nvGrpSpPr>
        <p:grpSpPr>
          <a:xfrm>
            <a:off x="365760" y="3072384"/>
            <a:ext cx="7680960" cy="658368"/>
            <a:chOff x="365760" y="3072384"/>
            <a:chExt cx="7680960" cy="658368"/>
          </a:xfrm>
        </p:grpSpPr>
        <p:sp>
          <p:nvSpPr>
            <p:cNvPr id="15" name="Forma 14"/>
            <p:cNvSpPr/>
            <p:nvPr/>
          </p:nvSpPr>
          <p:spPr>
            <a:xfrm>
              <a:off x="365760" y="3072384"/>
              <a:ext cx="274320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GPT / ALT (la más importante)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3108960" y="3072384"/>
              <a:ext cx="493776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↑↑↑ &gt; 400–500 UI/L (≥ 10 × VN); </a:t>
              </a: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predomina</a:t>
              </a: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sobre la GOT (GOT/GPT &lt; 1)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17" name="Lab esperado C4 fila 4"/>
          <p:cNvGrpSpPr/>
          <p:nvPr/>
        </p:nvGrpSpPr>
        <p:grpSpPr>
          <a:xfrm>
            <a:off x="365760" y="3730752"/>
            <a:ext cx="7680960" cy="658368"/>
            <a:chOff x="365760" y="3730752"/>
            <a:chExt cx="7680960" cy="658368"/>
          </a:xfrm>
        </p:grpSpPr>
        <p:sp>
          <p:nvSpPr>
            <p:cNvPr id="18" name="Forma 17"/>
            <p:cNvSpPr/>
            <p:nvPr/>
          </p:nvSpPr>
          <p:spPr>
            <a:xfrm>
              <a:off x="365760" y="3730752"/>
              <a:ext cx="2743200" cy="65836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GOT / AST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3108960" y="3730752"/>
              <a:ext cx="4937760" cy="65836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 muy elevada, pero menos que la GPT (en la viral)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0" name="Lab esperado C4 fila 5"/>
          <p:cNvGrpSpPr/>
          <p:nvPr/>
        </p:nvGrpSpPr>
        <p:grpSpPr>
          <a:xfrm>
            <a:off x="365760" y="4389120"/>
            <a:ext cx="7680960" cy="658368"/>
            <a:chOff x="365760" y="4389120"/>
            <a:chExt cx="7680960" cy="658368"/>
          </a:xfrm>
        </p:grpSpPr>
        <p:sp>
          <p:nvSpPr>
            <p:cNvPr id="21" name="Forma 20"/>
            <p:cNvSpPr/>
            <p:nvPr/>
          </p:nvSpPr>
          <p:spPr>
            <a:xfrm>
              <a:off x="365760" y="4389120"/>
              <a:ext cx="274320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3108960" y="4389120"/>
              <a:ext cx="493776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Levemente elevada o normal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3" name="Lab esperado C4 fila 6"/>
          <p:cNvGrpSpPr/>
          <p:nvPr/>
        </p:nvGrpSpPr>
        <p:grpSpPr>
          <a:xfrm>
            <a:off x="365760" y="5047488"/>
            <a:ext cx="7680960" cy="658368"/>
            <a:chOff x="365760" y="5047488"/>
            <a:chExt cx="7680960" cy="658368"/>
          </a:xfrm>
        </p:grpSpPr>
        <p:sp>
          <p:nvSpPr>
            <p:cNvPr id="24" name="Forma 23"/>
            <p:cNvSpPr/>
            <p:nvPr/>
          </p:nvSpPr>
          <p:spPr>
            <a:xfrm>
              <a:off x="365760" y="5047488"/>
              <a:ext cx="2743200" cy="65836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GGT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3108960" y="5047488"/>
              <a:ext cx="4937760" cy="65836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 si hay componente alcohólico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6" name="Lab esperado C4 fila 7"/>
          <p:cNvGrpSpPr/>
          <p:nvPr/>
        </p:nvGrpSpPr>
        <p:grpSpPr>
          <a:xfrm>
            <a:off x="365760" y="5705856"/>
            <a:ext cx="7680960" cy="658368"/>
            <a:chOff x="365760" y="5705856"/>
            <a:chExt cx="7680960" cy="658368"/>
          </a:xfrm>
        </p:grpSpPr>
        <p:sp>
          <p:nvSpPr>
            <p:cNvPr id="27" name="Forma 26"/>
            <p:cNvSpPr/>
            <p:nvPr/>
          </p:nvSpPr>
          <p:spPr>
            <a:xfrm>
              <a:off x="365760" y="5705856"/>
              <a:ext cx="274320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y lipasa</a:t>
              </a:r>
              <a:endParaRPr lang="es-AR" sz="145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3108960" y="5705856"/>
              <a:ext cx="4937760" cy="65836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4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Normales</a:t>
              </a:r>
              <a:endParaRPr lang="es-AR" sz="1450" dirty="0">
                <a:latin typeface="Calibri"/>
              </a:endParaRPr>
            </a:p>
          </p:txBody>
        </p:sp>
      </p:grpSp>
      <p:grpSp>
        <p:nvGrpSpPr>
          <p:cNvPr id="29" name="Hepatocito C4"/>
          <p:cNvGrpSpPr/>
          <p:nvPr/>
        </p:nvGrpSpPr>
        <p:grpSpPr>
          <a:xfrm>
            <a:off x="8778240" y="1188720"/>
            <a:ext cx="2926080" cy="2399386"/>
            <a:chOff x="8778240" y="1188720"/>
            <a:chExt cx="2926080" cy="2399386"/>
          </a:xfrm>
        </p:grpSpPr>
        <p:sp>
          <p:nvSpPr>
            <p:cNvPr id="30" name="Forma 29"/>
            <p:cNvSpPr/>
            <p:nvPr/>
          </p:nvSpPr>
          <p:spPr>
            <a:xfrm>
              <a:off x="8778240" y="1188720"/>
              <a:ext cx="2926080" cy="239938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20" y="80"/>
                  </a:moveTo>
                  <a:cubicBezTo>
                    <a:pt x="164" y="38"/>
                    <a:pt x="430" y="19"/>
                    <a:pt x="500" y="20"/>
                  </a:cubicBezTo>
                  <a:cubicBezTo>
                    <a:pt x="569" y="20"/>
                    <a:pt x="836" y="50"/>
                    <a:pt x="880" y="90"/>
                  </a:cubicBezTo>
                  <a:cubicBezTo>
                    <a:pt x="924" y="129"/>
                    <a:pt x="981" y="375"/>
                    <a:pt x="980" y="450"/>
                  </a:cubicBezTo>
                  <a:cubicBezTo>
                    <a:pt x="978" y="524"/>
                    <a:pt x="905" y="851"/>
                    <a:pt x="860" y="900"/>
                  </a:cubicBezTo>
                  <a:cubicBezTo>
                    <a:pt x="814" y="948"/>
                    <a:pt x="548" y="980"/>
                    <a:pt x="480" y="980"/>
                  </a:cubicBezTo>
                  <a:cubicBezTo>
                    <a:pt x="411" y="980"/>
                    <a:pt x="152" y="946"/>
                    <a:pt x="110" y="900"/>
                  </a:cubicBezTo>
                  <a:cubicBezTo>
                    <a:pt x="67" y="853"/>
                    <a:pt x="19" y="545"/>
                    <a:pt x="20" y="470"/>
                  </a:cubicBezTo>
                  <a:cubicBezTo>
                    <a:pt x="20" y="394"/>
                    <a:pt x="76" y="121"/>
                    <a:pt x="120" y="80"/>
                  </a:cubicBezTo>
                  <a:close/>
                </a:path>
              </a:pathLst>
            </a:custGeom>
            <a:gradFill rotWithShape="1">
              <a:gsLst>
                <a:gs pos="0">
                  <a:srgbClr val="F2CABE"/>
                </a:gs>
                <a:gs pos="55000">
                  <a:srgbClr val="E8A08A"/>
                </a:gs>
                <a:gs pos="100000">
                  <a:srgbClr val="AE7867"/>
                </a:gs>
              </a:gsLst>
              <a:path path="circle">
                <a:fillToRect l="32000" t="28000" r="68000" b="72000"/>
              </a:path>
            </a:gradFill>
            <a:ln w="25400" cap="rnd">
              <a:solidFill>
                <a:srgbClr val="68483E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31" name="Núcleo hepatocito"/>
            <p:cNvGrpSpPr/>
            <p:nvPr/>
          </p:nvGrpSpPr>
          <p:grpSpPr>
            <a:xfrm>
              <a:off x="9948672" y="2052499"/>
              <a:ext cx="643738" cy="579364"/>
              <a:chOff x="9948672" y="2052499"/>
              <a:chExt cx="643738" cy="579364"/>
            </a:xfrm>
          </p:grpSpPr>
          <p:sp>
            <p:nvSpPr>
              <p:cNvPr id="32" name="Forma 31"/>
              <p:cNvSpPr/>
              <p:nvPr/>
            </p:nvSpPr>
            <p:spPr>
              <a:xfrm>
                <a:off x="9948672" y="2052499"/>
                <a:ext cx="643738" cy="579364"/>
              </a:xfrm>
              <a:prstGeom prst="ellipse">
                <a:avLst/>
              </a:prstGeom>
              <a:gradFill rotWithShape="1">
                <a:gsLst>
                  <a:gs pos="0">
                    <a:srgbClr val="B7A4CE"/>
                  </a:gs>
                  <a:gs pos="55000">
                    <a:srgbClr val="7D5BA6"/>
                  </a:gs>
                  <a:gs pos="100000">
                    <a:srgbClr val="573F74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4B3663"/>
                </a:solidFill>
                <a:round/>
              </a:ln>
            </p:spPr>
          </p:sp>
          <p:sp>
            <p:nvSpPr>
              <p:cNvPr id="33" name="Forma 32"/>
              <p:cNvSpPr/>
              <p:nvPr/>
            </p:nvSpPr>
            <p:spPr>
              <a:xfrm>
                <a:off x="10283416" y="2245620"/>
                <a:ext cx="141622" cy="128748"/>
              </a:xfrm>
              <a:prstGeom prst="ellipse">
                <a:avLst/>
              </a:prstGeom>
              <a:solidFill>
                <a:srgbClr val="513B6B"/>
              </a:solidFill>
              <a:ln>
                <a:noFill/>
              </a:ln>
            </p:spPr>
          </p:sp>
        </p:grpSp>
        <p:grpSp>
          <p:nvGrpSpPr>
            <p:cNvPr id="34" name="Retículo endoplasmático"/>
            <p:cNvGrpSpPr/>
            <p:nvPr/>
          </p:nvGrpSpPr>
          <p:grpSpPr>
            <a:xfrm>
              <a:off x="9129370" y="1534551"/>
              <a:ext cx="702259" cy="510269"/>
              <a:chOff x="9129370" y="1534551"/>
              <a:chExt cx="702259" cy="510269"/>
            </a:xfrm>
          </p:grpSpPr>
          <p:sp>
            <p:nvSpPr>
              <p:cNvPr id="35" name="Forma 34"/>
              <p:cNvSpPr/>
              <p:nvPr/>
            </p:nvSpPr>
            <p:spPr>
              <a:xfrm>
                <a:off x="9129370" y="1548628"/>
                <a:ext cx="702259" cy="13196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8BEE2"/>
              </a:solidFill>
              <a:ln w="9525" cap="rnd">
                <a:solidFill>
                  <a:srgbClr val="7E6489"/>
                </a:solidFill>
                <a:round/>
              </a:ln>
            </p:spPr>
          </p:sp>
          <p:sp>
            <p:nvSpPr>
              <p:cNvPr id="36" name="Forma 35"/>
              <p:cNvSpPr/>
              <p:nvPr/>
            </p:nvSpPr>
            <p:spPr>
              <a:xfrm>
                <a:off x="9129370" y="1534551"/>
                <a:ext cx="702259" cy="15835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37" name="Forma 36"/>
              <p:cNvSpPr/>
              <p:nvPr/>
            </p:nvSpPr>
            <p:spPr>
              <a:xfrm>
                <a:off x="9129370" y="1724583"/>
                <a:ext cx="702259" cy="13196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8BEE2"/>
              </a:solidFill>
              <a:ln w="9525" cap="rnd">
                <a:solidFill>
                  <a:srgbClr val="7E6489"/>
                </a:solidFill>
                <a:round/>
              </a:ln>
            </p:spPr>
          </p:sp>
          <p:sp>
            <p:nvSpPr>
              <p:cNvPr id="38" name="Forma 37"/>
              <p:cNvSpPr/>
              <p:nvPr/>
            </p:nvSpPr>
            <p:spPr>
              <a:xfrm>
                <a:off x="9129370" y="1710506"/>
                <a:ext cx="702259" cy="15835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  <p:sp>
            <p:nvSpPr>
              <p:cNvPr id="39" name="Forma 38"/>
              <p:cNvSpPr/>
              <p:nvPr/>
            </p:nvSpPr>
            <p:spPr>
              <a:xfrm>
                <a:off x="9129370" y="1900538"/>
                <a:ext cx="702259" cy="13196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300"/>
                    </a:moveTo>
                    <a:cubicBezTo>
                      <a:pt x="20" y="241"/>
                      <a:pt x="208" y="0"/>
                      <a:pt x="250" y="0"/>
                    </a:cubicBezTo>
                    <a:cubicBezTo>
                      <a:pt x="291" y="0"/>
                      <a:pt x="458" y="300"/>
                      <a:pt x="500" y="300"/>
                    </a:cubicBezTo>
                    <a:cubicBezTo>
                      <a:pt x="541" y="300"/>
                      <a:pt x="708" y="0"/>
                      <a:pt x="750" y="0"/>
                    </a:cubicBezTo>
                    <a:cubicBezTo>
                      <a:pt x="791" y="0"/>
                      <a:pt x="979" y="241"/>
                      <a:pt x="1000" y="300"/>
                    </a:cubicBezTo>
                    <a:cubicBezTo>
                      <a:pt x="1020" y="358"/>
                      <a:pt x="1020" y="641"/>
                      <a:pt x="1000" y="700"/>
                    </a:cubicBezTo>
                    <a:cubicBezTo>
                      <a:pt x="979" y="758"/>
                      <a:pt x="791" y="1000"/>
                      <a:pt x="750" y="1000"/>
                    </a:cubicBezTo>
                    <a:cubicBezTo>
                      <a:pt x="708" y="1000"/>
                      <a:pt x="541" y="700"/>
                      <a:pt x="500" y="700"/>
                    </a:cubicBezTo>
                    <a:cubicBezTo>
                      <a:pt x="458" y="700"/>
                      <a:pt x="291" y="1000"/>
                      <a:pt x="250" y="1000"/>
                    </a:cubicBezTo>
                    <a:cubicBezTo>
                      <a:pt x="208" y="1000"/>
                      <a:pt x="20" y="758"/>
                      <a:pt x="0" y="700"/>
                    </a:cubicBezTo>
                    <a:cubicBezTo>
                      <a:pt x="-20" y="641"/>
                      <a:pt x="-20" y="358"/>
                      <a:pt x="0" y="300"/>
                    </a:cubicBezTo>
                    <a:close/>
                  </a:path>
                </a:pathLst>
              </a:custGeom>
              <a:solidFill>
                <a:srgbClr val="D8BEE2"/>
              </a:solidFill>
              <a:ln w="9525" cap="rnd">
                <a:solidFill>
                  <a:srgbClr val="7E6489"/>
                </a:solidFill>
                <a:round/>
              </a:ln>
            </p:spPr>
          </p:sp>
          <p:sp>
            <p:nvSpPr>
              <p:cNvPr id="40" name="Forma 39"/>
              <p:cNvSpPr/>
              <p:nvPr/>
            </p:nvSpPr>
            <p:spPr>
              <a:xfrm>
                <a:off x="9129370" y="1886461"/>
                <a:ext cx="702259" cy="158359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05" y="880"/>
                    </a:moveTo>
                    <a:cubicBezTo>
                      <a:pt x="105" y="904"/>
                      <a:pt x="84" y="925"/>
                      <a:pt x="60" y="925"/>
                    </a:cubicBezTo>
                    <a:cubicBezTo>
                      <a:pt x="35" y="925"/>
                      <a:pt x="15" y="904"/>
                      <a:pt x="15" y="880"/>
                    </a:cubicBezTo>
                    <a:cubicBezTo>
                      <a:pt x="15" y="855"/>
                      <a:pt x="35" y="835"/>
                      <a:pt x="60" y="835"/>
                    </a:cubicBezTo>
                    <a:cubicBezTo>
                      <a:pt x="84" y="835"/>
                      <a:pt x="105" y="855"/>
                      <a:pt x="105" y="880"/>
                    </a:cubicBezTo>
                    <a:close/>
                    <a:moveTo>
                      <a:pt x="185" y="120"/>
                    </a:moveTo>
                    <a:cubicBezTo>
                      <a:pt x="185" y="144"/>
                      <a:pt x="164" y="165"/>
                      <a:pt x="140" y="165"/>
                    </a:cubicBezTo>
                    <a:cubicBezTo>
                      <a:pt x="115" y="165"/>
                      <a:pt x="95" y="144"/>
                      <a:pt x="95" y="120"/>
                    </a:cubicBezTo>
                    <a:cubicBezTo>
                      <a:pt x="95" y="95"/>
                      <a:pt x="115" y="75"/>
                      <a:pt x="140" y="75"/>
                    </a:cubicBezTo>
                    <a:cubicBezTo>
                      <a:pt x="164" y="75"/>
                      <a:pt x="185" y="95"/>
                      <a:pt x="185" y="120"/>
                    </a:cubicBezTo>
                    <a:close/>
                    <a:moveTo>
                      <a:pt x="265" y="880"/>
                    </a:moveTo>
                    <a:cubicBezTo>
                      <a:pt x="265" y="904"/>
                      <a:pt x="244" y="925"/>
                      <a:pt x="220" y="925"/>
                    </a:cubicBezTo>
                    <a:cubicBezTo>
                      <a:pt x="195" y="925"/>
                      <a:pt x="175" y="904"/>
                      <a:pt x="175" y="880"/>
                    </a:cubicBezTo>
                    <a:cubicBezTo>
                      <a:pt x="175" y="855"/>
                      <a:pt x="195" y="835"/>
                      <a:pt x="220" y="835"/>
                    </a:cubicBezTo>
                    <a:cubicBezTo>
                      <a:pt x="244" y="835"/>
                      <a:pt x="265" y="855"/>
                      <a:pt x="265" y="880"/>
                    </a:cubicBezTo>
                    <a:close/>
                    <a:moveTo>
                      <a:pt x="345" y="120"/>
                    </a:moveTo>
                    <a:cubicBezTo>
                      <a:pt x="345" y="144"/>
                      <a:pt x="324" y="165"/>
                      <a:pt x="300" y="165"/>
                    </a:cubicBezTo>
                    <a:cubicBezTo>
                      <a:pt x="275" y="165"/>
                      <a:pt x="255" y="144"/>
                      <a:pt x="255" y="120"/>
                    </a:cubicBezTo>
                    <a:cubicBezTo>
                      <a:pt x="255" y="95"/>
                      <a:pt x="275" y="75"/>
                      <a:pt x="300" y="75"/>
                    </a:cubicBezTo>
                    <a:cubicBezTo>
                      <a:pt x="324" y="75"/>
                      <a:pt x="345" y="95"/>
                      <a:pt x="345" y="120"/>
                    </a:cubicBezTo>
                    <a:close/>
                    <a:moveTo>
                      <a:pt x="425" y="880"/>
                    </a:moveTo>
                    <a:cubicBezTo>
                      <a:pt x="425" y="904"/>
                      <a:pt x="404" y="925"/>
                      <a:pt x="380" y="925"/>
                    </a:cubicBezTo>
                    <a:cubicBezTo>
                      <a:pt x="355" y="925"/>
                      <a:pt x="335" y="904"/>
                      <a:pt x="335" y="880"/>
                    </a:cubicBezTo>
                    <a:cubicBezTo>
                      <a:pt x="335" y="855"/>
                      <a:pt x="355" y="835"/>
                      <a:pt x="380" y="835"/>
                    </a:cubicBezTo>
                    <a:cubicBezTo>
                      <a:pt x="404" y="835"/>
                      <a:pt x="425" y="855"/>
                      <a:pt x="425" y="880"/>
                    </a:cubicBezTo>
                    <a:close/>
                    <a:moveTo>
                      <a:pt x="505" y="120"/>
                    </a:moveTo>
                    <a:cubicBezTo>
                      <a:pt x="505" y="144"/>
                      <a:pt x="484" y="165"/>
                      <a:pt x="460" y="165"/>
                    </a:cubicBezTo>
                    <a:cubicBezTo>
                      <a:pt x="435" y="165"/>
                      <a:pt x="415" y="144"/>
                      <a:pt x="415" y="120"/>
                    </a:cubicBezTo>
                    <a:cubicBezTo>
                      <a:pt x="415" y="95"/>
                      <a:pt x="435" y="75"/>
                      <a:pt x="460" y="75"/>
                    </a:cubicBezTo>
                    <a:cubicBezTo>
                      <a:pt x="484" y="75"/>
                      <a:pt x="505" y="95"/>
                      <a:pt x="505" y="120"/>
                    </a:cubicBezTo>
                    <a:close/>
                    <a:moveTo>
                      <a:pt x="585" y="880"/>
                    </a:moveTo>
                    <a:cubicBezTo>
                      <a:pt x="585" y="904"/>
                      <a:pt x="564" y="925"/>
                      <a:pt x="540" y="925"/>
                    </a:cubicBezTo>
                    <a:cubicBezTo>
                      <a:pt x="515" y="925"/>
                      <a:pt x="495" y="904"/>
                      <a:pt x="495" y="880"/>
                    </a:cubicBezTo>
                    <a:cubicBezTo>
                      <a:pt x="495" y="855"/>
                      <a:pt x="515" y="835"/>
                      <a:pt x="540" y="835"/>
                    </a:cubicBezTo>
                    <a:cubicBezTo>
                      <a:pt x="564" y="835"/>
                      <a:pt x="585" y="855"/>
                      <a:pt x="585" y="880"/>
                    </a:cubicBezTo>
                    <a:close/>
                    <a:moveTo>
                      <a:pt x="665" y="120"/>
                    </a:moveTo>
                    <a:cubicBezTo>
                      <a:pt x="665" y="144"/>
                      <a:pt x="644" y="165"/>
                      <a:pt x="620" y="165"/>
                    </a:cubicBezTo>
                    <a:cubicBezTo>
                      <a:pt x="595" y="165"/>
                      <a:pt x="575" y="144"/>
                      <a:pt x="575" y="120"/>
                    </a:cubicBezTo>
                    <a:cubicBezTo>
                      <a:pt x="575" y="95"/>
                      <a:pt x="595" y="75"/>
                      <a:pt x="620" y="75"/>
                    </a:cubicBezTo>
                    <a:cubicBezTo>
                      <a:pt x="644" y="75"/>
                      <a:pt x="665" y="95"/>
                      <a:pt x="665" y="120"/>
                    </a:cubicBezTo>
                    <a:close/>
                    <a:moveTo>
                      <a:pt x="745" y="880"/>
                    </a:moveTo>
                    <a:cubicBezTo>
                      <a:pt x="745" y="904"/>
                      <a:pt x="724" y="925"/>
                      <a:pt x="700" y="925"/>
                    </a:cubicBezTo>
                    <a:cubicBezTo>
                      <a:pt x="675" y="925"/>
                      <a:pt x="655" y="904"/>
                      <a:pt x="655" y="880"/>
                    </a:cubicBezTo>
                    <a:cubicBezTo>
                      <a:pt x="655" y="855"/>
                      <a:pt x="675" y="835"/>
                      <a:pt x="700" y="835"/>
                    </a:cubicBezTo>
                    <a:cubicBezTo>
                      <a:pt x="724" y="835"/>
                      <a:pt x="745" y="855"/>
                      <a:pt x="745" y="880"/>
                    </a:cubicBezTo>
                    <a:close/>
                    <a:moveTo>
                      <a:pt x="825" y="120"/>
                    </a:moveTo>
                    <a:cubicBezTo>
                      <a:pt x="825" y="144"/>
                      <a:pt x="804" y="165"/>
                      <a:pt x="780" y="165"/>
                    </a:cubicBezTo>
                    <a:cubicBezTo>
                      <a:pt x="755" y="165"/>
                      <a:pt x="735" y="144"/>
                      <a:pt x="735" y="120"/>
                    </a:cubicBezTo>
                    <a:cubicBezTo>
                      <a:pt x="735" y="95"/>
                      <a:pt x="755" y="75"/>
                      <a:pt x="780" y="75"/>
                    </a:cubicBezTo>
                    <a:cubicBezTo>
                      <a:pt x="804" y="75"/>
                      <a:pt x="825" y="95"/>
                      <a:pt x="825" y="120"/>
                    </a:cubicBezTo>
                    <a:close/>
                    <a:moveTo>
                      <a:pt x="905" y="880"/>
                    </a:moveTo>
                    <a:cubicBezTo>
                      <a:pt x="905" y="904"/>
                      <a:pt x="884" y="925"/>
                      <a:pt x="860" y="925"/>
                    </a:cubicBezTo>
                    <a:cubicBezTo>
                      <a:pt x="835" y="925"/>
                      <a:pt x="815" y="904"/>
                      <a:pt x="815" y="880"/>
                    </a:cubicBezTo>
                    <a:cubicBezTo>
                      <a:pt x="815" y="855"/>
                      <a:pt x="835" y="835"/>
                      <a:pt x="860" y="835"/>
                    </a:cubicBezTo>
                    <a:cubicBezTo>
                      <a:pt x="884" y="835"/>
                      <a:pt x="905" y="855"/>
                      <a:pt x="905" y="880"/>
                    </a:cubicBezTo>
                    <a:close/>
                    <a:moveTo>
                      <a:pt x="985" y="120"/>
                    </a:moveTo>
                    <a:cubicBezTo>
                      <a:pt x="985" y="144"/>
                      <a:pt x="964" y="165"/>
                      <a:pt x="940" y="165"/>
                    </a:cubicBezTo>
                    <a:cubicBezTo>
                      <a:pt x="915" y="165"/>
                      <a:pt x="895" y="144"/>
                      <a:pt x="895" y="120"/>
                    </a:cubicBezTo>
                    <a:cubicBezTo>
                      <a:pt x="895" y="95"/>
                      <a:pt x="915" y="75"/>
                      <a:pt x="940" y="75"/>
                    </a:cubicBezTo>
                    <a:cubicBezTo>
                      <a:pt x="964" y="75"/>
                      <a:pt x="985" y="95"/>
                      <a:pt x="985" y="120"/>
                    </a:cubicBezTo>
                    <a:close/>
                  </a:path>
                </a:pathLst>
              </a:custGeom>
              <a:solidFill>
                <a:srgbClr val="5D3A6E"/>
              </a:solidFill>
              <a:ln>
                <a:noFill/>
              </a:ln>
            </p:spPr>
          </p:sp>
        </p:grpSp>
        <p:grpSp>
          <p:nvGrpSpPr>
            <p:cNvPr id="41" name="Mitocondria"/>
            <p:cNvGrpSpPr/>
            <p:nvPr/>
          </p:nvGrpSpPr>
          <p:grpSpPr>
            <a:xfrm>
              <a:off x="10709453" y="1668597"/>
              <a:ext cx="468173" cy="234086"/>
              <a:chOff x="10709453" y="1668597"/>
              <a:chExt cx="468173" cy="234086"/>
            </a:xfrm>
          </p:grpSpPr>
          <p:sp>
            <p:nvSpPr>
              <p:cNvPr id="42" name="Forma 41"/>
              <p:cNvSpPr/>
              <p:nvPr/>
            </p:nvSpPr>
            <p:spPr>
              <a:xfrm>
                <a:off x="10709453" y="1668597"/>
                <a:ext cx="468173" cy="234086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3" name="Forma 42"/>
              <p:cNvSpPr/>
              <p:nvPr/>
            </p:nvSpPr>
            <p:spPr>
              <a:xfrm>
                <a:off x="10742225" y="1701369"/>
                <a:ext cx="402629" cy="168542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4" name="Forma 43"/>
              <p:cNvSpPr/>
              <p:nvPr/>
            </p:nvSpPr>
            <p:spPr>
              <a:xfrm>
                <a:off x="10742225" y="1701369"/>
                <a:ext cx="402629" cy="16854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5" name="Mitocondria_2"/>
            <p:cNvGrpSpPr/>
            <p:nvPr/>
          </p:nvGrpSpPr>
          <p:grpSpPr>
            <a:xfrm>
              <a:off x="10826496" y="2676339"/>
              <a:ext cx="468173" cy="234086"/>
              <a:chOff x="10826496" y="2676339"/>
              <a:chExt cx="468173" cy="234086"/>
            </a:xfrm>
          </p:grpSpPr>
          <p:sp>
            <p:nvSpPr>
              <p:cNvPr id="46" name="Forma 45"/>
              <p:cNvSpPr/>
              <p:nvPr/>
            </p:nvSpPr>
            <p:spPr>
              <a:xfrm rot="1500000">
                <a:off x="10826496" y="2676339"/>
                <a:ext cx="468173" cy="234086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47" name="Forma 46"/>
              <p:cNvSpPr/>
              <p:nvPr/>
            </p:nvSpPr>
            <p:spPr>
              <a:xfrm rot="1500000">
                <a:off x="10859268" y="2709111"/>
                <a:ext cx="402629" cy="168542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48" name="Forma 47"/>
              <p:cNvSpPr/>
              <p:nvPr/>
            </p:nvSpPr>
            <p:spPr>
              <a:xfrm rot="1500000">
                <a:off x="10859268" y="2709111"/>
                <a:ext cx="402629" cy="16854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49" name="Mitocondria_3"/>
            <p:cNvGrpSpPr/>
            <p:nvPr/>
          </p:nvGrpSpPr>
          <p:grpSpPr>
            <a:xfrm>
              <a:off x="9363456" y="2676339"/>
              <a:ext cx="468173" cy="234086"/>
              <a:chOff x="9363456" y="2676339"/>
              <a:chExt cx="468173" cy="234086"/>
            </a:xfrm>
          </p:grpSpPr>
          <p:sp>
            <p:nvSpPr>
              <p:cNvPr id="50" name="Forma 49"/>
              <p:cNvSpPr/>
              <p:nvPr/>
            </p:nvSpPr>
            <p:spPr>
              <a:xfrm rot="-1200000">
                <a:off x="9363456" y="2676339"/>
                <a:ext cx="468173" cy="234086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1" name="Forma 50"/>
              <p:cNvSpPr/>
              <p:nvPr/>
            </p:nvSpPr>
            <p:spPr>
              <a:xfrm rot="-1200000">
                <a:off x="9396228" y="2709111"/>
                <a:ext cx="402629" cy="168542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2" name="Forma 51"/>
              <p:cNvSpPr/>
              <p:nvPr/>
            </p:nvSpPr>
            <p:spPr>
              <a:xfrm rot="-1200000">
                <a:off x="9396228" y="2709111"/>
                <a:ext cx="402629" cy="16854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grpSp>
          <p:nvGrpSpPr>
            <p:cNvPr id="53" name="Mitocondria_4"/>
            <p:cNvGrpSpPr/>
            <p:nvPr/>
          </p:nvGrpSpPr>
          <p:grpSpPr>
            <a:xfrm>
              <a:off x="10094976" y="2988259"/>
              <a:ext cx="468173" cy="234086"/>
              <a:chOff x="10094976" y="2988259"/>
              <a:chExt cx="468173" cy="234086"/>
            </a:xfrm>
          </p:grpSpPr>
          <p:sp>
            <p:nvSpPr>
              <p:cNvPr id="54" name="Forma 53"/>
              <p:cNvSpPr/>
              <p:nvPr/>
            </p:nvSpPr>
            <p:spPr>
              <a:xfrm rot="600000">
                <a:off x="10094976" y="2988259"/>
                <a:ext cx="468173" cy="234086"/>
              </a:xfrm>
              <a:prstGeom prst="ellipse">
                <a:avLst/>
              </a:prstGeom>
              <a:gradFill rotWithShape="1">
                <a:gsLst>
                  <a:gs pos="0">
                    <a:srgbClr val="F3BD7E"/>
                  </a:gs>
                  <a:gs pos="55000">
                    <a:srgbClr val="EE9A3A"/>
                  </a:gs>
                  <a:gs pos="100000">
                    <a:srgbClr val="A66B28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774D1D"/>
                </a:solidFill>
                <a:round/>
              </a:ln>
            </p:spPr>
          </p:sp>
          <p:sp>
            <p:nvSpPr>
              <p:cNvPr id="55" name="Forma 54"/>
              <p:cNvSpPr/>
              <p:nvPr/>
            </p:nvSpPr>
            <p:spPr>
              <a:xfrm rot="600000">
                <a:off x="10127748" y="3021031"/>
                <a:ext cx="402629" cy="168542"/>
              </a:xfrm>
              <a:prstGeom prst="ellipse">
                <a:avLst/>
              </a:prstGeom>
              <a:solidFill>
                <a:srgbClr val="F8D8B4"/>
              </a:solidFill>
              <a:ln w="9525" cap="rnd">
                <a:solidFill>
                  <a:srgbClr val="B2732B"/>
                </a:solidFill>
                <a:round/>
              </a:ln>
            </p:spPr>
          </p:sp>
          <p:sp>
            <p:nvSpPr>
              <p:cNvPr id="56" name="Forma 55"/>
              <p:cNvSpPr/>
              <p:nvPr/>
            </p:nvSpPr>
            <p:spPr>
              <a:xfrm rot="600000">
                <a:off x="10127748" y="3021031"/>
                <a:ext cx="402629" cy="168542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200"/>
                    </a:moveTo>
                    <a:cubicBezTo>
                      <a:pt x="95" y="260"/>
                      <a:pt x="136" y="800"/>
                      <a:pt x="148" y="800"/>
                    </a:cubicBezTo>
                    <a:cubicBezTo>
                      <a:pt x="160" y="800"/>
                      <a:pt x="195" y="200"/>
                      <a:pt x="207" y="200"/>
                    </a:cubicBezTo>
                    <a:cubicBezTo>
                      <a:pt x="218" y="200"/>
                      <a:pt x="254" y="800"/>
                      <a:pt x="265" y="800"/>
                    </a:cubicBezTo>
                    <a:cubicBezTo>
                      <a:pt x="277" y="800"/>
                      <a:pt x="312" y="200"/>
                      <a:pt x="324" y="200"/>
                    </a:cubicBezTo>
                    <a:cubicBezTo>
                      <a:pt x="336" y="200"/>
                      <a:pt x="371" y="800"/>
                      <a:pt x="382" y="800"/>
                    </a:cubicBezTo>
                    <a:cubicBezTo>
                      <a:pt x="394" y="800"/>
                      <a:pt x="429" y="200"/>
                      <a:pt x="441" y="200"/>
                    </a:cubicBezTo>
                    <a:cubicBezTo>
                      <a:pt x="453" y="200"/>
                      <a:pt x="488" y="800"/>
                      <a:pt x="500" y="800"/>
                    </a:cubicBezTo>
                    <a:cubicBezTo>
                      <a:pt x="511" y="800"/>
                      <a:pt x="546" y="200"/>
                      <a:pt x="558" y="200"/>
                    </a:cubicBezTo>
                    <a:cubicBezTo>
                      <a:pt x="570" y="200"/>
                      <a:pt x="605" y="800"/>
                      <a:pt x="617" y="800"/>
                    </a:cubicBezTo>
                    <a:cubicBezTo>
                      <a:pt x="628" y="800"/>
                      <a:pt x="664" y="200"/>
                      <a:pt x="675" y="200"/>
                    </a:cubicBezTo>
                    <a:cubicBezTo>
                      <a:pt x="687" y="200"/>
                      <a:pt x="722" y="800"/>
                      <a:pt x="734" y="800"/>
                    </a:cubicBezTo>
                    <a:cubicBezTo>
                      <a:pt x="746" y="800"/>
                      <a:pt x="781" y="200"/>
                      <a:pt x="792" y="200"/>
                    </a:cubicBezTo>
                    <a:cubicBezTo>
                      <a:pt x="804" y="200"/>
                      <a:pt x="839" y="800"/>
                      <a:pt x="851" y="800"/>
                    </a:cubicBezTo>
                    <a:cubicBezTo>
                      <a:pt x="863" y="800"/>
                      <a:pt x="904" y="260"/>
                      <a:pt x="910" y="200"/>
                    </a:cubicBezTo>
                  </a:path>
                </a:pathLst>
              </a:custGeom>
              <a:noFill/>
              <a:ln w="15875" cap="rnd">
                <a:solidFill>
                  <a:srgbClr val="9A6425"/>
                </a:solidFill>
                <a:round/>
              </a:ln>
            </p:spPr>
          </p:sp>
        </p:grpSp>
        <p:sp>
          <p:nvSpPr>
            <p:cNvPr id="57" name="Glucógeno"/>
            <p:cNvSpPr/>
            <p:nvPr/>
          </p:nvSpPr>
          <p:spPr>
            <a:xfrm>
              <a:off x="10592410" y="2148474"/>
              <a:ext cx="643738" cy="431889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71" y="726"/>
                  </a:moveTo>
                  <a:cubicBezTo>
                    <a:pt x="471" y="746"/>
                    <a:pt x="453" y="764"/>
                    <a:pt x="433" y="764"/>
                  </a:cubicBezTo>
                  <a:cubicBezTo>
                    <a:pt x="412" y="764"/>
                    <a:pt x="395" y="746"/>
                    <a:pt x="395" y="726"/>
                  </a:cubicBezTo>
                  <a:cubicBezTo>
                    <a:pt x="395" y="705"/>
                    <a:pt x="412" y="688"/>
                    <a:pt x="433" y="688"/>
                  </a:cubicBezTo>
                  <a:cubicBezTo>
                    <a:pt x="453" y="688"/>
                    <a:pt x="471" y="705"/>
                    <a:pt x="471" y="726"/>
                  </a:cubicBezTo>
                  <a:close/>
                  <a:moveTo>
                    <a:pt x="438" y="784"/>
                  </a:moveTo>
                  <a:cubicBezTo>
                    <a:pt x="438" y="804"/>
                    <a:pt x="420" y="822"/>
                    <a:pt x="400" y="822"/>
                  </a:cubicBezTo>
                  <a:cubicBezTo>
                    <a:pt x="379" y="822"/>
                    <a:pt x="362" y="804"/>
                    <a:pt x="362" y="784"/>
                  </a:cubicBezTo>
                  <a:cubicBezTo>
                    <a:pt x="362" y="763"/>
                    <a:pt x="379" y="746"/>
                    <a:pt x="400" y="746"/>
                  </a:cubicBezTo>
                  <a:cubicBezTo>
                    <a:pt x="420" y="746"/>
                    <a:pt x="438" y="763"/>
                    <a:pt x="438" y="784"/>
                  </a:cubicBezTo>
                  <a:close/>
                  <a:moveTo>
                    <a:pt x="371" y="789"/>
                  </a:moveTo>
                  <a:cubicBezTo>
                    <a:pt x="371" y="809"/>
                    <a:pt x="353" y="827"/>
                    <a:pt x="333" y="827"/>
                  </a:cubicBezTo>
                  <a:cubicBezTo>
                    <a:pt x="312" y="827"/>
                    <a:pt x="295" y="809"/>
                    <a:pt x="295" y="789"/>
                  </a:cubicBezTo>
                  <a:cubicBezTo>
                    <a:pt x="295" y="768"/>
                    <a:pt x="312" y="751"/>
                    <a:pt x="333" y="751"/>
                  </a:cubicBezTo>
                  <a:cubicBezTo>
                    <a:pt x="353" y="751"/>
                    <a:pt x="371" y="768"/>
                    <a:pt x="371" y="789"/>
                  </a:cubicBezTo>
                  <a:close/>
                  <a:moveTo>
                    <a:pt x="331" y="735"/>
                  </a:moveTo>
                  <a:cubicBezTo>
                    <a:pt x="331" y="755"/>
                    <a:pt x="313" y="773"/>
                    <a:pt x="293" y="773"/>
                  </a:cubicBezTo>
                  <a:cubicBezTo>
                    <a:pt x="272" y="773"/>
                    <a:pt x="255" y="755"/>
                    <a:pt x="255" y="735"/>
                  </a:cubicBezTo>
                  <a:cubicBezTo>
                    <a:pt x="255" y="714"/>
                    <a:pt x="272" y="697"/>
                    <a:pt x="293" y="697"/>
                  </a:cubicBezTo>
                  <a:cubicBezTo>
                    <a:pt x="313" y="697"/>
                    <a:pt x="331" y="714"/>
                    <a:pt x="331" y="735"/>
                  </a:cubicBezTo>
                  <a:close/>
                  <a:moveTo>
                    <a:pt x="355" y="673"/>
                  </a:moveTo>
                  <a:cubicBezTo>
                    <a:pt x="355" y="693"/>
                    <a:pt x="337" y="711"/>
                    <a:pt x="317" y="711"/>
                  </a:cubicBezTo>
                  <a:cubicBezTo>
                    <a:pt x="296" y="711"/>
                    <a:pt x="279" y="693"/>
                    <a:pt x="279" y="673"/>
                  </a:cubicBezTo>
                  <a:cubicBezTo>
                    <a:pt x="279" y="652"/>
                    <a:pt x="296" y="635"/>
                    <a:pt x="317" y="635"/>
                  </a:cubicBezTo>
                  <a:cubicBezTo>
                    <a:pt x="337" y="635"/>
                    <a:pt x="355" y="652"/>
                    <a:pt x="355" y="673"/>
                  </a:cubicBezTo>
                  <a:close/>
                  <a:moveTo>
                    <a:pt x="420" y="658"/>
                  </a:moveTo>
                  <a:cubicBezTo>
                    <a:pt x="420" y="678"/>
                    <a:pt x="402" y="696"/>
                    <a:pt x="382" y="696"/>
                  </a:cubicBezTo>
                  <a:cubicBezTo>
                    <a:pt x="361" y="696"/>
                    <a:pt x="344" y="678"/>
                    <a:pt x="344" y="658"/>
                  </a:cubicBezTo>
                  <a:cubicBezTo>
                    <a:pt x="344" y="637"/>
                    <a:pt x="361" y="620"/>
                    <a:pt x="382" y="620"/>
                  </a:cubicBezTo>
                  <a:cubicBezTo>
                    <a:pt x="402" y="620"/>
                    <a:pt x="420" y="637"/>
                    <a:pt x="420" y="658"/>
                  </a:cubicBezTo>
                  <a:close/>
                  <a:moveTo>
                    <a:pt x="785" y="253"/>
                  </a:moveTo>
                  <a:cubicBezTo>
                    <a:pt x="785" y="273"/>
                    <a:pt x="767" y="291"/>
                    <a:pt x="747" y="291"/>
                  </a:cubicBezTo>
                  <a:cubicBezTo>
                    <a:pt x="726" y="291"/>
                    <a:pt x="709" y="273"/>
                    <a:pt x="709" y="253"/>
                  </a:cubicBezTo>
                  <a:cubicBezTo>
                    <a:pt x="709" y="232"/>
                    <a:pt x="726" y="215"/>
                    <a:pt x="747" y="215"/>
                  </a:cubicBezTo>
                  <a:cubicBezTo>
                    <a:pt x="767" y="215"/>
                    <a:pt x="785" y="232"/>
                    <a:pt x="785" y="253"/>
                  </a:cubicBezTo>
                  <a:close/>
                  <a:moveTo>
                    <a:pt x="752" y="311"/>
                  </a:moveTo>
                  <a:cubicBezTo>
                    <a:pt x="752" y="331"/>
                    <a:pt x="734" y="349"/>
                    <a:pt x="714" y="349"/>
                  </a:cubicBezTo>
                  <a:cubicBezTo>
                    <a:pt x="693" y="349"/>
                    <a:pt x="676" y="331"/>
                    <a:pt x="676" y="311"/>
                  </a:cubicBezTo>
                  <a:cubicBezTo>
                    <a:pt x="676" y="290"/>
                    <a:pt x="693" y="273"/>
                    <a:pt x="714" y="273"/>
                  </a:cubicBezTo>
                  <a:cubicBezTo>
                    <a:pt x="734" y="273"/>
                    <a:pt x="752" y="290"/>
                    <a:pt x="752" y="311"/>
                  </a:cubicBezTo>
                  <a:close/>
                  <a:moveTo>
                    <a:pt x="685" y="316"/>
                  </a:moveTo>
                  <a:cubicBezTo>
                    <a:pt x="685" y="336"/>
                    <a:pt x="667" y="354"/>
                    <a:pt x="647" y="354"/>
                  </a:cubicBezTo>
                  <a:cubicBezTo>
                    <a:pt x="626" y="354"/>
                    <a:pt x="609" y="336"/>
                    <a:pt x="609" y="316"/>
                  </a:cubicBezTo>
                  <a:cubicBezTo>
                    <a:pt x="609" y="295"/>
                    <a:pt x="626" y="278"/>
                    <a:pt x="647" y="278"/>
                  </a:cubicBezTo>
                  <a:cubicBezTo>
                    <a:pt x="667" y="278"/>
                    <a:pt x="685" y="295"/>
                    <a:pt x="685" y="316"/>
                  </a:cubicBezTo>
                  <a:close/>
                  <a:moveTo>
                    <a:pt x="645" y="262"/>
                  </a:moveTo>
                  <a:cubicBezTo>
                    <a:pt x="645" y="282"/>
                    <a:pt x="627" y="300"/>
                    <a:pt x="607" y="300"/>
                  </a:cubicBezTo>
                  <a:cubicBezTo>
                    <a:pt x="586" y="300"/>
                    <a:pt x="569" y="282"/>
                    <a:pt x="569" y="262"/>
                  </a:cubicBezTo>
                  <a:cubicBezTo>
                    <a:pt x="569" y="241"/>
                    <a:pt x="586" y="224"/>
                    <a:pt x="607" y="224"/>
                  </a:cubicBezTo>
                  <a:cubicBezTo>
                    <a:pt x="627" y="224"/>
                    <a:pt x="645" y="241"/>
                    <a:pt x="645" y="262"/>
                  </a:cubicBezTo>
                  <a:close/>
                  <a:moveTo>
                    <a:pt x="669" y="200"/>
                  </a:moveTo>
                  <a:cubicBezTo>
                    <a:pt x="669" y="220"/>
                    <a:pt x="651" y="238"/>
                    <a:pt x="631" y="238"/>
                  </a:cubicBezTo>
                  <a:cubicBezTo>
                    <a:pt x="610" y="238"/>
                    <a:pt x="593" y="220"/>
                    <a:pt x="593" y="200"/>
                  </a:cubicBezTo>
                  <a:cubicBezTo>
                    <a:pt x="593" y="179"/>
                    <a:pt x="610" y="162"/>
                    <a:pt x="631" y="162"/>
                  </a:cubicBezTo>
                  <a:cubicBezTo>
                    <a:pt x="651" y="162"/>
                    <a:pt x="669" y="179"/>
                    <a:pt x="669" y="200"/>
                  </a:cubicBezTo>
                  <a:close/>
                  <a:moveTo>
                    <a:pt x="734" y="185"/>
                  </a:moveTo>
                  <a:cubicBezTo>
                    <a:pt x="734" y="205"/>
                    <a:pt x="716" y="223"/>
                    <a:pt x="696" y="223"/>
                  </a:cubicBezTo>
                  <a:cubicBezTo>
                    <a:pt x="675" y="223"/>
                    <a:pt x="658" y="205"/>
                    <a:pt x="658" y="185"/>
                  </a:cubicBezTo>
                  <a:cubicBezTo>
                    <a:pt x="658" y="164"/>
                    <a:pt x="675" y="147"/>
                    <a:pt x="696" y="147"/>
                  </a:cubicBezTo>
                  <a:cubicBezTo>
                    <a:pt x="716" y="147"/>
                    <a:pt x="734" y="164"/>
                    <a:pt x="734" y="185"/>
                  </a:cubicBezTo>
                  <a:close/>
                  <a:moveTo>
                    <a:pt x="606" y="738"/>
                  </a:moveTo>
                  <a:cubicBezTo>
                    <a:pt x="606" y="758"/>
                    <a:pt x="588" y="776"/>
                    <a:pt x="568" y="776"/>
                  </a:cubicBezTo>
                  <a:cubicBezTo>
                    <a:pt x="547" y="776"/>
                    <a:pt x="530" y="758"/>
                    <a:pt x="530" y="738"/>
                  </a:cubicBezTo>
                  <a:cubicBezTo>
                    <a:pt x="530" y="717"/>
                    <a:pt x="547" y="700"/>
                    <a:pt x="568" y="700"/>
                  </a:cubicBezTo>
                  <a:cubicBezTo>
                    <a:pt x="588" y="700"/>
                    <a:pt x="606" y="717"/>
                    <a:pt x="606" y="738"/>
                  </a:cubicBezTo>
                  <a:close/>
                  <a:moveTo>
                    <a:pt x="573" y="796"/>
                  </a:moveTo>
                  <a:cubicBezTo>
                    <a:pt x="573" y="816"/>
                    <a:pt x="555" y="834"/>
                    <a:pt x="535" y="834"/>
                  </a:cubicBezTo>
                  <a:cubicBezTo>
                    <a:pt x="514" y="834"/>
                    <a:pt x="497" y="816"/>
                    <a:pt x="497" y="796"/>
                  </a:cubicBezTo>
                  <a:cubicBezTo>
                    <a:pt x="497" y="775"/>
                    <a:pt x="514" y="758"/>
                    <a:pt x="535" y="758"/>
                  </a:cubicBezTo>
                  <a:cubicBezTo>
                    <a:pt x="555" y="758"/>
                    <a:pt x="573" y="775"/>
                    <a:pt x="573" y="796"/>
                  </a:cubicBezTo>
                  <a:close/>
                  <a:moveTo>
                    <a:pt x="506" y="801"/>
                  </a:moveTo>
                  <a:cubicBezTo>
                    <a:pt x="506" y="821"/>
                    <a:pt x="488" y="839"/>
                    <a:pt x="468" y="839"/>
                  </a:cubicBezTo>
                  <a:cubicBezTo>
                    <a:pt x="447" y="839"/>
                    <a:pt x="430" y="821"/>
                    <a:pt x="430" y="801"/>
                  </a:cubicBezTo>
                  <a:cubicBezTo>
                    <a:pt x="430" y="780"/>
                    <a:pt x="447" y="763"/>
                    <a:pt x="468" y="763"/>
                  </a:cubicBezTo>
                  <a:cubicBezTo>
                    <a:pt x="488" y="763"/>
                    <a:pt x="506" y="780"/>
                    <a:pt x="506" y="801"/>
                  </a:cubicBezTo>
                  <a:close/>
                  <a:moveTo>
                    <a:pt x="466" y="747"/>
                  </a:moveTo>
                  <a:cubicBezTo>
                    <a:pt x="466" y="767"/>
                    <a:pt x="448" y="785"/>
                    <a:pt x="428" y="785"/>
                  </a:cubicBezTo>
                  <a:cubicBezTo>
                    <a:pt x="407" y="785"/>
                    <a:pt x="390" y="767"/>
                    <a:pt x="390" y="747"/>
                  </a:cubicBezTo>
                  <a:cubicBezTo>
                    <a:pt x="390" y="726"/>
                    <a:pt x="407" y="709"/>
                    <a:pt x="428" y="709"/>
                  </a:cubicBezTo>
                  <a:cubicBezTo>
                    <a:pt x="448" y="709"/>
                    <a:pt x="466" y="726"/>
                    <a:pt x="466" y="747"/>
                  </a:cubicBezTo>
                  <a:close/>
                  <a:moveTo>
                    <a:pt x="490" y="685"/>
                  </a:moveTo>
                  <a:cubicBezTo>
                    <a:pt x="490" y="705"/>
                    <a:pt x="472" y="723"/>
                    <a:pt x="452" y="723"/>
                  </a:cubicBezTo>
                  <a:cubicBezTo>
                    <a:pt x="431" y="723"/>
                    <a:pt x="414" y="705"/>
                    <a:pt x="414" y="685"/>
                  </a:cubicBezTo>
                  <a:cubicBezTo>
                    <a:pt x="414" y="664"/>
                    <a:pt x="431" y="647"/>
                    <a:pt x="452" y="647"/>
                  </a:cubicBezTo>
                  <a:cubicBezTo>
                    <a:pt x="472" y="647"/>
                    <a:pt x="490" y="664"/>
                    <a:pt x="490" y="685"/>
                  </a:cubicBezTo>
                  <a:close/>
                  <a:moveTo>
                    <a:pt x="555" y="670"/>
                  </a:moveTo>
                  <a:cubicBezTo>
                    <a:pt x="555" y="690"/>
                    <a:pt x="537" y="708"/>
                    <a:pt x="517" y="708"/>
                  </a:cubicBezTo>
                  <a:cubicBezTo>
                    <a:pt x="496" y="708"/>
                    <a:pt x="479" y="690"/>
                    <a:pt x="479" y="670"/>
                  </a:cubicBezTo>
                  <a:cubicBezTo>
                    <a:pt x="479" y="649"/>
                    <a:pt x="496" y="632"/>
                    <a:pt x="517" y="632"/>
                  </a:cubicBezTo>
                  <a:cubicBezTo>
                    <a:pt x="537" y="632"/>
                    <a:pt x="555" y="649"/>
                    <a:pt x="555" y="670"/>
                  </a:cubicBezTo>
                  <a:close/>
                  <a:moveTo>
                    <a:pt x="713" y="760"/>
                  </a:moveTo>
                  <a:cubicBezTo>
                    <a:pt x="713" y="780"/>
                    <a:pt x="695" y="798"/>
                    <a:pt x="675" y="798"/>
                  </a:cubicBezTo>
                  <a:cubicBezTo>
                    <a:pt x="654" y="798"/>
                    <a:pt x="637" y="780"/>
                    <a:pt x="637" y="760"/>
                  </a:cubicBezTo>
                  <a:cubicBezTo>
                    <a:pt x="637" y="739"/>
                    <a:pt x="654" y="722"/>
                    <a:pt x="675" y="722"/>
                  </a:cubicBezTo>
                  <a:cubicBezTo>
                    <a:pt x="695" y="722"/>
                    <a:pt x="713" y="739"/>
                    <a:pt x="713" y="760"/>
                  </a:cubicBezTo>
                  <a:close/>
                  <a:moveTo>
                    <a:pt x="680" y="818"/>
                  </a:moveTo>
                  <a:cubicBezTo>
                    <a:pt x="680" y="838"/>
                    <a:pt x="662" y="856"/>
                    <a:pt x="642" y="856"/>
                  </a:cubicBezTo>
                  <a:cubicBezTo>
                    <a:pt x="621" y="856"/>
                    <a:pt x="604" y="838"/>
                    <a:pt x="604" y="818"/>
                  </a:cubicBezTo>
                  <a:cubicBezTo>
                    <a:pt x="604" y="797"/>
                    <a:pt x="621" y="780"/>
                    <a:pt x="642" y="780"/>
                  </a:cubicBezTo>
                  <a:cubicBezTo>
                    <a:pt x="662" y="780"/>
                    <a:pt x="680" y="797"/>
                    <a:pt x="680" y="818"/>
                  </a:cubicBezTo>
                  <a:close/>
                  <a:moveTo>
                    <a:pt x="613" y="823"/>
                  </a:moveTo>
                  <a:cubicBezTo>
                    <a:pt x="613" y="843"/>
                    <a:pt x="595" y="861"/>
                    <a:pt x="575" y="861"/>
                  </a:cubicBezTo>
                  <a:cubicBezTo>
                    <a:pt x="554" y="861"/>
                    <a:pt x="537" y="843"/>
                    <a:pt x="537" y="823"/>
                  </a:cubicBezTo>
                  <a:cubicBezTo>
                    <a:pt x="537" y="802"/>
                    <a:pt x="554" y="785"/>
                    <a:pt x="575" y="785"/>
                  </a:cubicBezTo>
                  <a:cubicBezTo>
                    <a:pt x="595" y="785"/>
                    <a:pt x="613" y="802"/>
                    <a:pt x="613" y="823"/>
                  </a:cubicBezTo>
                  <a:close/>
                  <a:moveTo>
                    <a:pt x="573" y="769"/>
                  </a:moveTo>
                  <a:cubicBezTo>
                    <a:pt x="573" y="789"/>
                    <a:pt x="555" y="807"/>
                    <a:pt x="535" y="807"/>
                  </a:cubicBezTo>
                  <a:cubicBezTo>
                    <a:pt x="514" y="807"/>
                    <a:pt x="497" y="789"/>
                    <a:pt x="497" y="769"/>
                  </a:cubicBezTo>
                  <a:cubicBezTo>
                    <a:pt x="497" y="748"/>
                    <a:pt x="514" y="731"/>
                    <a:pt x="535" y="731"/>
                  </a:cubicBezTo>
                  <a:cubicBezTo>
                    <a:pt x="555" y="731"/>
                    <a:pt x="573" y="748"/>
                    <a:pt x="573" y="769"/>
                  </a:cubicBezTo>
                  <a:close/>
                  <a:moveTo>
                    <a:pt x="597" y="707"/>
                  </a:moveTo>
                  <a:cubicBezTo>
                    <a:pt x="597" y="727"/>
                    <a:pt x="579" y="745"/>
                    <a:pt x="559" y="745"/>
                  </a:cubicBezTo>
                  <a:cubicBezTo>
                    <a:pt x="538" y="745"/>
                    <a:pt x="521" y="727"/>
                    <a:pt x="521" y="707"/>
                  </a:cubicBezTo>
                  <a:cubicBezTo>
                    <a:pt x="521" y="686"/>
                    <a:pt x="538" y="669"/>
                    <a:pt x="559" y="669"/>
                  </a:cubicBezTo>
                  <a:cubicBezTo>
                    <a:pt x="579" y="669"/>
                    <a:pt x="597" y="686"/>
                    <a:pt x="597" y="707"/>
                  </a:cubicBezTo>
                  <a:close/>
                  <a:moveTo>
                    <a:pt x="662" y="692"/>
                  </a:moveTo>
                  <a:cubicBezTo>
                    <a:pt x="662" y="712"/>
                    <a:pt x="644" y="730"/>
                    <a:pt x="624" y="730"/>
                  </a:cubicBezTo>
                  <a:cubicBezTo>
                    <a:pt x="603" y="730"/>
                    <a:pt x="586" y="712"/>
                    <a:pt x="586" y="692"/>
                  </a:cubicBezTo>
                  <a:cubicBezTo>
                    <a:pt x="586" y="671"/>
                    <a:pt x="603" y="654"/>
                    <a:pt x="624" y="654"/>
                  </a:cubicBezTo>
                  <a:cubicBezTo>
                    <a:pt x="644" y="654"/>
                    <a:pt x="662" y="671"/>
                    <a:pt x="662" y="692"/>
                  </a:cubicBezTo>
                  <a:close/>
                  <a:moveTo>
                    <a:pt x="822" y="187"/>
                  </a:moveTo>
                  <a:cubicBezTo>
                    <a:pt x="822" y="207"/>
                    <a:pt x="804" y="225"/>
                    <a:pt x="784" y="225"/>
                  </a:cubicBezTo>
                  <a:cubicBezTo>
                    <a:pt x="763" y="225"/>
                    <a:pt x="746" y="207"/>
                    <a:pt x="746" y="187"/>
                  </a:cubicBezTo>
                  <a:cubicBezTo>
                    <a:pt x="746" y="166"/>
                    <a:pt x="763" y="149"/>
                    <a:pt x="784" y="149"/>
                  </a:cubicBezTo>
                  <a:cubicBezTo>
                    <a:pt x="804" y="149"/>
                    <a:pt x="822" y="166"/>
                    <a:pt x="822" y="187"/>
                  </a:cubicBezTo>
                  <a:close/>
                  <a:moveTo>
                    <a:pt x="789" y="245"/>
                  </a:moveTo>
                  <a:cubicBezTo>
                    <a:pt x="789" y="265"/>
                    <a:pt x="771" y="283"/>
                    <a:pt x="751" y="283"/>
                  </a:cubicBezTo>
                  <a:cubicBezTo>
                    <a:pt x="730" y="283"/>
                    <a:pt x="713" y="265"/>
                    <a:pt x="713" y="245"/>
                  </a:cubicBezTo>
                  <a:cubicBezTo>
                    <a:pt x="713" y="224"/>
                    <a:pt x="730" y="207"/>
                    <a:pt x="751" y="207"/>
                  </a:cubicBezTo>
                  <a:cubicBezTo>
                    <a:pt x="771" y="207"/>
                    <a:pt x="789" y="224"/>
                    <a:pt x="789" y="245"/>
                  </a:cubicBezTo>
                  <a:close/>
                  <a:moveTo>
                    <a:pt x="722" y="250"/>
                  </a:moveTo>
                  <a:cubicBezTo>
                    <a:pt x="722" y="270"/>
                    <a:pt x="704" y="288"/>
                    <a:pt x="684" y="288"/>
                  </a:cubicBezTo>
                  <a:cubicBezTo>
                    <a:pt x="663" y="288"/>
                    <a:pt x="646" y="270"/>
                    <a:pt x="646" y="250"/>
                  </a:cubicBezTo>
                  <a:cubicBezTo>
                    <a:pt x="646" y="229"/>
                    <a:pt x="663" y="212"/>
                    <a:pt x="684" y="212"/>
                  </a:cubicBezTo>
                  <a:cubicBezTo>
                    <a:pt x="704" y="212"/>
                    <a:pt x="722" y="229"/>
                    <a:pt x="722" y="250"/>
                  </a:cubicBezTo>
                  <a:close/>
                  <a:moveTo>
                    <a:pt x="682" y="196"/>
                  </a:moveTo>
                  <a:cubicBezTo>
                    <a:pt x="682" y="216"/>
                    <a:pt x="664" y="234"/>
                    <a:pt x="644" y="234"/>
                  </a:cubicBezTo>
                  <a:cubicBezTo>
                    <a:pt x="623" y="234"/>
                    <a:pt x="606" y="216"/>
                    <a:pt x="606" y="196"/>
                  </a:cubicBezTo>
                  <a:cubicBezTo>
                    <a:pt x="606" y="175"/>
                    <a:pt x="623" y="158"/>
                    <a:pt x="644" y="158"/>
                  </a:cubicBezTo>
                  <a:cubicBezTo>
                    <a:pt x="664" y="158"/>
                    <a:pt x="682" y="175"/>
                    <a:pt x="682" y="196"/>
                  </a:cubicBezTo>
                  <a:close/>
                  <a:moveTo>
                    <a:pt x="706" y="134"/>
                  </a:moveTo>
                  <a:cubicBezTo>
                    <a:pt x="706" y="154"/>
                    <a:pt x="688" y="172"/>
                    <a:pt x="668" y="172"/>
                  </a:cubicBezTo>
                  <a:cubicBezTo>
                    <a:pt x="647" y="172"/>
                    <a:pt x="630" y="154"/>
                    <a:pt x="630" y="134"/>
                  </a:cubicBezTo>
                  <a:cubicBezTo>
                    <a:pt x="630" y="113"/>
                    <a:pt x="647" y="96"/>
                    <a:pt x="668" y="96"/>
                  </a:cubicBezTo>
                  <a:cubicBezTo>
                    <a:pt x="688" y="96"/>
                    <a:pt x="706" y="113"/>
                    <a:pt x="706" y="134"/>
                  </a:cubicBezTo>
                  <a:close/>
                  <a:moveTo>
                    <a:pt x="771" y="119"/>
                  </a:moveTo>
                  <a:cubicBezTo>
                    <a:pt x="771" y="139"/>
                    <a:pt x="753" y="157"/>
                    <a:pt x="733" y="157"/>
                  </a:cubicBezTo>
                  <a:cubicBezTo>
                    <a:pt x="712" y="157"/>
                    <a:pt x="695" y="139"/>
                    <a:pt x="695" y="119"/>
                  </a:cubicBezTo>
                  <a:cubicBezTo>
                    <a:pt x="695" y="98"/>
                    <a:pt x="712" y="81"/>
                    <a:pt x="733" y="81"/>
                  </a:cubicBezTo>
                  <a:cubicBezTo>
                    <a:pt x="753" y="81"/>
                    <a:pt x="771" y="98"/>
                    <a:pt x="771" y="119"/>
                  </a:cubicBezTo>
                  <a:close/>
                  <a:moveTo>
                    <a:pt x="848" y="133"/>
                  </a:moveTo>
                  <a:cubicBezTo>
                    <a:pt x="848" y="153"/>
                    <a:pt x="830" y="171"/>
                    <a:pt x="810" y="171"/>
                  </a:cubicBezTo>
                  <a:cubicBezTo>
                    <a:pt x="789" y="171"/>
                    <a:pt x="772" y="153"/>
                    <a:pt x="772" y="133"/>
                  </a:cubicBezTo>
                  <a:cubicBezTo>
                    <a:pt x="772" y="112"/>
                    <a:pt x="789" y="95"/>
                    <a:pt x="810" y="95"/>
                  </a:cubicBezTo>
                  <a:cubicBezTo>
                    <a:pt x="830" y="95"/>
                    <a:pt x="848" y="112"/>
                    <a:pt x="848" y="133"/>
                  </a:cubicBezTo>
                  <a:close/>
                  <a:moveTo>
                    <a:pt x="815" y="191"/>
                  </a:moveTo>
                  <a:cubicBezTo>
                    <a:pt x="815" y="211"/>
                    <a:pt x="797" y="229"/>
                    <a:pt x="777" y="229"/>
                  </a:cubicBezTo>
                  <a:cubicBezTo>
                    <a:pt x="756" y="229"/>
                    <a:pt x="739" y="211"/>
                    <a:pt x="739" y="191"/>
                  </a:cubicBezTo>
                  <a:cubicBezTo>
                    <a:pt x="739" y="170"/>
                    <a:pt x="756" y="153"/>
                    <a:pt x="777" y="153"/>
                  </a:cubicBezTo>
                  <a:cubicBezTo>
                    <a:pt x="797" y="153"/>
                    <a:pt x="815" y="170"/>
                    <a:pt x="815" y="191"/>
                  </a:cubicBezTo>
                  <a:close/>
                  <a:moveTo>
                    <a:pt x="748" y="196"/>
                  </a:moveTo>
                  <a:cubicBezTo>
                    <a:pt x="748" y="216"/>
                    <a:pt x="730" y="234"/>
                    <a:pt x="710" y="234"/>
                  </a:cubicBezTo>
                  <a:cubicBezTo>
                    <a:pt x="689" y="234"/>
                    <a:pt x="672" y="216"/>
                    <a:pt x="672" y="196"/>
                  </a:cubicBezTo>
                  <a:cubicBezTo>
                    <a:pt x="672" y="175"/>
                    <a:pt x="689" y="158"/>
                    <a:pt x="710" y="158"/>
                  </a:cubicBezTo>
                  <a:cubicBezTo>
                    <a:pt x="730" y="158"/>
                    <a:pt x="748" y="175"/>
                    <a:pt x="748" y="196"/>
                  </a:cubicBezTo>
                  <a:close/>
                  <a:moveTo>
                    <a:pt x="708" y="142"/>
                  </a:moveTo>
                  <a:cubicBezTo>
                    <a:pt x="708" y="162"/>
                    <a:pt x="690" y="180"/>
                    <a:pt x="670" y="180"/>
                  </a:cubicBezTo>
                  <a:cubicBezTo>
                    <a:pt x="649" y="180"/>
                    <a:pt x="632" y="162"/>
                    <a:pt x="632" y="142"/>
                  </a:cubicBezTo>
                  <a:cubicBezTo>
                    <a:pt x="632" y="121"/>
                    <a:pt x="649" y="104"/>
                    <a:pt x="670" y="104"/>
                  </a:cubicBezTo>
                  <a:cubicBezTo>
                    <a:pt x="690" y="104"/>
                    <a:pt x="708" y="121"/>
                    <a:pt x="708" y="142"/>
                  </a:cubicBezTo>
                  <a:close/>
                  <a:moveTo>
                    <a:pt x="732" y="80"/>
                  </a:moveTo>
                  <a:cubicBezTo>
                    <a:pt x="732" y="100"/>
                    <a:pt x="714" y="118"/>
                    <a:pt x="694" y="118"/>
                  </a:cubicBezTo>
                  <a:cubicBezTo>
                    <a:pt x="673" y="118"/>
                    <a:pt x="656" y="100"/>
                    <a:pt x="656" y="80"/>
                  </a:cubicBezTo>
                  <a:cubicBezTo>
                    <a:pt x="656" y="59"/>
                    <a:pt x="673" y="42"/>
                    <a:pt x="694" y="42"/>
                  </a:cubicBezTo>
                  <a:cubicBezTo>
                    <a:pt x="714" y="42"/>
                    <a:pt x="732" y="59"/>
                    <a:pt x="732" y="80"/>
                  </a:cubicBezTo>
                  <a:close/>
                  <a:moveTo>
                    <a:pt x="797" y="65"/>
                  </a:moveTo>
                  <a:cubicBezTo>
                    <a:pt x="797" y="85"/>
                    <a:pt x="779" y="103"/>
                    <a:pt x="759" y="103"/>
                  </a:cubicBezTo>
                  <a:cubicBezTo>
                    <a:pt x="738" y="103"/>
                    <a:pt x="721" y="85"/>
                    <a:pt x="721" y="65"/>
                  </a:cubicBezTo>
                  <a:cubicBezTo>
                    <a:pt x="721" y="44"/>
                    <a:pt x="738" y="27"/>
                    <a:pt x="759" y="27"/>
                  </a:cubicBezTo>
                  <a:cubicBezTo>
                    <a:pt x="779" y="27"/>
                    <a:pt x="797" y="44"/>
                    <a:pt x="797" y="65"/>
                  </a:cubicBezTo>
                  <a:close/>
                  <a:moveTo>
                    <a:pt x="708" y="385"/>
                  </a:moveTo>
                  <a:cubicBezTo>
                    <a:pt x="708" y="405"/>
                    <a:pt x="690" y="423"/>
                    <a:pt x="670" y="423"/>
                  </a:cubicBezTo>
                  <a:cubicBezTo>
                    <a:pt x="649" y="423"/>
                    <a:pt x="632" y="405"/>
                    <a:pt x="632" y="385"/>
                  </a:cubicBezTo>
                  <a:cubicBezTo>
                    <a:pt x="632" y="364"/>
                    <a:pt x="649" y="347"/>
                    <a:pt x="670" y="347"/>
                  </a:cubicBezTo>
                  <a:cubicBezTo>
                    <a:pt x="690" y="347"/>
                    <a:pt x="708" y="364"/>
                    <a:pt x="708" y="385"/>
                  </a:cubicBezTo>
                  <a:close/>
                  <a:moveTo>
                    <a:pt x="675" y="443"/>
                  </a:moveTo>
                  <a:cubicBezTo>
                    <a:pt x="675" y="463"/>
                    <a:pt x="657" y="481"/>
                    <a:pt x="637" y="481"/>
                  </a:cubicBezTo>
                  <a:cubicBezTo>
                    <a:pt x="616" y="481"/>
                    <a:pt x="599" y="463"/>
                    <a:pt x="599" y="443"/>
                  </a:cubicBezTo>
                  <a:cubicBezTo>
                    <a:pt x="599" y="422"/>
                    <a:pt x="616" y="405"/>
                    <a:pt x="637" y="405"/>
                  </a:cubicBezTo>
                  <a:cubicBezTo>
                    <a:pt x="657" y="405"/>
                    <a:pt x="675" y="422"/>
                    <a:pt x="675" y="443"/>
                  </a:cubicBezTo>
                  <a:close/>
                  <a:moveTo>
                    <a:pt x="608" y="448"/>
                  </a:moveTo>
                  <a:cubicBezTo>
                    <a:pt x="608" y="468"/>
                    <a:pt x="590" y="486"/>
                    <a:pt x="570" y="486"/>
                  </a:cubicBezTo>
                  <a:cubicBezTo>
                    <a:pt x="549" y="486"/>
                    <a:pt x="532" y="468"/>
                    <a:pt x="532" y="448"/>
                  </a:cubicBezTo>
                  <a:cubicBezTo>
                    <a:pt x="532" y="427"/>
                    <a:pt x="549" y="410"/>
                    <a:pt x="570" y="410"/>
                  </a:cubicBezTo>
                  <a:cubicBezTo>
                    <a:pt x="590" y="410"/>
                    <a:pt x="608" y="427"/>
                    <a:pt x="608" y="448"/>
                  </a:cubicBezTo>
                  <a:close/>
                  <a:moveTo>
                    <a:pt x="568" y="394"/>
                  </a:moveTo>
                  <a:cubicBezTo>
                    <a:pt x="568" y="414"/>
                    <a:pt x="550" y="432"/>
                    <a:pt x="530" y="432"/>
                  </a:cubicBezTo>
                  <a:cubicBezTo>
                    <a:pt x="509" y="432"/>
                    <a:pt x="492" y="414"/>
                    <a:pt x="492" y="394"/>
                  </a:cubicBezTo>
                  <a:cubicBezTo>
                    <a:pt x="492" y="373"/>
                    <a:pt x="509" y="356"/>
                    <a:pt x="530" y="356"/>
                  </a:cubicBezTo>
                  <a:cubicBezTo>
                    <a:pt x="550" y="356"/>
                    <a:pt x="568" y="373"/>
                    <a:pt x="568" y="394"/>
                  </a:cubicBezTo>
                  <a:close/>
                  <a:moveTo>
                    <a:pt x="592" y="332"/>
                  </a:moveTo>
                  <a:cubicBezTo>
                    <a:pt x="592" y="352"/>
                    <a:pt x="574" y="370"/>
                    <a:pt x="554" y="370"/>
                  </a:cubicBezTo>
                  <a:cubicBezTo>
                    <a:pt x="533" y="370"/>
                    <a:pt x="516" y="352"/>
                    <a:pt x="516" y="332"/>
                  </a:cubicBezTo>
                  <a:cubicBezTo>
                    <a:pt x="516" y="311"/>
                    <a:pt x="533" y="294"/>
                    <a:pt x="554" y="294"/>
                  </a:cubicBezTo>
                  <a:cubicBezTo>
                    <a:pt x="574" y="294"/>
                    <a:pt x="592" y="311"/>
                    <a:pt x="592" y="332"/>
                  </a:cubicBezTo>
                  <a:close/>
                  <a:moveTo>
                    <a:pt x="657" y="317"/>
                  </a:moveTo>
                  <a:cubicBezTo>
                    <a:pt x="657" y="337"/>
                    <a:pt x="639" y="355"/>
                    <a:pt x="619" y="355"/>
                  </a:cubicBezTo>
                  <a:cubicBezTo>
                    <a:pt x="598" y="355"/>
                    <a:pt x="581" y="337"/>
                    <a:pt x="581" y="317"/>
                  </a:cubicBezTo>
                  <a:cubicBezTo>
                    <a:pt x="581" y="296"/>
                    <a:pt x="598" y="279"/>
                    <a:pt x="619" y="279"/>
                  </a:cubicBezTo>
                  <a:cubicBezTo>
                    <a:pt x="639" y="279"/>
                    <a:pt x="657" y="296"/>
                    <a:pt x="657" y="317"/>
                  </a:cubicBezTo>
                  <a:close/>
                  <a:moveTo>
                    <a:pt x="792" y="359"/>
                  </a:moveTo>
                  <a:cubicBezTo>
                    <a:pt x="792" y="379"/>
                    <a:pt x="774" y="397"/>
                    <a:pt x="754" y="397"/>
                  </a:cubicBezTo>
                  <a:cubicBezTo>
                    <a:pt x="733" y="397"/>
                    <a:pt x="716" y="379"/>
                    <a:pt x="716" y="359"/>
                  </a:cubicBezTo>
                  <a:cubicBezTo>
                    <a:pt x="716" y="338"/>
                    <a:pt x="733" y="321"/>
                    <a:pt x="754" y="321"/>
                  </a:cubicBezTo>
                  <a:cubicBezTo>
                    <a:pt x="774" y="321"/>
                    <a:pt x="792" y="338"/>
                    <a:pt x="792" y="359"/>
                  </a:cubicBezTo>
                  <a:close/>
                  <a:moveTo>
                    <a:pt x="759" y="417"/>
                  </a:moveTo>
                  <a:cubicBezTo>
                    <a:pt x="759" y="437"/>
                    <a:pt x="741" y="455"/>
                    <a:pt x="721" y="455"/>
                  </a:cubicBezTo>
                  <a:cubicBezTo>
                    <a:pt x="700" y="455"/>
                    <a:pt x="683" y="437"/>
                    <a:pt x="683" y="417"/>
                  </a:cubicBezTo>
                  <a:cubicBezTo>
                    <a:pt x="683" y="396"/>
                    <a:pt x="700" y="379"/>
                    <a:pt x="721" y="379"/>
                  </a:cubicBezTo>
                  <a:cubicBezTo>
                    <a:pt x="741" y="379"/>
                    <a:pt x="759" y="396"/>
                    <a:pt x="759" y="417"/>
                  </a:cubicBezTo>
                  <a:close/>
                  <a:moveTo>
                    <a:pt x="692" y="422"/>
                  </a:moveTo>
                  <a:cubicBezTo>
                    <a:pt x="692" y="442"/>
                    <a:pt x="674" y="460"/>
                    <a:pt x="654" y="460"/>
                  </a:cubicBezTo>
                  <a:cubicBezTo>
                    <a:pt x="633" y="460"/>
                    <a:pt x="616" y="442"/>
                    <a:pt x="616" y="422"/>
                  </a:cubicBezTo>
                  <a:cubicBezTo>
                    <a:pt x="616" y="401"/>
                    <a:pt x="633" y="384"/>
                    <a:pt x="654" y="384"/>
                  </a:cubicBezTo>
                  <a:cubicBezTo>
                    <a:pt x="674" y="384"/>
                    <a:pt x="692" y="401"/>
                    <a:pt x="692" y="422"/>
                  </a:cubicBezTo>
                  <a:close/>
                  <a:moveTo>
                    <a:pt x="652" y="368"/>
                  </a:moveTo>
                  <a:cubicBezTo>
                    <a:pt x="652" y="388"/>
                    <a:pt x="634" y="406"/>
                    <a:pt x="614" y="406"/>
                  </a:cubicBezTo>
                  <a:cubicBezTo>
                    <a:pt x="593" y="406"/>
                    <a:pt x="576" y="388"/>
                    <a:pt x="576" y="368"/>
                  </a:cubicBezTo>
                  <a:cubicBezTo>
                    <a:pt x="576" y="347"/>
                    <a:pt x="593" y="330"/>
                    <a:pt x="614" y="330"/>
                  </a:cubicBezTo>
                  <a:cubicBezTo>
                    <a:pt x="634" y="330"/>
                    <a:pt x="652" y="347"/>
                    <a:pt x="652" y="368"/>
                  </a:cubicBezTo>
                  <a:close/>
                  <a:moveTo>
                    <a:pt x="676" y="306"/>
                  </a:moveTo>
                  <a:cubicBezTo>
                    <a:pt x="676" y="326"/>
                    <a:pt x="658" y="344"/>
                    <a:pt x="638" y="344"/>
                  </a:cubicBezTo>
                  <a:cubicBezTo>
                    <a:pt x="617" y="344"/>
                    <a:pt x="600" y="326"/>
                    <a:pt x="600" y="306"/>
                  </a:cubicBezTo>
                  <a:cubicBezTo>
                    <a:pt x="600" y="285"/>
                    <a:pt x="617" y="268"/>
                    <a:pt x="638" y="268"/>
                  </a:cubicBezTo>
                  <a:cubicBezTo>
                    <a:pt x="658" y="268"/>
                    <a:pt x="676" y="285"/>
                    <a:pt x="676" y="306"/>
                  </a:cubicBezTo>
                  <a:close/>
                  <a:moveTo>
                    <a:pt x="741" y="291"/>
                  </a:moveTo>
                  <a:cubicBezTo>
                    <a:pt x="741" y="311"/>
                    <a:pt x="723" y="329"/>
                    <a:pt x="703" y="329"/>
                  </a:cubicBezTo>
                  <a:cubicBezTo>
                    <a:pt x="682" y="329"/>
                    <a:pt x="665" y="311"/>
                    <a:pt x="665" y="291"/>
                  </a:cubicBezTo>
                  <a:cubicBezTo>
                    <a:pt x="665" y="270"/>
                    <a:pt x="682" y="253"/>
                    <a:pt x="703" y="253"/>
                  </a:cubicBezTo>
                  <a:cubicBezTo>
                    <a:pt x="723" y="253"/>
                    <a:pt x="741" y="270"/>
                    <a:pt x="741" y="291"/>
                  </a:cubicBezTo>
                  <a:close/>
                </a:path>
              </a:pathLst>
            </a:custGeom>
            <a:solidFill>
              <a:srgbClr val="B03A6E"/>
            </a:solidFill>
            <a:ln>
              <a:noFill/>
            </a:ln>
          </p:spPr>
        </p:sp>
        <p:sp>
          <p:nvSpPr>
            <p:cNvPr id="58" name="Gotas lipídicas"/>
            <p:cNvSpPr/>
            <p:nvPr/>
          </p:nvSpPr>
          <p:spPr>
            <a:xfrm>
              <a:off x="9217152" y="2100487"/>
              <a:ext cx="585216" cy="479877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60" y="300"/>
                  </a:moveTo>
                  <a:cubicBezTo>
                    <a:pt x="460" y="388"/>
                    <a:pt x="388" y="460"/>
                    <a:pt x="300" y="460"/>
                  </a:cubicBezTo>
                  <a:cubicBezTo>
                    <a:pt x="211" y="460"/>
                    <a:pt x="140" y="388"/>
                    <a:pt x="140" y="300"/>
                  </a:cubicBezTo>
                  <a:cubicBezTo>
                    <a:pt x="140" y="211"/>
                    <a:pt x="211" y="140"/>
                    <a:pt x="300" y="140"/>
                  </a:cubicBezTo>
                  <a:cubicBezTo>
                    <a:pt x="388" y="140"/>
                    <a:pt x="460" y="211"/>
                    <a:pt x="460" y="300"/>
                  </a:cubicBezTo>
                  <a:close/>
                  <a:moveTo>
                    <a:pt x="820" y="650"/>
                  </a:moveTo>
                  <a:cubicBezTo>
                    <a:pt x="820" y="716"/>
                    <a:pt x="766" y="770"/>
                    <a:pt x="700" y="770"/>
                  </a:cubicBezTo>
                  <a:cubicBezTo>
                    <a:pt x="633" y="770"/>
                    <a:pt x="580" y="716"/>
                    <a:pt x="580" y="650"/>
                  </a:cubicBezTo>
                  <a:cubicBezTo>
                    <a:pt x="580" y="583"/>
                    <a:pt x="633" y="530"/>
                    <a:pt x="700" y="530"/>
                  </a:cubicBezTo>
                  <a:cubicBezTo>
                    <a:pt x="766" y="530"/>
                    <a:pt x="820" y="583"/>
                    <a:pt x="820" y="65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6C2"/>
                </a:gs>
                <a:gs pos="100000">
                  <a:srgbClr val="E9B90B"/>
                </a:gs>
              </a:gsLst>
              <a:path path="circle">
                <a:fillToRect l="35000" t="30000" r="65000" b="70000"/>
              </a:path>
            </a:gradFill>
            <a:ln w="9525" cap="rnd">
              <a:solidFill>
                <a:srgbClr val="9A7D0A"/>
              </a:solidFill>
              <a:round/>
            </a:ln>
          </p:spPr>
        </p:sp>
      </p:grpSp>
      <p:sp>
        <p:nvSpPr>
          <p:cNvPr id="59" name="Nota esperado C4"/>
          <p:cNvSpPr/>
          <p:nvPr/>
        </p:nvSpPr>
        <p:spPr>
          <a:xfrm>
            <a:off x="8549640" y="3931920"/>
            <a:ext cx="3383280" cy="251460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 el </a:t>
            </a:r>
            <a:r>
              <a:rPr lang="es-AR" sz="18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perfil esperado</a:t>
            </a:r>
            <a:r>
              <a:rPr lang="es-AR" sz="18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(el material no aporta valores numéricos de este paciente): ALT dominante + bilirrubina directa alta.</a:t>
            </a:r>
            <a:endParaRPr lang="es-AR" sz="18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4: LABORATORIO ESPERADO EN LA HEPATITIS AGUDA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60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263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grpSp>
        <p:nvGrpSpPr>
          <p:cNvPr id="5" name="Etiologías hepatitis fila 0"/>
          <p:cNvGrpSpPr/>
          <p:nvPr/>
        </p:nvGrpSpPr>
        <p:grpSpPr>
          <a:xfrm>
            <a:off x="365760" y="1097280"/>
            <a:ext cx="6217920" cy="566928"/>
            <a:chOff x="365760" y="1097280"/>
            <a:chExt cx="6217920" cy="566928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23774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Etiología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2743200" y="1097280"/>
              <a:ext cx="384048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Claves diagnósticas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8" name="Etiologías hepatitis fila 1"/>
          <p:cNvGrpSpPr/>
          <p:nvPr/>
        </p:nvGrpSpPr>
        <p:grpSpPr>
          <a:xfrm>
            <a:off x="365760" y="1664208"/>
            <a:ext cx="6217920" cy="566928"/>
            <a:chOff x="365760" y="1664208"/>
            <a:chExt cx="6217920" cy="566928"/>
          </a:xfrm>
        </p:grpSpPr>
        <p:sp>
          <p:nvSpPr>
            <p:cNvPr id="9" name="Forma 8"/>
            <p:cNvSpPr/>
            <p:nvPr/>
          </p:nvSpPr>
          <p:spPr>
            <a:xfrm>
              <a:off x="365760" y="1664208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Viral (A, B, C, D, E)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2743200" y="1664208"/>
              <a:ext cx="38404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Transaminasas ≈ 10 × VN; serología por tipo.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1" name="Etiologías hepatitis fila 2"/>
          <p:cNvGrpSpPr/>
          <p:nvPr/>
        </p:nvGrpSpPr>
        <p:grpSpPr>
          <a:xfrm>
            <a:off x="365760" y="2231136"/>
            <a:ext cx="6217920" cy="566928"/>
            <a:chOff x="365760" y="2231136"/>
            <a:chExt cx="6217920" cy="566928"/>
          </a:xfrm>
        </p:grpSpPr>
        <p:sp>
          <p:nvSpPr>
            <p:cNvPr id="12" name="Forma 11"/>
            <p:cNvSpPr/>
            <p:nvPr/>
          </p:nvSpPr>
          <p:spPr>
            <a:xfrm>
              <a:off x="365760" y="2231136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Alcohólica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2743200" y="2231136"/>
              <a:ext cx="38404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GOT/GPT &gt; 2; GGT muy elevada; GOT rara vez &gt; 300–400 UI/L.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4" name="Etiologías hepatitis fila 3"/>
          <p:cNvGrpSpPr/>
          <p:nvPr/>
        </p:nvGrpSpPr>
        <p:grpSpPr>
          <a:xfrm>
            <a:off x="365760" y="2798064"/>
            <a:ext cx="6217920" cy="722376"/>
            <a:chOff x="365760" y="2798064"/>
            <a:chExt cx="6217920" cy="722376"/>
          </a:xfrm>
        </p:grpSpPr>
        <p:sp>
          <p:nvSpPr>
            <p:cNvPr id="15" name="Forma 14"/>
            <p:cNvSpPr/>
            <p:nvPr/>
          </p:nvSpPr>
          <p:spPr>
            <a:xfrm>
              <a:off x="365760" y="2798064"/>
              <a:ext cx="2377440" cy="72237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Medicamentosa / tóxica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2743200" y="2798064"/>
              <a:ext cx="3840480" cy="722376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Paracetamol en dosis altas, AINE, estatinas, isoniazida, amoxicilina-clavulánico, anticonvulsivantes.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17" name="Etiologías hepatitis fila 4"/>
          <p:cNvGrpSpPr/>
          <p:nvPr/>
        </p:nvGrpSpPr>
        <p:grpSpPr>
          <a:xfrm>
            <a:off x="365760" y="3520440"/>
            <a:ext cx="6217920" cy="566928"/>
            <a:chOff x="365760" y="3520440"/>
            <a:chExt cx="6217920" cy="566928"/>
          </a:xfrm>
        </p:grpSpPr>
        <p:sp>
          <p:nvSpPr>
            <p:cNvPr id="18" name="Forma 17"/>
            <p:cNvSpPr/>
            <p:nvPr/>
          </p:nvSpPr>
          <p:spPr>
            <a:xfrm>
              <a:off x="365760" y="3520440"/>
              <a:ext cx="237744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Autoinmune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2743200" y="3520440"/>
              <a:ext cx="384048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ASMA, ANA, anti-LKM1; más frecuente en mujeres jóvenes.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0" name="Etiologías hepatitis fila 5"/>
          <p:cNvGrpSpPr/>
          <p:nvPr/>
        </p:nvGrpSpPr>
        <p:grpSpPr>
          <a:xfrm>
            <a:off x="365760" y="4087368"/>
            <a:ext cx="6217920" cy="566928"/>
            <a:chOff x="365760" y="4087368"/>
            <a:chExt cx="6217920" cy="566928"/>
          </a:xfrm>
        </p:grpSpPr>
        <p:sp>
          <p:nvSpPr>
            <p:cNvPr id="21" name="Forma 20"/>
            <p:cNvSpPr/>
            <p:nvPr/>
          </p:nvSpPr>
          <p:spPr>
            <a:xfrm>
              <a:off x="365760" y="4087368"/>
              <a:ext cx="237744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Idiopática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2743200" y="4087368"/>
              <a:ext cx="384048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Sin causa identificable.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3" name="Tabla virus fila 0"/>
          <p:cNvGrpSpPr/>
          <p:nvPr/>
        </p:nvGrpSpPr>
        <p:grpSpPr>
          <a:xfrm>
            <a:off x="6720840" y="1097280"/>
            <a:ext cx="5212080" cy="566928"/>
            <a:chOff x="6720840" y="1097280"/>
            <a:chExt cx="5212080" cy="566928"/>
          </a:xfrm>
        </p:grpSpPr>
        <p:sp>
          <p:nvSpPr>
            <p:cNvPr id="24" name="Forma 23"/>
            <p:cNvSpPr/>
            <p:nvPr/>
          </p:nvSpPr>
          <p:spPr>
            <a:xfrm>
              <a:off x="6720840" y="1097280"/>
              <a:ext cx="731520" cy="566928"/>
            </a:xfrm>
            <a:prstGeom prst="rect">
              <a:avLst/>
            </a:prstGeom>
            <a:solidFill>
              <a:srgbClr val="C0560E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Virus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7452360" y="1097280"/>
              <a:ext cx="2651760" cy="566928"/>
            </a:xfrm>
            <a:prstGeom prst="rect">
              <a:avLst/>
            </a:prstGeom>
            <a:solidFill>
              <a:srgbClr val="C0560E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Transmisión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10104120" y="1097280"/>
              <a:ext cx="1828800" cy="566928"/>
            </a:xfrm>
            <a:prstGeom prst="rect">
              <a:avLst/>
            </a:prstGeom>
            <a:solidFill>
              <a:srgbClr val="C0560E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Cronicidad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27" name="Tabla virus fila 1"/>
          <p:cNvGrpSpPr/>
          <p:nvPr/>
        </p:nvGrpSpPr>
        <p:grpSpPr>
          <a:xfrm>
            <a:off x="6720840" y="1664208"/>
            <a:ext cx="5212080" cy="566928"/>
            <a:chOff x="6720840" y="1664208"/>
            <a:chExt cx="5212080" cy="566928"/>
          </a:xfrm>
        </p:grpSpPr>
        <p:sp>
          <p:nvSpPr>
            <p:cNvPr id="28" name="Forma 27"/>
            <p:cNvSpPr/>
            <p:nvPr/>
          </p:nvSpPr>
          <p:spPr>
            <a:xfrm>
              <a:off x="6720840" y="1664208"/>
              <a:ext cx="73152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29" name="Forma 28"/>
            <p:cNvSpPr/>
            <p:nvPr/>
          </p:nvSpPr>
          <p:spPr>
            <a:xfrm>
              <a:off x="7452360" y="1664208"/>
              <a:ext cx="2651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Fecal-oral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0" name="Forma 29"/>
            <p:cNvSpPr/>
            <p:nvPr/>
          </p:nvSpPr>
          <p:spPr>
            <a:xfrm>
              <a:off x="10104120" y="1664208"/>
              <a:ext cx="18288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(siempre aguda)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31" name="Tabla virus fila 2"/>
          <p:cNvGrpSpPr/>
          <p:nvPr/>
        </p:nvGrpSpPr>
        <p:grpSpPr>
          <a:xfrm>
            <a:off x="6720840" y="2231136"/>
            <a:ext cx="5212080" cy="566928"/>
            <a:chOff x="6720840" y="2231136"/>
            <a:chExt cx="5212080" cy="566928"/>
          </a:xfrm>
        </p:grpSpPr>
        <p:sp>
          <p:nvSpPr>
            <p:cNvPr id="32" name="Forma 31"/>
            <p:cNvSpPr/>
            <p:nvPr/>
          </p:nvSpPr>
          <p:spPr>
            <a:xfrm>
              <a:off x="6720840" y="2231136"/>
              <a:ext cx="73152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7452360" y="2231136"/>
              <a:ext cx="26517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Parenteral, sexual, vertical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10104120" y="2231136"/>
              <a:ext cx="18288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~5–10 % adultos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35" name="Tabla virus fila 3"/>
          <p:cNvGrpSpPr/>
          <p:nvPr/>
        </p:nvGrpSpPr>
        <p:grpSpPr>
          <a:xfrm>
            <a:off x="6720840" y="2798064"/>
            <a:ext cx="5212080" cy="566928"/>
            <a:chOff x="6720840" y="2798064"/>
            <a:chExt cx="5212080" cy="566928"/>
          </a:xfrm>
        </p:grpSpPr>
        <p:sp>
          <p:nvSpPr>
            <p:cNvPr id="36" name="Forma 35"/>
            <p:cNvSpPr/>
            <p:nvPr/>
          </p:nvSpPr>
          <p:spPr>
            <a:xfrm>
              <a:off x="6720840" y="2798064"/>
              <a:ext cx="73152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7452360" y="2798064"/>
              <a:ext cx="2651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Parenteral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10104120" y="2798064"/>
              <a:ext cx="18288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~75–85 %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39" name="Tabla virus fila 4"/>
          <p:cNvGrpSpPr/>
          <p:nvPr/>
        </p:nvGrpSpPr>
        <p:grpSpPr>
          <a:xfrm>
            <a:off x="6720840" y="3364992"/>
            <a:ext cx="5212080" cy="566928"/>
            <a:chOff x="6720840" y="3364992"/>
            <a:chExt cx="5212080" cy="566928"/>
          </a:xfrm>
        </p:grpSpPr>
        <p:sp>
          <p:nvSpPr>
            <p:cNvPr id="40" name="Forma 39"/>
            <p:cNvSpPr/>
            <p:nvPr/>
          </p:nvSpPr>
          <p:spPr>
            <a:xfrm>
              <a:off x="6720840" y="3364992"/>
              <a:ext cx="73152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1" name="Forma 40"/>
            <p:cNvSpPr/>
            <p:nvPr/>
          </p:nvSpPr>
          <p:spPr>
            <a:xfrm>
              <a:off x="7452360" y="3364992"/>
              <a:ext cx="265176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Coinfección con VHB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2" name="Forma 41"/>
            <p:cNvSpPr/>
            <p:nvPr/>
          </p:nvSpPr>
          <p:spPr>
            <a:xfrm>
              <a:off x="10104120" y="3364992"/>
              <a:ext cx="1828800" cy="566928"/>
            </a:xfrm>
            <a:prstGeom prst="rect">
              <a:avLst/>
            </a:prstGeom>
            <a:solidFill>
              <a:srgbClr val="FFFFFF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Sí</a:t>
              </a:r>
              <a:endParaRPr lang="es-AR" sz="1300" dirty="0">
                <a:latin typeface="Calibri"/>
              </a:endParaRPr>
            </a:p>
          </p:txBody>
        </p:sp>
      </p:grpSp>
      <p:grpSp>
        <p:nvGrpSpPr>
          <p:cNvPr id="43" name="Tabla virus fila 5"/>
          <p:cNvGrpSpPr/>
          <p:nvPr/>
        </p:nvGrpSpPr>
        <p:grpSpPr>
          <a:xfrm>
            <a:off x="6720840" y="3931920"/>
            <a:ext cx="5212080" cy="566928"/>
            <a:chOff x="6720840" y="3931920"/>
            <a:chExt cx="5212080" cy="566928"/>
          </a:xfrm>
        </p:grpSpPr>
        <p:sp>
          <p:nvSpPr>
            <p:cNvPr id="44" name="Forma 43"/>
            <p:cNvSpPr/>
            <p:nvPr/>
          </p:nvSpPr>
          <p:spPr>
            <a:xfrm>
              <a:off x="6720840" y="3931920"/>
              <a:ext cx="73152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5" name="Forma 44"/>
            <p:cNvSpPr/>
            <p:nvPr/>
          </p:nvSpPr>
          <p:spPr>
            <a:xfrm>
              <a:off x="7452360" y="3931920"/>
              <a:ext cx="265176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Fecal-oral</a:t>
              </a:r>
              <a:endParaRPr lang="es-AR" sz="1300" dirty="0">
                <a:latin typeface="Calibri"/>
              </a:endParaRPr>
            </a:p>
          </p:txBody>
        </p:sp>
        <p:sp>
          <p:nvSpPr>
            <p:cNvPr id="46" name="Forma 45"/>
            <p:cNvSpPr/>
            <p:nvPr/>
          </p:nvSpPr>
          <p:spPr>
            <a:xfrm>
              <a:off x="10104120" y="3931920"/>
              <a:ext cx="1828800" cy="566928"/>
            </a:xfrm>
            <a:prstGeom prst="rect">
              <a:avLst/>
            </a:prstGeom>
            <a:solidFill>
              <a:srgbClr val="FFF2CC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82296" tIns="27432" rIns="82296" bIns="27432" anchor="ctr" rtlCol="0">
              <a:noAutofit/>
            </a:bodyPr>
            <a:lstStyle/>
            <a:p>
              <a:pPr algn="l">
                <a:spcAft>
                  <a:spcPts val="100"/>
                </a:spcAft>
                <a:buNone/>
              </a:pPr>
              <a:r>
                <a:rPr lang="es-AR" sz="13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 (salvo inmunodeprimidos)</a:t>
              </a:r>
              <a:endParaRPr lang="es-AR" sz="1300" dirty="0">
                <a:latin typeface="Calibri"/>
              </a:endParaRPr>
            </a:p>
          </p:txBody>
        </p:sp>
      </p:grpSp>
      <p:sp>
        <p:nvSpPr>
          <p:cNvPr id="47" name="Ubicación vs etiología"/>
          <p:cNvSpPr/>
          <p:nvPr/>
        </p:nvSpPr>
        <p:spPr>
          <a:xfrm>
            <a:off x="365760" y="4882896"/>
            <a:ext cx="11567160" cy="1472184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El laboratorio bioquímico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ubica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el daño en el hígado; la </a:t>
            </a:r>
            <a:r>
              <a:rPr lang="es-AR" sz="200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serología</a:t>
            </a:r>
            <a:r>
              <a:rPr lang="es-AR" sz="200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la historia definen la etiología.</a:t>
            </a:r>
            <a:endParaRPr lang="es-AR" sz="200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CASO CLÍNICO 4: ETIOLOGÍAS DE LA HEPATITIS</a:t>
            </a:r>
            <a:endParaRPr lang="es-AR" sz="20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48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264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Columna dif Biomarcador"/>
          <p:cNvGrpSpPr/>
          <p:nvPr/>
        </p:nvGrpSpPr>
        <p:grpSpPr>
          <a:xfrm>
            <a:off x="365760" y="1097280"/>
            <a:ext cx="1600200" cy="5138928"/>
            <a:chOff x="365760" y="1097280"/>
            <a:chExt cx="1600200" cy="5138928"/>
          </a:xfrm>
        </p:grpSpPr>
        <p:sp>
          <p:nvSpPr>
            <p:cNvPr id="6" name="Forma 5"/>
            <p:cNvSpPr/>
            <p:nvPr/>
          </p:nvSpPr>
          <p:spPr>
            <a:xfrm>
              <a:off x="365760" y="1097280"/>
              <a:ext cx="160020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Biomarcador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7" name="Forma 6"/>
            <p:cNvSpPr/>
            <p:nvPr/>
          </p:nvSpPr>
          <p:spPr>
            <a:xfrm>
              <a:off x="365760" y="16642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Leucocitos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8" name="Forma 7"/>
            <p:cNvSpPr/>
            <p:nvPr/>
          </p:nvSpPr>
          <p:spPr>
            <a:xfrm>
              <a:off x="365760" y="21214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total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9" name="Forma 8"/>
            <p:cNvSpPr/>
            <p:nvPr/>
          </p:nvSpPr>
          <p:spPr>
            <a:xfrm>
              <a:off x="365760" y="25786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Bilirrubina directa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0" name="Forma 9"/>
            <p:cNvSpPr/>
            <p:nvPr/>
          </p:nvSpPr>
          <p:spPr>
            <a:xfrm>
              <a:off x="365760" y="30358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GOT / AST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1" name="Forma 10"/>
            <p:cNvSpPr/>
            <p:nvPr/>
          </p:nvSpPr>
          <p:spPr>
            <a:xfrm>
              <a:off x="365760" y="34930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GPT / ALT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2" name="Forma 11"/>
            <p:cNvSpPr/>
            <p:nvPr/>
          </p:nvSpPr>
          <p:spPr>
            <a:xfrm>
              <a:off x="365760" y="39502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FAL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3" name="Forma 12"/>
            <p:cNvSpPr/>
            <p:nvPr/>
          </p:nvSpPr>
          <p:spPr>
            <a:xfrm>
              <a:off x="365760" y="44074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GGT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4" name="Forma 13"/>
            <p:cNvSpPr/>
            <p:nvPr/>
          </p:nvSpPr>
          <p:spPr>
            <a:xfrm>
              <a:off x="365760" y="48646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5" name="Forma 14"/>
            <p:cNvSpPr/>
            <p:nvPr/>
          </p:nvSpPr>
          <p:spPr>
            <a:xfrm>
              <a:off x="365760" y="53218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16" name="Forma 15"/>
            <p:cNvSpPr/>
            <p:nvPr/>
          </p:nvSpPr>
          <p:spPr>
            <a:xfrm>
              <a:off x="365760" y="5779008"/>
              <a:ext cx="1600200" cy="457200"/>
            </a:xfrm>
            <a:prstGeom prst="rect">
              <a:avLst/>
            </a:prstGeom>
            <a:solidFill>
              <a:srgbClr val="FDEBD0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l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Glucemia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17" name="Columna dif Pancreatitis aguda"/>
          <p:cNvGrpSpPr/>
          <p:nvPr/>
        </p:nvGrpSpPr>
        <p:grpSpPr>
          <a:xfrm>
            <a:off x="1965960" y="1097280"/>
            <a:ext cx="1600200" cy="5138928"/>
            <a:chOff x="1965960" y="1097280"/>
            <a:chExt cx="1600200" cy="5138928"/>
          </a:xfrm>
        </p:grpSpPr>
        <p:sp>
          <p:nvSpPr>
            <p:cNvPr id="18" name="Forma 17"/>
            <p:cNvSpPr/>
            <p:nvPr/>
          </p:nvSpPr>
          <p:spPr>
            <a:xfrm>
              <a:off x="1965960" y="1097280"/>
              <a:ext cx="160020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Pancreatitis aguda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19" name="Forma 18"/>
            <p:cNvSpPr/>
            <p:nvPr/>
          </p:nvSpPr>
          <p:spPr>
            <a:xfrm>
              <a:off x="1965960" y="16642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0" name="Forma 19"/>
            <p:cNvSpPr/>
            <p:nvPr/>
          </p:nvSpPr>
          <p:spPr>
            <a:xfrm>
              <a:off x="1965960" y="21214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↑ (si obstr.)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1" name="Forma 20"/>
            <p:cNvSpPr/>
            <p:nvPr/>
          </p:nvSpPr>
          <p:spPr>
            <a:xfrm>
              <a:off x="1965960" y="25786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2" name="Forma 21"/>
            <p:cNvSpPr/>
            <p:nvPr/>
          </p:nvSpPr>
          <p:spPr>
            <a:xfrm>
              <a:off x="1965960" y="30358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leve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3" name="Forma 22"/>
            <p:cNvSpPr/>
            <p:nvPr/>
          </p:nvSpPr>
          <p:spPr>
            <a:xfrm>
              <a:off x="1965960" y="34930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leve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4" name="Forma 23"/>
            <p:cNvSpPr/>
            <p:nvPr/>
          </p:nvSpPr>
          <p:spPr>
            <a:xfrm>
              <a:off x="1965960" y="39502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leve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5" name="Forma 24"/>
            <p:cNvSpPr/>
            <p:nvPr/>
          </p:nvSpPr>
          <p:spPr>
            <a:xfrm>
              <a:off x="1965960" y="44074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 si alcohólica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6" name="Forma 25"/>
            <p:cNvSpPr/>
            <p:nvPr/>
          </p:nvSpPr>
          <p:spPr>
            <a:xfrm>
              <a:off x="1965960" y="48646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↑↑↑ &gt; 3 × VN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7" name="Forma 26"/>
            <p:cNvSpPr/>
            <p:nvPr/>
          </p:nvSpPr>
          <p:spPr>
            <a:xfrm>
              <a:off x="1965960" y="53218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↑↑↑ (específica)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28" name="Forma 27"/>
            <p:cNvSpPr/>
            <p:nvPr/>
          </p:nvSpPr>
          <p:spPr>
            <a:xfrm>
              <a:off x="1965960" y="5779008"/>
              <a:ext cx="1600200" cy="457200"/>
            </a:xfrm>
            <a:prstGeom prst="rect">
              <a:avLst/>
            </a:prstGeom>
            <a:solidFill>
              <a:srgbClr val="FCE4E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29" name="Columna dif Hepatitis aguda"/>
          <p:cNvGrpSpPr/>
          <p:nvPr/>
        </p:nvGrpSpPr>
        <p:grpSpPr>
          <a:xfrm>
            <a:off x="3566160" y="1097280"/>
            <a:ext cx="1508760" cy="5138928"/>
            <a:chOff x="3566160" y="1097280"/>
            <a:chExt cx="1508760" cy="5138928"/>
          </a:xfrm>
        </p:grpSpPr>
        <p:sp>
          <p:nvSpPr>
            <p:cNvPr id="30" name="Forma 29"/>
            <p:cNvSpPr/>
            <p:nvPr/>
          </p:nvSpPr>
          <p:spPr>
            <a:xfrm>
              <a:off x="3566160" y="1097280"/>
              <a:ext cx="15087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Hepatitis aguda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31" name="Forma 30"/>
            <p:cNvSpPr/>
            <p:nvPr/>
          </p:nvSpPr>
          <p:spPr>
            <a:xfrm>
              <a:off x="3566160" y="16642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2" name="Forma 31"/>
            <p:cNvSpPr/>
            <p:nvPr/>
          </p:nvSpPr>
          <p:spPr>
            <a:xfrm>
              <a:off x="3566160" y="21214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3" name="Forma 32"/>
            <p:cNvSpPr/>
            <p:nvPr/>
          </p:nvSpPr>
          <p:spPr>
            <a:xfrm>
              <a:off x="3566160" y="25786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4" name="Forma 33"/>
            <p:cNvSpPr/>
            <p:nvPr/>
          </p:nvSpPr>
          <p:spPr>
            <a:xfrm>
              <a:off x="3566160" y="30358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5" name="Forma 34"/>
            <p:cNvSpPr/>
            <p:nvPr/>
          </p:nvSpPr>
          <p:spPr>
            <a:xfrm>
              <a:off x="3566160" y="34930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↑↑↑ (predomina)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6" name="Forma 35"/>
            <p:cNvSpPr/>
            <p:nvPr/>
          </p:nvSpPr>
          <p:spPr>
            <a:xfrm>
              <a:off x="3566160" y="39502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leve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7" name="Forma 36"/>
            <p:cNvSpPr/>
            <p:nvPr/>
          </p:nvSpPr>
          <p:spPr>
            <a:xfrm>
              <a:off x="3566160" y="44074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8" name="Forma 37"/>
            <p:cNvSpPr/>
            <p:nvPr/>
          </p:nvSpPr>
          <p:spPr>
            <a:xfrm>
              <a:off x="3566160" y="48646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39" name="Forma 38"/>
            <p:cNvSpPr/>
            <p:nvPr/>
          </p:nvSpPr>
          <p:spPr>
            <a:xfrm>
              <a:off x="3566160" y="53218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0" name="Forma 39"/>
            <p:cNvSpPr/>
            <p:nvPr/>
          </p:nvSpPr>
          <p:spPr>
            <a:xfrm>
              <a:off x="3566160" y="5779008"/>
              <a:ext cx="1508760" cy="457200"/>
            </a:xfrm>
            <a:prstGeom prst="rect">
              <a:avLst/>
            </a:prstGeom>
            <a:solidFill>
              <a:srgbClr val="EAF5EA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41" name="Columna dif Colecistitis"/>
          <p:cNvGrpSpPr/>
          <p:nvPr/>
        </p:nvGrpSpPr>
        <p:grpSpPr>
          <a:xfrm>
            <a:off x="5074920" y="1097280"/>
            <a:ext cx="1508760" cy="5138928"/>
            <a:chOff x="5074920" y="1097280"/>
            <a:chExt cx="1508760" cy="5138928"/>
          </a:xfrm>
        </p:grpSpPr>
        <p:sp>
          <p:nvSpPr>
            <p:cNvPr id="42" name="Forma 41"/>
            <p:cNvSpPr/>
            <p:nvPr/>
          </p:nvSpPr>
          <p:spPr>
            <a:xfrm>
              <a:off x="5074920" y="1097280"/>
              <a:ext cx="150876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Colecistitis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43" name="Forma 42"/>
            <p:cNvSpPr/>
            <p:nvPr/>
          </p:nvSpPr>
          <p:spPr>
            <a:xfrm>
              <a:off x="5074920" y="16642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4" name="Forma 43"/>
            <p:cNvSpPr/>
            <p:nvPr/>
          </p:nvSpPr>
          <p:spPr>
            <a:xfrm>
              <a:off x="5074920" y="21214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5" name="Forma 44"/>
            <p:cNvSpPr/>
            <p:nvPr/>
          </p:nvSpPr>
          <p:spPr>
            <a:xfrm>
              <a:off x="5074920" y="25786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6" name="Forma 45"/>
            <p:cNvSpPr/>
            <p:nvPr/>
          </p:nvSpPr>
          <p:spPr>
            <a:xfrm>
              <a:off x="5074920" y="30358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leve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7" name="Forma 46"/>
            <p:cNvSpPr/>
            <p:nvPr/>
          </p:nvSpPr>
          <p:spPr>
            <a:xfrm>
              <a:off x="5074920" y="34930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 o leve 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8" name="Forma 47"/>
            <p:cNvSpPr/>
            <p:nvPr/>
          </p:nvSpPr>
          <p:spPr>
            <a:xfrm>
              <a:off x="5074920" y="39502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 muy elevada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49" name="Forma 48"/>
            <p:cNvSpPr/>
            <p:nvPr/>
          </p:nvSpPr>
          <p:spPr>
            <a:xfrm>
              <a:off x="5074920" y="44074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↑↑ muy elevada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0" name="Forma 49"/>
            <p:cNvSpPr/>
            <p:nvPr/>
          </p:nvSpPr>
          <p:spPr>
            <a:xfrm>
              <a:off x="5074920" y="48646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1" name="Forma 50"/>
            <p:cNvSpPr/>
            <p:nvPr/>
          </p:nvSpPr>
          <p:spPr>
            <a:xfrm>
              <a:off x="5074920" y="53218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2" name="Forma 51"/>
            <p:cNvSpPr/>
            <p:nvPr/>
          </p:nvSpPr>
          <p:spPr>
            <a:xfrm>
              <a:off x="5074920" y="5779008"/>
              <a:ext cx="1508760" cy="457200"/>
            </a:xfrm>
            <a:prstGeom prst="rect">
              <a:avLst/>
            </a:prstGeom>
            <a:solidFill>
              <a:srgbClr val="FFF2CC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53" name="Columna dif ITU (ref.)"/>
          <p:cNvGrpSpPr/>
          <p:nvPr/>
        </p:nvGrpSpPr>
        <p:grpSpPr>
          <a:xfrm>
            <a:off x="6583680" y="1097280"/>
            <a:ext cx="1234440" cy="5138928"/>
            <a:chOff x="6583680" y="1097280"/>
            <a:chExt cx="1234440" cy="5138928"/>
          </a:xfrm>
        </p:grpSpPr>
        <p:sp>
          <p:nvSpPr>
            <p:cNvPr id="54" name="Forma 53"/>
            <p:cNvSpPr/>
            <p:nvPr/>
          </p:nvSpPr>
          <p:spPr>
            <a:xfrm>
              <a:off x="6583680" y="1097280"/>
              <a:ext cx="1234440" cy="566928"/>
            </a:xfrm>
            <a:prstGeom prst="rect">
              <a:avLst/>
            </a:prstGeom>
            <a:solidFill>
              <a:srgbClr val="1F3864"/>
            </a:solidFill>
            <a:ln w="15875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ITU (ref.)</a:t>
              </a:r>
              <a:endParaRPr lang="es-AR" sz="1250" dirty="0">
                <a:latin typeface="Calibri"/>
              </a:endParaRPr>
            </a:p>
          </p:txBody>
        </p:sp>
        <p:sp>
          <p:nvSpPr>
            <p:cNvPr id="55" name="Forma 54"/>
            <p:cNvSpPr/>
            <p:nvPr/>
          </p:nvSpPr>
          <p:spPr>
            <a:xfrm>
              <a:off x="6583680" y="16642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↑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6" name="Forma 55"/>
            <p:cNvSpPr/>
            <p:nvPr/>
          </p:nvSpPr>
          <p:spPr>
            <a:xfrm>
              <a:off x="6583680" y="21214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7" name="Forma 56"/>
            <p:cNvSpPr/>
            <p:nvPr/>
          </p:nvSpPr>
          <p:spPr>
            <a:xfrm>
              <a:off x="6583680" y="25786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8" name="Forma 57"/>
            <p:cNvSpPr/>
            <p:nvPr/>
          </p:nvSpPr>
          <p:spPr>
            <a:xfrm>
              <a:off x="6583680" y="30358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9" name="Forma 58"/>
            <p:cNvSpPr/>
            <p:nvPr/>
          </p:nvSpPr>
          <p:spPr>
            <a:xfrm>
              <a:off x="6583680" y="34930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60" name="Forma 59"/>
            <p:cNvSpPr/>
            <p:nvPr/>
          </p:nvSpPr>
          <p:spPr>
            <a:xfrm>
              <a:off x="6583680" y="39502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61" name="Forma 60"/>
            <p:cNvSpPr/>
            <p:nvPr/>
          </p:nvSpPr>
          <p:spPr>
            <a:xfrm>
              <a:off x="6583680" y="44074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62" name="Forma 61"/>
            <p:cNvSpPr/>
            <p:nvPr/>
          </p:nvSpPr>
          <p:spPr>
            <a:xfrm>
              <a:off x="6583680" y="48646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63" name="Forma 62"/>
            <p:cNvSpPr/>
            <p:nvPr/>
          </p:nvSpPr>
          <p:spPr>
            <a:xfrm>
              <a:off x="6583680" y="53218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64" name="Forma 63"/>
            <p:cNvSpPr/>
            <p:nvPr/>
          </p:nvSpPr>
          <p:spPr>
            <a:xfrm>
              <a:off x="6583680" y="5779008"/>
              <a:ext cx="1234440" cy="457200"/>
            </a:xfrm>
            <a:prstGeom prst="rect">
              <a:avLst/>
            </a:prstGeom>
            <a:solidFill>
              <a:srgbClr val="D8E6F2"/>
            </a:solidFill>
            <a:ln w="12700" cap="rnd">
              <a:solidFill>
                <a:srgbClr val="1E1E1E"/>
              </a:solidFill>
              <a:round/>
            </a:ln>
          </p:spPr>
          <p:txBody>
            <a:bodyPr wrap="square" lIns="45720" tIns="0" rIns="45720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</a:t>
              </a:r>
              <a:endParaRPr lang="es-AR" sz="1200" dirty="0">
                <a:latin typeface="Calibri"/>
              </a:endParaRPr>
            </a:p>
          </p:txBody>
        </p:sp>
      </p:grpSp>
      <p:grpSp>
        <p:nvGrpSpPr>
          <p:cNvPr id="65" name="Rigor colecistitis"/>
          <p:cNvGrpSpPr/>
          <p:nvPr/>
        </p:nvGrpSpPr>
        <p:grpSpPr>
          <a:xfrm>
            <a:off x="8549640" y="1097280"/>
            <a:ext cx="3383280" cy="3108960"/>
            <a:chOff x="8549640" y="1097280"/>
            <a:chExt cx="3383280" cy="3108960"/>
          </a:xfrm>
        </p:grpSpPr>
        <p:sp>
          <p:nvSpPr>
            <p:cNvPr id="66" name="Forma 65"/>
            <p:cNvSpPr/>
            <p:nvPr/>
          </p:nvSpPr>
          <p:spPr>
            <a:xfrm>
              <a:off x="8549640" y="1298448"/>
              <a:ext cx="3383280" cy="2907792"/>
            </a:xfrm>
            <a:prstGeom prst="roundRect">
              <a:avLst>
                <a:gd name="adj" fmla="val 9000"/>
              </a:avLst>
            </a:prstGeom>
            <a:solidFill>
              <a:srgbClr val="EAF2F8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137160" tIns="274320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 la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colecistitis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aguda la obstrucción suele estar en el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cístico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: bilirrubina, FAL y GGT a menudo son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normales o poco elevadas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; elevaciones marcadas sugieren compromiso del </a:t>
              </a: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colédoco</a:t>
              </a: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(coledocolitiasis).</a:t>
              </a:r>
              <a:endParaRPr lang="es-AR" sz="1600" dirty="0">
                <a:latin typeface="Calibri"/>
              </a:endParaRPr>
            </a:p>
          </p:txBody>
        </p:sp>
        <p:sp>
          <p:nvSpPr>
            <p:cNvPr id="67" name="Forma 66"/>
            <p:cNvSpPr/>
            <p:nvPr/>
          </p:nvSpPr>
          <p:spPr>
            <a:xfrm>
              <a:off x="8677656" y="1097280"/>
              <a:ext cx="1545238" cy="384048"/>
            </a:xfrm>
            <a:prstGeom prst="rect">
              <a:avLst/>
            </a:prstGeom>
            <a:solidFill>
              <a:srgbClr val="5B7DB1"/>
            </a:solidFill>
            <a:ln w="19050" cap="rnd">
              <a:solidFill>
                <a:srgbClr val="1E1E1E"/>
              </a:solidFill>
              <a:round/>
            </a:ln>
          </p:spPr>
          <p:txBody>
            <a:bodyPr wrap="square" lIns="36576" tIns="0" rIns="36576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4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NOTA DE RIGOR</a:t>
              </a:r>
              <a:endParaRPr lang="es-AR" sz="1400" dirty="0">
                <a:latin typeface="Calibri"/>
              </a:endParaRPr>
            </a:p>
          </p:txBody>
        </p:sp>
      </p:grpSp>
      <p:sp>
        <p:nvSpPr>
          <p:cNvPr id="68" name="Mensaje dif"/>
          <p:cNvSpPr/>
          <p:nvPr/>
        </p:nvSpPr>
        <p:spPr>
          <a:xfrm>
            <a:off x="8549640" y="4434840"/>
            <a:ext cx="3383280" cy="2011680"/>
          </a:xfrm>
          <a:prstGeom prst="roundRect">
            <a:avLst>
              <a:gd name="adj" fmla="val 9000"/>
            </a:avLst>
          </a:prstGeom>
          <a:solidFill>
            <a:srgbClr val="FFCC4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alta → hepatitis ·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amilasa + lipasa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altas → pancreatitis · </a:t>
            </a:r>
            <a:r>
              <a:rPr lang="es-AR" sz="17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FAL + GGT</a:t>
            </a:r>
            <a:r>
              <a:rPr lang="es-AR" sz="17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altas → colestasis/vesícula.</a:t>
            </a:r>
            <a:endParaRPr lang="es-AR" sz="17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DIAGNÓSTICO DIFERENCIAL: LA TABLA MAESTRA</a:t>
            </a:r>
            <a:endParaRPr lang="es-AR" sz="1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6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265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5" name="!!Higado"/>
          <p:cNvGrpSpPr/>
          <p:nvPr/>
        </p:nvGrpSpPr>
        <p:grpSpPr>
          <a:xfrm>
            <a:off x="274320" y="1005840"/>
            <a:ext cx="5190134" cy="3668387"/>
            <a:chOff x="274320" y="1005840"/>
            <a:chExt cx="5190134" cy="3668387"/>
          </a:xfrm>
        </p:grpSpPr>
        <p:sp>
          <p:nvSpPr>
            <p:cNvPr id="6" name="Vesícula biliar"/>
            <p:cNvSpPr/>
            <p:nvPr/>
          </p:nvSpPr>
          <p:spPr>
            <a:xfrm>
              <a:off x="1675656" y="3515789"/>
              <a:ext cx="674717" cy="115843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0"/>
                  </a:moveTo>
                  <a:cubicBezTo>
                    <a:pt x="438" y="-106"/>
                    <a:pt x="866" y="-73"/>
                    <a:pt x="950" y="60"/>
                  </a:cubicBezTo>
                  <a:cubicBezTo>
                    <a:pt x="1033" y="193"/>
                    <a:pt x="883" y="643"/>
                    <a:pt x="800" y="800"/>
                  </a:cubicBezTo>
                  <a:cubicBezTo>
                    <a:pt x="716" y="956"/>
                    <a:pt x="563" y="1016"/>
                    <a:pt x="450" y="1000"/>
                  </a:cubicBezTo>
                  <a:cubicBezTo>
                    <a:pt x="336" y="983"/>
                    <a:pt x="145" y="866"/>
                    <a:pt x="120" y="700"/>
                  </a:cubicBezTo>
                  <a:cubicBezTo>
                    <a:pt x="95" y="533"/>
                    <a:pt x="161" y="106"/>
                    <a:pt x="3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AD099"/>
                </a:gs>
                <a:gs pos="55000">
                  <a:srgbClr val="8DB255"/>
                </a:gs>
                <a:gs pos="100000">
                  <a:srgbClr val="627C3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4E6B22"/>
              </a:solidFill>
              <a:round/>
            </a:ln>
          </p:spPr>
        </p:sp>
        <p:sp>
          <p:nvSpPr>
            <p:cNvPr id="7" name="Forma 6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>
                  <a:moveTo>
                    <a:pt x="40" y="250"/>
                  </a:moveTo>
                  <a:cubicBezTo>
                    <a:pt x="50" y="205"/>
                    <a:pt x="76" y="143"/>
                    <a:pt x="120" y="110"/>
                  </a:cubicBezTo>
                  <a:cubicBezTo>
                    <a:pt x="163" y="76"/>
                    <a:pt x="233" y="59"/>
                    <a:pt x="300" y="50"/>
                  </a:cubicBezTo>
                  <a:cubicBezTo>
                    <a:pt x="366" y="40"/>
                    <a:pt x="450" y="50"/>
                    <a:pt x="520" y="55"/>
                  </a:cubicBezTo>
                  <a:cubicBezTo>
                    <a:pt x="590" y="59"/>
                    <a:pt x="656" y="64"/>
                    <a:pt x="720" y="75"/>
                  </a:cubicBezTo>
                  <a:cubicBezTo>
                    <a:pt x="783" y="85"/>
                    <a:pt x="857" y="100"/>
                    <a:pt x="900" y="120"/>
                  </a:cubicBezTo>
                  <a:cubicBezTo>
                    <a:pt x="942" y="139"/>
                    <a:pt x="968" y="168"/>
                    <a:pt x="975" y="190"/>
                  </a:cubicBezTo>
                  <a:cubicBezTo>
                    <a:pt x="981" y="211"/>
                    <a:pt x="965" y="231"/>
                    <a:pt x="940" y="250"/>
                  </a:cubicBezTo>
                  <a:cubicBezTo>
                    <a:pt x="914" y="268"/>
                    <a:pt x="861" y="280"/>
                    <a:pt x="820" y="300"/>
                  </a:cubicBezTo>
                  <a:cubicBezTo>
                    <a:pt x="778" y="320"/>
                    <a:pt x="733" y="341"/>
                    <a:pt x="690" y="370"/>
                  </a:cubicBezTo>
                  <a:cubicBezTo>
                    <a:pt x="646" y="398"/>
                    <a:pt x="601" y="436"/>
                    <a:pt x="560" y="470"/>
                  </a:cubicBezTo>
                  <a:cubicBezTo>
                    <a:pt x="518" y="503"/>
                    <a:pt x="478" y="546"/>
                    <a:pt x="440" y="570"/>
                  </a:cubicBezTo>
                  <a:cubicBezTo>
                    <a:pt x="401" y="593"/>
                    <a:pt x="365" y="608"/>
                    <a:pt x="330" y="610"/>
                  </a:cubicBezTo>
                  <a:cubicBezTo>
                    <a:pt x="295" y="611"/>
                    <a:pt x="261" y="601"/>
                    <a:pt x="230" y="580"/>
                  </a:cubicBezTo>
                  <a:cubicBezTo>
                    <a:pt x="198" y="558"/>
                    <a:pt x="168" y="513"/>
                    <a:pt x="140" y="480"/>
                  </a:cubicBezTo>
                  <a:cubicBezTo>
                    <a:pt x="111" y="446"/>
                    <a:pt x="76" y="418"/>
                    <a:pt x="60" y="380"/>
                  </a:cubicBezTo>
                  <a:cubicBezTo>
                    <a:pt x="43" y="341"/>
                    <a:pt x="30" y="295"/>
                    <a:pt x="40" y="25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948C"/>
                </a:gs>
                <a:gs pos="55000">
                  <a:srgbClr val="B5473A"/>
                </a:gs>
                <a:gs pos="100000">
                  <a:srgbClr val="7E3128"/>
                </a:gs>
              </a:gsLst>
              <a:path path="circle">
                <a:fillToRect l="30000" t="25000" r="70000" b="75000"/>
              </a:path>
            </a:gradFill>
            <a:ln w="25400" cap="rnd">
              <a:solidFill>
                <a:srgbClr val="511F1A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8" name="Forma 7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560" y="70"/>
                  </a:moveTo>
                  <a:cubicBezTo>
                    <a:pt x="545" y="180"/>
                    <a:pt x="530" y="280"/>
                    <a:pt x="520" y="400"/>
                  </a:cubicBezTo>
                </a:path>
              </a:pathLst>
            </a:custGeom>
            <a:noFill/>
            <a:ln w="22225" cap="rnd">
              <a:solidFill>
                <a:srgbClr val="6C2A22"/>
              </a:solidFill>
              <a:round/>
            </a:ln>
          </p:spPr>
        </p:sp>
        <p:sp>
          <p:nvSpPr>
            <p:cNvPr id="9" name="Forma 8"/>
            <p:cNvSpPr/>
            <p:nvPr/>
          </p:nvSpPr>
          <p:spPr>
            <a:xfrm>
              <a:off x="274320" y="1005840"/>
              <a:ext cx="5190134" cy="3217883"/>
            </a:xfrm>
            <a:custGeom>
              <a:avLst/>
              <a:gdLst/>
              <a:ahLst/>
              <a:cxnLst/>
              <a:rect l="0" t="0" r="r" b="b"/>
              <a:pathLst>
                <a:path w="1000" h="620" fill="none">
                  <a:moveTo>
                    <a:pt x="200" y="200"/>
                  </a:moveTo>
                  <a:cubicBezTo>
                    <a:pt x="260" y="160"/>
                    <a:pt x="330" y="150"/>
                    <a:pt x="400" y="170"/>
                  </a:cubicBezTo>
                </a:path>
                <a:path w="1000" h="620" fill="none">
                  <a:moveTo>
                    <a:pt x="640" y="160"/>
                  </a:moveTo>
                  <a:cubicBezTo>
                    <a:pt x="700" y="150"/>
                    <a:pt x="760" y="160"/>
                    <a:pt x="820" y="190"/>
                  </a:cubicBezTo>
                </a:path>
              </a:pathLst>
            </a:custGeom>
            <a:noFill/>
            <a:ln w="31750" cap="rnd">
              <a:solidFill>
                <a:srgbClr val="CE877E"/>
              </a:solidFill>
              <a:round/>
            </a:ln>
          </p:spPr>
        </p:sp>
      </p:grpSp>
      <p:sp>
        <p:nvSpPr>
          <p:cNvPr id="10" name="!!Duodeno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381000" cap="rnd">
            <a:solidFill>
              <a:srgbClr val="922B21"/>
            </a:solidFill>
            <a:round/>
          </a:ln>
        </p:spPr>
      </p:sp>
      <p:sp>
        <p:nvSpPr>
          <p:cNvPr id="11" name="!!Duodeno luz"/>
          <p:cNvSpPr/>
          <p:nvPr/>
        </p:nvSpPr>
        <p:spPr>
          <a:xfrm>
            <a:off x="3105302" y="4027018"/>
            <a:ext cx="2830982" cy="215798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330" y="0"/>
                </a:moveTo>
                <a:cubicBezTo>
                  <a:pt x="260" y="300"/>
                  <a:pt x="280" y="700"/>
                  <a:pt x="520" y="860"/>
                </a:cubicBezTo>
                <a:cubicBezTo>
                  <a:pt x="700" y="980"/>
                  <a:pt x="930" y="900"/>
                  <a:pt x="990" y="640"/>
                </a:cubicBezTo>
              </a:path>
            </a:pathLst>
          </a:custGeom>
          <a:noFill/>
          <a:ln w="292100" cap="rnd">
            <a:solidFill>
              <a:srgbClr val="F1948A"/>
            </a:solidFill>
            <a:round/>
          </a:ln>
        </p:spPr>
      </p:sp>
      <p:grpSp>
        <p:nvGrpSpPr>
          <p:cNvPr id="12" name="!!Pancreas"/>
          <p:cNvGrpSpPr/>
          <p:nvPr/>
        </p:nvGrpSpPr>
        <p:grpSpPr>
          <a:xfrm>
            <a:off x="3970325" y="3865169"/>
            <a:ext cx="4089197" cy="1717463"/>
            <a:chOff x="3970325" y="3865169"/>
            <a:chExt cx="4089197" cy="1717463"/>
          </a:xfrm>
        </p:grpSpPr>
        <p:sp>
          <p:nvSpPr>
            <p:cNvPr id="13" name="Forma 12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4" name="Forma 13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15" name="Islotes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16" name="Forma 15"/>
            <p:cNvSpPr/>
            <p:nvPr/>
          </p:nvSpPr>
          <p:spPr>
            <a:xfrm>
              <a:off x="3970325" y="3865169"/>
              <a:ext cx="4089197" cy="17174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sp>
        <p:nvSpPr>
          <p:cNvPr id="17" name="!!Vesicula"/>
          <p:cNvSpPr/>
          <p:nvPr/>
        </p:nvSpPr>
        <p:spPr>
          <a:xfrm>
            <a:off x="1532534" y="3325673"/>
            <a:ext cx="943661" cy="118689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0" y="0"/>
                </a:moveTo>
                <a:cubicBezTo>
                  <a:pt x="420" y="-53"/>
                  <a:pt x="691" y="-20"/>
                  <a:pt x="800" y="80"/>
                </a:cubicBezTo>
                <a:cubicBezTo>
                  <a:pt x="908" y="180"/>
                  <a:pt x="983" y="446"/>
                  <a:pt x="950" y="600"/>
                </a:cubicBezTo>
                <a:cubicBezTo>
                  <a:pt x="916" y="753"/>
                  <a:pt x="725" y="950"/>
                  <a:pt x="600" y="1000"/>
                </a:cubicBezTo>
                <a:cubicBezTo>
                  <a:pt x="475" y="1050"/>
                  <a:pt x="286" y="1000"/>
                  <a:pt x="200" y="900"/>
                </a:cubicBezTo>
                <a:cubicBezTo>
                  <a:pt x="113" y="800"/>
                  <a:pt x="63" y="550"/>
                  <a:pt x="80" y="400"/>
                </a:cubicBezTo>
                <a:cubicBezTo>
                  <a:pt x="96" y="250"/>
                  <a:pt x="180" y="53"/>
                  <a:pt x="300" y="0"/>
                </a:cubicBezTo>
                <a:close/>
              </a:path>
            </a:pathLst>
          </a:custGeom>
          <a:gradFill rotWithShape="1">
            <a:gsLst>
              <a:gs pos="0">
                <a:srgbClr val="BAD099"/>
              </a:gs>
              <a:gs pos="55000">
                <a:srgbClr val="8DB255"/>
              </a:gs>
              <a:gs pos="100000">
                <a:srgbClr val="627C3B"/>
              </a:gs>
            </a:gsLst>
            <a:path path="circle">
              <a:fillToRect l="32000" t="28000" r="68000" b="72000"/>
            </a:path>
          </a:gradFill>
          <a:ln w="19050" cap="rnd">
            <a:solidFill>
              <a:srgbClr val="4E6B22"/>
            </a:solidFill>
            <a:round/>
          </a:ln>
        </p:spPr>
      </p:sp>
      <p:sp>
        <p:nvSpPr>
          <p:cNvPr id="18" name="!!Conductos hepaticos"/>
          <p:cNvSpPr/>
          <p:nvPr/>
        </p:nvSpPr>
        <p:spPr>
          <a:xfrm>
            <a:off x="3262579" y="2948026"/>
            <a:ext cx="471830" cy="701345"/>
          </a:xfrm>
          <a:custGeom>
            <a:avLst/>
            <a:gdLst/>
            <a:ahLst/>
            <a:cxnLst/>
            <a:rect l="0" t="0" r="r" b="b"/>
            <a:pathLst>
              <a:path w="516" h="766" fill="none">
                <a:moveTo>
                  <a:pt x="0" y="0"/>
                </a:moveTo>
                <a:quadBezTo>
                  <a:pt x="258" y="354"/>
                  <a:pt x="516" y="766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19" name="!!Conducto cistico"/>
          <p:cNvSpPr/>
          <p:nvPr/>
        </p:nvSpPr>
        <p:spPr>
          <a:xfrm>
            <a:off x="2397557" y="3703320"/>
            <a:ext cx="1336853" cy="107899"/>
          </a:xfrm>
          <a:custGeom>
            <a:avLst/>
            <a:gdLst/>
            <a:ahLst/>
            <a:cxnLst/>
            <a:rect l="0" t="0" r="r" b="b"/>
            <a:pathLst>
              <a:path w="1461" h="117" fill="none">
                <a:moveTo>
                  <a:pt x="0" y="117"/>
                </a:moveTo>
                <a:quadBezTo>
                  <a:pt x="774" y="117"/>
                  <a:pt x="1461" y="0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0" name="!!Coledoco"/>
          <p:cNvSpPr/>
          <p:nvPr/>
        </p:nvSpPr>
        <p:spPr>
          <a:xfrm>
            <a:off x="3734410" y="3649370"/>
            <a:ext cx="235915" cy="1618488"/>
          </a:xfrm>
          <a:custGeom>
            <a:avLst/>
            <a:gdLst/>
            <a:ahLst/>
            <a:cxnLst/>
            <a:rect l="0" t="0" r="r" b="b"/>
            <a:pathLst>
              <a:path w="258" h="1769" fill="none">
                <a:moveTo>
                  <a:pt x="0" y="0"/>
                </a:moveTo>
                <a:quadBezTo>
                  <a:pt x="86" y="884"/>
                  <a:pt x="258" y="1769"/>
                </a:quadBezTo>
              </a:path>
            </a:pathLst>
          </a:custGeom>
          <a:noFill/>
          <a:ln w="76200" cap="rnd">
            <a:solidFill>
              <a:srgbClr val="1E8449"/>
            </a:solidFill>
            <a:round/>
          </a:ln>
        </p:spPr>
      </p:sp>
      <p:sp>
        <p:nvSpPr>
          <p:cNvPr id="21" name="!!Conducto pancreatico"/>
          <p:cNvSpPr/>
          <p:nvPr/>
        </p:nvSpPr>
        <p:spPr>
          <a:xfrm>
            <a:off x="4127602" y="4296766"/>
            <a:ext cx="3617366" cy="998068"/>
          </a:xfrm>
          <a:custGeom>
            <a:avLst/>
            <a:gdLst/>
            <a:ahLst/>
            <a:cxnLst/>
            <a:rect l="0" t="0" r="r" b="b"/>
            <a:pathLst>
              <a:path w="3956" h="1091" fill="none">
                <a:moveTo>
                  <a:pt x="3956" y="0"/>
                </a:moveTo>
                <a:quadBezTo>
                  <a:pt x="1805" y="531"/>
                  <a:pt x="0" y="1091"/>
                </a:quadBezTo>
              </a:path>
            </a:pathLst>
          </a:custGeom>
          <a:noFill/>
          <a:ln w="63500" cap="rnd">
            <a:solidFill>
              <a:srgbClr val="B7950B"/>
            </a:solidFill>
            <a:round/>
          </a:ln>
        </p:spPr>
      </p:sp>
      <p:sp>
        <p:nvSpPr>
          <p:cNvPr id="22" name="!!Ampolla de Vater"/>
          <p:cNvSpPr/>
          <p:nvPr/>
        </p:nvSpPr>
        <p:spPr>
          <a:xfrm>
            <a:off x="3773729" y="5125212"/>
            <a:ext cx="393192" cy="393192"/>
          </a:xfrm>
          <a:prstGeom prst="ellipse">
            <a:avLst/>
          </a:prstGeom>
          <a:solidFill>
            <a:srgbClr val="F4D03F"/>
          </a:solidFill>
          <a:ln w="15875" cap="rnd">
            <a:solidFill>
              <a:srgbClr val="7D6608"/>
            </a:solidFill>
            <a:round/>
          </a:ln>
        </p:spPr>
      </p:sp>
      <p:sp>
        <p:nvSpPr>
          <p:cNvPr id="23" name="Sitio 1"/>
          <p:cNvSpPr/>
          <p:nvPr/>
        </p:nvSpPr>
        <p:spPr>
          <a:xfrm>
            <a:off x="2894990" y="3600907"/>
            <a:ext cx="420624" cy="420624"/>
          </a:xfrm>
          <a:prstGeom prst="ellipse">
            <a:avLst/>
          </a:prstGeom>
          <a:solidFill>
            <a:srgbClr val="C00000"/>
          </a:solidFill>
          <a:ln w="22225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es-AR" sz="1500" dirty="0">
              <a:latin typeface="Calibri"/>
            </a:endParaRPr>
          </a:p>
        </p:txBody>
      </p:sp>
      <p:sp>
        <p:nvSpPr>
          <p:cNvPr id="24" name="Perfil sitio 1"/>
          <p:cNvSpPr/>
          <p:nvPr/>
        </p:nvSpPr>
        <p:spPr>
          <a:xfrm>
            <a:off x="8549640" y="1097280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EAF5EA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Conducto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cístico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FAL y GGT muy elevadas + bilirrubina elevada; GOT/GPT y amilasa normales al inicio →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colecistitis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450" dirty="0">
              <a:latin typeface="Calibri"/>
            </a:endParaRPr>
          </a:p>
        </p:txBody>
      </p:sp>
      <p:sp>
        <p:nvSpPr>
          <p:cNvPr id="25" name="Sitio 2"/>
          <p:cNvSpPr/>
          <p:nvPr/>
        </p:nvSpPr>
        <p:spPr>
          <a:xfrm>
            <a:off x="3327502" y="3169310"/>
            <a:ext cx="420624" cy="420624"/>
          </a:xfrm>
          <a:prstGeom prst="ellipse">
            <a:avLst/>
          </a:prstGeom>
          <a:solidFill>
            <a:srgbClr val="C00000"/>
          </a:solidFill>
          <a:ln w="22225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s-AR" sz="1500" dirty="0">
              <a:latin typeface="Calibri"/>
            </a:endParaRPr>
          </a:p>
        </p:txBody>
      </p:sp>
      <p:sp>
        <p:nvSpPr>
          <p:cNvPr id="26" name="Perfil sitio 2"/>
          <p:cNvSpPr/>
          <p:nvPr/>
        </p:nvSpPr>
        <p:spPr>
          <a:xfrm>
            <a:off x="8549640" y="2441448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FFF2CC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Conducto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hepático común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bilirrubina muy elevada + ictericia + coluria + acolia; FAL/GGT elevadas.</a:t>
            </a:r>
            <a:endParaRPr lang="es-AR" sz="1450" dirty="0">
              <a:latin typeface="Calibri"/>
            </a:endParaRPr>
          </a:p>
        </p:txBody>
      </p:sp>
      <p:sp>
        <p:nvSpPr>
          <p:cNvPr id="27" name="Sitio 3"/>
          <p:cNvSpPr/>
          <p:nvPr/>
        </p:nvSpPr>
        <p:spPr>
          <a:xfrm>
            <a:off x="5725973" y="4410151"/>
            <a:ext cx="420624" cy="420624"/>
          </a:xfrm>
          <a:prstGeom prst="ellipse">
            <a:avLst/>
          </a:prstGeom>
          <a:solidFill>
            <a:srgbClr val="C00000"/>
          </a:solidFill>
          <a:ln w="22225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s-AR" sz="1500" dirty="0">
              <a:latin typeface="Calibri"/>
            </a:endParaRPr>
          </a:p>
        </p:txBody>
      </p:sp>
      <p:sp>
        <p:nvSpPr>
          <p:cNvPr id="28" name="Perfil sitio 3"/>
          <p:cNvSpPr/>
          <p:nvPr/>
        </p:nvSpPr>
        <p:spPr>
          <a:xfrm>
            <a:off x="8549640" y="3785616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FDEBD0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Conducto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pancreático principal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: amilasa y lipasa muy elevadas; bilirrubina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pancreatitis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450" dirty="0">
              <a:latin typeface="Calibri"/>
            </a:endParaRPr>
          </a:p>
        </p:txBody>
      </p:sp>
      <p:sp>
        <p:nvSpPr>
          <p:cNvPr id="29" name="Sitio 4"/>
          <p:cNvSpPr/>
          <p:nvPr/>
        </p:nvSpPr>
        <p:spPr>
          <a:xfrm>
            <a:off x="3760013" y="5111496"/>
            <a:ext cx="420624" cy="420624"/>
          </a:xfrm>
          <a:prstGeom prst="ellipse">
            <a:avLst/>
          </a:prstGeom>
          <a:solidFill>
            <a:srgbClr val="C00000"/>
          </a:solidFill>
          <a:ln w="22225" cap="rnd">
            <a:solidFill>
              <a:srgbClr val="1E1E1E"/>
            </a:solidFill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lang="es-AR" sz="1500" dirty="0">
              <a:latin typeface="Calibri"/>
            </a:endParaRPr>
          </a:p>
        </p:txBody>
      </p:sp>
      <p:sp>
        <p:nvSpPr>
          <p:cNvPr id="30" name="Perfil sitio 4"/>
          <p:cNvSpPr/>
          <p:nvPr/>
        </p:nvSpPr>
        <p:spPr>
          <a:xfrm>
            <a:off x="8549640" y="5129784"/>
            <a:ext cx="3383280" cy="1234440"/>
          </a:xfrm>
          <a:prstGeom prst="roundRect">
            <a:avLst>
              <a:gd name="adj" fmla="val 9000"/>
            </a:avLst>
          </a:prstGeom>
          <a:solidFill>
            <a:srgbClr val="FDE4E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Ampolla de Vater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/ conducto común: elevación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simultánea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de amilasa/lipasa + bilirrubina + transaminasas moderadas → patrón </a:t>
            </a:r>
            <a:r>
              <a:rPr lang="es-AR" sz="14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mixto</a:t>
            </a:r>
            <a:r>
              <a:rPr lang="es-AR" sz="14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1450" dirty="0">
              <a:latin typeface="Calibri"/>
            </a:endParaRPr>
          </a:p>
        </p:txBody>
      </p:sp>
      <p:sp>
        <p:nvSpPr>
          <p:cNvPr id="3" name="Título"/>
          <p:cNvSpPr txBox="1"/>
          <p:nvPr/>
        </p:nvSpPr>
        <p:spPr>
          <a:xfrm>
            <a:off x="365760" y="109728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8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LOCALIZACIÓN DE LA OBSTRUCCIÓN SEGÚN EL PERFIL ENZIMÁTICO</a:t>
            </a:r>
            <a:endParaRPr lang="es-AR" sz="18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1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266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F2C2A8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E67830"/>
          </a:solidFill>
          <a:ln>
            <a:noFill/>
          </a:ln>
        </p:spPr>
      </p:sp>
      <p:grpSp>
        <p:nvGrpSpPr>
          <p:cNvPr id="6" name="Integración E 1"/>
          <p:cNvGrpSpPr/>
          <p:nvPr/>
        </p:nvGrpSpPr>
        <p:grpSpPr>
          <a:xfrm>
            <a:off x="365760" y="1463040"/>
            <a:ext cx="2313432" cy="3657600"/>
            <a:chOff x="365760" y="1463040"/>
            <a:chExt cx="2313432" cy="3657600"/>
          </a:xfrm>
        </p:grpSpPr>
        <p:grpSp>
          <p:nvGrpSpPr>
            <p:cNvPr id="7" name="p"/>
            <p:cNvGrpSpPr/>
            <p:nvPr/>
          </p:nvGrpSpPr>
          <p:grpSpPr>
            <a:xfrm>
              <a:off x="411480" y="1463040"/>
              <a:ext cx="2011680" cy="844906"/>
              <a:chOff x="411480" y="1463040"/>
              <a:chExt cx="2011680" cy="844906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411480" y="1463040"/>
                <a:ext cx="2011680" cy="8449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30" y="300"/>
                    </a:moveTo>
                    <a:cubicBezTo>
                      <a:pt x="20" y="271"/>
                      <a:pt x="40" y="238"/>
                      <a:pt x="60" y="220"/>
                    </a:cubicBezTo>
                    <a:cubicBezTo>
                      <a:pt x="80" y="201"/>
                      <a:pt x="118" y="188"/>
                      <a:pt x="150" y="190"/>
                    </a:cubicBezTo>
                    <a:cubicBezTo>
                      <a:pt x="181" y="191"/>
                      <a:pt x="215" y="220"/>
                      <a:pt x="250" y="230"/>
                    </a:cubicBezTo>
                    <a:cubicBezTo>
                      <a:pt x="285" y="240"/>
                      <a:pt x="321" y="255"/>
                      <a:pt x="360" y="250"/>
                    </a:cubicBezTo>
                    <a:cubicBezTo>
                      <a:pt x="398" y="245"/>
                      <a:pt x="440" y="213"/>
                      <a:pt x="480" y="200"/>
                    </a:cubicBezTo>
                    <a:cubicBezTo>
                      <a:pt x="520" y="186"/>
                      <a:pt x="556" y="180"/>
                      <a:pt x="600" y="170"/>
                    </a:cubicBezTo>
                    <a:cubicBezTo>
                      <a:pt x="643" y="160"/>
                      <a:pt x="693" y="148"/>
                      <a:pt x="740" y="140"/>
                    </a:cubicBezTo>
                    <a:cubicBezTo>
                      <a:pt x="786" y="131"/>
                      <a:pt x="841" y="118"/>
                      <a:pt x="880" y="120"/>
                    </a:cubicBezTo>
                    <a:cubicBezTo>
                      <a:pt x="918" y="121"/>
                      <a:pt x="956" y="133"/>
                      <a:pt x="970" y="150"/>
                    </a:cubicBezTo>
                    <a:cubicBezTo>
                      <a:pt x="983" y="166"/>
                      <a:pt x="978" y="203"/>
                      <a:pt x="960" y="220"/>
                    </a:cubicBezTo>
                    <a:cubicBezTo>
                      <a:pt x="941" y="236"/>
                      <a:pt x="896" y="240"/>
                      <a:pt x="860" y="250"/>
                    </a:cubicBezTo>
                    <a:cubicBezTo>
                      <a:pt x="823" y="260"/>
                      <a:pt x="780" y="268"/>
                      <a:pt x="740" y="280"/>
                    </a:cubicBezTo>
                    <a:cubicBezTo>
                      <a:pt x="700" y="291"/>
                      <a:pt x="660" y="305"/>
                      <a:pt x="620" y="320"/>
                    </a:cubicBezTo>
                    <a:cubicBezTo>
                      <a:pt x="580" y="335"/>
                      <a:pt x="540" y="356"/>
                      <a:pt x="500" y="370"/>
                    </a:cubicBezTo>
                    <a:cubicBezTo>
                      <a:pt x="460" y="383"/>
                      <a:pt x="421" y="393"/>
                      <a:pt x="380" y="400"/>
                    </a:cubicBezTo>
                    <a:cubicBezTo>
                      <a:pt x="338" y="406"/>
                      <a:pt x="293" y="411"/>
                      <a:pt x="250" y="410"/>
                    </a:cubicBezTo>
                    <a:cubicBezTo>
                      <a:pt x="206" y="408"/>
                      <a:pt x="156" y="408"/>
                      <a:pt x="120" y="390"/>
                    </a:cubicBezTo>
                    <a:cubicBezTo>
                      <a:pt x="83" y="371"/>
                      <a:pt x="40" y="328"/>
                      <a:pt x="30" y="3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5D8BE"/>
                  </a:gs>
                  <a:gs pos="55000">
                    <a:srgbClr val="EDB98A"/>
                  </a:gs>
                  <a:gs pos="100000">
                    <a:srgbClr val="B18A67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65C45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9" name="Forma 8"/>
              <p:cNvSpPr/>
              <p:nvPr/>
            </p:nvSpPr>
            <p:spPr>
              <a:xfrm>
                <a:off x="411480" y="1463040"/>
                <a:ext cx="2011680" cy="8449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295"/>
                    </a:moveTo>
                    <a:cubicBezTo>
                      <a:pt x="100" y="306"/>
                      <a:pt x="91" y="315"/>
                      <a:pt x="80" y="315"/>
                    </a:cubicBezTo>
                    <a:cubicBezTo>
                      <a:pt x="68" y="315"/>
                      <a:pt x="60" y="306"/>
                      <a:pt x="60" y="295"/>
                    </a:cubicBezTo>
                    <a:cubicBezTo>
                      <a:pt x="60" y="283"/>
                      <a:pt x="68" y="275"/>
                      <a:pt x="80" y="275"/>
                    </a:cubicBezTo>
                    <a:cubicBezTo>
                      <a:pt x="91" y="275"/>
                      <a:pt x="100" y="283"/>
                      <a:pt x="100" y="295"/>
                    </a:cubicBezTo>
                    <a:close/>
                    <a:moveTo>
                      <a:pt x="142" y="293"/>
                    </a:moveTo>
                    <a:cubicBezTo>
                      <a:pt x="142" y="308"/>
                      <a:pt x="129" y="321"/>
                      <a:pt x="114" y="321"/>
                    </a:cubicBezTo>
                    <a:cubicBezTo>
                      <a:pt x="98" y="321"/>
                      <a:pt x="86" y="308"/>
                      <a:pt x="86" y="293"/>
                    </a:cubicBezTo>
                    <a:cubicBezTo>
                      <a:pt x="86" y="277"/>
                      <a:pt x="98" y="265"/>
                      <a:pt x="114" y="265"/>
                    </a:cubicBezTo>
                    <a:cubicBezTo>
                      <a:pt x="129" y="265"/>
                      <a:pt x="142" y="277"/>
                      <a:pt x="142" y="293"/>
                    </a:cubicBezTo>
                    <a:close/>
                    <a:moveTo>
                      <a:pt x="167" y="265"/>
                    </a:moveTo>
                    <a:cubicBezTo>
                      <a:pt x="167" y="275"/>
                      <a:pt x="158" y="284"/>
                      <a:pt x="148" y="284"/>
                    </a:cubicBezTo>
                    <a:cubicBezTo>
                      <a:pt x="137" y="284"/>
                      <a:pt x="129" y="275"/>
                      <a:pt x="129" y="265"/>
                    </a:cubicBezTo>
                    <a:cubicBezTo>
                      <a:pt x="129" y="254"/>
                      <a:pt x="137" y="246"/>
                      <a:pt x="148" y="246"/>
                    </a:cubicBezTo>
                    <a:cubicBezTo>
                      <a:pt x="158" y="246"/>
                      <a:pt x="167" y="254"/>
                      <a:pt x="167" y="265"/>
                    </a:cubicBezTo>
                    <a:close/>
                    <a:moveTo>
                      <a:pt x="202" y="289"/>
                    </a:moveTo>
                    <a:cubicBezTo>
                      <a:pt x="202" y="299"/>
                      <a:pt x="193" y="308"/>
                      <a:pt x="183" y="308"/>
                    </a:cubicBezTo>
                    <a:cubicBezTo>
                      <a:pt x="172" y="308"/>
                      <a:pt x="164" y="299"/>
                      <a:pt x="164" y="289"/>
                    </a:cubicBezTo>
                    <a:cubicBezTo>
                      <a:pt x="164" y="278"/>
                      <a:pt x="172" y="270"/>
                      <a:pt x="183" y="270"/>
                    </a:cubicBezTo>
                    <a:cubicBezTo>
                      <a:pt x="193" y="270"/>
                      <a:pt x="202" y="278"/>
                      <a:pt x="202" y="289"/>
                    </a:cubicBezTo>
                    <a:close/>
                    <a:moveTo>
                      <a:pt x="244" y="272"/>
                    </a:moveTo>
                    <a:cubicBezTo>
                      <a:pt x="244" y="286"/>
                      <a:pt x="231" y="299"/>
                      <a:pt x="217" y="299"/>
                    </a:cubicBezTo>
                    <a:cubicBezTo>
                      <a:pt x="202" y="299"/>
                      <a:pt x="190" y="286"/>
                      <a:pt x="190" y="272"/>
                    </a:cubicBezTo>
                    <a:cubicBezTo>
                      <a:pt x="190" y="257"/>
                      <a:pt x="202" y="245"/>
                      <a:pt x="217" y="245"/>
                    </a:cubicBezTo>
                    <a:cubicBezTo>
                      <a:pt x="231" y="245"/>
                      <a:pt x="244" y="257"/>
                      <a:pt x="244" y="272"/>
                    </a:cubicBezTo>
                    <a:close/>
                    <a:moveTo>
                      <a:pt x="278" y="246"/>
                    </a:moveTo>
                    <a:cubicBezTo>
                      <a:pt x="278" y="260"/>
                      <a:pt x="266" y="272"/>
                      <a:pt x="252" y="272"/>
                    </a:cubicBezTo>
                    <a:cubicBezTo>
                      <a:pt x="237" y="272"/>
                      <a:pt x="226" y="260"/>
                      <a:pt x="226" y="246"/>
                    </a:cubicBezTo>
                    <a:cubicBezTo>
                      <a:pt x="226" y="231"/>
                      <a:pt x="237" y="220"/>
                      <a:pt x="252" y="220"/>
                    </a:cubicBezTo>
                    <a:cubicBezTo>
                      <a:pt x="266" y="220"/>
                      <a:pt x="278" y="231"/>
                      <a:pt x="278" y="246"/>
                    </a:cubicBezTo>
                    <a:close/>
                    <a:moveTo>
                      <a:pt x="304" y="249"/>
                    </a:moveTo>
                    <a:cubicBezTo>
                      <a:pt x="304" y="258"/>
                      <a:pt x="295" y="267"/>
                      <a:pt x="286" y="267"/>
                    </a:cubicBezTo>
                    <a:cubicBezTo>
                      <a:pt x="276" y="267"/>
                      <a:pt x="268" y="258"/>
                      <a:pt x="268" y="249"/>
                    </a:cubicBezTo>
                    <a:cubicBezTo>
                      <a:pt x="268" y="239"/>
                      <a:pt x="276" y="231"/>
                      <a:pt x="286" y="231"/>
                    </a:cubicBezTo>
                    <a:cubicBezTo>
                      <a:pt x="295" y="231"/>
                      <a:pt x="304" y="239"/>
                      <a:pt x="304" y="249"/>
                    </a:cubicBezTo>
                    <a:close/>
                    <a:moveTo>
                      <a:pt x="344" y="235"/>
                    </a:moveTo>
                    <a:cubicBezTo>
                      <a:pt x="344" y="248"/>
                      <a:pt x="333" y="259"/>
                      <a:pt x="320" y="259"/>
                    </a:cubicBezTo>
                    <a:cubicBezTo>
                      <a:pt x="306" y="259"/>
                      <a:pt x="296" y="248"/>
                      <a:pt x="296" y="235"/>
                    </a:cubicBezTo>
                    <a:cubicBezTo>
                      <a:pt x="296" y="221"/>
                      <a:pt x="306" y="211"/>
                      <a:pt x="320" y="211"/>
                    </a:cubicBezTo>
                    <a:cubicBezTo>
                      <a:pt x="333" y="211"/>
                      <a:pt x="344" y="221"/>
                      <a:pt x="344" y="235"/>
                    </a:cubicBezTo>
                    <a:close/>
                    <a:moveTo>
                      <a:pt x="374" y="249"/>
                    </a:moveTo>
                    <a:cubicBezTo>
                      <a:pt x="374" y="259"/>
                      <a:pt x="365" y="268"/>
                      <a:pt x="355" y="268"/>
                    </a:cubicBezTo>
                    <a:cubicBezTo>
                      <a:pt x="344" y="268"/>
                      <a:pt x="336" y="259"/>
                      <a:pt x="336" y="249"/>
                    </a:cubicBezTo>
                    <a:cubicBezTo>
                      <a:pt x="336" y="238"/>
                      <a:pt x="344" y="230"/>
                      <a:pt x="355" y="230"/>
                    </a:cubicBezTo>
                    <a:cubicBezTo>
                      <a:pt x="365" y="230"/>
                      <a:pt x="374" y="238"/>
                      <a:pt x="374" y="249"/>
                    </a:cubicBezTo>
                    <a:close/>
                    <a:moveTo>
                      <a:pt x="408" y="232"/>
                    </a:moveTo>
                    <a:cubicBezTo>
                      <a:pt x="408" y="242"/>
                      <a:pt x="399" y="251"/>
                      <a:pt x="389" y="251"/>
                    </a:cubicBezTo>
                    <a:cubicBezTo>
                      <a:pt x="378" y="251"/>
                      <a:pt x="370" y="242"/>
                      <a:pt x="370" y="232"/>
                    </a:cubicBezTo>
                    <a:cubicBezTo>
                      <a:pt x="370" y="221"/>
                      <a:pt x="378" y="213"/>
                      <a:pt x="389" y="213"/>
                    </a:cubicBezTo>
                    <a:cubicBezTo>
                      <a:pt x="399" y="213"/>
                      <a:pt x="408" y="221"/>
                      <a:pt x="408" y="232"/>
                    </a:cubicBezTo>
                    <a:close/>
                    <a:moveTo>
                      <a:pt x="448" y="246"/>
                    </a:moveTo>
                    <a:cubicBezTo>
                      <a:pt x="448" y="259"/>
                      <a:pt x="437" y="270"/>
                      <a:pt x="424" y="270"/>
                    </a:cubicBezTo>
                    <a:cubicBezTo>
                      <a:pt x="410" y="270"/>
                      <a:pt x="400" y="259"/>
                      <a:pt x="400" y="246"/>
                    </a:cubicBezTo>
                    <a:cubicBezTo>
                      <a:pt x="400" y="232"/>
                      <a:pt x="410" y="222"/>
                      <a:pt x="424" y="222"/>
                    </a:cubicBezTo>
                    <a:cubicBezTo>
                      <a:pt x="437" y="222"/>
                      <a:pt x="448" y="232"/>
                      <a:pt x="448" y="246"/>
                    </a:cubicBezTo>
                    <a:close/>
                    <a:moveTo>
                      <a:pt x="485" y="207"/>
                    </a:moveTo>
                    <a:cubicBezTo>
                      <a:pt x="485" y="221"/>
                      <a:pt x="472" y="234"/>
                      <a:pt x="458" y="234"/>
                    </a:cubicBezTo>
                    <a:cubicBezTo>
                      <a:pt x="443" y="234"/>
                      <a:pt x="431" y="221"/>
                      <a:pt x="431" y="207"/>
                    </a:cubicBezTo>
                    <a:cubicBezTo>
                      <a:pt x="431" y="192"/>
                      <a:pt x="443" y="180"/>
                      <a:pt x="458" y="180"/>
                    </a:cubicBezTo>
                    <a:cubicBezTo>
                      <a:pt x="472" y="180"/>
                      <a:pt x="485" y="192"/>
                      <a:pt x="485" y="207"/>
                    </a:cubicBezTo>
                    <a:close/>
                    <a:moveTo>
                      <a:pt x="513" y="205"/>
                    </a:moveTo>
                    <a:cubicBezTo>
                      <a:pt x="513" y="216"/>
                      <a:pt x="503" y="226"/>
                      <a:pt x="492" y="226"/>
                    </a:cubicBezTo>
                    <a:cubicBezTo>
                      <a:pt x="480" y="226"/>
                      <a:pt x="471" y="216"/>
                      <a:pt x="471" y="205"/>
                    </a:cubicBezTo>
                    <a:cubicBezTo>
                      <a:pt x="471" y="193"/>
                      <a:pt x="480" y="184"/>
                      <a:pt x="492" y="184"/>
                    </a:cubicBezTo>
                    <a:cubicBezTo>
                      <a:pt x="503" y="184"/>
                      <a:pt x="513" y="193"/>
                      <a:pt x="513" y="205"/>
                    </a:cubicBezTo>
                    <a:close/>
                    <a:moveTo>
                      <a:pt x="555" y="231"/>
                    </a:moveTo>
                    <a:cubicBezTo>
                      <a:pt x="555" y="246"/>
                      <a:pt x="542" y="259"/>
                      <a:pt x="527" y="259"/>
                    </a:cubicBezTo>
                    <a:cubicBezTo>
                      <a:pt x="511" y="259"/>
                      <a:pt x="499" y="246"/>
                      <a:pt x="499" y="231"/>
                    </a:cubicBezTo>
                    <a:cubicBezTo>
                      <a:pt x="499" y="215"/>
                      <a:pt x="511" y="203"/>
                      <a:pt x="527" y="203"/>
                    </a:cubicBezTo>
                    <a:cubicBezTo>
                      <a:pt x="542" y="203"/>
                      <a:pt x="555" y="215"/>
                      <a:pt x="555" y="231"/>
                    </a:cubicBezTo>
                    <a:close/>
                    <a:moveTo>
                      <a:pt x="579" y="222"/>
                    </a:moveTo>
                    <a:cubicBezTo>
                      <a:pt x="579" y="231"/>
                      <a:pt x="570" y="240"/>
                      <a:pt x="561" y="240"/>
                    </a:cubicBezTo>
                    <a:cubicBezTo>
                      <a:pt x="551" y="240"/>
                      <a:pt x="543" y="231"/>
                      <a:pt x="543" y="222"/>
                    </a:cubicBezTo>
                    <a:cubicBezTo>
                      <a:pt x="543" y="212"/>
                      <a:pt x="551" y="204"/>
                      <a:pt x="561" y="204"/>
                    </a:cubicBezTo>
                    <a:cubicBezTo>
                      <a:pt x="570" y="204"/>
                      <a:pt x="579" y="212"/>
                      <a:pt x="579" y="222"/>
                    </a:cubicBezTo>
                    <a:close/>
                    <a:moveTo>
                      <a:pt x="623" y="215"/>
                    </a:moveTo>
                    <a:cubicBezTo>
                      <a:pt x="623" y="229"/>
                      <a:pt x="610" y="242"/>
                      <a:pt x="596" y="242"/>
                    </a:cubicBezTo>
                    <a:cubicBezTo>
                      <a:pt x="581" y="242"/>
                      <a:pt x="569" y="229"/>
                      <a:pt x="569" y="215"/>
                    </a:cubicBezTo>
                    <a:cubicBezTo>
                      <a:pt x="569" y="200"/>
                      <a:pt x="581" y="188"/>
                      <a:pt x="596" y="188"/>
                    </a:cubicBezTo>
                    <a:cubicBezTo>
                      <a:pt x="610" y="188"/>
                      <a:pt x="623" y="200"/>
                      <a:pt x="623" y="215"/>
                    </a:cubicBezTo>
                    <a:close/>
                    <a:moveTo>
                      <a:pt x="648" y="197"/>
                    </a:moveTo>
                    <a:cubicBezTo>
                      <a:pt x="648" y="206"/>
                      <a:pt x="639" y="215"/>
                      <a:pt x="630" y="215"/>
                    </a:cubicBezTo>
                    <a:cubicBezTo>
                      <a:pt x="620" y="215"/>
                      <a:pt x="612" y="206"/>
                      <a:pt x="612" y="197"/>
                    </a:cubicBezTo>
                    <a:cubicBezTo>
                      <a:pt x="612" y="187"/>
                      <a:pt x="620" y="179"/>
                      <a:pt x="630" y="179"/>
                    </a:cubicBezTo>
                    <a:cubicBezTo>
                      <a:pt x="639" y="179"/>
                      <a:pt x="648" y="187"/>
                      <a:pt x="648" y="197"/>
                    </a:cubicBezTo>
                    <a:close/>
                    <a:moveTo>
                      <a:pt x="682" y="180"/>
                    </a:moveTo>
                    <a:cubicBezTo>
                      <a:pt x="682" y="189"/>
                      <a:pt x="673" y="198"/>
                      <a:pt x="664" y="198"/>
                    </a:cubicBezTo>
                    <a:cubicBezTo>
                      <a:pt x="654" y="198"/>
                      <a:pt x="646" y="189"/>
                      <a:pt x="646" y="180"/>
                    </a:cubicBezTo>
                    <a:cubicBezTo>
                      <a:pt x="646" y="170"/>
                      <a:pt x="654" y="162"/>
                      <a:pt x="664" y="162"/>
                    </a:cubicBezTo>
                    <a:cubicBezTo>
                      <a:pt x="673" y="162"/>
                      <a:pt x="682" y="170"/>
                      <a:pt x="682" y="180"/>
                    </a:cubicBezTo>
                    <a:close/>
                    <a:moveTo>
                      <a:pt x="719" y="194"/>
                    </a:moveTo>
                    <a:cubicBezTo>
                      <a:pt x="719" y="205"/>
                      <a:pt x="710" y="214"/>
                      <a:pt x="699" y="214"/>
                    </a:cubicBezTo>
                    <a:cubicBezTo>
                      <a:pt x="687" y="214"/>
                      <a:pt x="679" y="205"/>
                      <a:pt x="679" y="194"/>
                    </a:cubicBezTo>
                    <a:cubicBezTo>
                      <a:pt x="679" y="182"/>
                      <a:pt x="687" y="174"/>
                      <a:pt x="699" y="174"/>
                    </a:cubicBezTo>
                    <a:cubicBezTo>
                      <a:pt x="710" y="174"/>
                      <a:pt x="719" y="182"/>
                      <a:pt x="719" y="194"/>
                    </a:cubicBezTo>
                    <a:close/>
                    <a:moveTo>
                      <a:pt x="757" y="171"/>
                    </a:moveTo>
                    <a:cubicBezTo>
                      <a:pt x="757" y="184"/>
                      <a:pt x="746" y="195"/>
                      <a:pt x="733" y="195"/>
                    </a:cubicBezTo>
                    <a:cubicBezTo>
                      <a:pt x="719" y="195"/>
                      <a:pt x="709" y="184"/>
                      <a:pt x="709" y="171"/>
                    </a:cubicBezTo>
                    <a:cubicBezTo>
                      <a:pt x="709" y="157"/>
                      <a:pt x="719" y="147"/>
                      <a:pt x="733" y="147"/>
                    </a:cubicBezTo>
                    <a:cubicBezTo>
                      <a:pt x="746" y="147"/>
                      <a:pt x="757" y="157"/>
                      <a:pt x="757" y="171"/>
                    </a:cubicBezTo>
                    <a:close/>
                    <a:moveTo>
                      <a:pt x="794" y="156"/>
                    </a:moveTo>
                    <a:cubicBezTo>
                      <a:pt x="794" y="170"/>
                      <a:pt x="782" y="182"/>
                      <a:pt x="768" y="182"/>
                    </a:cubicBezTo>
                    <a:cubicBezTo>
                      <a:pt x="753" y="182"/>
                      <a:pt x="742" y="170"/>
                      <a:pt x="742" y="156"/>
                    </a:cubicBezTo>
                    <a:cubicBezTo>
                      <a:pt x="742" y="141"/>
                      <a:pt x="753" y="130"/>
                      <a:pt x="768" y="130"/>
                    </a:cubicBezTo>
                    <a:cubicBezTo>
                      <a:pt x="782" y="130"/>
                      <a:pt x="794" y="141"/>
                      <a:pt x="794" y="156"/>
                    </a:cubicBezTo>
                    <a:close/>
                    <a:moveTo>
                      <a:pt x="829" y="147"/>
                    </a:moveTo>
                    <a:cubicBezTo>
                      <a:pt x="829" y="161"/>
                      <a:pt x="816" y="174"/>
                      <a:pt x="802" y="174"/>
                    </a:cubicBezTo>
                    <a:cubicBezTo>
                      <a:pt x="787" y="174"/>
                      <a:pt x="775" y="161"/>
                      <a:pt x="775" y="147"/>
                    </a:cubicBezTo>
                    <a:cubicBezTo>
                      <a:pt x="775" y="132"/>
                      <a:pt x="787" y="120"/>
                      <a:pt x="802" y="120"/>
                    </a:cubicBezTo>
                    <a:cubicBezTo>
                      <a:pt x="816" y="120"/>
                      <a:pt x="829" y="132"/>
                      <a:pt x="829" y="147"/>
                    </a:cubicBezTo>
                    <a:close/>
                    <a:moveTo>
                      <a:pt x="862" y="153"/>
                    </a:moveTo>
                    <a:cubicBezTo>
                      <a:pt x="862" y="167"/>
                      <a:pt x="850" y="179"/>
                      <a:pt x="836" y="179"/>
                    </a:cubicBezTo>
                    <a:cubicBezTo>
                      <a:pt x="821" y="179"/>
                      <a:pt x="810" y="167"/>
                      <a:pt x="810" y="153"/>
                    </a:cubicBezTo>
                    <a:cubicBezTo>
                      <a:pt x="810" y="138"/>
                      <a:pt x="821" y="127"/>
                      <a:pt x="836" y="127"/>
                    </a:cubicBezTo>
                    <a:cubicBezTo>
                      <a:pt x="850" y="127"/>
                      <a:pt x="862" y="138"/>
                      <a:pt x="862" y="153"/>
                    </a:cubicBezTo>
                    <a:close/>
                    <a:moveTo>
                      <a:pt x="891" y="170"/>
                    </a:moveTo>
                    <a:cubicBezTo>
                      <a:pt x="891" y="181"/>
                      <a:pt x="882" y="190"/>
                      <a:pt x="871" y="190"/>
                    </a:cubicBezTo>
                    <a:cubicBezTo>
                      <a:pt x="859" y="190"/>
                      <a:pt x="851" y="181"/>
                      <a:pt x="851" y="170"/>
                    </a:cubicBezTo>
                    <a:cubicBezTo>
                      <a:pt x="851" y="158"/>
                      <a:pt x="859" y="150"/>
                      <a:pt x="871" y="150"/>
                    </a:cubicBezTo>
                    <a:cubicBezTo>
                      <a:pt x="882" y="150"/>
                      <a:pt x="891" y="158"/>
                      <a:pt x="891" y="170"/>
                    </a:cubicBezTo>
                    <a:close/>
                    <a:moveTo>
                      <a:pt x="932" y="127"/>
                    </a:moveTo>
                    <a:cubicBezTo>
                      <a:pt x="932" y="141"/>
                      <a:pt x="919" y="154"/>
                      <a:pt x="905" y="154"/>
                    </a:cubicBezTo>
                    <a:cubicBezTo>
                      <a:pt x="890" y="154"/>
                      <a:pt x="878" y="141"/>
                      <a:pt x="878" y="127"/>
                    </a:cubicBezTo>
                    <a:cubicBezTo>
                      <a:pt x="878" y="112"/>
                      <a:pt x="890" y="100"/>
                      <a:pt x="905" y="100"/>
                    </a:cubicBezTo>
                    <a:cubicBezTo>
                      <a:pt x="919" y="100"/>
                      <a:pt x="932" y="112"/>
                      <a:pt x="932" y="127"/>
                    </a:cubicBezTo>
                    <a:close/>
                    <a:moveTo>
                      <a:pt x="968" y="151"/>
                    </a:moveTo>
                    <a:cubicBezTo>
                      <a:pt x="968" y="166"/>
                      <a:pt x="955" y="179"/>
                      <a:pt x="940" y="179"/>
                    </a:cubicBezTo>
                    <a:cubicBezTo>
                      <a:pt x="924" y="179"/>
                      <a:pt x="912" y="166"/>
                      <a:pt x="912" y="151"/>
                    </a:cubicBezTo>
                    <a:cubicBezTo>
                      <a:pt x="912" y="135"/>
                      <a:pt x="924" y="123"/>
                      <a:pt x="940" y="123"/>
                    </a:cubicBezTo>
                    <a:cubicBezTo>
                      <a:pt x="955" y="123"/>
                      <a:pt x="968" y="135"/>
                      <a:pt x="968" y="151"/>
                    </a:cubicBezTo>
                    <a:close/>
                  </a:path>
                </a:pathLst>
              </a:custGeom>
              <a:noFill/>
              <a:ln w="9525" cap="rnd">
                <a:solidFill>
                  <a:srgbClr val="B18A67"/>
                </a:solidFill>
                <a:round/>
              </a:ln>
            </p:spPr>
          </p:sp>
          <p:sp>
            <p:nvSpPr>
              <p:cNvPr id="10" name="Islotes"/>
              <p:cNvSpPr/>
              <p:nvPr/>
            </p:nvSpPr>
            <p:spPr>
              <a:xfrm>
                <a:off x="411480" y="1463040"/>
                <a:ext cx="2011680" cy="8449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286" y="300"/>
                    </a:moveTo>
                    <a:cubicBezTo>
                      <a:pt x="286" y="314"/>
                      <a:pt x="274" y="326"/>
                      <a:pt x="260" y="326"/>
                    </a:cubicBezTo>
                    <a:cubicBezTo>
                      <a:pt x="245" y="326"/>
                      <a:pt x="234" y="314"/>
                      <a:pt x="234" y="300"/>
                    </a:cubicBezTo>
                    <a:cubicBezTo>
                      <a:pt x="234" y="285"/>
                      <a:pt x="245" y="274"/>
                      <a:pt x="260" y="274"/>
                    </a:cubicBezTo>
                    <a:cubicBezTo>
                      <a:pt x="274" y="274"/>
                      <a:pt x="286" y="285"/>
                      <a:pt x="286" y="300"/>
                    </a:cubicBezTo>
                    <a:close/>
                    <a:moveTo>
                      <a:pt x="542" y="260"/>
                    </a:moveTo>
                    <a:cubicBezTo>
                      <a:pt x="542" y="272"/>
                      <a:pt x="532" y="282"/>
                      <a:pt x="520" y="282"/>
                    </a:cubicBezTo>
                    <a:cubicBezTo>
                      <a:pt x="507" y="282"/>
                      <a:pt x="498" y="272"/>
                      <a:pt x="498" y="260"/>
                    </a:cubicBezTo>
                    <a:cubicBezTo>
                      <a:pt x="498" y="247"/>
                      <a:pt x="507" y="238"/>
                      <a:pt x="520" y="238"/>
                    </a:cubicBezTo>
                    <a:cubicBezTo>
                      <a:pt x="532" y="238"/>
                      <a:pt x="542" y="247"/>
                      <a:pt x="542" y="260"/>
                    </a:cubicBezTo>
                    <a:close/>
                    <a:moveTo>
                      <a:pt x="784" y="200"/>
                    </a:moveTo>
                    <a:cubicBezTo>
                      <a:pt x="784" y="213"/>
                      <a:pt x="773" y="224"/>
                      <a:pt x="760" y="224"/>
                    </a:cubicBezTo>
                    <a:cubicBezTo>
                      <a:pt x="746" y="224"/>
                      <a:pt x="736" y="213"/>
                      <a:pt x="736" y="200"/>
                    </a:cubicBezTo>
                    <a:cubicBezTo>
                      <a:pt x="736" y="186"/>
                      <a:pt x="746" y="176"/>
                      <a:pt x="760" y="176"/>
                    </a:cubicBezTo>
                    <a:cubicBezTo>
                      <a:pt x="773" y="176"/>
                      <a:pt x="784" y="186"/>
                      <a:pt x="784" y="200"/>
                    </a:cubicBezTo>
                    <a:close/>
                    <a:moveTo>
                      <a:pt x="438" y="320"/>
                    </a:moveTo>
                    <a:cubicBezTo>
                      <a:pt x="438" y="329"/>
                      <a:pt x="429" y="338"/>
                      <a:pt x="420" y="338"/>
                    </a:cubicBezTo>
                    <a:cubicBezTo>
                      <a:pt x="410" y="338"/>
                      <a:pt x="402" y="329"/>
                      <a:pt x="402" y="320"/>
                    </a:cubicBezTo>
                    <a:cubicBezTo>
                      <a:pt x="402" y="310"/>
                      <a:pt x="410" y="302"/>
                      <a:pt x="420" y="302"/>
                    </a:cubicBezTo>
                    <a:cubicBezTo>
                      <a:pt x="429" y="302"/>
                      <a:pt x="438" y="310"/>
                      <a:pt x="438" y="3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DBD8"/>
                  </a:gs>
                  <a:gs pos="55000">
                    <a:srgbClr val="F5B7B1"/>
                  </a:gs>
                  <a:gs pos="100000">
                    <a:srgbClr val="C4928D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C0392B"/>
                </a:solidFill>
                <a:round/>
              </a:ln>
            </p:spPr>
          </p:sp>
          <p:sp>
            <p:nvSpPr>
              <p:cNvPr id="11" name="Forma 10"/>
              <p:cNvSpPr/>
              <p:nvPr/>
            </p:nvSpPr>
            <p:spPr>
              <a:xfrm>
                <a:off x="411480" y="1463040"/>
                <a:ext cx="2011680" cy="84490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320"/>
                    </a:moveTo>
                    <a:cubicBezTo>
                      <a:pt x="300" y="300"/>
                      <a:pt x="600" y="230"/>
                      <a:pt x="930" y="170"/>
                    </a:cubicBezTo>
                  </a:path>
                </a:pathLst>
              </a:custGeom>
              <a:noFill/>
              <a:ln w="25400" cap="rnd">
                <a:solidFill>
                  <a:srgbClr val="F7DC6F"/>
                </a:solidFill>
                <a:round/>
              </a:ln>
            </p:spPr>
          </p:sp>
        </p:grpSp>
        <p:sp>
          <p:nvSpPr>
            <p:cNvPr id="12" name="Forma 11"/>
            <p:cNvSpPr/>
            <p:nvPr/>
          </p:nvSpPr>
          <p:spPr>
            <a:xfrm>
              <a:off x="365760" y="2606040"/>
              <a:ext cx="214884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Páncreas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Células acinares con gránulos de zimógeno.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13" name="Flecha 12_2"/>
            <p:cNvSpPr/>
            <p:nvPr/>
          </p:nvSpPr>
          <p:spPr>
            <a:xfrm>
              <a:off x="2532888" y="38404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59" h="10" fill="none">
                  <a:moveTo>
                    <a:pt x="0" y="0"/>
                  </a:moveTo>
                  <a:lnTo>
                    <a:pt x="15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14" name="Integración E 2"/>
          <p:cNvGrpSpPr/>
          <p:nvPr/>
        </p:nvGrpSpPr>
        <p:grpSpPr>
          <a:xfrm>
            <a:off x="2697480" y="1280160"/>
            <a:ext cx="2313432" cy="3840480"/>
            <a:chOff x="2697480" y="1280160"/>
            <a:chExt cx="2313432" cy="3840480"/>
          </a:xfrm>
        </p:grpSpPr>
        <p:sp>
          <p:nvSpPr>
            <p:cNvPr id="15" name="Forma 15"/>
            <p:cNvSpPr/>
            <p:nvPr/>
          </p:nvSpPr>
          <p:spPr>
            <a:xfrm>
              <a:off x="3063240" y="128016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FF9C4"/>
                </a:gs>
                <a:gs pos="60000">
                  <a:srgbClr val="FBC02D"/>
                </a:gs>
                <a:gs pos="100000">
                  <a:srgbClr val="C49000"/>
                </a:gs>
              </a:gsLst>
              <a:path path="circle">
                <a:fillToRect l="35000" t="30000" r="65000" b="70000"/>
              </a:path>
            </a:gradFill>
            <a:ln w="12700" cap="rnd">
              <a:solidFill>
                <a:srgbClr val="7F6000"/>
              </a:solidFill>
              <a:round/>
            </a:ln>
          </p:spPr>
        </p:sp>
        <p:sp>
          <p:nvSpPr>
            <p:cNvPr id="16" name="Forma 16"/>
            <p:cNvSpPr/>
            <p:nvPr/>
          </p:nvSpPr>
          <p:spPr>
            <a:xfrm>
              <a:off x="3703320" y="128016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FF9C4"/>
                </a:gs>
                <a:gs pos="60000">
                  <a:srgbClr val="FBC02D"/>
                </a:gs>
                <a:gs pos="100000">
                  <a:srgbClr val="C49000"/>
                </a:gs>
              </a:gsLst>
              <a:path path="circle">
                <a:fillToRect l="35000" t="30000" r="65000" b="70000"/>
              </a:path>
            </a:gradFill>
            <a:ln w="12700" cap="rnd">
              <a:solidFill>
                <a:srgbClr val="7F6000"/>
              </a:solidFill>
              <a:round/>
            </a:ln>
          </p:spPr>
        </p:sp>
        <p:sp>
          <p:nvSpPr>
            <p:cNvPr id="17" name="Forma 17"/>
            <p:cNvSpPr/>
            <p:nvPr/>
          </p:nvSpPr>
          <p:spPr>
            <a:xfrm>
              <a:off x="3063240" y="182880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FF9C4"/>
                </a:gs>
                <a:gs pos="60000">
                  <a:srgbClr val="FBC02D"/>
                </a:gs>
                <a:gs pos="100000">
                  <a:srgbClr val="C49000"/>
                </a:gs>
              </a:gsLst>
              <a:path path="circle">
                <a:fillToRect l="35000" t="30000" r="65000" b="70000"/>
              </a:path>
            </a:gradFill>
            <a:ln w="12700" cap="rnd">
              <a:solidFill>
                <a:srgbClr val="7F6000"/>
              </a:solidFill>
              <a:round/>
            </a:ln>
          </p:spPr>
        </p:sp>
        <p:sp>
          <p:nvSpPr>
            <p:cNvPr id="18" name="Forma 18"/>
            <p:cNvSpPr/>
            <p:nvPr/>
          </p:nvSpPr>
          <p:spPr>
            <a:xfrm>
              <a:off x="3703320" y="1828800"/>
              <a:ext cx="457200" cy="457200"/>
            </a:xfrm>
            <a:prstGeom prst="ellipse">
              <a:avLst/>
            </a:prstGeom>
            <a:gradFill rotWithShape="1">
              <a:gsLst>
                <a:gs pos="0">
                  <a:srgbClr val="FFF9C4"/>
                </a:gs>
                <a:gs pos="60000">
                  <a:srgbClr val="FBC02D"/>
                </a:gs>
                <a:gs pos="100000">
                  <a:srgbClr val="C49000"/>
                </a:gs>
              </a:gsLst>
              <a:path path="circle">
                <a:fillToRect l="35000" t="30000" r="65000" b="70000"/>
              </a:path>
            </a:gradFill>
            <a:ln w="12700" cap="rnd">
              <a:solidFill>
                <a:srgbClr val="7F6000"/>
              </a:solidFill>
              <a:round/>
            </a:ln>
          </p:spPr>
        </p:sp>
        <p:sp>
          <p:nvSpPr>
            <p:cNvPr id="19" name="Forma 19"/>
            <p:cNvSpPr/>
            <p:nvPr/>
          </p:nvSpPr>
          <p:spPr>
            <a:xfrm>
              <a:off x="2697480" y="2606040"/>
              <a:ext cx="214884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Zimógenos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Normalmente se activan en el duodeno (enteroquinasa → tripsina).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0" name="Flecha 20_2"/>
            <p:cNvSpPr/>
            <p:nvPr/>
          </p:nvSpPr>
          <p:spPr>
            <a:xfrm>
              <a:off x="4864608" y="38404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59" h="10" fill="none">
                  <a:moveTo>
                    <a:pt x="0" y="0"/>
                  </a:moveTo>
                  <a:lnTo>
                    <a:pt x="15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21" name="Integración E 3"/>
          <p:cNvGrpSpPr/>
          <p:nvPr/>
        </p:nvGrpSpPr>
        <p:grpSpPr>
          <a:xfrm>
            <a:off x="5029200" y="1188720"/>
            <a:ext cx="2313432" cy="3931920"/>
            <a:chOff x="5029200" y="1188720"/>
            <a:chExt cx="2313432" cy="3931920"/>
          </a:xfrm>
        </p:grpSpPr>
        <p:sp>
          <p:nvSpPr>
            <p:cNvPr id="22" name="Forma 23"/>
            <p:cNvSpPr/>
            <p:nvPr/>
          </p:nvSpPr>
          <p:spPr>
            <a:xfrm>
              <a:off x="5577840" y="1188720"/>
              <a:ext cx="1005840" cy="1005840"/>
            </a:xfrm>
            <a:prstGeom prst="irregularSeal1">
              <a:avLst/>
            </a:prstGeom>
            <a:solidFill>
              <a:srgbClr val="C00000">
                <a:alpha val="70000"/>
              </a:srgbClr>
            </a:solidFill>
            <a:ln>
              <a:noFill/>
            </a:ln>
          </p:spPr>
        </p:sp>
        <p:sp>
          <p:nvSpPr>
            <p:cNvPr id="23" name="Forma 24"/>
            <p:cNvSpPr/>
            <p:nvPr/>
          </p:nvSpPr>
          <p:spPr>
            <a:xfrm>
              <a:off x="5029200" y="2606040"/>
              <a:ext cx="214884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Lesión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Activación prematura dentro del páncreas → autodigestión → necrosis.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4" name="Flecha 25_2"/>
            <p:cNvSpPr/>
            <p:nvPr/>
          </p:nvSpPr>
          <p:spPr>
            <a:xfrm>
              <a:off x="7196328" y="38404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59" h="10" fill="none">
                  <a:moveTo>
                    <a:pt x="0" y="0"/>
                  </a:moveTo>
                  <a:lnTo>
                    <a:pt x="159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25" name="Integración E 4"/>
          <p:cNvGrpSpPr/>
          <p:nvPr/>
        </p:nvGrpSpPr>
        <p:grpSpPr>
          <a:xfrm>
            <a:off x="7360920" y="1371600"/>
            <a:ext cx="2313432" cy="3749040"/>
            <a:chOff x="7360920" y="1371600"/>
            <a:chExt cx="2313432" cy="3749040"/>
          </a:xfrm>
        </p:grpSpPr>
        <p:sp>
          <p:nvSpPr>
            <p:cNvPr id="26" name="Ficha Amilasa"/>
            <p:cNvSpPr/>
            <p:nvPr/>
          </p:nvSpPr>
          <p:spPr>
            <a:xfrm>
              <a:off x="7543800" y="1371600"/>
              <a:ext cx="9144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CB83"/>
                </a:gs>
                <a:gs pos="55000">
                  <a:srgbClr val="F5B041"/>
                </a:gs>
                <a:gs pos="100000">
                  <a:srgbClr val="C48C34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A582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27" name="Ficha Lipasa"/>
            <p:cNvSpPr/>
            <p:nvPr/>
          </p:nvSpPr>
          <p:spPr>
            <a:xfrm>
              <a:off x="8503920" y="1371600"/>
              <a:ext cx="86868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9162"/>
                </a:gs>
                <a:gs pos="55000">
                  <a:srgbClr val="C0560E"/>
                </a:gs>
                <a:gs pos="100000">
                  <a:srgbClr val="99440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2B07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1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endParaRPr lang="es-AR" sz="1100" dirty="0">
                <a:latin typeface="Calibri"/>
              </a:endParaRPr>
            </a:p>
          </p:txBody>
        </p:sp>
        <p:sp>
          <p:nvSpPr>
            <p:cNvPr id="28" name="Forma 30"/>
            <p:cNvSpPr/>
            <p:nvPr/>
          </p:nvSpPr>
          <p:spPr>
            <a:xfrm>
              <a:off x="7360920" y="2606040"/>
              <a:ext cx="214884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Liberación de enzimas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Amilasa y lipasa pasan a la sangre.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29" name="Flecha 31_2"/>
            <p:cNvSpPr/>
            <p:nvPr/>
          </p:nvSpPr>
          <p:spPr>
            <a:xfrm>
              <a:off x="9528048" y="384048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30" name="Integración E 5"/>
          <p:cNvGrpSpPr/>
          <p:nvPr/>
        </p:nvGrpSpPr>
        <p:grpSpPr>
          <a:xfrm>
            <a:off x="9692640" y="1280160"/>
            <a:ext cx="2148840" cy="3840480"/>
            <a:chOff x="9692640" y="1280160"/>
            <a:chExt cx="2148840" cy="3840480"/>
          </a:xfrm>
        </p:grpSpPr>
        <p:sp>
          <p:nvSpPr>
            <p:cNvPr id="31" name="Forma 34"/>
            <p:cNvSpPr/>
            <p:nvPr/>
          </p:nvSpPr>
          <p:spPr>
            <a:xfrm>
              <a:off x="10241280" y="1417320"/>
              <a:ext cx="457200" cy="914400"/>
            </a:xfrm>
            <a:prstGeom prst="rect">
              <a:avLst/>
            </a:prstGeom>
            <a:solidFill>
              <a:srgbClr val="F5B041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2" name="Forma 35"/>
            <p:cNvSpPr/>
            <p:nvPr/>
          </p:nvSpPr>
          <p:spPr>
            <a:xfrm>
              <a:off x="10835640" y="1280160"/>
              <a:ext cx="457200" cy="1051560"/>
            </a:xfrm>
            <a:prstGeom prst="rect">
              <a:avLst/>
            </a:prstGeom>
            <a:solidFill>
              <a:srgbClr val="C0560E"/>
            </a:solidFill>
            <a:ln w="12700" cap="rnd">
              <a:solidFill>
                <a:srgbClr val="1E1E1E"/>
              </a:solidFill>
              <a:round/>
            </a:ln>
          </p:spPr>
        </p:sp>
        <p:sp>
          <p:nvSpPr>
            <p:cNvPr id="33" name="Forma 36"/>
            <p:cNvSpPr/>
            <p:nvPr/>
          </p:nvSpPr>
          <p:spPr>
            <a:xfrm>
              <a:off x="9692640" y="2606040"/>
              <a:ext cx="2148840" cy="2514600"/>
            </a:xfrm>
            <a:prstGeom prst="roundRect">
              <a:avLst>
                <a:gd name="adj" fmla="val 9000"/>
              </a:avLst>
            </a:prstGeom>
            <a:solidFill>
              <a:srgbClr val="FFFFFF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Interpretación clínica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Dolor en cinturón + amilasa/lipasa &gt; 3 × VN; perfil hepático para el diferencial.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34" name="Síntesis E"/>
          <p:cNvSpPr/>
          <p:nvPr/>
        </p:nvSpPr>
        <p:spPr>
          <a:xfrm>
            <a:off x="365760" y="5349240"/>
            <a:ext cx="11475720" cy="109728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perfil, no un número: </a:t>
            </a:r>
            <a:r>
              <a:rPr lang="es-AR" sz="2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amilasa + lipasa</a:t>
            </a:r>
            <a:r>
              <a:rPr lang="es-AR" sz="20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s-AR" sz="2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transaminasas y bilirrubina normales</a:t>
            </a:r>
            <a:r>
              <a:rPr lang="es-AR" sz="20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ubican el daño en el </a:t>
            </a:r>
            <a:r>
              <a:rPr lang="es-AR" sz="20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páncreas</a:t>
            </a:r>
            <a:r>
              <a:rPr lang="es-AR" sz="20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5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INTEGRACIÓN E: DEL ZIMÓGENO AL DIAGNÓSTICO</a:t>
            </a:r>
            <a:endParaRPr lang="es-AR" sz="19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9254754" y="182880"/>
            <a:ext cx="266262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UNIDAD V · HEPATOPANCREÁTICO</a:t>
            </a:r>
            <a:endParaRPr lang="es-AR" sz="1250" dirty="0">
              <a:latin typeface="Calibri"/>
            </a:endParaRPr>
          </a:p>
        </p:txBody>
      </p:sp>
      <p:sp>
        <p:nvSpPr>
          <p:cNvPr id="35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267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 izq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372600" y="0"/>
            <a:ext cx="281909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grpSp>
        <p:nvGrpSpPr>
          <p:cNvPr id="6" name="Integración B 1"/>
          <p:cNvGrpSpPr/>
          <p:nvPr/>
        </p:nvGrpSpPr>
        <p:grpSpPr>
          <a:xfrm>
            <a:off x="411480" y="1097280"/>
            <a:ext cx="2907792" cy="4069080"/>
            <a:chOff x="411480" y="1097280"/>
            <a:chExt cx="2907792" cy="4069080"/>
          </a:xfrm>
        </p:grpSpPr>
        <p:grpSp>
          <p:nvGrpSpPr>
            <p:cNvPr id="7" name="Hep B"/>
            <p:cNvGrpSpPr/>
            <p:nvPr/>
          </p:nvGrpSpPr>
          <p:grpSpPr>
            <a:xfrm>
              <a:off x="914400" y="1097280"/>
              <a:ext cx="1737360" cy="1424635"/>
              <a:chOff x="914400" y="1097280"/>
              <a:chExt cx="1737360" cy="1424635"/>
            </a:xfrm>
          </p:grpSpPr>
          <p:sp>
            <p:nvSpPr>
              <p:cNvPr id="8" name="Forma 7"/>
              <p:cNvSpPr/>
              <p:nvPr/>
            </p:nvSpPr>
            <p:spPr>
              <a:xfrm>
                <a:off x="914400" y="1097280"/>
                <a:ext cx="1737360" cy="1424635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20" y="80"/>
                    </a:moveTo>
                    <a:cubicBezTo>
                      <a:pt x="164" y="38"/>
                      <a:pt x="430" y="19"/>
                      <a:pt x="500" y="20"/>
                    </a:cubicBezTo>
                    <a:cubicBezTo>
                      <a:pt x="569" y="20"/>
                      <a:pt x="836" y="50"/>
                      <a:pt x="880" y="90"/>
                    </a:cubicBezTo>
                    <a:cubicBezTo>
                      <a:pt x="924" y="129"/>
                      <a:pt x="981" y="375"/>
                      <a:pt x="980" y="450"/>
                    </a:cubicBezTo>
                    <a:cubicBezTo>
                      <a:pt x="978" y="524"/>
                      <a:pt x="905" y="851"/>
                      <a:pt x="860" y="900"/>
                    </a:cubicBezTo>
                    <a:cubicBezTo>
                      <a:pt x="814" y="948"/>
                      <a:pt x="548" y="980"/>
                      <a:pt x="480" y="980"/>
                    </a:cubicBezTo>
                    <a:cubicBezTo>
                      <a:pt x="411" y="980"/>
                      <a:pt x="152" y="946"/>
                      <a:pt x="110" y="900"/>
                    </a:cubicBezTo>
                    <a:cubicBezTo>
                      <a:pt x="67" y="853"/>
                      <a:pt x="19" y="545"/>
                      <a:pt x="20" y="470"/>
                    </a:cubicBezTo>
                    <a:cubicBezTo>
                      <a:pt x="20" y="394"/>
                      <a:pt x="76" y="121"/>
                      <a:pt x="120" y="8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2CABE"/>
                  </a:gs>
                  <a:gs pos="55000">
                    <a:srgbClr val="E8A08A"/>
                  </a:gs>
                  <a:gs pos="100000">
                    <a:srgbClr val="AE7867"/>
                  </a:gs>
                </a:gsLst>
                <a:path path="circle">
                  <a:fillToRect l="32000" t="28000" r="68000" b="72000"/>
                </a:path>
              </a:gradFill>
              <a:ln w="25400" cap="rnd">
                <a:solidFill>
                  <a:srgbClr val="68483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id="9" name="Núcleo hepatocito"/>
              <p:cNvGrpSpPr/>
              <p:nvPr/>
            </p:nvGrpSpPr>
            <p:grpSpPr>
              <a:xfrm>
                <a:off x="1609344" y="1610149"/>
                <a:ext cx="382219" cy="343997"/>
                <a:chOff x="1609344" y="1610149"/>
                <a:chExt cx="382219" cy="343997"/>
              </a:xfrm>
            </p:grpSpPr>
            <p:sp>
              <p:nvSpPr>
                <p:cNvPr id="10" name="Forma 9"/>
                <p:cNvSpPr/>
                <p:nvPr/>
              </p:nvSpPr>
              <p:spPr>
                <a:xfrm>
                  <a:off x="1609344" y="1610149"/>
                  <a:ext cx="382219" cy="34399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B7A4CE"/>
                    </a:gs>
                    <a:gs pos="55000">
                      <a:srgbClr val="7D5BA6"/>
                    </a:gs>
                    <a:gs pos="100000">
                      <a:srgbClr val="573F74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4B3663"/>
                  </a:solidFill>
                  <a:round/>
                </a:ln>
              </p:spPr>
            </p:sp>
            <p:sp>
              <p:nvSpPr>
                <p:cNvPr id="11" name="Forma 10"/>
                <p:cNvSpPr/>
                <p:nvPr/>
              </p:nvSpPr>
              <p:spPr>
                <a:xfrm>
                  <a:off x="1808098" y="1724814"/>
                  <a:ext cx="84088" cy="76444"/>
                </a:xfrm>
                <a:prstGeom prst="ellipse">
                  <a:avLst/>
                </a:prstGeom>
                <a:solidFill>
                  <a:srgbClr val="513B6B"/>
                </a:solidFill>
                <a:ln>
                  <a:noFill/>
                </a:ln>
              </p:spPr>
            </p:sp>
          </p:grpSp>
          <p:grpSp>
            <p:nvGrpSpPr>
              <p:cNvPr id="12" name="Retículo endoplasmático"/>
              <p:cNvGrpSpPr/>
              <p:nvPr/>
            </p:nvGrpSpPr>
            <p:grpSpPr>
              <a:xfrm>
                <a:off x="1122883" y="1302617"/>
                <a:ext cx="416966" cy="302972"/>
                <a:chOff x="1122883" y="1302617"/>
                <a:chExt cx="416966" cy="302972"/>
              </a:xfrm>
            </p:grpSpPr>
            <p:sp>
              <p:nvSpPr>
                <p:cNvPr id="13" name="Forma 12"/>
                <p:cNvSpPr/>
                <p:nvPr/>
              </p:nvSpPr>
              <p:spPr>
                <a:xfrm>
                  <a:off x="1122883" y="1310975"/>
                  <a:ext cx="416966" cy="783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>
                      <a:moveTo>
                        <a:pt x="0" y="300"/>
                      </a:moveTo>
                      <a:cubicBezTo>
                        <a:pt x="20" y="241"/>
                        <a:pt x="208" y="0"/>
                        <a:pt x="250" y="0"/>
                      </a:cubicBezTo>
                      <a:cubicBezTo>
                        <a:pt x="291" y="0"/>
                        <a:pt x="458" y="300"/>
                        <a:pt x="500" y="300"/>
                      </a:cubicBezTo>
                      <a:cubicBezTo>
                        <a:pt x="541" y="300"/>
                        <a:pt x="708" y="0"/>
                        <a:pt x="750" y="0"/>
                      </a:cubicBezTo>
                      <a:cubicBezTo>
                        <a:pt x="791" y="0"/>
                        <a:pt x="979" y="241"/>
                        <a:pt x="1000" y="300"/>
                      </a:cubicBezTo>
                      <a:cubicBezTo>
                        <a:pt x="1020" y="358"/>
                        <a:pt x="1020" y="641"/>
                        <a:pt x="1000" y="700"/>
                      </a:cubicBezTo>
                      <a:cubicBezTo>
                        <a:pt x="979" y="758"/>
                        <a:pt x="791" y="1000"/>
                        <a:pt x="750" y="1000"/>
                      </a:cubicBezTo>
                      <a:cubicBezTo>
                        <a:pt x="708" y="1000"/>
                        <a:pt x="541" y="700"/>
                        <a:pt x="500" y="700"/>
                      </a:cubicBezTo>
                      <a:cubicBezTo>
                        <a:pt x="458" y="700"/>
                        <a:pt x="291" y="1000"/>
                        <a:pt x="250" y="1000"/>
                      </a:cubicBezTo>
                      <a:cubicBezTo>
                        <a:pt x="208" y="1000"/>
                        <a:pt x="20" y="758"/>
                        <a:pt x="0" y="700"/>
                      </a:cubicBezTo>
                      <a:cubicBezTo>
                        <a:pt x="-20" y="641"/>
                        <a:pt x="-20" y="358"/>
                        <a:pt x="0" y="300"/>
                      </a:cubicBezTo>
                      <a:close/>
                    </a:path>
                  </a:pathLst>
                </a:custGeom>
                <a:solidFill>
                  <a:srgbClr val="D8BEE2"/>
                </a:solidFill>
                <a:ln w="9525" cap="rnd">
                  <a:solidFill>
                    <a:srgbClr val="7E6489"/>
                  </a:solidFill>
                  <a:round/>
                </a:ln>
              </p:spPr>
            </p:sp>
            <p:sp>
              <p:nvSpPr>
                <p:cNvPr id="14" name="Forma 13"/>
                <p:cNvSpPr/>
                <p:nvPr/>
              </p:nvSpPr>
              <p:spPr>
                <a:xfrm>
                  <a:off x="1122883" y="1302617"/>
                  <a:ext cx="416966" cy="9402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>
                      <a:moveTo>
                        <a:pt x="105" y="880"/>
                      </a:moveTo>
                      <a:cubicBezTo>
                        <a:pt x="105" y="904"/>
                        <a:pt x="84" y="925"/>
                        <a:pt x="60" y="925"/>
                      </a:cubicBezTo>
                      <a:cubicBezTo>
                        <a:pt x="35" y="925"/>
                        <a:pt x="15" y="904"/>
                        <a:pt x="15" y="880"/>
                      </a:cubicBezTo>
                      <a:cubicBezTo>
                        <a:pt x="15" y="855"/>
                        <a:pt x="35" y="835"/>
                        <a:pt x="60" y="835"/>
                      </a:cubicBezTo>
                      <a:cubicBezTo>
                        <a:pt x="84" y="835"/>
                        <a:pt x="105" y="855"/>
                        <a:pt x="105" y="880"/>
                      </a:cubicBezTo>
                      <a:close/>
                      <a:moveTo>
                        <a:pt x="185" y="120"/>
                      </a:moveTo>
                      <a:cubicBezTo>
                        <a:pt x="185" y="144"/>
                        <a:pt x="164" y="165"/>
                        <a:pt x="140" y="165"/>
                      </a:cubicBezTo>
                      <a:cubicBezTo>
                        <a:pt x="115" y="165"/>
                        <a:pt x="95" y="144"/>
                        <a:pt x="95" y="120"/>
                      </a:cubicBezTo>
                      <a:cubicBezTo>
                        <a:pt x="95" y="95"/>
                        <a:pt x="115" y="75"/>
                        <a:pt x="140" y="75"/>
                      </a:cubicBezTo>
                      <a:cubicBezTo>
                        <a:pt x="164" y="75"/>
                        <a:pt x="185" y="95"/>
                        <a:pt x="185" y="120"/>
                      </a:cubicBezTo>
                      <a:close/>
                      <a:moveTo>
                        <a:pt x="265" y="880"/>
                      </a:moveTo>
                      <a:cubicBezTo>
                        <a:pt x="265" y="904"/>
                        <a:pt x="244" y="925"/>
                        <a:pt x="220" y="925"/>
                      </a:cubicBezTo>
                      <a:cubicBezTo>
                        <a:pt x="195" y="925"/>
                        <a:pt x="175" y="904"/>
                        <a:pt x="175" y="880"/>
                      </a:cubicBezTo>
                      <a:cubicBezTo>
                        <a:pt x="175" y="855"/>
                        <a:pt x="195" y="835"/>
                        <a:pt x="220" y="835"/>
                      </a:cubicBezTo>
                      <a:cubicBezTo>
                        <a:pt x="244" y="835"/>
                        <a:pt x="265" y="855"/>
                        <a:pt x="265" y="880"/>
                      </a:cubicBezTo>
                      <a:close/>
                      <a:moveTo>
                        <a:pt x="345" y="120"/>
                      </a:moveTo>
                      <a:cubicBezTo>
                        <a:pt x="345" y="144"/>
                        <a:pt x="324" y="165"/>
                        <a:pt x="300" y="165"/>
                      </a:cubicBezTo>
                      <a:cubicBezTo>
                        <a:pt x="275" y="165"/>
                        <a:pt x="255" y="144"/>
                        <a:pt x="255" y="120"/>
                      </a:cubicBezTo>
                      <a:cubicBezTo>
                        <a:pt x="255" y="95"/>
                        <a:pt x="275" y="75"/>
                        <a:pt x="300" y="75"/>
                      </a:cubicBezTo>
                      <a:cubicBezTo>
                        <a:pt x="324" y="75"/>
                        <a:pt x="345" y="95"/>
                        <a:pt x="345" y="120"/>
                      </a:cubicBezTo>
                      <a:close/>
                      <a:moveTo>
                        <a:pt x="425" y="880"/>
                      </a:moveTo>
                      <a:cubicBezTo>
                        <a:pt x="425" y="904"/>
                        <a:pt x="404" y="925"/>
                        <a:pt x="380" y="925"/>
                      </a:cubicBezTo>
                      <a:cubicBezTo>
                        <a:pt x="355" y="925"/>
                        <a:pt x="335" y="904"/>
                        <a:pt x="335" y="880"/>
                      </a:cubicBezTo>
                      <a:cubicBezTo>
                        <a:pt x="335" y="855"/>
                        <a:pt x="355" y="835"/>
                        <a:pt x="380" y="835"/>
                      </a:cubicBezTo>
                      <a:cubicBezTo>
                        <a:pt x="404" y="835"/>
                        <a:pt x="425" y="855"/>
                        <a:pt x="425" y="880"/>
                      </a:cubicBezTo>
                      <a:close/>
                      <a:moveTo>
                        <a:pt x="505" y="120"/>
                      </a:moveTo>
                      <a:cubicBezTo>
                        <a:pt x="505" y="144"/>
                        <a:pt x="484" y="165"/>
                        <a:pt x="460" y="165"/>
                      </a:cubicBezTo>
                      <a:cubicBezTo>
                        <a:pt x="435" y="165"/>
                        <a:pt x="415" y="144"/>
                        <a:pt x="415" y="120"/>
                      </a:cubicBezTo>
                      <a:cubicBezTo>
                        <a:pt x="415" y="95"/>
                        <a:pt x="435" y="75"/>
                        <a:pt x="460" y="75"/>
                      </a:cubicBezTo>
                      <a:cubicBezTo>
                        <a:pt x="484" y="75"/>
                        <a:pt x="505" y="95"/>
                        <a:pt x="505" y="120"/>
                      </a:cubicBezTo>
                      <a:close/>
                      <a:moveTo>
                        <a:pt x="585" y="880"/>
                      </a:moveTo>
                      <a:cubicBezTo>
                        <a:pt x="585" y="904"/>
                        <a:pt x="564" y="925"/>
                        <a:pt x="540" y="925"/>
                      </a:cubicBezTo>
                      <a:cubicBezTo>
                        <a:pt x="515" y="925"/>
                        <a:pt x="495" y="904"/>
                        <a:pt x="495" y="880"/>
                      </a:cubicBezTo>
                      <a:cubicBezTo>
                        <a:pt x="495" y="855"/>
                        <a:pt x="515" y="835"/>
                        <a:pt x="540" y="835"/>
                      </a:cubicBezTo>
                      <a:cubicBezTo>
                        <a:pt x="564" y="835"/>
                        <a:pt x="585" y="855"/>
                        <a:pt x="585" y="880"/>
                      </a:cubicBezTo>
                      <a:close/>
                      <a:moveTo>
                        <a:pt x="665" y="120"/>
                      </a:moveTo>
                      <a:cubicBezTo>
                        <a:pt x="665" y="144"/>
                        <a:pt x="644" y="165"/>
                        <a:pt x="620" y="165"/>
                      </a:cubicBezTo>
                      <a:cubicBezTo>
                        <a:pt x="595" y="165"/>
                        <a:pt x="575" y="144"/>
                        <a:pt x="575" y="120"/>
                      </a:cubicBezTo>
                      <a:cubicBezTo>
                        <a:pt x="575" y="95"/>
                        <a:pt x="595" y="75"/>
                        <a:pt x="620" y="75"/>
                      </a:cubicBezTo>
                      <a:cubicBezTo>
                        <a:pt x="644" y="75"/>
                        <a:pt x="665" y="95"/>
                        <a:pt x="665" y="120"/>
                      </a:cubicBezTo>
                      <a:close/>
                      <a:moveTo>
                        <a:pt x="745" y="880"/>
                      </a:moveTo>
                      <a:cubicBezTo>
                        <a:pt x="745" y="904"/>
                        <a:pt x="724" y="925"/>
                        <a:pt x="700" y="925"/>
                      </a:cubicBezTo>
                      <a:cubicBezTo>
                        <a:pt x="675" y="925"/>
                        <a:pt x="655" y="904"/>
                        <a:pt x="655" y="880"/>
                      </a:cubicBezTo>
                      <a:cubicBezTo>
                        <a:pt x="655" y="855"/>
                        <a:pt x="675" y="835"/>
                        <a:pt x="700" y="835"/>
                      </a:cubicBezTo>
                      <a:cubicBezTo>
                        <a:pt x="724" y="835"/>
                        <a:pt x="745" y="855"/>
                        <a:pt x="745" y="880"/>
                      </a:cubicBezTo>
                      <a:close/>
                      <a:moveTo>
                        <a:pt x="825" y="120"/>
                      </a:moveTo>
                      <a:cubicBezTo>
                        <a:pt x="825" y="144"/>
                        <a:pt x="804" y="165"/>
                        <a:pt x="780" y="165"/>
                      </a:cubicBezTo>
                      <a:cubicBezTo>
                        <a:pt x="755" y="165"/>
                        <a:pt x="735" y="144"/>
                        <a:pt x="735" y="120"/>
                      </a:cubicBezTo>
                      <a:cubicBezTo>
                        <a:pt x="735" y="95"/>
                        <a:pt x="755" y="75"/>
                        <a:pt x="780" y="75"/>
                      </a:cubicBezTo>
                      <a:cubicBezTo>
                        <a:pt x="804" y="75"/>
                        <a:pt x="825" y="95"/>
                        <a:pt x="825" y="120"/>
                      </a:cubicBezTo>
                      <a:close/>
                      <a:moveTo>
                        <a:pt x="905" y="880"/>
                      </a:moveTo>
                      <a:cubicBezTo>
                        <a:pt x="905" y="904"/>
                        <a:pt x="884" y="925"/>
                        <a:pt x="860" y="925"/>
                      </a:cubicBezTo>
                      <a:cubicBezTo>
                        <a:pt x="835" y="925"/>
                        <a:pt x="815" y="904"/>
                        <a:pt x="815" y="880"/>
                      </a:cubicBezTo>
                      <a:cubicBezTo>
                        <a:pt x="815" y="855"/>
                        <a:pt x="835" y="835"/>
                        <a:pt x="860" y="835"/>
                      </a:cubicBezTo>
                      <a:cubicBezTo>
                        <a:pt x="884" y="835"/>
                        <a:pt x="905" y="855"/>
                        <a:pt x="905" y="880"/>
                      </a:cubicBezTo>
                      <a:close/>
                      <a:moveTo>
                        <a:pt x="985" y="120"/>
                      </a:moveTo>
                      <a:cubicBezTo>
                        <a:pt x="985" y="144"/>
                        <a:pt x="964" y="165"/>
                        <a:pt x="940" y="165"/>
                      </a:cubicBezTo>
                      <a:cubicBezTo>
                        <a:pt x="915" y="165"/>
                        <a:pt x="895" y="144"/>
                        <a:pt x="895" y="120"/>
                      </a:cubicBezTo>
                      <a:cubicBezTo>
                        <a:pt x="895" y="95"/>
                        <a:pt x="915" y="75"/>
                        <a:pt x="940" y="75"/>
                      </a:cubicBezTo>
                      <a:cubicBezTo>
                        <a:pt x="964" y="75"/>
                        <a:pt x="985" y="95"/>
                        <a:pt x="985" y="120"/>
                      </a:cubicBezTo>
                      <a:close/>
                    </a:path>
                  </a:pathLst>
                </a:custGeom>
                <a:solidFill>
                  <a:srgbClr val="5D3A6E"/>
                </a:solidFill>
                <a:ln>
                  <a:noFill/>
                </a:ln>
              </p:spPr>
            </p:sp>
            <p:sp>
              <p:nvSpPr>
                <p:cNvPr id="15" name="Forma 14"/>
                <p:cNvSpPr/>
                <p:nvPr/>
              </p:nvSpPr>
              <p:spPr>
                <a:xfrm>
                  <a:off x="1122883" y="1415449"/>
                  <a:ext cx="416966" cy="783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>
                      <a:moveTo>
                        <a:pt x="0" y="300"/>
                      </a:moveTo>
                      <a:cubicBezTo>
                        <a:pt x="20" y="241"/>
                        <a:pt x="208" y="0"/>
                        <a:pt x="250" y="0"/>
                      </a:cubicBezTo>
                      <a:cubicBezTo>
                        <a:pt x="291" y="0"/>
                        <a:pt x="458" y="300"/>
                        <a:pt x="500" y="300"/>
                      </a:cubicBezTo>
                      <a:cubicBezTo>
                        <a:pt x="541" y="300"/>
                        <a:pt x="708" y="0"/>
                        <a:pt x="750" y="0"/>
                      </a:cubicBezTo>
                      <a:cubicBezTo>
                        <a:pt x="791" y="0"/>
                        <a:pt x="979" y="241"/>
                        <a:pt x="1000" y="300"/>
                      </a:cubicBezTo>
                      <a:cubicBezTo>
                        <a:pt x="1020" y="358"/>
                        <a:pt x="1020" y="641"/>
                        <a:pt x="1000" y="700"/>
                      </a:cubicBezTo>
                      <a:cubicBezTo>
                        <a:pt x="979" y="758"/>
                        <a:pt x="791" y="1000"/>
                        <a:pt x="750" y="1000"/>
                      </a:cubicBezTo>
                      <a:cubicBezTo>
                        <a:pt x="708" y="1000"/>
                        <a:pt x="541" y="700"/>
                        <a:pt x="500" y="700"/>
                      </a:cubicBezTo>
                      <a:cubicBezTo>
                        <a:pt x="458" y="700"/>
                        <a:pt x="291" y="1000"/>
                        <a:pt x="250" y="1000"/>
                      </a:cubicBezTo>
                      <a:cubicBezTo>
                        <a:pt x="208" y="1000"/>
                        <a:pt x="20" y="758"/>
                        <a:pt x="0" y="700"/>
                      </a:cubicBezTo>
                      <a:cubicBezTo>
                        <a:pt x="-20" y="641"/>
                        <a:pt x="-20" y="358"/>
                        <a:pt x="0" y="300"/>
                      </a:cubicBezTo>
                      <a:close/>
                    </a:path>
                  </a:pathLst>
                </a:custGeom>
                <a:solidFill>
                  <a:srgbClr val="D8BEE2"/>
                </a:solidFill>
                <a:ln w="9525" cap="rnd">
                  <a:solidFill>
                    <a:srgbClr val="7E6489"/>
                  </a:solidFill>
                  <a:round/>
                </a:ln>
              </p:spPr>
            </p:sp>
            <p:sp>
              <p:nvSpPr>
                <p:cNvPr id="16" name="Forma 15"/>
                <p:cNvSpPr/>
                <p:nvPr/>
              </p:nvSpPr>
              <p:spPr>
                <a:xfrm>
                  <a:off x="1122883" y="1407091"/>
                  <a:ext cx="416966" cy="9402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>
                      <a:moveTo>
                        <a:pt x="105" y="880"/>
                      </a:moveTo>
                      <a:cubicBezTo>
                        <a:pt x="105" y="904"/>
                        <a:pt x="84" y="925"/>
                        <a:pt x="60" y="925"/>
                      </a:cubicBezTo>
                      <a:cubicBezTo>
                        <a:pt x="35" y="925"/>
                        <a:pt x="15" y="904"/>
                        <a:pt x="15" y="880"/>
                      </a:cubicBezTo>
                      <a:cubicBezTo>
                        <a:pt x="15" y="855"/>
                        <a:pt x="35" y="835"/>
                        <a:pt x="60" y="835"/>
                      </a:cubicBezTo>
                      <a:cubicBezTo>
                        <a:pt x="84" y="835"/>
                        <a:pt x="105" y="855"/>
                        <a:pt x="105" y="880"/>
                      </a:cubicBezTo>
                      <a:close/>
                      <a:moveTo>
                        <a:pt x="185" y="120"/>
                      </a:moveTo>
                      <a:cubicBezTo>
                        <a:pt x="185" y="144"/>
                        <a:pt x="164" y="165"/>
                        <a:pt x="140" y="165"/>
                      </a:cubicBezTo>
                      <a:cubicBezTo>
                        <a:pt x="115" y="165"/>
                        <a:pt x="95" y="144"/>
                        <a:pt x="95" y="120"/>
                      </a:cubicBezTo>
                      <a:cubicBezTo>
                        <a:pt x="95" y="95"/>
                        <a:pt x="115" y="75"/>
                        <a:pt x="140" y="75"/>
                      </a:cubicBezTo>
                      <a:cubicBezTo>
                        <a:pt x="164" y="75"/>
                        <a:pt x="185" y="95"/>
                        <a:pt x="185" y="120"/>
                      </a:cubicBezTo>
                      <a:close/>
                      <a:moveTo>
                        <a:pt x="265" y="880"/>
                      </a:moveTo>
                      <a:cubicBezTo>
                        <a:pt x="265" y="904"/>
                        <a:pt x="244" y="925"/>
                        <a:pt x="220" y="925"/>
                      </a:cubicBezTo>
                      <a:cubicBezTo>
                        <a:pt x="195" y="925"/>
                        <a:pt x="175" y="904"/>
                        <a:pt x="175" y="880"/>
                      </a:cubicBezTo>
                      <a:cubicBezTo>
                        <a:pt x="175" y="855"/>
                        <a:pt x="195" y="835"/>
                        <a:pt x="220" y="835"/>
                      </a:cubicBezTo>
                      <a:cubicBezTo>
                        <a:pt x="244" y="835"/>
                        <a:pt x="265" y="855"/>
                        <a:pt x="265" y="880"/>
                      </a:cubicBezTo>
                      <a:close/>
                      <a:moveTo>
                        <a:pt x="345" y="120"/>
                      </a:moveTo>
                      <a:cubicBezTo>
                        <a:pt x="345" y="144"/>
                        <a:pt x="324" y="165"/>
                        <a:pt x="300" y="165"/>
                      </a:cubicBezTo>
                      <a:cubicBezTo>
                        <a:pt x="275" y="165"/>
                        <a:pt x="255" y="144"/>
                        <a:pt x="255" y="120"/>
                      </a:cubicBezTo>
                      <a:cubicBezTo>
                        <a:pt x="255" y="95"/>
                        <a:pt x="275" y="75"/>
                        <a:pt x="300" y="75"/>
                      </a:cubicBezTo>
                      <a:cubicBezTo>
                        <a:pt x="324" y="75"/>
                        <a:pt x="345" y="95"/>
                        <a:pt x="345" y="120"/>
                      </a:cubicBezTo>
                      <a:close/>
                      <a:moveTo>
                        <a:pt x="425" y="880"/>
                      </a:moveTo>
                      <a:cubicBezTo>
                        <a:pt x="425" y="904"/>
                        <a:pt x="404" y="925"/>
                        <a:pt x="380" y="925"/>
                      </a:cubicBezTo>
                      <a:cubicBezTo>
                        <a:pt x="355" y="925"/>
                        <a:pt x="335" y="904"/>
                        <a:pt x="335" y="880"/>
                      </a:cubicBezTo>
                      <a:cubicBezTo>
                        <a:pt x="335" y="855"/>
                        <a:pt x="355" y="835"/>
                        <a:pt x="380" y="835"/>
                      </a:cubicBezTo>
                      <a:cubicBezTo>
                        <a:pt x="404" y="835"/>
                        <a:pt x="425" y="855"/>
                        <a:pt x="425" y="880"/>
                      </a:cubicBezTo>
                      <a:close/>
                      <a:moveTo>
                        <a:pt x="505" y="120"/>
                      </a:moveTo>
                      <a:cubicBezTo>
                        <a:pt x="505" y="144"/>
                        <a:pt x="484" y="165"/>
                        <a:pt x="460" y="165"/>
                      </a:cubicBezTo>
                      <a:cubicBezTo>
                        <a:pt x="435" y="165"/>
                        <a:pt x="415" y="144"/>
                        <a:pt x="415" y="120"/>
                      </a:cubicBezTo>
                      <a:cubicBezTo>
                        <a:pt x="415" y="95"/>
                        <a:pt x="435" y="75"/>
                        <a:pt x="460" y="75"/>
                      </a:cubicBezTo>
                      <a:cubicBezTo>
                        <a:pt x="484" y="75"/>
                        <a:pt x="505" y="95"/>
                        <a:pt x="505" y="120"/>
                      </a:cubicBezTo>
                      <a:close/>
                      <a:moveTo>
                        <a:pt x="585" y="880"/>
                      </a:moveTo>
                      <a:cubicBezTo>
                        <a:pt x="585" y="904"/>
                        <a:pt x="564" y="925"/>
                        <a:pt x="540" y="925"/>
                      </a:cubicBezTo>
                      <a:cubicBezTo>
                        <a:pt x="515" y="925"/>
                        <a:pt x="495" y="904"/>
                        <a:pt x="495" y="880"/>
                      </a:cubicBezTo>
                      <a:cubicBezTo>
                        <a:pt x="495" y="855"/>
                        <a:pt x="515" y="835"/>
                        <a:pt x="540" y="835"/>
                      </a:cubicBezTo>
                      <a:cubicBezTo>
                        <a:pt x="564" y="835"/>
                        <a:pt x="585" y="855"/>
                        <a:pt x="585" y="880"/>
                      </a:cubicBezTo>
                      <a:close/>
                      <a:moveTo>
                        <a:pt x="665" y="120"/>
                      </a:moveTo>
                      <a:cubicBezTo>
                        <a:pt x="665" y="144"/>
                        <a:pt x="644" y="165"/>
                        <a:pt x="620" y="165"/>
                      </a:cubicBezTo>
                      <a:cubicBezTo>
                        <a:pt x="595" y="165"/>
                        <a:pt x="575" y="144"/>
                        <a:pt x="575" y="120"/>
                      </a:cubicBezTo>
                      <a:cubicBezTo>
                        <a:pt x="575" y="95"/>
                        <a:pt x="595" y="75"/>
                        <a:pt x="620" y="75"/>
                      </a:cubicBezTo>
                      <a:cubicBezTo>
                        <a:pt x="644" y="75"/>
                        <a:pt x="665" y="95"/>
                        <a:pt x="665" y="120"/>
                      </a:cubicBezTo>
                      <a:close/>
                      <a:moveTo>
                        <a:pt x="745" y="880"/>
                      </a:moveTo>
                      <a:cubicBezTo>
                        <a:pt x="745" y="904"/>
                        <a:pt x="724" y="925"/>
                        <a:pt x="700" y="925"/>
                      </a:cubicBezTo>
                      <a:cubicBezTo>
                        <a:pt x="675" y="925"/>
                        <a:pt x="655" y="904"/>
                        <a:pt x="655" y="880"/>
                      </a:cubicBezTo>
                      <a:cubicBezTo>
                        <a:pt x="655" y="855"/>
                        <a:pt x="675" y="835"/>
                        <a:pt x="700" y="835"/>
                      </a:cubicBezTo>
                      <a:cubicBezTo>
                        <a:pt x="724" y="835"/>
                        <a:pt x="745" y="855"/>
                        <a:pt x="745" y="880"/>
                      </a:cubicBezTo>
                      <a:close/>
                      <a:moveTo>
                        <a:pt x="825" y="120"/>
                      </a:moveTo>
                      <a:cubicBezTo>
                        <a:pt x="825" y="144"/>
                        <a:pt x="804" y="165"/>
                        <a:pt x="780" y="165"/>
                      </a:cubicBezTo>
                      <a:cubicBezTo>
                        <a:pt x="755" y="165"/>
                        <a:pt x="735" y="144"/>
                        <a:pt x="735" y="120"/>
                      </a:cubicBezTo>
                      <a:cubicBezTo>
                        <a:pt x="735" y="95"/>
                        <a:pt x="755" y="75"/>
                        <a:pt x="780" y="75"/>
                      </a:cubicBezTo>
                      <a:cubicBezTo>
                        <a:pt x="804" y="75"/>
                        <a:pt x="825" y="95"/>
                        <a:pt x="825" y="120"/>
                      </a:cubicBezTo>
                      <a:close/>
                      <a:moveTo>
                        <a:pt x="905" y="880"/>
                      </a:moveTo>
                      <a:cubicBezTo>
                        <a:pt x="905" y="904"/>
                        <a:pt x="884" y="925"/>
                        <a:pt x="860" y="925"/>
                      </a:cubicBezTo>
                      <a:cubicBezTo>
                        <a:pt x="835" y="925"/>
                        <a:pt x="815" y="904"/>
                        <a:pt x="815" y="880"/>
                      </a:cubicBezTo>
                      <a:cubicBezTo>
                        <a:pt x="815" y="855"/>
                        <a:pt x="835" y="835"/>
                        <a:pt x="860" y="835"/>
                      </a:cubicBezTo>
                      <a:cubicBezTo>
                        <a:pt x="884" y="835"/>
                        <a:pt x="905" y="855"/>
                        <a:pt x="905" y="880"/>
                      </a:cubicBezTo>
                      <a:close/>
                      <a:moveTo>
                        <a:pt x="985" y="120"/>
                      </a:moveTo>
                      <a:cubicBezTo>
                        <a:pt x="985" y="144"/>
                        <a:pt x="964" y="165"/>
                        <a:pt x="940" y="165"/>
                      </a:cubicBezTo>
                      <a:cubicBezTo>
                        <a:pt x="915" y="165"/>
                        <a:pt x="895" y="144"/>
                        <a:pt x="895" y="120"/>
                      </a:cubicBezTo>
                      <a:cubicBezTo>
                        <a:pt x="895" y="95"/>
                        <a:pt x="915" y="75"/>
                        <a:pt x="940" y="75"/>
                      </a:cubicBezTo>
                      <a:cubicBezTo>
                        <a:pt x="964" y="75"/>
                        <a:pt x="985" y="95"/>
                        <a:pt x="985" y="120"/>
                      </a:cubicBezTo>
                      <a:close/>
                    </a:path>
                  </a:pathLst>
                </a:custGeom>
                <a:solidFill>
                  <a:srgbClr val="5D3A6E"/>
                </a:solidFill>
                <a:ln>
                  <a:noFill/>
                </a:ln>
              </p:spPr>
            </p:sp>
            <p:sp>
              <p:nvSpPr>
                <p:cNvPr id="17" name="Forma 16"/>
                <p:cNvSpPr/>
                <p:nvPr/>
              </p:nvSpPr>
              <p:spPr>
                <a:xfrm>
                  <a:off x="1122883" y="1519922"/>
                  <a:ext cx="416966" cy="783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>
                      <a:moveTo>
                        <a:pt x="0" y="300"/>
                      </a:moveTo>
                      <a:cubicBezTo>
                        <a:pt x="20" y="241"/>
                        <a:pt x="208" y="0"/>
                        <a:pt x="250" y="0"/>
                      </a:cubicBezTo>
                      <a:cubicBezTo>
                        <a:pt x="291" y="0"/>
                        <a:pt x="458" y="300"/>
                        <a:pt x="500" y="300"/>
                      </a:cubicBezTo>
                      <a:cubicBezTo>
                        <a:pt x="541" y="300"/>
                        <a:pt x="708" y="0"/>
                        <a:pt x="750" y="0"/>
                      </a:cubicBezTo>
                      <a:cubicBezTo>
                        <a:pt x="791" y="0"/>
                        <a:pt x="979" y="241"/>
                        <a:pt x="1000" y="300"/>
                      </a:cubicBezTo>
                      <a:cubicBezTo>
                        <a:pt x="1020" y="358"/>
                        <a:pt x="1020" y="641"/>
                        <a:pt x="1000" y="700"/>
                      </a:cubicBezTo>
                      <a:cubicBezTo>
                        <a:pt x="979" y="758"/>
                        <a:pt x="791" y="1000"/>
                        <a:pt x="750" y="1000"/>
                      </a:cubicBezTo>
                      <a:cubicBezTo>
                        <a:pt x="708" y="1000"/>
                        <a:pt x="541" y="700"/>
                        <a:pt x="500" y="700"/>
                      </a:cubicBezTo>
                      <a:cubicBezTo>
                        <a:pt x="458" y="700"/>
                        <a:pt x="291" y="1000"/>
                        <a:pt x="250" y="1000"/>
                      </a:cubicBezTo>
                      <a:cubicBezTo>
                        <a:pt x="208" y="1000"/>
                        <a:pt x="20" y="758"/>
                        <a:pt x="0" y="700"/>
                      </a:cubicBezTo>
                      <a:cubicBezTo>
                        <a:pt x="-20" y="641"/>
                        <a:pt x="-20" y="358"/>
                        <a:pt x="0" y="300"/>
                      </a:cubicBezTo>
                      <a:close/>
                    </a:path>
                  </a:pathLst>
                </a:custGeom>
                <a:solidFill>
                  <a:srgbClr val="D8BEE2"/>
                </a:solidFill>
                <a:ln w="9525" cap="rnd">
                  <a:solidFill>
                    <a:srgbClr val="7E6489"/>
                  </a:solidFill>
                  <a:round/>
                </a:ln>
              </p:spPr>
            </p:sp>
            <p:sp>
              <p:nvSpPr>
                <p:cNvPr id="18" name="Forma 17"/>
                <p:cNvSpPr/>
                <p:nvPr/>
              </p:nvSpPr>
              <p:spPr>
                <a:xfrm>
                  <a:off x="1122883" y="1511564"/>
                  <a:ext cx="416966" cy="9402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>
                      <a:moveTo>
                        <a:pt x="105" y="880"/>
                      </a:moveTo>
                      <a:cubicBezTo>
                        <a:pt x="105" y="904"/>
                        <a:pt x="84" y="925"/>
                        <a:pt x="60" y="925"/>
                      </a:cubicBezTo>
                      <a:cubicBezTo>
                        <a:pt x="35" y="925"/>
                        <a:pt x="15" y="904"/>
                        <a:pt x="15" y="880"/>
                      </a:cubicBezTo>
                      <a:cubicBezTo>
                        <a:pt x="15" y="855"/>
                        <a:pt x="35" y="835"/>
                        <a:pt x="60" y="835"/>
                      </a:cubicBezTo>
                      <a:cubicBezTo>
                        <a:pt x="84" y="835"/>
                        <a:pt x="105" y="855"/>
                        <a:pt x="105" y="880"/>
                      </a:cubicBezTo>
                      <a:close/>
                      <a:moveTo>
                        <a:pt x="185" y="120"/>
                      </a:moveTo>
                      <a:cubicBezTo>
                        <a:pt x="185" y="144"/>
                        <a:pt x="164" y="165"/>
                        <a:pt x="140" y="165"/>
                      </a:cubicBezTo>
                      <a:cubicBezTo>
                        <a:pt x="115" y="165"/>
                        <a:pt x="95" y="144"/>
                        <a:pt x="95" y="120"/>
                      </a:cubicBezTo>
                      <a:cubicBezTo>
                        <a:pt x="95" y="95"/>
                        <a:pt x="115" y="75"/>
                        <a:pt x="140" y="75"/>
                      </a:cubicBezTo>
                      <a:cubicBezTo>
                        <a:pt x="164" y="75"/>
                        <a:pt x="185" y="95"/>
                        <a:pt x="185" y="120"/>
                      </a:cubicBezTo>
                      <a:close/>
                      <a:moveTo>
                        <a:pt x="265" y="880"/>
                      </a:moveTo>
                      <a:cubicBezTo>
                        <a:pt x="265" y="904"/>
                        <a:pt x="244" y="925"/>
                        <a:pt x="220" y="925"/>
                      </a:cubicBezTo>
                      <a:cubicBezTo>
                        <a:pt x="195" y="925"/>
                        <a:pt x="175" y="904"/>
                        <a:pt x="175" y="880"/>
                      </a:cubicBezTo>
                      <a:cubicBezTo>
                        <a:pt x="175" y="855"/>
                        <a:pt x="195" y="835"/>
                        <a:pt x="220" y="835"/>
                      </a:cubicBezTo>
                      <a:cubicBezTo>
                        <a:pt x="244" y="835"/>
                        <a:pt x="265" y="855"/>
                        <a:pt x="265" y="880"/>
                      </a:cubicBezTo>
                      <a:close/>
                      <a:moveTo>
                        <a:pt x="345" y="120"/>
                      </a:moveTo>
                      <a:cubicBezTo>
                        <a:pt x="345" y="144"/>
                        <a:pt x="324" y="165"/>
                        <a:pt x="300" y="165"/>
                      </a:cubicBezTo>
                      <a:cubicBezTo>
                        <a:pt x="275" y="165"/>
                        <a:pt x="255" y="144"/>
                        <a:pt x="255" y="120"/>
                      </a:cubicBezTo>
                      <a:cubicBezTo>
                        <a:pt x="255" y="95"/>
                        <a:pt x="275" y="75"/>
                        <a:pt x="300" y="75"/>
                      </a:cubicBezTo>
                      <a:cubicBezTo>
                        <a:pt x="324" y="75"/>
                        <a:pt x="345" y="95"/>
                        <a:pt x="345" y="120"/>
                      </a:cubicBezTo>
                      <a:close/>
                      <a:moveTo>
                        <a:pt x="425" y="880"/>
                      </a:moveTo>
                      <a:cubicBezTo>
                        <a:pt x="425" y="904"/>
                        <a:pt x="404" y="925"/>
                        <a:pt x="380" y="925"/>
                      </a:cubicBezTo>
                      <a:cubicBezTo>
                        <a:pt x="355" y="925"/>
                        <a:pt x="335" y="904"/>
                        <a:pt x="335" y="880"/>
                      </a:cubicBezTo>
                      <a:cubicBezTo>
                        <a:pt x="335" y="855"/>
                        <a:pt x="355" y="835"/>
                        <a:pt x="380" y="835"/>
                      </a:cubicBezTo>
                      <a:cubicBezTo>
                        <a:pt x="404" y="835"/>
                        <a:pt x="425" y="855"/>
                        <a:pt x="425" y="880"/>
                      </a:cubicBezTo>
                      <a:close/>
                      <a:moveTo>
                        <a:pt x="505" y="120"/>
                      </a:moveTo>
                      <a:cubicBezTo>
                        <a:pt x="505" y="144"/>
                        <a:pt x="484" y="165"/>
                        <a:pt x="460" y="165"/>
                      </a:cubicBezTo>
                      <a:cubicBezTo>
                        <a:pt x="435" y="165"/>
                        <a:pt x="415" y="144"/>
                        <a:pt x="415" y="120"/>
                      </a:cubicBezTo>
                      <a:cubicBezTo>
                        <a:pt x="415" y="95"/>
                        <a:pt x="435" y="75"/>
                        <a:pt x="460" y="75"/>
                      </a:cubicBezTo>
                      <a:cubicBezTo>
                        <a:pt x="484" y="75"/>
                        <a:pt x="505" y="95"/>
                        <a:pt x="505" y="120"/>
                      </a:cubicBezTo>
                      <a:close/>
                      <a:moveTo>
                        <a:pt x="585" y="880"/>
                      </a:moveTo>
                      <a:cubicBezTo>
                        <a:pt x="585" y="904"/>
                        <a:pt x="564" y="925"/>
                        <a:pt x="540" y="925"/>
                      </a:cubicBezTo>
                      <a:cubicBezTo>
                        <a:pt x="515" y="925"/>
                        <a:pt x="495" y="904"/>
                        <a:pt x="495" y="880"/>
                      </a:cubicBezTo>
                      <a:cubicBezTo>
                        <a:pt x="495" y="855"/>
                        <a:pt x="515" y="835"/>
                        <a:pt x="540" y="835"/>
                      </a:cubicBezTo>
                      <a:cubicBezTo>
                        <a:pt x="564" y="835"/>
                        <a:pt x="585" y="855"/>
                        <a:pt x="585" y="880"/>
                      </a:cubicBezTo>
                      <a:close/>
                      <a:moveTo>
                        <a:pt x="665" y="120"/>
                      </a:moveTo>
                      <a:cubicBezTo>
                        <a:pt x="665" y="144"/>
                        <a:pt x="644" y="165"/>
                        <a:pt x="620" y="165"/>
                      </a:cubicBezTo>
                      <a:cubicBezTo>
                        <a:pt x="595" y="165"/>
                        <a:pt x="575" y="144"/>
                        <a:pt x="575" y="120"/>
                      </a:cubicBezTo>
                      <a:cubicBezTo>
                        <a:pt x="575" y="95"/>
                        <a:pt x="595" y="75"/>
                        <a:pt x="620" y="75"/>
                      </a:cubicBezTo>
                      <a:cubicBezTo>
                        <a:pt x="644" y="75"/>
                        <a:pt x="665" y="95"/>
                        <a:pt x="665" y="120"/>
                      </a:cubicBezTo>
                      <a:close/>
                      <a:moveTo>
                        <a:pt x="745" y="880"/>
                      </a:moveTo>
                      <a:cubicBezTo>
                        <a:pt x="745" y="904"/>
                        <a:pt x="724" y="925"/>
                        <a:pt x="700" y="925"/>
                      </a:cubicBezTo>
                      <a:cubicBezTo>
                        <a:pt x="675" y="925"/>
                        <a:pt x="655" y="904"/>
                        <a:pt x="655" y="880"/>
                      </a:cubicBezTo>
                      <a:cubicBezTo>
                        <a:pt x="655" y="855"/>
                        <a:pt x="675" y="835"/>
                        <a:pt x="700" y="835"/>
                      </a:cubicBezTo>
                      <a:cubicBezTo>
                        <a:pt x="724" y="835"/>
                        <a:pt x="745" y="855"/>
                        <a:pt x="745" y="880"/>
                      </a:cubicBezTo>
                      <a:close/>
                      <a:moveTo>
                        <a:pt x="825" y="120"/>
                      </a:moveTo>
                      <a:cubicBezTo>
                        <a:pt x="825" y="144"/>
                        <a:pt x="804" y="165"/>
                        <a:pt x="780" y="165"/>
                      </a:cubicBezTo>
                      <a:cubicBezTo>
                        <a:pt x="755" y="165"/>
                        <a:pt x="735" y="144"/>
                        <a:pt x="735" y="120"/>
                      </a:cubicBezTo>
                      <a:cubicBezTo>
                        <a:pt x="735" y="95"/>
                        <a:pt x="755" y="75"/>
                        <a:pt x="780" y="75"/>
                      </a:cubicBezTo>
                      <a:cubicBezTo>
                        <a:pt x="804" y="75"/>
                        <a:pt x="825" y="95"/>
                        <a:pt x="825" y="120"/>
                      </a:cubicBezTo>
                      <a:close/>
                      <a:moveTo>
                        <a:pt x="905" y="880"/>
                      </a:moveTo>
                      <a:cubicBezTo>
                        <a:pt x="905" y="904"/>
                        <a:pt x="884" y="925"/>
                        <a:pt x="860" y="925"/>
                      </a:cubicBezTo>
                      <a:cubicBezTo>
                        <a:pt x="835" y="925"/>
                        <a:pt x="815" y="904"/>
                        <a:pt x="815" y="880"/>
                      </a:cubicBezTo>
                      <a:cubicBezTo>
                        <a:pt x="815" y="855"/>
                        <a:pt x="835" y="835"/>
                        <a:pt x="860" y="835"/>
                      </a:cubicBezTo>
                      <a:cubicBezTo>
                        <a:pt x="884" y="835"/>
                        <a:pt x="905" y="855"/>
                        <a:pt x="905" y="880"/>
                      </a:cubicBezTo>
                      <a:close/>
                      <a:moveTo>
                        <a:pt x="985" y="120"/>
                      </a:moveTo>
                      <a:cubicBezTo>
                        <a:pt x="985" y="144"/>
                        <a:pt x="964" y="165"/>
                        <a:pt x="940" y="165"/>
                      </a:cubicBezTo>
                      <a:cubicBezTo>
                        <a:pt x="915" y="165"/>
                        <a:pt x="895" y="144"/>
                        <a:pt x="895" y="120"/>
                      </a:cubicBezTo>
                      <a:cubicBezTo>
                        <a:pt x="895" y="95"/>
                        <a:pt x="915" y="75"/>
                        <a:pt x="940" y="75"/>
                      </a:cubicBezTo>
                      <a:cubicBezTo>
                        <a:pt x="964" y="75"/>
                        <a:pt x="985" y="95"/>
                        <a:pt x="985" y="120"/>
                      </a:cubicBezTo>
                      <a:close/>
                    </a:path>
                  </a:pathLst>
                </a:custGeom>
                <a:solidFill>
                  <a:srgbClr val="5D3A6E"/>
                </a:solidFill>
                <a:ln>
                  <a:noFill/>
                </a:ln>
              </p:spPr>
            </p:sp>
          </p:grpSp>
          <p:grpSp>
            <p:nvGrpSpPr>
              <p:cNvPr id="19" name="Mitocondria"/>
              <p:cNvGrpSpPr/>
              <p:nvPr/>
            </p:nvGrpSpPr>
            <p:grpSpPr>
              <a:xfrm>
                <a:off x="2061058" y="1382207"/>
                <a:ext cx="277978" cy="138989"/>
                <a:chOff x="2061058" y="1382207"/>
                <a:chExt cx="277978" cy="138989"/>
              </a:xfrm>
            </p:grpSpPr>
            <p:sp>
              <p:nvSpPr>
                <p:cNvPr id="20" name="Forma 19"/>
                <p:cNvSpPr/>
                <p:nvPr/>
              </p:nvSpPr>
              <p:spPr>
                <a:xfrm>
                  <a:off x="2061058" y="1382207"/>
                  <a:ext cx="277978" cy="1389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21" name="Forma 20"/>
                <p:cNvSpPr/>
                <p:nvPr/>
              </p:nvSpPr>
              <p:spPr>
                <a:xfrm>
                  <a:off x="2080516" y="1401665"/>
                  <a:ext cx="239061" cy="1000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22" name="Forma 21"/>
                <p:cNvSpPr/>
                <p:nvPr/>
              </p:nvSpPr>
              <p:spPr>
                <a:xfrm>
                  <a:off x="2080516" y="1401665"/>
                  <a:ext cx="239061" cy="1000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23" name="Mitocondria_2"/>
              <p:cNvGrpSpPr/>
              <p:nvPr/>
            </p:nvGrpSpPr>
            <p:grpSpPr>
              <a:xfrm>
                <a:off x="2130552" y="1980554"/>
                <a:ext cx="277978" cy="138989"/>
                <a:chOff x="2130552" y="1980554"/>
                <a:chExt cx="277978" cy="138989"/>
              </a:xfrm>
            </p:grpSpPr>
            <p:sp>
              <p:nvSpPr>
                <p:cNvPr id="24" name="Forma 23"/>
                <p:cNvSpPr/>
                <p:nvPr/>
              </p:nvSpPr>
              <p:spPr>
                <a:xfrm rot="1500000">
                  <a:off x="2130552" y="1980554"/>
                  <a:ext cx="277978" cy="1389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25" name="Forma 24"/>
                <p:cNvSpPr/>
                <p:nvPr/>
              </p:nvSpPr>
              <p:spPr>
                <a:xfrm rot="1500000">
                  <a:off x="2150010" y="2000012"/>
                  <a:ext cx="239061" cy="1000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26" name="Forma 25"/>
                <p:cNvSpPr/>
                <p:nvPr/>
              </p:nvSpPr>
              <p:spPr>
                <a:xfrm rot="1500000">
                  <a:off x="2150010" y="2000012"/>
                  <a:ext cx="239061" cy="1000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27" name="Mitocondria_3"/>
              <p:cNvGrpSpPr/>
              <p:nvPr/>
            </p:nvGrpSpPr>
            <p:grpSpPr>
              <a:xfrm>
                <a:off x="1261872" y="1980554"/>
                <a:ext cx="277978" cy="138989"/>
                <a:chOff x="1261872" y="1980554"/>
                <a:chExt cx="277978" cy="138989"/>
              </a:xfrm>
            </p:grpSpPr>
            <p:sp>
              <p:nvSpPr>
                <p:cNvPr id="28" name="Forma 27"/>
                <p:cNvSpPr/>
                <p:nvPr/>
              </p:nvSpPr>
              <p:spPr>
                <a:xfrm rot="-1200000">
                  <a:off x="1261872" y="1980554"/>
                  <a:ext cx="277978" cy="1389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29" name="Forma 28"/>
                <p:cNvSpPr/>
                <p:nvPr/>
              </p:nvSpPr>
              <p:spPr>
                <a:xfrm rot="-1200000">
                  <a:off x="1281330" y="2000012"/>
                  <a:ext cx="239061" cy="1000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0" name="Forma 29"/>
                <p:cNvSpPr/>
                <p:nvPr/>
              </p:nvSpPr>
              <p:spPr>
                <a:xfrm rot="-1200000">
                  <a:off x="1281330" y="2000012"/>
                  <a:ext cx="239061" cy="1000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grpSp>
            <p:nvGrpSpPr>
              <p:cNvPr id="31" name="Mitocondria_4"/>
              <p:cNvGrpSpPr/>
              <p:nvPr/>
            </p:nvGrpSpPr>
            <p:grpSpPr>
              <a:xfrm>
                <a:off x="1696212" y="2165756"/>
                <a:ext cx="277978" cy="138989"/>
                <a:chOff x="1696212" y="2165756"/>
                <a:chExt cx="277978" cy="138989"/>
              </a:xfrm>
            </p:grpSpPr>
            <p:sp>
              <p:nvSpPr>
                <p:cNvPr id="32" name="Forma 31"/>
                <p:cNvSpPr/>
                <p:nvPr/>
              </p:nvSpPr>
              <p:spPr>
                <a:xfrm rot="600000">
                  <a:off x="1696212" y="2165756"/>
                  <a:ext cx="277978" cy="1389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3BD7E"/>
                    </a:gs>
                    <a:gs pos="55000">
                      <a:srgbClr val="EE9A3A"/>
                    </a:gs>
                    <a:gs pos="100000">
                      <a:srgbClr val="A66B28"/>
                    </a:gs>
                  </a:gsLst>
                  <a:path path="circle">
                    <a:fillToRect l="32000" t="28000" r="68000" b="72000"/>
                  </a:path>
                </a:gradFill>
                <a:ln w="12700" cap="rnd">
                  <a:solidFill>
                    <a:srgbClr val="774D1D"/>
                  </a:solidFill>
                  <a:round/>
                </a:ln>
              </p:spPr>
            </p:sp>
            <p:sp>
              <p:nvSpPr>
                <p:cNvPr id="33" name="Forma 32"/>
                <p:cNvSpPr/>
                <p:nvPr/>
              </p:nvSpPr>
              <p:spPr>
                <a:xfrm rot="600000">
                  <a:off x="1715670" y="2185215"/>
                  <a:ext cx="239061" cy="100072"/>
                </a:xfrm>
                <a:prstGeom prst="ellipse">
                  <a:avLst/>
                </a:prstGeom>
                <a:solidFill>
                  <a:srgbClr val="F8D8B4"/>
                </a:solidFill>
                <a:ln w="9525" cap="rnd">
                  <a:solidFill>
                    <a:srgbClr val="B2732B"/>
                  </a:solidFill>
                  <a:round/>
                </a:ln>
              </p:spPr>
            </p:sp>
            <p:sp>
              <p:nvSpPr>
                <p:cNvPr id="34" name="Forma 33"/>
                <p:cNvSpPr/>
                <p:nvPr/>
              </p:nvSpPr>
              <p:spPr>
                <a:xfrm rot="600000">
                  <a:off x="1715670" y="2185215"/>
                  <a:ext cx="239061" cy="10007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00" h="1000" fill="none">
                      <a:moveTo>
                        <a:pt x="90" y="200"/>
                      </a:moveTo>
                      <a:cubicBezTo>
                        <a:pt x="95" y="260"/>
                        <a:pt x="136" y="800"/>
                        <a:pt x="148" y="800"/>
                      </a:cubicBezTo>
                      <a:cubicBezTo>
                        <a:pt x="160" y="800"/>
                        <a:pt x="195" y="200"/>
                        <a:pt x="207" y="200"/>
                      </a:cubicBezTo>
                      <a:cubicBezTo>
                        <a:pt x="218" y="200"/>
                        <a:pt x="254" y="800"/>
                        <a:pt x="265" y="800"/>
                      </a:cubicBezTo>
                      <a:cubicBezTo>
                        <a:pt x="277" y="800"/>
                        <a:pt x="312" y="200"/>
                        <a:pt x="324" y="200"/>
                      </a:cubicBezTo>
                      <a:cubicBezTo>
                        <a:pt x="336" y="200"/>
                        <a:pt x="371" y="800"/>
                        <a:pt x="382" y="800"/>
                      </a:cubicBezTo>
                      <a:cubicBezTo>
                        <a:pt x="394" y="800"/>
                        <a:pt x="429" y="200"/>
                        <a:pt x="441" y="200"/>
                      </a:cubicBezTo>
                      <a:cubicBezTo>
                        <a:pt x="453" y="200"/>
                        <a:pt x="488" y="800"/>
                        <a:pt x="500" y="800"/>
                      </a:cubicBezTo>
                      <a:cubicBezTo>
                        <a:pt x="511" y="800"/>
                        <a:pt x="546" y="200"/>
                        <a:pt x="558" y="200"/>
                      </a:cubicBezTo>
                      <a:cubicBezTo>
                        <a:pt x="570" y="200"/>
                        <a:pt x="605" y="800"/>
                        <a:pt x="617" y="800"/>
                      </a:cubicBezTo>
                      <a:cubicBezTo>
                        <a:pt x="628" y="800"/>
                        <a:pt x="664" y="200"/>
                        <a:pt x="675" y="200"/>
                      </a:cubicBezTo>
                      <a:cubicBezTo>
                        <a:pt x="687" y="200"/>
                        <a:pt x="722" y="800"/>
                        <a:pt x="734" y="800"/>
                      </a:cubicBezTo>
                      <a:cubicBezTo>
                        <a:pt x="746" y="800"/>
                        <a:pt x="781" y="200"/>
                        <a:pt x="792" y="200"/>
                      </a:cubicBezTo>
                      <a:cubicBezTo>
                        <a:pt x="804" y="200"/>
                        <a:pt x="839" y="800"/>
                        <a:pt x="851" y="800"/>
                      </a:cubicBezTo>
                      <a:cubicBezTo>
                        <a:pt x="863" y="800"/>
                        <a:pt x="904" y="260"/>
                        <a:pt x="910" y="200"/>
                      </a:cubicBezTo>
                    </a:path>
                  </a:pathLst>
                </a:custGeom>
                <a:noFill/>
                <a:ln w="15875" cap="rnd">
                  <a:solidFill>
                    <a:srgbClr val="9A6425"/>
                  </a:solidFill>
                  <a:round/>
                </a:ln>
              </p:spPr>
            </p:sp>
          </p:grpSp>
          <p:sp>
            <p:nvSpPr>
              <p:cNvPr id="35" name="Glucógeno"/>
              <p:cNvSpPr/>
              <p:nvPr/>
            </p:nvSpPr>
            <p:spPr>
              <a:xfrm>
                <a:off x="1991563" y="1667134"/>
                <a:ext cx="382219" cy="25643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71" y="726"/>
                    </a:moveTo>
                    <a:cubicBezTo>
                      <a:pt x="471" y="746"/>
                      <a:pt x="453" y="764"/>
                      <a:pt x="433" y="764"/>
                    </a:cubicBezTo>
                    <a:cubicBezTo>
                      <a:pt x="412" y="764"/>
                      <a:pt x="395" y="746"/>
                      <a:pt x="395" y="726"/>
                    </a:cubicBezTo>
                    <a:cubicBezTo>
                      <a:pt x="395" y="705"/>
                      <a:pt x="412" y="688"/>
                      <a:pt x="433" y="688"/>
                    </a:cubicBezTo>
                    <a:cubicBezTo>
                      <a:pt x="453" y="688"/>
                      <a:pt x="471" y="705"/>
                      <a:pt x="471" y="726"/>
                    </a:cubicBezTo>
                    <a:close/>
                    <a:moveTo>
                      <a:pt x="438" y="784"/>
                    </a:moveTo>
                    <a:cubicBezTo>
                      <a:pt x="438" y="804"/>
                      <a:pt x="420" y="822"/>
                      <a:pt x="400" y="822"/>
                    </a:cubicBezTo>
                    <a:cubicBezTo>
                      <a:pt x="379" y="822"/>
                      <a:pt x="362" y="804"/>
                      <a:pt x="362" y="784"/>
                    </a:cubicBezTo>
                    <a:cubicBezTo>
                      <a:pt x="362" y="763"/>
                      <a:pt x="379" y="746"/>
                      <a:pt x="400" y="746"/>
                    </a:cubicBezTo>
                    <a:cubicBezTo>
                      <a:pt x="420" y="746"/>
                      <a:pt x="438" y="763"/>
                      <a:pt x="438" y="784"/>
                    </a:cubicBezTo>
                    <a:close/>
                    <a:moveTo>
                      <a:pt x="371" y="789"/>
                    </a:moveTo>
                    <a:cubicBezTo>
                      <a:pt x="371" y="809"/>
                      <a:pt x="353" y="827"/>
                      <a:pt x="333" y="827"/>
                    </a:cubicBezTo>
                    <a:cubicBezTo>
                      <a:pt x="312" y="827"/>
                      <a:pt x="295" y="809"/>
                      <a:pt x="295" y="789"/>
                    </a:cubicBezTo>
                    <a:cubicBezTo>
                      <a:pt x="295" y="768"/>
                      <a:pt x="312" y="751"/>
                      <a:pt x="333" y="751"/>
                    </a:cubicBezTo>
                    <a:cubicBezTo>
                      <a:pt x="353" y="751"/>
                      <a:pt x="371" y="768"/>
                      <a:pt x="371" y="789"/>
                    </a:cubicBezTo>
                    <a:close/>
                    <a:moveTo>
                      <a:pt x="331" y="735"/>
                    </a:moveTo>
                    <a:cubicBezTo>
                      <a:pt x="331" y="755"/>
                      <a:pt x="313" y="773"/>
                      <a:pt x="293" y="773"/>
                    </a:cubicBezTo>
                    <a:cubicBezTo>
                      <a:pt x="272" y="773"/>
                      <a:pt x="255" y="755"/>
                      <a:pt x="255" y="735"/>
                    </a:cubicBezTo>
                    <a:cubicBezTo>
                      <a:pt x="255" y="714"/>
                      <a:pt x="272" y="697"/>
                      <a:pt x="293" y="697"/>
                    </a:cubicBezTo>
                    <a:cubicBezTo>
                      <a:pt x="313" y="697"/>
                      <a:pt x="331" y="714"/>
                      <a:pt x="331" y="735"/>
                    </a:cubicBezTo>
                    <a:close/>
                    <a:moveTo>
                      <a:pt x="355" y="673"/>
                    </a:moveTo>
                    <a:cubicBezTo>
                      <a:pt x="355" y="693"/>
                      <a:pt x="337" y="711"/>
                      <a:pt x="317" y="711"/>
                    </a:cubicBezTo>
                    <a:cubicBezTo>
                      <a:pt x="296" y="711"/>
                      <a:pt x="279" y="693"/>
                      <a:pt x="279" y="673"/>
                    </a:cubicBezTo>
                    <a:cubicBezTo>
                      <a:pt x="279" y="652"/>
                      <a:pt x="296" y="635"/>
                      <a:pt x="317" y="635"/>
                    </a:cubicBezTo>
                    <a:cubicBezTo>
                      <a:pt x="337" y="635"/>
                      <a:pt x="355" y="652"/>
                      <a:pt x="355" y="673"/>
                    </a:cubicBezTo>
                    <a:close/>
                    <a:moveTo>
                      <a:pt x="420" y="658"/>
                    </a:moveTo>
                    <a:cubicBezTo>
                      <a:pt x="420" y="678"/>
                      <a:pt x="402" y="696"/>
                      <a:pt x="382" y="696"/>
                    </a:cubicBezTo>
                    <a:cubicBezTo>
                      <a:pt x="361" y="696"/>
                      <a:pt x="344" y="678"/>
                      <a:pt x="344" y="658"/>
                    </a:cubicBezTo>
                    <a:cubicBezTo>
                      <a:pt x="344" y="637"/>
                      <a:pt x="361" y="620"/>
                      <a:pt x="382" y="620"/>
                    </a:cubicBezTo>
                    <a:cubicBezTo>
                      <a:pt x="402" y="620"/>
                      <a:pt x="420" y="637"/>
                      <a:pt x="420" y="658"/>
                    </a:cubicBezTo>
                    <a:close/>
                    <a:moveTo>
                      <a:pt x="785" y="253"/>
                    </a:moveTo>
                    <a:cubicBezTo>
                      <a:pt x="785" y="273"/>
                      <a:pt x="767" y="291"/>
                      <a:pt x="747" y="291"/>
                    </a:cubicBezTo>
                    <a:cubicBezTo>
                      <a:pt x="726" y="291"/>
                      <a:pt x="709" y="273"/>
                      <a:pt x="709" y="253"/>
                    </a:cubicBezTo>
                    <a:cubicBezTo>
                      <a:pt x="709" y="232"/>
                      <a:pt x="726" y="215"/>
                      <a:pt x="747" y="215"/>
                    </a:cubicBezTo>
                    <a:cubicBezTo>
                      <a:pt x="767" y="215"/>
                      <a:pt x="785" y="232"/>
                      <a:pt x="785" y="253"/>
                    </a:cubicBezTo>
                    <a:close/>
                    <a:moveTo>
                      <a:pt x="752" y="311"/>
                    </a:moveTo>
                    <a:cubicBezTo>
                      <a:pt x="752" y="331"/>
                      <a:pt x="734" y="349"/>
                      <a:pt x="714" y="349"/>
                    </a:cubicBezTo>
                    <a:cubicBezTo>
                      <a:pt x="693" y="349"/>
                      <a:pt x="676" y="331"/>
                      <a:pt x="676" y="311"/>
                    </a:cubicBezTo>
                    <a:cubicBezTo>
                      <a:pt x="676" y="290"/>
                      <a:pt x="693" y="273"/>
                      <a:pt x="714" y="273"/>
                    </a:cubicBezTo>
                    <a:cubicBezTo>
                      <a:pt x="734" y="273"/>
                      <a:pt x="752" y="290"/>
                      <a:pt x="752" y="311"/>
                    </a:cubicBezTo>
                    <a:close/>
                    <a:moveTo>
                      <a:pt x="685" y="316"/>
                    </a:moveTo>
                    <a:cubicBezTo>
                      <a:pt x="685" y="336"/>
                      <a:pt x="667" y="354"/>
                      <a:pt x="647" y="354"/>
                    </a:cubicBezTo>
                    <a:cubicBezTo>
                      <a:pt x="626" y="354"/>
                      <a:pt x="609" y="336"/>
                      <a:pt x="609" y="316"/>
                    </a:cubicBezTo>
                    <a:cubicBezTo>
                      <a:pt x="609" y="295"/>
                      <a:pt x="626" y="278"/>
                      <a:pt x="647" y="278"/>
                    </a:cubicBezTo>
                    <a:cubicBezTo>
                      <a:pt x="667" y="278"/>
                      <a:pt x="685" y="295"/>
                      <a:pt x="685" y="316"/>
                    </a:cubicBezTo>
                    <a:close/>
                    <a:moveTo>
                      <a:pt x="645" y="262"/>
                    </a:moveTo>
                    <a:cubicBezTo>
                      <a:pt x="645" y="282"/>
                      <a:pt x="627" y="300"/>
                      <a:pt x="607" y="300"/>
                    </a:cubicBezTo>
                    <a:cubicBezTo>
                      <a:pt x="586" y="300"/>
                      <a:pt x="569" y="282"/>
                      <a:pt x="569" y="262"/>
                    </a:cubicBezTo>
                    <a:cubicBezTo>
                      <a:pt x="569" y="241"/>
                      <a:pt x="586" y="224"/>
                      <a:pt x="607" y="224"/>
                    </a:cubicBezTo>
                    <a:cubicBezTo>
                      <a:pt x="627" y="224"/>
                      <a:pt x="645" y="241"/>
                      <a:pt x="645" y="262"/>
                    </a:cubicBezTo>
                    <a:close/>
                    <a:moveTo>
                      <a:pt x="669" y="200"/>
                    </a:moveTo>
                    <a:cubicBezTo>
                      <a:pt x="669" y="220"/>
                      <a:pt x="651" y="238"/>
                      <a:pt x="631" y="238"/>
                    </a:cubicBezTo>
                    <a:cubicBezTo>
                      <a:pt x="610" y="238"/>
                      <a:pt x="593" y="220"/>
                      <a:pt x="593" y="200"/>
                    </a:cubicBezTo>
                    <a:cubicBezTo>
                      <a:pt x="593" y="179"/>
                      <a:pt x="610" y="162"/>
                      <a:pt x="631" y="162"/>
                    </a:cubicBezTo>
                    <a:cubicBezTo>
                      <a:pt x="651" y="162"/>
                      <a:pt x="669" y="179"/>
                      <a:pt x="669" y="200"/>
                    </a:cubicBezTo>
                    <a:close/>
                    <a:moveTo>
                      <a:pt x="734" y="185"/>
                    </a:moveTo>
                    <a:cubicBezTo>
                      <a:pt x="734" y="205"/>
                      <a:pt x="716" y="223"/>
                      <a:pt x="696" y="223"/>
                    </a:cubicBezTo>
                    <a:cubicBezTo>
                      <a:pt x="675" y="223"/>
                      <a:pt x="658" y="205"/>
                      <a:pt x="658" y="185"/>
                    </a:cubicBezTo>
                    <a:cubicBezTo>
                      <a:pt x="658" y="164"/>
                      <a:pt x="675" y="147"/>
                      <a:pt x="696" y="147"/>
                    </a:cubicBezTo>
                    <a:cubicBezTo>
                      <a:pt x="716" y="147"/>
                      <a:pt x="734" y="164"/>
                      <a:pt x="734" y="185"/>
                    </a:cubicBezTo>
                    <a:close/>
                    <a:moveTo>
                      <a:pt x="606" y="738"/>
                    </a:moveTo>
                    <a:cubicBezTo>
                      <a:pt x="606" y="758"/>
                      <a:pt x="588" y="776"/>
                      <a:pt x="568" y="776"/>
                    </a:cubicBezTo>
                    <a:cubicBezTo>
                      <a:pt x="547" y="776"/>
                      <a:pt x="530" y="758"/>
                      <a:pt x="530" y="738"/>
                    </a:cubicBezTo>
                    <a:cubicBezTo>
                      <a:pt x="530" y="717"/>
                      <a:pt x="547" y="700"/>
                      <a:pt x="568" y="700"/>
                    </a:cubicBezTo>
                    <a:cubicBezTo>
                      <a:pt x="588" y="700"/>
                      <a:pt x="606" y="717"/>
                      <a:pt x="606" y="738"/>
                    </a:cubicBezTo>
                    <a:close/>
                    <a:moveTo>
                      <a:pt x="573" y="796"/>
                    </a:moveTo>
                    <a:cubicBezTo>
                      <a:pt x="573" y="816"/>
                      <a:pt x="555" y="834"/>
                      <a:pt x="535" y="834"/>
                    </a:cubicBezTo>
                    <a:cubicBezTo>
                      <a:pt x="514" y="834"/>
                      <a:pt x="497" y="816"/>
                      <a:pt x="497" y="796"/>
                    </a:cubicBezTo>
                    <a:cubicBezTo>
                      <a:pt x="497" y="775"/>
                      <a:pt x="514" y="758"/>
                      <a:pt x="535" y="758"/>
                    </a:cubicBezTo>
                    <a:cubicBezTo>
                      <a:pt x="555" y="758"/>
                      <a:pt x="573" y="775"/>
                      <a:pt x="573" y="796"/>
                    </a:cubicBezTo>
                    <a:close/>
                    <a:moveTo>
                      <a:pt x="506" y="801"/>
                    </a:moveTo>
                    <a:cubicBezTo>
                      <a:pt x="506" y="821"/>
                      <a:pt x="488" y="839"/>
                      <a:pt x="468" y="839"/>
                    </a:cubicBezTo>
                    <a:cubicBezTo>
                      <a:pt x="447" y="839"/>
                      <a:pt x="430" y="821"/>
                      <a:pt x="430" y="801"/>
                    </a:cubicBezTo>
                    <a:cubicBezTo>
                      <a:pt x="430" y="780"/>
                      <a:pt x="447" y="763"/>
                      <a:pt x="468" y="763"/>
                    </a:cubicBezTo>
                    <a:cubicBezTo>
                      <a:pt x="488" y="763"/>
                      <a:pt x="506" y="780"/>
                      <a:pt x="506" y="801"/>
                    </a:cubicBezTo>
                    <a:close/>
                    <a:moveTo>
                      <a:pt x="466" y="747"/>
                    </a:moveTo>
                    <a:cubicBezTo>
                      <a:pt x="466" y="767"/>
                      <a:pt x="448" y="785"/>
                      <a:pt x="428" y="785"/>
                    </a:cubicBezTo>
                    <a:cubicBezTo>
                      <a:pt x="407" y="785"/>
                      <a:pt x="390" y="767"/>
                      <a:pt x="390" y="747"/>
                    </a:cubicBezTo>
                    <a:cubicBezTo>
                      <a:pt x="390" y="726"/>
                      <a:pt x="407" y="709"/>
                      <a:pt x="428" y="709"/>
                    </a:cubicBezTo>
                    <a:cubicBezTo>
                      <a:pt x="448" y="709"/>
                      <a:pt x="466" y="726"/>
                      <a:pt x="466" y="747"/>
                    </a:cubicBezTo>
                    <a:close/>
                    <a:moveTo>
                      <a:pt x="490" y="685"/>
                    </a:moveTo>
                    <a:cubicBezTo>
                      <a:pt x="490" y="705"/>
                      <a:pt x="472" y="723"/>
                      <a:pt x="452" y="723"/>
                    </a:cubicBezTo>
                    <a:cubicBezTo>
                      <a:pt x="431" y="723"/>
                      <a:pt x="414" y="705"/>
                      <a:pt x="414" y="685"/>
                    </a:cubicBezTo>
                    <a:cubicBezTo>
                      <a:pt x="414" y="664"/>
                      <a:pt x="431" y="647"/>
                      <a:pt x="452" y="647"/>
                    </a:cubicBezTo>
                    <a:cubicBezTo>
                      <a:pt x="472" y="647"/>
                      <a:pt x="490" y="664"/>
                      <a:pt x="490" y="685"/>
                    </a:cubicBezTo>
                    <a:close/>
                    <a:moveTo>
                      <a:pt x="555" y="670"/>
                    </a:moveTo>
                    <a:cubicBezTo>
                      <a:pt x="555" y="690"/>
                      <a:pt x="537" y="708"/>
                      <a:pt x="517" y="708"/>
                    </a:cubicBezTo>
                    <a:cubicBezTo>
                      <a:pt x="496" y="708"/>
                      <a:pt x="479" y="690"/>
                      <a:pt x="479" y="670"/>
                    </a:cubicBezTo>
                    <a:cubicBezTo>
                      <a:pt x="479" y="649"/>
                      <a:pt x="496" y="632"/>
                      <a:pt x="517" y="632"/>
                    </a:cubicBezTo>
                    <a:cubicBezTo>
                      <a:pt x="537" y="632"/>
                      <a:pt x="555" y="649"/>
                      <a:pt x="555" y="670"/>
                    </a:cubicBezTo>
                    <a:close/>
                    <a:moveTo>
                      <a:pt x="713" y="760"/>
                    </a:moveTo>
                    <a:cubicBezTo>
                      <a:pt x="713" y="780"/>
                      <a:pt x="695" y="798"/>
                      <a:pt x="675" y="798"/>
                    </a:cubicBezTo>
                    <a:cubicBezTo>
                      <a:pt x="654" y="798"/>
                      <a:pt x="637" y="780"/>
                      <a:pt x="637" y="760"/>
                    </a:cubicBezTo>
                    <a:cubicBezTo>
                      <a:pt x="637" y="739"/>
                      <a:pt x="654" y="722"/>
                      <a:pt x="675" y="722"/>
                    </a:cubicBezTo>
                    <a:cubicBezTo>
                      <a:pt x="695" y="722"/>
                      <a:pt x="713" y="739"/>
                      <a:pt x="713" y="760"/>
                    </a:cubicBezTo>
                    <a:close/>
                    <a:moveTo>
                      <a:pt x="680" y="818"/>
                    </a:moveTo>
                    <a:cubicBezTo>
                      <a:pt x="680" y="838"/>
                      <a:pt x="662" y="856"/>
                      <a:pt x="642" y="856"/>
                    </a:cubicBezTo>
                    <a:cubicBezTo>
                      <a:pt x="621" y="856"/>
                      <a:pt x="604" y="838"/>
                      <a:pt x="604" y="818"/>
                    </a:cubicBezTo>
                    <a:cubicBezTo>
                      <a:pt x="604" y="797"/>
                      <a:pt x="621" y="780"/>
                      <a:pt x="642" y="780"/>
                    </a:cubicBezTo>
                    <a:cubicBezTo>
                      <a:pt x="662" y="780"/>
                      <a:pt x="680" y="797"/>
                      <a:pt x="680" y="818"/>
                    </a:cubicBezTo>
                    <a:close/>
                    <a:moveTo>
                      <a:pt x="613" y="823"/>
                    </a:moveTo>
                    <a:cubicBezTo>
                      <a:pt x="613" y="843"/>
                      <a:pt x="595" y="861"/>
                      <a:pt x="575" y="861"/>
                    </a:cubicBezTo>
                    <a:cubicBezTo>
                      <a:pt x="554" y="861"/>
                      <a:pt x="537" y="843"/>
                      <a:pt x="537" y="823"/>
                    </a:cubicBezTo>
                    <a:cubicBezTo>
                      <a:pt x="537" y="802"/>
                      <a:pt x="554" y="785"/>
                      <a:pt x="575" y="785"/>
                    </a:cubicBezTo>
                    <a:cubicBezTo>
                      <a:pt x="595" y="785"/>
                      <a:pt x="613" y="802"/>
                      <a:pt x="613" y="823"/>
                    </a:cubicBezTo>
                    <a:close/>
                    <a:moveTo>
                      <a:pt x="573" y="769"/>
                    </a:moveTo>
                    <a:cubicBezTo>
                      <a:pt x="573" y="789"/>
                      <a:pt x="555" y="807"/>
                      <a:pt x="535" y="807"/>
                    </a:cubicBezTo>
                    <a:cubicBezTo>
                      <a:pt x="514" y="807"/>
                      <a:pt x="497" y="789"/>
                      <a:pt x="497" y="769"/>
                    </a:cubicBezTo>
                    <a:cubicBezTo>
                      <a:pt x="497" y="748"/>
                      <a:pt x="514" y="731"/>
                      <a:pt x="535" y="731"/>
                    </a:cubicBezTo>
                    <a:cubicBezTo>
                      <a:pt x="555" y="731"/>
                      <a:pt x="573" y="748"/>
                      <a:pt x="573" y="769"/>
                    </a:cubicBezTo>
                    <a:close/>
                    <a:moveTo>
                      <a:pt x="597" y="707"/>
                    </a:moveTo>
                    <a:cubicBezTo>
                      <a:pt x="597" y="727"/>
                      <a:pt x="579" y="745"/>
                      <a:pt x="559" y="745"/>
                    </a:cubicBezTo>
                    <a:cubicBezTo>
                      <a:pt x="538" y="745"/>
                      <a:pt x="521" y="727"/>
                      <a:pt x="521" y="707"/>
                    </a:cubicBezTo>
                    <a:cubicBezTo>
                      <a:pt x="521" y="686"/>
                      <a:pt x="538" y="669"/>
                      <a:pt x="559" y="669"/>
                    </a:cubicBezTo>
                    <a:cubicBezTo>
                      <a:pt x="579" y="669"/>
                      <a:pt x="597" y="686"/>
                      <a:pt x="597" y="707"/>
                    </a:cubicBezTo>
                    <a:close/>
                    <a:moveTo>
                      <a:pt x="662" y="692"/>
                    </a:moveTo>
                    <a:cubicBezTo>
                      <a:pt x="662" y="712"/>
                      <a:pt x="644" y="730"/>
                      <a:pt x="624" y="730"/>
                    </a:cubicBezTo>
                    <a:cubicBezTo>
                      <a:pt x="603" y="730"/>
                      <a:pt x="586" y="712"/>
                      <a:pt x="586" y="692"/>
                    </a:cubicBezTo>
                    <a:cubicBezTo>
                      <a:pt x="586" y="671"/>
                      <a:pt x="603" y="654"/>
                      <a:pt x="624" y="654"/>
                    </a:cubicBezTo>
                    <a:cubicBezTo>
                      <a:pt x="644" y="654"/>
                      <a:pt x="662" y="671"/>
                      <a:pt x="662" y="692"/>
                    </a:cubicBezTo>
                    <a:close/>
                    <a:moveTo>
                      <a:pt x="822" y="187"/>
                    </a:moveTo>
                    <a:cubicBezTo>
                      <a:pt x="822" y="207"/>
                      <a:pt x="804" y="225"/>
                      <a:pt x="784" y="225"/>
                    </a:cubicBezTo>
                    <a:cubicBezTo>
                      <a:pt x="763" y="225"/>
                      <a:pt x="746" y="207"/>
                      <a:pt x="746" y="187"/>
                    </a:cubicBezTo>
                    <a:cubicBezTo>
                      <a:pt x="746" y="166"/>
                      <a:pt x="763" y="149"/>
                      <a:pt x="784" y="149"/>
                    </a:cubicBezTo>
                    <a:cubicBezTo>
                      <a:pt x="804" y="149"/>
                      <a:pt x="822" y="166"/>
                      <a:pt x="822" y="187"/>
                    </a:cubicBezTo>
                    <a:close/>
                    <a:moveTo>
                      <a:pt x="789" y="245"/>
                    </a:moveTo>
                    <a:cubicBezTo>
                      <a:pt x="789" y="265"/>
                      <a:pt x="771" y="283"/>
                      <a:pt x="751" y="283"/>
                    </a:cubicBezTo>
                    <a:cubicBezTo>
                      <a:pt x="730" y="283"/>
                      <a:pt x="713" y="265"/>
                      <a:pt x="713" y="245"/>
                    </a:cubicBezTo>
                    <a:cubicBezTo>
                      <a:pt x="713" y="224"/>
                      <a:pt x="730" y="207"/>
                      <a:pt x="751" y="207"/>
                    </a:cubicBezTo>
                    <a:cubicBezTo>
                      <a:pt x="771" y="207"/>
                      <a:pt x="789" y="224"/>
                      <a:pt x="789" y="245"/>
                    </a:cubicBezTo>
                    <a:close/>
                    <a:moveTo>
                      <a:pt x="722" y="250"/>
                    </a:moveTo>
                    <a:cubicBezTo>
                      <a:pt x="722" y="270"/>
                      <a:pt x="704" y="288"/>
                      <a:pt x="684" y="288"/>
                    </a:cubicBezTo>
                    <a:cubicBezTo>
                      <a:pt x="663" y="288"/>
                      <a:pt x="646" y="270"/>
                      <a:pt x="646" y="250"/>
                    </a:cubicBezTo>
                    <a:cubicBezTo>
                      <a:pt x="646" y="229"/>
                      <a:pt x="663" y="212"/>
                      <a:pt x="684" y="212"/>
                    </a:cubicBezTo>
                    <a:cubicBezTo>
                      <a:pt x="704" y="212"/>
                      <a:pt x="722" y="229"/>
                      <a:pt x="722" y="250"/>
                    </a:cubicBezTo>
                    <a:close/>
                    <a:moveTo>
                      <a:pt x="682" y="196"/>
                    </a:moveTo>
                    <a:cubicBezTo>
                      <a:pt x="682" y="216"/>
                      <a:pt x="664" y="234"/>
                      <a:pt x="644" y="234"/>
                    </a:cubicBezTo>
                    <a:cubicBezTo>
                      <a:pt x="623" y="234"/>
                      <a:pt x="606" y="216"/>
                      <a:pt x="606" y="196"/>
                    </a:cubicBezTo>
                    <a:cubicBezTo>
                      <a:pt x="606" y="175"/>
                      <a:pt x="623" y="158"/>
                      <a:pt x="644" y="158"/>
                    </a:cubicBezTo>
                    <a:cubicBezTo>
                      <a:pt x="664" y="158"/>
                      <a:pt x="682" y="175"/>
                      <a:pt x="682" y="196"/>
                    </a:cubicBezTo>
                    <a:close/>
                    <a:moveTo>
                      <a:pt x="706" y="134"/>
                    </a:moveTo>
                    <a:cubicBezTo>
                      <a:pt x="706" y="154"/>
                      <a:pt x="688" y="172"/>
                      <a:pt x="668" y="172"/>
                    </a:cubicBezTo>
                    <a:cubicBezTo>
                      <a:pt x="647" y="172"/>
                      <a:pt x="630" y="154"/>
                      <a:pt x="630" y="134"/>
                    </a:cubicBezTo>
                    <a:cubicBezTo>
                      <a:pt x="630" y="113"/>
                      <a:pt x="647" y="96"/>
                      <a:pt x="668" y="96"/>
                    </a:cubicBezTo>
                    <a:cubicBezTo>
                      <a:pt x="688" y="96"/>
                      <a:pt x="706" y="113"/>
                      <a:pt x="706" y="134"/>
                    </a:cubicBezTo>
                    <a:close/>
                    <a:moveTo>
                      <a:pt x="771" y="119"/>
                    </a:moveTo>
                    <a:cubicBezTo>
                      <a:pt x="771" y="139"/>
                      <a:pt x="753" y="157"/>
                      <a:pt x="733" y="157"/>
                    </a:cubicBezTo>
                    <a:cubicBezTo>
                      <a:pt x="712" y="157"/>
                      <a:pt x="695" y="139"/>
                      <a:pt x="695" y="119"/>
                    </a:cubicBezTo>
                    <a:cubicBezTo>
                      <a:pt x="695" y="98"/>
                      <a:pt x="712" y="81"/>
                      <a:pt x="733" y="81"/>
                    </a:cubicBezTo>
                    <a:cubicBezTo>
                      <a:pt x="753" y="81"/>
                      <a:pt x="771" y="98"/>
                      <a:pt x="771" y="119"/>
                    </a:cubicBezTo>
                    <a:close/>
                    <a:moveTo>
                      <a:pt x="848" y="133"/>
                    </a:moveTo>
                    <a:cubicBezTo>
                      <a:pt x="848" y="153"/>
                      <a:pt x="830" y="171"/>
                      <a:pt x="810" y="171"/>
                    </a:cubicBezTo>
                    <a:cubicBezTo>
                      <a:pt x="789" y="171"/>
                      <a:pt x="772" y="153"/>
                      <a:pt x="772" y="133"/>
                    </a:cubicBezTo>
                    <a:cubicBezTo>
                      <a:pt x="772" y="112"/>
                      <a:pt x="789" y="95"/>
                      <a:pt x="810" y="95"/>
                    </a:cubicBezTo>
                    <a:cubicBezTo>
                      <a:pt x="830" y="95"/>
                      <a:pt x="848" y="112"/>
                      <a:pt x="848" y="133"/>
                    </a:cubicBezTo>
                    <a:close/>
                    <a:moveTo>
                      <a:pt x="815" y="191"/>
                    </a:moveTo>
                    <a:cubicBezTo>
                      <a:pt x="815" y="211"/>
                      <a:pt x="797" y="229"/>
                      <a:pt x="777" y="229"/>
                    </a:cubicBezTo>
                    <a:cubicBezTo>
                      <a:pt x="756" y="229"/>
                      <a:pt x="739" y="211"/>
                      <a:pt x="739" y="191"/>
                    </a:cubicBezTo>
                    <a:cubicBezTo>
                      <a:pt x="739" y="170"/>
                      <a:pt x="756" y="153"/>
                      <a:pt x="777" y="153"/>
                    </a:cubicBezTo>
                    <a:cubicBezTo>
                      <a:pt x="797" y="153"/>
                      <a:pt x="815" y="170"/>
                      <a:pt x="815" y="191"/>
                    </a:cubicBezTo>
                    <a:close/>
                    <a:moveTo>
                      <a:pt x="748" y="196"/>
                    </a:moveTo>
                    <a:cubicBezTo>
                      <a:pt x="748" y="216"/>
                      <a:pt x="730" y="234"/>
                      <a:pt x="710" y="234"/>
                    </a:cubicBezTo>
                    <a:cubicBezTo>
                      <a:pt x="689" y="234"/>
                      <a:pt x="672" y="216"/>
                      <a:pt x="672" y="196"/>
                    </a:cubicBezTo>
                    <a:cubicBezTo>
                      <a:pt x="672" y="175"/>
                      <a:pt x="689" y="158"/>
                      <a:pt x="710" y="158"/>
                    </a:cubicBezTo>
                    <a:cubicBezTo>
                      <a:pt x="730" y="158"/>
                      <a:pt x="748" y="175"/>
                      <a:pt x="748" y="196"/>
                    </a:cubicBezTo>
                    <a:close/>
                    <a:moveTo>
                      <a:pt x="708" y="142"/>
                    </a:moveTo>
                    <a:cubicBezTo>
                      <a:pt x="708" y="162"/>
                      <a:pt x="690" y="180"/>
                      <a:pt x="670" y="180"/>
                    </a:cubicBezTo>
                    <a:cubicBezTo>
                      <a:pt x="649" y="180"/>
                      <a:pt x="632" y="162"/>
                      <a:pt x="632" y="142"/>
                    </a:cubicBezTo>
                    <a:cubicBezTo>
                      <a:pt x="632" y="121"/>
                      <a:pt x="649" y="104"/>
                      <a:pt x="670" y="104"/>
                    </a:cubicBezTo>
                    <a:cubicBezTo>
                      <a:pt x="690" y="104"/>
                      <a:pt x="708" y="121"/>
                      <a:pt x="708" y="142"/>
                    </a:cubicBezTo>
                    <a:close/>
                    <a:moveTo>
                      <a:pt x="732" y="80"/>
                    </a:moveTo>
                    <a:cubicBezTo>
                      <a:pt x="732" y="100"/>
                      <a:pt x="714" y="118"/>
                      <a:pt x="694" y="118"/>
                    </a:cubicBezTo>
                    <a:cubicBezTo>
                      <a:pt x="673" y="118"/>
                      <a:pt x="656" y="100"/>
                      <a:pt x="656" y="80"/>
                    </a:cubicBezTo>
                    <a:cubicBezTo>
                      <a:pt x="656" y="59"/>
                      <a:pt x="673" y="42"/>
                      <a:pt x="694" y="42"/>
                    </a:cubicBezTo>
                    <a:cubicBezTo>
                      <a:pt x="714" y="42"/>
                      <a:pt x="732" y="59"/>
                      <a:pt x="732" y="80"/>
                    </a:cubicBezTo>
                    <a:close/>
                    <a:moveTo>
                      <a:pt x="797" y="65"/>
                    </a:moveTo>
                    <a:cubicBezTo>
                      <a:pt x="797" y="85"/>
                      <a:pt x="779" y="103"/>
                      <a:pt x="759" y="103"/>
                    </a:cubicBezTo>
                    <a:cubicBezTo>
                      <a:pt x="738" y="103"/>
                      <a:pt x="721" y="85"/>
                      <a:pt x="721" y="65"/>
                    </a:cubicBezTo>
                    <a:cubicBezTo>
                      <a:pt x="721" y="44"/>
                      <a:pt x="738" y="27"/>
                      <a:pt x="759" y="27"/>
                    </a:cubicBezTo>
                    <a:cubicBezTo>
                      <a:pt x="779" y="27"/>
                      <a:pt x="797" y="44"/>
                      <a:pt x="797" y="65"/>
                    </a:cubicBezTo>
                    <a:close/>
                    <a:moveTo>
                      <a:pt x="708" y="385"/>
                    </a:moveTo>
                    <a:cubicBezTo>
                      <a:pt x="708" y="405"/>
                      <a:pt x="690" y="423"/>
                      <a:pt x="670" y="423"/>
                    </a:cubicBezTo>
                    <a:cubicBezTo>
                      <a:pt x="649" y="423"/>
                      <a:pt x="632" y="405"/>
                      <a:pt x="632" y="385"/>
                    </a:cubicBezTo>
                    <a:cubicBezTo>
                      <a:pt x="632" y="364"/>
                      <a:pt x="649" y="347"/>
                      <a:pt x="670" y="347"/>
                    </a:cubicBezTo>
                    <a:cubicBezTo>
                      <a:pt x="690" y="347"/>
                      <a:pt x="708" y="364"/>
                      <a:pt x="708" y="385"/>
                    </a:cubicBezTo>
                    <a:close/>
                    <a:moveTo>
                      <a:pt x="675" y="443"/>
                    </a:moveTo>
                    <a:cubicBezTo>
                      <a:pt x="675" y="463"/>
                      <a:pt x="657" y="481"/>
                      <a:pt x="637" y="481"/>
                    </a:cubicBezTo>
                    <a:cubicBezTo>
                      <a:pt x="616" y="481"/>
                      <a:pt x="599" y="463"/>
                      <a:pt x="599" y="443"/>
                    </a:cubicBezTo>
                    <a:cubicBezTo>
                      <a:pt x="599" y="422"/>
                      <a:pt x="616" y="405"/>
                      <a:pt x="637" y="405"/>
                    </a:cubicBezTo>
                    <a:cubicBezTo>
                      <a:pt x="657" y="405"/>
                      <a:pt x="675" y="422"/>
                      <a:pt x="675" y="443"/>
                    </a:cubicBezTo>
                    <a:close/>
                    <a:moveTo>
                      <a:pt x="608" y="448"/>
                    </a:moveTo>
                    <a:cubicBezTo>
                      <a:pt x="608" y="468"/>
                      <a:pt x="590" y="486"/>
                      <a:pt x="570" y="486"/>
                    </a:cubicBezTo>
                    <a:cubicBezTo>
                      <a:pt x="549" y="486"/>
                      <a:pt x="532" y="468"/>
                      <a:pt x="532" y="448"/>
                    </a:cubicBezTo>
                    <a:cubicBezTo>
                      <a:pt x="532" y="427"/>
                      <a:pt x="549" y="410"/>
                      <a:pt x="570" y="410"/>
                    </a:cubicBezTo>
                    <a:cubicBezTo>
                      <a:pt x="590" y="410"/>
                      <a:pt x="608" y="427"/>
                      <a:pt x="608" y="448"/>
                    </a:cubicBezTo>
                    <a:close/>
                    <a:moveTo>
                      <a:pt x="568" y="394"/>
                    </a:moveTo>
                    <a:cubicBezTo>
                      <a:pt x="568" y="414"/>
                      <a:pt x="550" y="432"/>
                      <a:pt x="530" y="432"/>
                    </a:cubicBezTo>
                    <a:cubicBezTo>
                      <a:pt x="509" y="432"/>
                      <a:pt x="492" y="414"/>
                      <a:pt x="492" y="394"/>
                    </a:cubicBezTo>
                    <a:cubicBezTo>
                      <a:pt x="492" y="373"/>
                      <a:pt x="509" y="356"/>
                      <a:pt x="530" y="356"/>
                    </a:cubicBezTo>
                    <a:cubicBezTo>
                      <a:pt x="550" y="356"/>
                      <a:pt x="568" y="373"/>
                      <a:pt x="568" y="394"/>
                    </a:cubicBezTo>
                    <a:close/>
                    <a:moveTo>
                      <a:pt x="592" y="332"/>
                    </a:moveTo>
                    <a:cubicBezTo>
                      <a:pt x="592" y="352"/>
                      <a:pt x="574" y="370"/>
                      <a:pt x="554" y="370"/>
                    </a:cubicBezTo>
                    <a:cubicBezTo>
                      <a:pt x="533" y="370"/>
                      <a:pt x="516" y="352"/>
                      <a:pt x="516" y="332"/>
                    </a:cubicBezTo>
                    <a:cubicBezTo>
                      <a:pt x="516" y="311"/>
                      <a:pt x="533" y="294"/>
                      <a:pt x="554" y="294"/>
                    </a:cubicBezTo>
                    <a:cubicBezTo>
                      <a:pt x="574" y="294"/>
                      <a:pt x="592" y="311"/>
                      <a:pt x="592" y="332"/>
                    </a:cubicBezTo>
                    <a:close/>
                    <a:moveTo>
                      <a:pt x="657" y="317"/>
                    </a:moveTo>
                    <a:cubicBezTo>
                      <a:pt x="657" y="337"/>
                      <a:pt x="639" y="355"/>
                      <a:pt x="619" y="355"/>
                    </a:cubicBezTo>
                    <a:cubicBezTo>
                      <a:pt x="598" y="355"/>
                      <a:pt x="581" y="337"/>
                      <a:pt x="581" y="317"/>
                    </a:cubicBezTo>
                    <a:cubicBezTo>
                      <a:pt x="581" y="296"/>
                      <a:pt x="598" y="279"/>
                      <a:pt x="619" y="279"/>
                    </a:cubicBezTo>
                    <a:cubicBezTo>
                      <a:pt x="639" y="279"/>
                      <a:pt x="657" y="296"/>
                      <a:pt x="657" y="317"/>
                    </a:cubicBezTo>
                    <a:close/>
                    <a:moveTo>
                      <a:pt x="792" y="359"/>
                    </a:moveTo>
                    <a:cubicBezTo>
                      <a:pt x="792" y="379"/>
                      <a:pt x="774" y="397"/>
                      <a:pt x="754" y="397"/>
                    </a:cubicBezTo>
                    <a:cubicBezTo>
                      <a:pt x="733" y="397"/>
                      <a:pt x="716" y="379"/>
                      <a:pt x="716" y="359"/>
                    </a:cubicBezTo>
                    <a:cubicBezTo>
                      <a:pt x="716" y="338"/>
                      <a:pt x="733" y="321"/>
                      <a:pt x="754" y="321"/>
                    </a:cubicBezTo>
                    <a:cubicBezTo>
                      <a:pt x="774" y="321"/>
                      <a:pt x="792" y="338"/>
                      <a:pt x="792" y="359"/>
                    </a:cubicBezTo>
                    <a:close/>
                    <a:moveTo>
                      <a:pt x="759" y="417"/>
                    </a:moveTo>
                    <a:cubicBezTo>
                      <a:pt x="759" y="437"/>
                      <a:pt x="741" y="455"/>
                      <a:pt x="721" y="455"/>
                    </a:cubicBezTo>
                    <a:cubicBezTo>
                      <a:pt x="700" y="455"/>
                      <a:pt x="683" y="437"/>
                      <a:pt x="683" y="417"/>
                    </a:cubicBezTo>
                    <a:cubicBezTo>
                      <a:pt x="683" y="396"/>
                      <a:pt x="700" y="379"/>
                      <a:pt x="721" y="379"/>
                    </a:cubicBezTo>
                    <a:cubicBezTo>
                      <a:pt x="741" y="379"/>
                      <a:pt x="759" y="396"/>
                      <a:pt x="759" y="417"/>
                    </a:cubicBezTo>
                    <a:close/>
                    <a:moveTo>
                      <a:pt x="692" y="422"/>
                    </a:moveTo>
                    <a:cubicBezTo>
                      <a:pt x="692" y="442"/>
                      <a:pt x="674" y="460"/>
                      <a:pt x="654" y="460"/>
                    </a:cubicBezTo>
                    <a:cubicBezTo>
                      <a:pt x="633" y="460"/>
                      <a:pt x="616" y="442"/>
                      <a:pt x="616" y="422"/>
                    </a:cubicBezTo>
                    <a:cubicBezTo>
                      <a:pt x="616" y="401"/>
                      <a:pt x="633" y="384"/>
                      <a:pt x="654" y="384"/>
                    </a:cubicBezTo>
                    <a:cubicBezTo>
                      <a:pt x="674" y="384"/>
                      <a:pt x="692" y="401"/>
                      <a:pt x="692" y="422"/>
                    </a:cubicBezTo>
                    <a:close/>
                    <a:moveTo>
                      <a:pt x="652" y="368"/>
                    </a:moveTo>
                    <a:cubicBezTo>
                      <a:pt x="652" y="388"/>
                      <a:pt x="634" y="406"/>
                      <a:pt x="614" y="406"/>
                    </a:cubicBezTo>
                    <a:cubicBezTo>
                      <a:pt x="593" y="406"/>
                      <a:pt x="576" y="388"/>
                      <a:pt x="576" y="368"/>
                    </a:cubicBezTo>
                    <a:cubicBezTo>
                      <a:pt x="576" y="347"/>
                      <a:pt x="593" y="330"/>
                      <a:pt x="614" y="330"/>
                    </a:cubicBezTo>
                    <a:cubicBezTo>
                      <a:pt x="634" y="330"/>
                      <a:pt x="652" y="347"/>
                      <a:pt x="652" y="368"/>
                    </a:cubicBezTo>
                    <a:close/>
                    <a:moveTo>
                      <a:pt x="676" y="306"/>
                    </a:moveTo>
                    <a:cubicBezTo>
                      <a:pt x="676" y="326"/>
                      <a:pt x="658" y="344"/>
                      <a:pt x="638" y="344"/>
                    </a:cubicBezTo>
                    <a:cubicBezTo>
                      <a:pt x="617" y="344"/>
                      <a:pt x="600" y="326"/>
                      <a:pt x="600" y="306"/>
                    </a:cubicBezTo>
                    <a:cubicBezTo>
                      <a:pt x="600" y="285"/>
                      <a:pt x="617" y="268"/>
                      <a:pt x="638" y="268"/>
                    </a:cubicBezTo>
                    <a:cubicBezTo>
                      <a:pt x="658" y="268"/>
                      <a:pt x="676" y="285"/>
                      <a:pt x="676" y="306"/>
                    </a:cubicBezTo>
                    <a:close/>
                    <a:moveTo>
                      <a:pt x="741" y="291"/>
                    </a:moveTo>
                    <a:cubicBezTo>
                      <a:pt x="741" y="311"/>
                      <a:pt x="723" y="329"/>
                      <a:pt x="703" y="329"/>
                    </a:cubicBezTo>
                    <a:cubicBezTo>
                      <a:pt x="682" y="329"/>
                      <a:pt x="665" y="311"/>
                      <a:pt x="665" y="291"/>
                    </a:cubicBezTo>
                    <a:cubicBezTo>
                      <a:pt x="665" y="270"/>
                      <a:pt x="682" y="253"/>
                      <a:pt x="703" y="253"/>
                    </a:cubicBezTo>
                    <a:cubicBezTo>
                      <a:pt x="723" y="253"/>
                      <a:pt x="741" y="270"/>
                      <a:pt x="741" y="291"/>
                    </a:cubicBezTo>
                    <a:close/>
                  </a:path>
                </a:pathLst>
              </a:custGeom>
              <a:solidFill>
                <a:srgbClr val="B03A6E"/>
              </a:solidFill>
              <a:ln>
                <a:noFill/>
              </a:ln>
            </p:spPr>
          </p:sp>
          <p:sp>
            <p:nvSpPr>
              <p:cNvPr id="36" name="Gotas lipídicas"/>
              <p:cNvSpPr/>
              <p:nvPr/>
            </p:nvSpPr>
            <p:spPr>
              <a:xfrm>
                <a:off x="1175004" y="1638641"/>
                <a:ext cx="347472" cy="284927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60" y="300"/>
                    </a:moveTo>
                    <a:cubicBezTo>
                      <a:pt x="460" y="388"/>
                      <a:pt x="388" y="460"/>
                      <a:pt x="300" y="460"/>
                    </a:cubicBezTo>
                    <a:cubicBezTo>
                      <a:pt x="211" y="460"/>
                      <a:pt x="140" y="388"/>
                      <a:pt x="140" y="300"/>
                    </a:cubicBezTo>
                    <a:cubicBezTo>
                      <a:pt x="140" y="211"/>
                      <a:pt x="211" y="140"/>
                      <a:pt x="300" y="140"/>
                    </a:cubicBezTo>
                    <a:cubicBezTo>
                      <a:pt x="388" y="140"/>
                      <a:pt x="460" y="211"/>
                      <a:pt x="460" y="300"/>
                    </a:cubicBezTo>
                    <a:close/>
                    <a:moveTo>
                      <a:pt x="820" y="650"/>
                    </a:moveTo>
                    <a:cubicBezTo>
                      <a:pt x="820" y="716"/>
                      <a:pt x="766" y="770"/>
                      <a:pt x="700" y="770"/>
                    </a:cubicBezTo>
                    <a:cubicBezTo>
                      <a:pt x="633" y="770"/>
                      <a:pt x="580" y="716"/>
                      <a:pt x="580" y="650"/>
                    </a:cubicBezTo>
                    <a:cubicBezTo>
                      <a:pt x="580" y="583"/>
                      <a:pt x="633" y="530"/>
                      <a:pt x="700" y="530"/>
                    </a:cubicBezTo>
                    <a:cubicBezTo>
                      <a:pt x="766" y="530"/>
                      <a:pt x="820" y="583"/>
                      <a:pt x="820" y="6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F6C2"/>
                  </a:gs>
                  <a:gs pos="100000">
                    <a:srgbClr val="E9B90B"/>
                  </a:gs>
                </a:gsLst>
                <a:path path="circle">
                  <a:fillToRect l="35000" t="30000" r="65000" b="70000"/>
                </a:path>
              </a:gradFill>
              <a:ln w="9525" cap="rnd">
                <a:solidFill>
                  <a:srgbClr val="9A7D0A"/>
                </a:solidFill>
                <a:round/>
              </a:ln>
            </p:spPr>
          </p:sp>
        </p:grpSp>
        <p:sp>
          <p:nvSpPr>
            <p:cNvPr id="37" name="Forma 36"/>
            <p:cNvSpPr/>
            <p:nvPr/>
          </p:nvSpPr>
          <p:spPr>
            <a:xfrm>
              <a:off x="411480" y="2880360"/>
              <a:ext cx="2743200" cy="2286000"/>
            </a:xfrm>
            <a:prstGeom prst="roundRect">
              <a:avLst>
                <a:gd name="adj" fmla="val 9000"/>
              </a:avLst>
            </a:prstGeom>
            <a:solidFill>
              <a:srgbClr val="A9CF86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6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Actividad enzimática normal</a:t>
              </a:r>
              <a:endParaRPr lang="es-AR" sz="16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6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Las enzimas catalizan reacciones dentro de la célula (CK, LDH, transaminasas, enzimas pancreáticas).</a:t>
              </a:r>
              <a:endParaRPr lang="es-AR" sz="1650" dirty="0">
                <a:latin typeface="Calibri"/>
              </a:endParaRPr>
            </a:p>
          </p:txBody>
        </p:sp>
        <p:sp>
          <p:nvSpPr>
            <p:cNvPr id="38" name="Flecha 37_2"/>
            <p:cNvSpPr/>
            <p:nvPr/>
          </p:nvSpPr>
          <p:spPr>
            <a:xfrm>
              <a:off x="3172968" y="402336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39" name="Integración B 2"/>
          <p:cNvGrpSpPr/>
          <p:nvPr/>
        </p:nvGrpSpPr>
        <p:grpSpPr>
          <a:xfrm>
            <a:off x="3337560" y="1280160"/>
            <a:ext cx="2907792" cy="3886200"/>
            <a:chOff x="3337560" y="1280160"/>
            <a:chExt cx="2907792" cy="3886200"/>
          </a:xfrm>
        </p:grpSpPr>
        <p:grpSp>
          <p:nvGrpSpPr>
            <p:cNvPr id="40" name="Cel B"/>
            <p:cNvGrpSpPr/>
            <p:nvPr/>
          </p:nvGrpSpPr>
          <p:grpSpPr>
            <a:xfrm>
              <a:off x="3390595" y="1280160"/>
              <a:ext cx="2637130" cy="1097280"/>
              <a:chOff x="3390595" y="1280160"/>
              <a:chExt cx="2637130" cy="1097280"/>
            </a:xfrm>
          </p:grpSpPr>
          <p:sp>
            <p:nvSpPr>
              <p:cNvPr id="41" name="Sarcolema"/>
              <p:cNvSpPr/>
              <p:nvPr/>
            </p:nvSpPr>
            <p:spPr>
              <a:xfrm>
                <a:off x="3429000" y="1280160"/>
                <a:ext cx="2560320" cy="109728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200"/>
                    </a:moveTo>
                    <a:cubicBezTo>
                      <a:pt x="10" y="144"/>
                      <a:pt x="95" y="129"/>
                      <a:pt x="120" y="120"/>
                    </a:cubicBezTo>
                    <a:cubicBezTo>
                      <a:pt x="145" y="110"/>
                      <a:pt x="266" y="90"/>
                      <a:pt x="300" y="90"/>
                    </a:cubicBezTo>
                    <a:cubicBezTo>
                      <a:pt x="333" y="89"/>
                      <a:pt x="485" y="110"/>
                      <a:pt x="520" y="110"/>
                    </a:cubicBezTo>
                    <a:cubicBezTo>
                      <a:pt x="555" y="109"/>
                      <a:pt x="690" y="79"/>
                      <a:pt x="720" y="80"/>
                    </a:cubicBezTo>
                    <a:cubicBezTo>
                      <a:pt x="750" y="80"/>
                      <a:pt x="856" y="108"/>
                      <a:pt x="880" y="120"/>
                    </a:cubicBezTo>
                    <a:cubicBezTo>
                      <a:pt x="903" y="131"/>
                      <a:pt x="990" y="165"/>
                      <a:pt x="1000" y="220"/>
                    </a:cubicBezTo>
                    <a:cubicBezTo>
                      <a:pt x="1010" y="275"/>
                      <a:pt x="1010" y="725"/>
                      <a:pt x="1000" y="780"/>
                    </a:cubicBezTo>
                    <a:cubicBezTo>
                      <a:pt x="990" y="835"/>
                      <a:pt x="905" y="869"/>
                      <a:pt x="880" y="880"/>
                    </a:cubicBezTo>
                    <a:cubicBezTo>
                      <a:pt x="855" y="890"/>
                      <a:pt x="731" y="910"/>
                      <a:pt x="700" y="910"/>
                    </a:cubicBezTo>
                    <a:cubicBezTo>
                      <a:pt x="668" y="910"/>
                      <a:pt x="533" y="880"/>
                      <a:pt x="500" y="880"/>
                    </a:cubicBezTo>
                    <a:cubicBezTo>
                      <a:pt x="466" y="880"/>
                      <a:pt x="331" y="910"/>
                      <a:pt x="300" y="910"/>
                    </a:cubicBezTo>
                    <a:cubicBezTo>
                      <a:pt x="268" y="909"/>
                      <a:pt x="145" y="880"/>
                      <a:pt x="120" y="870"/>
                    </a:cubicBezTo>
                    <a:cubicBezTo>
                      <a:pt x="95" y="860"/>
                      <a:pt x="10" y="845"/>
                      <a:pt x="0" y="790"/>
                    </a:cubicBezTo>
                    <a:cubicBezTo>
                      <a:pt x="-10" y="734"/>
                      <a:pt x="-10" y="255"/>
                      <a:pt x="0" y="2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6837A"/>
                  </a:gs>
                  <a:gs pos="35000">
                    <a:srgbClr val="F5B7B1"/>
                  </a:gs>
                  <a:gs pos="65000">
                    <a:srgbClr val="EC9A90"/>
                  </a:gs>
                  <a:gs pos="100000">
                    <a:srgbClr val="C9564B"/>
                  </a:gs>
                </a:gsLst>
                <a:lin ang="5400000" scaled="0"/>
              </a:gradFill>
              <a:ln w="31750" cap="rnd">
                <a:solidFill>
                  <a:srgbClr val="7B241C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2" name="Estriaciones"/>
              <p:cNvSpPr/>
              <p:nvPr/>
            </p:nvSpPr>
            <p:spPr>
              <a:xfrm>
                <a:off x="3429000" y="1280160"/>
                <a:ext cx="2560320" cy="109728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40" y="160"/>
                    </a:moveTo>
                    <a:lnTo>
                      <a:pt x="40" y="840"/>
                    </a:lnTo>
                  </a:path>
                  <a:path w="1000" h="1000" fill="none">
                    <a:moveTo>
                      <a:pt x="81" y="160"/>
                    </a:moveTo>
                    <a:lnTo>
                      <a:pt x="81" y="840"/>
                    </a:lnTo>
                  </a:path>
                  <a:path w="1000" h="1000" fill="none">
                    <a:moveTo>
                      <a:pt x="123" y="160"/>
                    </a:moveTo>
                    <a:lnTo>
                      <a:pt x="123" y="840"/>
                    </a:lnTo>
                  </a:path>
                  <a:path w="1000" h="1000" fill="none">
                    <a:moveTo>
                      <a:pt x="165" y="160"/>
                    </a:moveTo>
                    <a:lnTo>
                      <a:pt x="165" y="840"/>
                    </a:lnTo>
                  </a:path>
                  <a:path w="1000" h="1000" fill="none">
                    <a:moveTo>
                      <a:pt x="207" y="160"/>
                    </a:moveTo>
                    <a:lnTo>
                      <a:pt x="207" y="840"/>
                    </a:lnTo>
                  </a:path>
                  <a:path w="1000" h="1000" fill="none">
                    <a:moveTo>
                      <a:pt x="249" y="160"/>
                    </a:moveTo>
                    <a:lnTo>
                      <a:pt x="249" y="840"/>
                    </a:lnTo>
                  </a:path>
                  <a:path w="1000" h="1000" fill="none">
                    <a:moveTo>
                      <a:pt x="290" y="160"/>
                    </a:moveTo>
                    <a:lnTo>
                      <a:pt x="290" y="840"/>
                    </a:lnTo>
                  </a:path>
                  <a:path w="1000" h="1000" fill="none">
                    <a:moveTo>
                      <a:pt x="332" y="160"/>
                    </a:moveTo>
                    <a:lnTo>
                      <a:pt x="332" y="840"/>
                    </a:lnTo>
                  </a:path>
                  <a:path w="1000" h="1000" fill="none">
                    <a:moveTo>
                      <a:pt x="374" y="160"/>
                    </a:moveTo>
                    <a:lnTo>
                      <a:pt x="374" y="840"/>
                    </a:lnTo>
                  </a:path>
                  <a:path w="1000" h="1000" fill="none">
                    <a:moveTo>
                      <a:pt x="416" y="160"/>
                    </a:moveTo>
                    <a:lnTo>
                      <a:pt x="416" y="840"/>
                    </a:lnTo>
                  </a:path>
                  <a:path w="1000" h="1000" fill="none">
                    <a:moveTo>
                      <a:pt x="458" y="160"/>
                    </a:moveTo>
                    <a:lnTo>
                      <a:pt x="458" y="840"/>
                    </a:lnTo>
                  </a:path>
                  <a:path w="1000" h="1000" fill="none">
                    <a:moveTo>
                      <a:pt x="500" y="160"/>
                    </a:moveTo>
                    <a:lnTo>
                      <a:pt x="500" y="840"/>
                    </a:lnTo>
                  </a:path>
                  <a:path w="1000" h="1000" fill="none">
                    <a:moveTo>
                      <a:pt x="541" y="160"/>
                    </a:moveTo>
                    <a:lnTo>
                      <a:pt x="541" y="840"/>
                    </a:lnTo>
                  </a:path>
                  <a:path w="1000" h="1000" fill="none">
                    <a:moveTo>
                      <a:pt x="583" y="160"/>
                    </a:moveTo>
                    <a:lnTo>
                      <a:pt x="583" y="840"/>
                    </a:lnTo>
                  </a:path>
                  <a:path w="1000" h="1000" fill="none">
                    <a:moveTo>
                      <a:pt x="625" y="160"/>
                    </a:moveTo>
                    <a:lnTo>
                      <a:pt x="625" y="840"/>
                    </a:lnTo>
                  </a:path>
                  <a:path w="1000" h="1000" fill="none">
                    <a:moveTo>
                      <a:pt x="667" y="160"/>
                    </a:moveTo>
                    <a:lnTo>
                      <a:pt x="667" y="840"/>
                    </a:lnTo>
                  </a:path>
                  <a:path w="1000" h="1000" fill="none">
                    <a:moveTo>
                      <a:pt x="709" y="160"/>
                    </a:moveTo>
                    <a:lnTo>
                      <a:pt x="709" y="840"/>
                    </a:lnTo>
                  </a:path>
                  <a:path w="1000" h="1000" fill="none">
                    <a:moveTo>
                      <a:pt x="750" y="160"/>
                    </a:moveTo>
                    <a:lnTo>
                      <a:pt x="750" y="840"/>
                    </a:lnTo>
                  </a:path>
                  <a:path w="1000" h="1000" fill="none">
                    <a:moveTo>
                      <a:pt x="792" y="160"/>
                    </a:moveTo>
                    <a:lnTo>
                      <a:pt x="792" y="840"/>
                    </a:lnTo>
                  </a:path>
                  <a:path w="1000" h="1000" fill="none">
                    <a:moveTo>
                      <a:pt x="834" y="160"/>
                    </a:moveTo>
                    <a:lnTo>
                      <a:pt x="834" y="840"/>
                    </a:lnTo>
                  </a:path>
                  <a:path w="1000" h="1000" fill="none">
                    <a:moveTo>
                      <a:pt x="876" y="160"/>
                    </a:moveTo>
                    <a:lnTo>
                      <a:pt x="876" y="840"/>
                    </a:lnTo>
                  </a:path>
                  <a:path w="1000" h="1000" fill="none">
                    <a:moveTo>
                      <a:pt x="918" y="160"/>
                    </a:moveTo>
                    <a:lnTo>
                      <a:pt x="918" y="840"/>
                    </a:lnTo>
                  </a:path>
                  <a:path w="1000" h="1000" fill="none">
                    <a:moveTo>
                      <a:pt x="960" y="160"/>
                    </a:moveTo>
                    <a:lnTo>
                      <a:pt x="960" y="840"/>
                    </a:lnTo>
                  </a:path>
                </a:pathLst>
              </a:custGeom>
              <a:noFill/>
              <a:ln w="12700" cap="rnd">
                <a:solidFill>
                  <a:srgbClr val="A93226"/>
                </a:solidFill>
                <a:round/>
              </a:ln>
            </p:spPr>
          </p:sp>
          <p:sp>
            <p:nvSpPr>
              <p:cNvPr id="43" name="Disco intercalar izq"/>
              <p:cNvSpPr/>
              <p:nvPr/>
            </p:nvSpPr>
            <p:spPr>
              <a:xfrm>
                <a:off x="3390595" y="1444752"/>
                <a:ext cx="76810" cy="768096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  <p:sp>
            <p:nvSpPr>
              <p:cNvPr id="44" name="Disco intercalar der"/>
              <p:cNvSpPr/>
              <p:nvPr/>
            </p:nvSpPr>
            <p:spPr>
              <a:xfrm>
                <a:off x="5950915" y="1444752"/>
                <a:ext cx="76810" cy="768096"/>
              </a:xfrm>
              <a:prstGeom prst="rect">
                <a:avLst/>
              </a:prstGeom>
              <a:solidFill>
                <a:srgbClr val="7B241C"/>
              </a:solidFill>
              <a:ln>
                <a:noFill/>
              </a:ln>
            </p:spPr>
          </p:sp>
        </p:grpSp>
        <p:sp>
          <p:nvSpPr>
            <p:cNvPr id="45" name="Forma 45"/>
            <p:cNvSpPr/>
            <p:nvPr/>
          </p:nvSpPr>
          <p:spPr>
            <a:xfrm>
              <a:off x="4434840" y="1737360"/>
              <a:ext cx="548640" cy="548640"/>
            </a:xfrm>
            <a:prstGeom prst="irregularSeal1">
              <a:avLst/>
            </a:prstGeom>
            <a:solidFill>
              <a:srgbClr val="4A235A">
                <a:alpha val="70000"/>
              </a:srgbClr>
            </a:solidFill>
            <a:ln>
              <a:noFill/>
            </a:ln>
          </p:spPr>
        </p:sp>
        <p:sp>
          <p:nvSpPr>
            <p:cNvPr id="46" name="Forma 46"/>
            <p:cNvSpPr/>
            <p:nvPr/>
          </p:nvSpPr>
          <p:spPr>
            <a:xfrm>
              <a:off x="3337560" y="2880360"/>
              <a:ext cx="2743200" cy="2286000"/>
            </a:xfrm>
            <a:prstGeom prst="roundRect">
              <a:avLst>
                <a:gd name="adj" fmla="val 9000"/>
              </a:avLst>
            </a:prstGeom>
            <a:solidFill>
              <a:srgbClr val="FF9393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Alteración del tejido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Isquemia (IAM), autodigestión (pancreatitis), hemólisis (anemia), lesión hepática.</a:t>
              </a:r>
              <a:endParaRPr lang="es-AR" sz="1800" dirty="0">
                <a:latin typeface="Calibri"/>
              </a:endParaRPr>
            </a:p>
          </p:txBody>
        </p:sp>
        <p:sp>
          <p:nvSpPr>
            <p:cNvPr id="47" name="Flecha 47_2"/>
            <p:cNvSpPr/>
            <p:nvPr/>
          </p:nvSpPr>
          <p:spPr>
            <a:xfrm>
              <a:off x="6099048" y="402336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48" name="Integración B 3"/>
          <p:cNvGrpSpPr/>
          <p:nvPr/>
        </p:nvGrpSpPr>
        <p:grpSpPr>
          <a:xfrm>
            <a:off x="6263640" y="1325880"/>
            <a:ext cx="2907792" cy="3840480"/>
            <a:chOff x="6263640" y="1325880"/>
            <a:chExt cx="2907792" cy="3840480"/>
          </a:xfrm>
        </p:grpSpPr>
        <p:sp>
          <p:nvSpPr>
            <p:cNvPr id="49" name="Ficha CK"/>
            <p:cNvSpPr/>
            <p:nvPr/>
          </p:nvSpPr>
          <p:spPr>
            <a:xfrm>
              <a:off x="6400800" y="1325880"/>
              <a:ext cx="11430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7BE64"/>
                </a:gs>
                <a:gs pos="55000">
                  <a:srgbClr val="F39C12"/>
                </a:gs>
                <a:gs pos="100000">
                  <a:srgbClr val="C27C0E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94E09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CK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0" name="Ficha ALT"/>
            <p:cNvSpPr/>
            <p:nvPr/>
          </p:nvSpPr>
          <p:spPr>
            <a:xfrm>
              <a:off x="7680960" y="1325880"/>
              <a:ext cx="11430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77B0D6"/>
                </a:gs>
                <a:gs pos="55000">
                  <a:srgbClr val="2E86C1"/>
                </a:gs>
                <a:gs pos="100000">
                  <a:srgbClr val="246B9A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174360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ALT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1" name="Ficha LDH"/>
            <p:cNvSpPr/>
            <p:nvPr/>
          </p:nvSpPr>
          <p:spPr>
            <a:xfrm>
              <a:off x="6400800" y="1874520"/>
              <a:ext cx="11430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EEBC9B"/>
                </a:gs>
                <a:gs pos="55000">
                  <a:srgbClr val="E59866"/>
                </a:gs>
                <a:gs pos="100000">
                  <a:srgbClr val="B77951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724C33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LDH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2" name="Ficha Lipasa"/>
            <p:cNvSpPr/>
            <p:nvPr/>
          </p:nvSpPr>
          <p:spPr>
            <a:xfrm>
              <a:off x="7680960" y="1874520"/>
              <a:ext cx="1143000" cy="38404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69162"/>
                </a:gs>
                <a:gs pos="55000">
                  <a:srgbClr val="C0560E"/>
                </a:gs>
                <a:gs pos="100000">
                  <a:srgbClr val="99440B"/>
                </a:gs>
              </a:gsLst>
              <a:path path="circle">
                <a:fillToRect l="32000" t="28000" r="68000" b="72000"/>
              </a:path>
            </a:gradFill>
            <a:ln w="15875" cap="rnd">
              <a:solidFill>
                <a:srgbClr val="602B07"/>
              </a:solidFill>
              <a:round/>
            </a:ln>
          </p:spPr>
          <p:txBody>
            <a:bodyPr wrap="square" lIns="27432" tIns="0" rIns="27432" bIns="0" anchor="ctr" rtlCol="0">
              <a:noAutofit/>
            </a:bodyPr>
            <a:lstStyle/>
            <a:p>
              <a:pPr algn="ctr">
                <a:spcAft>
                  <a:spcPts val="300"/>
                </a:spcAft>
                <a:buNone/>
              </a:pPr>
              <a:r>
                <a:rPr lang="es-AR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Lipasa</a:t>
              </a:r>
              <a:endParaRPr lang="es-AR" sz="1200" dirty="0">
                <a:latin typeface="Calibri"/>
              </a:endParaRPr>
            </a:p>
          </p:txBody>
        </p:sp>
        <p:sp>
          <p:nvSpPr>
            <p:cNvPr id="53" name="Forma 54"/>
            <p:cNvSpPr/>
            <p:nvPr/>
          </p:nvSpPr>
          <p:spPr>
            <a:xfrm>
              <a:off x="6263640" y="2880360"/>
              <a:ext cx="2743200" cy="2286000"/>
            </a:xfrm>
            <a:prstGeom prst="roundRect">
              <a:avLst>
                <a:gd name="adj" fmla="val 9000"/>
              </a:avLst>
            </a:prstGeom>
            <a:solidFill>
              <a:srgbClr val="FFCC4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75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Liberación de marcadores</a:t>
              </a:r>
              <a:endParaRPr lang="es-AR" sz="175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75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Pérdida de permeabilidad → moléculas citoplasmáticas; necrosis → también estructurales y mitocondriales.</a:t>
              </a:r>
              <a:endParaRPr lang="es-AR" sz="1750" dirty="0">
                <a:latin typeface="Calibri"/>
              </a:endParaRPr>
            </a:p>
          </p:txBody>
        </p:sp>
        <p:sp>
          <p:nvSpPr>
            <p:cNvPr id="54" name="Flecha 55_2"/>
            <p:cNvSpPr/>
            <p:nvPr/>
          </p:nvSpPr>
          <p:spPr>
            <a:xfrm>
              <a:off x="9025128" y="4023360"/>
              <a:ext cx="146304" cy="9144"/>
            </a:xfrm>
            <a:custGeom>
              <a:avLst/>
              <a:gdLst/>
              <a:ahLst/>
              <a:cxnLst/>
              <a:rect l="0" t="0" r="r" b="b"/>
              <a:pathLst>
                <a:path w="160" h="10" fill="none">
                  <a:moveTo>
                    <a:pt x="0" y="0"/>
                  </a:moveTo>
                  <a:lnTo>
                    <a:pt x="160" y="0"/>
                  </a:lnTo>
                </a:path>
              </a:pathLst>
            </a:custGeom>
            <a:noFill/>
            <a:ln w="38100" cap="rnd">
              <a:solidFill>
                <a:srgbClr val="1E1E1E"/>
              </a:solidFill>
              <a:round/>
              <a:tailEnd type="triangle" w="med" len="med"/>
            </a:ln>
          </p:spPr>
        </p:sp>
      </p:grpSp>
      <p:grpSp>
        <p:nvGrpSpPr>
          <p:cNvPr id="55" name="Integración B 4"/>
          <p:cNvGrpSpPr/>
          <p:nvPr/>
        </p:nvGrpSpPr>
        <p:grpSpPr>
          <a:xfrm>
            <a:off x="9189720" y="1097280"/>
            <a:ext cx="2743200" cy="4069080"/>
            <a:chOff x="9189720" y="1097280"/>
            <a:chExt cx="2743200" cy="4069080"/>
          </a:xfrm>
        </p:grpSpPr>
        <p:sp>
          <p:nvSpPr>
            <p:cNvPr id="56" name="Curva B"/>
            <p:cNvSpPr/>
            <p:nvPr/>
          </p:nvSpPr>
          <p:spPr>
            <a:xfrm>
              <a:off x="9281160" y="1097280"/>
              <a:ext cx="2560320" cy="1463040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0" y="900"/>
                  </a:moveTo>
                  <a:cubicBezTo>
                    <a:pt x="22" y="897"/>
                    <a:pt x="105" y="992"/>
                    <a:pt x="150" y="880"/>
                  </a:cubicBezTo>
                  <a:cubicBezTo>
                    <a:pt x="195" y="767"/>
                    <a:pt x="232" y="192"/>
                    <a:pt x="300" y="150"/>
                  </a:cubicBezTo>
                  <a:cubicBezTo>
                    <a:pt x="367" y="108"/>
                    <a:pt x="495" y="490"/>
                    <a:pt x="600" y="600"/>
                  </a:cubicBezTo>
                  <a:cubicBezTo>
                    <a:pt x="705" y="709"/>
                    <a:pt x="940" y="838"/>
                    <a:pt x="1000" y="880"/>
                  </a:cubicBezTo>
                </a:path>
              </a:pathLst>
            </a:custGeom>
            <a:noFill/>
            <a:ln w="44450" cap="rnd">
              <a:solidFill>
                <a:srgbClr val="7D3C98"/>
              </a:solidFill>
              <a:round/>
            </a:ln>
          </p:spPr>
        </p:sp>
        <p:sp>
          <p:nvSpPr>
            <p:cNvPr id="57" name="Forma 59"/>
            <p:cNvSpPr/>
            <p:nvPr/>
          </p:nvSpPr>
          <p:spPr>
            <a:xfrm>
              <a:off x="9189720" y="2880360"/>
              <a:ext cx="2743200" cy="2286000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t" rtlCol="0">
              <a:noAutofit/>
            </a:bodyPr>
            <a:lstStyle/>
            <a:p>
              <a:pPr algn="l">
                <a:spcAft>
                  <a:spcPts val="400"/>
                </a:spcAft>
                <a:buNone/>
              </a:pP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Aumento en sangre</a:t>
              </a:r>
              <a:endParaRPr lang="es-AR" sz="1800" dirty="0">
                <a:latin typeface="Calibri"/>
              </a:endParaRPr>
            </a:p>
            <a:p>
              <a:pPr algn="l">
                <a:spcAft>
                  <a:spcPts val="400"/>
                </a:spcAft>
                <a:buNone/>
              </a:pP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La concentración o actividad sérica sube con una </a:t>
              </a:r>
              <a:r>
                <a:rPr lang="es-AR" sz="18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cinética</a:t>
              </a:r>
              <a:r>
                <a:rPr lang="es-AR" sz="18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 propia de cada marcador.</a:t>
              </a:r>
              <a:endParaRPr lang="es-AR" sz="1800" dirty="0">
                <a:latin typeface="Calibri"/>
              </a:endParaRPr>
            </a:p>
          </p:txBody>
        </p:sp>
      </p:grpSp>
      <p:sp>
        <p:nvSpPr>
          <p:cNvPr id="58" name="Síntesis B"/>
          <p:cNvSpPr/>
          <p:nvPr/>
        </p:nvSpPr>
        <p:spPr>
          <a:xfrm>
            <a:off x="411480" y="5394960"/>
            <a:ext cx="11384280" cy="105156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mismo razonamiento sirve para el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corazón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el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hígado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el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páncreas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la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sangre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qué enzima, de qué compartimiento, cuánto y </a:t>
            </a:r>
            <a:r>
              <a:rPr lang="es-A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cuándo</a:t>
            </a:r>
            <a:r>
              <a:rPr lang="es-AR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AR" sz="2000" dirty="0">
              <a:latin typeface="Calibri"/>
            </a:endParaRPr>
          </a:p>
        </p:txBody>
      </p:sp>
      <p:sp>
        <p:nvSpPr>
          <p:cNvPr id="4" name="Título"/>
          <p:cNvSpPr txBox="1"/>
          <p:nvPr/>
        </p:nvSpPr>
        <p:spPr>
          <a:xfrm>
            <a:off x="365760" y="10972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1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INTEGRACIÓN B: METABOLISMO Y DAÑO CELULAR</a:t>
            </a:r>
            <a:endParaRPr lang="es-AR" sz="1900" dirty="0">
              <a:latin typeface="Segoe Print"/>
            </a:endParaRPr>
          </a:p>
        </p:txBody>
      </p:sp>
      <p:sp>
        <p:nvSpPr>
          <p:cNvPr id="5" name="Etiqueta sección"/>
          <p:cNvSpPr/>
          <p:nvPr/>
        </p:nvSpPr>
        <p:spPr>
          <a:xfrm>
            <a:off x="8888625" y="182880"/>
            <a:ext cx="302875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BIOQUÍMICA CLÍNICA Y METABOLISMO</a:t>
            </a:r>
            <a:endParaRPr lang="es-AR" sz="1250" dirty="0">
              <a:latin typeface="Calibri"/>
            </a:endParaRPr>
          </a:p>
        </p:txBody>
      </p:sp>
      <p:sp>
        <p:nvSpPr>
          <p:cNvPr id="59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268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</p:bld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8275320" y="0"/>
            <a:ext cx="3916375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sp>
        <p:nvSpPr>
          <p:cNvPr id="5" name="Centro mapa"/>
          <p:cNvSpPr/>
          <p:nvPr/>
        </p:nvSpPr>
        <p:spPr>
          <a:xfrm>
            <a:off x="2834640" y="3063240"/>
            <a:ext cx="2743200" cy="1371600"/>
          </a:xfrm>
          <a:prstGeom prst="ellipse">
            <a:avLst/>
          </a:prstGeom>
          <a:gradFill rotWithShape="1">
            <a:gsLst>
              <a:gs pos="0">
                <a:srgbClr val="57698A"/>
              </a:gs>
              <a:gs pos="55000">
                <a:srgbClr val="1F3864"/>
              </a:gs>
              <a:gs pos="100000">
                <a:srgbClr val="152746"/>
              </a:gs>
            </a:gsLst>
            <a:path path="circle">
              <a:fillToRect l="32000" t="28000" r="68000" b="72000"/>
            </a:path>
          </a:gradFill>
          <a:ln w="25400" cap="rnd">
            <a:solidFill>
              <a:srgbClr val="1E1E1E"/>
            </a:solidFill>
            <a:round/>
          </a:ln>
          <a:effectLst>
            <a:outerShdw blurRad="101600" dist="50800" dir="2700000" algn="tl" rotWithShape="0">
              <a:srgbClr val="000000">
                <a:alpha val="28000"/>
              </a:srgbClr>
            </a:outerShdw>
          </a:effectLst>
        </p:spPr>
        <p:txBody>
          <a:bodyPr wrap="square" lIns="73152" tIns="45720" rIns="73152" bIns="4572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LABORATORIO</a:t>
            </a:r>
            <a:endParaRPr lang="es-AR" sz="1600" dirty="0">
              <a:latin typeface="Calibri"/>
            </a:endParaRPr>
          </a:p>
          <a:p>
            <a:pPr algn="ctr">
              <a:spcAft>
                <a:spcPts val="300"/>
              </a:spcAft>
              <a:buNone/>
            </a:pPr>
            <a:r>
              <a:rPr lang="es-A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INTERPRETADO</a:t>
            </a:r>
            <a:endParaRPr lang="es-AR" sz="1600" dirty="0">
              <a:latin typeface="Calibri"/>
            </a:endParaRPr>
          </a:p>
        </p:txBody>
      </p:sp>
      <p:grpSp>
        <p:nvGrpSpPr>
          <p:cNvPr id="6" name="Nodo I · Variables"/>
          <p:cNvGrpSpPr/>
          <p:nvPr/>
        </p:nvGrpSpPr>
        <p:grpSpPr>
          <a:xfrm>
            <a:off x="437740" y="2125980"/>
            <a:ext cx="2580659" cy="1280160"/>
            <a:chOff x="437740" y="2125980"/>
            <a:chExt cx="2580659" cy="1280160"/>
          </a:xfrm>
        </p:grpSpPr>
        <p:sp>
          <p:nvSpPr>
            <p:cNvPr id="7" name="Flecha 6_2"/>
            <p:cNvSpPr/>
            <p:nvPr/>
          </p:nvSpPr>
          <p:spPr>
            <a:xfrm>
              <a:off x="2226506" y="2948940"/>
              <a:ext cx="791894" cy="457200"/>
            </a:xfrm>
            <a:custGeom>
              <a:avLst/>
              <a:gdLst/>
              <a:ahLst/>
              <a:cxnLst/>
              <a:rect l="0" t="0" r="r" b="b"/>
              <a:pathLst>
                <a:path w="866" h="500" fill="none">
                  <a:moveTo>
                    <a:pt x="866" y="50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8" name="Forma 8"/>
            <p:cNvSpPr/>
            <p:nvPr/>
          </p:nvSpPr>
          <p:spPr>
            <a:xfrm>
              <a:off x="437740" y="2125980"/>
              <a:ext cx="2468880" cy="1097280"/>
            </a:xfrm>
            <a:prstGeom prst="roundRect">
              <a:avLst>
                <a:gd name="adj" fmla="val 9000"/>
              </a:avLst>
            </a:prstGeom>
            <a:solidFill>
              <a:srgbClr val="D8E6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 · Variables</a:t>
              </a:r>
              <a:endParaRPr lang="es-AR" sz="16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muestra, unidad, S/E, referencia, calidad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9" name="Nodo II · Metabolismo"/>
          <p:cNvGrpSpPr/>
          <p:nvPr/>
        </p:nvGrpSpPr>
        <p:grpSpPr>
          <a:xfrm>
            <a:off x="2971800" y="1051560"/>
            <a:ext cx="2468880" cy="2011680"/>
            <a:chOff x="2971800" y="1051560"/>
            <a:chExt cx="2468880" cy="2011680"/>
          </a:xfrm>
        </p:grpSpPr>
        <p:sp>
          <p:nvSpPr>
            <p:cNvPr id="10" name="Flecha 10_2"/>
            <p:cNvSpPr/>
            <p:nvPr/>
          </p:nvSpPr>
          <p:spPr>
            <a:xfrm>
              <a:off x="4206240" y="2148840"/>
              <a:ext cx="9144" cy="914400"/>
            </a:xfrm>
            <a:custGeom>
              <a:avLst/>
              <a:gdLst/>
              <a:ahLst/>
              <a:cxnLst/>
              <a:rect l="0" t="0" r="r" b="b"/>
              <a:pathLst>
                <a:path w="10" h="1000" fill="none">
                  <a:moveTo>
                    <a:pt x="0" y="1000"/>
                  </a:move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1" name="Forma 12"/>
            <p:cNvSpPr/>
            <p:nvPr/>
          </p:nvSpPr>
          <p:spPr>
            <a:xfrm>
              <a:off x="2971800" y="1051560"/>
              <a:ext cx="2468880" cy="1097280"/>
            </a:xfrm>
            <a:prstGeom prst="roundRect">
              <a:avLst>
                <a:gd name="adj" fmla="val 9000"/>
              </a:avLst>
            </a:prstGeom>
            <a:solidFill>
              <a:srgbClr val="A9CF86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II · Metabolismo</a:t>
              </a:r>
              <a:endParaRPr lang="es-AR" sz="16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ΔG, redox, acetil-CoA, PDH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2" name="Nodo III · Anemias"/>
          <p:cNvGrpSpPr/>
          <p:nvPr/>
        </p:nvGrpSpPr>
        <p:grpSpPr>
          <a:xfrm>
            <a:off x="5394080" y="2125980"/>
            <a:ext cx="2580659" cy="1280160"/>
            <a:chOff x="5394080" y="2125980"/>
            <a:chExt cx="2580659" cy="1280160"/>
          </a:xfrm>
        </p:grpSpPr>
        <p:sp>
          <p:nvSpPr>
            <p:cNvPr id="13" name="Flecha 14_2"/>
            <p:cNvSpPr/>
            <p:nvPr/>
          </p:nvSpPr>
          <p:spPr>
            <a:xfrm>
              <a:off x="5394080" y="2948940"/>
              <a:ext cx="791894" cy="457200"/>
            </a:xfrm>
            <a:custGeom>
              <a:avLst/>
              <a:gdLst/>
              <a:ahLst/>
              <a:cxnLst/>
              <a:rect l="0" t="0" r="r" b="b"/>
              <a:pathLst>
                <a:path w="866" h="500" fill="none">
                  <a:moveTo>
                    <a:pt x="0" y="500"/>
                  </a:moveTo>
                  <a:lnTo>
                    <a:pt x="866" y="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4" name="Forma 16"/>
            <p:cNvSpPr/>
            <p:nvPr/>
          </p:nvSpPr>
          <p:spPr>
            <a:xfrm>
              <a:off x="5505860" y="2125980"/>
              <a:ext cx="2468880" cy="1097280"/>
            </a:xfrm>
            <a:prstGeom prst="roundRect">
              <a:avLst>
                <a:gd name="adj" fmla="val 9000"/>
              </a:avLst>
            </a:prstGeom>
            <a:solidFill>
              <a:srgbClr val="FF9393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III · Anemias</a:t>
              </a:r>
              <a:endParaRPr lang="es-AR" sz="16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Hb, índices, reticulocitos, B</a:t>
              </a:r>
              <a:r>
                <a:rPr lang="es-AR" sz="1600" baseline="-250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5" name="Nodo IV · IAM"/>
          <p:cNvGrpSpPr/>
          <p:nvPr/>
        </p:nvGrpSpPr>
        <p:grpSpPr>
          <a:xfrm>
            <a:off x="5394080" y="4091940"/>
            <a:ext cx="2580659" cy="1280160"/>
            <a:chOff x="5394080" y="4091940"/>
            <a:chExt cx="2580659" cy="1280160"/>
          </a:xfrm>
        </p:grpSpPr>
        <p:sp>
          <p:nvSpPr>
            <p:cNvPr id="16" name="Flecha 18_2"/>
            <p:cNvSpPr/>
            <p:nvPr/>
          </p:nvSpPr>
          <p:spPr>
            <a:xfrm>
              <a:off x="5394080" y="4091940"/>
              <a:ext cx="791894" cy="457200"/>
            </a:xfrm>
            <a:custGeom>
              <a:avLst/>
              <a:gdLst/>
              <a:ahLst/>
              <a:cxnLst/>
              <a:rect l="0" t="0" r="r" b="b"/>
              <a:pathLst>
                <a:path w="866" h="500" fill="none">
                  <a:moveTo>
                    <a:pt x="0" y="0"/>
                  </a:moveTo>
                  <a:lnTo>
                    <a:pt x="866" y="5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17" name="Forma 20"/>
            <p:cNvSpPr/>
            <p:nvPr/>
          </p:nvSpPr>
          <p:spPr>
            <a:xfrm>
              <a:off x="5505860" y="4274820"/>
              <a:ext cx="2468880" cy="1097280"/>
            </a:xfrm>
            <a:prstGeom prst="roundRect">
              <a:avLst>
                <a:gd name="adj" fmla="val 9000"/>
              </a:avLst>
            </a:prstGeom>
            <a:solidFill>
              <a:srgbClr val="86AADA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IV · IAM</a:t>
              </a:r>
              <a:endParaRPr lang="es-AR" sz="16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troponina, CK-MB, cinética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18" name="Nodo V · Hepatopancreático"/>
          <p:cNvGrpSpPr/>
          <p:nvPr/>
        </p:nvGrpSpPr>
        <p:grpSpPr>
          <a:xfrm>
            <a:off x="437740" y="4091940"/>
            <a:ext cx="2580659" cy="1280160"/>
            <a:chOff x="437740" y="4091940"/>
            <a:chExt cx="2580659" cy="1280160"/>
          </a:xfrm>
        </p:grpSpPr>
        <p:sp>
          <p:nvSpPr>
            <p:cNvPr id="19" name="Flecha 22_2"/>
            <p:cNvSpPr/>
            <p:nvPr/>
          </p:nvSpPr>
          <p:spPr>
            <a:xfrm>
              <a:off x="2226506" y="4091940"/>
              <a:ext cx="791894" cy="457200"/>
            </a:xfrm>
            <a:custGeom>
              <a:avLst/>
              <a:gdLst/>
              <a:ahLst/>
              <a:cxnLst/>
              <a:rect l="0" t="0" r="r" b="b"/>
              <a:pathLst>
                <a:path w="866" h="500" fill="none">
                  <a:moveTo>
                    <a:pt x="866" y="0"/>
                  </a:moveTo>
                  <a:lnTo>
                    <a:pt x="0" y="5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0" name="Forma 24"/>
            <p:cNvSpPr/>
            <p:nvPr/>
          </p:nvSpPr>
          <p:spPr>
            <a:xfrm>
              <a:off x="437740" y="4274820"/>
              <a:ext cx="2468880" cy="1097280"/>
            </a:xfrm>
            <a:prstGeom prst="roundRect">
              <a:avLst>
                <a:gd name="adj" fmla="val 9000"/>
              </a:avLst>
            </a:prstGeom>
            <a:solidFill>
              <a:srgbClr val="F2AB86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V · Hepatopancreático</a:t>
              </a:r>
              <a:endParaRPr lang="es-AR" sz="16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ALT/AST, FAL/GGT, amilasa/lipasa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1" name="Nodo Integración"/>
          <p:cNvGrpSpPr/>
          <p:nvPr/>
        </p:nvGrpSpPr>
        <p:grpSpPr>
          <a:xfrm>
            <a:off x="2971800" y="4434840"/>
            <a:ext cx="2468880" cy="2011680"/>
            <a:chOff x="2971800" y="4434840"/>
            <a:chExt cx="2468880" cy="2011680"/>
          </a:xfrm>
        </p:grpSpPr>
        <p:sp>
          <p:nvSpPr>
            <p:cNvPr id="22" name="Flecha 26_2"/>
            <p:cNvSpPr/>
            <p:nvPr/>
          </p:nvSpPr>
          <p:spPr>
            <a:xfrm>
              <a:off x="4206240" y="4434840"/>
              <a:ext cx="9144" cy="914400"/>
            </a:xfrm>
            <a:custGeom>
              <a:avLst/>
              <a:gdLst/>
              <a:ahLst/>
              <a:cxnLst/>
              <a:rect l="0" t="0" r="r" b="b"/>
              <a:pathLst>
                <a:path w="10" h="1000" fill="none">
                  <a:moveTo>
                    <a:pt x="0" y="0"/>
                  </a:moveTo>
                  <a:lnTo>
                    <a:pt x="0" y="1000"/>
                  </a:lnTo>
                </a:path>
              </a:pathLst>
            </a:custGeom>
            <a:noFill/>
            <a:ln w="31750" cap="rnd">
              <a:solidFill>
                <a:srgbClr val="1E1E1E"/>
              </a:solidFill>
              <a:round/>
              <a:tailEnd type="triangle" w="med" len="med"/>
            </a:ln>
          </p:spPr>
        </p:sp>
        <p:sp>
          <p:nvSpPr>
            <p:cNvPr id="23" name="Forma 28"/>
            <p:cNvSpPr/>
            <p:nvPr/>
          </p:nvSpPr>
          <p:spPr>
            <a:xfrm>
              <a:off x="2971800" y="5349240"/>
              <a:ext cx="2468880" cy="1097280"/>
            </a:xfrm>
            <a:prstGeom prst="roundRect">
              <a:avLst>
                <a:gd name="adj" fmla="val 9000"/>
              </a:avLst>
            </a:prstGeom>
            <a:solidFill>
              <a:srgbClr val="DADAF2"/>
            </a:solidFill>
            <a:ln w="22225" cap="rnd">
              <a:solidFill>
                <a:srgbClr val="1E1E1E"/>
              </a:solidFill>
              <a:round/>
            </a:ln>
          </p:spPr>
          <p:txBody>
            <a:bodyPr wrap="square" lIns="137160" tIns="73152" rIns="137160" bIns="73152" anchor="ctr" rtlCol="0">
              <a:noAutofit/>
            </a:bodyPr>
            <a:lstStyle/>
            <a:p>
              <a:pPr algn="ctr">
                <a:spcAft>
                  <a:spcPts val="400"/>
                </a:spcAft>
                <a:buNone/>
              </a:pPr>
              <a:r>
                <a:rPr lang="es-AR" sz="1600" b="1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Integración</a:t>
              </a:r>
              <a:endParaRPr lang="es-AR" sz="1600" dirty="0">
                <a:latin typeface="Calibri"/>
              </a:endParaRPr>
            </a:p>
            <a:p>
              <a:pPr algn="ctr">
                <a:spcAft>
                  <a:spcPts val="400"/>
                </a:spcAft>
                <a:buNone/>
              </a:pPr>
              <a:r>
                <a:rPr lang="es-AR" sz="1600" dirty="0">
                  <a:solidFill>
                    <a:srgbClr val="1E1E1E"/>
                  </a:solidFill>
                  <a:latin typeface="Calibri"/>
                  <a:ea typeface="Calibri"/>
                  <a:cs typeface="Calibri"/>
                  <a:sym typeface="Calibri"/>
                </a:rPr>
                <a:t>enzima → lesión → sangre → tiempo</a:t>
              </a:r>
              <a:endParaRPr lang="es-AR" sz="1600" dirty="0">
                <a:latin typeface="Calibri"/>
              </a:endParaRPr>
            </a:p>
          </p:txBody>
        </p:sp>
      </p:grpSp>
      <p:grpSp>
        <p:nvGrpSpPr>
          <p:cNvPr id="24" name="Deco mapa"/>
          <p:cNvGrpSpPr/>
          <p:nvPr/>
        </p:nvGrpSpPr>
        <p:grpSpPr>
          <a:xfrm>
            <a:off x="8778240" y="1097280"/>
            <a:ext cx="3017520" cy="4754880"/>
            <a:chOff x="8778240" y="1097280"/>
            <a:chExt cx="3017520" cy="4754880"/>
          </a:xfrm>
        </p:grpSpPr>
        <p:grpSp>
          <p:nvGrpSpPr>
            <p:cNvPr id="25" name="c"/>
            <p:cNvGrpSpPr/>
            <p:nvPr/>
          </p:nvGrpSpPr>
          <p:grpSpPr>
            <a:xfrm>
              <a:off x="8778240" y="1097280"/>
              <a:ext cx="1371600" cy="1508760"/>
              <a:chOff x="8778240" y="1097280"/>
              <a:chExt cx="1371600" cy="1508760"/>
            </a:xfrm>
          </p:grpSpPr>
          <p:sp>
            <p:nvSpPr>
              <p:cNvPr id="26" name="Aorta"/>
              <p:cNvSpPr/>
              <p:nvPr/>
            </p:nvSpPr>
            <p:spPr>
              <a:xfrm>
                <a:off x="9299448" y="1097280"/>
                <a:ext cx="438912" cy="48280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150" y="1000"/>
                    </a:moveTo>
                    <a:cubicBezTo>
                      <a:pt x="117" y="950"/>
                      <a:pt x="93" y="588"/>
                      <a:pt x="100" y="500"/>
                    </a:cubicBezTo>
                    <a:cubicBezTo>
                      <a:pt x="107" y="412"/>
                      <a:pt x="178" y="170"/>
                      <a:pt x="220" y="120"/>
                    </a:cubicBezTo>
                    <a:cubicBezTo>
                      <a:pt x="262" y="70"/>
                      <a:pt x="457" y="4"/>
                      <a:pt x="520" y="0"/>
                    </a:cubicBezTo>
                    <a:cubicBezTo>
                      <a:pt x="583" y="-4"/>
                      <a:pt x="802" y="50"/>
                      <a:pt x="850" y="80"/>
                    </a:cubicBezTo>
                    <a:cubicBezTo>
                      <a:pt x="898" y="110"/>
                      <a:pt x="997" y="270"/>
                      <a:pt x="1000" y="300"/>
                    </a:cubicBezTo>
                    <a:cubicBezTo>
                      <a:pt x="1003" y="330"/>
                      <a:pt x="910" y="385"/>
                      <a:pt x="880" y="380"/>
                    </a:cubicBezTo>
                    <a:cubicBezTo>
                      <a:pt x="850" y="375"/>
                      <a:pt x="736" y="265"/>
                      <a:pt x="700" y="250"/>
                    </a:cubicBezTo>
                    <a:cubicBezTo>
                      <a:pt x="664" y="235"/>
                      <a:pt x="548" y="213"/>
                      <a:pt x="520" y="230"/>
                    </a:cubicBezTo>
                    <a:cubicBezTo>
                      <a:pt x="492" y="247"/>
                      <a:pt x="429" y="343"/>
                      <a:pt x="420" y="420"/>
                    </a:cubicBezTo>
                    <a:cubicBezTo>
                      <a:pt x="411" y="497"/>
                      <a:pt x="457" y="942"/>
                      <a:pt x="430" y="1000"/>
                    </a:cubicBezTo>
                    <a:cubicBezTo>
                      <a:pt x="403" y="1058"/>
                      <a:pt x="183" y="1050"/>
                      <a:pt x="15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28F8F"/>
                  </a:gs>
                  <a:gs pos="55000">
                    <a:srgbClr val="D35454"/>
                  </a:gs>
                  <a:gs pos="100000">
                    <a:srgbClr val="933A3A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B1F17"/>
                </a:solidFill>
                <a:round/>
              </a:ln>
            </p:spPr>
          </p:sp>
          <p:sp>
            <p:nvSpPr>
              <p:cNvPr id="27" name="Arteria pulmonar"/>
              <p:cNvSpPr/>
              <p:nvPr/>
            </p:nvSpPr>
            <p:spPr>
              <a:xfrm>
                <a:off x="9079992" y="1248156"/>
                <a:ext cx="301752" cy="37719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1000"/>
                    </a:moveTo>
                    <a:cubicBezTo>
                      <a:pt x="260" y="940"/>
                      <a:pt x="230" y="492"/>
                      <a:pt x="250" y="400"/>
                    </a:cubicBezTo>
                    <a:cubicBezTo>
                      <a:pt x="270" y="308"/>
                      <a:pt x="435" y="114"/>
                      <a:pt x="500" y="80"/>
                    </a:cubicBezTo>
                    <a:cubicBezTo>
                      <a:pt x="565" y="46"/>
                      <a:pt x="855" y="38"/>
                      <a:pt x="900" y="60"/>
                    </a:cubicBezTo>
                    <a:cubicBezTo>
                      <a:pt x="945" y="82"/>
                      <a:pt x="975" y="271"/>
                      <a:pt x="950" y="300"/>
                    </a:cubicBezTo>
                    <a:cubicBezTo>
                      <a:pt x="925" y="329"/>
                      <a:pt x="680" y="280"/>
                      <a:pt x="650" y="350"/>
                    </a:cubicBezTo>
                    <a:cubicBezTo>
                      <a:pt x="620" y="420"/>
                      <a:pt x="685" y="935"/>
                      <a:pt x="650" y="1000"/>
                    </a:cubicBezTo>
                    <a:cubicBezTo>
                      <a:pt x="615" y="1065"/>
                      <a:pt x="340" y="1060"/>
                      <a:pt x="300" y="10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4AACC"/>
                  </a:gs>
                  <a:gs pos="55000">
                    <a:srgbClr val="5B7DB1"/>
                  </a:gs>
                  <a:gs pos="100000">
                    <a:srgbClr val="3F577B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1F3864"/>
                </a:solidFill>
                <a:round/>
              </a:ln>
            </p:spPr>
          </p:sp>
          <p:sp>
            <p:nvSpPr>
              <p:cNvPr id="28" name="Miocardio"/>
              <p:cNvSpPr/>
              <p:nvPr/>
            </p:nvSpPr>
            <p:spPr>
              <a:xfrm>
                <a:off x="8778240" y="1368857"/>
                <a:ext cx="1371600" cy="123718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420" y="230"/>
                    </a:moveTo>
                    <a:cubicBezTo>
                      <a:pt x="476" y="228"/>
                      <a:pt x="570" y="195"/>
                      <a:pt x="640" y="200"/>
                    </a:cubicBezTo>
                    <a:cubicBezTo>
                      <a:pt x="710" y="205"/>
                      <a:pt x="786" y="220"/>
                      <a:pt x="840" y="260"/>
                    </a:cubicBezTo>
                    <a:cubicBezTo>
                      <a:pt x="893" y="300"/>
                      <a:pt x="945" y="376"/>
                      <a:pt x="960" y="440"/>
                    </a:cubicBezTo>
                    <a:cubicBezTo>
                      <a:pt x="975" y="503"/>
                      <a:pt x="960" y="576"/>
                      <a:pt x="930" y="640"/>
                    </a:cubicBezTo>
                    <a:cubicBezTo>
                      <a:pt x="900" y="703"/>
                      <a:pt x="841" y="763"/>
                      <a:pt x="780" y="820"/>
                    </a:cubicBezTo>
                    <a:cubicBezTo>
                      <a:pt x="718" y="876"/>
                      <a:pt x="620" y="966"/>
                      <a:pt x="560" y="980"/>
                    </a:cubicBezTo>
                    <a:cubicBezTo>
                      <a:pt x="500" y="993"/>
                      <a:pt x="475" y="936"/>
                      <a:pt x="420" y="900"/>
                    </a:cubicBezTo>
                    <a:cubicBezTo>
                      <a:pt x="365" y="863"/>
                      <a:pt x="285" y="816"/>
                      <a:pt x="230" y="760"/>
                    </a:cubicBezTo>
                    <a:cubicBezTo>
                      <a:pt x="175" y="703"/>
                      <a:pt x="118" y="623"/>
                      <a:pt x="90" y="560"/>
                    </a:cubicBezTo>
                    <a:cubicBezTo>
                      <a:pt x="61" y="496"/>
                      <a:pt x="46" y="431"/>
                      <a:pt x="60" y="380"/>
                    </a:cubicBezTo>
                    <a:cubicBezTo>
                      <a:pt x="73" y="328"/>
                      <a:pt x="130" y="278"/>
                      <a:pt x="170" y="250"/>
                    </a:cubicBezTo>
                    <a:cubicBezTo>
                      <a:pt x="210" y="221"/>
                      <a:pt x="258" y="213"/>
                      <a:pt x="300" y="210"/>
                    </a:cubicBezTo>
                    <a:cubicBezTo>
                      <a:pt x="341" y="206"/>
                      <a:pt x="363" y="231"/>
                      <a:pt x="420" y="23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A8C84"/>
                  </a:gs>
                  <a:gs pos="55000">
                    <a:srgbClr val="C0392B"/>
                  </a:gs>
                  <a:gs pos="100000">
                    <a:srgbClr val="82261D"/>
                  </a:gs>
                </a:gsLst>
                <a:path path="circle">
                  <a:fillToRect l="35000" t="30000" r="65000" b="70000"/>
                </a:path>
              </a:gradFill>
              <a:ln w="28575" cap="rnd">
                <a:solidFill>
                  <a:srgbClr val="641E16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29" name="Aurícula derecha"/>
              <p:cNvSpPr/>
              <p:nvPr/>
            </p:nvSpPr>
            <p:spPr>
              <a:xfrm>
                <a:off x="8833104" y="1549908"/>
                <a:ext cx="384048" cy="422453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200" y="100"/>
                    </a:moveTo>
                    <a:cubicBezTo>
                      <a:pt x="306" y="26"/>
                      <a:pt x="575" y="10"/>
                      <a:pt x="700" y="60"/>
                    </a:cubicBezTo>
                    <a:cubicBezTo>
                      <a:pt x="825" y="110"/>
                      <a:pt x="933" y="268"/>
                      <a:pt x="950" y="400"/>
                    </a:cubicBezTo>
                    <a:cubicBezTo>
                      <a:pt x="966" y="531"/>
                      <a:pt x="908" y="766"/>
                      <a:pt x="800" y="850"/>
                    </a:cubicBezTo>
                    <a:cubicBezTo>
                      <a:pt x="691" y="933"/>
                      <a:pt x="423" y="958"/>
                      <a:pt x="300" y="900"/>
                    </a:cubicBezTo>
                    <a:cubicBezTo>
                      <a:pt x="176" y="841"/>
                      <a:pt x="76" y="633"/>
                      <a:pt x="60" y="500"/>
                    </a:cubicBezTo>
                    <a:cubicBezTo>
                      <a:pt x="43" y="366"/>
                      <a:pt x="93" y="173"/>
                      <a:pt x="200" y="1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F8881"/>
                  </a:gs>
                  <a:gs pos="55000">
                    <a:srgbClr val="B03A2E"/>
                  </a:gs>
                  <a:gs pos="100000">
                    <a:srgbClr val="7B2820"/>
                  </a:gs>
                </a:gsLst>
                <a:path path="circle">
                  <a:fillToRect l="32000" t="28000" r="68000" b="72000"/>
                </a:path>
              </a:gradFill>
              <a:ln w="19050" cap="rnd">
                <a:solidFill>
                  <a:srgbClr val="641E16"/>
                </a:solidFill>
                <a:round/>
              </a:ln>
            </p:spPr>
          </p:sp>
        </p:grpSp>
        <p:sp>
          <p:nvSpPr>
            <p:cNvPr id="30" name="!!ArteriaCoronaria izquierda"/>
            <p:cNvSpPr/>
            <p:nvPr/>
          </p:nvSpPr>
          <p:spPr>
            <a:xfrm>
              <a:off x="8778240" y="1368857"/>
              <a:ext cx="1371600" cy="1237183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70" y="240"/>
                  </a:moveTo>
                  <a:cubicBezTo>
                    <a:pt x="520" y="330"/>
                    <a:pt x="560" y="450"/>
                    <a:pt x="560" y="560"/>
                  </a:cubicBezTo>
                  <a:cubicBezTo>
                    <a:pt x="560" y="700"/>
                    <a:pt x="520" y="820"/>
                    <a:pt x="480" y="940"/>
                  </a:cubicBezTo>
                </a:path>
                <a:path w="1000" h="1000" fill="none">
                  <a:moveTo>
                    <a:pt x="470" y="240"/>
                  </a:moveTo>
                  <a:cubicBezTo>
                    <a:pt x="600" y="260"/>
                    <a:pt x="760" y="330"/>
                    <a:pt x="880" y="450"/>
                  </a:cubicBezTo>
                </a:path>
                <a:path w="1000" h="1000" fill="none">
                  <a:moveTo>
                    <a:pt x="560" y="470"/>
                  </a:moveTo>
                  <a:cubicBezTo>
                    <a:pt x="650" y="520"/>
                    <a:pt x="720" y="600"/>
                    <a:pt x="760" y="70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sp>
          <p:nvSpPr>
            <p:cNvPr id="31" name="!!ArteriaCoronaria derecha"/>
            <p:cNvSpPr/>
            <p:nvPr/>
          </p:nvSpPr>
          <p:spPr>
            <a:xfrm>
              <a:off x="8778240" y="1368857"/>
              <a:ext cx="1371600" cy="1237183"/>
            </a:xfrm>
            <a:custGeom>
              <a:avLst/>
              <a:gdLst/>
              <a:ahLst/>
              <a:cxnLst/>
              <a:rect l="0" t="0" r="r" b="b"/>
              <a:pathLst>
                <a:path w="1000" h="1000" fill="none">
                  <a:moveTo>
                    <a:pt x="420" y="235"/>
                  </a:moveTo>
                  <a:cubicBezTo>
                    <a:pt x="300" y="300"/>
                    <a:pt x="180" y="420"/>
                    <a:pt x="140" y="560"/>
                  </a:cubicBezTo>
                  <a:cubicBezTo>
                    <a:pt x="120" y="650"/>
                    <a:pt x="160" y="760"/>
                    <a:pt x="260" y="820"/>
                  </a:cubicBezTo>
                </a:path>
              </a:pathLst>
            </a:custGeom>
            <a:noFill/>
            <a:ln w="57150" cap="rnd">
              <a:solidFill>
                <a:srgbClr val="F4D03F"/>
              </a:solidFill>
              <a:round/>
            </a:ln>
          </p:spPr>
        </p:sp>
        <p:grpSp>
          <p:nvGrpSpPr>
            <p:cNvPr id="32" name="h"/>
            <p:cNvGrpSpPr/>
            <p:nvPr/>
          </p:nvGrpSpPr>
          <p:grpSpPr>
            <a:xfrm>
              <a:off x="10241280" y="1371600"/>
              <a:ext cx="1554480" cy="1098706"/>
              <a:chOff x="10241280" y="1371600"/>
              <a:chExt cx="1554480" cy="1098706"/>
            </a:xfrm>
          </p:grpSpPr>
          <p:sp>
            <p:nvSpPr>
              <p:cNvPr id="33" name="Vesícula biliar"/>
              <p:cNvSpPr/>
              <p:nvPr/>
            </p:nvSpPr>
            <p:spPr>
              <a:xfrm>
                <a:off x="10660990" y="2123347"/>
                <a:ext cx="202082" cy="346960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300" y="0"/>
                    </a:moveTo>
                    <a:cubicBezTo>
                      <a:pt x="438" y="-106"/>
                      <a:pt x="866" y="-73"/>
                      <a:pt x="950" y="60"/>
                    </a:cubicBezTo>
                    <a:cubicBezTo>
                      <a:pt x="1033" y="193"/>
                      <a:pt x="883" y="643"/>
                      <a:pt x="800" y="800"/>
                    </a:cubicBezTo>
                    <a:cubicBezTo>
                      <a:pt x="716" y="956"/>
                      <a:pt x="563" y="1016"/>
                      <a:pt x="450" y="1000"/>
                    </a:cubicBezTo>
                    <a:cubicBezTo>
                      <a:pt x="336" y="983"/>
                      <a:pt x="145" y="866"/>
                      <a:pt x="120" y="700"/>
                    </a:cubicBezTo>
                    <a:cubicBezTo>
                      <a:pt x="95" y="533"/>
                      <a:pt x="161" y="106"/>
                      <a:pt x="3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AD099"/>
                  </a:gs>
                  <a:gs pos="55000">
                    <a:srgbClr val="8DB255"/>
                  </a:gs>
                  <a:gs pos="100000">
                    <a:srgbClr val="627C3B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E6B22"/>
                </a:solidFill>
                <a:round/>
              </a:ln>
            </p:spPr>
          </p:sp>
          <p:sp>
            <p:nvSpPr>
              <p:cNvPr id="34" name="Forma 39"/>
              <p:cNvSpPr/>
              <p:nvPr/>
            </p:nvSpPr>
            <p:spPr>
              <a:xfrm>
                <a:off x="10241280" y="1371600"/>
                <a:ext cx="1554480" cy="96377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>
                    <a:moveTo>
                      <a:pt x="40" y="250"/>
                    </a:moveTo>
                    <a:cubicBezTo>
                      <a:pt x="50" y="205"/>
                      <a:pt x="76" y="143"/>
                      <a:pt x="120" y="110"/>
                    </a:cubicBezTo>
                    <a:cubicBezTo>
                      <a:pt x="163" y="76"/>
                      <a:pt x="233" y="59"/>
                      <a:pt x="300" y="50"/>
                    </a:cubicBezTo>
                    <a:cubicBezTo>
                      <a:pt x="366" y="40"/>
                      <a:pt x="450" y="50"/>
                      <a:pt x="520" y="55"/>
                    </a:cubicBezTo>
                    <a:cubicBezTo>
                      <a:pt x="590" y="59"/>
                      <a:pt x="656" y="64"/>
                      <a:pt x="720" y="75"/>
                    </a:cubicBezTo>
                    <a:cubicBezTo>
                      <a:pt x="783" y="85"/>
                      <a:pt x="857" y="100"/>
                      <a:pt x="900" y="120"/>
                    </a:cubicBezTo>
                    <a:cubicBezTo>
                      <a:pt x="942" y="139"/>
                      <a:pt x="968" y="168"/>
                      <a:pt x="975" y="190"/>
                    </a:cubicBezTo>
                    <a:cubicBezTo>
                      <a:pt x="981" y="211"/>
                      <a:pt x="965" y="231"/>
                      <a:pt x="940" y="250"/>
                    </a:cubicBezTo>
                    <a:cubicBezTo>
                      <a:pt x="914" y="268"/>
                      <a:pt x="861" y="280"/>
                      <a:pt x="820" y="300"/>
                    </a:cubicBezTo>
                    <a:cubicBezTo>
                      <a:pt x="778" y="320"/>
                      <a:pt x="733" y="341"/>
                      <a:pt x="690" y="370"/>
                    </a:cubicBezTo>
                    <a:cubicBezTo>
                      <a:pt x="646" y="398"/>
                      <a:pt x="601" y="436"/>
                      <a:pt x="560" y="470"/>
                    </a:cubicBezTo>
                    <a:cubicBezTo>
                      <a:pt x="518" y="503"/>
                      <a:pt x="478" y="546"/>
                      <a:pt x="440" y="570"/>
                    </a:cubicBezTo>
                    <a:cubicBezTo>
                      <a:pt x="401" y="593"/>
                      <a:pt x="365" y="608"/>
                      <a:pt x="330" y="610"/>
                    </a:cubicBezTo>
                    <a:cubicBezTo>
                      <a:pt x="295" y="611"/>
                      <a:pt x="261" y="601"/>
                      <a:pt x="230" y="580"/>
                    </a:cubicBezTo>
                    <a:cubicBezTo>
                      <a:pt x="198" y="558"/>
                      <a:pt x="168" y="513"/>
                      <a:pt x="140" y="480"/>
                    </a:cubicBezTo>
                    <a:cubicBezTo>
                      <a:pt x="111" y="446"/>
                      <a:pt x="76" y="418"/>
                      <a:pt x="60" y="380"/>
                    </a:cubicBezTo>
                    <a:cubicBezTo>
                      <a:pt x="43" y="341"/>
                      <a:pt x="30" y="295"/>
                      <a:pt x="40" y="25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4948C"/>
                  </a:gs>
                  <a:gs pos="55000">
                    <a:srgbClr val="B5473A"/>
                  </a:gs>
                  <a:gs pos="100000">
                    <a:srgbClr val="7E3128"/>
                  </a:gs>
                </a:gsLst>
                <a:path path="circle">
                  <a:fillToRect l="30000" t="25000" r="70000" b="75000"/>
                </a:path>
              </a:gradFill>
              <a:ln w="25400" cap="rnd">
                <a:solidFill>
                  <a:srgbClr val="511F1A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35" name="Forma 40"/>
              <p:cNvSpPr/>
              <p:nvPr/>
            </p:nvSpPr>
            <p:spPr>
              <a:xfrm>
                <a:off x="10241280" y="1371600"/>
                <a:ext cx="1554480" cy="96377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560" y="70"/>
                    </a:moveTo>
                    <a:cubicBezTo>
                      <a:pt x="545" y="180"/>
                      <a:pt x="530" y="280"/>
                      <a:pt x="520" y="400"/>
                    </a:cubicBezTo>
                  </a:path>
                </a:pathLst>
              </a:custGeom>
              <a:noFill/>
              <a:ln w="22225" cap="rnd">
                <a:solidFill>
                  <a:srgbClr val="6C2A22"/>
                </a:solidFill>
                <a:round/>
              </a:ln>
            </p:spPr>
          </p:sp>
          <p:sp>
            <p:nvSpPr>
              <p:cNvPr id="36" name="Forma 41"/>
              <p:cNvSpPr/>
              <p:nvPr/>
            </p:nvSpPr>
            <p:spPr>
              <a:xfrm>
                <a:off x="10241280" y="1371600"/>
                <a:ext cx="1554480" cy="96377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620" fill="none">
                    <a:moveTo>
                      <a:pt x="200" y="200"/>
                    </a:moveTo>
                    <a:cubicBezTo>
                      <a:pt x="260" y="160"/>
                      <a:pt x="330" y="150"/>
                      <a:pt x="400" y="170"/>
                    </a:cubicBezTo>
                  </a:path>
                  <a:path w="1000" h="620" fill="none">
                    <a:moveTo>
                      <a:pt x="640" y="160"/>
                    </a:moveTo>
                    <a:cubicBezTo>
                      <a:pt x="700" y="150"/>
                      <a:pt x="760" y="160"/>
                      <a:pt x="820" y="190"/>
                    </a:cubicBezTo>
                  </a:path>
                </a:pathLst>
              </a:custGeom>
              <a:noFill/>
              <a:ln w="31750" cap="rnd">
                <a:solidFill>
                  <a:srgbClr val="CE877E"/>
                </a:solidFill>
                <a:round/>
              </a:ln>
            </p:spPr>
          </p:sp>
        </p:grpSp>
        <p:sp>
          <p:nvSpPr>
            <p:cNvPr id="37" name="e"/>
            <p:cNvSpPr/>
            <p:nvPr/>
          </p:nvSpPr>
          <p:spPr>
            <a:xfrm>
              <a:off x="8869680" y="2743200"/>
              <a:ext cx="1005840" cy="1005840"/>
            </a:xfrm>
            <a:prstGeom prst="ellipse">
              <a:avLst/>
            </a:prstGeom>
            <a:gradFill rotWithShape="1">
              <a:gsLst>
                <a:gs pos="0">
                  <a:srgbClr val="F29A8E"/>
                </a:gs>
                <a:gs pos="38000">
                  <a:srgbClr val="F29A8E"/>
                </a:gs>
                <a:gs pos="68000">
                  <a:srgbClr val="D1554B"/>
                </a:gs>
                <a:gs pos="100000">
                  <a:srgbClr val="82231C"/>
                </a:gs>
              </a:gsLst>
              <a:path path="circle">
                <a:fillToRect l="50000" t="50000" r="50000" b="50000"/>
              </a:path>
            </a:gradFill>
            <a:ln w="12700" cap="rnd">
              <a:solidFill>
                <a:srgbClr val="6E1A12"/>
              </a:solidFill>
              <a:round/>
            </a:ln>
          </p:spPr>
        </p:sp>
        <p:grpSp>
          <p:nvGrpSpPr>
            <p:cNvPr id="38" name="p"/>
            <p:cNvGrpSpPr/>
            <p:nvPr/>
          </p:nvGrpSpPr>
          <p:grpSpPr>
            <a:xfrm>
              <a:off x="9966960" y="2926080"/>
              <a:ext cx="1828800" cy="768096"/>
              <a:chOff x="9966960" y="2926080"/>
              <a:chExt cx="1828800" cy="768096"/>
            </a:xfrm>
          </p:grpSpPr>
          <p:sp>
            <p:nvSpPr>
              <p:cNvPr id="39" name="Forma 44"/>
              <p:cNvSpPr/>
              <p:nvPr/>
            </p:nvSpPr>
            <p:spPr>
              <a:xfrm>
                <a:off x="9966960" y="2926080"/>
                <a:ext cx="182880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30" y="300"/>
                    </a:moveTo>
                    <a:cubicBezTo>
                      <a:pt x="20" y="271"/>
                      <a:pt x="40" y="238"/>
                      <a:pt x="60" y="220"/>
                    </a:cubicBezTo>
                    <a:cubicBezTo>
                      <a:pt x="80" y="201"/>
                      <a:pt x="118" y="188"/>
                      <a:pt x="150" y="190"/>
                    </a:cubicBezTo>
                    <a:cubicBezTo>
                      <a:pt x="181" y="191"/>
                      <a:pt x="215" y="220"/>
                      <a:pt x="250" y="230"/>
                    </a:cubicBezTo>
                    <a:cubicBezTo>
                      <a:pt x="285" y="240"/>
                      <a:pt x="321" y="255"/>
                      <a:pt x="360" y="250"/>
                    </a:cubicBezTo>
                    <a:cubicBezTo>
                      <a:pt x="398" y="245"/>
                      <a:pt x="440" y="213"/>
                      <a:pt x="480" y="200"/>
                    </a:cubicBezTo>
                    <a:cubicBezTo>
                      <a:pt x="520" y="186"/>
                      <a:pt x="556" y="180"/>
                      <a:pt x="600" y="170"/>
                    </a:cubicBezTo>
                    <a:cubicBezTo>
                      <a:pt x="643" y="160"/>
                      <a:pt x="693" y="148"/>
                      <a:pt x="740" y="140"/>
                    </a:cubicBezTo>
                    <a:cubicBezTo>
                      <a:pt x="786" y="131"/>
                      <a:pt x="841" y="118"/>
                      <a:pt x="880" y="120"/>
                    </a:cubicBezTo>
                    <a:cubicBezTo>
                      <a:pt x="918" y="121"/>
                      <a:pt x="956" y="133"/>
                      <a:pt x="970" y="150"/>
                    </a:cubicBezTo>
                    <a:cubicBezTo>
                      <a:pt x="983" y="166"/>
                      <a:pt x="978" y="203"/>
                      <a:pt x="960" y="220"/>
                    </a:cubicBezTo>
                    <a:cubicBezTo>
                      <a:pt x="941" y="236"/>
                      <a:pt x="896" y="240"/>
                      <a:pt x="860" y="250"/>
                    </a:cubicBezTo>
                    <a:cubicBezTo>
                      <a:pt x="823" y="260"/>
                      <a:pt x="780" y="268"/>
                      <a:pt x="740" y="280"/>
                    </a:cubicBezTo>
                    <a:cubicBezTo>
                      <a:pt x="700" y="291"/>
                      <a:pt x="660" y="305"/>
                      <a:pt x="620" y="320"/>
                    </a:cubicBezTo>
                    <a:cubicBezTo>
                      <a:pt x="580" y="335"/>
                      <a:pt x="540" y="356"/>
                      <a:pt x="500" y="370"/>
                    </a:cubicBezTo>
                    <a:cubicBezTo>
                      <a:pt x="460" y="383"/>
                      <a:pt x="421" y="393"/>
                      <a:pt x="380" y="400"/>
                    </a:cubicBezTo>
                    <a:cubicBezTo>
                      <a:pt x="338" y="406"/>
                      <a:pt x="293" y="411"/>
                      <a:pt x="250" y="410"/>
                    </a:cubicBezTo>
                    <a:cubicBezTo>
                      <a:pt x="206" y="408"/>
                      <a:pt x="156" y="408"/>
                      <a:pt x="120" y="390"/>
                    </a:cubicBezTo>
                    <a:cubicBezTo>
                      <a:pt x="83" y="371"/>
                      <a:pt x="40" y="328"/>
                      <a:pt x="30" y="3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5D8BE"/>
                  </a:gs>
                  <a:gs pos="55000">
                    <a:srgbClr val="EDB98A"/>
                  </a:gs>
                  <a:gs pos="100000">
                    <a:srgbClr val="B18A67"/>
                  </a:gs>
                </a:gsLst>
                <a:path path="circle">
                  <a:fillToRect l="32000" t="28000" r="68000" b="72000"/>
                </a:path>
              </a:gradFill>
              <a:ln w="22225" cap="rnd">
                <a:solidFill>
                  <a:srgbClr val="765C45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40" name="Forma 45"/>
              <p:cNvSpPr/>
              <p:nvPr/>
            </p:nvSpPr>
            <p:spPr>
              <a:xfrm>
                <a:off x="9966960" y="2926080"/>
                <a:ext cx="182880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295"/>
                    </a:moveTo>
                    <a:cubicBezTo>
                      <a:pt x="100" y="306"/>
                      <a:pt x="91" y="315"/>
                      <a:pt x="80" y="315"/>
                    </a:cubicBezTo>
                    <a:cubicBezTo>
                      <a:pt x="68" y="315"/>
                      <a:pt x="60" y="306"/>
                      <a:pt x="60" y="295"/>
                    </a:cubicBezTo>
                    <a:cubicBezTo>
                      <a:pt x="60" y="283"/>
                      <a:pt x="68" y="275"/>
                      <a:pt x="80" y="275"/>
                    </a:cubicBezTo>
                    <a:cubicBezTo>
                      <a:pt x="91" y="275"/>
                      <a:pt x="100" y="283"/>
                      <a:pt x="100" y="295"/>
                    </a:cubicBezTo>
                    <a:close/>
                    <a:moveTo>
                      <a:pt x="142" y="293"/>
                    </a:moveTo>
                    <a:cubicBezTo>
                      <a:pt x="142" y="308"/>
                      <a:pt x="129" y="321"/>
                      <a:pt x="114" y="321"/>
                    </a:cubicBezTo>
                    <a:cubicBezTo>
                      <a:pt x="98" y="321"/>
                      <a:pt x="86" y="308"/>
                      <a:pt x="86" y="293"/>
                    </a:cubicBezTo>
                    <a:cubicBezTo>
                      <a:pt x="86" y="277"/>
                      <a:pt x="98" y="265"/>
                      <a:pt x="114" y="265"/>
                    </a:cubicBezTo>
                    <a:cubicBezTo>
                      <a:pt x="129" y="265"/>
                      <a:pt x="142" y="277"/>
                      <a:pt x="142" y="293"/>
                    </a:cubicBezTo>
                    <a:close/>
                    <a:moveTo>
                      <a:pt x="167" y="265"/>
                    </a:moveTo>
                    <a:cubicBezTo>
                      <a:pt x="167" y="275"/>
                      <a:pt x="158" y="284"/>
                      <a:pt x="148" y="284"/>
                    </a:cubicBezTo>
                    <a:cubicBezTo>
                      <a:pt x="137" y="284"/>
                      <a:pt x="129" y="275"/>
                      <a:pt x="129" y="265"/>
                    </a:cubicBezTo>
                    <a:cubicBezTo>
                      <a:pt x="129" y="254"/>
                      <a:pt x="137" y="246"/>
                      <a:pt x="148" y="246"/>
                    </a:cubicBezTo>
                    <a:cubicBezTo>
                      <a:pt x="158" y="246"/>
                      <a:pt x="167" y="254"/>
                      <a:pt x="167" y="265"/>
                    </a:cubicBezTo>
                    <a:close/>
                    <a:moveTo>
                      <a:pt x="202" y="289"/>
                    </a:moveTo>
                    <a:cubicBezTo>
                      <a:pt x="202" y="299"/>
                      <a:pt x="193" y="308"/>
                      <a:pt x="183" y="308"/>
                    </a:cubicBezTo>
                    <a:cubicBezTo>
                      <a:pt x="172" y="308"/>
                      <a:pt x="164" y="299"/>
                      <a:pt x="164" y="289"/>
                    </a:cubicBezTo>
                    <a:cubicBezTo>
                      <a:pt x="164" y="278"/>
                      <a:pt x="172" y="270"/>
                      <a:pt x="183" y="270"/>
                    </a:cubicBezTo>
                    <a:cubicBezTo>
                      <a:pt x="193" y="270"/>
                      <a:pt x="202" y="278"/>
                      <a:pt x="202" y="289"/>
                    </a:cubicBezTo>
                    <a:close/>
                    <a:moveTo>
                      <a:pt x="244" y="272"/>
                    </a:moveTo>
                    <a:cubicBezTo>
                      <a:pt x="244" y="286"/>
                      <a:pt x="231" y="299"/>
                      <a:pt x="217" y="299"/>
                    </a:cubicBezTo>
                    <a:cubicBezTo>
                      <a:pt x="202" y="299"/>
                      <a:pt x="190" y="286"/>
                      <a:pt x="190" y="272"/>
                    </a:cubicBezTo>
                    <a:cubicBezTo>
                      <a:pt x="190" y="257"/>
                      <a:pt x="202" y="245"/>
                      <a:pt x="217" y="245"/>
                    </a:cubicBezTo>
                    <a:cubicBezTo>
                      <a:pt x="231" y="245"/>
                      <a:pt x="244" y="257"/>
                      <a:pt x="244" y="272"/>
                    </a:cubicBezTo>
                    <a:close/>
                    <a:moveTo>
                      <a:pt x="278" y="246"/>
                    </a:moveTo>
                    <a:cubicBezTo>
                      <a:pt x="278" y="260"/>
                      <a:pt x="266" y="272"/>
                      <a:pt x="252" y="272"/>
                    </a:cubicBezTo>
                    <a:cubicBezTo>
                      <a:pt x="237" y="272"/>
                      <a:pt x="226" y="260"/>
                      <a:pt x="226" y="246"/>
                    </a:cubicBezTo>
                    <a:cubicBezTo>
                      <a:pt x="226" y="231"/>
                      <a:pt x="237" y="220"/>
                      <a:pt x="252" y="220"/>
                    </a:cubicBezTo>
                    <a:cubicBezTo>
                      <a:pt x="266" y="220"/>
                      <a:pt x="278" y="231"/>
                      <a:pt x="278" y="246"/>
                    </a:cubicBezTo>
                    <a:close/>
                    <a:moveTo>
                      <a:pt x="304" y="249"/>
                    </a:moveTo>
                    <a:cubicBezTo>
                      <a:pt x="304" y="258"/>
                      <a:pt x="295" y="267"/>
                      <a:pt x="286" y="267"/>
                    </a:cubicBezTo>
                    <a:cubicBezTo>
                      <a:pt x="276" y="267"/>
                      <a:pt x="268" y="258"/>
                      <a:pt x="268" y="249"/>
                    </a:cubicBezTo>
                    <a:cubicBezTo>
                      <a:pt x="268" y="239"/>
                      <a:pt x="276" y="231"/>
                      <a:pt x="286" y="231"/>
                    </a:cubicBezTo>
                    <a:cubicBezTo>
                      <a:pt x="295" y="231"/>
                      <a:pt x="304" y="239"/>
                      <a:pt x="304" y="249"/>
                    </a:cubicBezTo>
                    <a:close/>
                    <a:moveTo>
                      <a:pt x="344" y="235"/>
                    </a:moveTo>
                    <a:cubicBezTo>
                      <a:pt x="344" y="248"/>
                      <a:pt x="333" y="259"/>
                      <a:pt x="320" y="259"/>
                    </a:cubicBezTo>
                    <a:cubicBezTo>
                      <a:pt x="306" y="259"/>
                      <a:pt x="296" y="248"/>
                      <a:pt x="296" y="235"/>
                    </a:cubicBezTo>
                    <a:cubicBezTo>
                      <a:pt x="296" y="221"/>
                      <a:pt x="306" y="211"/>
                      <a:pt x="320" y="211"/>
                    </a:cubicBezTo>
                    <a:cubicBezTo>
                      <a:pt x="333" y="211"/>
                      <a:pt x="344" y="221"/>
                      <a:pt x="344" y="235"/>
                    </a:cubicBezTo>
                    <a:close/>
                    <a:moveTo>
                      <a:pt x="374" y="249"/>
                    </a:moveTo>
                    <a:cubicBezTo>
                      <a:pt x="374" y="259"/>
                      <a:pt x="365" y="268"/>
                      <a:pt x="355" y="268"/>
                    </a:cubicBezTo>
                    <a:cubicBezTo>
                      <a:pt x="344" y="268"/>
                      <a:pt x="336" y="259"/>
                      <a:pt x="336" y="249"/>
                    </a:cubicBezTo>
                    <a:cubicBezTo>
                      <a:pt x="336" y="238"/>
                      <a:pt x="344" y="230"/>
                      <a:pt x="355" y="230"/>
                    </a:cubicBezTo>
                    <a:cubicBezTo>
                      <a:pt x="365" y="230"/>
                      <a:pt x="374" y="238"/>
                      <a:pt x="374" y="249"/>
                    </a:cubicBezTo>
                    <a:close/>
                    <a:moveTo>
                      <a:pt x="408" y="232"/>
                    </a:moveTo>
                    <a:cubicBezTo>
                      <a:pt x="408" y="242"/>
                      <a:pt x="399" y="251"/>
                      <a:pt x="389" y="251"/>
                    </a:cubicBezTo>
                    <a:cubicBezTo>
                      <a:pt x="378" y="251"/>
                      <a:pt x="370" y="242"/>
                      <a:pt x="370" y="232"/>
                    </a:cubicBezTo>
                    <a:cubicBezTo>
                      <a:pt x="370" y="221"/>
                      <a:pt x="378" y="213"/>
                      <a:pt x="389" y="213"/>
                    </a:cubicBezTo>
                    <a:cubicBezTo>
                      <a:pt x="399" y="213"/>
                      <a:pt x="408" y="221"/>
                      <a:pt x="408" y="232"/>
                    </a:cubicBezTo>
                    <a:close/>
                    <a:moveTo>
                      <a:pt x="448" y="246"/>
                    </a:moveTo>
                    <a:cubicBezTo>
                      <a:pt x="448" y="259"/>
                      <a:pt x="437" y="270"/>
                      <a:pt x="424" y="270"/>
                    </a:cubicBezTo>
                    <a:cubicBezTo>
                      <a:pt x="410" y="270"/>
                      <a:pt x="400" y="259"/>
                      <a:pt x="400" y="246"/>
                    </a:cubicBezTo>
                    <a:cubicBezTo>
                      <a:pt x="400" y="232"/>
                      <a:pt x="410" y="222"/>
                      <a:pt x="424" y="222"/>
                    </a:cubicBezTo>
                    <a:cubicBezTo>
                      <a:pt x="437" y="222"/>
                      <a:pt x="448" y="232"/>
                      <a:pt x="448" y="246"/>
                    </a:cubicBezTo>
                    <a:close/>
                    <a:moveTo>
                      <a:pt x="485" y="207"/>
                    </a:moveTo>
                    <a:cubicBezTo>
                      <a:pt x="485" y="221"/>
                      <a:pt x="472" y="234"/>
                      <a:pt x="458" y="234"/>
                    </a:cubicBezTo>
                    <a:cubicBezTo>
                      <a:pt x="443" y="234"/>
                      <a:pt x="431" y="221"/>
                      <a:pt x="431" y="207"/>
                    </a:cubicBezTo>
                    <a:cubicBezTo>
                      <a:pt x="431" y="192"/>
                      <a:pt x="443" y="180"/>
                      <a:pt x="458" y="180"/>
                    </a:cubicBezTo>
                    <a:cubicBezTo>
                      <a:pt x="472" y="180"/>
                      <a:pt x="485" y="192"/>
                      <a:pt x="485" y="207"/>
                    </a:cubicBezTo>
                    <a:close/>
                    <a:moveTo>
                      <a:pt x="513" y="205"/>
                    </a:moveTo>
                    <a:cubicBezTo>
                      <a:pt x="513" y="216"/>
                      <a:pt x="503" y="226"/>
                      <a:pt x="492" y="226"/>
                    </a:cubicBezTo>
                    <a:cubicBezTo>
                      <a:pt x="480" y="226"/>
                      <a:pt x="471" y="216"/>
                      <a:pt x="471" y="205"/>
                    </a:cubicBezTo>
                    <a:cubicBezTo>
                      <a:pt x="471" y="193"/>
                      <a:pt x="480" y="184"/>
                      <a:pt x="492" y="184"/>
                    </a:cubicBezTo>
                    <a:cubicBezTo>
                      <a:pt x="503" y="184"/>
                      <a:pt x="513" y="193"/>
                      <a:pt x="513" y="205"/>
                    </a:cubicBezTo>
                    <a:close/>
                    <a:moveTo>
                      <a:pt x="555" y="231"/>
                    </a:moveTo>
                    <a:cubicBezTo>
                      <a:pt x="555" y="246"/>
                      <a:pt x="542" y="259"/>
                      <a:pt x="527" y="259"/>
                    </a:cubicBezTo>
                    <a:cubicBezTo>
                      <a:pt x="511" y="259"/>
                      <a:pt x="499" y="246"/>
                      <a:pt x="499" y="231"/>
                    </a:cubicBezTo>
                    <a:cubicBezTo>
                      <a:pt x="499" y="215"/>
                      <a:pt x="511" y="203"/>
                      <a:pt x="527" y="203"/>
                    </a:cubicBezTo>
                    <a:cubicBezTo>
                      <a:pt x="542" y="203"/>
                      <a:pt x="555" y="215"/>
                      <a:pt x="555" y="231"/>
                    </a:cubicBezTo>
                    <a:close/>
                    <a:moveTo>
                      <a:pt x="579" y="222"/>
                    </a:moveTo>
                    <a:cubicBezTo>
                      <a:pt x="579" y="231"/>
                      <a:pt x="570" y="240"/>
                      <a:pt x="561" y="240"/>
                    </a:cubicBezTo>
                    <a:cubicBezTo>
                      <a:pt x="551" y="240"/>
                      <a:pt x="543" y="231"/>
                      <a:pt x="543" y="222"/>
                    </a:cubicBezTo>
                    <a:cubicBezTo>
                      <a:pt x="543" y="212"/>
                      <a:pt x="551" y="204"/>
                      <a:pt x="561" y="204"/>
                    </a:cubicBezTo>
                    <a:cubicBezTo>
                      <a:pt x="570" y="204"/>
                      <a:pt x="579" y="212"/>
                      <a:pt x="579" y="222"/>
                    </a:cubicBezTo>
                    <a:close/>
                    <a:moveTo>
                      <a:pt x="623" y="215"/>
                    </a:moveTo>
                    <a:cubicBezTo>
                      <a:pt x="623" y="229"/>
                      <a:pt x="610" y="242"/>
                      <a:pt x="596" y="242"/>
                    </a:cubicBezTo>
                    <a:cubicBezTo>
                      <a:pt x="581" y="242"/>
                      <a:pt x="569" y="229"/>
                      <a:pt x="569" y="215"/>
                    </a:cubicBezTo>
                    <a:cubicBezTo>
                      <a:pt x="569" y="200"/>
                      <a:pt x="581" y="188"/>
                      <a:pt x="596" y="188"/>
                    </a:cubicBezTo>
                    <a:cubicBezTo>
                      <a:pt x="610" y="188"/>
                      <a:pt x="623" y="200"/>
                      <a:pt x="623" y="215"/>
                    </a:cubicBezTo>
                    <a:close/>
                    <a:moveTo>
                      <a:pt x="648" y="197"/>
                    </a:moveTo>
                    <a:cubicBezTo>
                      <a:pt x="648" y="206"/>
                      <a:pt x="639" y="215"/>
                      <a:pt x="630" y="215"/>
                    </a:cubicBezTo>
                    <a:cubicBezTo>
                      <a:pt x="620" y="215"/>
                      <a:pt x="612" y="206"/>
                      <a:pt x="612" y="197"/>
                    </a:cubicBezTo>
                    <a:cubicBezTo>
                      <a:pt x="612" y="187"/>
                      <a:pt x="620" y="179"/>
                      <a:pt x="630" y="179"/>
                    </a:cubicBezTo>
                    <a:cubicBezTo>
                      <a:pt x="639" y="179"/>
                      <a:pt x="648" y="187"/>
                      <a:pt x="648" y="197"/>
                    </a:cubicBezTo>
                    <a:close/>
                    <a:moveTo>
                      <a:pt x="682" y="180"/>
                    </a:moveTo>
                    <a:cubicBezTo>
                      <a:pt x="682" y="189"/>
                      <a:pt x="673" y="198"/>
                      <a:pt x="664" y="198"/>
                    </a:cubicBezTo>
                    <a:cubicBezTo>
                      <a:pt x="654" y="198"/>
                      <a:pt x="646" y="189"/>
                      <a:pt x="646" y="180"/>
                    </a:cubicBezTo>
                    <a:cubicBezTo>
                      <a:pt x="646" y="170"/>
                      <a:pt x="654" y="162"/>
                      <a:pt x="664" y="162"/>
                    </a:cubicBezTo>
                    <a:cubicBezTo>
                      <a:pt x="673" y="162"/>
                      <a:pt x="682" y="170"/>
                      <a:pt x="682" y="180"/>
                    </a:cubicBezTo>
                    <a:close/>
                    <a:moveTo>
                      <a:pt x="719" y="194"/>
                    </a:moveTo>
                    <a:cubicBezTo>
                      <a:pt x="719" y="205"/>
                      <a:pt x="710" y="214"/>
                      <a:pt x="699" y="214"/>
                    </a:cubicBezTo>
                    <a:cubicBezTo>
                      <a:pt x="687" y="214"/>
                      <a:pt x="679" y="205"/>
                      <a:pt x="679" y="194"/>
                    </a:cubicBezTo>
                    <a:cubicBezTo>
                      <a:pt x="679" y="182"/>
                      <a:pt x="687" y="174"/>
                      <a:pt x="699" y="174"/>
                    </a:cubicBezTo>
                    <a:cubicBezTo>
                      <a:pt x="710" y="174"/>
                      <a:pt x="719" y="182"/>
                      <a:pt x="719" y="194"/>
                    </a:cubicBezTo>
                    <a:close/>
                    <a:moveTo>
                      <a:pt x="757" y="171"/>
                    </a:moveTo>
                    <a:cubicBezTo>
                      <a:pt x="757" y="184"/>
                      <a:pt x="746" y="195"/>
                      <a:pt x="733" y="195"/>
                    </a:cubicBezTo>
                    <a:cubicBezTo>
                      <a:pt x="719" y="195"/>
                      <a:pt x="709" y="184"/>
                      <a:pt x="709" y="171"/>
                    </a:cubicBezTo>
                    <a:cubicBezTo>
                      <a:pt x="709" y="157"/>
                      <a:pt x="719" y="147"/>
                      <a:pt x="733" y="147"/>
                    </a:cubicBezTo>
                    <a:cubicBezTo>
                      <a:pt x="746" y="147"/>
                      <a:pt x="757" y="157"/>
                      <a:pt x="757" y="171"/>
                    </a:cubicBezTo>
                    <a:close/>
                    <a:moveTo>
                      <a:pt x="794" y="156"/>
                    </a:moveTo>
                    <a:cubicBezTo>
                      <a:pt x="794" y="170"/>
                      <a:pt x="782" y="182"/>
                      <a:pt x="768" y="182"/>
                    </a:cubicBezTo>
                    <a:cubicBezTo>
                      <a:pt x="753" y="182"/>
                      <a:pt x="742" y="170"/>
                      <a:pt x="742" y="156"/>
                    </a:cubicBezTo>
                    <a:cubicBezTo>
                      <a:pt x="742" y="141"/>
                      <a:pt x="753" y="130"/>
                      <a:pt x="768" y="130"/>
                    </a:cubicBezTo>
                    <a:cubicBezTo>
                      <a:pt x="782" y="130"/>
                      <a:pt x="794" y="141"/>
                      <a:pt x="794" y="156"/>
                    </a:cubicBezTo>
                    <a:close/>
                    <a:moveTo>
                      <a:pt x="829" y="147"/>
                    </a:moveTo>
                    <a:cubicBezTo>
                      <a:pt x="829" y="161"/>
                      <a:pt x="816" y="174"/>
                      <a:pt x="802" y="174"/>
                    </a:cubicBezTo>
                    <a:cubicBezTo>
                      <a:pt x="787" y="174"/>
                      <a:pt x="775" y="161"/>
                      <a:pt x="775" y="147"/>
                    </a:cubicBezTo>
                    <a:cubicBezTo>
                      <a:pt x="775" y="132"/>
                      <a:pt x="787" y="120"/>
                      <a:pt x="802" y="120"/>
                    </a:cubicBezTo>
                    <a:cubicBezTo>
                      <a:pt x="816" y="120"/>
                      <a:pt x="829" y="132"/>
                      <a:pt x="829" y="147"/>
                    </a:cubicBezTo>
                    <a:close/>
                    <a:moveTo>
                      <a:pt x="862" y="153"/>
                    </a:moveTo>
                    <a:cubicBezTo>
                      <a:pt x="862" y="167"/>
                      <a:pt x="850" y="179"/>
                      <a:pt x="836" y="179"/>
                    </a:cubicBezTo>
                    <a:cubicBezTo>
                      <a:pt x="821" y="179"/>
                      <a:pt x="810" y="167"/>
                      <a:pt x="810" y="153"/>
                    </a:cubicBezTo>
                    <a:cubicBezTo>
                      <a:pt x="810" y="138"/>
                      <a:pt x="821" y="127"/>
                      <a:pt x="836" y="127"/>
                    </a:cubicBezTo>
                    <a:cubicBezTo>
                      <a:pt x="850" y="127"/>
                      <a:pt x="862" y="138"/>
                      <a:pt x="862" y="153"/>
                    </a:cubicBezTo>
                    <a:close/>
                    <a:moveTo>
                      <a:pt x="891" y="170"/>
                    </a:moveTo>
                    <a:cubicBezTo>
                      <a:pt x="891" y="181"/>
                      <a:pt x="882" y="190"/>
                      <a:pt x="871" y="190"/>
                    </a:cubicBezTo>
                    <a:cubicBezTo>
                      <a:pt x="859" y="190"/>
                      <a:pt x="851" y="181"/>
                      <a:pt x="851" y="170"/>
                    </a:cubicBezTo>
                    <a:cubicBezTo>
                      <a:pt x="851" y="158"/>
                      <a:pt x="859" y="150"/>
                      <a:pt x="871" y="150"/>
                    </a:cubicBezTo>
                    <a:cubicBezTo>
                      <a:pt x="882" y="150"/>
                      <a:pt x="891" y="158"/>
                      <a:pt x="891" y="170"/>
                    </a:cubicBezTo>
                    <a:close/>
                    <a:moveTo>
                      <a:pt x="932" y="127"/>
                    </a:moveTo>
                    <a:cubicBezTo>
                      <a:pt x="932" y="141"/>
                      <a:pt x="919" y="154"/>
                      <a:pt x="905" y="154"/>
                    </a:cubicBezTo>
                    <a:cubicBezTo>
                      <a:pt x="890" y="154"/>
                      <a:pt x="878" y="141"/>
                      <a:pt x="878" y="127"/>
                    </a:cubicBezTo>
                    <a:cubicBezTo>
                      <a:pt x="878" y="112"/>
                      <a:pt x="890" y="100"/>
                      <a:pt x="905" y="100"/>
                    </a:cubicBezTo>
                    <a:cubicBezTo>
                      <a:pt x="919" y="100"/>
                      <a:pt x="932" y="112"/>
                      <a:pt x="932" y="127"/>
                    </a:cubicBezTo>
                    <a:close/>
                    <a:moveTo>
                      <a:pt x="968" y="151"/>
                    </a:moveTo>
                    <a:cubicBezTo>
                      <a:pt x="968" y="166"/>
                      <a:pt x="955" y="179"/>
                      <a:pt x="940" y="179"/>
                    </a:cubicBezTo>
                    <a:cubicBezTo>
                      <a:pt x="924" y="179"/>
                      <a:pt x="912" y="166"/>
                      <a:pt x="912" y="151"/>
                    </a:cubicBezTo>
                    <a:cubicBezTo>
                      <a:pt x="912" y="135"/>
                      <a:pt x="924" y="123"/>
                      <a:pt x="940" y="123"/>
                    </a:cubicBezTo>
                    <a:cubicBezTo>
                      <a:pt x="955" y="123"/>
                      <a:pt x="968" y="135"/>
                      <a:pt x="968" y="151"/>
                    </a:cubicBezTo>
                    <a:close/>
                  </a:path>
                </a:pathLst>
              </a:custGeom>
              <a:noFill/>
              <a:ln w="9525" cap="rnd">
                <a:solidFill>
                  <a:srgbClr val="B18A67"/>
                </a:solidFill>
                <a:round/>
              </a:ln>
            </p:spPr>
          </p:sp>
          <p:sp>
            <p:nvSpPr>
              <p:cNvPr id="41" name="Islotes"/>
              <p:cNvSpPr/>
              <p:nvPr/>
            </p:nvSpPr>
            <p:spPr>
              <a:xfrm>
                <a:off x="9966960" y="2926080"/>
                <a:ext cx="182880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>
                    <a:moveTo>
                      <a:pt x="286" y="300"/>
                    </a:moveTo>
                    <a:cubicBezTo>
                      <a:pt x="286" y="314"/>
                      <a:pt x="274" y="326"/>
                      <a:pt x="260" y="326"/>
                    </a:cubicBezTo>
                    <a:cubicBezTo>
                      <a:pt x="245" y="326"/>
                      <a:pt x="234" y="314"/>
                      <a:pt x="234" y="300"/>
                    </a:cubicBezTo>
                    <a:cubicBezTo>
                      <a:pt x="234" y="285"/>
                      <a:pt x="245" y="274"/>
                      <a:pt x="260" y="274"/>
                    </a:cubicBezTo>
                    <a:cubicBezTo>
                      <a:pt x="274" y="274"/>
                      <a:pt x="286" y="285"/>
                      <a:pt x="286" y="300"/>
                    </a:cubicBezTo>
                    <a:close/>
                    <a:moveTo>
                      <a:pt x="542" y="260"/>
                    </a:moveTo>
                    <a:cubicBezTo>
                      <a:pt x="542" y="272"/>
                      <a:pt x="532" y="282"/>
                      <a:pt x="520" y="282"/>
                    </a:cubicBezTo>
                    <a:cubicBezTo>
                      <a:pt x="507" y="282"/>
                      <a:pt x="498" y="272"/>
                      <a:pt x="498" y="260"/>
                    </a:cubicBezTo>
                    <a:cubicBezTo>
                      <a:pt x="498" y="247"/>
                      <a:pt x="507" y="238"/>
                      <a:pt x="520" y="238"/>
                    </a:cubicBezTo>
                    <a:cubicBezTo>
                      <a:pt x="532" y="238"/>
                      <a:pt x="542" y="247"/>
                      <a:pt x="542" y="260"/>
                    </a:cubicBezTo>
                    <a:close/>
                    <a:moveTo>
                      <a:pt x="784" y="200"/>
                    </a:moveTo>
                    <a:cubicBezTo>
                      <a:pt x="784" y="213"/>
                      <a:pt x="773" y="224"/>
                      <a:pt x="760" y="224"/>
                    </a:cubicBezTo>
                    <a:cubicBezTo>
                      <a:pt x="746" y="224"/>
                      <a:pt x="736" y="213"/>
                      <a:pt x="736" y="200"/>
                    </a:cubicBezTo>
                    <a:cubicBezTo>
                      <a:pt x="736" y="186"/>
                      <a:pt x="746" y="176"/>
                      <a:pt x="760" y="176"/>
                    </a:cubicBezTo>
                    <a:cubicBezTo>
                      <a:pt x="773" y="176"/>
                      <a:pt x="784" y="186"/>
                      <a:pt x="784" y="200"/>
                    </a:cubicBezTo>
                    <a:close/>
                    <a:moveTo>
                      <a:pt x="438" y="320"/>
                    </a:moveTo>
                    <a:cubicBezTo>
                      <a:pt x="438" y="329"/>
                      <a:pt x="429" y="338"/>
                      <a:pt x="420" y="338"/>
                    </a:cubicBezTo>
                    <a:cubicBezTo>
                      <a:pt x="410" y="338"/>
                      <a:pt x="402" y="329"/>
                      <a:pt x="402" y="320"/>
                    </a:cubicBezTo>
                    <a:cubicBezTo>
                      <a:pt x="402" y="310"/>
                      <a:pt x="410" y="302"/>
                      <a:pt x="420" y="302"/>
                    </a:cubicBezTo>
                    <a:cubicBezTo>
                      <a:pt x="429" y="302"/>
                      <a:pt x="438" y="310"/>
                      <a:pt x="438" y="32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DBD8"/>
                  </a:gs>
                  <a:gs pos="55000">
                    <a:srgbClr val="F5B7B1"/>
                  </a:gs>
                  <a:gs pos="100000">
                    <a:srgbClr val="C4928D"/>
                  </a:gs>
                </a:gsLst>
                <a:path path="circle">
                  <a:fillToRect l="32000" t="28000" r="68000" b="72000"/>
                </a:path>
              </a:gradFill>
              <a:ln w="12700" cap="rnd">
                <a:solidFill>
                  <a:srgbClr val="C0392B"/>
                </a:solidFill>
                <a:round/>
              </a:ln>
            </p:spPr>
          </p:sp>
          <p:sp>
            <p:nvSpPr>
              <p:cNvPr id="42" name="Forma 47"/>
              <p:cNvSpPr/>
              <p:nvPr/>
            </p:nvSpPr>
            <p:spPr>
              <a:xfrm>
                <a:off x="9966960" y="2926080"/>
                <a:ext cx="182880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420" fill="none">
                    <a:moveTo>
                      <a:pt x="100" y="320"/>
                    </a:moveTo>
                    <a:cubicBezTo>
                      <a:pt x="300" y="300"/>
                      <a:pt x="600" y="230"/>
                      <a:pt x="930" y="170"/>
                    </a:cubicBezTo>
                  </a:path>
                </a:pathLst>
              </a:custGeom>
              <a:noFill/>
              <a:ln w="25400" cap="rnd">
                <a:solidFill>
                  <a:srgbClr val="F7DC6F"/>
                </a:solidFill>
                <a:round/>
              </a:ln>
            </p:spPr>
          </p:sp>
        </p:grpSp>
        <p:grpSp>
          <p:nvGrpSpPr>
            <p:cNvPr id="43" name="m"/>
            <p:cNvGrpSpPr/>
            <p:nvPr/>
          </p:nvGrpSpPr>
          <p:grpSpPr>
            <a:xfrm>
              <a:off x="8778240" y="4023360"/>
              <a:ext cx="3017520" cy="1463040"/>
              <a:chOff x="8778240" y="4023360"/>
              <a:chExt cx="3017520" cy="1463040"/>
            </a:xfrm>
          </p:grpSpPr>
          <p:sp>
            <p:nvSpPr>
              <p:cNvPr id="44" name="Membrana externa"/>
              <p:cNvSpPr/>
              <p:nvPr/>
            </p:nvSpPr>
            <p:spPr>
              <a:xfrm>
                <a:off x="8778240" y="4023360"/>
                <a:ext cx="3017520" cy="146304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AD7A0"/>
                  </a:gs>
                  <a:gs pos="100000">
                    <a:srgbClr val="EB984E"/>
                  </a:gs>
                </a:gsLst>
                <a:path path="circle">
                  <a:fillToRect l="50000" t="50000" r="50000" b="50000"/>
                </a:path>
              </a:gradFill>
              <a:ln w="38100" cap="rnd">
                <a:solidFill>
                  <a:srgbClr val="784212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5" name="Membrana interna (matriz)"/>
              <p:cNvSpPr/>
              <p:nvPr/>
            </p:nvSpPr>
            <p:spPr>
              <a:xfrm>
                <a:off x="8880653" y="4125773"/>
                <a:ext cx="2812694" cy="12582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EF5E7"/>
                  </a:gs>
                  <a:gs pos="100000">
                    <a:srgbClr val="FAD7A0"/>
                  </a:gs>
                </a:gsLst>
                <a:path path="circle">
                  <a:fillToRect l="50000" t="50000" r="50000" b="50000"/>
                </a:path>
              </a:gradFill>
              <a:ln w="44450" cap="rnd">
                <a:solidFill>
                  <a:srgbClr val="A04000"/>
                </a:solidFill>
                <a:round/>
              </a:ln>
            </p:spPr>
          </p:sp>
          <p:sp>
            <p:nvSpPr>
              <p:cNvPr id="46" name="Crestas"/>
              <p:cNvSpPr/>
              <p:nvPr/>
            </p:nvSpPr>
            <p:spPr>
              <a:xfrm>
                <a:off x="8880653" y="4125773"/>
                <a:ext cx="2812694" cy="125821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 fill="none">
                    <a:moveTo>
                      <a:pt x="90" y="70"/>
                    </a:moveTo>
                    <a:lnTo>
                      <a:pt x="90" y="330"/>
                    </a:lnTo>
                    <a:cubicBezTo>
                      <a:pt x="90" y="380"/>
                      <a:pt x="150" y="380"/>
                      <a:pt x="150" y="330"/>
                    </a:cubicBezTo>
                    <a:lnTo>
                      <a:pt x="150" y="70"/>
                    </a:lnTo>
                  </a:path>
                  <a:path w="1000" h="1000" fill="none">
                    <a:moveTo>
                      <a:pt x="216" y="930"/>
                    </a:moveTo>
                    <a:lnTo>
                      <a:pt x="216" y="670"/>
                    </a:lnTo>
                    <a:cubicBezTo>
                      <a:pt x="216" y="620"/>
                      <a:pt x="276" y="620"/>
                      <a:pt x="276" y="670"/>
                    </a:cubicBezTo>
                    <a:lnTo>
                      <a:pt x="276" y="930"/>
                    </a:lnTo>
                  </a:path>
                  <a:path w="1000" h="1000" fill="none">
                    <a:moveTo>
                      <a:pt x="343" y="70"/>
                    </a:moveTo>
                    <a:lnTo>
                      <a:pt x="343" y="330"/>
                    </a:lnTo>
                    <a:cubicBezTo>
                      <a:pt x="343" y="380"/>
                      <a:pt x="403" y="380"/>
                      <a:pt x="403" y="330"/>
                    </a:cubicBezTo>
                    <a:lnTo>
                      <a:pt x="403" y="70"/>
                    </a:lnTo>
                  </a:path>
                  <a:path w="1000" h="1000" fill="none">
                    <a:moveTo>
                      <a:pt x="470" y="930"/>
                    </a:moveTo>
                    <a:lnTo>
                      <a:pt x="470" y="670"/>
                    </a:lnTo>
                    <a:cubicBezTo>
                      <a:pt x="470" y="620"/>
                      <a:pt x="530" y="620"/>
                      <a:pt x="530" y="670"/>
                    </a:cubicBezTo>
                    <a:lnTo>
                      <a:pt x="530" y="930"/>
                    </a:lnTo>
                  </a:path>
                  <a:path w="1000" h="1000" fill="none">
                    <a:moveTo>
                      <a:pt x="596" y="70"/>
                    </a:moveTo>
                    <a:lnTo>
                      <a:pt x="596" y="330"/>
                    </a:lnTo>
                    <a:cubicBezTo>
                      <a:pt x="596" y="380"/>
                      <a:pt x="656" y="380"/>
                      <a:pt x="656" y="330"/>
                    </a:cubicBezTo>
                    <a:lnTo>
                      <a:pt x="656" y="70"/>
                    </a:lnTo>
                  </a:path>
                  <a:path w="1000" h="1000" fill="none">
                    <a:moveTo>
                      <a:pt x="723" y="930"/>
                    </a:moveTo>
                    <a:lnTo>
                      <a:pt x="723" y="670"/>
                    </a:lnTo>
                    <a:cubicBezTo>
                      <a:pt x="723" y="620"/>
                      <a:pt x="783" y="620"/>
                      <a:pt x="783" y="670"/>
                    </a:cubicBezTo>
                    <a:lnTo>
                      <a:pt x="783" y="930"/>
                    </a:lnTo>
                  </a:path>
                  <a:path w="1000" h="1000" fill="none">
                    <a:moveTo>
                      <a:pt x="850" y="70"/>
                    </a:moveTo>
                    <a:lnTo>
                      <a:pt x="850" y="330"/>
                    </a:lnTo>
                    <a:cubicBezTo>
                      <a:pt x="850" y="380"/>
                      <a:pt x="910" y="380"/>
                      <a:pt x="910" y="330"/>
                    </a:cubicBezTo>
                    <a:lnTo>
                      <a:pt x="910" y="70"/>
                    </a:lnTo>
                  </a:path>
                </a:pathLst>
              </a:custGeom>
              <a:noFill/>
              <a:ln w="38100" cap="rnd">
                <a:solidFill>
                  <a:srgbClr val="A04000"/>
                </a:solidFill>
                <a:round/>
              </a:ln>
            </p:spPr>
          </p:sp>
        </p:grpSp>
        <p:grpSp>
          <p:nvGrpSpPr>
            <p:cNvPr id="47" name="t"/>
            <p:cNvGrpSpPr/>
            <p:nvPr/>
          </p:nvGrpSpPr>
          <p:grpSpPr>
            <a:xfrm>
              <a:off x="11305642" y="4206240"/>
              <a:ext cx="477317" cy="1645920"/>
              <a:chOff x="11305642" y="4206240"/>
              <a:chExt cx="477317" cy="1645920"/>
            </a:xfrm>
          </p:grpSpPr>
          <p:sp>
            <p:nvSpPr>
              <p:cNvPr id="48" name="Vidrio"/>
              <p:cNvSpPr/>
              <p:nvPr/>
            </p:nvSpPr>
            <p:spPr>
              <a:xfrm>
                <a:off x="11338560" y="4370832"/>
                <a:ext cx="411480" cy="1481328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820"/>
                    </a:lnTo>
                    <a:cubicBezTo>
                      <a:pt x="1000" y="930"/>
                      <a:pt x="780" y="1000"/>
                      <a:pt x="500" y="1000"/>
                    </a:cubicBezTo>
                    <a:cubicBezTo>
                      <a:pt x="220" y="1000"/>
                      <a:pt x="0" y="930"/>
                      <a:pt x="0" y="820"/>
                    </a:cubicBezTo>
                    <a:close/>
                  </a:path>
                </a:pathLst>
              </a:custGeom>
              <a:solidFill>
                <a:srgbClr val="EAF2FA">
                  <a:alpha val="55000"/>
                </a:srgbClr>
              </a:solidFill>
              <a:ln w="22225" cap="rnd">
                <a:solidFill>
                  <a:srgbClr val="5D6D7E"/>
                </a:solidFill>
                <a:round/>
              </a:ln>
              <a:effectLst>
                <a:outerShdw blurRad="101600" dist="50800" dir="2700000" algn="tl" rotWithShape="0">
                  <a:srgbClr val="000000">
                    <a:alpha val="28000"/>
                  </a:srgbClr>
                </a:outerShdw>
              </a:effectLst>
            </p:spPr>
          </p:sp>
          <p:sp>
            <p:nvSpPr>
              <p:cNvPr id="49" name="Tapón"/>
              <p:cNvSpPr/>
              <p:nvPr/>
            </p:nvSpPr>
            <p:spPr>
              <a:xfrm>
                <a:off x="11305642" y="4206240"/>
                <a:ext cx="477317" cy="197510"/>
              </a:xfrm>
              <a:prstGeom prst="roundRect">
                <a:avLst>
                  <a:gd name="adj" fmla="val 25000"/>
                </a:avLst>
              </a:prstGeom>
              <a:gradFill rotWithShape="1">
                <a:gsLst>
                  <a:gs pos="0">
                    <a:srgbClr val="B585C9"/>
                  </a:gs>
                  <a:gs pos="55000">
                    <a:srgbClr val="8E44AD"/>
                  </a:gs>
                  <a:gs pos="100000">
                    <a:srgbClr val="632F79"/>
                  </a:gs>
                </a:gsLst>
                <a:path path="circle">
                  <a:fillToRect l="32000" t="28000" r="68000" b="72000"/>
                </a:path>
              </a:gradFill>
              <a:ln w="15875" cap="rnd">
                <a:solidFill>
                  <a:srgbClr val="472256"/>
                </a:solidFill>
                <a:round/>
              </a:ln>
            </p:spPr>
          </p:sp>
          <p:sp>
            <p:nvSpPr>
              <p:cNvPr id="50" name="Brillo"/>
              <p:cNvSpPr/>
              <p:nvPr/>
            </p:nvSpPr>
            <p:spPr>
              <a:xfrm>
                <a:off x="11396167" y="4469587"/>
                <a:ext cx="49378" cy="1152144"/>
              </a:xfrm>
              <a:custGeom>
                <a:avLst/>
                <a:gdLst/>
                <a:ahLst/>
                <a:cxnLst/>
                <a:rect l="0" t="0" r="r" b="b"/>
                <a:pathLst>
                  <a:path w="1000" h="100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</p:sp>
        </p:grpSp>
        <p:sp>
          <p:nvSpPr>
            <p:cNvPr id="51" name="r"/>
            <p:cNvSpPr/>
            <p:nvPr/>
          </p:nvSpPr>
          <p:spPr>
            <a:xfrm>
              <a:off x="11359134" y="5197084"/>
              <a:ext cx="370332" cy="622158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600"/>
                  </a:lnTo>
                  <a:cubicBezTo>
                    <a:pt x="1000" y="850"/>
                    <a:pt x="760" y="1000"/>
                    <a:pt x="500" y="1000"/>
                  </a:cubicBezTo>
                  <a:cubicBezTo>
                    <a:pt x="240" y="1000"/>
                    <a:pt x="0" y="850"/>
                    <a:pt x="0" y="6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65C56"/>
                </a:gs>
                <a:gs pos="55000">
                  <a:srgbClr val="B3261E"/>
                </a:gs>
                <a:gs pos="100000">
                  <a:srgbClr val="8F1E18"/>
                </a:gs>
              </a:gsLst>
              <a:path path="circle">
                <a:fillToRect l="40000" t="40000" r="60000" b="60000"/>
              </a:path>
            </a:gradFill>
            <a:ln w="9525" cap="rnd">
              <a:solidFill>
                <a:srgbClr val="741813"/>
              </a:solidFill>
              <a:round/>
            </a:ln>
          </p:spPr>
        </p:sp>
        <p:sp>
          <p:nvSpPr>
            <p:cNvPr id="52" name="p_2"/>
            <p:cNvSpPr/>
            <p:nvPr/>
          </p:nvSpPr>
          <p:spPr>
            <a:xfrm>
              <a:off x="11359134" y="4713183"/>
              <a:ext cx="370332" cy="483900"/>
            </a:xfrm>
            <a:prstGeom prst="rect">
              <a:avLst/>
            </a:prstGeom>
            <a:gradFill rotWithShape="1">
              <a:gsLst>
                <a:gs pos="0">
                  <a:srgbClr val="F9E493"/>
                </a:gs>
                <a:gs pos="100000">
                  <a:srgbClr val="F7DC6F"/>
                </a:gs>
              </a:gsLst>
              <a:lin ang="5400000" scaled="0"/>
            </a:gradFill>
            <a:ln w="9525" cap="rnd">
              <a:solidFill>
                <a:srgbClr val="A08F48"/>
              </a:solidFill>
              <a:round/>
            </a:ln>
          </p:spPr>
        </p:sp>
      </p:grpSp>
      <p:sp>
        <p:nvSpPr>
          <p:cNvPr id="3" name="Título"/>
          <p:cNvSpPr txBox="1"/>
          <p:nvPr/>
        </p:nvSpPr>
        <p:spPr>
          <a:xfrm>
            <a:off x="365760" y="109728"/>
            <a:ext cx="8229600" cy="689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920"/>
              </a:lnSpc>
              <a:spcAft>
                <a:spcPts val="300"/>
              </a:spcAft>
              <a:buNone/>
            </a:pPr>
            <a:r>
              <a:rPr lang="es-AR" sz="29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MAPA INTEGRADOR DE LA CLASE</a:t>
            </a:r>
            <a:endParaRPr lang="es-AR" sz="2900" dirty="0">
              <a:latin typeface="Segoe Print"/>
            </a:endParaRPr>
          </a:p>
        </p:txBody>
      </p:sp>
      <p:sp>
        <p:nvSpPr>
          <p:cNvPr id="4" name="Etiqueta sección"/>
          <p:cNvSpPr/>
          <p:nvPr/>
        </p:nvSpPr>
        <p:spPr>
          <a:xfrm>
            <a:off x="8888625" y="182880"/>
            <a:ext cx="3028751" cy="365760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 w="15875" cap="rnd">
            <a:solidFill>
              <a:srgbClr val="1E1E1E"/>
            </a:solidFill>
            <a:round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25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BIOQUÍMICA CLÍNICA Y METABOLISMO</a:t>
            </a:r>
            <a:endParaRPr lang="es-AR" sz="1250" dirty="0">
              <a:latin typeface="Calibri"/>
            </a:endParaRPr>
          </a:p>
        </p:txBody>
      </p:sp>
      <p:sp>
        <p:nvSpPr>
          <p:cNvPr id="53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269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ndo panel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FCC4A"/>
          </a:solidFill>
          <a:ln>
            <a:noFill/>
          </a:ln>
        </p:spPr>
      </p:sp>
      <p:sp>
        <p:nvSpPr>
          <p:cNvPr id="3" name="Fondo panel der"/>
          <p:cNvSpPr/>
          <p:nvPr/>
        </p:nvSpPr>
        <p:spPr>
          <a:xfrm>
            <a:off x="9509760" y="0"/>
            <a:ext cx="2681935" cy="6858000"/>
          </a:xfrm>
          <a:prstGeom prst="rect">
            <a:avLst/>
          </a:prstGeom>
          <a:solidFill>
            <a:srgbClr val="D8E6F2"/>
          </a:solidFill>
          <a:ln>
            <a:noFill/>
          </a:ln>
        </p:spPr>
      </p:sp>
      <p:grpSp>
        <p:nvGrpSpPr>
          <p:cNvPr id="4" name="Corazón cierre"/>
          <p:cNvGrpSpPr/>
          <p:nvPr/>
        </p:nvGrpSpPr>
        <p:grpSpPr>
          <a:xfrm>
            <a:off x="457200" y="822960"/>
            <a:ext cx="2743200" cy="3017520"/>
            <a:chOff x="457200" y="822960"/>
            <a:chExt cx="2743200" cy="3017520"/>
          </a:xfrm>
        </p:grpSpPr>
        <p:sp>
          <p:nvSpPr>
            <p:cNvPr id="5" name="Aorta"/>
            <p:cNvSpPr/>
            <p:nvPr/>
          </p:nvSpPr>
          <p:spPr>
            <a:xfrm>
              <a:off x="1499616" y="822960"/>
              <a:ext cx="877824" cy="96560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150" y="1000"/>
                  </a:moveTo>
                  <a:cubicBezTo>
                    <a:pt x="117" y="950"/>
                    <a:pt x="93" y="588"/>
                    <a:pt x="100" y="500"/>
                  </a:cubicBezTo>
                  <a:cubicBezTo>
                    <a:pt x="107" y="412"/>
                    <a:pt x="178" y="170"/>
                    <a:pt x="220" y="120"/>
                  </a:cubicBezTo>
                  <a:cubicBezTo>
                    <a:pt x="262" y="70"/>
                    <a:pt x="457" y="4"/>
                    <a:pt x="520" y="0"/>
                  </a:cubicBezTo>
                  <a:cubicBezTo>
                    <a:pt x="583" y="-4"/>
                    <a:pt x="802" y="50"/>
                    <a:pt x="850" y="80"/>
                  </a:cubicBezTo>
                  <a:cubicBezTo>
                    <a:pt x="898" y="110"/>
                    <a:pt x="997" y="270"/>
                    <a:pt x="1000" y="300"/>
                  </a:cubicBezTo>
                  <a:cubicBezTo>
                    <a:pt x="1003" y="330"/>
                    <a:pt x="910" y="385"/>
                    <a:pt x="880" y="380"/>
                  </a:cubicBezTo>
                  <a:cubicBezTo>
                    <a:pt x="850" y="375"/>
                    <a:pt x="736" y="265"/>
                    <a:pt x="700" y="250"/>
                  </a:cubicBezTo>
                  <a:cubicBezTo>
                    <a:pt x="664" y="235"/>
                    <a:pt x="548" y="213"/>
                    <a:pt x="520" y="230"/>
                  </a:cubicBezTo>
                  <a:cubicBezTo>
                    <a:pt x="492" y="247"/>
                    <a:pt x="429" y="343"/>
                    <a:pt x="420" y="420"/>
                  </a:cubicBezTo>
                  <a:cubicBezTo>
                    <a:pt x="411" y="497"/>
                    <a:pt x="457" y="942"/>
                    <a:pt x="430" y="1000"/>
                  </a:cubicBezTo>
                  <a:cubicBezTo>
                    <a:pt x="403" y="1058"/>
                    <a:pt x="183" y="1050"/>
                    <a:pt x="15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8F8F"/>
                </a:gs>
                <a:gs pos="55000">
                  <a:srgbClr val="D35454"/>
                </a:gs>
                <a:gs pos="100000">
                  <a:srgbClr val="933A3A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B1F17"/>
              </a:solidFill>
              <a:round/>
            </a:ln>
          </p:spPr>
        </p:sp>
        <p:sp>
          <p:nvSpPr>
            <p:cNvPr id="6" name="Arteria pulmonar"/>
            <p:cNvSpPr/>
            <p:nvPr/>
          </p:nvSpPr>
          <p:spPr>
            <a:xfrm>
              <a:off x="1060704" y="1124712"/>
              <a:ext cx="603504" cy="75438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300" y="1000"/>
                  </a:moveTo>
                  <a:cubicBezTo>
                    <a:pt x="260" y="940"/>
                    <a:pt x="230" y="492"/>
                    <a:pt x="250" y="400"/>
                  </a:cubicBezTo>
                  <a:cubicBezTo>
                    <a:pt x="270" y="308"/>
                    <a:pt x="435" y="114"/>
                    <a:pt x="500" y="80"/>
                  </a:cubicBezTo>
                  <a:cubicBezTo>
                    <a:pt x="565" y="46"/>
                    <a:pt x="855" y="38"/>
                    <a:pt x="900" y="60"/>
                  </a:cubicBezTo>
                  <a:cubicBezTo>
                    <a:pt x="945" y="82"/>
                    <a:pt x="975" y="271"/>
                    <a:pt x="950" y="300"/>
                  </a:cubicBezTo>
                  <a:cubicBezTo>
                    <a:pt x="925" y="329"/>
                    <a:pt x="680" y="280"/>
                    <a:pt x="650" y="350"/>
                  </a:cubicBezTo>
                  <a:cubicBezTo>
                    <a:pt x="620" y="420"/>
                    <a:pt x="685" y="935"/>
                    <a:pt x="650" y="1000"/>
                  </a:cubicBezTo>
                  <a:cubicBezTo>
                    <a:pt x="615" y="1065"/>
                    <a:pt x="340" y="1060"/>
                    <a:pt x="300" y="1000"/>
                  </a:cubicBezTo>
                  <a:close/>
                </a:path>
              </a:pathLst>
            </a:custGeom>
            <a:gradFill rotWithShape="1">
              <a:gsLst>
                <a:gs pos="0">
                  <a:srgbClr val="94AACC"/>
                </a:gs>
                <a:gs pos="55000">
                  <a:srgbClr val="5B7DB1"/>
                </a:gs>
                <a:gs pos="100000">
                  <a:srgbClr val="3F577B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1F3864"/>
              </a:solidFill>
              <a:round/>
            </a:ln>
          </p:spPr>
        </p:sp>
        <p:sp>
          <p:nvSpPr>
            <p:cNvPr id="7" name="Miocardio"/>
            <p:cNvSpPr/>
            <p:nvPr/>
          </p:nvSpPr>
          <p:spPr>
            <a:xfrm>
              <a:off x="457200" y="1366114"/>
              <a:ext cx="2743200" cy="247436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420" y="230"/>
                  </a:moveTo>
                  <a:cubicBezTo>
                    <a:pt x="476" y="228"/>
                    <a:pt x="570" y="195"/>
                    <a:pt x="640" y="200"/>
                  </a:cubicBezTo>
                  <a:cubicBezTo>
                    <a:pt x="710" y="205"/>
                    <a:pt x="786" y="220"/>
                    <a:pt x="840" y="260"/>
                  </a:cubicBezTo>
                  <a:cubicBezTo>
                    <a:pt x="893" y="300"/>
                    <a:pt x="945" y="376"/>
                    <a:pt x="960" y="440"/>
                  </a:cubicBezTo>
                  <a:cubicBezTo>
                    <a:pt x="975" y="503"/>
                    <a:pt x="960" y="576"/>
                    <a:pt x="930" y="640"/>
                  </a:cubicBezTo>
                  <a:cubicBezTo>
                    <a:pt x="900" y="703"/>
                    <a:pt x="841" y="763"/>
                    <a:pt x="780" y="820"/>
                  </a:cubicBezTo>
                  <a:cubicBezTo>
                    <a:pt x="718" y="876"/>
                    <a:pt x="620" y="966"/>
                    <a:pt x="560" y="980"/>
                  </a:cubicBezTo>
                  <a:cubicBezTo>
                    <a:pt x="500" y="993"/>
                    <a:pt x="475" y="936"/>
                    <a:pt x="420" y="900"/>
                  </a:cubicBezTo>
                  <a:cubicBezTo>
                    <a:pt x="365" y="863"/>
                    <a:pt x="285" y="816"/>
                    <a:pt x="230" y="760"/>
                  </a:cubicBezTo>
                  <a:cubicBezTo>
                    <a:pt x="175" y="703"/>
                    <a:pt x="118" y="623"/>
                    <a:pt x="90" y="560"/>
                  </a:cubicBezTo>
                  <a:cubicBezTo>
                    <a:pt x="61" y="496"/>
                    <a:pt x="46" y="431"/>
                    <a:pt x="60" y="380"/>
                  </a:cubicBezTo>
                  <a:cubicBezTo>
                    <a:pt x="73" y="328"/>
                    <a:pt x="130" y="278"/>
                    <a:pt x="170" y="250"/>
                  </a:cubicBezTo>
                  <a:cubicBezTo>
                    <a:pt x="210" y="221"/>
                    <a:pt x="258" y="213"/>
                    <a:pt x="300" y="210"/>
                  </a:cubicBezTo>
                  <a:cubicBezTo>
                    <a:pt x="341" y="206"/>
                    <a:pt x="363" y="231"/>
                    <a:pt x="420" y="230"/>
                  </a:cubicBezTo>
                  <a:close/>
                </a:path>
              </a:pathLst>
            </a:custGeom>
            <a:gradFill rotWithShape="1">
              <a:gsLst>
                <a:gs pos="0">
                  <a:srgbClr val="DA8C84"/>
                </a:gs>
                <a:gs pos="55000">
                  <a:srgbClr val="C0392B"/>
                </a:gs>
                <a:gs pos="100000">
                  <a:srgbClr val="82261D"/>
                </a:gs>
              </a:gsLst>
              <a:path path="circle">
                <a:fillToRect l="35000" t="30000" r="65000" b="70000"/>
              </a:path>
            </a:gradFill>
            <a:ln w="28575" cap="rnd">
              <a:solidFill>
                <a:srgbClr val="641E16"/>
              </a:solidFill>
              <a:round/>
            </a:ln>
            <a:effectLst>
              <a:outerShdw blurRad="101600" dist="50800" dir="2700000" algn="tl" rotWithShape="0">
                <a:srgbClr val="000000">
                  <a:alpha val="28000"/>
                </a:srgbClr>
              </a:outerShdw>
            </a:effectLst>
          </p:spPr>
        </p:sp>
        <p:sp>
          <p:nvSpPr>
            <p:cNvPr id="8" name="Aurícula derecha"/>
            <p:cNvSpPr/>
            <p:nvPr/>
          </p:nvSpPr>
          <p:spPr>
            <a:xfrm>
              <a:off x="566928" y="1728216"/>
              <a:ext cx="768096" cy="844906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200" y="100"/>
                  </a:moveTo>
                  <a:cubicBezTo>
                    <a:pt x="306" y="26"/>
                    <a:pt x="575" y="10"/>
                    <a:pt x="700" y="60"/>
                  </a:cubicBezTo>
                  <a:cubicBezTo>
                    <a:pt x="825" y="110"/>
                    <a:pt x="933" y="268"/>
                    <a:pt x="950" y="400"/>
                  </a:cubicBezTo>
                  <a:cubicBezTo>
                    <a:pt x="966" y="531"/>
                    <a:pt x="908" y="766"/>
                    <a:pt x="800" y="850"/>
                  </a:cubicBezTo>
                  <a:cubicBezTo>
                    <a:pt x="691" y="933"/>
                    <a:pt x="423" y="958"/>
                    <a:pt x="300" y="900"/>
                  </a:cubicBezTo>
                  <a:cubicBezTo>
                    <a:pt x="176" y="841"/>
                    <a:pt x="76" y="633"/>
                    <a:pt x="60" y="500"/>
                  </a:cubicBezTo>
                  <a:cubicBezTo>
                    <a:pt x="43" y="366"/>
                    <a:pt x="93" y="173"/>
                    <a:pt x="200" y="10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8881"/>
                </a:gs>
                <a:gs pos="55000">
                  <a:srgbClr val="B03A2E"/>
                </a:gs>
                <a:gs pos="100000">
                  <a:srgbClr val="7B2820"/>
                </a:gs>
              </a:gsLst>
              <a:path path="circle">
                <a:fillToRect l="32000" t="28000" r="68000" b="72000"/>
              </a:path>
            </a:gradFill>
            <a:ln w="19050" cap="rnd">
              <a:solidFill>
                <a:srgbClr val="641E16"/>
              </a:solidFill>
              <a:round/>
            </a:ln>
          </p:spPr>
        </p:sp>
      </p:grpSp>
      <p:sp>
        <p:nvSpPr>
          <p:cNvPr id="9" name="!!ArteriaCoronaria izquierda"/>
          <p:cNvSpPr/>
          <p:nvPr/>
        </p:nvSpPr>
        <p:spPr>
          <a:xfrm>
            <a:off x="457200" y="1366114"/>
            <a:ext cx="2743200" cy="247436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70" y="240"/>
                </a:moveTo>
                <a:cubicBezTo>
                  <a:pt x="520" y="330"/>
                  <a:pt x="560" y="450"/>
                  <a:pt x="560" y="560"/>
                </a:cubicBezTo>
                <a:cubicBezTo>
                  <a:pt x="560" y="700"/>
                  <a:pt x="520" y="820"/>
                  <a:pt x="480" y="940"/>
                </a:cubicBezTo>
              </a:path>
              <a:path w="1000" h="1000" fill="none">
                <a:moveTo>
                  <a:pt x="470" y="240"/>
                </a:moveTo>
                <a:cubicBezTo>
                  <a:pt x="600" y="260"/>
                  <a:pt x="760" y="330"/>
                  <a:pt x="880" y="450"/>
                </a:cubicBezTo>
              </a:path>
              <a:path w="1000" h="1000" fill="none">
                <a:moveTo>
                  <a:pt x="560" y="470"/>
                </a:moveTo>
                <a:cubicBezTo>
                  <a:pt x="650" y="520"/>
                  <a:pt x="720" y="600"/>
                  <a:pt x="760" y="70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sp>
        <p:nvSpPr>
          <p:cNvPr id="10" name="!!ArteriaCoronaria derecha"/>
          <p:cNvSpPr/>
          <p:nvPr/>
        </p:nvSpPr>
        <p:spPr>
          <a:xfrm>
            <a:off x="457200" y="1366114"/>
            <a:ext cx="2743200" cy="2474366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420" y="235"/>
                </a:moveTo>
                <a:cubicBezTo>
                  <a:pt x="300" y="300"/>
                  <a:pt x="180" y="420"/>
                  <a:pt x="140" y="560"/>
                </a:cubicBezTo>
                <a:cubicBezTo>
                  <a:pt x="120" y="650"/>
                  <a:pt x="160" y="760"/>
                  <a:pt x="260" y="820"/>
                </a:cubicBezTo>
              </a:path>
            </a:pathLst>
          </a:custGeom>
          <a:noFill/>
          <a:ln w="57150" cap="rnd">
            <a:solidFill>
              <a:srgbClr val="F4D03F"/>
            </a:solidFill>
            <a:round/>
          </a:ln>
        </p:spPr>
      </p:sp>
      <p:grpSp>
        <p:nvGrpSpPr>
          <p:cNvPr id="11" name="Páncreas cierre"/>
          <p:cNvGrpSpPr/>
          <p:nvPr/>
        </p:nvGrpSpPr>
        <p:grpSpPr>
          <a:xfrm>
            <a:off x="274320" y="4846320"/>
            <a:ext cx="3108960" cy="1305763"/>
            <a:chOff x="274320" y="4846320"/>
            <a:chExt cx="3108960" cy="1305763"/>
          </a:xfrm>
        </p:grpSpPr>
        <p:sp>
          <p:nvSpPr>
            <p:cNvPr id="12" name="Forma 11"/>
            <p:cNvSpPr/>
            <p:nvPr/>
          </p:nvSpPr>
          <p:spPr>
            <a:xfrm>
              <a:off x="274320" y="484632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30" y="300"/>
                  </a:moveTo>
                  <a:cubicBezTo>
                    <a:pt x="20" y="271"/>
                    <a:pt x="40" y="238"/>
                    <a:pt x="60" y="220"/>
                  </a:cubicBezTo>
                  <a:cubicBezTo>
                    <a:pt x="80" y="201"/>
                    <a:pt x="118" y="188"/>
                    <a:pt x="150" y="190"/>
                  </a:cubicBezTo>
                  <a:cubicBezTo>
                    <a:pt x="181" y="191"/>
                    <a:pt x="215" y="220"/>
                    <a:pt x="250" y="230"/>
                  </a:cubicBezTo>
                  <a:cubicBezTo>
                    <a:pt x="285" y="240"/>
                    <a:pt x="321" y="255"/>
                    <a:pt x="360" y="250"/>
                  </a:cubicBezTo>
                  <a:cubicBezTo>
                    <a:pt x="398" y="245"/>
                    <a:pt x="440" y="213"/>
                    <a:pt x="480" y="200"/>
                  </a:cubicBezTo>
                  <a:cubicBezTo>
                    <a:pt x="520" y="186"/>
                    <a:pt x="556" y="180"/>
                    <a:pt x="600" y="170"/>
                  </a:cubicBezTo>
                  <a:cubicBezTo>
                    <a:pt x="643" y="160"/>
                    <a:pt x="693" y="148"/>
                    <a:pt x="740" y="140"/>
                  </a:cubicBezTo>
                  <a:cubicBezTo>
                    <a:pt x="786" y="131"/>
                    <a:pt x="841" y="118"/>
                    <a:pt x="880" y="120"/>
                  </a:cubicBezTo>
                  <a:cubicBezTo>
                    <a:pt x="918" y="121"/>
                    <a:pt x="956" y="133"/>
                    <a:pt x="970" y="150"/>
                  </a:cubicBezTo>
                  <a:cubicBezTo>
                    <a:pt x="983" y="166"/>
                    <a:pt x="978" y="203"/>
                    <a:pt x="960" y="220"/>
                  </a:cubicBezTo>
                  <a:cubicBezTo>
                    <a:pt x="941" y="236"/>
                    <a:pt x="896" y="240"/>
                    <a:pt x="860" y="250"/>
                  </a:cubicBezTo>
                  <a:cubicBezTo>
                    <a:pt x="823" y="260"/>
                    <a:pt x="780" y="268"/>
                    <a:pt x="740" y="280"/>
                  </a:cubicBezTo>
                  <a:cubicBezTo>
                    <a:pt x="700" y="291"/>
                    <a:pt x="660" y="305"/>
                    <a:pt x="620" y="320"/>
                  </a:cubicBezTo>
                  <a:cubicBezTo>
                    <a:pt x="580" y="335"/>
                    <a:pt x="540" y="356"/>
                    <a:pt x="500" y="370"/>
                  </a:cubicBezTo>
                  <a:cubicBezTo>
                    <a:pt x="460" y="383"/>
                    <a:pt x="421" y="393"/>
                    <a:pt x="380" y="400"/>
                  </a:cubicBezTo>
                  <a:cubicBezTo>
                    <a:pt x="338" y="406"/>
                    <a:pt x="293" y="411"/>
                    <a:pt x="250" y="410"/>
                  </a:cubicBezTo>
                  <a:cubicBezTo>
                    <a:pt x="206" y="408"/>
                    <a:pt x="156" y="408"/>
                    <a:pt x="120" y="390"/>
                  </a:cubicBezTo>
                  <a:cubicBezTo>
                    <a:pt x="83" y="371"/>
                    <a:pt x="40" y="328"/>
                    <a:pt x="30" y="300"/>
                  </a:cubicBezTo>
                  <a:close/>
                </a:path>
              </a:pathLst>
            </a:custGeom>
            <a:gradFill rotWithShape="1">
              <a:gsLst>
                <a:gs pos="0">
                  <a:srgbClr val="F5D8BE"/>
                </a:gs>
                <a:gs pos="55000">
                  <a:srgbClr val="EDB98A"/>
                </a:gs>
                <a:gs pos="100000">
                  <a:srgbClr val="B18A67"/>
                </a:gs>
              </a:gsLst>
              <a:path path="circle">
                <a:fillToRect l="32000" t="28000" r="68000" b="72000"/>
              </a:path>
            </a:gradFill>
            <a:ln w="22225" cap="rnd">
              <a:solidFill>
                <a:srgbClr val="765C45"/>
              </a:solidFill>
              <a:round/>
            </a:ln>
            <a:effectLst>
              <a:outerShdw blurRad="101600" dist="50800" dir="2700000" algn="t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3" name="Forma 12"/>
            <p:cNvSpPr/>
            <p:nvPr/>
          </p:nvSpPr>
          <p:spPr>
            <a:xfrm>
              <a:off x="274320" y="484632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295"/>
                  </a:moveTo>
                  <a:cubicBezTo>
                    <a:pt x="100" y="306"/>
                    <a:pt x="91" y="315"/>
                    <a:pt x="80" y="315"/>
                  </a:cubicBezTo>
                  <a:cubicBezTo>
                    <a:pt x="68" y="315"/>
                    <a:pt x="60" y="306"/>
                    <a:pt x="60" y="295"/>
                  </a:cubicBezTo>
                  <a:cubicBezTo>
                    <a:pt x="60" y="283"/>
                    <a:pt x="68" y="275"/>
                    <a:pt x="80" y="275"/>
                  </a:cubicBezTo>
                  <a:cubicBezTo>
                    <a:pt x="91" y="275"/>
                    <a:pt x="100" y="283"/>
                    <a:pt x="100" y="295"/>
                  </a:cubicBezTo>
                  <a:close/>
                  <a:moveTo>
                    <a:pt x="142" y="293"/>
                  </a:moveTo>
                  <a:cubicBezTo>
                    <a:pt x="142" y="308"/>
                    <a:pt x="129" y="321"/>
                    <a:pt x="114" y="321"/>
                  </a:cubicBezTo>
                  <a:cubicBezTo>
                    <a:pt x="98" y="321"/>
                    <a:pt x="86" y="308"/>
                    <a:pt x="86" y="293"/>
                  </a:cubicBezTo>
                  <a:cubicBezTo>
                    <a:pt x="86" y="277"/>
                    <a:pt x="98" y="265"/>
                    <a:pt x="114" y="265"/>
                  </a:cubicBezTo>
                  <a:cubicBezTo>
                    <a:pt x="129" y="265"/>
                    <a:pt x="142" y="277"/>
                    <a:pt x="142" y="293"/>
                  </a:cubicBezTo>
                  <a:close/>
                  <a:moveTo>
                    <a:pt x="167" y="265"/>
                  </a:moveTo>
                  <a:cubicBezTo>
                    <a:pt x="167" y="275"/>
                    <a:pt x="158" y="284"/>
                    <a:pt x="148" y="284"/>
                  </a:cubicBezTo>
                  <a:cubicBezTo>
                    <a:pt x="137" y="284"/>
                    <a:pt x="129" y="275"/>
                    <a:pt x="129" y="265"/>
                  </a:cubicBezTo>
                  <a:cubicBezTo>
                    <a:pt x="129" y="254"/>
                    <a:pt x="137" y="246"/>
                    <a:pt x="148" y="246"/>
                  </a:cubicBezTo>
                  <a:cubicBezTo>
                    <a:pt x="158" y="246"/>
                    <a:pt x="167" y="254"/>
                    <a:pt x="167" y="265"/>
                  </a:cubicBezTo>
                  <a:close/>
                  <a:moveTo>
                    <a:pt x="202" y="289"/>
                  </a:moveTo>
                  <a:cubicBezTo>
                    <a:pt x="202" y="299"/>
                    <a:pt x="193" y="308"/>
                    <a:pt x="183" y="308"/>
                  </a:cubicBezTo>
                  <a:cubicBezTo>
                    <a:pt x="172" y="308"/>
                    <a:pt x="164" y="299"/>
                    <a:pt x="164" y="289"/>
                  </a:cubicBezTo>
                  <a:cubicBezTo>
                    <a:pt x="164" y="278"/>
                    <a:pt x="172" y="270"/>
                    <a:pt x="183" y="270"/>
                  </a:cubicBezTo>
                  <a:cubicBezTo>
                    <a:pt x="193" y="270"/>
                    <a:pt x="202" y="278"/>
                    <a:pt x="202" y="289"/>
                  </a:cubicBezTo>
                  <a:close/>
                  <a:moveTo>
                    <a:pt x="244" y="272"/>
                  </a:moveTo>
                  <a:cubicBezTo>
                    <a:pt x="244" y="286"/>
                    <a:pt x="231" y="299"/>
                    <a:pt x="217" y="299"/>
                  </a:cubicBezTo>
                  <a:cubicBezTo>
                    <a:pt x="202" y="299"/>
                    <a:pt x="190" y="286"/>
                    <a:pt x="190" y="272"/>
                  </a:cubicBezTo>
                  <a:cubicBezTo>
                    <a:pt x="190" y="257"/>
                    <a:pt x="202" y="245"/>
                    <a:pt x="217" y="245"/>
                  </a:cubicBezTo>
                  <a:cubicBezTo>
                    <a:pt x="231" y="245"/>
                    <a:pt x="244" y="257"/>
                    <a:pt x="244" y="272"/>
                  </a:cubicBezTo>
                  <a:close/>
                  <a:moveTo>
                    <a:pt x="278" y="246"/>
                  </a:moveTo>
                  <a:cubicBezTo>
                    <a:pt x="278" y="260"/>
                    <a:pt x="266" y="272"/>
                    <a:pt x="252" y="272"/>
                  </a:cubicBezTo>
                  <a:cubicBezTo>
                    <a:pt x="237" y="272"/>
                    <a:pt x="226" y="260"/>
                    <a:pt x="226" y="246"/>
                  </a:cubicBezTo>
                  <a:cubicBezTo>
                    <a:pt x="226" y="231"/>
                    <a:pt x="237" y="220"/>
                    <a:pt x="252" y="220"/>
                  </a:cubicBezTo>
                  <a:cubicBezTo>
                    <a:pt x="266" y="220"/>
                    <a:pt x="278" y="231"/>
                    <a:pt x="278" y="246"/>
                  </a:cubicBezTo>
                  <a:close/>
                  <a:moveTo>
                    <a:pt x="304" y="249"/>
                  </a:moveTo>
                  <a:cubicBezTo>
                    <a:pt x="304" y="258"/>
                    <a:pt x="295" y="267"/>
                    <a:pt x="286" y="267"/>
                  </a:cubicBezTo>
                  <a:cubicBezTo>
                    <a:pt x="276" y="267"/>
                    <a:pt x="268" y="258"/>
                    <a:pt x="268" y="249"/>
                  </a:cubicBezTo>
                  <a:cubicBezTo>
                    <a:pt x="268" y="239"/>
                    <a:pt x="276" y="231"/>
                    <a:pt x="286" y="231"/>
                  </a:cubicBezTo>
                  <a:cubicBezTo>
                    <a:pt x="295" y="231"/>
                    <a:pt x="304" y="239"/>
                    <a:pt x="304" y="249"/>
                  </a:cubicBezTo>
                  <a:close/>
                  <a:moveTo>
                    <a:pt x="344" y="235"/>
                  </a:moveTo>
                  <a:cubicBezTo>
                    <a:pt x="344" y="248"/>
                    <a:pt x="333" y="259"/>
                    <a:pt x="320" y="259"/>
                  </a:cubicBezTo>
                  <a:cubicBezTo>
                    <a:pt x="306" y="259"/>
                    <a:pt x="296" y="248"/>
                    <a:pt x="296" y="235"/>
                  </a:cubicBezTo>
                  <a:cubicBezTo>
                    <a:pt x="296" y="221"/>
                    <a:pt x="306" y="211"/>
                    <a:pt x="320" y="211"/>
                  </a:cubicBezTo>
                  <a:cubicBezTo>
                    <a:pt x="333" y="211"/>
                    <a:pt x="344" y="221"/>
                    <a:pt x="344" y="235"/>
                  </a:cubicBezTo>
                  <a:close/>
                  <a:moveTo>
                    <a:pt x="374" y="249"/>
                  </a:moveTo>
                  <a:cubicBezTo>
                    <a:pt x="374" y="259"/>
                    <a:pt x="365" y="268"/>
                    <a:pt x="355" y="268"/>
                  </a:cubicBezTo>
                  <a:cubicBezTo>
                    <a:pt x="344" y="268"/>
                    <a:pt x="336" y="259"/>
                    <a:pt x="336" y="249"/>
                  </a:cubicBezTo>
                  <a:cubicBezTo>
                    <a:pt x="336" y="238"/>
                    <a:pt x="344" y="230"/>
                    <a:pt x="355" y="230"/>
                  </a:cubicBezTo>
                  <a:cubicBezTo>
                    <a:pt x="365" y="230"/>
                    <a:pt x="374" y="238"/>
                    <a:pt x="374" y="249"/>
                  </a:cubicBezTo>
                  <a:close/>
                  <a:moveTo>
                    <a:pt x="408" y="232"/>
                  </a:moveTo>
                  <a:cubicBezTo>
                    <a:pt x="408" y="242"/>
                    <a:pt x="399" y="251"/>
                    <a:pt x="389" y="251"/>
                  </a:cubicBezTo>
                  <a:cubicBezTo>
                    <a:pt x="378" y="251"/>
                    <a:pt x="370" y="242"/>
                    <a:pt x="370" y="232"/>
                  </a:cubicBezTo>
                  <a:cubicBezTo>
                    <a:pt x="370" y="221"/>
                    <a:pt x="378" y="213"/>
                    <a:pt x="389" y="213"/>
                  </a:cubicBezTo>
                  <a:cubicBezTo>
                    <a:pt x="399" y="213"/>
                    <a:pt x="408" y="221"/>
                    <a:pt x="408" y="232"/>
                  </a:cubicBezTo>
                  <a:close/>
                  <a:moveTo>
                    <a:pt x="448" y="246"/>
                  </a:moveTo>
                  <a:cubicBezTo>
                    <a:pt x="448" y="259"/>
                    <a:pt x="437" y="270"/>
                    <a:pt x="424" y="270"/>
                  </a:cubicBezTo>
                  <a:cubicBezTo>
                    <a:pt x="410" y="270"/>
                    <a:pt x="400" y="259"/>
                    <a:pt x="400" y="246"/>
                  </a:cubicBezTo>
                  <a:cubicBezTo>
                    <a:pt x="400" y="232"/>
                    <a:pt x="410" y="222"/>
                    <a:pt x="424" y="222"/>
                  </a:cubicBezTo>
                  <a:cubicBezTo>
                    <a:pt x="437" y="222"/>
                    <a:pt x="448" y="232"/>
                    <a:pt x="448" y="246"/>
                  </a:cubicBezTo>
                  <a:close/>
                  <a:moveTo>
                    <a:pt x="485" y="207"/>
                  </a:moveTo>
                  <a:cubicBezTo>
                    <a:pt x="485" y="221"/>
                    <a:pt x="472" y="234"/>
                    <a:pt x="458" y="234"/>
                  </a:cubicBezTo>
                  <a:cubicBezTo>
                    <a:pt x="443" y="234"/>
                    <a:pt x="431" y="221"/>
                    <a:pt x="431" y="207"/>
                  </a:cubicBezTo>
                  <a:cubicBezTo>
                    <a:pt x="431" y="192"/>
                    <a:pt x="443" y="180"/>
                    <a:pt x="458" y="180"/>
                  </a:cubicBezTo>
                  <a:cubicBezTo>
                    <a:pt x="472" y="180"/>
                    <a:pt x="485" y="192"/>
                    <a:pt x="485" y="207"/>
                  </a:cubicBezTo>
                  <a:close/>
                  <a:moveTo>
                    <a:pt x="513" y="205"/>
                  </a:moveTo>
                  <a:cubicBezTo>
                    <a:pt x="513" y="216"/>
                    <a:pt x="503" y="226"/>
                    <a:pt x="492" y="226"/>
                  </a:cubicBezTo>
                  <a:cubicBezTo>
                    <a:pt x="480" y="226"/>
                    <a:pt x="471" y="216"/>
                    <a:pt x="471" y="205"/>
                  </a:cubicBezTo>
                  <a:cubicBezTo>
                    <a:pt x="471" y="193"/>
                    <a:pt x="480" y="184"/>
                    <a:pt x="492" y="184"/>
                  </a:cubicBezTo>
                  <a:cubicBezTo>
                    <a:pt x="503" y="184"/>
                    <a:pt x="513" y="193"/>
                    <a:pt x="513" y="205"/>
                  </a:cubicBezTo>
                  <a:close/>
                  <a:moveTo>
                    <a:pt x="555" y="231"/>
                  </a:moveTo>
                  <a:cubicBezTo>
                    <a:pt x="555" y="246"/>
                    <a:pt x="542" y="259"/>
                    <a:pt x="527" y="259"/>
                  </a:cubicBezTo>
                  <a:cubicBezTo>
                    <a:pt x="511" y="259"/>
                    <a:pt x="499" y="246"/>
                    <a:pt x="499" y="231"/>
                  </a:cubicBezTo>
                  <a:cubicBezTo>
                    <a:pt x="499" y="215"/>
                    <a:pt x="511" y="203"/>
                    <a:pt x="527" y="203"/>
                  </a:cubicBezTo>
                  <a:cubicBezTo>
                    <a:pt x="542" y="203"/>
                    <a:pt x="555" y="215"/>
                    <a:pt x="555" y="231"/>
                  </a:cubicBezTo>
                  <a:close/>
                  <a:moveTo>
                    <a:pt x="579" y="222"/>
                  </a:moveTo>
                  <a:cubicBezTo>
                    <a:pt x="579" y="231"/>
                    <a:pt x="570" y="240"/>
                    <a:pt x="561" y="240"/>
                  </a:cubicBezTo>
                  <a:cubicBezTo>
                    <a:pt x="551" y="240"/>
                    <a:pt x="543" y="231"/>
                    <a:pt x="543" y="222"/>
                  </a:cubicBezTo>
                  <a:cubicBezTo>
                    <a:pt x="543" y="212"/>
                    <a:pt x="551" y="204"/>
                    <a:pt x="561" y="204"/>
                  </a:cubicBezTo>
                  <a:cubicBezTo>
                    <a:pt x="570" y="204"/>
                    <a:pt x="579" y="212"/>
                    <a:pt x="579" y="222"/>
                  </a:cubicBezTo>
                  <a:close/>
                  <a:moveTo>
                    <a:pt x="623" y="215"/>
                  </a:moveTo>
                  <a:cubicBezTo>
                    <a:pt x="623" y="229"/>
                    <a:pt x="610" y="242"/>
                    <a:pt x="596" y="242"/>
                  </a:cubicBezTo>
                  <a:cubicBezTo>
                    <a:pt x="581" y="242"/>
                    <a:pt x="569" y="229"/>
                    <a:pt x="569" y="215"/>
                  </a:cubicBezTo>
                  <a:cubicBezTo>
                    <a:pt x="569" y="200"/>
                    <a:pt x="581" y="188"/>
                    <a:pt x="596" y="188"/>
                  </a:cubicBezTo>
                  <a:cubicBezTo>
                    <a:pt x="610" y="188"/>
                    <a:pt x="623" y="200"/>
                    <a:pt x="623" y="215"/>
                  </a:cubicBezTo>
                  <a:close/>
                  <a:moveTo>
                    <a:pt x="648" y="197"/>
                  </a:moveTo>
                  <a:cubicBezTo>
                    <a:pt x="648" y="206"/>
                    <a:pt x="639" y="215"/>
                    <a:pt x="630" y="215"/>
                  </a:cubicBezTo>
                  <a:cubicBezTo>
                    <a:pt x="620" y="215"/>
                    <a:pt x="612" y="206"/>
                    <a:pt x="612" y="197"/>
                  </a:cubicBezTo>
                  <a:cubicBezTo>
                    <a:pt x="612" y="187"/>
                    <a:pt x="620" y="179"/>
                    <a:pt x="630" y="179"/>
                  </a:cubicBezTo>
                  <a:cubicBezTo>
                    <a:pt x="639" y="179"/>
                    <a:pt x="648" y="187"/>
                    <a:pt x="648" y="197"/>
                  </a:cubicBezTo>
                  <a:close/>
                  <a:moveTo>
                    <a:pt x="682" y="180"/>
                  </a:moveTo>
                  <a:cubicBezTo>
                    <a:pt x="682" y="189"/>
                    <a:pt x="673" y="198"/>
                    <a:pt x="664" y="198"/>
                  </a:cubicBezTo>
                  <a:cubicBezTo>
                    <a:pt x="654" y="198"/>
                    <a:pt x="646" y="189"/>
                    <a:pt x="646" y="180"/>
                  </a:cubicBezTo>
                  <a:cubicBezTo>
                    <a:pt x="646" y="170"/>
                    <a:pt x="654" y="162"/>
                    <a:pt x="664" y="162"/>
                  </a:cubicBezTo>
                  <a:cubicBezTo>
                    <a:pt x="673" y="162"/>
                    <a:pt x="682" y="170"/>
                    <a:pt x="682" y="180"/>
                  </a:cubicBezTo>
                  <a:close/>
                  <a:moveTo>
                    <a:pt x="719" y="194"/>
                  </a:moveTo>
                  <a:cubicBezTo>
                    <a:pt x="719" y="205"/>
                    <a:pt x="710" y="214"/>
                    <a:pt x="699" y="214"/>
                  </a:cubicBezTo>
                  <a:cubicBezTo>
                    <a:pt x="687" y="214"/>
                    <a:pt x="679" y="205"/>
                    <a:pt x="679" y="194"/>
                  </a:cubicBezTo>
                  <a:cubicBezTo>
                    <a:pt x="679" y="182"/>
                    <a:pt x="687" y="174"/>
                    <a:pt x="699" y="174"/>
                  </a:cubicBezTo>
                  <a:cubicBezTo>
                    <a:pt x="710" y="174"/>
                    <a:pt x="719" y="182"/>
                    <a:pt x="719" y="194"/>
                  </a:cubicBezTo>
                  <a:close/>
                  <a:moveTo>
                    <a:pt x="757" y="171"/>
                  </a:moveTo>
                  <a:cubicBezTo>
                    <a:pt x="757" y="184"/>
                    <a:pt x="746" y="195"/>
                    <a:pt x="733" y="195"/>
                  </a:cubicBezTo>
                  <a:cubicBezTo>
                    <a:pt x="719" y="195"/>
                    <a:pt x="709" y="184"/>
                    <a:pt x="709" y="171"/>
                  </a:cubicBezTo>
                  <a:cubicBezTo>
                    <a:pt x="709" y="157"/>
                    <a:pt x="719" y="147"/>
                    <a:pt x="733" y="147"/>
                  </a:cubicBezTo>
                  <a:cubicBezTo>
                    <a:pt x="746" y="147"/>
                    <a:pt x="757" y="157"/>
                    <a:pt x="757" y="171"/>
                  </a:cubicBezTo>
                  <a:close/>
                  <a:moveTo>
                    <a:pt x="794" y="156"/>
                  </a:moveTo>
                  <a:cubicBezTo>
                    <a:pt x="794" y="170"/>
                    <a:pt x="782" y="182"/>
                    <a:pt x="768" y="182"/>
                  </a:cubicBezTo>
                  <a:cubicBezTo>
                    <a:pt x="753" y="182"/>
                    <a:pt x="742" y="170"/>
                    <a:pt x="742" y="156"/>
                  </a:cubicBezTo>
                  <a:cubicBezTo>
                    <a:pt x="742" y="141"/>
                    <a:pt x="753" y="130"/>
                    <a:pt x="768" y="130"/>
                  </a:cubicBezTo>
                  <a:cubicBezTo>
                    <a:pt x="782" y="130"/>
                    <a:pt x="794" y="141"/>
                    <a:pt x="794" y="156"/>
                  </a:cubicBezTo>
                  <a:close/>
                  <a:moveTo>
                    <a:pt x="829" y="147"/>
                  </a:moveTo>
                  <a:cubicBezTo>
                    <a:pt x="829" y="161"/>
                    <a:pt x="816" y="174"/>
                    <a:pt x="802" y="174"/>
                  </a:cubicBezTo>
                  <a:cubicBezTo>
                    <a:pt x="787" y="174"/>
                    <a:pt x="775" y="161"/>
                    <a:pt x="775" y="147"/>
                  </a:cubicBezTo>
                  <a:cubicBezTo>
                    <a:pt x="775" y="132"/>
                    <a:pt x="787" y="120"/>
                    <a:pt x="802" y="120"/>
                  </a:cubicBezTo>
                  <a:cubicBezTo>
                    <a:pt x="816" y="120"/>
                    <a:pt x="829" y="132"/>
                    <a:pt x="829" y="147"/>
                  </a:cubicBezTo>
                  <a:close/>
                  <a:moveTo>
                    <a:pt x="862" y="153"/>
                  </a:moveTo>
                  <a:cubicBezTo>
                    <a:pt x="862" y="167"/>
                    <a:pt x="850" y="179"/>
                    <a:pt x="836" y="179"/>
                  </a:cubicBezTo>
                  <a:cubicBezTo>
                    <a:pt x="821" y="179"/>
                    <a:pt x="810" y="167"/>
                    <a:pt x="810" y="153"/>
                  </a:cubicBezTo>
                  <a:cubicBezTo>
                    <a:pt x="810" y="138"/>
                    <a:pt x="821" y="127"/>
                    <a:pt x="836" y="127"/>
                  </a:cubicBezTo>
                  <a:cubicBezTo>
                    <a:pt x="850" y="127"/>
                    <a:pt x="862" y="138"/>
                    <a:pt x="862" y="153"/>
                  </a:cubicBezTo>
                  <a:close/>
                  <a:moveTo>
                    <a:pt x="891" y="170"/>
                  </a:moveTo>
                  <a:cubicBezTo>
                    <a:pt x="891" y="181"/>
                    <a:pt x="882" y="190"/>
                    <a:pt x="871" y="190"/>
                  </a:cubicBezTo>
                  <a:cubicBezTo>
                    <a:pt x="859" y="190"/>
                    <a:pt x="851" y="181"/>
                    <a:pt x="851" y="170"/>
                  </a:cubicBezTo>
                  <a:cubicBezTo>
                    <a:pt x="851" y="158"/>
                    <a:pt x="859" y="150"/>
                    <a:pt x="871" y="150"/>
                  </a:cubicBezTo>
                  <a:cubicBezTo>
                    <a:pt x="882" y="150"/>
                    <a:pt x="891" y="158"/>
                    <a:pt x="891" y="170"/>
                  </a:cubicBezTo>
                  <a:close/>
                  <a:moveTo>
                    <a:pt x="932" y="127"/>
                  </a:moveTo>
                  <a:cubicBezTo>
                    <a:pt x="932" y="141"/>
                    <a:pt x="919" y="154"/>
                    <a:pt x="905" y="154"/>
                  </a:cubicBezTo>
                  <a:cubicBezTo>
                    <a:pt x="890" y="154"/>
                    <a:pt x="878" y="141"/>
                    <a:pt x="878" y="127"/>
                  </a:cubicBezTo>
                  <a:cubicBezTo>
                    <a:pt x="878" y="112"/>
                    <a:pt x="890" y="100"/>
                    <a:pt x="905" y="100"/>
                  </a:cubicBezTo>
                  <a:cubicBezTo>
                    <a:pt x="919" y="100"/>
                    <a:pt x="932" y="112"/>
                    <a:pt x="932" y="127"/>
                  </a:cubicBezTo>
                  <a:close/>
                  <a:moveTo>
                    <a:pt x="968" y="151"/>
                  </a:moveTo>
                  <a:cubicBezTo>
                    <a:pt x="968" y="166"/>
                    <a:pt x="955" y="179"/>
                    <a:pt x="940" y="179"/>
                  </a:cubicBezTo>
                  <a:cubicBezTo>
                    <a:pt x="924" y="179"/>
                    <a:pt x="912" y="166"/>
                    <a:pt x="912" y="151"/>
                  </a:cubicBezTo>
                  <a:cubicBezTo>
                    <a:pt x="912" y="135"/>
                    <a:pt x="924" y="123"/>
                    <a:pt x="940" y="123"/>
                  </a:cubicBezTo>
                  <a:cubicBezTo>
                    <a:pt x="955" y="123"/>
                    <a:pt x="968" y="135"/>
                    <a:pt x="968" y="151"/>
                  </a:cubicBezTo>
                  <a:close/>
                </a:path>
              </a:pathLst>
            </a:custGeom>
            <a:noFill/>
            <a:ln w="9525" cap="rnd">
              <a:solidFill>
                <a:srgbClr val="B18A67"/>
              </a:solidFill>
              <a:round/>
            </a:ln>
          </p:spPr>
        </p:sp>
        <p:sp>
          <p:nvSpPr>
            <p:cNvPr id="14" name="Islotes"/>
            <p:cNvSpPr/>
            <p:nvPr/>
          </p:nvSpPr>
          <p:spPr>
            <a:xfrm>
              <a:off x="274320" y="484632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>
                  <a:moveTo>
                    <a:pt x="286" y="300"/>
                  </a:moveTo>
                  <a:cubicBezTo>
                    <a:pt x="286" y="314"/>
                    <a:pt x="274" y="326"/>
                    <a:pt x="260" y="326"/>
                  </a:cubicBezTo>
                  <a:cubicBezTo>
                    <a:pt x="245" y="326"/>
                    <a:pt x="234" y="314"/>
                    <a:pt x="234" y="300"/>
                  </a:cubicBezTo>
                  <a:cubicBezTo>
                    <a:pt x="234" y="285"/>
                    <a:pt x="245" y="274"/>
                    <a:pt x="260" y="274"/>
                  </a:cubicBezTo>
                  <a:cubicBezTo>
                    <a:pt x="274" y="274"/>
                    <a:pt x="286" y="285"/>
                    <a:pt x="286" y="300"/>
                  </a:cubicBezTo>
                  <a:close/>
                  <a:moveTo>
                    <a:pt x="542" y="260"/>
                  </a:moveTo>
                  <a:cubicBezTo>
                    <a:pt x="542" y="272"/>
                    <a:pt x="532" y="282"/>
                    <a:pt x="520" y="282"/>
                  </a:cubicBezTo>
                  <a:cubicBezTo>
                    <a:pt x="507" y="282"/>
                    <a:pt x="498" y="272"/>
                    <a:pt x="498" y="260"/>
                  </a:cubicBezTo>
                  <a:cubicBezTo>
                    <a:pt x="498" y="247"/>
                    <a:pt x="507" y="238"/>
                    <a:pt x="520" y="238"/>
                  </a:cubicBezTo>
                  <a:cubicBezTo>
                    <a:pt x="532" y="238"/>
                    <a:pt x="542" y="247"/>
                    <a:pt x="542" y="260"/>
                  </a:cubicBezTo>
                  <a:close/>
                  <a:moveTo>
                    <a:pt x="784" y="200"/>
                  </a:moveTo>
                  <a:cubicBezTo>
                    <a:pt x="784" y="213"/>
                    <a:pt x="773" y="224"/>
                    <a:pt x="760" y="224"/>
                  </a:cubicBezTo>
                  <a:cubicBezTo>
                    <a:pt x="746" y="224"/>
                    <a:pt x="736" y="213"/>
                    <a:pt x="736" y="200"/>
                  </a:cubicBezTo>
                  <a:cubicBezTo>
                    <a:pt x="736" y="186"/>
                    <a:pt x="746" y="176"/>
                    <a:pt x="760" y="176"/>
                  </a:cubicBezTo>
                  <a:cubicBezTo>
                    <a:pt x="773" y="176"/>
                    <a:pt x="784" y="186"/>
                    <a:pt x="784" y="200"/>
                  </a:cubicBezTo>
                  <a:close/>
                  <a:moveTo>
                    <a:pt x="438" y="320"/>
                  </a:moveTo>
                  <a:cubicBezTo>
                    <a:pt x="438" y="329"/>
                    <a:pt x="429" y="338"/>
                    <a:pt x="420" y="338"/>
                  </a:cubicBezTo>
                  <a:cubicBezTo>
                    <a:pt x="410" y="338"/>
                    <a:pt x="402" y="329"/>
                    <a:pt x="402" y="320"/>
                  </a:cubicBezTo>
                  <a:cubicBezTo>
                    <a:pt x="402" y="310"/>
                    <a:pt x="410" y="302"/>
                    <a:pt x="420" y="302"/>
                  </a:cubicBezTo>
                  <a:cubicBezTo>
                    <a:pt x="429" y="302"/>
                    <a:pt x="438" y="310"/>
                    <a:pt x="438" y="3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ADBD8"/>
                </a:gs>
                <a:gs pos="55000">
                  <a:srgbClr val="F5B7B1"/>
                </a:gs>
                <a:gs pos="100000">
                  <a:srgbClr val="C4928D"/>
                </a:gs>
              </a:gsLst>
              <a:path path="circle">
                <a:fillToRect l="32000" t="28000" r="68000" b="72000"/>
              </a:path>
            </a:gradFill>
            <a:ln w="12700" cap="rnd">
              <a:solidFill>
                <a:srgbClr val="C0392B"/>
              </a:solidFill>
              <a:round/>
            </a:ln>
          </p:spPr>
        </p:sp>
        <p:sp>
          <p:nvSpPr>
            <p:cNvPr id="15" name="Forma 14"/>
            <p:cNvSpPr/>
            <p:nvPr/>
          </p:nvSpPr>
          <p:spPr>
            <a:xfrm>
              <a:off x="274320" y="4846320"/>
              <a:ext cx="3108960" cy="1305763"/>
            </a:xfrm>
            <a:custGeom>
              <a:avLst/>
              <a:gdLst/>
              <a:ahLst/>
              <a:cxnLst/>
              <a:rect l="0" t="0" r="r" b="b"/>
              <a:pathLst>
                <a:path w="1000" h="420" fill="none">
                  <a:moveTo>
                    <a:pt x="100" y="320"/>
                  </a:moveTo>
                  <a:cubicBezTo>
                    <a:pt x="300" y="300"/>
                    <a:pt x="600" y="230"/>
                    <a:pt x="930" y="170"/>
                  </a:cubicBezTo>
                </a:path>
              </a:pathLst>
            </a:custGeom>
            <a:noFill/>
            <a:ln w="25400" cap="rnd">
              <a:solidFill>
                <a:srgbClr val="F7DC6F"/>
              </a:solidFill>
              <a:round/>
            </a:ln>
          </p:spPr>
        </p:sp>
      </p:grpSp>
      <p:grpSp>
        <p:nvGrpSpPr>
          <p:cNvPr id="16" name="Acetilo cierre"/>
          <p:cNvGrpSpPr/>
          <p:nvPr/>
        </p:nvGrpSpPr>
        <p:grpSpPr>
          <a:xfrm>
            <a:off x="9818608" y="1306063"/>
            <a:ext cx="1997719" cy="990380"/>
            <a:chOff x="9818608" y="1306063"/>
            <a:chExt cx="1997719" cy="990380"/>
          </a:xfrm>
        </p:grpSpPr>
        <p:sp>
          <p:nvSpPr>
            <p:cNvPr id="17" name="Flecha 16_2"/>
            <p:cNvSpPr/>
            <p:nvPr/>
          </p:nvSpPr>
          <p:spPr>
            <a:xfrm>
              <a:off x="10124357" y="1810812"/>
              <a:ext cx="395740" cy="107929"/>
            </a:xfrm>
            <a:custGeom>
              <a:avLst/>
              <a:gdLst/>
              <a:ahLst/>
              <a:cxnLst/>
              <a:rect l="0" t="0" r="r" b="b"/>
              <a:pathLst>
                <a:path w="432" h="118" fill="none">
                  <a:moveTo>
                    <a:pt x="432" y="0"/>
                  </a:moveTo>
                  <a:lnTo>
                    <a:pt x="0" y="118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18" name="Flecha 18_2"/>
            <p:cNvSpPr/>
            <p:nvPr/>
          </p:nvSpPr>
          <p:spPr>
            <a:xfrm>
              <a:off x="10124357" y="1810812"/>
              <a:ext cx="395740" cy="107929"/>
            </a:xfrm>
            <a:custGeom>
              <a:avLst/>
              <a:gdLst/>
              <a:ahLst/>
              <a:cxnLst/>
              <a:rect l="0" t="0" r="r" b="b"/>
              <a:pathLst>
                <a:path w="432" h="118" fill="none">
                  <a:moveTo>
                    <a:pt x="432" y="0"/>
                  </a:moveTo>
                  <a:lnTo>
                    <a:pt x="0" y="118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19" name="Flecha 20_2"/>
            <p:cNvSpPr/>
            <p:nvPr/>
          </p:nvSpPr>
          <p:spPr>
            <a:xfrm>
              <a:off x="10520097" y="1451048"/>
              <a:ext cx="107929" cy="359764"/>
            </a:xfrm>
            <a:custGeom>
              <a:avLst/>
              <a:gdLst/>
              <a:ahLst/>
              <a:cxnLst/>
              <a:rect l="0" t="0" r="r" b="b"/>
              <a:pathLst>
                <a:path w="118" h="393" fill="none">
                  <a:moveTo>
                    <a:pt x="0" y="393"/>
                  </a:moveTo>
                  <a:lnTo>
                    <a:pt x="118" y="0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20" name="Flecha 22_2"/>
            <p:cNvSpPr/>
            <p:nvPr/>
          </p:nvSpPr>
          <p:spPr>
            <a:xfrm>
              <a:off x="10520097" y="1451048"/>
              <a:ext cx="107929" cy="359764"/>
            </a:xfrm>
            <a:custGeom>
              <a:avLst/>
              <a:gdLst/>
              <a:ahLst/>
              <a:cxnLst/>
              <a:rect l="0" t="0" r="r" b="b"/>
              <a:pathLst>
                <a:path w="118" h="393" fill="none">
                  <a:moveTo>
                    <a:pt x="0" y="393"/>
                  </a:moveTo>
                  <a:lnTo>
                    <a:pt x="118" y="0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21" name="Flecha 24_2"/>
            <p:cNvSpPr/>
            <p:nvPr/>
          </p:nvSpPr>
          <p:spPr>
            <a:xfrm>
              <a:off x="10520097" y="1810812"/>
              <a:ext cx="395740" cy="215858"/>
            </a:xfrm>
            <a:custGeom>
              <a:avLst/>
              <a:gdLst/>
              <a:ahLst/>
              <a:cxnLst/>
              <a:rect l="0" t="0" r="r" b="b"/>
              <a:pathLst>
                <a:path w="432" h="236" fill="none">
                  <a:moveTo>
                    <a:pt x="0" y="0"/>
                  </a:moveTo>
                  <a:lnTo>
                    <a:pt x="432" y="236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22" name="Flecha 26_2"/>
            <p:cNvSpPr/>
            <p:nvPr/>
          </p:nvSpPr>
          <p:spPr>
            <a:xfrm>
              <a:off x="10520097" y="1810812"/>
              <a:ext cx="395740" cy="215858"/>
            </a:xfrm>
            <a:custGeom>
              <a:avLst/>
              <a:gdLst/>
              <a:ahLst/>
              <a:cxnLst/>
              <a:rect l="0" t="0" r="r" b="b"/>
              <a:pathLst>
                <a:path w="432" h="236" fill="none">
                  <a:moveTo>
                    <a:pt x="0" y="0"/>
                  </a:moveTo>
                  <a:lnTo>
                    <a:pt x="432" y="236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23" name="Flecha 28_2"/>
            <p:cNvSpPr/>
            <p:nvPr/>
          </p:nvSpPr>
          <p:spPr>
            <a:xfrm>
              <a:off x="9908498" y="1666906"/>
              <a:ext cx="215858" cy="251835"/>
            </a:xfrm>
            <a:custGeom>
              <a:avLst/>
              <a:gdLst/>
              <a:ahLst/>
              <a:cxnLst/>
              <a:rect l="0" t="0" r="r" b="b"/>
              <a:pathLst>
                <a:path w="236" h="275" fill="none">
                  <a:moveTo>
                    <a:pt x="236" y="275"/>
                  </a:moveTo>
                  <a:lnTo>
                    <a:pt x="0" y="0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24" name="Flecha 30_2"/>
            <p:cNvSpPr/>
            <p:nvPr/>
          </p:nvSpPr>
          <p:spPr>
            <a:xfrm>
              <a:off x="9908498" y="1666906"/>
              <a:ext cx="215858" cy="251835"/>
            </a:xfrm>
            <a:custGeom>
              <a:avLst/>
              <a:gdLst/>
              <a:ahLst/>
              <a:cxnLst/>
              <a:rect l="0" t="0" r="r" b="b"/>
              <a:pathLst>
                <a:path w="236" h="275" fill="none">
                  <a:moveTo>
                    <a:pt x="236" y="275"/>
                  </a:moveTo>
                  <a:lnTo>
                    <a:pt x="0" y="0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25" name="Flecha 32_2"/>
            <p:cNvSpPr/>
            <p:nvPr/>
          </p:nvSpPr>
          <p:spPr>
            <a:xfrm>
              <a:off x="9980451" y="1918741"/>
              <a:ext cx="143906" cy="287811"/>
            </a:xfrm>
            <a:custGeom>
              <a:avLst/>
              <a:gdLst/>
              <a:ahLst/>
              <a:cxnLst/>
              <a:rect l="0" t="0" r="r" b="b"/>
              <a:pathLst>
                <a:path w="157" h="314" fill="none">
                  <a:moveTo>
                    <a:pt x="157" y="0"/>
                  </a:moveTo>
                  <a:lnTo>
                    <a:pt x="0" y="314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26" name="Flecha 34_2"/>
            <p:cNvSpPr/>
            <p:nvPr/>
          </p:nvSpPr>
          <p:spPr>
            <a:xfrm>
              <a:off x="9980451" y="1918741"/>
              <a:ext cx="143906" cy="287811"/>
            </a:xfrm>
            <a:custGeom>
              <a:avLst/>
              <a:gdLst/>
              <a:ahLst/>
              <a:cxnLst/>
              <a:rect l="0" t="0" r="r" b="b"/>
              <a:pathLst>
                <a:path w="157" h="314" fill="none">
                  <a:moveTo>
                    <a:pt x="157" y="0"/>
                  </a:moveTo>
                  <a:lnTo>
                    <a:pt x="0" y="314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27" name="Flecha 36_2"/>
            <p:cNvSpPr/>
            <p:nvPr/>
          </p:nvSpPr>
          <p:spPr>
            <a:xfrm>
              <a:off x="10124357" y="1918741"/>
              <a:ext cx="35976" cy="233847"/>
            </a:xfrm>
            <a:custGeom>
              <a:avLst/>
              <a:gdLst/>
              <a:ahLst/>
              <a:cxnLst/>
              <a:rect l="0" t="0" r="r" b="b"/>
              <a:pathLst>
                <a:path w="39" h="255" fill="none">
                  <a:moveTo>
                    <a:pt x="0" y="0"/>
                  </a:moveTo>
                  <a:lnTo>
                    <a:pt x="39" y="255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28" name="Flecha 38_2"/>
            <p:cNvSpPr/>
            <p:nvPr/>
          </p:nvSpPr>
          <p:spPr>
            <a:xfrm>
              <a:off x="10124357" y="1918741"/>
              <a:ext cx="35976" cy="233847"/>
            </a:xfrm>
            <a:custGeom>
              <a:avLst/>
              <a:gdLst/>
              <a:ahLst/>
              <a:cxnLst/>
              <a:rect l="0" t="0" r="r" b="b"/>
              <a:pathLst>
                <a:path w="39" h="255" fill="none">
                  <a:moveTo>
                    <a:pt x="0" y="0"/>
                  </a:moveTo>
                  <a:lnTo>
                    <a:pt x="39" y="255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29" name="Flecha 40_2"/>
            <p:cNvSpPr/>
            <p:nvPr/>
          </p:nvSpPr>
          <p:spPr>
            <a:xfrm>
              <a:off x="10915837" y="1882765"/>
              <a:ext cx="395740" cy="143906"/>
            </a:xfrm>
            <a:custGeom>
              <a:avLst/>
              <a:gdLst/>
              <a:ahLst/>
              <a:cxnLst/>
              <a:rect l="0" t="0" r="r" b="b"/>
              <a:pathLst>
                <a:path w="432" h="157" fill="none">
                  <a:moveTo>
                    <a:pt x="0" y="157"/>
                  </a:moveTo>
                  <a:lnTo>
                    <a:pt x="432" y="0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30" name="Flecha 42_2"/>
            <p:cNvSpPr/>
            <p:nvPr/>
          </p:nvSpPr>
          <p:spPr>
            <a:xfrm>
              <a:off x="10915837" y="1882765"/>
              <a:ext cx="395740" cy="143906"/>
            </a:xfrm>
            <a:custGeom>
              <a:avLst/>
              <a:gdLst/>
              <a:ahLst/>
              <a:cxnLst/>
              <a:rect l="0" t="0" r="r" b="b"/>
              <a:pathLst>
                <a:path w="432" h="157" fill="none">
                  <a:moveTo>
                    <a:pt x="0" y="157"/>
                  </a:moveTo>
                  <a:lnTo>
                    <a:pt x="432" y="0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31" name="Flecha 44_2"/>
            <p:cNvSpPr/>
            <p:nvPr/>
          </p:nvSpPr>
          <p:spPr>
            <a:xfrm>
              <a:off x="11311578" y="1882765"/>
              <a:ext cx="359764" cy="179882"/>
            </a:xfrm>
            <a:custGeom>
              <a:avLst/>
              <a:gdLst/>
              <a:ahLst/>
              <a:cxnLst/>
              <a:rect l="0" t="0" r="r" b="b"/>
              <a:pathLst>
                <a:path w="393" h="196" fill="none">
                  <a:moveTo>
                    <a:pt x="0" y="0"/>
                  </a:moveTo>
                  <a:lnTo>
                    <a:pt x="393" y="196"/>
                  </a:lnTo>
                </a:path>
              </a:pathLst>
            </a:custGeom>
            <a:noFill/>
            <a:ln w="79947" cap="rnd">
              <a:solidFill>
                <a:srgbClr val="B9B9B9"/>
              </a:solidFill>
              <a:round/>
            </a:ln>
          </p:spPr>
        </p:sp>
        <p:sp>
          <p:nvSpPr>
            <p:cNvPr id="32" name="Flecha 46_2"/>
            <p:cNvSpPr/>
            <p:nvPr/>
          </p:nvSpPr>
          <p:spPr>
            <a:xfrm>
              <a:off x="11311578" y="1882765"/>
              <a:ext cx="359764" cy="179882"/>
            </a:xfrm>
            <a:custGeom>
              <a:avLst/>
              <a:gdLst/>
              <a:ahLst/>
              <a:cxnLst/>
              <a:rect l="0" t="0" r="r" b="b"/>
              <a:pathLst>
                <a:path w="393" h="196" fill="none">
                  <a:moveTo>
                    <a:pt x="0" y="0"/>
                  </a:moveTo>
                  <a:lnTo>
                    <a:pt x="393" y="196"/>
                  </a:lnTo>
                </a:path>
              </a:pathLst>
            </a:custGeom>
            <a:noFill/>
            <a:ln w="44970" cap="rnd">
              <a:solidFill>
                <a:srgbClr val="FFFFFF"/>
              </a:solidFill>
              <a:round/>
            </a:ln>
          </p:spPr>
        </p:sp>
        <p:sp>
          <p:nvSpPr>
            <p:cNvPr id="33" name="Forma 48"/>
            <p:cNvSpPr/>
            <p:nvPr/>
          </p:nvSpPr>
          <p:spPr>
            <a:xfrm>
              <a:off x="9818608" y="1577016"/>
              <a:ext cx="179781" cy="1797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4" name="Forma 49"/>
            <p:cNvSpPr/>
            <p:nvPr/>
          </p:nvSpPr>
          <p:spPr>
            <a:xfrm>
              <a:off x="9890561" y="2116662"/>
              <a:ext cx="179781" cy="1797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5" name="Forma 50"/>
            <p:cNvSpPr/>
            <p:nvPr/>
          </p:nvSpPr>
          <p:spPr>
            <a:xfrm>
              <a:off x="10070442" y="2062697"/>
              <a:ext cx="179781" cy="179781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6F6F6"/>
                </a:gs>
                <a:gs pos="75000">
                  <a:srgbClr val="F4F4F4"/>
                </a:gs>
                <a:gs pos="100000">
                  <a:srgbClr val="AAAAA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6" name="Forma 51"/>
            <p:cNvSpPr/>
            <p:nvPr/>
          </p:nvSpPr>
          <p:spPr>
            <a:xfrm>
              <a:off x="10375112" y="1665827"/>
              <a:ext cx="289970" cy="28997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7" name="Forma 52"/>
            <p:cNvSpPr/>
            <p:nvPr/>
          </p:nvSpPr>
          <p:spPr>
            <a:xfrm>
              <a:off x="9979372" y="1773756"/>
              <a:ext cx="289970" cy="28997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8" name="Forma 53"/>
            <p:cNvSpPr/>
            <p:nvPr/>
          </p:nvSpPr>
          <p:spPr>
            <a:xfrm>
              <a:off x="10483041" y="1306063"/>
              <a:ext cx="289970" cy="28997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37B83"/>
                </a:gs>
                <a:gs pos="75000">
                  <a:srgbClr val="F0505A"/>
                </a:gs>
                <a:gs pos="100000">
                  <a:srgbClr val="A8383E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39" name="Forma 54"/>
            <p:cNvSpPr/>
            <p:nvPr/>
          </p:nvSpPr>
          <p:spPr>
            <a:xfrm>
              <a:off x="11166593" y="1737780"/>
              <a:ext cx="289970" cy="28997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0" name="Forma 55"/>
            <p:cNvSpPr/>
            <p:nvPr/>
          </p:nvSpPr>
          <p:spPr>
            <a:xfrm>
              <a:off x="11526357" y="1917662"/>
              <a:ext cx="289970" cy="28997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9EE09B"/>
                </a:gs>
                <a:gs pos="75000">
                  <a:srgbClr val="7ED67A"/>
                </a:gs>
                <a:gs pos="100000">
                  <a:srgbClr val="589555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  <p:sp>
          <p:nvSpPr>
            <p:cNvPr id="41" name="Forma 56"/>
            <p:cNvSpPr/>
            <p:nvPr/>
          </p:nvSpPr>
          <p:spPr>
            <a:xfrm>
              <a:off x="10756354" y="1867187"/>
              <a:ext cx="318967" cy="318967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30000">
                  <a:srgbClr val="F7DE6C"/>
                </a:gs>
                <a:gs pos="75000">
                  <a:srgbClr val="F5D33C"/>
                </a:gs>
                <a:gs pos="100000">
                  <a:srgbClr val="AB932A"/>
                </a:gs>
              </a:gsLst>
              <a:path path="circle">
                <a:fillToRect l="30000" t="25000" r="70000" b="75000"/>
              </a:path>
            </a:gradFill>
            <a:ln>
              <a:noFill/>
            </a:ln>
          </p:spPr>
        </p:sp>
      </p:grpSp>
      <p:sp>
        <p:nvSpPr>
          <p:cNvPr id="42" name="GR cierre 0"/>
          <p:cNvSpPr/>
          <p:nvPr/>
        </p:nvSpPr>
        <p:spPr>
          <a:xfrm>
            <a:off x="9875520" y="3291840"/>
            <a:ext cx="1097280" cy="109728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43" name="GR cierre 1"/>
          <p:cNvSpPr/>
          <p:nvPr/>
        </p:nvSpPr>
        <p:spPr>
          <a:xfrm>
            <a:off x="10881360" y="4206240"/>
            <a:ext cx="914400" cy="91440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44" name="GR cierre 2"/>
          <p:cNvSpPr/>
          <p:nvPr/>
        </p:nvSpPr>
        <p:spPr>
          <a:xfrm>
            <a:off x="9966960" y="5120640"/>
            <a:ext cx="822960" cy="822960"/>
          </a:xfrm>
          <a:prstGeom prst="ellipse">
            <a:avLst/>
          </a:prstGeom>
          <a:gradFill rotWithShape="1">
            <a:gsLst>
              <a:gs pos="0">
                <a:srgbClr val="F29A8E"/>
              </a:gs>
              <a:gs pos="38000">
                <a:srgbClr val="F29A8E"/>
              </a:gs>
              <a:gs pos="68000">
                <a:srgbClr val="D1554B"/>
              </a:gs>
              <a:gs pos="100000">
                <a:srgbClr val="82231C"/>
              </a:gs>
            </a:gsLst>
            <a:path path="circle">
              <a:fillToRect l="50000" t="50000" r="50000" b="50000"/>
            </a:path>
          </a:gradFill>
          <a:ln w="12700" cap="rnd">
            <a:solidFill>
              <a:srgbClr val="6E1A12"/>
            </a:solidFill>
            <a:round/>
          </a:ln>
        </p:spPr>
      </p:sp>
      <p:sp>
        <p:nvSpPr>
          <p:cNvPr id="45" name="Título cierre"/>
          <p:cNvSpPr txBox="1"/>
          <p:nvPr/>
        </p:nvSpPr>
        <p:spPr>
          <a:xfrm>
            <a:off x="4572000" y="1280160"/>
            <a:ext cx="512064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880"/>
              </a:lnSpc>
              <a:spcAft>
                <a:spcPts val="300"/>
              </a:spcAft>
              <a:buNone/>
            </a:pPr>
            <a:r>
              <a:rPr lang="es-AR" sz="4000" b="1" dirty="0">
                <a:solidFill>
                  <a:srgbClr val="2B4C7E"/>
                </a:solidFill>
                <a:effectLst>
                  <a:glow rad="76200">
                    <a:srgbClr val="FFFFFF">
                      <a:alpha val="85000"/>
                    </a:srgbClr>
                  </a:glow>
                </a:effectLst>
                <a:latin typeface="Segoe Print"/>
                <a:ea typeface="Segoe Print"/>
                <a:cs typeface="Segoe Print"/>
                <a:sym typeface="Segoe Print"/>
              </a:rPr>
              <a:t>DE LA MOLÉCULA AL DIAGNÓSTICO</a:t>
            </a:r>
            <a:endParaRPr lang="es-AR" sz="4000" dirty="0">
              <a:latin typeface="Segoe Print"/>
            </a:endParaRPr>
          </a:p>
        </p:txBody>
      </p:sp>
      <p:sp>
        <p:nvSpPr>
          <p:cNvPr id="46" name="Mensaje final"/>
          <p:cNvSpPr/>
          <p:nvPr/>
        </p:nvSpPr>
        <p:spPr>
          <a:xfrm>
            <a:off x="4846320" y="3931920"/>
            <a:ext cx="4572000" cy="2103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2225" cap="rnd">
            <a:solidFill>
              <a:srgbClr val="1E1E1E"/>
            </a:solidFill>
            <a:round/>
          </a:ln>
        </p:spPr>
        <p:txBody>
          <a:bodyPr wrap="square" lIns="137160" tIns="73152" rIns="137160" bIns="73152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Cada valor de laboratorio cuenta una historia molecular: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dónde estaba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la molécula,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qué la liberó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AR" sz="2050" b="1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cuándo</a:t>
            </a:r>
            <a:r>
              <a:rPr lang="es-AR" sz="2050" dirty="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llegó a la sangre.</a:t>
            </a:r>
            <a:endParaRPr lang="es-AR" sz="2050" dirty="0">
              <a:latin typeface="Calibri"/>
            </a:endParaRPr>
          </a:p>
        </p:txBody>
      </p:sp>
      <p:sp>
        <p:nvSpPr>
          <p:cNvPr id="47" name="Número"/>
          <p:cNvSpPr/>
          <p:nvPr/>
        </p:nvSpPr>
        <p:spPr>
          <a:xfrm>
            <a:off x="11624767" y="6473952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s-AR" sz="1000" b="1" dirty="0">
                <a:solidFill>
                  <a:srgbClr val="5A3A2A"/>
                </a:solidFill>
                <a:latin typeface="Calibri"/>
                <a:ea typeface="Calibri"/>
                <a:cs typeface="Calibri"/>
                <a:sym typeface="Calibri"/>
              </a:rPr>
              <a:t>270</a:t>
            </a:r>
            <a:endParaRPr lang="es-AR" sz="1000" dirty="0"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